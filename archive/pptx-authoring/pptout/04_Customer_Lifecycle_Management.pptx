
<file path=[Content_Types].xml><?xml version="1.0" encoding="utf-8"?>
<Types xmlns="http://schemas.openxmlformats.org/package/2006/content-types">
  <Default Extension="fntdata" ContentType="application/x-fontdata"/>
  <Default Extension="gif" ContentType="image/gif"/>
  <Default Extension="jpg" ContentType="image/jpeg"/>
  <Default Extension="png" ContentType="image/png"/>
  <Default Extension="rels" ContentType="application/vnd.openxmlformats-package.relationships+xml"/>
  <Default Extension="xml" ContentType="application/xml"/>
  <Override PartName="/ppt/notesMasters/notesMaster1.xml" ContentType="application/vnd.openxmlformats-officedocument.presentationml.notesMaster+xml"/>
  <Override PartName="/ppt/notesSlides/notesSlide10.xml" ContentType="application/vnd.openxmlformats-officedocument.presentationml.notesSlide+xml"/>
  <Override PartName="/ppt/notesSlides/notesSlide100.xml" ContentType="application/vnd.openxmlformats-officedocument.presentationml.notesSlide+xml"/>
  <Override PartName="/ppt/notesSlides/notesSlide102.xml" ContentType="application/vnd.openxmlformats-officedocument.presentationml.notesSlide+xml"/>
  <Override PartName="/ppt/notesSlides/notesSlide104.xml" ContentType="application/vnd.openxmlformats-officedocument.presentationml.notesSlide+xml"/>
  <Override PartName="/ppt/notesSlides/notesSlide106.xml" ContentType="application/vnd.openxmlformats-officedocument.presentationml.notesSlide+xml"/>
  <Override PartName="/ppt/notesSlides/notesSlide108.xml" ContentType="application/vnd.openxmlformats-officedocument.presentationml.notesSlide+xml"/>
  <Override PartName="/ppt/notesSlides/notesSlide11.xml" ContentType="application/vnd.openxmlformats-officedocument.presentationml.notesSlide+xml"/>
  <Override PartName="/ppt/notesSlides/notesSlide110.xml" ContentType="application/vnd.openxmlformats-officedocument.presentationml.notesSlide+xml"/>
  <Override PartName="/ppt/notesSlides/notesSlide112.xml" ContentType="application/vnd.openxmlformats-officedocument.presentationml.notesSlide+xml"/>
  <Override PartName="/ppt/notesSlides/notesSlide115.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5.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7.xml" ContentType="application/vnd.openxmlformats-officedocument.presentationml.notesSlide+xml"/>
  <Override PartName="/ppt/notesSlides/notesSlide199.xml" ContentType="application/vnd.openxmlformats-officedocument.presentationml.notesSlide+xml"/>
  <Override PartName="/ppt/notesSlides/notesSlide20.xml" ContentType="application/vnd.openxmlformats-officedocument.presentationml.notesSlide+xml"/>
  <Override PartName="/ppt/notesSlides/notesSlide204.xml" ContentType="application/vnd.openxmlformats-officedocument.presentationml.notesSlide+xml"/>
  <Override PartName="/ppt/notesSlides/notesSlide206.xml" ContentType="application/vnd.openxmlformats-officedocument.presentationml.notesSlide+xml"/>
  <Override PartName="/ppt/notesSlides/notesSlide208.xml" ContentType="application/vnd.openxmlformats-officedocument.presentationml.notesSlide+xml"/>
  <Override PartName="/ppt/notesSlides/notesSlide21.xml" ContentType="application/vnd.openxmlformats-officedocument.presentationml.notesSlide+xml"/>
  <Override PartName="/ppt/notesSlides/notesSlide210.xml" ContentType="application/vnd.openxmlformats-officedocument.presentationml.notesSlide+xml"/>
  <Override PartName="/ppt/notesSlides/notesSlide212.xml" ContentType="application/vnd.openxmlformats-officedocument.presentationml.notesSlide+xml"/>
  <Override PartName="/ppt/notesSlides/notesSlide214.xml" ContentType="application/vnd.openxmlformats-officedocument.presentationml.notesSlide+xml"/>
  <Override PartName="/ppt/notesSlides/notesSlide216.xml" ContentType="application/vnd.openxmlformats-officedocument.presentationml.notesSlide+xml"/>
  <Override PartName="/ppt/notesSlides/notesSlide218.xml" ContentType="application/vnd.openxmlformats-officedocument.presentationml.notesSlide+xml"/>
  <Override PartName="/ppt/notesSlides/notesSlide22.xml" ContentType="application/vnd.openxmlformats-officedocument.presentationml.notesSlide+xml"/>
  <Override PartName="/ppt/notesSlides/notesSlide220.xml" ContentType="application/vnd.openxmlformats-officedocument.presentationml.notesSlide+xml"/>
  <Override PartName="/ppt/notesSlides/notesSlide222.xml" ContentType="application/vnd.openxmlformats-officedocument.presentationml.notesSlide+xml"/>
  <Override PartName="/ppt/notesSlides/notesSlide224.xml" ContentType="application/vnd.openxmlformats-officedocument.presentationml.notesSlide+xml"/>
  <Override PartName="/ppt/notesSlides/notesSlide229.xml" ContentType="application/vnd.openxmlformats-officedocument.presentationml.notesSlide+xml"/>
  <Override PartName="/ppt/notesSlides/notesSlide23.xml" ContentType="application/vnd.openxmlformats-officedocument.presentationml.notesSlide+xml"/>
  <Override PartName="/ppt/notesSlides/notesSlide231.xml" ContentType="application/vnd.openxmlformats-officedocument.presentationml.notesSlide+xml"/>
  <Override PartName="/ppt/notesSlides/notesSlide233.xml" ContentType="application/vnd.openxmlformats-officedocument.presentationml.notesSlide+xml"/>
  <Override PartName="/ppt/notesSlides/notesSlide235.xml" ContentType="application/vnd.openxmlformats-officedocument.presentationml.notesSlide+xml"/>
  <Override PartName="/ppt/notesSlides/notesSlide237.xml" ContentType="application/vnd.openxmlformats-officedocument.presentationml.notesSlide+xml"/>
  <Override PartName="/ppt/notesSlides/notesSlide239.xml" ContentType="application/vnd.openxmlformats-officedocument.presentationml.notesSlide+xml"/>
  <Override PartName="/ppt/notesSlides/notesSlide24.xml" ContentType="application/vnd.openxmlformats-officedocument.presentationml.notesSlide+xml"/>
  <Override PartName="/ppt/notesSlides/notesSlide241.xml" ContentType="application/vnd.openxmlformats-officedocument.presentationml.notesSlide+xml"/>
  <Override PartName="/ppt/notesSlides/notesSlide243.xml" ContentType="application/vnd.openxmlformats-officedocument.presentationml.notesSlide+xml"/>
  <Override PartName="/ppt/notesSlides/notesSlide245.xml" ContentType="application/vnd.openxmlformats-officedocument.presentationml.notesSlide+xml"/>
  <Override PartName="/ppt/notesSlides/notesSlide247.xml" ContentType="application/vnd.openxmlformats-officedocument.presentationml.notesSlide+xml"/>
  <Override PartName="/ppt/notesSlides/notesSlide249.xml" ContentType="application/vnd.openxmlformats-officedocument.presentationml.notesSlide+xml"/>
  <Override PartName="/ppt/notesSlides/notesSlide25.xml" ContentType="application/vnd.openxmlformats-officedocument.presentationml.notesSlide+xml"/>
  <Override PartName="/ppt/notesSlides/notesSlide251.xml" ContentType="application/vnd.openxmlformats-officedocument.presentationml.notesSlide+xml"/>
  <Override PartName="/ppt/notesSlides/notesSlide256.xml" ContentType="application/vnd.openxmlformats-officedocument.presentationml.notesSlide+xml"/>
  <Override PartName="/ppt/notesSlides/notesSlide258.xml" ContentType="application/vnd.openxmlformats-officedocument.presentationml.notesSlide+xml"/>
  <Override PartName="/ppt/notesSlides/notesSlide260.xml" ContentType="application/vnd.openxmlformats-officedocument.presentationml.notesSlide+xml"/>
  <Override PartName="/ppt/notesSlides/notesSlide262.xml" ContentType="application/vnd.openxmlformats-officedocument.presentationml.notesSlide+xml"/>
  <Override PartName="/ppt/notesSlides/notesSlide264.xml" ContentType="application/vnd.openxmlformats-officedocument.presentationml.notesSlide+xml"/>
  <Override PartName="/ppt/notesSlides/notesSlide266.xml" ContentType="application/vnd.openxmlformats-officedocument.presentationml.notesSlide+xml"/>
  <Override PartName="/ppt/notesSlides/notesSlide268.xml" ContentType="application/vnd.openxmlformats-officedocument.presentationml.notesSlide+xml"/>
  <Override PartName="/ppt/notesSlides/notesSlide270.xml" ContentType="application/vnd.openxmlformats-officedocument.presentationml.notesSlide+xml"/>
  <Override PartName="/ppt/notesSlides/notesSlide275.xml" ContentType="application/vnd.openxmlformats-officedocument.presentationml.notesSlide+xml"/>
  <Override PartName="/ppt/notesSlides/notesSlide277.xml" ContentType="application/vnd.openxmlformats-officedocument.presentationml.notesSlide+xml"/>
  <Override PartName="/ppt/notesSlides/notesSlide279.xml" ContentType="application/vnd.openxmlformats-officedocument.presentationml.notesSlide+xml"/>
  <Override PartName="/ppt/notesSlides/notesSlide281.xml" ContentType="application/vnd.openxmlformats-officedocument.presentationml.notesSlide+xml"/>
  <Override PartName="/ppt/notesSlides/notesSlide283.xml" ContentType="application/vnd.openxmlformats-officedocument.presentationml.notesSlide+xml"/>
  <Override PartName="/ppt/notesSlides/notesSlide285.xml" ContentType="application/vnd.openxmlformats-officedocument.presentationml.notesSlide+xml"/>
  <Override PartName="/ppt/notesSlides/notesSlide288.xml" ContentType="application/vnd.openxmlformats-officedocument.presentationml.notesSlide+xml"/>
  <Override PartName="/ppt/notesSlides/notesSlide289.xml" ContentType="application/vnd.openxmlformats-officedocument.presentationml.notesSlide+xml"/>
  <Override PartName="/ppt/notesSlides/notesSlide290.xml" ContentType="application/vnd.openxmlformats-officedocument.presentationml.notesSlide+xml"/>
  <Override PartName="/ppt/notesSlides/notesSlide291.xml" ContentType="application/vnd.openxmlformats-officedocument.presentationml.notesSlide+xml"/>
  <Override PartName="/ppt/notesSlides/notesSlide292.xml" ContentType="application/vnd.openxmlformats-officedocument.presentationml.notesSlide+xml"/>
  <Override PartName="/ppt/notesSlides/notesSlide293.xml" ContentType="application/vnd.openxmlformats-officedocument.presentationml.notesSlide+xml"/>
  <Override PartName="/ppt/notesSlides/notesSlide294.xml" ContentType="application/vnd.openxmlformats-officedocument.presentationml.notesSlide+xml"/>
  <Override PartName="/ppt/notesSlides/notesSlide295.xml" ContentType="application/vnd.openxmlformats-officedocument.presentationml.notesSlide+xml"/>
  <Override PartName="/ppt/notesSlides/notesSlide296.xml" ContentType="application/vnd.openxmlformats-officedocument.presentationml.notesSlide+xml"/>
  <Override PartName="/ppt/notesSlides/notesSlide297.xml" ContentType="application/vnd.openxmlformats-officedocument.presentationml.notesSlide+xml"/>
  <Override PartName="/ppt/notesSlides/notesSlide298.xml" ContentType="application/vnd.openxmlformats-officedocument.presentationml.notesSlide+xml"/>
  <Override PartName="/ppt/notesSlides/notesSlide299.xml" ContentType="application/vnd.openxmlformats-officedocument.presentationml.notesSlide+xml"/>
  <Override PartName="/ppt/notesSlides/notesSlide300.xml" ContentType="application/vnd.openxmlformats-officedocument.presentationml.notesSlide+xml"/>
  <Override PartName="/ppt/notesSlides/notesSlide301.xml" ContentType="application/vnd.openxmlformats-officedocument.presentationml.notesSlide+xml"/>
  <Override PartName="/ppt/notesSlides/notesSlide302.xml" ContentType="application/vnd.openxmlformats-officedocument.presentationml.notesSlide+xml"/>
  <Override PartName="/ppt/notesSlides/notesSlide303.xml" ContentType="application/vnd.openxmlformats-officedocument.presentationml.notesSlide+xml"/>
  <Override PartName="/ppt/notesSlides/notesSlide304.xml" ContentType="application/vnd.openxmlformats-officedocument.presentationml.notesSlide+xml"/>
  <Override PartName="/ppt/notesSlides/notesSlide305.xml" ContentType="application/vnd.openxmlformats-officedocument.presentationml.notesSlide+xml"/>
  <Override PartName="/ppt/notesSlides/notesSlide306.xml" ContentType="application/vnd.openxmlformats-officedocument.presentationml.notesSlide+xml"/>
  <Override PartName="/ppt/notesSlides/notesSlide307.xml" ContentType="application/vnd.openxmlformats-officedocument.presentationml.notesSlide+xml"/>
  <Override PartName="/ppt/notesSlides/notesSlide308.xml" ContentType="application/vnd.openxmlformats-officedocument.presentationml.notesSlide+xml"/>
  <Override PartName="/ppt/notesSlides/notesSlide309.xml" ContentType="application/vnd.openxmlformats-officedocument.presentationml.notesSlide+xml"/>
  <Override PartName="/ppt/notesSlides/notesSlide310.xml" ContentType="application/vnd.openxmlformats-officedocument.presentationml.notesSlide+xml"/>
  <Override PartName="/ppt/notesSlides/notesSlide311.xml" ContentType="application/vnd.openxmlformats-officedocument.presentationml.notesSlide+xml"/>
  <Override PartName="/ppt/notesSlides/notesSlide312.xml" ContentType="application/vnd.openxmlformats-officedocument.presentationml.notesSlide+xml"/>
  <Override PartName="/ppt/notesSlides/notesSlide313.xml" ContentType="application/vnd.openxmlformats-officedocument.presentationml.notesSlide+xml"/>
  <Override PartName="/ppt/notesSlides/notesSlide314.xml" ContentType="application/vnd.openxmlformats-officedocument.presentationml.notesSlide+xml"/>
  <Override PartName="/ppt/notesSlides/notesSlide315.xml" ContentType="application/vnd.openxmlformats-officedocument.presentationml.notesSlide+xml"/>
  <Override PartName="/ppt/notesSlides/notesSlide316.xml" ContentType="application/vnd.openxmlformats-officedocument.presentationml.notesSlide+xml"/>
  <Override PartName="/ppt/notesSlides/notesSlide317.xml" ContentType="application/vnd.openxmlformats-officedocument.presentationml.notesSlide+xml"/>
  <Override PartName="/ppt/notesSlides/notesSlide318.xml" ContentType="application/vnd.openxmlformats-officedocument.presentationml.notesSlide+xml"/>
  <Override PartName="/ppt/notesSlides/notesSlide320.xml" ContentType="application/vnd.openxmlformats-officedocument.presentationml.notesSlide+xml"/>
  <Override PartName="/ppt/notesSlides/notesSlide321.xml" ContentType="application/vnd.openxmlformats-officedocument.presentationml.notesSlide+xml"/>
  <Override PartName="/ppt/notesSlides/notesSlide322.xml" ContentType="application/vnd.openxmlformats-officedocument.presentationml.notesSlide+xml"/>
  <Override PartName="/ppt/notesSlides/notesSlide323.xml" ContentType="application/vnd.openxmlformats-officedocument.presentationml.notesSlide+xml"/>
  <Override PartName="/ppt/notesSlides/notesSlide324.xml" ContentType="application/vnd.openxmlformats-officedocument.presentationml.notesSlide+xml"/>
  <Override PartName="/ppt/notesSlides/notesSlide326.xml" ContentType="application/vnd.openxmlformats-officedocument.presentationml.notesSlide+xml"/>
  <Override PartName="/ppt/notesSlides/notesSlide329.xml" ContentType="application/vnd.openxmlformats-officedocument.presentationml.notesSlide+xml"/>
  <Override PartName="/ppt/notesSlides/notesSlide337.xml" ContentType="application/vnd.openxmlformats-officedocument.presentationml.notesSlide+xml"/>
  <Override PartName="/ppt/notesSlides/notesSlide339.xml" ContentType="application/vnd.openxmlformats-officedocument.presentationml.notesSlide+xml"/>
  <Override PartName="/ppt/notesSlides/notesSlide341.xml" ContentType="application/vnd.openxmlformats-officedocument.presentationml.notesSlide+xml"/>
  <Override PartName="/ppt/notesSlides/notesSlide343.xml" ContentType="application/vnd.openxmlformats-officedocument.presentationml.notesSlide+xml"/>
  <Override PartName="/ppt/notesSlides/notesSlide345.xml" ContentType="application/vnd.openxmlformats-officedocument.presentationml.notesSlide+xml"/>
  <Override PartName="/ppt/notesSlides/notesSlide347.xml" ContentType="application/vnd.openxmlformats-officedocument.presentationml.notesSlide+xml"/>
  <Override PartName="/ppt/notesSlides/notesSlide349.xml" ContentType="application/vnd.openxmlformats-officedocument.presentationml.notesSlide+xml"/>
  <Override PartName="/ppt/notesSlides/notesSlide35.xml" ContentType="application/vnd.openxmlformats-officedocument.presentationml.notesSlide+xml"/>
  <Override PartName="/ppt/notesSlides/notesSlide351.xml" ContentType="application/vnd.openxmlformats-officedocument.presentationml.notesSlide+xml"/>
  <Override PartName="/ppt/notesSlides/notesSlide353.xml" ContentType="application/vnd.openxmlformats-officedocument.presentationml.notesSlide+xml"/>
  <Override PartName="/ppt/notesSlides/notesSlide355.xml" ContentType="application/vnd.openxmlformats-officedocument.presentationml.notesSlide+xml"/>
  <Override PartName="/ppt/notesSlides/notesSlide357.xml" ContentType="application/vnd.openxmlformats-officedocument.presentationml.notesSlide+xml"/>
  <Override PartName="/ppt/notesSlides/notesSlide359.xml" ContentType="application/vnd.openxmlformats-officedocument.presentationml.notesSlide+xml"/>
  <Override PartName="/ppt/notesSlides/notesSlide361.xml" ContentType="application/vnd.openxmlformats-officedocument.presentationml.notesSlide+xml"/>
  <Override PartName="/ppt/notesSlides/notesSlide363.xml" ContentType="application/vnd.openxmlformats-officedocument.presentationml.notesSlide+xml"/>
  <Override PartName="/ppt/notesSlides/notesSlide365.xml" ContentType="application/vnd.openxmlformats-officedocument.presentationml.notesSlide+xml"/>
  <Override PartName="/ppt/notesSlides/notesSlide367.xml" ContentType="application/vnd.openxmlformats-officedocument.presentationml.notesSlide+xml"/>
  <Override PartName="/ppt/notesSlides/notesSlide369.xml" ContentType="application/vnd.openxmlformats-officedocument.presentationml.notesSlide+xml"/>
  <Override PartName="/ppt/notesSlides/notesSlide37.xml" ContentType="application/vnd.openxmlformats-officedocument.presentationml.notesSlide+xml"/>
  <Override PartName="/ppt/notesSlides/notesSlide371.xml" ContentType="application/vnd.openxmlformats-officedocument.presentationml.notesSlide+xml"/>
  <Override PartName="/ppt/notesSlides/notesSlide374.xml" ContentType="application/vnd.openxmlformats-officedocument.presentationml.notesSlide+xml"/>
  <Override PartName="/ppt/notesSlides/notesSlide375.xml" ContentType="application/vnd.openxmlformats-officedocument.presentationml.notesSlide+xml"/>
  <Override PartName="/ppt/notesSlides/notesSlide376.xml" ContentType="application/vnd.openxmlformats-officedocument.presentationml.notesSlide+xml"/>
  <Override PartName="/ppt/notesSlides/notesSlide377.xml" ContentType="application/vnd.openxmlformats-officedocument.presentationml.notesSlide+xml"/>
  <Override PartName="/ppt/notesSlides/notesSlide378.xml" ContentType="application/vnd.openxmlformats-officedocument.presentationml.notesSlide+xml"/>
  <Override PartName="/ppt/notesSlides/notesSlide379.xml" ContentType="application/vnd.openxmlformats-officedocument.presentationml.notesSlide+xml"/>
  <Override PartName="/ppt/notesSlides/notesSlide380.xml" ContentType="application/vnd.openxmlformats-officedocument.presentationml.notesSlide+xml"/>
  <Override PartName="/ppt/notesSlides/notesSlide382.xml" ContentType="application/vnd.openxmlformats-officedocument.presentationml.notesSlide+xml"/>
  <Override PartName="/ppt/notesSlides/notesSlide383.xml" ContentType="application/vnd.openxmlformats-officedocument.presentationml.notesSlide+xml"/>
  <Override PartName="/ppt/notesSlides/notesSlide384.xml" ContentType="application/vnd.openxmlformats-officedocument.presentationml.notesSlide+xml"/>
  <Override PartName="/ppt/notesSlides/notesSlide385.xml" ContentType="application/vnd.openxmlformats-officedocument.presentationml.notesSlide+xml"/>
  <Override PartName="/ppt/notesSlides/notesSlide386.xml" ContentType="application/vnd.openxmlformats-officedocument.presentationml.notesSlide+xml"/>
  <Override PartName="/ppt/notesSlides/notesSlide388.xml" ContentType="application/vnd.openxmlformats-officedocument.presentationml.notesSlide+xml"/>
  <Override PartName="/ppt/notesSlides/notesSlide39.xml" ContentType="application/vnd.openxmlformats-officedocument.presentationml.notesSlide+xml"/>
  <Override PartName="/ppt/notesSlides/notesSlide390.xml" ContentType="application/vnd.openxmlformats-officedocument.presentationml.notesSlide+xml"/>
  <Override PartName="/ppt/notesSlides/notesSlide391.xml" ContentType="application/vnd.openxmlformats-officedocument.presentationml.notesSlide+xml"/>
  <Override PartName="/ppt/notesSlides/notesSlide392.xml" ContentType="application/vnd.openxmlformats-officedocument.presentationml.notesSlide+xml"/>
  <Override PartName="/ppt/notesSlides/notesSlide393.xml" ContentType="application/vnd.openxmlformats-officedocument.presentationml.notesSlide+xml"/>
  <Override PartName="/ppt/notesSlides/notesSlide394.xml" ContentType="application/vnd.openxmlformats-officedocument.presentationml.notesSlide+xml"/>
  <Override PartName="/ppt/notesSlides/notesSlide395.xml" ContentType="application/vnd.openxmlformats-officedocument.presentationml.notesSlide+xml"/>
  <Override PartName="/ppt/notesSlides/notesSlide396.xml" ContentType="application/vnd.openxmlformats-officedocument.presentationml.notesSlide+xml"/>
  <Override PartName="/ppt/notesSlides/notesSlide397.xml" ContentType="application/vnd.openxmlformats-officedocument.presentationml.notesSlide+xml"/>
  <Override PartName="/ppt/notesSlides/notesSlide401.xml" ContentType="application/vnd.openxmlformats-officedocument.presentationml.notesSlide+xml"/>
  <Override PartName="/ppt/notesSlides/notesSlide406.xml" ContentType="application/vnd.openxmlformats-officedocument.presentationml.notesSlide+xml"/>
  <Override PartName="/ppt/notesSlides/notesSlide408.xml" ContentType="application/vnd.openxmlformats-officedocument.presentationml.notesSlide+xml"/>
  <Override PartName="/ppt/notesSlides/notesSlide41.xml" ContentType="application/vnd.openxmlformats-officedocument.presentationml.notesSlide+xml"/>
  <Override PartName="/ppt/notesSlides/notesSlide410.xml" ContentType="application/vnd.openxmlformats-officedocument.presentationml.notesSlide+xml"/>
  <Override PartName="/ppt/notesSlides/notesSlide412.xml" ContentType="application/vnd.openxmlformats-officedocument.presentationml.notesSlide+xml"/>
  <Override PartName="/ppt/notesSlides/notesSlide414.xml" ContentType="application/vnd.openxmlformats-officedocument.presentationml.notesSlide+xml"/>
  <Override PartName="/ppt/notesSlides/notesSlide416.xml" ContentType="application/vnd.openxmlformats-officedocument.presentationml.notesSlide+xml"/>
  <Override PartName="/ppt/notesSlides/notesSlide418.xml" ContentType="application/vnd.openxmlformats-officedocument.presentationml.notesSlide+xml"/>
  <Override PartName="/ppt/notesSlides/notesSlide420.xml" ContentType="application/vnd.openxmlformats-officedocument.presentationml.notesSlide+xml"/>
  <Override PartName="/ppt/notesSlides/notesSlide422.xml" ContentType="application/vnd.openxmlformats-officedocument.presentationml.notesSlide+xml"/>
  <Override PartName="/ppt/notesSlides/notesSlide424.xml" ContentType="application/vnd.openxmlformats-officedocument.presentationml.notesSlide+xml"/>
  <Override PartName="/ppt/notesSlides/notesSlide426.xml" ContentType="application/vnd.openxmlformats-officedocument.presentationml.notesSlide+xml"/>
  <Override PartName="/ppt/notesSlides/notesSlide428.xml" ContentType="application/vnd.openxmlformats-officedocument.presentationml.notesSlide+xml"/>
  <Override PartName="/ppt/notesSlides/notesSlide430.xml" ContentType="application/vnd.openxmlformats-officedocument.presentationml.notesSlide+xml"/>
  <Override PartName="/ppt/notesSlides/notesSlide432.xml" ContentType="application/vnd.openxmlformats-officedocument.presentationml.notesSlide+xml"/>
  <Override PartName="/ppt/notesSlides/notesSlide434.xml" ContentType="application/vnd.openxmlformats-officedocument.presentationml.notesSlide+xml"/>
  <Override PartName="/ppt/notesSlides/notesSlide436.xml" ContentType="application/vnd.openxmlformats-officedocument.presentationml.notesSlide+xml"/>
  <Override PartName="/ppt/notesSlides/notesSlide438.xml" ContentType="application/vnd.openxmlformats-officedocument.presentationml.notesSlide+xml"/>
  <Override PartName="/ppt/notesSlides/notesSlide44.xml" ContentType="application/vnd.openxmlformats-officedocument.presentationml.notesSlide+xml"/>
  <Override PartName="/ppt/notesSlides/notesSlide440.xml" ContentType="application/vnd.openxmlformats-officedocument.presentationml.notesSlide+xml"/>
  <Override PartName="/ppt/notesSlides/notesSlide443.xml" ContentType="application/vnd.openxmlformats-officedocument.presentationml.notesSlide+xml"/>
  <Override PartName="/ppt/notesSlides/notesSlide445.xml" ContentType="application/vnd.openxmlformats-officedocument.presentationml.notesSlide+xml"/>
  <Override PartName="/ppt/notesSlides/notesSlide448.xml" ContentType="application/vnd.openxmlformats-officedocument.presentationml.notesSlide+xml"/>
  <Override PartName="/ppt/notesSlides/notesSlide451.xml" ContentType="application/vnd.openxmlformats-officedocument.presentationml.notesSlide+xml"/>
  <Override PartName="/ppt/notesSlides/notesSlide452.xml" ContentType="application/vnd.openxmlformats-officedocument.presentationml.notesSlide+xml"/>
  <Override PartName="/ppt/notesSlides/notesSlide453.xml" ContentType="application/vnd.openxmlformats-officedocument.presentationml.notesSlide+xml"/>
  <Override PartName="/ppt/notesSlides/notesSlide454.xml" ContentType="application/vnd.openxmlformats-officedocument.presentationml.notesSlide+xml"/>
  <Override PartName="/ppt/notesSlides/notesSlide455.xml" ContentType="application/vnd.openxmlformats-officedocument.presentationml.notesSlide+xml"/>
  <Override PartName="/ppt/notesSlides/notesSlide456.xml" ContentType="application/vnd.openxmlformats-officedocument.presentationml.notesSlide+xml"/>
  <Override PartName="/ppt/notesSlides/notesSlide457.xml" ContentType="application/vnd.openxmlformats-officedocument.presentationml.notesSlide+xml"/>
  <Override PartName="/ppt/notesSlides/notesSlide458.xml" ContentType="application/vnd.openxmlformats-officedocument.presentationml.notesSlide+xml"/>
  <Override PartName="/ppt/notesSlides/notesSlide459.xml" ContentType="application/vnd.openxmlformats-officedocument.presentationml.notesSlide+xml"/>
  <Override PartName="/ppt/notesSlides/notesSlide46.xml" ContentType="application/vnd.openxmlformats-officedocument.presentationml.notesSlide+xml"/>
  <Override PartName="/ppt/notesSlides/notesSlide460.xml" ContentType="application/vnd.openxmlformats-officedocument.presentationml.notesSlide+xml"/>
  <Override PartName="/ppt/notesSlides/notesSlide461.xml" ContentType="application/vnd.openxmlformats-officedocument.presentationml.notesSlide+xml"/>
  <Override PartName="/ppt/notesSlides/notesSlide462.xml" ContentType="application/vnd.openxmlformats-officedocument.presentationml.notesSlide+xml"/>
  <Override PartName="/ppt/notesSlides/notesSlide463.xml" ContentType="application/vnd.openxmlformats-officedocument.presentationml.notesSlide+xml"/>
  <Override PartName="/ppt/notesSlides/notesSlide464.xml" ContentType="application/vnd.openxmlformats-officedocument.presentationml.notesSlide+xml"/>
  <Override PartName="/ppt/notesSlides/notesSlide465.xml" ContentType="application/vnd.openxmlformats-officedocument.presentationml.notesSlide+xml"/>
  <Override PartName="/ppt/notesSlides/notesSlide466.xml" ContentType="application/vnd.openxmlformats-officedocument.presentationml.notesSlide+xml"/>
  <Override PartName="/ppt/notesSlides/notesSlide467.xml" ContentType="application/vnd.openxmlformats-officedocument.presentationml.notesSlide+xml"/>
  <Override PartName="/ppt/notesSlides/notesSlide468.xml" ContentType="application/vnd.openxmlformats-officedocument.presentationml.notesSlide+xml"/>
  <Override PartName="/ppt/notesSlides/notesSlide469.xml" ContentType="application/vnd.openxmlformats-officedocument.presentationml.notesSlide+xml"/>
  <Override PartName="/ppt/notesSlides/notesSlide470.xml" ContentType="application/vnd.openxmlformats-officedocument.presentationml.notesSlide+xml"/>
  <Override PartName="/ppt/notesSlides/notesSlide471.xml" ContentType="application/vnd.openxmlformats-officedocument.presentationml.notesSlide+xml"/>
  <Override PartName="/ppt/notesSlides/notesSlide472.xml" ContentType="application/vnd.openxmlformats-officedocument.presentationml.notesSlide+xml"/>
  <Override PartName="/ppt/notesSlides/notesSlide473.xml" ContentType="application/vnd.openxmlformats-officedocument.presentationml.notesSlide+xml"/>
  <Override PartName="/ppt/notesSlides/notesSlide475.xml" ContentType="application/vnd.openxmlformats-officedocument.presentationml.notesSlide+xml"/>
  <Override PartName="/ppt/notesSlides/notesSlide476.xml" ContentType="application/vnd.openxmlformats-officedocument.presentationml.notesSlide+xml"/>
  <Override PartName="/ppt/notesSlides/notesSlide477.xml" ContentType="application/vnd.openxmlformats-officedocument.presentationml.notesSlide+xml"/>
  <Override PartName="/ppt/notesSlides/notesSlide478.xml" ContentType="application/vnd.openxmlformats-officedocument.presentationml.notesSlide+xml"/>
  <Override PartName="/ppt/notesSlides/notesSlide479.xml" ContentType="application/vnd.openxmlformats-officedocument.presentationml.notesSlide+xml"/>
  <Override PartName="/ppt/notesSlides/notesSlide48.xml" ContentType="application/vnd.openxmlformats-officedocument.presentationml.notesSlide+xml"/>
  <Override PartName="/ppt/notesSlides/notesSlide480.xml" ContentType="application/vnd.openxmlformats-officedocument.presentationml.notesSlide+xml"/>
  <Override PartName="/ppt/notesSlides/notesSlide481.xml" ContentType="application/vnd.openxmlformats-officedocument.presentationml.notesSlide+xml"/>
  <Override PartName="/ppt/notesSlides/notesSlide482.xml" ContentType="application/vnd.openxmlformats-officedocument.presentationml.notesSlide+xml"/>
  <Override PartName="/ppt/notesSlides/notesSlide486.xml" ContentType="application/vnd.openxmlformats-officedocument.presentationml.notesSlide+xml"/>
  <Override PartName="/ppt/notesSlides/notesSlide489.xml" ContentType="application/vnd.openxmlformats-officedocument.presentationml.notesSlide+xml"/>
  <Override PartName="/ppt/notesSlides/notesSlide491.xml" ContentType="application/vnd.openxmlformats-officedocument.presentationml.notesSlide+xml"/>
  <Override PartName="/ppt/notesSlides/notesSlide493.xml" ContentType="application/vnd.openxmlformats-officedocument.presentationml.notesSlide+xml"/>
  <Override PartName="/ppt/notesSlides/notesSlide495.xml" ContentType="application/vnd.openxmlformats-officedocument.presentationml.notesSlide+xml"/>
  <Override PartName="/ppt/notesSlides/notesSlide497.xml" ContentType="application/vnd.openxmlformats-officedocument.presentationml.notesSlide+xml"/>
  <Override PartName="/ppt/notesSlides/notesSlide499.xml" ContentType="application/vnd.openxmlformats-officedocument.presentationml.notesSlide+xml"/>
  <Override PartName="/ppt/notesSlides/notesSlide50.xml" ContentType="application/vnd.openxmlformats-officedocument.presentationml.notesSlide+xml"/>
  <Override PartName="/ppt/notesSlides/notesSlide501.xml" ContentType="application/vnd.openxmlformats-officedocument.presentationml.notesSlide+xml"/>
  <Override PartName="/ppt/notesSlides/notesSlide503.xml" ContentType="application/vnd.openxmlformats-officedocument.presentationml.notesSlide+xml"/>
  <Override PartName="/ppt/notesSlides/notesSlide505.xml" ContentType="application/vnd.openxmlformats-officedocument.presentationml.notesSlide+xml"/>
  <Override PartName="/ppt/notesSlides/notesSlide507.xml" ContentType="application/vnd.openxmlformats-officedocument.presentationml.notesSlide+xml"/>
  <Override PartName="/ppt/notesSlides/notesSlide509.xml" ContentType="application/vnd.openxmlformats-officedocument.presentationml.notesSlide+xml"/>
  <Override PartName="/ppt/notesSlides/notesSlide511.xml" ContentType="application/vnd.openxmlformats-officedocument.presentationml.notesSlide+xml"/>
  <Override PartName="/ppt/notesSlides/notesSlide513.xml" ContentType="application/vnd.openxmlformats-officedocument.presentationml.notesSlide+xml"/>
  <Override PartName="/ppt/notesSlides/notesSlide517.xml" ContentType="application/vnd.openxmlformats-officedocument.presentationml.notesSlide+xml"/>
  <Override PartName="/ppt/notesSlides/notesSlide519.xml" ContentType="application/vnd.openxmlformats-officedocument.presentationml.notesSlide+xml"/>
  <Override PartName="/ppt/notesSlides/notesSlide52.xml" ContentType="application/vnd.openxmlformats-officedocument.presentationml.notesSlide+xml"/>
  <Override PartName="/ppt/notesSlides/notesSlide521.xml" ContentType="application/vnd.openxmlformats-officedocument.presentationml.notesSlide+xml"/>
  <Override PartName="/ppt/notesSlides/notesSlide523.xml" ContentType="application/vnd.openxmlformats-officedocument.presentationml.notesSlide+xml"/>
  <Override PartName="/ppt/notesSlides/notesSlide525.xml" ContentType="application/vnd.openxmlformats-officedocument.presentationml.notesSlide+xml"/>
  <Override PartName="/ppt/notesSlides/notesSlide528.xml" ContentType="application/vnd.openxmlformats-officedocument.presentationml.notesSlide+xml"/>
  <Override PartName="/ppt/notesSlides/notesSlide530.xml" ContentType="application/vnd.openxmlformats-officedocument.presentationml.notesSlide+xml"/>
  <Override PartName="/ppt/notesSlides/notesSlide532.xml" ContentType="application/vnd.openxmlformats-officedocument.presentationml.notesSlide+xml"/>
  <Override PartName="/ppt/notesSlides/notesSlide535.xml" ContentType="application/vnd.openxmlformats-officedocument.presentationml.notesSlide+xml"/>
  <Override PartName="/ppt/notesSlides/notesSlide536.xml" ContentType="application/vnd.openxmlformats-officedocument.presentationml.notesSlide+xml"/>
  <Override PartName="/ppt/notesSlides/notesSlide537.xml" ContentType="application/vnd.openxmlformats-officedocument.presentationml.notesSlide+xml"/>
  <Override PartName="/ppt/notesSlides/notesSlide538.xml" ContentType="application/vnd.openxmlformats-officedocument.presentationml.notesSlide+xml"/>
  <Override PartName="/ppt/notesSlides/notesSlide539.xml" ContentType="application/vnd.openxmlformats-officedocument.presentationml.notesSlide+xml"/>
  <Override PartName="/ppt/notesSlides/notesSlide54.xml" ContentType="application/vnd.openxmlformats-officedocument.presentationml.notesSlide+xml"/>
  <Override PartName="/ppt/notesSlides/notesSlide540.xml" ContentType="application/vnd.openxmlformats-officedocument.presentationml.notesSlide+xml"/>
  <Override PartName="/ppt/notesSlides/notesSlide541.xml" ContentType="application/vnd.openxmlformats-officedocument.presentationml.notesSlide+xml"/>
  <Override PartName="/ppt/notesSlides/notesSlide542.xml" ContentType="application/vnd.openxmlformats-officedocument.presentationml.notesSlide+xml"/>
  <Override PartName="/ppt/notesSlides/notesSlide543.xml" ContentType="application/vnd.openxmlformats-officedocument.presentationml.notesSlide+xml"/>
  <Override PartName="/ppt/notesSlides/notesSlide544.xml" ContentType="application/vnd.openxmlformats-officedocument.presentationml.notesSlide+xml"/>
  <Override PartName="/ppt/notesSlides/notesSlide545.xml" ContentType="application/vnd.openxmlformats-officedocument.presentationml.notesSlide+xml"/>
  <Override PartName="/ppt/notesSlides/notesSlide546.xml" ContentType="application/vnd.openxmlformats-officedocument.presentationml.notesSlide+xml"/>
  <Override PartName="/ppt/notesSlides/notesSlide547.xml" ContentType="application/vnd.openxmlformats-officedocument.presentationml.notesSlide+xml"/>
  <Override PartName="/ppt/notesSlides/notesSlide548.xml" ContentType="application/vnd.openxmlformats-officedocument.presentationml.notesSlide+xml"/>
  <Override PartName="/ppt/notesSlides/notesSlide549.xml" ContentType="application/vnd.openxmlformats-officedocument.presentationml.notesSlide+xml"/>
  <Override PartName="/ppt/notesSlides/notesSlide550.xml" ContentType="application/vnd.openxmlformats-officedocument.presentationml.notesSlide+xml"/>
  <Override PartName="/ppt/notesSlides/notesSlide551.xml" ContentType="application/vnd.openxmlformats-officedocument.presentationml.notesSlide+xml"/>
  <Override PartName="/ppt/notesSlides/notesSlide552.xml" ContentType="application/vnd.openxmlformats-officedocument.presentationml.notesSlide+xml"/>
  <Override PartName="/ppt/notesSlides/notesSlide553.xml" ContentType="application/vnd.openxmlformats-officedocument.presentationml.notesSlide+xml"/>
  <Override PartName="/ppt/notesSlides/notesSlide554.xml" ContentType="application/vnd.openxmlformats-officedocument.presentationml.notesSlide+xml"/>
  <Override PartName="/ppt/notesSlides/notesSlide555.xml" ContentType="application/vnd.openxmlformats-officedocument.presentationml.notesSlide+xml"/>
  <Override PartName="/ppt/notesSlides/notesSlide556.xml" ContentType="application/vnd.openxmlformats-officedocument.presentationml.notesSlide+xml"/>
  <Override PartName="/ppt/notesSlides/notesSlide557.xml" ContentType="application/vnd.openxmlformats-officedocument.presentationml.notesSlide+xml"/>
  <Override PartName="/ppt/notesSlides/notesSlide558.xml" ContentType="application/vnd.openxmlformats-officedocument.presentationml.notesSlide+xml"/>
  <Override PartName="/ppt/notesSlides/notesSlide559.xml" ContentType="application/vnd.openxmlformats-officedocument.presentationml.notesSlide+xml"/>
  <Override PartName="/ppt/notesSlides/notesSlide56.xml" ContentType="application/vnd.openxmlformats-officedocument.presentationml.notesSlide+xml"/>
  <Override PartName="/ppt/notesSlides/notesSlide560.xml" ContentType="application/vnd.openxmlformats-officedocument.presentationml.notesSlide+xml"/>
  <Override PartName="/ppt/notesSlides/notesSlide562.xml" ContentType="application/vnd.openxmlformats-officedocument.presentationml.notesSlide+xml"/>
  <Override PartName="/ppt/notesSlides/notesSlide563.xml" ContentType="application/vnd.openxmlformats-officedocument.presentationml.notesSlide+xml"/>
  <Override PartName="/ppt/notesSlides/notesSlide564.xml" ContentType="application/vnd.openxmlformats-officedocument.presentationml.notesSlide+xml"/>
  <Override PartName="/ppt/notesSlides/notesSlide565.xml" ContentType="application/vnd.openxmlformats-officedocument.presentationml.notesSlide+xml"/>
  <Override PartName="/ppt/notesSlides/notesSlide566.xml" ContentType="application/vnd.openxmlformats-officedocument.presentationml.notesSlide+xml"/>
  <Override PartName="/ppt/notesSlides/notesSlide568.xml" ContentType="application/vnd.openxmlformats-officedocument.presentationml.notesSlide+xml"/>
  <Override PartName="/ppt/notesSlides/notesSlide570.xml" ContentType="application/vnd.openxmlformats-officedocument.presentationml.notesSlide+xml"/>
  <Override PartName="/ppt/notesSlides/notesSlide571.xml" ContentType="application/vnd.openxmlformats-officedocument.presentationml.notesSlide+xml"/>
  <Override PartName="/ppt/notesSlides/notesSlide572.xml" ContentType="application/vnd.openxmlformats-officedocument.presentationml.notesSlide+xml"/>
  <Override PartName="/ppt/notesSlides/notesSlide573.xml" ContentType="application/vnd.openxmlformats-officedocument.presentationml.notesSlide+xml"/>
  <Override PartName="/ppt/notesSlides/notesSlide574.xml" ContentType="application/vnd.openxmlformats-officedocument.presentationml.notesSlide+xml"/>
  <Override PartName="/ppt/notesSlides/notesSlide575.xml" ContentType="application/vnd.openxmlformats-officedocument.presentationml.notesSlide+xml"/>
  <Override PartName="/ppt/notesSlides/notesSlide576.xml" ContentType="application/vnd.openxmlformats-officedocument.presentationml.notesSlide+xml"/>
  <Override PartName="/ppt/notesSlides/notesSlide577.xml" ContentType="application/vnd.openxmlformats-officedocument.presentationml.notesSlide+xml"/>
  <Override PartName="/ppt/notesSlides/notesSlide578.xml" ContentType="application/vnd.openxmlformats-officedocument.presentationml.notesSlide+xml"/>
  <Override PartName="/ppt/notesSlides/notesSlide58.xml" ContentType="application/vnd.openxmlformats-officedocument.presentationml.notesSlide+xml"/>
  <Override PartName="/ppt/notesSlides/notesSlide583.xml" ContentType="application/vnd.openxmlformats-officedocument.presentationml.notesSlide+xml"/>
  <Override PartName="/ppt/notesSlides/notesSlide586.xml" ContentType="application/vnd.openxmlformats-officedocument.presentationml.notesSlide+xml"/>
  <Override PartName="/ppt/notesSlides/notesSlide588.xml" ContentType="application/vnd.openxmlformats-officedocument.presentationml.notesSlide+xml"/>
  <Override PartName="/ppt/notesSlides/notesSlide590.xml" ContentType="application/vnd.openxmlformats-officedocument.presentationml.notesSlide+xml"/>
  <Override PartName="/ppt/notesSlides/notesSlide592.xml" ContentType="application/vnd.openxmlformats-officedocument.presentationml.notesSlide+xml"/>
  <Override PartName="/ppt/notesSlides/notesSlide594.xml" ContentType="application/vnd.openxmlformats-officedocument.presentationml.notesSlide+xml"/>
  <Override PartName="/ppt/notesSlides/notesSlide596.xml" ContentType="application/vnd.openxmlformats-officedocument.presentationml.notesSlide+xml"/>
  <Override PartName="/ppt/notesSlides/notesSlide598.xml" ContentType="application/vnd.openxmlformats-officedocument.presentationml.notesSlide+xml"/>
  <Override PartName="/ppt/notesSlides/notesSlide60.xml" ContentType="application/vnd.openxmlformats-officedocument.presentationml.notesSlide+xml"/>
  <Override PartName="/ppt/notesSlides/notesSlide600.xml" ContentType="application/vnd.openxmlformats-officedocument.presentationml.notesSlide+xml"/>
  <Override PartName="/ppt/notesSlides/notesSlide602.xml" ContentType="application/vnd.openxmlformats-officedocument.presentationml.notesSlide+xml"/>
  <Override PartName="/ppt/notesSlides/notesSlide605.xml" ContentType="application/vnd.openxmlformats-officedocument.presentationml.notesSlide+xml"/>
  <Override PartName="/ppt/notesSlides/notesSlide606.xml" ContentType="application/vnd.openxmlformats-officedocument.presentationml.notesSlide+xml"/>
  <Override PartName="/ppt/notesSlides/notesSlide607.xml" ContentType="application/vnd.openxmlformats-officedocument.presentationml.notesSlide+xml"/>
  <Override PartName="/ppt/notesSlides/notesSlide608.xml" ContentType="application/vnd.openxmlformats-officedocument.presentationml.notesSlide+xml"/>
  <Override PartName="/ppt/notesSlides/notesSlide609.xml" ContentType="application/vnd.openxmlformats-officedocument.presentationml.notesSlide+xml"/>
  <Override PartName="/ppt/notesSlides/notesSlide610.xml" ContentType="application/vnd.openxmlformats-officedocument.presentationml.notesSlide+xml"/>
  <Override PartName="/ppt/notesSlides/notesSlide611.xml" ContentType="application/vnd.openxmlformats-officedocument.presentationml.notesSlide+xml"/>
  <Override PartName="/ppt/notesSlides/notesSlide613.xml" ContentType="application/vnd.openxmlformats-officedocument.presentationml.notesSlide+xml"/>
  <Override PartName="/ppt/notesSlides/notesSlide614.xml" ContentType="application/vnd.openxmlformats-officedocument.presentationml.notesSlide+xml"/>
  <Override PartName="/ppt/notesSlides/notesSlide615.xml" ContentType="application/vnd.openxmlformats-officedocument.presentationml.notesSlide+xml"/>
  <Override PartName="/ppt/notesSlides/notesSlide616.xml" ContentType="application/vnd.openxmlformats-officedocument.presentationml.notesSlide+xml"/>
  <Override PartName="/ppt/notesSlides/notesSlide617.xml" ContentType="application/vnd.openxmlformats-officedocument.presentationml.notesSlide+xml"/>
  <Override PartName="/ppt/notesSlides/notesSlide618.xml" ContentType="application/vnd.openxmlformats-officedocument.presentationml.notesSlide+xml"/>
  <Override PartName="/ppt/notesSlides/notesSlide619.xml" ContentType="application/vnd.openxmlformats-officedocument.presentationml.notesSlide+xml"/>
  <Override PartName="/ppt/notesSlides/notesSlide62.xml" ContentType="application/vnd.openxmlformats-officedocument.presentationml.notesSlide+xml"/>
  <Override PartName="/ppt/notesSlides/notesSlide64.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6.xml" ContentType="application/vnd.openxmlformats-officedocument.presentationml.notesSlide+xml"/>
  <Override PartName="/ppt/notesSlides/notesSlide88.xml" ContentType="application/vnd.openxmlformats-officedocument.presentationml.notesSlide+xml"/>
  <Override PartName="/ppt/notesSlides/notesSlide90.xml" ContentType="application/vnd.openxmlformats-officedocument.presentationml.notesSlide+xml"/>
  <Override PartName="/ppt/notesSlides/notesSlide92.xml" ContentType="application/vnd.openxmlformats-officedocument.presentationml.notesSlide+xml"/>
  <Override PartName="/ppt/notesSlides/notesSlide94.xml" ContentType="application/vnd.openxmlformats-officedocument.presentationml.notesSlide+xml"/>
  <Override PartName="/ppt/notesSlides/notesSlide96.xml" ContentType="application/vnd.openxmlformats-officedocument.presentationml.notesSlide+xml"/>
  <Override PartName="/ppt/notesSlides/notesSlide98.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s/slide10.xml" ContentType="application/vnd.openxmlformats-officedocument.presentationml.slide+xml"/>
  <Override PartName="/ppt/slides/slide100.xml" ContentType="application/vnd.openxmlformats-officedocument.presentationml.slide+xml"/>
  <Override PartName="/ppt/slides/slide102.xml" ContentType="application/vnd.openxmlformats-officedocument.presentationml.slide+xml"/>
  <Override PartName="/ppt/slides/slide104.xml" ContentType="application/vnd.openxmlformats-officedocument.presentationml.slide+xml"/>
  <Override PartName="/ppt/slides/slide106.xml" ContentType="application/vnd.openxmlformats-officedocument.presentationml.slide+xml"/>
  <Override PartName="/ppt/slides/slide108.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2.xml" ContentType="application/vnd.openxmlformats-officedocument.presentationml.slide+xml"/>
  <Override PartName="/ppt/slides/slide115.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5.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7.xml" ContentType="application/vnd.openxmlformats-officedocument.presentationml.slide+xml"/>
  <Override PartName="/ppt/slides/slide199.xml" ContentType="application/vnd.openxmlformats-officedocument.presentationml.slide+xml"/>
  <Override PartName="/ppt/slides/slide20.xml" ContentType="application/vnd.openxmlformats-officedocument.presentationml.slide+xml"/>
  <Override PartName="/ppt/slides/slide204.xml" ContentType="application/vnd.openxmlformats-officedocument.presentationml.slide+xml"/>
  <Override PartName="/ppt/slides/slide206.xml" ContentType="application/vnd.openxmlformats-officedocument.presentationml.slide+xml"/>
  <Override PartName="/ppt/slides/slide208.xml" ContentType="application/vnd.openxmlformats-officedocument.presentationml.slide+xml"/>
  <Override PartName="/ppt/slides/slide21.xml" ContentType="application/vnd.openxmlformats-officedocument.presentationml.slide+xml"/>
  <Override PartName="/ppt/slides/slide210.xml" ContentType="application/vnd.openxmlformats-officedocument.presentationml.slide+xml"/>
  <Override PartName="/ppt/slides/slide212.xml" ContentType="application/vnd.openxmlformats-officedocument.presentationml.slide+xml"/>
  <Override PartName="/ppt/slides/slide214.xml" ContentType="application/vnd.openxmlformats-officedocument.presentationml.slide+xml"/>
  <Override PartName="/ppt/slides/slide216.xml" ContentType="application/vnd.openxmlformats-officedocument.presentationml.slide+xml"/>
  <Override PartName="/ppt/slides/slide218.xml" ContentType="application/vnd.openxmlformats-officedocument.presentationml.slide+xml"/>
  <Override PartName="/ppt/slides/slide22.xml" ContentType="application/vnd.openxmlformats-officedocument.presentationml.slide+xml"/>
  <Override PartName="/ppt/slides/slide220.xml" ContentType="application/vnd.openxmlformats-officedocument.presentationml.slide+xml"/>
  <Override PartName="/ppt/slides/slide222.xml" ContentType="application/vnd.openxmlformats-officedocument.presentationml.slide+xml"/>
  <Override PartName="/ppt/slides/slide224.xml" ContentType="application/vnd.openxmlformats-officedocument.presentationml.slide+xml"/>
  <Override PartName="/ppt/slides/slide229.xml" ContentType="application/vnd.openxmlformats-officedocument.presentationml.slide+xml"/>
  <Override PartName="/ppt/slides/slide23.xml" ContentType="application/vnd.openxmlformats-officedocument.presentationml.slide+xml"/>
  <Override PartName="/ppt/slides/slide231.xml" ContentType="application/vnd.openxmlformats-officedocument.presentationml.slide+xml"/>
  <Override PartName="/ppt/slides/slide233.xml" ContentType="application/vnd.openxmlformats-officedocument.presentationml.slide+xml"/>
  <Override PartName="/ppt/slides/slide235.xml" ContentType="application/vnd.openxmlformats-officedocument.presentationml.slide+xml"/>
  <Override PartName="/ppt/slides/slide237.xml" ContentType="application/vnd.openxmlformats-officedocument.presentationml.slide+xml"/>
  <Override PartName="/ppt/slides/slide239.xml" ContentType="application/vnd.openxmlformats-officedocument.presentationml.slide+xml"/>
  <Override PartName="/ppt/slides/slide24.xml" ContentType="application/vnd.openxmlformats-officedocument.presentationml.slide+xml"/>
  <Override PartName="/ppt/slides/slide241.xml" ContentType="application/vnd.openxmlformats-officedocument.presentationml.slide+xml"/>
  <Override PartName="/ppt/slides/slide243.xml" ContentType="application/vnd.openxmlformats-officedocument.presentationml.slide+xml"/>
  <Override PartName="/ppt/slides/slide245.xml" ContentType="application/vnd.openxmlformats-officedocument.presentationml.slide+xml"/>
  <Override PartName="/ppt/slides/slide247.xml" ContentType="application/vnd.openxmlformats-officedocument.presentationml.slide+xml"/>
  <Override PartName="/ppt/slides/slide249.xml" ContentType="application/vnd.openxmlformats-officedocument.presentationml.slide+xml"/>
  <Override PartName="/ppt/slides/slide25.xml" ContentType="application/vnd.openxmlformats-officedocument.presentationml.slide+xml"/>
  <Override PartName="/ppt/slides/slide251.xml" ContentType="application/vnd.openxmlformats-officedocument.presentationml.slide+xml"/>
  <Override PartName="/ppt/slides/slide256.xml" ContentType="application/vnd.openxmlformats-officedocument.presentationml.slide+xml"/>
  <Override PartName="/ppt/slides/slide258.xml" ContentType="application/vnd.openxmlformats-officedocument.presentationml.slide+xml"/>
  <Override PartName="/ppt/slides/slide260.xml" ContentType="application/vnd.openxmlformats-officedocument.presentationml.slide+xml"/>
  <Override PartName="/ppt/slides/slide262.xml" ContentType="application/vnd.openxmlformats-officedocument.presentationml.slide+xml"/>
  <Override PartName="/ppt/slides/slide264.xml" ContentType="application/vnd.openxmlformats-officedocument.presentationml.slide+xml"/>
  <Override PartName="/ppt/slides/slide266.xml" ContentType="application/vnd.openxmlformats-officedocument.presentationml.slide+xml"/>
  <Override PartName="/ppt/slides/slide268.xml" ContentType="application/vnd.openxmlformats-officedocument.presentationml.slide+xml"/>
  <Override PartName="/ppt/slides/slide270.xml" ContentType="application/vnd.openxmlformats-officedocument.presentationml.slide+xml"/>
  <Override PartName="/ppt/slides/slide275.xml" ContentType="application/vnd.openxmlformats-officedocument.presentationml.slide+xml"/>
  <Override PartName="/ppt/slides/slide277.xml" ContentType="application/vnd.openxmlformats-officedocument.presentationml.slide+xml"/>
  <Override PartName="/ppt/slides/slide279.xml" ContentType="application/vnd.openxmlformats-officedocument.presentationml.slide+xml"/>
  <Override PartName="/ppt/slides/slide281.xml" ContentType="application/vnd.openxmlformats-officedocument.presentationml.slide+xml"/>
  <Override PartName="/ppt/slides/slide283.xml" ContentType="application/vnd.openxmlformats-officedocument.presentationml.slide+xml"/>
  <Override PartName="/ppt/slides/slide285.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6.xml" ContentType="application/vnd.openxmlformats-officedocument.presentationml.slide+xml"/>
  <Override PartName="/ppt/slides/slide329.xml" ContentType="application/vnd.openxmlformats-officedocument.presentationml.slide+xml"/>
  <Override PartName="/ppt/slides/slide337.xml" ContentType="application/vnd.openxmlformats-officedocument.presentationml.slide+xml"/>
  <Override PartName="/ppt/slides/slide339.xml" ContentType="application/vnd.openxmlformats-officedocument.presentationml.slide+xml"/>
  <Override PartName="/ppt/slides/slide341.xml" ContentType="application/vnd.openxmlformats-officedocument.presentationml.slide+xml"/>
  <Override PartName="/ppt/slides/slide343.xml" ContentType="application/vnd.openxmlformats-officedocument.presentationml.slide+xml"/>
  <Override PartName="/ppt/slides/slide345.xml" ContentType="application/vnd.openxmlformats-officedocument.presentationml.slide+xml"/>
  <Override PartName="/ppt/slides/slide347.xml" ContentType="application/vnd.openxmlformats-officedocument.presentationml.slide+xml"/>
  <Override PartName="/ppt/slides/slide349.xml" ContentType="application/vnd.openxmlformats-officedocument.presentationml.slide+xml"/>
  <Override PartName="/ppt/slides/slide35.xml" ContentType="application/vnd.openxmlformats-officedocument.presentationml.slide+xml"/>
  <Override PartName="/ppt/slides/slide351.xml" ContentType="application/vnd.openxmlformats-officedocument.presentationml.slide+xml"/>
  <Override PartName="/ppt/slides/slide353.xml" ContentType="application/vnd.openxmlformats-officedocument.presentationml.slide+xml"/>
  <Override PartName="/ppt/slides/slide355.xml" ContentType="application/vnd.openxmlformats-officedocument.presentationml.slide+xml"/>
  <Override PartName="/ppt/slides/slide357.xml" ContentType="application/vnd.openxmlformats-officedocument.presentationml.slide+xml"/>
  <Override PartName="/ppt/slides/slide359.xml" ContentType="application/vnd.openxmlformats-officedocument.presentationml.slide+xml"/>
  <Override PartName="/ppt/slides/slide361.xml" ContentType="application/vnd.openxmlformats-officedocument.presentationml.slide+xml"/>
  <Override PartName="/ppt/slides/slide363.xml" ContentType="application/vnd.openxmlformats-officedocument.presentationml.slide+xml"/>
  <Override PartName="/ppt/slides/slide365.xml" ContentType="application/vnd.openxmlformats-officedocument.presentationml.slide+xml"/>
  <Override PartName="/ppt/slides/slide367.xml" ContentType="application/vnd.openxmlformats-officedocument.presentationml.slide+xml"/>
  <Override PartName="/ppt/slides/slide369.xml" ContentType="application/vnd.openxmlformats-officedocument.presentationml.slide+xml"/>
  <Override PartName="/ppt/slides/slide37.xml" ContentType="application/vnd.openxmlformats-officedocument.presentationml.slide+xml"/>
  <Override PartName="/ppt/slides/slide371.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8.xml" ContentType="application/vnd.openxmlformats-officedocument.presentationml.slide+xml"/>
  <Override PartName="/ppt/slides/slide3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401.xml" ContentType="application/vnd.openxmlformats-officedocument.presentationml.slide+xml"/>
  <Override PartName="/ppt/slides/slide406.xml" ContentType="application/vnd.openxmlformats-officedocument.presentationml.slide+xml"/>
  <Override PartName="/ppt/slides/slide408.xml" ContentType="application/vnd.openxmlformats-officedocument.presentationml.slide+xml"/>
  <Override PartName="/ppt/slides/slide41.xml" ContentType="application/vnd.openxmlformats-officedocument.presentationml.slide+xml"/>
  <Override PartName="/ppt/slides/slide410.xml" ContentType="application/vnd.openxmlformats-officedocument.presentationml.slide+xml"/>
  <Override PartName="/ppt/slides/slide412.xml" ContentType="application/vnd.openxmlformats-officedocument.presentationml.slide+xml"/>
  <Override PartName="/ppt/slides/slide414.xml" ContentType="application/vnd.openxmlformats-officedocument.presentationml.slide+xml"/>
  <Override PartName="/ppt/slides/slide416.xml" ContentType="application/vnd.openxmlformats-officedocument.presentationml.slide+xml"/>
  <Override PartName="/ppt/slides/slide418.xml" ContentType="application/vnd.openxmlformats-officedocument.presentationml.slide+xml"/>
  <Override PartName="/ppt/slides/slide420.xml" ContentType="application/vnd.openxmlformats-officedocument.presentationml.slide+xml"/>
  <Override PartName="/ppt/slides/slide422.xml" ContentType="application/vnd.openxmlformats-officedocument.presentationml.slide+xml"/>
  <Override PartName="/ppt/slides/slide424.xml" ContentType="application/vnd.openxmlformats-officedocument.presentationml.slide+xml"/>
  <Override PartName="/ppt/slides/slide426.xml" ContentType="application/vnd.openxmlformats-officedocument.presentationml.slide+xml"/>
  <Override PartName="/ppt/slides/slide428.xml" ContentType="application/vnd.openxmlformats-officedocument.presentationml.slide+xml"/>
  <Override PartName="/ppt/slides/slide430.xml" ContentType="application/vnd.openxmlformats-officedocument.presentationml.slide+xml"/>
  <Override PartName="/ppt/slides/slide432.xml" ContentType="application/vnd.openxmlformats-officedocument.presentationml.slide+xml"/>
  <Override PartName="/ppt/slides/slide434.xml" ContentType="application/vnd.openxmlformats-officedocument.presentationml.slide+xml"/>
  <Override PartName="/ppt/slides/slide436.xml" ContentType="application/vnd.openxmlformats-officedocument.presentationml.slide+xml"/>
  <Override PartName="/ppt/slides/slide438.xml" ContentType="application/vnd.openxmlformats-officedocument.presentationml.slide+xml"/>
  <Override PartName="/ppt/slides/slide44.xml" ContentType="application/vnd.openxmlformats-officedocument.presentationml.slide+xml"/>
  <Override PartName="/ppt/slides/slide440.xml" ContentType="application/vnd.openxmlformats-officedocument.presentationml.slide+xml"/>
  <Override PartName="/ppt/slides/slide443.xml" ContentType="application/vnd.openxmlformats-officedocument.presentationml.slide+xml"/>
  <Override PartName="/ppt/slides/slide445.xml" ContentType="application/vnd.openxmlformats-officedocument.presentationml.slide+xml"/>
  <Override PartName="/ppt/slides/slide448.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5.xml" ContentType="application/vnd.openxmlformats-officedocument.presentationml.slide+xml"/>
  <Override PartName="/ppt/slides/slide466.xml" ContentType="application/vnd.openxmlformats-officedocument.presentationml.slide+xml"/>
  <Override PartName="/ppt/slides/slide467.xml" ContentType="application/vnd.openxmlformats-officedocument.presentationml.slide+xml"/>
  <Override PartName="/ppt/slides/slide468.xml" ContentType="application/vnd.openxmlformats-officedocument.presentationml.slide+xml"/>
  <Override PartName="/ppt/slides/slide469.xml" ContentType="application/vnd.openxmlformats-officedocument.presentationml.slide+xml"/>
  <Override PartName="/ppt/slides/slide470.xml" ContentType="application/vnd.openxmlformats-officedocument.presentationml.slide+xml"/>
  <Override PartName="/ppt/slides/slide471.xml" ContentType="application/vnd.openxmlformats-officedocument.presentationml.slide+xml"/>
  <Override PartName="/ppt/slides/slide472.xml" ContentType="application/vnd.openxmlformats-officedocument.presentationml.slide+xml"/>
  <Override PartName="/ppt/slides/slide473.xml" ContentType="application/vnd.openxmlformats-officedocument.presentationml.slide+xml"/>
  <Override PartName="/ppt/slides/slide475.xml" ContentType="application/vnd.openxmlformats-officedocument.presentationml.slide+xml"/>
  <Override PartName="/ppt/slides/slide476.xml" ContentType="application/vnd.openxmlformats-officedocument.presentationml.slide+xml"/>
  <Override PartName="/ppt/slides/slide477.xml" ContentType="application/vnd.openxmlformats-officedocument.presentationml.slide+xml"/>
  <Override PartName="/ppt/slides/slide478.xml" ContentType="application/vnd.openxmlformats-officedocument.presentationml.slide+xml"/>
  <Override PartName="/ppt/slides/slide479.xml" ContentType="application/vnd.openxmlformats-officedocument.presentationml.slide+xml"/>
  <Override PartName="/ppt/slides/slide48.xml" ContentType="application/vnd.openxmlformats-officedocument.presentationml.slide+xml"/>
  <Override PartName="/ppt/slides/slide480.xml" ContentType="application/vnd.openxmlformats-officedocument.presentationml.slide+xml"/>
  <Override PartName="/ppt/slides/slide481.xml" ContentType="application/vnd.openxmlformats-officedocument.presentationml.slide+xml"/>
  <Override PartName="/ppt/slides/slide482.xml" ContentType="application/vnd.openxmlformats-officedocument.presentationml.slide+xml"/>
  <Override PartName="/ppt/slides/slide486.xml" ContentType="application/vnd.openxmlformats-officedocument.presentationml.slide+xml"/>
  <Override PartName="/ppt/slides/slide489.xml" ContentType="application/vnd.openxmlformats-officedocument.presentationml.slide+xml"/>
  <Override PartName="/ppt/slides/slide491.xml" ContentType="application/vnd.openxmlformats-officedocument.presentationml.slide+xml"/>
  <Override PartName="/ppt/slides/slide493.xml" ContentType="application/vnd.openxmlformats-officedocument.presentationml.slide+xml"/>
  <Override PartName="/ppt/slides/slide495.xml" ContentType="application/vnd.openxmlformats-officedocument.presentationml.slide+xml"/>
  <Override PartName="/ppt/slides/slide497.xml" ContentType="application/vnd.openxmlformats-officedocument.presentationml.slide+xml"/>
  <Override PartName="/ppt/slides/slide499.xml" ContentType="application/vnd.openxmlformats-officedocument.presentationml.slide+xml"/>
  <Override PartName="/ppt/slides/slide50.xml" ContentType="application/vnd.openxmlformats-officedocument.presentationml.slide+xml"/>
  <Override PartName="/ppt/slides/slide501.xml" ContentType="application/vnd.openxmlformats-officedocument.presentationml.slide+xml"/>
  <Override PartName="/ppt/slides/slide503.xml" ContentType="application/vnd.openxmlformats-officedocument.presentationml.slide+xml"/>
  <Override PartName="/ppt/slides/slide505.xml" ContentType="application/vnd.openxmlformats-officedocument.presentationml.slide+xml"/>
  <Override PartName="/ppt/slides/slide507.xml" ContentType="application/vnd.openxmlformats-officedocument.presentationml.slide+xml"/>
  <Override PartName="/ppt/slides/slide509.xml" ContentType="application/vnd.openxmlformats-officedocument.presentationml.slide+xml"/>
  <Override PartName="/ppt/slides/slide511.xml" ContentType="application/vnd.openxmlformats-officedocument.presentationml.slide+xml"/>
  <Override PartName="/ppt/slides/slide513.xml" ContentType="application/vnd.openxmlformats-officedocument.presentationml.slide+xml"/>
  <Override PartName="/ppt/slides/slide517.xml" ContentType="application/vnd.openxmlformats-officedocument.presentationml.slide+xml"/>
  <Override PartName="/ppt/slides/slide519.xml" ContentType="application/vnd.openxmlformats-officedocument.presentationml.slide+xml"/>
  <Override PartName="/ppt/slides/slide52.xml" ContentType="application/vnd.openxmlformats-officedocument.presentationml.slide+xml"/>
  <Override PartName="/ppt/slides/slide521.xml" ContentType="application/vnd.openxmlformats-officedocument.presentationml.slide+xml"/>
  <Override PartName="/ppt/slides/slide523.xml" ContentType="application/vnd.openxmlformats-officedocument.presentationml.slide+xml"/>
  <Override PartName="/ppt/slides/slide525.xml" ContentType="application/vnd.openxmlformats-officedocument.presentationml.slide+xml"/>
  <Override PartName="/ppt/slides/slide528.xml" ContentType="application/vnd.openxmlformats-officedocument.presentationml.slide+xml"/>
  <Override PartName="/ppt/slides/slide530.xml" ContentType="application/vnd.openxmlformats-officedocument.presentationml.slide+xml"/>
  <Override PartName="/ppt/slides/slide532.xml" ContentType="application/vnd.openxmlformats-officedocument.presentationml.slide+xml"/>
  <Override PartName="/ppt/slides/slide535.xml" ContentType="application/vnd.openxmlformats-officedocument.presentationml.slide+xml"/>
  <Override PartName="/ppt/slides/slide536.xml" ContentType="application/vnd.openxmlformats-officedocument.presentationml.slide+xml"/>
  <Override PartName="/ppt/slides/slide537.xml" ContentType="application/vnd.openxmlformats-officedocument.presentationml.slide+xml"/>
  <Override PartName="/ppt/slides/slide538.xml" ContentType="application/vnd.openxmlformats-officedocument.presentationml.slide+xml"/>
  <Override PartName="/ppt/slides/slide539.xml" ContentType="application/vnd.openxmlformats-officedocument.presentationml.slide+xml"/>
  <Override PartName="/ppt/slides/slide54.xml" ContentType="application/vnd.openxmlformats-officedocument.presentationml.slide+xml"/>
  <Override PartName="/ppt/slides/slide540.xml" ContentType="application/vnd.openxmlformats-officedocument.presentationml.slide+xml"/>
  <Override PartName="/ppt/slides/slide541.xml" ContentType="application/vnd.openxmlformats-officedocument.presentationml.slide+xml"/>
  <Override PartName="/ppt/slides/slide542.xml" ContentType="application/vnd.openxmlformats-officedocument.presentationml.slide+xml"/>
  <Override PartName="/ppt/slides/slide543.xml" ContentType="application/vnd.openxmlformats-officedocument.presentationml.slide+xml"/>
  <Override PartName="/ppt/slides/slide544.xml" ContentType="application/vnd.openxmlformats-officedocument.presentationml.slide+xml"/>
  <Override PartName="/ppt/slides/slide545.xml" ContentType="application/vnd.openxmlformats-officedocument.presentationml.slide+xml"/>
  <Override PartName="/ppt/slides/slide546.xml" ContentType="application/vnd.openxmlformats-officedocument.presentationml.slide+xml"/>
  <Override PartName="/ppt/slides/slide547.xml" ContentType="application/vnd.openxmlformats-officedocument.presentationml.slide+xml"/>
  <Override PartName="/ppt/slides/slide548.xml" ContentType="application/vnd.openxmlformats-officedocument.presentationml.slide+xml"/>
  <Override PartName="/ppt/slides/slide549.xml" ContentType="application/vnd.openxmlformats-officedocument.presentationml.slide+xml"/>
  <Override PartName="/ppt/slides/slide550.xml" ContentType="application/vnd.openxmlformats-officedocument.presentationml.slide+xml"/>
  <Override PartName="/ppt/slides/slide551.xml" ContentType="application/vnd.openxmlformats-officedocument.presentationml.slide+xml"/>
  <Override PartName="/ppt/slides/slide552.xml" ContentType="application/vnd.openxmlformats-officedocument.presentationml.slide+xml"/>
  <Override PartName="/ppt/slides/slide553.xml" ContentType="application/vnd.openxmlformats-officedocument.presentationml.slide+xml"/>
  <Override PartName="/ppt/slides/slide554.xml" ContentType="application/vnd.openxmlformats-officedocument.presentationml.slide+xml"/>
  <Override PartName="/ppt/slides/slide555.xml" ContentType="application/vnd.openxmlformats-officedocument.presentationml.slide+xml"/>
  <Override PartName="/ppt/slides/slide556.xml" ContentType="application/vnd.openxmlformats-officedocument.presentationml.slide+xml"/>
  <Override PartName="/ppt/slides/slide557.xml" ContentType="application/vnd.openxmlformats-officedocument.presentationml.slide+xml"/>
  <Override PartName="/ppt/slides/slide558.xml" ContentType="application/vnd.openxmlformats-officedocument.presentationml.slide+xml"/>
  <Override PartName="/ppt/slides/slide559.xml" ContentType="application/vnd.openxmlformats-officedocument.presentationml.slide+xml"/>
  <Override PartName="/ppt/slides/slide56.xml" ContentType="application/vnd.openxmlformats-officedocument.presentationml.slide+xml"/>
  <Override PartName="/ppt/slides/slide560.xml" ContentType="application/vnd.openxmlformats-officedocument.presentationml.slide+xml"/>
  <Override PartName="/ppt/slides/slide562.xml" ContentType="application/vnd.openxmlformats-officedocument.presentationml.slide+xml"/>
  <Override PartName="/ppt/slides/slide563.xml" ContentType="application/vnd.openxmlformats-officedocument.presentationml.slide+xml"/>
  <Override PartName="/ppt/slides/slide564.xml" ContentType="application/vnd.openxmlformats-officedocument.presentationml.slide+xml"/>
  <Override PartName="/ppt/slides/slide565.xml" ContentType="application/vnd.openxmlformats-officedocument.presentationml.slide+xml"/>
  <Override PartName="/ppt/slides/slide566.xml" ContentType="application/vnd.openxmlformats-officedocument.presentationml.slide+xml"/>
  <Override PartName="/ppt/slides/slide568.xml" ContentType="application/vnd.openxmlformats-officedocument.presentationml.slide+xml"/>
  <Override PartName="/ppt/slides/slide570.xml" ContentType="application/vnd.openxmlformats-officedocument.presentationml.slide+xml"/>
  <Override PartName="/ppt/slides/slide571.xml" ContentType="application/vnd.openxmlformats-officedocument.presentationml.slide+xml"/>
  <Override PartName="/ppt/slides/slide572.xml" ContentType="application/vnd.openxmlformats-officedocument.presentationml.slide+xml"/>
  <Override PartName="/ppt/slides/slide573.xml" ContentType="application/vnd.openxmlformats-officedocument.presentationml.slide+xml"/>
  <Override PartName="/ppt/slides/slide574.xml" ContentType="application/vnd.openxmlformats-officedocument.presentationml.slide+xml"/>
  <Override PartName="/ppt/slides/slide575.xml" ContentType="application/vnd.openxmlformats-officedocument.presentationml.slide+xml"/>
  <Override PartName="/ppt/slides/slide576.xml" ContentType="application/vnd.openxmlformats-officedocument.presentationml.slide+xml"/>
  <Override PartName="/ppt/slides/slide577.xml" ContentType="application/vnd.openxmlformats-officedocument.presentationml.slide+xml"/>
  <Override PartName="/ppt/slides/slide578.xml" ContentType="application/vnd.openxmlformats-officedocument.presentationml.slide+xml"/>
  <Override PartName="/ppt/slides/slide58.xml" ContentType="application/vnd.openxmlformats-officedocument.presentationml.slide+xml"/>
  <Override PartName="/ppt/slides/slide583.xml" ContentType="application/vnd.openxmlformats-officedocument.presentationml.slide+xml"/>
  <Override PartName="/ppt/slides/slide586.xml" ContentType="application/vnd.openxmlformats-officedocument.presentationml.slide+xml"/>
  <Override PartName="/ppt/slides/slide588.xml" ContentType="application/vnd.openxmlformats-officedocument.presentationml.slide+xml"/>
  <Override PartName="/ppt/slides/slide590.xml" ContentType="application/vnd.openxmlformats-officedocument.presentationml.slide+xml"/>
  <Override PartName="/ppt/slides/slide592.xml" ContentType="application/vnd.openxmlformats-officedocument.presentationml.slide+xml"/>
  <Override PartName="/ppt/slides/slide594.xml" ContentType="application/vnd.openxmlformats-officedocument.presentationml.slide+xml"/>
  <Override PartName="/ppt/slides/slide596.xml" ContentType="application/vnd.openxmlformats-officedocument.presentationml.slide+xml"/>
  <Override PartName="/ppt/slides/slide598.xml" ContentType="application/vnd.openxmlformats-officedocument.presentationml.slide+xml"/>
  <Override PartName="/ppt/slides/slide60.xml" ContentType="application/vnd.openxmlformats-officedocument.presentationml.slide+xml"/>
  <Override PartName="/ppt/slides/slide600.xml" ContentType="application/vnd.openxmlformats-officedocument.presentationml.slide+xml"/>
  <Override PartName="/ppt/slides/slide602.xml" ContentType="application/vnd.openxmlformats-officedocument.presentationml.slide+xml"/>
  <Override PartName="/ppt/slides/slide605.xml" ContentType="application/vnd.openxmlformats-officedocument.presentationml.slide+xml"/>
  <Override PartName="/ppt/slides/slide606.xml" ContentType="application/vnd.openxmlformats-officedocument.presentationml.slide+xml"/>
  <Override PartName="/ppt/slides/slide607.xml" ContentType="application/vnd.openxmlformats-officedocument.presentationml.slide+xml"/>
  <Override PartName="/ppt/slides/slide608.xml" ContentType="application/vnd.openxmlformats-officedocument.presentationml.slide+xml"/>
  <Override PartName="/ppt/slides/slide609.xml" ContentType="application/vnd.openxmlformats-officedocument.presentationml.slide+xml"/>
  <Override PartName="/ppt/slides/slide610.xml" ContentType="application/vnd.openxmlformats-officedocument.presentationml.slide+xml"/>
  <Override PartName="/ppt/slides/slide611.xml" ContentType="application/vnd.openxmlformats-officedocument.presentationml.slide+xml"/>
  <Override PartName="/ppt/slides/slide613.xml" ContentType="application/vnd.openxmlformats-officedocument.presentationml.slide+xml"/>
  <Override PartName="/ppt/slides/slide614.xml" ContentType="application/vnd.openxmlformats-officedocument.presentationml.slide+xml"/>
  <Override PartName="/ppt/slides/slide615.xml" ContentType="application/vnd.openxmlformats-officedocument.presentationml.slide+xml"/>
  <Override PartName="/ppt/slides/slide616.xml" ContentType="application/vnd.openxmlformats-officedocument.presentationml.slide+xml"/>
  <Override PartName="/ppt/slides/slide617.xml" ContentType="application/vnd.openxmlformats-officedocument.presentationml.slide+xml"/>
  <Override PartName="/ppt/slides/slide618.xml" ContentType="application/vnd.openxmlformats-officedocument.presentationml.slide+xml"/>
  <Override PartName="/ppt/slides/slide619.xml" ContentType="application/vnd.openxmlformats-officedocument.presentationml.slide+xml"/>
  <Override PartName="/ppt/slides/slide62.xml" ContentType="application/vnd.openxmlformats-officedocument.presentationml.slide+xml"/>
  <Override PartName="/ppt/slides/slide64.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6.xml" ContentType="application/vnd.openxmlformats-officedocument.presentationml.slide+xml"/>
  <Override PartName="/ppt/slides/slide88.xml" ContentType="application/vnd.openxmlformats-officedocument.presentationml.slide+xml"/>
  <Override PartName="/ppt/slides/slide90.xml" ContentType="application/vnd.openxmlformats-officedocument.presentationml.slide+xml"/>
  <Override PartName="/ppt/slides/slide92.xml" ContentType="application/vnd.openxmlformats-officedocument.presentationml.slide+xml"/>
  <Override PartName="/ppt/slides/slide94.xml" ContentType="application/vnd.openxmlformats-officedocument.presentationml.slide+xml"/>
  <Override PartName="/ppt/slides/slide96.xml" ContentType="application/vnd.openxmlformats-officedocument.presentationml.slide+xml"/>
  <Override PartName="/ppt/slides/slide98.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7" r:id="rId5"/>
  </p:sldMasterIdLst>
  <p:notesMasterIdLst>
    <p:notesMasterId r:id="rId6"/>
  </p:notesMasterIdLst>
  <p:sldIdLst>
    <p:sldId id="321" r:id="rId72"/>
    <p:sldId id="322" r:id="rId73"/>
    <p:sldId id="323" r:id="rId74"/>
    <p:sldId id="324" r:id="rId75"/>
    <p:sldId id="325" r:id="rId76"/>
    <p:sldId id="326" r:id="rId77"/>
    <p:sldId id="327" r:id="rId78"/>
    <p:sldId id="328" r:id="rId79"/>
    <p:sldId id="329" r:id="rId80"/>
    <p:sldId id="330" r:id="rId81"/>
    <p:sldId id="331" r:id="rId82"/>
    <p:sldId id="332" r:id="rId83"/>
    <p:sldId id="333" r:id="rId84"/>
    <p:sldId id="334" r:id="rId85"/>
    <p:sldId id="335" r:id="rId86"/>
    <p:sldId id="336" r:id="rId87"/>
    <p:sldId id="337" r:id="rId88"/>
    <p:sldId id="338" r:id="rId89"/>
  </p:sldIdLst>
  <p:sldSz cy="5143500" cx="9144000"/>
  <p:notesSz cx="6858000" cy="9945675"/>
  <p:embeddedFontLst>
    <p:embeddedFont>
      <p:font typeface="Noto Sans Symbols"/>
      <p:regular r:id="rId626"/>
      <p:bold r:id="rId627"/>
    </p:embeddedFont>
    <p:embeddedFont>
      <p:font typeface="Century Gothic"/>
      <p:regular r:id="rId628"/>
      <p:bold r:id="rId629"/>
      <p:italic r:id="rId630"/>
      <p:boldItalic r:id="rId631"/>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A4A3A4"/>
          </p15:clr>
        </p15:guide>
        <p15:guide id="2" pos="2880">
          <p15:clr>
            <a:srgbClr val="A4A3A4"/>
          </p15:clr>
        </p15:guide>
        <p15:guide id="3" pos="776">
          <p15:clr>
            <a:srgbClr val="A4A3A4"/>
          </p15:clr>
        </p15:guide>
        <p15:guide id="4" pos="1764">
          <p15:clr>
            <a:srgbClr val="A4A3A4"/>
          </p15:clr>
        </p15:guide>
        <p15:guide id="5" orient="horz" pos="2229">
          <p15:clr>
            <a:srgbClr val="A4A3A4"/>
          </p15:clr>
        </p15:guide>
        <p15:guide id="6" orient="horz" pos="3140">
          <p15:clr>
            <a:srgbClr val="A4A3A4"/>
          </p15:clr>
        </p15:guide>
        <p15:guide id="7" orient="horz" pos="311">
          <p15:clr>
            <a:srgbClr val="A4A3A4"/>
          </p15:clr>
        </p15:guide>
        <p15:guide id="8" orient="horz" pos="1593">
          <p15:clr>
            <a:srgbClr val="A4A3A4"/>
          </p15:clr>
        </p15:guide>
        <p15:guide id="9" pos="5696">
          <p15:clr>
            <a:srgbClr val="A4A3A4"/>
          </p15:clr>
        </p15:guide>
        <p15:guide id="10" pos="706">
          <p15:clr>
            <a:srgbClr val="A4A3A4"/>
          </p15:clr>
        </p15:guide>
        <p15:guide id="11" pos="2941">
          <p15:clr>
            <a:srgbClr val="A4A3A4"/>
          </p15:clr>
        </p15:guide>
        <p15:guide id="12" pos="91">
          <p15:clr>
            <a:srgbClr val="A4A3A4"/>
          </p15:clr>
        </p15:guide>
        <p15:guide id="13" orient="horz" pos="105">
          <p15:clr>
            <a:srgbClr val="000000"/>
          </p15:clr>
        </p15:guide>
        <p15:guide id="14" orient="horz" pos="1616">
          <p15:clr>
            <a:srgbClr val="000000"/>
          </p15:clr>
        </p15:guide>
        <p15:guide id="15" orient="horz" pos="567">
          <p15:clr>
            <a:srgbClr val="000000"/>
          </p15:clr>
        </p15:guide>
        <p15:guide id="16" orient="horz" pos="3034">
          <p15:clr>
            <a:srgbClr val="000000"/>
          </p15:clr>
        </p15:guide>
        <p15:guide id="17" orient="horz" pos="332">
          <p15:clr>
            <a:srgbClr val="000000"/>
          </p15:clr>
        </p15:guide>
        <p15:guide id="18" pos="239">
          <p15:clr>
            <a:srgbClr val="000000"/>
          </p15:clr>
        </p15:guide>
        <p15:guide id="19" pos="5557">
          <p15:clr>
            <a:srgbClr val="000000"/>
          </p15:clr>
        </p15:guide>
        <p15:guide id="20" pos="2914">
          <p15:clr>
            <a:srgbClr val="000000"/>
          </p15:clr>
        </p15:guide>
      </p15:sldGuideLst>
    </p:ext>
    <p:ext uri="{2D200454-40CA-4A62-9FC3-DE9A4176ACB9}">
      <p15:notesGuideLst>
        <p15:guide id="1" orient="horz" pos="2880">
          <p15:clr>
            <a:srgbClr val="A4A3A4"/>
          </p15:clr>
        </p15:guide>
        <p15:guide id="2" pos="2160">
          <p15:clr>
            <a:srgbClr val="A4A3A4"/>
          </p15:clr>
        </p15:guide>
        <p15:guide id="3" orient="horz" pos="3133">
          <p15:clr>
            <a:srgbClr val="000000"/>
          </p15:clr>
        </p15:guide>
      </p15:notes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D098BFCB-6916-41F2-A2A5-0DF0D5139B6F}">
  <a:tblStyle styleId="{D098BFCB-6916-41F2-A2A5-0DF0D5139B6F}" styleName="Table_0">
    <a:wholeTbl>
      <a:tcTxStyle b="off" i="off">
        <a:font>
          <a:latin typeface="Century Gothic"/>
          <a:ea typeface="Century Gothic"/>
          <a:cs typeface="Century Gothic"/>
        </a:font>
        <a:schemeClr val="dk1"/>
      </a:tcTxStyle>
      <a:tcStyle>
        <a:tcBdr>
          <a:left>
            <a:ln cap="flat" cmpd="sng" w="12700">
              <a:solidFill>
                <a:schemeClr val="lt1"/>
              </a:solidFill>
              <a:prstDash val="solid"/>
              <a:round/>
              <a:headEnd len="sm" w="sm" type="none"/>
              <a:tailEnd len="sm" w="sm" type="none"/>
            </a:ln>
          </a:left>
          <a:right>
            <a:ln cap="flat" cmpd="sng" w="12700">
              <a:solidFill>
                <a:schemeClr val="lt1"/>
              </a:solidFill>
              <a:prstDash val="solid"/>
              <a:round/>
              <a:headEnd len="sm" w="sm" type="none"/>
              <a:tailEnd len="sm" w="sm" type="none"/>
            </a:ln>
          </a:right>
          <a:top>
            <a:ln cap="flat" cmpd="sng" w="12700">
              <a:solidFill>
                <a:schemeClr val="lt1"/>
              </a:solidFill>
              <a:prstDash val="solid"/>
              <a:round/>
              <a:headEnd len="sm" w="sm" type="none"/>
              <a:tailEnd len="sm" w="sm" type="none"/>
            </a:ln>
          </a:top>
          <a:bottom>
            <a:ln cap="flat" cmpd="sng" w="12700">
              <a:solidFill>
                <a:schemeClr val="lt1"/>
              </a:solidFill>
              <a:prstDash val="solid"/>
              <a:round/>
              <a:headEnd len="sm" w="sm" type="none"/>
              <a:tailEnd len="sm" w="sm" type="none"/>
            </a:ln>
          </a:bottom>
          <a:insideH>
            <a:ln cap="flat" cmpd="sng" w="12700">
              <a:solidFill>
                <a:schemeClr val="lt1"/>
              </a:solidFill>
              <a:prstDash val="solid"/>
              <a:round/>
              <a:headEnd len="sm" w="sm" type="none"/>
              <a:tailEnd len="sm" w="sm" type="none"/>
            </a:ln>
          </a:insideH>
          <a:insideV>
            <a:ln cap="flat" cmpd="sng" w="12700">
              <a:solidFill>
                <a:schemeClr val="lt1"/>
              </a:solidFill>
              <a:prstDash val="solid"/>
              <a:round/>
              <a:headEnd len="sm" w="sm" type="none"/>
              <a:tailEnd len="sm" w="sm" type="none"/>
            </a:ln>
          </a:insideV>
        </a:tcBdr>
        <a:fill>
          <a:solidFill>
            <a:srgbClr val="FBEDE7"/>
          </a:solidFill>
        </a:fill>
      </a:tcStyle>
    </a:wholeTbl>
    <a:band1H>
      <a:tcTxStyle/>
      <a:tcStyle>
        <a:fill>
          <a:solidFill>
            <a:srgbClr val="F8D9CB"/>
          </a:solidFill>
        </a:fill>
      </a:tcStyle>
    </a:band1H>
    <a:band2H>
      <a:tcTxStyle/>
    </a:band2H>
    <a:band1V>
      <a:tcTxStyle/>
      <a:tcStyle>
        <a:fill>
          <a:solidFill>
            <a:srgbClr val="F8D9CB"/>
          </a:solidFill>
        </a:fill>
      </a:tcStyle>
    </a:band1V>
    <a:band2V>
      <a:tcTxStyle/>
    </a:band2V>
    <a:lastCol>
      <a:tcTxStyle b="on" i="off">
        <a:font>
          <a:latin typeface="Century Gothic"/>
          <a:ea typeface="Century Gothic"/>
          <a:cs typeface="Century Gothic"/>
        </a:font>
        <a:schemeClr val="lt1"/>
      </a:tcTxStyle>
      <a:tcStyle>
        <a:fill>
          <a:solidFill>
            <a:schemeClr val="accent1"/>
          </a:solidFill>
        </a:fill>
      </a:tcStyle>
    </a:lastCol>
    <a:firstCol>
      <a:tcTxStyle b="on" i="off">
        <a:font>
          <a:latin typeface="Century Gothic"/>
          <a:ea typeface="Century Gothic"/>
          <a:cs typeface="Century Gothic"/>
        </a:font>
        <a:schemeClr val="lt1"/>
      </a:tcTxStyle>
      <a:tcStyle>
        <a:fill>
          <a:solidFill>
            <a:schemeClr val="accent1"/>
          </a:solidFill>
        </a:fill>
      </a:tcStyle>
    </a:firstCol>
    <a:lastRow>
      <a:tcTxStyle b="on" i="off">
        <a:font>
          <a:latin typeface="Century Gothic"/>
          <a:ea typeface="Century Gothic"/>
          <a:cs typeface="Century Gothic"/>
        </a:font>
        <a:schemeClr val="lt1"/>
      </a:tcTxStyle>
      <a:tcStyle>
        <a:tcBdr>
          <a:top>
            <a:ln cap="flat" cmpd="sng" w="38100">
              <a:solidFill>
                <a:schemeClr val="lt1"/>
              </a:solidFill>
              <a:prstDash val="solid"/>
              <a:round/>
              <a:headEnd len="sm" w="sm" type="none"/>
              <a:tailEnd len="sm" w="sm" type="none"/>
            </a:ln>
          </a:top>
        </a:tcBdr>
        <a:fill>
          <a:solidFill>
            <a:schemeClr val="accent1"/>
          </a:solidFill>
        </a:fill>
      </a:tcStyle>
    </a:lastRow>
    <a:seCell>
      <a:tcTxStyle/>
    </a:seCell>
    <a:swCell>
      <a:tcTxStyle/>
    </a:swCell>
    <a:firstRow>
      <a:tcTxStyle b="on" i="off">
        <a:font>
          <a:latin typeface="Century Gothic"/>
          <a:ea typeface="Century Gothic"/>
          <a:cs typeface="Century Gothic"/>
        </a:font>
        <a:schemeClr val="lt1"/>
      </a:tcTxStyle>
      <a:tcStyle>
        <a:tcBdr>
          <a:bottom>
            <a:ln cap="flat" cmpd="sng" w="38100">
              <a:solidFill>
                <a:schemeClr val="lt1"/>
              </a:solidFill>
              <a:prstDash val="solid"/>
              <a:round/>
              <a:headEnd len="sm" w="sm" type="none"/>
              <a:tailEnd len="sm" w="sm" type="none"/>
            </a:ln>
          </a:bottom>
        </a:tcBdr>
        <a:fill>
          <a:solidFill>
            <a:schemeClr val="accent1"/>
          </a:solidFill>
        </a:fill>
      </a:tc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 pos="776"/>
        <p:guide pos="1764"/>
        <p:guide pos="2229" orient="horz"/>
        <p:guide pos="3140" orient="horz"/>
        <p:guide pos="311" orient="horz"/>
        <p:guide pos="1593" orient="horz"/>
        <p:guide pos="5696"/>
        <p:guide pos="706"/>
        <p:guide pos="2941"/>
        <p:guide pos="91"/>
        <p:guide pos="105" orient="horz"/>
        <p:guide pos="1616" orient="horz"/>
        <p:guide pos="567" orient="horz"/>
        <p:guide pos="3034" orient="horz"/>
        <p:guide pos="332" orient="horz"/>
        <p:guide pos="239"/>
        <p:guide pos="5557"/>
        <p:guide pos="2914"/>
      </p:guideLst>
    </p:cSldViewPr>
  </p:slideViewPr>
  <p:notesViewPr>
    <p:cSldViewPr snapToGrid="0">
      <p:cViewPr varScale="1">
        <p:scale>
          <a:sx n="100" d="100"/>
          <a:sy n="100" d="100"/>
        </p:scale>
        <p:origin x="0" y="0"/>
      </p:cViewPr>
      <p:guideLst>
        <p:guide pos="2880" orient="horz"/>
        <p:guide pos="2160"/>
        <p:guide pos="3133" orient="horz"/>
      </p:guideLst>
    </p:cSldViewPr>
  </p:notesViewPr>
</p:viewPr>
</file>

<file path=ppt/_rels/presentation.xml.rels><?xml version='1.0' encoding='UTF-8' standalone='yes'?>
<Relationships xmlns="http://schemas.openxmlformats.org/package/2006/relationships"><Relationship Id="rId1" Type="http://schemas.openxmlformats.org/officeDocument/2006/relationships/theme" Target="theme/theme2.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5" Type="http://schemas.openxmlformats.org/officeDocument/2006/relationships/slideMaster" Target="slideMasters/slideMaster1.xml"/><Relationship Id="rId6" Type="http://schemas.openxmlformats.org/officeDocument/2006/relationships/notesMaster" Target="notesMasters/notesMaster1.xml"/><Relationship Id="rId72" Type="http://schemas.openxmlformats.org/officeDocument/2006/relationships/slide" Target="slides/slide66.xml"/><Relationship Id="rId73" Type="http://schemas.openxmlformats.org/officeDocument/2006/relationships/slide" Target="slides/slide67.xml"/><Relationship Id="rId74" Type="http://schemas.openxmlformats.org/officeDocument/2006/relationships/slide" Target="slides/slide68.xml"/><Relationship Id="rId75" Type="http://schemas.openxmlformats.org/officeDocument/2006/relationships/slide" Target="slides/slide69.xml"/><Relationship Id="rId76" Type="http://schemas.openxmlformats.org/officeDocument/2006/relationships/slide" Target="slides/slide70.xml"/><Relationship Id="rId77" Type="http://schemas.openxmlformats.org/officeDocument/2006/relationships/slide" Target="slides/slide71.xml"/><Relationship Id="rId78" Type="http://schemas.openxmlformats.org/officeDocument/2006/relationships/slide" Target="slides/slide72.xml"/><Relationship Id="rId79" Type="http://schemas.openxmlformats.org/officeDocument/2006/relationships/slide" Target="slides/slide73.xml"/><Relationship Id="rId80" Type="http://schemas.openxmlformats.org/officeDocument/2006/relationships/slide" Target="slides/slide74.xml"/><Relationship Id="rId81" Type="http://schemas.openxmlformats.org/officeDocument/2006/relationships/slide" Target="slides/slide75.xml"/><Relationship Id="rId82" Type="http://schemas.openxmlformats.org/officeDocument/2006/relationships/slide" Target="slides/slide76.xml"/><Relationship Id="rId83" Type="http://schemas.openxmlformats.org/officeDocument/2006/relationships/slide" Target="slides/slide77.xml"/><Relationship Id="rId84" Type="http://schemas.openxmlformats.org/officeDocument/2006/relationships/slide" Target="slides/slide78.xml"/><Relationship Id="rId85" Type="http://schemas.openxmlformats.org/officeDocument/2006/relationships/slide" Target="slides/slide79.xml"/><Relationship Id="rId86" Type="http://schemas.openxmlformats.org/officeDocument/2006/relationships/slide" Target="slides/slide80.xml"/><Relationship Id="rId87" Type="http://schemas.openxmlformats.org/officeDocument/2006/relationships/slide" Target="slides/slide81.xml"/><Relationship Id="rId88" Type="http://schemas.openxmlformats.org/officeDocument/2006/relationships/slide" Target="slides/slide82.xml"/><Relationship Id="rId89" Type="http://schemas.openxmlformats.org/officeDocument/2006/relationships/slide" Target="slides/slide83.xml"/><Relationship Id="rId626" Type="http://schemas.openxmlformats.org/officeDocument/2006/relationships/font" Target="fonts/NotoSansSymbols-regular.fntdata"/><Relationship Id="rId627" Type="http://schemas.openxmlformats.org/officeDocument/2006/relationships/font" Target="fonts/NotoSansSymbols-bold.fntdata"/><Relationship Id="rId628" Type="http://schemas.openxmlformats.org/officeDocument/2006/relationships/font" Target="fonts/CenturyGothic-regular.fntdata"/><Relationship Id="rId629" Type="http://schemas.openxmlformats.org/officeDocument/2006/relationships/font" Target="fonts/CenturyGothic-bold.fntdata"/><Relationship Id="rId630" Type="http://schemas.openxmlformats.org/officeDocument/2006/relationships/font" Target="fonts/CenturyGothic-italic.fntdata"/><Relationship Id="rId631" Type="http://schemas.openxmlformats.org/officeDocument/2006/relationships/font" Target="fonts/CenturyGothic-boldItalic.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2" name="Shape 2"/>
        <p:cNvGrpSpPr/>
        <p:nvPr/>
      </p:nvGrpSpPr>
      <p:grpSpPr>
        <a:xfrm>
          <a:off x="0" y="0"/>
          <a:ext cx="0" cy="0"/>
          <a:chOff x="0" y="0"/>
          <a:chExt cx="0" cy="0"/>
        </a:xfrm>
      </p:grpSpPr>
      <p:sp>
        <p:nvSpPr>
          <p:cNvPr id="3" name="Google Shape;3;n"/>
          <p:cNvSpPr txBox="1"/>
          <p:nvPr>
            <p:ph idx="2" type="hdr"/>
          </p:nvPr>
        </p:nvSpPr>
        <p:spPr>
          <a:xfrm>
            <a:off x="0" y="0"/>
            <a:ext cx="2971800" cy="497284"/>
          </a:xfrm>
          <a:prstGeom prst="rect">
            <a:avLst/>
          </a:prstGeom>
          <a:noFill/>
          <a:ln>
            <a:noFill/>
          </a:ln>
        </p:spPr>
        <p:txBody>
          <a:bodyPr anchorCtr="0" anchor="t" bIns="45700" lIns="91425" spcFirstLastPara="1" rIns="91425" wrap="square" tIns="45700">
            <a:noAutofit/>
          </a:bodyPr>
          <a:lstStyle>
            <a:lvl1pPr lvl="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1pPr>
            <a:lvl2pPr lvl="1"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2pPr>
            <a:lvl3pPr lvl="2"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3pPr>
            <a:lvl4pPr lvl="3"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4pPr>
            <a:lvl5pPr lvl="4"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5pPr>
            <a:lvl6pPr lvl="5"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6pPr>
            <a:lvl7pPr lvl="6"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7pPr>
            <a:lvl8pPr lvl="7"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8pPr>
            <a:lvl9pPr lvl="8"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9pPr>
          </a:lstStyle>
          <a:p/>
        </p:txBody>
      </p:sp>
      <p:sp>
        <p:nvSpPr>
          <p:cNvPr id="4" name="Google Shape;4;n"/>
          <p:cNvSpPr txBox="1"/>
          <p:nvPr>
            <p:ph idx="10" type="dt"/>
          </p:nvPr>
        </p:nvSpPr>
        <p:spPr>
          <a:xfrm>
            <a:off x="3884613" y="0"/>
            <a:ext cx="2971800" cy="497284"/>
          </a:xfrm>
          <a:prstGeom prst="rect">
            <a:avLst/>
          </a:prstGeom>
          <a:noFill/>
          <a:ln>
            <a:noFill/>
          </a:ln>
        </p:spPr>
        <p:txBody>
          <a:bodyPr anchorCtr="0" anchor="t" bIns="45700" lIns="91425" spcFirstLastPara="1" rIns="91425" wrap="square" tIns="45700">
            <a:noAutofit/>
          </a:bodyPr>
          <a:lstStyle>
            <a:lvl1pPr lvl="0" marR="0" rtl="0" algn="r">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1pPr>
            <a:lvl2pPr lvl="1"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2pPr>
            <a:lvl3pPr lvl="2"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3pPr>
            <a:lvl4pPr lvl="3"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4pPr>
            <a:lvl5pPr lvl="4"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5pPr>
            <a:lvl6pPr lvl="5"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6pPr>
            <a:lvl7pPr lvl="6"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7pPr>
            <a:lvl8pPr lvl="7"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8pPr>
            <a:lvl9pPr lvl="8"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9pPr>
          </a:lstStyle>
          <a:p/>
        </p:txBody>
      </p:sp>
      <p:sp>
        <p:nvSpPr>
          <p:cNvPr id="5" name="Google Shape;5;n"/>
          <p:cNvSpPr/>
          <p:nvPr>
            <p:ph idx="3"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 name="Google Shape;6;n"/>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lvl1pPr indent="-304800" lvl="0" marL="457200" marR="0" rtl="0" algn="l">
              <a:lnSpc>
                <a:spcPct val="95000"/>
              </a:lnSpc>
              <a:spcBef>
                <a:spcPts val="4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1pPr>
            <a:lvl2pPr indent="-304800" lvl="1" marL="9144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2pPr>
            <a:lvl3pPr indent="-304800" lvl="2" marL="13716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3pPr>
            <a:lvl4pPr indent="-304800" lvl="3" marL="18288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4pPr>
            <a:lvl5pPr indent="-304800" lvl="4" marL="22860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5pPr>
            <a:lvl6pPr indent="-228600" lvl="5" marL="27432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6pPr>
            <a:lvl7pPr indent="-228600" lvl="6" marL="32004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7pPr>
            <a:lvl8pPr indent="-228600" lvl="7" marL="36576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8pPr>
            <a:lvl9pPr indent="-228600" lvl="8" marL="41148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9pPr>
          </a:lstStyle>
          <a:p/>
        </p:txBody>
      </p:sp>
      <p:sp>
        <p:nvSpPr>
          <p:cNvPr id="7" name="Google Shape;7;n"/>
          <p:cNvSpPr txBox="1"/>
          <p:nvPr/>
        </p:nvSpPr>
        <p:spPr>
          <a:xfrm>
            <a:off x="286468" y="9509858"/>
            <a:ext cx="109004" cy="107722"/>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b="0" i="0" lang="en-GB" sz="700" u="none" cap="none" strike="noStrike">
                <a:solidFill>
                  <a:schemeClr val="lt2"/>
                </a:solidFill>
                <a:latin typeface="Century Gothic"/>
                <a:ea typeface="Century Gothic"/>
                <a:cs typeface="Century Gothic"/>
                <a:sym typeface="Century Gothic"/>
              </a:rPr>
              <a:t>‹#›</a:t>
            </a:fld>
            <a:endParaRPr b="0" i="0" sz="700" u="none" cap="none" strike="noStrike">
              <a:solidFill>
                <a:schemeClr val="lt2"/>
              </a:solidFill>
              <a:latin typeface="Century Gothic"/>
              <a:ea typeface="Century Gothic"/>
              <a:cs typeface="Century Gothic"/>
              <a:sym typeface="Century Gothic"/>
            </a:endParaRPr>
          </a:p>
        </p:txBody>
      </p:sp>
      <p:grpSp>
        <p:nvGrpSpPr>
          <p:cNvPr id="8" name="Google Shape;8;n"/>
          <p:cNvGrpSpPr/>
          <p:nvPr/>
        </p:nvGrpSpPr>
        <p:grpSpPr>
          <a:xfrm>
            <a:off x="6010878" y="9504586"/>
            <a:ext cx="531812" cy="129502"/>
            <a:chOff x="5137" y="4139"/>
            <a:chExt cx="335" cy="75"/>
          </a:xfrm>
        </p:grpSpPr>
        <p:sp>
          <p:nvSpPr>
            <p:cNvPr id="9" name="Google Shape;9;n"/>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 name="Google Shape;10;n"/>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11" name="Google Shape;11;n"/>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lvl1pPr lvl="0" marR="0" rtl="0" algn="l">
              <a:spcBef>
                <a:spcPts val="0"/>
              </a:spcBef>
              <a:spcAft>
                <a:spcPts val="0"/>
              </a:spcAft>
              <a:buSzPts val="1400"/>
              <a:buNone/>
              <a:defRPr sz="700">
                <a:solidFill>
                  <a:schemeClr val="lt2"/>
                </a:solidFill>
                <a:latin typeface="Century Gothic"/>
                <a:ea typeface="Century Gothic"/>
                <a:cs typeface="Century Gothic"/>
                <a:sym typeface="Century Gothic"/>
              </a:defRPr>
            </a:lvl1pPr>
            <a:lvl2pPr lvl="1"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2pPr>
            <a:lvl3pPr lvl="2"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3pPr>
            <a:lvl4pPr lvl="3"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4pPr>
            <a:lvl5pPr lvl="4"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5pPr>
            <a:lvl6pPr lvl="5"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6pPr>
            <a:lvl7pPr lvl="6"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7pPr>
            <a:lvl8pPr lvl="7"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8pPr>
            <a:lvl9pPr lvl="8"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hyperlink" Target="https://en.wikipedia.org/wiki/Language_model" TargetMode="External"/><Relationship Id="rId3" Type="http://schemas.openxmlformats.org/officeDocument/2006/relationships/hyperlink" Target="https://en.wikipedia.org/wiki/N-gram#cite_note-2" TargetMode="External"/><Relationship Id="rId4" Type="http://schemas.openxmlformats.org/officeDocument/2006/relationships/hyperlink" Target="https://en.wikipedia.org/wiki/Probability" TargetMode="External"/><Relationship Id="rId5" Type="http://schemas.openxmlformats.org/officeDocument/2006/relationships/hyperlink" Target="https://en.wikipedia.org/wiki/Communication_theory" TargetMode="External"/><Relationship Id="rId6" Type="http://schemas.openxmlformats.org/officeDocument/2006/relationships/hyperlink" Target="https://en.wikipedia.org/wiki/Computational_linguistics" TargetMode="External"/><Relationship Id="rId7" Type="http://schemas.openxmlformats.org/officeDocument/2006/relationships/hyperlink" Target="https://en.wikipedia.org/wiki/Natural_language_processing" TargetMode="External"/><Relationship Id="rId8" Type="http://schemas.openxmlformats.org/officeDocument/2006/relationships/hyperlink" Target="https://en.wikipedia.org/wiki/Computational_biology" TargetMode="External"/><Relationship Id="rId9" Type="http://schemas.openxmlformats.org/officeDocument/2006/relationships/hyperlink" Target="https://en.wikipedia.org/wiki/Sequence_analysis" TargetMode="External"/><Relationship Id="rId10" Type="http://schemas.openxmlformats.org/officeDocument/2006/relationships/hyperlink" Target="https://en.wikipedia.org/wiki/Data_compression" TargetMode="External"/></Relationships>
</file>

<file path=ppt/notesSlides/_rels/notesSlide5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4" name="Shape 284"/>
        <p:cNvGrpSpPr/>
        <p:nvPr/>
      </p:nvGrpSpPr>
      <p:grpSpPr>
        <a:xfrm>
          <a:off x="0" y="0"/>
          <a:ext cx="0" cy="0"/>
          <a:chOff x="0" y="0"/>
          <a:chExt cx="0" cy="0"/>
        </a:xfrm>
      </p:grpSpPr>
      <p:sp>
        <p:nvSpPr>
          <p:cNvPr id="285" name="Google Shape;285;p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286" name="Google Shape;286;p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287" name="Google Shape;287;p1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4" name="Shape 304"/>
        <p:cNvGrpSpPr/>
        <p:nvPr/>
      </p:nvGrpSpPr>
      <p:grpSpPr>
        <a:xfrm>
          <a:off x="0" y="0"/>
          <a:ext cx="0" cy="0"/>
          <a:chOff x="0" y="0"/>
          <a:chExt cx="0" cy="0"/>
        </a:xfrm>
      </p:grpSpPr>
      <p:sp>
        <p:nvSpPr>
          <p:cNvPr id="305" name="Google Shape;305;p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06" name="Google Shape;306;p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07" name="Google Shape;307;p1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7" name="Shape 327"/>
        <p:cNvGrpSpPr/>
        <p:nvPr/>
      </p:nvGrpSpPr>
      <p:grpSpPr>
        <a:xfrm>
          <a:off x="0" y="0"/>
          <a:ext cx="0" cy="0"/>
          <a:chOff x="0" y="0"/>
          <a:chExt cx="0" cy="0"/>
        </a:xfrm>
      </p:grpSpPr>
      <p:sp>
        <p:nvSpPr>
          <p:cNvPr id="328" name="Google Shape;328;p1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329" name="Google Shape;329;p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3" name="Shape 363"/>
        <p:cNvGrpSpPr/>
        <p:nvPr/>
      </p:nvGrpSpPr>
      <p:grpSpPr>
        <a:xfrm>
          <a:off x="0" y="0"/>
          <a:ext cx="0" cy="0"/>
          <a:chOff x="0" y="0"/>
          <a:chExt cx="0" cy="0"/>
        </a:xfrm>
      </p:grpSpPr>
      <p:sp>
        <p:nvSpPr>
          <p:cNvPr id="364" name="Google Shape;364;p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65" name="Google Shape;365;p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66" name="Google Shape;366;p1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9" name="Shape 389"/>
        <p:cNvGrpSpPr/>
        <p:nvPr/>
      </p:nvGrpSpPr>
      <p:grpSpPr>
        <a:xfrm>
          <a:off x="0" y="0"/>
          <a:ext cx="0" cy="0"/>
          <a:chOff x="0" y="0"/>
          <a:chExt cx="0" cy="0"/>
        </a:xfrm>
      </p:grpSpPr>
      <p:sp>
        <p:nvSpPr>
          <p:cNvPr id="390" name="Google Shape;390;p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1" name="Google Shape;391;p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2" name="Google Shape;392;p1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3" name="Shape 413"/>
        <p:cNvGrpSpPr/>
        <p:nvPr/>
      </p:nvGrpSpPr>
      <p:grpSpPr>
        <a:xfrm>
          <a:off x="0" y="0"/>
          <a:ext cx="0" cy="0"/>
          <a:chOff x="0" y="0"/>
          <a:chExt cx="0" cy="0"/>
        </a:xfrm>
      </p:grpSpPr>
      <p:sp>
        <p:nvSpPr>
          <p:cNvPr id="414" name="Google Shape;414;p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15" name="Google Shape;415;p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16" name="Google Shape;416;p1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5" name="Shape 445"/>
        <p:cNvGrpSpPr/>
        <p:nvPr/>
      </p:nvGrpSpPr>
      <p:grpSpPr>
        <a:xfrm>
          <a:off x="0" y="0"/>
          <a:ext cx="0" cy="0"/>
          <a:chOff x="0" y="0"/>
          <a:chExt cx="0" cy="0"/>
        </a:xfrm>
      </p:grpSpPr>
      <p:sp>
        <p:nvSpPr>
          <p:cNvPr id="446" name="Google Shape;446;p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47" name="Google Shape;447;p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48" name="Google Shape;448;p1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4" name="Shape 474"/>
        <p:cNvGrpSpPr/>
        <p:nvPr/>
      </p:nvGrpSpPr>
      <p:grpSpPr>
        <a:xfrm>
          <a:off x="0" y="0"/>
          <a:ext cx="0" cy="0"/>
          <a:chOff x="0" y="0"/>
          <a:chExt cx="0" cy="0"/>
        </a:xfrm>
      </p:grpSpPr>
      <p:sp>
        <p:nvSpPr>
          <p:cNvPr id="475" name="Google Shape;475;p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76" name="Google Shape;476;p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77" name="Google Shape;477;p1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0" name="Shape 510"/>
        <p:cNvGrpSpPr/>
        <p:nvPr/>
      </p:nvGrpSpPr>
      <p:grpSpPr>
        <a:xfrm>
          <a:off x="0" y="0"/>
          <a:ext cx="0" cy="0"/>
          <a:chOff x="0" y="0"/>
          <a:chExt cx="0" cy="0"/>
        </a:xfrm>
      </p:grpSpPr>
      <p:sp>
        <p:nvSpPr>
          <p:cNvPr id="511" name="Google Shape;511;p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12" name="Google Shape;512;p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513" name="Google Shape;513;p1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7" name="Shape 537"/>
        <p:cNvGrpSpPr/>
        <p:nvPr/>
      </p:nvGrpSpPr>
      <p:grpSpPr>
        <a:xfrm>
          <a:off x="0" y="0"/>
          <a:ext cx="0" cy="0"/>
          <a:chOff x="0" y="0"/>
          <a:chExt cx="0" cy="0"/>
        </a:xfrm>
      </p:grpSpPr>
      <p:sp>
        <p:nvSpPr>
          <p:cNvPr id="538" name="Google Shape;538;p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39" name="Google Shape;539;p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540" name="Google Shape;540;p2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2" name="Shape 582"/>
        <p:cNvGrpSpPr/>
        <p:nvPr/>
      </p:nvGrpSpPr>
      <p:grpSpPr>
        <a:xfrm>
          <a:off x="0" y="0"/>
          <a:ext cx="0" cy="0"/>
          <a:chOff x="0" y="0"/>
          <a:chExt cx="0" cy="0"/>
        </a:xfrm>
      </p:grpSpPr>
      <p:sp>
        <p:nvSpPr>
          <p:cNvPr id="583" name="Google Shape;583;p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84" name="Google Shape;584;p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585" name="Google Shape;585;p2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7" name="Shape 637"/>
        <p:cNvGrpSpPr/>
        <p:nvPr/>
      </p:nvGrpSpPr>
      <p:grpSpPr>
        <a:xfrm>
          <a:off x="0" y="0"/>
          <a:ext cx="0" cy="0"/>
          <a:chOff x="0" y="0"/>
          <a:chExt cx="0" cy="0"/>
        </a:xfrm>
      </p:grpSpPr>
      <p:sp>
        <p:nvSpPr>
          <p:cNvPr id="638" name="Google Shape;638;p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39" name="Google Shape;639;p2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40" name="Google Shape;640;p22: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8" name="Shape 688"/>
        <p:cNvGrpSpPr/>
        <p:nvPr/>
      </p:nvGrpSpPr>
      <p:grpSpPr>
        <a:xfrm>
          <a:off x="0" y="0"/>
          <a:ext cx="0" cy="0"/>
          <a:chOff x="0" y="0"/>
          <a:chExt cx="0" cy="0"/>
        </a:xfrm>
      </p:grpSpPr>
      <p:sp>
        <p:nvSpPr>
          <p:cNvPr id="689" name="Google Shape;689;p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90" name="Google Shape;690;p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91" name="Google Shape;691;p2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2" name="Shape 742"/>
        <p:cNvGrpSpPr/>
        <p:nvPr/>
      </p:nvGrpSpPr>
      <p:grpSpPr>
        <a:xfrm>
          <a:off x="0" y="0"/>
          <a:ext cx="0" cy="0"/>
          <a:chOff x="0" y="0"/>
          <a:chExt cx="0" cy="0"/>
        </a:xfrm>
      </p:grpSpPr>
      <p:sp>
        <p:nvSpPr>
          <p:cNvPr id="743" name="Google Shape;743;p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4" name="Google Shape;744;p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45" name="Google Shape;745;p2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6" name="Shape 766"/>
        <p:cNvGrpSpPr/>
        <p:nvPr/>
      </p:nvGrpSpPr>
      <p:grpSpPr>
        <a:xfrm>
          <a:off x="0" y="0"/>
          <a:ext cx="0" cy="0"/>
          <a:chOff x="0" y="0"/>
          <a:chExt cx="0" cy="0"/>
        </a:xfrm>
      </p:grpSpPr>
      <p:sp>
        <p:nvSpPr>
          <p:cNvPr id="767" name="Google Shape;767;p2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68" name="Google Shape;768;p2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marR="0" rtl="0" algn="l">
              <a:lnSpc>
                <a:spcPct val="95000"/>
              </a:lnSpc>
              <a:spcBef>
                <a:spcPts val="0"/>
              </a:spcBef>
              <a:spcAft>
                <a:spcPts val="0"/>
              </a:spcAft>
              <a:buClr>
                <a:schemeClr val="dk1"/>
              </a:buClr>
              <a:buSzPts val="1200"/>
              <a:buFont typeface="Arial"/>
              <a:buChar char="•"/>
            </a:pPr>
            <a:r>
              <a:rPr lang="en-GB" sz="1200"/>
              <a:t>Customer experience is the process  of designing Customer interactions and reacting consistently to individual Customer behaviours across all touch points in the Customer journey for the purpose of meeting or exceeding customer expectations, thereby, increasing Customer satisfaction, loyalty and brand advocacy.</a:t>
            </a:r>
            <a:br>
              <a:rPr lang="en-GB" sz="1200"/>
            </a:br>
            <a:endParaRPr sz="1200"/>
          </a:p>
          <a:p>
            <a:pPr indent="-96838" lvl="0" marL="173038" rtl="0" algn="l">
              <a:lnSpc>
                <a:spcPct val="95000"/>
              </a:lnSpc>
              <a:spcBef>
                <a:spcPts val="400"/>
              </a:spcBef>
              <a:spcAft>
                <a:spcPts val="0"/>
              </a:spcAft>
              <a:buClr>
                <a:schemeClr val="dk1"/>
              </a:buClr>
              <a:buSzPts val="1200"/>
              <a:buNone/>
            </a:pPr>
            <a:r>
              <a:t/>
            </a:r>
            <a:endParaRPr/>
          </a:p>
        </p:txBody>
      </p:sp>
      <p:sp>
        <p:nvSpPr>
          <p:cNvPr id="769" name="Google Shape;769;p2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9" name="Shape 869"/>
        <p:cNvGrpSpPr/>
        <p:nvPr/>
      </p:nvGrpSpPr>
      <p:grpSpPr>
        <a:xfrm>
          <a:off x="0" y="0"/>
          <a:ext cx="0" cy="0"/>
          <a:chOff x="0" y="0"/>
          <a:chExt cx="0" cy="0"/>
        </a:xfrm>
      </p:grpSpPr>
      <p:sp>
        <p:nvSpPr>
          <p:cNvPr id="870" name="Google Shape;870;p3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71" name="Google Shape;871;p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6" name="Shape 886"/>
        <p:cNvGrpSpPr/>
        <p:nvPr/>
      </p:nvGrpSpPr>
      <p:grpSpPr>
        <a:xfrm>
          <a:off x="0" y="0"/>
          <a:ext cx="0" cy="0"/>
          <a:chOff x="0" y="0"/>
          <a:chExt cx="0" cy="0"/>
        </a:xfrm>
      </p:grpSpPr>
      <p:sp>
        <p:nvSpPr>
          <p:cNvPr id="887" name="Google Shape;887;p3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88" name="Google Shape;888;p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89" name="Google Shape;889;p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8" name="Shape 918"/>
        <p:cNvGrpSpPr/>
        <p:nvPr/>
      </p:nvGrpSpPr>
      <p:grpSpPr>
        <a:xfrm>
          <a:off x="0" y="0"/>
          <a:ext cx="0" cy="0"/>
          <a:chOff x="0" y="0"/>
          <a:chExt cx="0" cy="0"/>
        </a:xfrm>
      </p:grpSpPr>
      <p:sp>
        <p:nvSpPr>
          <p:cNvPr id="919" name="Google Shape;919;p3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0" name="Google Shape;920;p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1" name="Google Shape;921;p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0" name="Shape 950"/>
        <p:cNvGrpSpPr/>
        <p:nvPr/>
      </p:nvGrpSpPr>
      <p:grpSpPr>
        <a:xfrm>
          <a:off x="0" y="0"/>
          <a:ext cx="0" cy="0"/>
          <a:chOff x="0" y="0"/>
          <a:chExt cx="0" cy="0"/>
        </a:xfrm>
      </p:grpSpPr>
      <p:sp>
        <p:nvSpPr>
          <p:cNvPr id="951" name="Google Shape;951;p4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52" name="Google Shape;952;p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5" name="Shape 975"/>
        <p:cNvGrpSpPr/>
        <p:nvPr/>
      </p:nvGrpSpPr>
      <p:grpSpPr>
        <a:xfrm>
          <a:off x="0" y="0"/>
          <a:ext cx="0" cy="0"/>
          <a:chOff x="0" y="0"/>
          <a:chExt cx="0" cy="0"/>
        </a:xfrm>
      </p:grpSpPr>
      <p:sp>
        <p:nvSpPr>
          <p:cNvPr id="976" name="Google Shape;976;p4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77" name="Google Shape;977;p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8" name="Google Shape;978;p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9" name="Shape 1019"/>
        <p:cNvGrpSpPr/>
        <p:nvPr/>
      </p:nvGrpSpPr>
      <p:grpSpPr>
        <a:xfrm>
          <a:off x="0" y="0"/>
          <a:ext cx="0" cy="0"/>
          <a:chOff x="0" y="0"/>
          <a:chExt cx="0" cy="0"/>
        </a:xfrm>
      </p:grpSpPr>
      <p:sp>
        <p:nvSpPr>
          <p:cNvPr id="1020" name="Google Shape;1020;p4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21" name="Google Shape;1021;p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2" name="Google Shape;1022;p4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3" name="Shape 1063"/>
        <p:cNvGrpSpPr/>
        <p:nvPr/>
      </p:nvGrpSpPr>
      <p:grpSpPr>
        <a:xfrm>
          <a:off x="0" y="0"/>
          <a:ext cx="0" cy="0"/>
          <a:chOff x="0" y="0"/>
          <a:chExt cx="0" cy="0"/>
        </a:xfrm>
      </p:grpSpPr>
      <p:sp>
        <p:nvSpPr>
          <p:cNvPr id="1064" name="Google Shape;1064;p48:notes"/>
          <p:cNvSpPr txBox="1"/>
          <p:nvPr>
            <p:ph idx="12" type="sldNum"/>
          </p:nvPr>
        </p:nvSpPr>
        <p:spPr>
          <a:xfrm>
            <a:off x="3885011"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65" name="Google Shape;1065;p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66" name="Google Shape;1066;p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7" name="Shape 1107"/>
        <p:cNvGrpSpPr/>
        <p:nvPr/>
      </p:nvGrpSpPr>
      <p:grpSpPr>
        <a:xfrm>
          <a:off x="0" y="0"/>
          <a:ext cx="0" cy="0"/>
          <a:chOff x="0" y="0"/>
          <a:chExt cx="0" cy="0"/>
        </a:xfrm>
      </p:grpSpPr>
      <p:sp>
        <p:nvSpPr>
          <p:cNvPr id="1108" name="Google Shape;1108;p5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9" name="Google Shape;1109;p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0" name="Google Shape;1110;p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1" name="Shape 1151"/>
        <p:cNvGrpSpPr/>
        <p:nvPr/>
      </p:nvGrpSpPr>
      <p:grpSpPr>
        <a:xfrm>
          <a:off x="0" y="0"/>
          <a:ext cx="0" cy="0"/>
          <a:chOff x="0" y="0"/>
          <a:chExt cx="0" cy="0"/>
        </a:xfrm>
      </p:grpSpPr>
      <p:sp>
        <p:nvSpPr>
          <p:cNvPr id="1152" name="Google Shape;1152;p5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53" name="Google Shape;1153;p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54" name="Google Shape;1154;p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5" name="Shape 1195"/>
        <p:cNvGrpSpPr/>
        <p:nvPr/>
      </p:nvGrpSpPr>
      <p:grpSpPr>
        <a:xfrm>
          <a:off x="0" y="0"/>
          <a:ext cx="0" cy="0"/>
          <a:chOff x="0" y="0"/>
          <a:chExt cx="0" cy="0"/>
        </a:xfrm>
      </p:grpSpPr>
      <p:sp>
        <p:nvSpPr>
          <p:cNvPr id="1196" name="Google Shape;1196;p5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97" name="Google Shape;1197;p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98" name="Google Shape;1198;p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9" name="Shape 1239"/>
        <p:cNvGrpSpPr/>
        <p:nvPr/>
      </p:nvGrpSpPr>
      <p:grpSpPr>
        <a:xfrm>
          <a:off x="0" y="0"/>
          <a:ext cx="0" cy="0"/>
          <a:chOff x="0" y="0"/>
          <a:chExt cx="0" cy="0"/>
        </a:xfrm>
      </p:grpSpPr>
      <p:sp>
        <p:nvSpPr>
          <p:cNvPr id="1240" name="Google Shape;1240;p5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241" name="Google Shape;1241;p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242" name="Google Shape;1242;p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3" name="Shape 1283"/>
        <p:cNvGrpSpPr/>
        <p:nvPr/>
      </p:nvGrpSpPr>
      <p:grpSpPr>
        <a:xfrm>
          <a:off x="0" y="0"/>
          <a:ext cx="0" cy="0"/>
          <a:chOff x="0" y="0"/>
          <a:chExt cx="0" cy="0"/>
        </a:xfrm>
      </p:grpSpPr>
      <p:sp>
        <p:nvSpPr>
          <p:cNvPr id="1284" name="Google Shape;1284;p5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285" name="Google Shape;1285;p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286" name="Google Shape;1286;p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7" name="Shape 1327"/>
        <p:cNvGrpSpPr/>
        <p:nvPr/>
      </p:nvGrpSpPr>
      <p:grpSpPr>
        <a:xfrm>
          <a:off x="0" y="0"/>
          <a:ext cx="0" cy="0"/>
          <a:chOff x="0" y="0"/>
          <a:chExt cx="0" cy="0"/>
        </a:xfrm>
      </p:grpSpPr>
      <p:sp>
        <p:nvSpPr>
          <p:cNvPr id="1328" name="Google Shape;1328;p6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329" name="Google Shape;1329;p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330" name="Google Shape;1330;p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1" name="Shape 1371"/>
        <p:cNvGrpSpPr/>
        <p:nvPr/>
      </p:nvGrpSpPr>
      <p:grpSpPr>
        <a:xfrm>
          <a:off x="0" y="0"/>
          <a:ext cx="0" cy="0"/>
          <a:chOff x="0" y="0"/>
          <a:chExt cx="0" cy="0"/>
        </a:xfrm>
      </p:grpSpPr>
      <p:sp>
        <p:nvSpPr>
          <p:cNvPr id="1372" name="Google Shape;1372;p6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373" name="Google Shape;1373;p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374" name="Google Shape;1374;p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5" name="Shape 1415"/>
        <p:cNvGrpSpPr/>
        <p:nvPr/>
      </p:nvGrpSpPr>
      <p:grpSpPr>
        <a:xfrm>
          <a:off x="0" y="0"/>
          <a:ext cx="0" cy="0"/>
          <a:chOff x="0" y="0"/>
          <a:chExt cx="0" cy="0"/>
        </a:xfrm>
      </p:grpSpPr>
      <p:sp>
        <p:nvSpPr>
          <p:cNvPr id="1416" name="Google Shape;1416;p6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417" name="Google Shape;1417;p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2" name="Shape 1432"/>
        <p:cNvGrpSpPr/>
        <p:nvPr/>
      </p:nvGrpSpPr>
      <p:grpSpPr>
        <a:xfrm>
          <a:off x="0" y="0"/>
          <a:ext cx="0" cy="0"/>
          <a:chOff x="0" y="0"/>
          <a:chExt cx="0" cy="0"/>
        </a:xfrm>
      </p:grpSpPr>
      <p:sp>
        <p:nvSpPr>
          <p:cNvPr id="1433" name="Google Shape;1433;p6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434" name="Google Shape;1434;p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435" name="Google Shape;1435;p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62" name="Shape 1462"/>
        <p:cNvGrpSpPr/>
        <p:nvPr/>
      </p:nvGrpSpPr>
      <p:grpSpPr>
        <a:xfrm>
          <a:off x="0" y="0"/>
          <a:ext cx="0" cy="0"/>
          <a:chOff x="0" y="0"/>
          <a:chExt cx="0" cy="0"/>
        </a:xfrm>
      </p:grpSpPr>
      <p:sp>
        <p:nvSpPr>
          <p:cNvPr id="1463" name="Google Shape;1463;p6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464" name="Google Shape;1464;p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465" name="Google Shape;1465;p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6" name="Shape 1476"/>
        <p:cNvGrpSpPr/>
        <p:nvPr/>
      </p:nvGrpSpPr>
      <p:grpSpPr>
        <a:xfrm>
          <a:off x="0" y="0"/>
          <a:ext cx="0" cy="0"/>
          <a:chOff x="0" y="0"/>
          <a:chExt cx="0" cy="0"/>
        </a:xfrm>
      </p:grpSpPr>
      <p:sp>
        <p:nvSpPr>
          <p:cNvPr id="1477" name="Google Shape;1477;p6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478" name="Google Shape;1478;p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479" name="Google Shape;1479;p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06" name="Shape 1506"/>
        <p:cNvGrpSpPr/>
        <p:nvPr/>
      </p:nvGrpSpPr>
      <p:grpSpPr>
        <a:xfrm>
          <a:off x="0" y="0"/>
          <a:ext cx="0" cy="0"/>
          <a:chOff x="0" y="0"/>
          <a:chExt cx="0" cy="0"/>
        </a:xfrm>
      </p:grpSpPr>
      <p:sp>
        <p:nvSpPr>
          <p:cNvPr id="1507" name="Google Shape;1507;p6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508" name="Google Shape;1508;p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509" name="Google Shape;1509;p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0" name="Shape 1520"/>
        <p:cNvGrpSpPr/>
        <p:nvPr/>
      </p:nvGrpSpPr>
      <p:grpSpPr>
        <a:xfrm>
          <a:off x="0" y="0"/>
          <a:ext cx="0" cy="0"/>
          <a:chOff x="0" y="0"/>
          <a:chExt cx="0" cy="0"/>
        </a:xfrm>
      </p:grpSpPr>
      <p:sp>
        <p:nvSpPr>
          <p:cNvPr id="1521" name="Google Shape;1521;p7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522" name="Google Shape;1522;p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523" name="Google Shape;1523;p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50" name="Shape 1550"/>
        <p:cNvGrpSpPr/>
        <p:nvPr/>
      </p:nvGrpSpPr>
      <p:grpSpPr>
        <a:xfrm>
          <a:off x="0" y="0"/>
          <a:ext cx="0" cy="0"/>
          <a:chOff x="0" y="0"/>
          <a:chExt cx="0" cy="0"/>
        </a:xfrm>
      </p:grpSpPr>
      <p:sp>
        <p:nvSpPr>
          <p:cNvPr id="1551" name="Google Shape;1551;p7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552" name="Google Shape;1552;p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553" name="Google Shape;1553;p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4" name="Shape 1564"/>
        <p:cNvGrpSpPr/>
        <p:nvPr/>
      </p:nvGrpSpPr>
      <p:grpSpPr>
        <a:xfrm>
          <a:off x="0" y="0"/>
          <a:ext cx="0" cy="0"/>
          <a:chOff x="0" y="0"/>
          <a:chExt cx="0" cy="0"/>
        </a:xfrm>
      </p:grpSpPr>
      <p:sp>
        <p:nvSpPr>
          <p:cNvPr id="1565" name="Google Shape;1565;p7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566" name="Google Shape;1566;p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567" name="Google Shape;1567;p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94" name="Shape 1594"/>
        <p:cNvGrpSpPr/>
        <p:nvPr/>
      </p:nvGrpSpPr>
      <p:grpSpPr>
        <a:xfrm>
          <a:off x="0" y="0"/>
          <a:ext cx="0" cy="0"/>
          <a:chOff x="0" y="0"/>
          <a:chExt cx="0" cy="0"/>
        </a:xfrm>
      </p:grpSpPr>
      <p:sp>
        <p:nvSpPr>
          <p:cNvPr id="1595" name="Google Shape;1595;p7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596" name="Google Shape;1596;p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597" name="Google Shape;1597;p7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8" name="Shape 1608"/>
        <p:cNvGrpSpPr/>
        <p:nvPr/>
      </p:nvGrpSpPr>
      <p:grpSpPr>
        <a:xfrm>
          <a:off x="0" y="0"/>
          <a:ext cx="0" cy="0"/>
          <a:chOff x="0" y="0"/>
          <a:chExt cx="0" cy="0"/>
        </a:xfrm>
      </p:grpSpPr>
      <p:sp>
        <p:nvSpPr>
          <p:cNvPr id="1609" name="Google Shape;1609;p7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610" name="Google Shape;1610;p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611" name="Google Shape;1611;p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38" name="Shape 1638"/>
        <p:cNvGrpSpPr/>
        <p:nvPr/>
      </p:nvGrpSpPr>
      <p:grpSpPr>
        <a:xfrm>
          <a:off x="0" y="0"/>
          <a:ext cx="0" cy="0"/>
          <a:chOff x="0" y="0"/>
          <a:chExt cx="0" cy="0"/>
        </a:xfrm>
      </p:grpSpPr>
      <p:sp>
        <p:nvSpPr>
          <p:cNvPr id="1639" name="Google Shape;1639;p7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640" name="Google Shape;1640;p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641" name="Google Shape;1641;p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52" name="Shape 1652"/>
        <p:cNvGrpSpPr/>
        <p:nvPr/>
      </p:nvGrpSpPr>
      <p:grpSpPr>
        <a:xfrm>
          <a:off x="0" y="0"/>
          <a:ext cx="0" cy="0"/>
          <a:chOff x="0" y="0"/>
          <a:chExt cx="0" cy="0"/>
        </a:xfrm>
      </p:grpSpPr>
      <p:sp>
        <p:nvSpPr>
          <p:cNvPr id="1653" name="Google Shape;1653;p7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654" name="Google Shape;1654;p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655" name="Google Shape;1655;p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82" name="Shape 1682"/>
        <p:cNvGrpSpPr/>
        <p:nvPr/>
      </p:nvGrpSpPr>
      <p:grpSpPr>
        <a:xfrm>
          <a:off x="0" y="0"/>
          <a:ext cx="0" cy="0"/>
          <a:chOff x="0" y="0"/>
          <a:chExt cx="0" cy="0"/>
        </a:xfrm>
      </p:grpSpPr>
      <p:sp>
        <p:nvSpPr>
          <p:cNvPr id="1683" name="Google Shape;1683;p7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684" name="Google Shape;1684;p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685" name="Google Shape;1685;p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96" name="Shape 1696"/>
        <p:cNvGrpSpPr/>
        <p:nvPr/>
      </p:nvGrpSpPr>
      <p:grpSpPr>
        <a:xfrm>
          <a:off x="0" y="0"/>
          <a:ext cx="0" cy="0"/>
          <a:chOff x="0" y="0"/>
          <a:chExt cx="0" cy="0"/>
        </a:xfrm>
      </p:grpSpPr>
      <p:sp>
        <p:nvSpPr>
          <p:cNvPr id="1697" name="Google Shape;1697;p7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698" name="Google Shape;1698;p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699" name="Google Shape;1699;p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26" name="Shape 1726"/>
        <p:cNvGrpSpPr/>
        <p:nvPr/>
      </p:nvGrpSpPr>
      <p:grpSpPr>
        <a:xfrm>
          <a:off x="0" y="0"/>
          <a:ext cx="0" cy="0"/>
          <a:chOff x="0" y="0"/>
          <a:chExt cx="0" cy="0"/>
        </a:xfrm>
      </p:grpSpPr>
      <p:sp>
        <p:nvSpPr>
          <p:cNvPr id="1727" name="Google Shape;1727;p7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728" name="Google Shape;1728;p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729" name="Google Shape;1729;p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0" name="Shape 1740"/>
        <p:cNvGrpSpPr/>
        <p:nvPr/>
      </p:nvGrpSpPr>
      <p:grpSpPr>
        <a:xfrm>
          <a:off x="0" y="0"/>
          <a:ext cx="0" cy="0"/>
          <a:chOff x="0" y="0"/>
          <a:chExt cx="0" cy="0"/>
        </a:xfrm>
      </p:grpSpPr>
      <p:sp>
        <p:nvSpPr>
          <p:cNvPr id="1741" name="Google Shape;1741;p8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742" name="Google Shape;1742;p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9" name="Shape 1749"/>
        <p:cNvGrpSpPr/>
        <p:nvPr/>
      </p:nvGrpSpPr>
      <p:grpSpPr>
        <a:xfrm>
          <a:off x="0" y="0"/>
          <a:ext cx="0" cy="0"/>
          <a:chOff x="0" y="0"/>
          <a:chExt cx="0" cy="0"/>
        </a:xfrm>
      </p:grpSpPr>
      <p:sp>
        <p:nvSpPr>
          <p:cNvPr id="1750" name="Google Shape;1750;p8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751" name="Google Shape;1751;p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57" name="Shape 1757"/>
        <p:cNvGrpSpPr/>
        <p:nvPr/>
      </p:nvGrpSpPr>
      <p:grpSpPr>
        <a:xfrm>
          <a:off x="0" y="0"/>
          <a:ext cx="0" cy="0"/>
          <a:chOff x="0" y="0"/>
          <a:chExt cx="0" cy="0"/>
        </a:xfrm>
      </p:grpSpPr>
      <p:sp>
        <p:nvSpPr>
          <p:cNvPr id="1758" name="Google Shape;1758;p8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759" name="Google Shape;1759;p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65" name="Shape 1765"/>
        <p:cNvGrpSpPr/>
        <p:nvPr/>
      </p:nvGrpSpPr>
      <p:grpSpPr>
        <a:xfrm>
          <a:off x="0" y="0"/>
          <a:ext cx="0" cy="0"/>
          <a:chOff x="0" y="0"/>
          <a:chExt cx="0" cy="0"/>
        </a:xfrm>
      </p:grpSpPr>
      <p:sp>
        <p:nvSpPr>
          <p:cNvPr id="1766" name="Google Shape;1766;p83: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767" name="Google Shape;1767;p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73" name="Shape 1773"/>
        <p:cNvGrpSpPr/>
        <p:nvPr/>
      </p:nvGrpSpPr>
      <p:grpSpPr>
        <a:xfrm>
          <a:off x="0" y="0"/>
          <a:ext cx="0" cy="0"/>
          <a:chOff x="0" y="0"/>
          <a:chExt cx="0" cy="0"/>
        </a:xfrm>
      </p:grpSpPr>
      <p:sp>
        <p:nvSpPr>
          <p:cNvPr id="1774" name="Google Shape;1774;p8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775" name="Google Shape;1775;p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776" name="Google Shape;1776;p8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29" name="Shape 1829"/>
        <p:cNvGrpSpPr/>
        <p:nvPr/>
      </p:nvGrpSpPr>
      <p:grpSpPr>
        <a:xfrm>
          <a:off x="0" y="0"/>
          <a:ext cx="0" cy="0"/>
          <a:chOff x="0" y="0"/>
          <a:chExt cx="0" cy="0"/>
        </a:xfrm>
      </p:grpSpPr>
      <p:sp>
        <p:nvSpPr>
          <p:cNvPr id="1830" name="Google Shape;1830;p8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831" name="Google Shape;1831;p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832" name="Google Shape;1832;p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85" name="Shape 1885"/>
        <p:cNvGrpSpPr/>
        <p:nvPr/>
      </p:nvGrpSpPr>
      <p:grpSpPr>
        <a:xfrm>
          <a:off x="0" y="0"/>
          <a:ext cx="0" cy="0"/>
          <a:chOff x="0" y="0"/>
          <a:chExt cx="0" cy="0"/>
        </a:xfrm>
      </p:grpSpPr>
      <p:sp>
        <p:nvSpPr>
          <p:cNvPr id="1886" name="Google Shape;1886;p8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887" name="Google Shape;1887;p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888" name="Google Shape;1888;p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41" name="Shape 1941"/>
        <p:cNvGrpSpPr/>
        <p:nvPr/>
      </p:nvGrpSpPr>
      <p:grpSpPr>
        <a:xfrm>
          <a:off x="0" y="0"/>
          <a:ext cx="0" cy="0"/>
          <a:chOff x="0" y="0"/>
          <a:chExt cx="0" cy="0"/>
        </a:xfrm>
      </p:grpSpPr>
      <p:sp>
        <p:nvSpPr>
          <p:cNvPr id="1942" name="Google Shape;1942;p9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943" name="Google Shape;1943;p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944" name="Google Shape;1944;p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97" name="Shape 1997"/>
        <p:cNvGrpSpPr/>
        <p:nvPr/>
      </p:nvGrpSpPr>
      <p:grpSpPr>
        <a:xfrm>
          <a:off x="0" y="0"/>
          <a:ext cx="0" cy="0"/>
          <a:chOff x="0" y="0"/>
          <a:chExt cx="0" cy="0"/>
        </a:xfrm>
      </p:grpSpPr>
      <p:sp>
        <p:nvSpPr>
          <p:cNvPr id="1998" name="Google Shape;1998;p9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999" name="Google Shape;1999;p9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000" name="Google Shape;2000;p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53" name="Shape 2053"/>
        <p:cNvGrpSpPr/>
        <p:nvPr/>
      </p:nvGrpSpPr>
      <p:grpSpPr>
        <a:xfrm>
          <a:off x="0" y="0"/>
          <a:ext cx="0" cy="0"/>
          <a:chOff x="0" y="0"/>
          <a:chExt cx="0" cy="0"/>
        </a:xfrm>
      </p:grpSpPr>
      <p:sp>
        <p:nvSpPr>
          <p:cNvPr id="2054" name="Google Shape;2054;p9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055" name="Google Shape;2055;p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056" name="Google Shape;2056;p9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09" name="Shape 2109"/>
        <p:cNvGrpSpPr/>
        <p:nvPr/>
      </p:nvGrpSpPr>
      <p:grpSpPr>
        <a:xfrm>
          <a:off x="0" y="0"/>
          <a:ext cx="0" cy="0"/>
          <a:chOff x="0" y="0"/>
          <a:chExt cx="0" cy="0"/>
        </a:xfrm>
      </p:grpSpPr>
      <p:sp>
        <p:nvSpPr>
          <p:cNvPr id="2110" name="Google Shape;2110;p9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111" name="Google Shape;2111;p9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112" name="Google Shape;2112;p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65" name="Shape 2165"/>
        <p:cNvGrpSpPr/>
        <p:nvPr/>
      </p:nvGrpSpPr>
      <p:grpSpPr>
        <a:xfrm>
          <a:off x="0" y="0"/>
          <a:ext cx="0" cy="0"/>
          <a:chOff x="0" y="0"/>
          <a:chExt cx="0" cy="0"/>
        </a:xfrm>
      </p:grpSpPr>
      <p:sp>
        <p:nvSpPr>
          <p:cNvPr id="2166" name="Google Shape;2166;p9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167" name="Google Shape;2167;p9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168" name="Google Shape;2168;p9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21" name="Shape 2221"/>
        <p:cNvGrpSpPr/>
        <p:nvPr/>
      </p:nvGrpSpPr>
      <p:grpSpPr>
        <a:xfrm>
          <a:off x="0" y="0"/>
          <a:ext cx="0" cy="0"/>
          <a:chOff x="0" y="0"/>
          <a:chExt cx="0" cy="0"/>
        </a:xfrm>
      </p:grpSpPr>
      <p:sp>
        <p:nvSpPr>
          <p:cNvPr id="2222" name="Google Shape;2222;p10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223" name="Google Shape;2223;p10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224" name="Google Shape;2224;p1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77" name="Shape 2277"/>
        <p:cNvGrpSpPr/>
        <p:nvPr/>
      </p:nvGrpSpPr>
      <p:grpSpPr>
        <a:xfrm>
          <a:off x="0" y="0"/>
          <a:ext cx="0" cy="0"/>
          <a:chOff x="0" y="0"/>
          <a:chExt cx="0" cy="0"/>
        </a:xfrm>
      </p:grpSpPr>
      <p:sp>
        <p:nvSpPr>
          <p:cNvPr id="2278" name="Google Shape;2278;p10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279" name="Google Shape;2279;p10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280" name="Google Shape;2280;p10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33" name="Shape 2333"/>
        <p:cNvGrpSpPr/>
        <p:nvPr/>
      </p:nvGrpSpPr>
      <p:grpSpPr>
        <a:xfrm>
          <a:off x="0" y="0"/>
          <a:ext cx="0" cy="0"/>
          <a:chOff x="0" y="0"/>
          <a:chExt cx="0" cy="0"/>
        </a:xfrm>
      </p:grpSpPr>
      <p:sp>
        <p:nvSpPr>
          <p:cNvPr id="2334" name="Google Shape;2334;p10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335" name="Google Shape;2335;p1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336" name="Google Shape;2336;p1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89" name="Shape 2389"/>
        <p:cNvGrpSpPr/>
        <p:nvPr/>
      </p:nvGrpSpPr>
      <p:grpSpPr>
        <a:xfrm>
          <a:off x="0" y="0"/>
          <a:ext cx="0" cy="0"/>
          <a:chOff x="0" y="0"/>
          <a:chExt cx="0" cy="0"/>
        </a:xfrm>
      </p:grpSpPr>
      <p:sp>
        <p:nvSpPr>
          <p:cNvPr id="2390" name="Google Shape;2390;p10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391" name="Google Shape;2391;p1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392" name="Google Shape;2392;p1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45" name="Shape 2445"/>
        <p:cNvGrpSpPr/>
        <p:nvPr/>
      </p:nvGrpSpPr>
      <p:grpSpPr>
        <a:xfrm>
          <a:off x="0" y="0"/>
          <a:ext cx="0" cy="0"/>
          <a:chOff x="0" y="0"/>
          <a:chExt cx="0" cy="0"/>
        </a:xfrm>
      </p:grpSpPr>
      <p:sp>
        <p:nvSpPr>
          <p:cNvPr id="2446" name="Google Shape;2446;p10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447" name="Google Shape;2447;p1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448" name="Google Shape;2448;p1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01" name="Shape 2501"/>
        <p:cNvGrpSpPr/>
        <p:nvPr/>
      </p:nvGrpSpPr>
      <p:grpSpPr>
        <a:xfrm>
          <a:off x="0" y="0"/>
          <a:ext cx="0" cy="0"/>
          <a:chOff x="0" y="0"/>
          <a:chExt cx="0" cy="0"/>
        </a:xfrm>
      </p:grpSpPr>
      <p:sp>
        <p:nvSpPr>
          <p:cNvPr id="2502" name="Google Shape;2502;p11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503" name="Google Shape;2503;p1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504" name="Google Shape;2504;p1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57" name="Shape 2557"/>
        <p:cNvGrpSpPr/>
        <p:nvPr/>
      </p:nvGrpSpPr>
      <p:grpSpPr>
        <a:xfrm>
          <a:off x="0" y="0"/>
          <a:ext cx="0" cy="0"/>
          <a:chOff x="0" y="0"/>
          <a:chExt cx="0" cy="0"/>
        </a:xfrm>
      </p:grpSpPr>
      <p:sp>
        <p:nvSpPr>
          <p:cNvPr id="2558" name="Google Shape;2558;p11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559" name="Google Shape;2559;p1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560" name="Google Shape;2560;p1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19" name="Shape 2619"/>
        <p:cNvGrpSpPr/>
        <p:nvPr/>
      </p:nvGrpSpPr>
      <p:grpSpPr>
        <a:xfrm>
          <a:off x="0" y="0"/>
          <a:ext cx="0" cy="0"/>
          <a:chOff x="0" y="0"/>
          <a:chExt cx="0" cy="0"/>
        </a:xfrm>
      </p:grpSpPr>
      <p:sp>
        <p:nvSpPr>
          <p:cNvPr id="2620" name="Google Shape;2620;p11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21" name="Google Shape;2621;p1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22" name="Google Shape;2622;p1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45" name="Shape 2645"/>
        <p:cNvGrpSpPr/>
        <p:nvPr/>
      </p:nvGrpSpPr>
      <p:grpSpPr>
        <a:xfrm>
          <a:off x="0" y="0"/>
          <a:ext cx="0" cy="0"/>
          <a:chOff x="0" y="0"/>
          <a:chExt cx="0" cy="0"/>
        </a:xfrm>
      </p:grpSpPr>
      <p:sp>
        <p:nvSpPr>
          <p:cNvPr id="2646" name="Google Shape;2646;p11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47" name="Google Shape;2647;p1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48" name="Google Shape;2648;p1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65" name="Shape 2665"/>
        <p:cNvGrpSpPr/>
        <p:nvPr/>
      </p:nvGrpSpPr>
      <p:grpSpPr>
        <a:xfrm>
          <a:off x="0" y="0"/>
          <a:ext cx="0" cy="0"/>
          <a:chOff x="0" y="0"/>
          <a:chExt cx="0" cy="0"/>
        </a:xfrm>
      </p:grpSpPr>
      <p:sp>
        <p:nvSpPr>
          <p:cNvPr id="2666" name="Google Shape;2666;p11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67" name="Google Shape;2667;p1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68" name="Google Shape;2668;p1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85" name="Shape 2685"/>
        <p:cNvGrpSpPr/>
        <p:nvPr/>
      </p:nvGrpSpPr>
      <p:grpSpPr>
        <a:xfrm>
          <a:off x="0" y="0"/>
          <a:ext cx="0" cy="0"/>
          <a:chOff x="0" y="0"/>
          <a:chExt cx="0" cy="0"/>
        </a:xfrm>
      </p:grpSpPr>
      <p:sp>
        <p:nvSpPr>
          <p:cNvPr id="2686" name="Google Shape;2686;p11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87" name="Google Shape;2687;p1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88" name="Google Shape;2688;p1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05" name="Shape 2705"/>
        <p:cNvGrpSpPr/>
        <p:nvPr/>
      </p:nvGrpSpPr>
      <p:grpSpPr>
        <a:xfrm>
          <a:off x="0" y="0"/>
          <a:ext cx="0" cy="0"/>
          <a:chOff x="0" y="0"/>
          <a:chExt cx="0" cy="0"/>
        </a:xfrm>
      </p:grpSpPr>
      <p:sp>
        <p:nvSpPr>
          <p:cNvPr id="2706" name="Google Shape;2706;p12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2707" name="Google Shape;2707;p1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08" name="Google Shape;2708;p1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25" name="Shape 2725"/>
        <p:cNvGrpSpPr/>
        <p:nvPr/>
      </p:nvGrpSpPr>
      <p:grpSpPr>
        <a:xfrm>
          <a:off x="0" y="0"/>
          <a:ext cx="0" cy="0"/>
          <a:chOff x="0" y="0"/>
          <a:chExt cx="0" cy="0"/>
        </a:xfrm>
      </p:grpSpPr>
      <p:sp>
        <p:nvSpPr>
          <p:cNvPr id="2726" name="Google Shape;2726;p12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727" name="Google Shape;2727;p1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28" name="Google Shape;2728;p1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45" name="Shape 2745"/>
        <p:cNvGrpSpPr/>
        <p:nvPr/>
      </p:nvGrpSpPr>
      <p:grpSpPr>
        <a:xfrm>
          <a:off x="0" y="0"/>
          <a:ext cx="0" cy="0"/>
          <a:chOff x="0" y="0"/>
          <a:chExt cx="0" cy="0"/>
        </a:xfrm>
      </p:grpSpPr>
      <p:sp>
        <p:nvSpPr>
          <p:cNvPr id="2746" name="Google Shape;2746;p12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747" name="Google Shape;2747;p1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48" name="Google Shape;2748;p12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65" name="Shape 2765"/>
        <p:cNvGrpSpPr/>
        <p:nvPr/>
      </p:nvGrpSpPr>
      <p:grpSpPr>
        <a:xfrm>
          <a:off x="0" y="0"/>
          <a:ext cx="0" cy="0"/>
          <a:chOff x="0" y="0"/>
          <a:chExt cx="0" cy="0"/>
        </a:xfrm>
      </p:grpSpPr>
      <p:sp>
        <p:nvSpPr>
          <p:cNvPr id="2766" name="Google Shape;2766;p12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767" name="Google Shape;2767;p1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68" name="Google Shape;2768;p1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85" name="Shape 2785"/>
        <p:cNvGrpSpPr/>
        <p:nvPr/>
      </p:nvGrpSpPr>
      <p:grpSpPr>
        <a:xfrm>
          <a:off x="0" y="0"/>
          <a:ext cx="0" cy="0"/>
          <a:chOff x="0" y="0"/>
          <a:chExt cx="0" cy="0"/>
        </a:xfrm>
      </p:grpSpPr>
      <p:sp>
        <p:nvSpPr>
          <p:cNvPr id="2786" name="Google Shape;2786;p12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2787" name="Google Shape;2787;p1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88" name="Google Shape;2788;p1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23" name="Shape 2823"/>
        <p:cNvGrpSpPr/>
        <p:nvPr/>
      </p:nvGrpSpPr>
      <p:grpSpPr>
        <a:xfrm>
          <a:off x="0" y="0"/>
          <a:ext cx="0" cy="0"/>
          <a:chOff x="0" y="0"/>
          <a:chExt cx="0" cy="0"/>
        </a:xfrm>
      </p:grpSpPr>
      <p:sp>
        <p:nvSpPr>
          <p:cNvPr id="2824" name="Google Shape;2824;p12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825" name="Google Shape;2825;p1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826" name="Google Shape;2826;p12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43" name="Shape 2843"/>
        <p:cNvGrpSpPr/>
        <p:nvPr/>
      </p:nvGrpSpPr>
      <p:grpSpPr>
        <a:xfrm>
          <a:off x="0" y="0"/>
          <a:ext cx="0" cy="0"/>
          <a:chOff x="0" y="0"/>
          <a:chExt cx="0" cy="0"/>
        </a:xfrm>
      </p:grpSpPr>
      <p:sp>
        <p:nvSpPr>
          <p:cNvPr id="2844" name="Google Shape;2844;p12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845" name="Google Shape;2845;p12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846" name="Google Shape;2846;p12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63" name="Shape 2863"/>
        <p:cNvGrpSpPr/>
        <p:nvPr/>
      </p:nvGrpSpPr>
      <p:grpSpPr>
        <a:xfrm>
          <a:off x="0" y="0"/>
          <a:ext cx="0" cy="0"/>
          <a:chOff x="0" y="0"/>
          <a:chExt cx="0" cy="0"/>
        </a:xfrm>
      </p:grpSpPr>
      <p:sp>
        <p:nvSpPr>
          <p:cNvPr id="2864" name="Google Shape;2864;p12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865" name="Google Shape;2865;p1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866" name="Google Shape;2866;p12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99" name="Shape 2899"/>
        <p:cNvGrpSpPr/>
        <p:nvPr/>
      </p:nvGrpSpPr>
      <p:grpSpPr>
        <a:xfrm>
          <a:off x="0" y="0"/>
          <a:ext cx="0" cy="0"/>
          <a:chOff x="0" y="0"/>
          <a:chExt cx="0" cy="0"/>
        </a:xfrm>
      </p:grpSpPr>
      <p:sp>
        <p:nvSpPr>
          <p:cNvPr id="2900" name="Google Shape;2900;p13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01" name="Google Shape;2901;p13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02" name="Google Shape;2902;p13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19" name="Shape 2919"/>
        <p:cNvGrpSpPr/>
        <p:nvPr/>
      </p:nvGrpSpPr>
      <p:grpSpPr>
        <a:xfrm>
          <a:off x="0" y="0"/>
          <a:ext cx="0" cy="0"/>
          <a:chOff x="0" y="0"/>
          <a:chExt cx="0" cy="0"/>
        </a:xfrm>
      </p:grpSpPr>
      <p:sp>
        <p:nvSpPr>
          <p:cNvPr id="2920" name="Google Shape;2920;p13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21" name="Google Shape;2921;p13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22" name="Google Shape;2922;p13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39" name="Shape 2939"/>
        <p:cNvGrpSpPr/>
        <p:nvPr/>
      </p:nvGrpSpPr>
      <p:grpSpPr>
        <a:xfrm>
          <a:off x="0" y="0"/>
          <a:ext cx="0" cy="0"/>
          <a:chOff x="0" y="0"/>
          <a:chExt cx="0" cy="0"/>
        </a:xfrm>
      </p:grpSpPr>
      <p:sp>
        <p:nvSpPr>
          <p:cNvPr id="2940" name="Google Shape;2940;p13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2941" name="Google Shape;2941;p13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42" name="Google Shape;2942;p1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59" name="Shape 2959"/>
        <p:cNvGrpSpPr/>
        <p:nvPr/>
      </p:nvGrpSpPr>
      <p:grpSpPr>
        <a:xfrm>
          <a:off x="0" y="0"/>
          <a:ext cx="0" cy="0"/>
          <a:chOff x="0" y="0"/>
          <a:chExt cx="0" cy="0"/>
        </a:xfrm>
      </p:grpSpPr>
      <p:sp>
        <p:nvSpPr>
          <p:cNvPr id="2960" name="Google Shape;2960;p13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61" name="Google Shape;2961;p13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62" name="Google Shape;2962;p13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79" name="Shape 2979"/>
        <p:cNvGrpSpPr/>
        <p:nvPr/>
      </p:nvGrpSpPr>
      <p:grpSpPr>
        <a:xfrm>
          <a:off x="0" y="0"/>
          <a:ext cx="0" cy="0"/>
          <a:chOff x="0" y="0"/>
          <a:chExt cx="0" cy="0"/>
        </a:xfrm>
      </p:grpSpPr>
      <p:sp>
        <p:nvSpPr>
          <p:cNvPr id="2980" name="Google Shape;2980;p13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81" name="Google Shape;2981;p13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82" name="Google Shape;2982;p13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99" name="Shape 2999"/>
        <p:cNvGrpSpPr/>
        <p:nvPr/>
      </p:nvGrpSpPr>
      <p:grpSpPr>
        <a:xfrm>
          <a:off x="0" y="0"/>
          <a:ext cx="0" cy="0"/>
          <a:chOff x="0" y="0"/>
          <a:chExt cx="0" cy="0"/>
        </a:xfrm>
      </p:grpSpPr>
      <p:sp>
        <p:nvSpPr>
          <p:cNvPr id="3000" name="Google Shape;3000;p13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01" name="Google Shape;3001;p1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02" name="Google Shape;3002;p13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19" name="Shape 3019"/>
        <p:cNvGrpSpPr/>
        <p:nvPr/>
      </p:nvGrpSpPr>
      <p:grpSpPr>
        <a:xfrm>
          <a:off x="0" y="0"/>
          <a:ext cx="0" cy="0"/>
          <a:chOff x="0" y="0"/>
          <a:chExt cx="0" cy="0"/>
        </a:xfrm>
      </p:grpSpPr>
      <p:sp>
        <p:nvSpPr>
          <p:cNvPr id="3020" name="Google Shape;3020;p13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21" name="Google Shape;3021;p13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22" name="Google Shape;3022;p13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39" name="Shape 3039"/>
        <p:cNvGrpSpPr/>
        <p:nvPr/>
      </p:nvGrpSpPr>
      <p:grpSpPr>
        <a:xfrm>
          <a:off x="0" y="0"/>
          <a:ext cx="0" cy="0"/>
          <a:chOff x="0" y="0"/>
          <a:chExt cx="0" cy="0"/>
        </a:xfrm>
      </p:grpSpPr>
      <p:sp>
        <p:nvSpPr>
          <p:cNvPr id="3040" name="Google Shape;3040;p13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41" name="Google Shape;3041;p1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42" name="Google Shape;3042;p1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59" name="Shape 3059"/>
        <p:cNvGrpSpPr/>
        <p:nvPr/>
      </p:nvGrpSpPr>
      <p:grpSpPr>
        <a:xfrm>
          <a:off x="0" y="0"/>
          <a:ext cx="0" cy="0"/>
          <a:chOff x="0" y="0"/>
          <a:chExt cx="0" cy="0"/>
        </a:xfrm>
      </p:grpSpPr>
      <p:sp>
        <p:nvSpPr>
          <p:cNvPr id="3060" name="Google Shape;3060;p13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61" name="Google Shape;3061;p13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62" name="Google Shape;3062;p1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79" name="Shape 3079"/>
        <p:cNvGrpSpPr/>
        <p:nvPr/>
      </p:nvGrpSpPr>
      <p:grpSpPr>
        <a:xfrm>
          <a:off x="0" y="0"/>
          <a:ext cx="0" cy="0"/>
          <a:chOff x="0" y="0"/>
          <a:chExt cx="0" cy="0"/>
        </a:xfrm>
      </p:grpSpPr>
      <p:sp>
        <p:nvSpPr>
          <p:cNvPr id="3080" name="Google Shape;3080;p13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81" name="Google Shape;3081;p1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82" name="Google Shape;3082;p1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19" name="Shape 3119"/>
        <p:cNvGrpSpPr/>
        <p:nvPr/>
      </p:nvGrpSpPr>
      <p:grpSpPr>
        <a:xfrm>
          <a:off x="0" y="0"/>
          <a:ext cx="0" cy="0"/>
          <a:chOff x="0" y="0"/>
          <a:chExt cx="0" cy="0"/>
        </a:xfrm>
      </p:grpSpPr>
      <p:sp>
        <p:nvSpPr>
          <p:cNvPr id="3120" name="Google Shape;3120;p14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121" name="Google Shape;3121;p1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22" name="Google Shape;3122;p1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39" name="Shape 3139"/>
        <p:cNvGrpSpPr/>
        <p:nvPr/>
      </p:nvGrpSpPr>
      <p:grpSpPr>
        <a:xfrm>
          <a:off x="0" y="0"/>
          <a:ext cx="0" cy="0"/>
          <a:chOff x="0" y="0"/>
          <a:chExt cx="0" cy="0"/>
        </a:xfrm>
      </p:grpSpPr>
      <p:sp>
        <p:nvSpPr>
          <p:cNvPr id="3140" name="Google Shape;3140;p14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141" name="Google Shape;3141;p14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42" name="Google Shape;3142;p14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59" name="Shape 3159"/>
        <p:cNvGrpSpPr/>
        <p:nvPr/>
      </p:nvGrpSpPr>
      <p:grpSpPr>
        <a:xfrm>
          <a:off x="0" y="0"/>
          <a:ext cx="0" cy="0"/>
          <a:chOff x="0" y="0"/>
          <a:chExt cx="0" cy="0"/>
        </a:xfrm>
      </p:grpSpPr>
      <p:sp>
        <p:nvSpPr>
          <p:cNvPr id="3160" name="Google Shape;3160;p14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161" name="Google Shape;3161;p1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62" name="Google Shape;3162;p1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79" name="Shape 3179"/>
        <p:cNvGrpSpPr/>
        <p:nvPr/>
      </p:nvGrpSpPr>
      <p:grpSpPr>
        <a:xfrm>
          <a:off x="0" y="0"/>
          <a:ext cx="0" cy="0"/>
          <a:chOff x="0" y="0"/>
          <a:chExt cx="0" cy="0"/>
        </a:xfrm>
      </p:grpSpPr>
      <p:sp>
        <p:nvSpPr>
          <p:cNvPr id="3180" name="Google Shape;3180;p144: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181" name="Google Shape;3181;p1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82" name="Google Shape;3182;p1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99" name="Shape 3199"/>
        <p:cNvGrpSpPr/>
        <p:nvPr/>
      </p:nvGrpSpPr>
      <p:grpSpPr>
        <a:xfrm>
          <a:off x="0" y="0"/>
          <a:ext cx="0" cy="0"/>
          <a:chOff x="0" y="0"/>
          <a:chExt cx="0" cy="0"/>
        </a:xfrm>
      </p:grpSpPr>
      <p:sp>
        <p:nvSpPr>
          <p:cNvPr id="3200" name="Google Shape;3200;p14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01" name="Google Shape;3201;p1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02" name="Google Shape;3202;p1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19" name="Shape 3219"/>
        <p:cNvGrpSpPr/>
        <p:nvPr/>
      </p:nvGrpSpPr>
      <p:grpSpPr>
        <a:xfrm>
          <a:off x="0" y="0"/>
          <a:ext cx="0" cy="0"/>
          <a:chOff x="0" y="0"/>
          <a:chExt cx="0" cy="0"/>
        </a:xfrm>
      </p:grpSpPr>
      <p:sp>
        <p:nvSpPr>
          <p:cNvPr id="3220" name="Google Shape;3220;p14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21" name="Google Shape;3221;p1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22" name="Google Shape;3222;p14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39" name="Shape 3239"/>
        <p:cNvGrpSpPr/>
        <p:nvPr/>
      </p:nvGrpSpPr>
      <p:grpSpPr>
        <a:xfrm>
          <a:off x="0" y="0"/>
          <a:ext cx="0" cy="0"/>
          <a:chOff x="0" y="0"/>
          <a:chExt cx="0" cy="0"/>
        </a:xfrm>
      </p:grpSpPr>
      <p:sp>
        <p:nvSpPr>
          <p:cNvPr id="3240" name="Google Shape;3240;p14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41" name="Google Shape;3241;p1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42" name="Google Shape;3242;p1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59" name="Shape 3259"/>
        <p:cNvGrpSpPr/>
        <p:nvPr/>
      </p:nvGrpSpPr>
      <p:grpSpPr>
        <a:xfrm>
          <a:off x="0" y="0"/>
          <a:ext cx="0" cy="0"/>
          <a:chOff x="0" y="0"/>
          <a:chExt cx="0" cy="0"/>
        </a:xfrm>
      </p:grpSpPr>
      <p:sp>
        <p:nvSpPr>
          <p:cNvPr id="3260" name="Google Shape;3260;p14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61" name="Google Shape;3261;p1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62" name="Google Shape;3262;p1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1450" lvl="0" marL="171450" rtl="0" algn="l">
              <a:lnSpc>
                <a:spcPct val="95000"/>
              </a:lnSpc>
              <a:spcBef>
                <a:spcPts val="0"/>
              </a:spcBef>
              <a:spcAft>
                <a:spcPts val="0"/>
              </a:spcAft>
              <a:buClr>
                <a:schemeClr val="dk1"/>
              </a:buClr>
              <a:buSzPts val="1200"/>
              <a:buFont typeface="Arial"/>
              <a:buChar char="•"/>
            </a:pPr>
            <a:r>
              <a:rPr lang="en-GB" sz="1200"/>
              <a:t>n-tree analysis：Capture cooperation customer's accounts transaction behavior characteristics, and build the  fund chain view of core enterprises at both account level  and customer level;</a:t>
            </a:r>
            <a:endParaRPr/>
          </a:p>
          <a:p>
            <a:pPr indent="-171450" lvl="0" marL="171450" rtl="0" algn="l">
              <a:lnSpc>
                <a:spcPct val="95000"/>
              </a:lnSpc>
              <a:spcBef>
                <a:spcPts val="400"/>
              </a:spcBef>
              <a:spcAft>
                <a:spcPts val="0"/>
              </a:spcAft>
              <a:buClr>
                <a:schemeClr val="dk1"/>
              </a:buClr>
              <a:buSzPts val="1200"/>
              <a:buFont typeface="Arial"/>
              <a:buChar char="•"/>
            </a:pPr>
            <a:r>
              <a:rPr lang="en-GB" sz="1200"/>
              <a:t>Path Analysis：explore the rules of account transfer and settlement mode between the core cooperation and other relative enterprises. </a:t>
            </a:r>
            <a:endParaRPr/>
          </a:p>
          <a:p>
            <a:pPr indent="-171450" lvl="0" marL="171450" rtl="0" algn="l">
              <a:lnSpc>
                <a:spcPct val="95000"/>
              </a:lnSpc>
              <a:spcBef>
                <a:spcPts val="400"/>
              </a:spcBef>
              <a:spcAft>
                <a:spcPts val="0"/>
              </a:spcAft>
              <a:buClr>
                <a:schemeClr val="dk1"/>
              </a:buClr>
              <a:buSzPts val="1200"/>
              <a:buFont typeface="Arial"/>
              <a:buChar char="•"/>
            </a:pPr>
            <a:r>
              <a:rPr lang="en-GB" sz="1200"/>
              <a:t>Analyze the distribution rules of the up- and down-stream enterprise risk grade, regional and industry.</a:t>
            </a:r>
            <a:endParaRPr/>
          </a:p>
          <a:p>
            <a:pPr indent="-95250" lvl="0" marL="171450" rtl="0" algn="l">
              <a:lnSpc>
                <a:spcPct val="95000"/>
              </a:lnSpc>
              <a:spcBef>
                <a:spcPts val="400"/>
              </a:spcBef>
              <a:spcAft>
                <a:spcPts val="0"/>
              </a:spcAft>
              <a:buClr>
                <a:schemeClr val="dk1"/>
              </a:buClr>
              <a:buSzPts val="1200"/>
              <a:buFont typeface="Arial"/>
              <a:buNone/>
            </a:pPr>
            <a:r>
              <a:t/>
            </a:r>
            <a:endParaRPr sz="1200"/>
          </a:p>
          <a:p>
            <a:pPr indent="-171450" lvl="0" marL="171450" rtl="0" algn="l">
              <a:lnSpc>
                <a:spcPct val="90000"/>
              </a:lnSpc>
              <a:spcBef>
                <a:spcPts val="400"/>
              </a:spcBef>
              <a:spcAft>
                <a:spcPts val="0"/>
              </a:spcAft>
              <a:buClr>
                <a:schemeClr val="dk1"/>
              </a:buClr>
              <a:buSzPts val="1200"/>
              <a:buFont typeface="Arial"/>
              <a:buChar char="•"/>
            </a:pPr>
            <a:r>
              <a:rPr lang="en-GB" sz="1200"/>
              <a:t>Supply chain finance belongs to  structured finance, and its financial solution is not an isolated credit approval process regarding a single customer, but based on a full picture of  a specific supply chain customers, including transaction information of customers, customer relationships, core cooperates and their up-and downstream counterparties, etc;</a:t>
            </a:r>
            <a:endParaRPr/>
          </a:p>
          <a:p>
            <a:pPr indent="-171450" lvl="0" marL="171450" rtl="0" algn="l">
              <a:lnSpc>
                <a:spcPct val="90000"/>
              </a:lnSpc>
              <a:spcBef>
                <a:spcPts val="1000"/>
              </a:spcBef>
              <a:spcAft>
                <a:spcPts val="0"/>
              </a:spcAft>
              <a:buClr>
                <a:schemeClr val="dk1"/>
              </a:buClr>
              <a:buSzPts val="1200"/>
              <a:buFont typeface="Arial"/>
              <a:buChar char="•"/>
            </a:pPr>
            <a:r>
              <a:rPr lang="en-GB" sz="1200"/>
              <a:t>For risk management purpose，it is important to understand how the fund flows among all the related parties within the supply chain, and establish  a view of financial networks, which is to review the risk distribution of all related parties, rather than just the counterparties from one side;</a:t>
            </a:r>
            <a:endParaRPr/>
          </a:p>
          <a:p>
            <a:pPr indent="-95250" lvl="0" marL="171450" rtl="0" algn="l">
              <a:lnSpc>
                <a:spcPct val="95000"/>
              </a:lnSpc>
              <a:spcBef>
                <a:spcPts val="1000"/>
              </a:spcBef>
              <a:spcAft>
                <a:spcPts val="0"/>
              </a:spcAft>
              <a:buClr>
                <a:schemeClr val="dk1"/>
              </a:buClr>
              <a:buSzPts val="1200"/>
              <a:buFont typeface="Arial"/>
              <a:buNone/>
            </a:pPr>
            <a:r>
              <a:t/>
            </a:r>
            <a:endParaRPr sz="1200"/>
          </a:p>
          <a:p>
            <a:pPr indent="-96838" lvl="0" marL="173038" rtl="0" algn="l">
              <a:lnSpc>
                <a:spcPct val="95000"/>
              </a:lnSpc>
              <a:spcBef>
                <a:spcPts val="400"/>
              </a:spcBef>
              <a:spcAft>
                <a:spcPts val="0"/>
              </a:spcAft>
              <a:buClr>
                <a:schemeClr val="dk1"/>
              </a:buClr>
              <a:buSzPts val="1200"/>
              <a:buNone/>
            </a:pPr>
            <a:r>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95" name="Shape 3295"/>
        <p:cNvGrpSpPr/>
        <p:nvPr/>
      </p:nvGrpSpPr>
      <p:grpSpPr>
        <a:xfrm>
          <a:off x="0" y="0"/>
          <a:ext cx="0" cy="0"/>
          <a:chOff x="0" y="0"/>
          <a:chExt cx="0" cy="0"/>
        </a:xfrm>
      </p:grpSpPr>
      <p:sp>
        <p:nvSpPr>
          <p:cNvPr id="3296" name="Google Shape;3296;p15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97" name="Google Shape;3297;p1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98" name="Google Shape;3298;p1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15" name="Shape 3315"/>
        <p:cNvGrpSpPr/>
        <p:nvPr/>
      </p:nvGrpSpPr>
      <p:grpSpPr>
        <a:xfrm>
          <a:off x="0" y="0"/>
          <a:ext cx="0" cy="0"/>
          <a:chOff x="0" y="0"/>
          <a:chExt cx="0" cy="0"/>
        </a:xfrm>
      </p:grpSpPr>
      <p:sp>
        <p:nvSpPr>
          <p:cNvPr id="3316" name="Google Shape;3316;p15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317" name="Google Shape;3317;p1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18" name="Google Shape;3318;p1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41" name="Shape 3341"/>
        <p:cNvGrpSpPr/>
        <p:nvPr/>
      </p:nvGrpSpPr>
      <p:grpSpPr>
        <a:xfrm>
          <a:off x="0" y="0"/>
          <a:ext cx="0" cy="0"/>
          <a:chOff x="0" y="0"/>
          <a:chExt cx="0" cy="0"/>
        </a:xfrm>
      </p:grpSpPr>
      <p:sp>
        <p:nvSpPr>
          <p:cNvPr id="3342" name="Google Shape;3342;p15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343" name="Google Shape;3343;p1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44" name="Google Shape;3344;p1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61" name="Shape 3361"/>
        <p:cNvGrpSpPr/>
        <p:nvPr/>
      </p:nvGrpSpPr>
      <p:grpSpPr>
        <a:xfrm>
          <a:off x="0" y="0"/>
          <a:ext cx="0" cy="0"/>
          <a:chOff x="0" y="0"/>
          <a:chExt cx="0" cy="0"/>
        </a:xfrm>
      </p:grpSpPr>
      <p:sp>
        <p:nvSpPr>
          <p:cNvPr id="3362" name="Google Shape;3362;p154:notes"/>
          <p:cNvSpPr txBox="1"/>
          <p:nvPr>
            <p:ph idx="12" type="sldNum"/>
          </p:nvPr>
        </p:nvSpPr>
        <p:spPr>
          <a:xfrm>
            <a:off x="3885011"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363" name="Google Shape;3363;p1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64" name="Google Shape;3364;p1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81" name="Shape 3381"/>
        <p:cNvGrpSpPr/>
        <p:nvPr/>
      </p:nvGrpSpPr>
      <p:grpSpPr>
        <a:xfrm>
          <a:off x="0" y="0"/>
          <a:ext cx="0" cy="0"/>
          <a:chOff x="0" y="0"/>
          <a:chExt cx="0" cy="0"/>
        </a:xfrm>
      </p:grpSpPr>
      <p:sp>
        <p:nvSpPr>
          <p:cNvPr id="3382" name="Google Shape;3382;p15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383" name="Google Shape;3383;p1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84" name="Google Shape;3384;p1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01" name="Shape 3401"/>
        <p:cNvGrpSpPr/>
        <p:nvPr/>
      </p:nvGrpSpPr>
      <p:grpSpPr>
        <a:xfrm>
          <a:off x="0" y="0"/>
          <a:ext cx="0" cy="0"/>
          <a:chOff x="0" y="0"/>
          <a:chExt cx="0" cy="0"/>
        </a:xfrm>
      </p:grpSpPr>
      <p:sp>
        <p:nvSpPr>
          <p:cNvPr id="3402" name="Google Shape;3402;p15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03" name="Google Shape;3403;p1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04" name="Google Shape;3404;p1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21" name="Shape 3421"/>
        <p:cNvGrpSpPr/>
        <p:nvPr/>
      </p:nvGrpSpPr>
      <p:grpSpPr>
        <a:xfrm>
          <a:off x="0" y="0"/>
          <a:ext cx="0" cy="0"/>
          <a:chOff x="0" y="0"/>
          <a:chExt cx="0" cy="0"/>
        </a:xfrm>
      </p:grpSpPr>
      <p:sp>
        <p:nvSpPr>
          <p:cNvPr id="3422" name="Google Shape;3422;p15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23" name="Google Shape;3423;p1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24" name="Google Shape;3424;p1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41" name="Shape 3441"/>
        <p:cNvGrpSpPr/>
        <p:nvPr/>
      </p:nvGrpSpPr>
      <p:grpSpPr>
        <a:xfrm>
          <a:off x="0" y="0"/>
          <a:ext cx="0" cy="0"/>
          <a:chOff x="0" y="0"/>
          <a:chExt cx="0" cy="0"/>
        </a:xfrm>
      </p:grpSpPr>
      <p:sp>
        <p:nvSpPr>
          <p:cNvPr id="3442" name="Google Shape;3442;p15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43" name="Google Shape;3443;p1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44" name="Google Shape;3444;p1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61" name="Shape 3461"/>
        <p:cNvGrpSpPr/>
        <p:nvPr/>
      </p:nvGrpSpPr>
      <p:grpSpPr>
        <a:xfrm>
          <a:off x="0" y="0"/>
          <a:ext cx="0" cy="0"/>
          <a:chOff x="0" y="0"/>
          <a:chExt cx="0" cy="0"/>
        </a:xfrm>
      </p:grpSpPr>
      <p:sp>
        <p:nvSpPr>
          <p:cNvPr id="3462" name="Google Shape;3462;p15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63" name="Google Shape;3463;p1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64" name="Google Shape;3464;p1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81" name="Shape 3481"/>
        <p:cNvGrpSpPr/>
        <p:nvPr/>
      </p:nvGrpSpPr>
      <p:grpSpPr>
        <a:xfrm>
          <a:off x="0" y="0"/>
          <a:ext cx="0" cy="0"/>
          <a:chOff x="0" y="0"/>
          <a:chExt cx="0" cy="0"/>
        </a:xfrm>
      </p:grpSpPr>
      <p:sp>
        <p:nvSpPr>
          <p:cNvPr id="3482" name="Google Shape;3482;p16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83" name="Google Shape;3483;p1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84" name="Google Shape;3484;p1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01" name="Shape 3501"/>
        <p:cNvGrpSpPr/>
        <p:nvPr/>
      </p:nvGrpSpPr>
      <p:grpSpPr>
        <a:xfrm>
          <a:off x="0" y="0"/>
          <a:ext cx="0" cy="0"/>
          <a:chOff x="0" y="0"/>
          <a:chExt cx="0" cy="0"/>
        </a:xfrm>
      </p:grpSpPr>
      <p:sp>
        <p:nvSpPr>
          <p:cNvPr id="3502" name="Google Shape;3502;p16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03" name="Google Shape;3503;p1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04" name="Google Shape;3504;p1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21" name="Shape 3521"/>
        <p:cNvGrpSpPr/>
        <p:nvPr/>
      </p:nvGrpSpPr>
      <p:grpSpPr>
        <a:xfrm>
          <a:off x="0" y="0"/>
          <a:ext cx="0" cy="0"/>
          <a:chOff x="0" y="0"/>
          <a:chExt cx="0" cy="0"/>
        </a:xfrm>
      </p:grpSpPr>
      <p:sp>
        <p:nvSpPr>
          <p:cNvPr id="3522" name="Google Shape;3522;p16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23" name="Google Shape;3523;p1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24" name="Google Shape;3524;p1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47" name="Shape 3547"/>
        <p:cNvGrpSpPr/>
        <p:nvPr/>
      </p:nvGrpSpPr>
      <p:grpSpPr>
        <a:xfrm>
          <a:off x="0" y="0"/>
          <a:ext cx="0" cy="0"/>
          <a:chOff x="0" y="0"/>
          <a:chExt cx="0" cy="0"/>
        </a:xfrm>
      </p:grpSpPr>
      <p:sp>
        <p:nvSpPr>
          <p:cNvPr id="3548" name="Google Shape;3548;p16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49" name="Google Shape;3549;p1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50" name="Google Shape;3550;p1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67" name="Shape 3567"/>
        <p:cNvGrpSpPr/>
        <p:nvPr/>
      </p:nvGrpSpPr>
      <p:grpSpPr>
        <a:xfrm>
          <a:off x="0" y="0"/>
          <a:ext cx="0" cy="0"/>
          <a:chOff x="0" y="0"/>
          <a:chExt cx="0" cy="0"/>
        </a:xfrm>
      </p:grpSpPr>
      <p:sp>
        <p:nvSpPr>
          <p:cNvPr id="3568" name="Google Shape;3568;p16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569" name="Google Shape;3569;p1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70" name="Google Shape;3570;p1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87" name="Shape 3587"/>
        <p:cNvGrpSpPr/>
        <p:nvPr/>
      </p:nvGrpSpPr>
      <p:grpSpPr>
        <a:xfrm>
          <a:off x="0" y="0"/>
          <a:ext cx="0" cy="0"/>
          <a:chOff x="0" y="0"/>
          <a:chExt cx="0" cy="0"/>
        </a:xfrm>
      </p:grpSpPr>
      <p:sp>
        <p:nvSpPr>
          <p:cNvPr id="3588" name="Google Shape;3588;p16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89" name="Google Shape;3589;p1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90" name="Google Shape;3590;p1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07" name="Shape 3607"/>
        <p:cNvGrpSpPr/>
        <p:nvPr/>
      </p:nvGrpSpPr>
      <p:grpSpPr>
        <a:xfrm>
          <a:off x="0" y="0"/>
          <a:ext cx="0" cy="0"/>
          <a:chOff x="0" y="0"/>
          <a:chExt cx="0" cy="0"/>
        </a:xfrm>
      </p:grpSpPr>
      <p:sp>
        <p:nvSpPr>
          <p:cNvPr id="3608" name="Google Shape;3608;p16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09" name="Google Shape;3609;p1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10" name="Google Shape;3610;p1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27" name="Shape 3627"/>
        <p:cNvGrpSpPr/>
        <p:nvPr/>
      </p:nvGrpSpPr>
      <p:grpSpPr>
        <a:xfrm>
          <a:off x="0" y="0"/>
          <a:ext cx="0" cy="0"/>
          <a:chOff x="0" y="0"/>
          <a:chExt cx="0" cy="0"/>
        </a:xfrm>
      </p:grpSpPr>
      <p:sp>
        <p:nvSpPr>
          <p:cNvPr id="3628" name="Google Shape;3628;p16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29" name="Google Shape;3629;p1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30" name="Google Shape;3630;p1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48" name="Shape 3648"/>
        <p:cNvGrpSpPr/>
        <p:nvPr/>
      </p:nvGrpSpPr>
      <p:grpSpPr>
        <a:xfrm>
          <a:off x="0" y="0"/>
          <a:ext cx="0" cy="0"/>
          <a:chOff x="0" y="0"/>
          <a:chExt cx="0" cy="0"/>
        </a:xfrm>
      </p:grpSpPr>
      <p:sp>
        <p:nvSpPr>
          <p:cNvPr id="3649" name="Google Shape;3649;p16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50" name="Google Shape;3650;p1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51" name="Google Shape;3651;p1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68" name="Shape 3668"/>
        <p:cNvGrpSpPr/>
        <p:nvPr/>
      </p:nvGrpSpPr>
      <p:grpSpPr>
        <a:xfrm>
          <a:off x="0" y="0"/>
          <a:ext cx="0" cy="0"/>
          <a:chOff x="0" y="0"/>
          <a:chExt cx="0" cy="0"/>
        </a:xfrm>
      </p:grpSpPr>
      <p:sp>
        <p:nvSpPr>
          <p:cNvPr id="3669" name="Google Shape;3669;p170: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670" name="Google Shape;3670;p1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71" name="Google Shape;3671;p1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88" name="Shape 3688"/>
        <p:cNvGrpSpPr/>
        <p:nvPr/>
      </p:nvGrpSpPr>
      <p:grpSpPr>
        <a:xfrm>
          <a:off x="0" y="0"/>
          <a:ext cx="0" cy="0"/>
          <a:chOff x="0" y="0"/>
          <a:chExt cx="0" cy="0"/>
        </a:xfrm>
      </p:grpSpPr>
      <p:sp>
        <p:nvSpPr>
          <p:cNvPr id="3689" name="Google Shape;3689;p17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90" name="Google Shape;3690;p1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91" name="Google Shape;3691;p1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08" name="Shape 3708"/>
        <p:cNvGrpSpPr/>
        <p:nvPr/>
      </p:nvGrpSpPr>
      <p:grpSpPr>
        <a:xfrm>
          <a:off x="0" y="0"/>
          <a:ext cx="0" cy="0"/>
          <a:chOff x="0" y="0"/>
          <a:chExt cx="0" cy="0"/>
        </a:xfrm>
      </p:grpSpPr>
      <p:sp>
        <p:nvSpPr>
          <p:cNvPr id="3709" name="Google Shape;3709;p17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10" name="Google Shape;3710;p1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11" name="Google Shape;3711;p1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28" name="Shape 3728"/>
        <p:cNvGrpSpPr/>
        <p:nvPr/>
      </p:nvGrpSpPr>
      <p:grpSpPr>
        <a:xfrm>
          <a:off x="0" y="0"/>
          <a:ext cx="0" cy="0"/>
          <a:chOff x="0" y="0"/>
          <a:chExt cx="0" cy="0"/>
        </a:xfrm>
      </p:grpSpPr>
      <p:sp>
        <p:nvSpPr>
          <p:cNvPr id="3729" name="Google Shape;3729;p173: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730" name="Google Shape;3730;p1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31" name="Google Shape;3731;p17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48" name="Shape 3748"/>
        <p:cNvGrpSpPr/>
        <p:nvPr/>
      </p:nvGrpSpPr>
      <p:grpSpPr>
        <a:xfrm>
          <a:off x="0" y="0"/>
          <a:ext cx="0" cy="0"/>
          <a:chOff x="0" y="0"/>
          <a:chExt cx="0" cy="0"/>
        </a:xfrm>
      </p:grpSpPr>
      <p:sp>
        <p:nvSpPr>
          <p:cNvPr id="3749" name="Google Shape;3749;p17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50" name="Google Shape;3750;p1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51" name="Google Shape;3751;p1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68" name="Shape 3768"/>
        <p:cNvGrpSpPr/>
        <p:nvPr/>
      </p:nvGrpSpPr>
      <p:grpSpPr>
        <a:xfrm>
          <a:off x="0" y="0"/>
          <a:ext cx="0" cy="0"/>
          <a:chOff x="0" y="0"/>
          <a:chExt cx="0" cy="0"/>
        </a:xfrm>
      </p:grpSpPr>
      <p:sp>
        <p:nvSpPr>
          <p:cNvPr id="3769" name="Google Shape;3769;p17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70" name="Google Shape;3770;p1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71" name="Google Shape;3771;p1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88" name="Shape 3788"/>
        <p:cNvGrpSpPr/>
        <p:nvPr/>
      </p:nvGrpSpPr>
      <p:grpSpPr>
        <a:xfrm>
          <a:off x="0" y="0"/>
          <a:ext cx="0" cy="0"/>
          <a:chOff x="0" y="0"/>
          <a:chExt cx="0" cy="0"/>
        </a:xfrm>
      </p:grpSpPr>
      <p:sp>
        <p:nvSpPr>
          <p:cNvPr id="3789" name="Google Shape;3789;p17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90" name="Google Shape;3790;p1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91" name="Google Shape;3791;p1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08" name="Shape 3808"/>
        <p:cNvGrpSpPr/>
        <p:nvPr/>
      </p:nvGrpSpPr>
      <p:grpSpPr>
        <a:xfrm>
          <a:off x="0" y="0"/>
          <a:ext cx="0" cy="0"/>
          <a:chOff x="0" y="0"/>
          <a:chExt cx="0" cy="0"/>
        </a:xfrm>
      </p:grpSpPr>
      <p:sp>
        <p:nvSpPr>
          <p:cNvPr id="3809" name="Google Shape;3809;p17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10" name="Google Shape;3810;p1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11" name="Google Shape;3811;p1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28" name="Shape 3828"/>
        <p:cNvGrpSpPr/>
        <p:nvPr/>
      </p:nvGrpSpPr>
      <p:grpSpPr>
        <a:xfrm>
          <a:off x="0" y="0"/>
          <a:ext cx="0" cy="0"/>
          <a:chOff x="0" y="0"/>
          <a:chExt cx="0" cy="0"/>
        </a:xfrm>
      </p:grpSpPr>
      <p:sp>
        <p:nvSpPr>
          <p:cNvPr id="3829" name="Google Shape;3829;p17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30" name="Google Shape;3830;p1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31" name="Google Shape;3831;p1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48" name="Shape 3848"/>
        <p:cNvGrpSpPr/>
        <p:nvPr/>
      </p:nvGrpSpPr>
      <p:grpSpPr>
        <a:xfrm>
          <a:off x="0" y="0"/>
          <a:ext cx="0" cy="0"/>
          <a:chOff x="0" y="0"/>
          <a:chExt cx="0" cy="0"/>
        </a:xfrm>
      </p:grpSpPr>
      <p:sp>
        <p:nvSpPr>
          <p:cNvPr id="3849" name="Google Shape;3849;p179: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850" name="Google Shape;3850;p1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51" name="Google Shape;3851;p1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68" name="Shape 3868"/>
        <p:cNvGrpSpPr/>
        <p:nvPr/>
      </p:nvGrpSpPr>
      <p:grpSpPr>
        <a:xfrm>
          <a:off x="0" y="0"/>
          <a:ext cx="0" cy="0"/>
          <a:chOff x="0" y="0"/>
          <a:chExt cx="0" cy="0"/>
        </a:xfrm>
      </p:grpSpPr>
      <p:sp>
        <p:nvSpPr>
          <p:cNvPr id="3869" name="Google Shape;3869;p180:notes"/>
          <p:cNvSpPr txBox="1"/>
          <p:nvPr>
            <p:ph idx="12" type="sldNum"/>
          </p:nvPr>
        </p:nvSpPr>
        <p:spPr>
          <a:xfrm>
            <a:off x="3885011"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70" name="Google Shape;3870;p1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71" name="Google Shape;3871;p18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88" name="Shape 3888"/>
        <p:cNvGrpSpPr/>
        <p:nvPr/>
      </p:nvGrpSpPr>
      <p:grpSpPr>
        <a:xfrm>
          <a:off x="0" y="0"/>
          <a:ext cx="0" cy="0"/>
          <a:chOff x="0" y="0"/>
          <a:chExt cx="0" cy="0"/>
        </a:xfrm>
      </p:grpSpPr>
      <p:sp>
        <p:nvSpPr>
          <p:cNvPr id="3889" name="Google Shape;3889;p18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90" name="Google Shape;3890;p1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91" name="Google Shape;3891;p18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08" name="Shape 3908"/>
        <p:cNvGrpSpPr/>
        <p:nvPr/>
      </p:nvGrpSpPr>
      <p:grpSpPr>
        <a:xfrm>
          <a:off x="0" y="0"/>
          <a:ext cx="0" cy="0"/>
          <a:chOff x="0" y="0"/>
          <a:chExt cx="0" cy="0"/>
        </a:xfrm>
      </p:grpSpPr>
      <p:sp>
        <p:nvSpPr>
          <p:cNvPr id="3909" name="Google Shape;3909;p182: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910" name="Google Shape;3910;p1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911" name="Google Shape;3911;p18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28" name="Shape 3928"/>
        <p:cNvGrpSpPr/>
        <p:nvPr/>
      </p:nvGrpSpPr>
      <p:grpSpPr>
        <a:xfrm>
          <a:off x="0" y="0"/>
          <a:ext cx="0" cy="0"/>
          <a:chOff x="0" y="0"/>
          <a:chExt cx="0" cy="0"/>
        </a:xfrm>
      </p:grpSpPr>
      <p:sp>
        <p:nvSpPr>
          <p:cNvPr id="3929" name="Google Shape;3929;p1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30" name="Google Shape;3930;p18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31" name="Google Shape;3931;p18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52" name="Shape 3952"/>
        <p:cNvGrpSpPr/>
        <p:nvPr/>
      </p:nvGrpSpPr>
      <p:grpSpPr>
        <a:xfrm>
          <a:off x="0" y="0"/>
          <a:ext cx="0" cy="0"/>
          <a:chOff x="0" y="0"/>
          <a:chExt cx="0" cy="0"/>
        </a:xfrm>
      </p:grpSpPr>
      <p:sp>
        <p:nvSpPr>
          <p:cNvPr id="3953" name="Google Shape;3953;p1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54" name="Google Shape;3954;p18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55" name="Google Shape;3955;p18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82" name="Shape 3982"/>
        <p:cNvGrpSpPr/>
        <p:nvPr/>
      </p:nvGrpSpPr>
      <p:grpSpPr>
        <a:xfrm>
          <a:off x="0" y="0"/>
          <a:ext cx="0" cy="0"/>
          <a:chOff x="0" y="0"/>
          <a:chExt cx="0" cy="0"/>
        </a:xfrm>
      </p:grpSpPr>
      <p:sp>
        <p:nvSpPr>
          <p:cNvPr id="3983" name="Google Shape;3983;p1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84" name="Google Shape;3984;p1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85" name="Google Shape;3985;p18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13" name="Shape 4013"/>
        <p:cNvGrpSpPr/>
        <p:nvPr/>
      </p:nvGrpSpPr>
      <p:grpSpPr>
        <a:xfrm>
          <a:off x="0" y="0"/>
          <a:ext cx="0" cy="0"/>
          <a:chOff x="0" y="0"/>
          <a:chExt cx="0" cy="0"/>
        </a:xfrm>
      </p:grpSpPr>
      <p:sp>
        <p:nvSpPr>
          <p:cNvPr id="4014" name="Google Shape;4014;p1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015" name="Google Shape;4015;p1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016" name="Google Shape;4016;p18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40" name="Shape 4040"/>
        <p:cNvGrpSpPr/>
        <p:nvPr/>
      </p:nvGrpSpPr>
      <p:grpSpPr>
        <a:xfrm>
          <a:off x="0" y="0"/>
          <a:ext cx="0" cy="0"/>
          <a:chOff x="0" y="0"/>
          <a:chExt cx="0" cy="0"/>
        </a:xfrm>
      </p:grpSpPr>
      <p:sp>
        <p:nvSpPr>
          <p:cNvPr id="4041" name="Google Shape;4041;p18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042" name="Google Shape;4042;p18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043" name="Google Shape;4043;p18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66" name="Shape 4066"/>
        <p:cNvGrpSpPr/>
        <p:nvPr/>
      </p:nvGrpSpPr>
      <p:grpSpPr>
        <a:xfrm>
          <a:off x="0" y="0"/>
          <a:ext cx="0" cy="0"/>
          <a:chOff x="0" y="0"/>
          <a:chExt cx="0" cy="0"/>
        </a:xfrm>
      </p:grpSpPr>
      <p:sp>
        <p:nvSpPr>
          <p:cNvPr id="4067" name="Google Shape;4067;p1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068" name="Google Shape;4068;p1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4069" name="Google Shape;4069;p18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07" name="Shape 4107"/>
        <p:cNvGrpSpPr/>
        <p:nvPr/>
      </p:nvGrpSpPr>
      <p:grpSpPr>
        <a:xfrm>
          <a:off x="0" y="0"/>
          <a:ext cx="0" cy="0"/>
          <a:chOff x="0" y="0"/>
          <a:chExt cx="0" cy="0"/>
        </a:xfrm>
      </p:grpSpPr>
      <p:sp>
        <p:nvSpPr>
          <p:cNvPr id="4108" name="Google Shape;4108;p18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109" name="Google Shape;4109;p1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4110" name="Google Shape;4110;p18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55" name="Shape 4155"/>
        <p:cNvGrpSpPr/>
        <p:nvPr/>
      </p:nvGrpSpPr>
      <p:grpSpPr>
        <a:xfrm>
          <a:off x="0" y="0"/>
          <a:ext cx="0" cy="0"/>
          <a:chOff x="0" y="0"/>
          <a:chExt cx="0" cy="0"/>
        </a:xfrm>
      </p:grpSpPr>
      <p:sp>
        <p:nvSpPr>
          <p:cNvPr id="4156" name="Google Shape;4156;p1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157" name="Google Shape;4157;p1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4158" name="Google Shape;4158;p19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86" name="Shape 4186"/>
        <p:cNvGrpSpPr/>
        <p:nvPr/>
      </p:nvGrpSpPr>
      <p:grpSpPr>
        <a:xfrm>
          <a:off x="0" y="0"/>
          <a:ext cx="0" cy="0"/>
          <a:chOff x="0" y="0"/>
          <a:chExt cx="0" cy="0"/>
        </a:xfrm>
      </p:grpSpPr>
      <p:sp>
        <p:nvSpPr>
          <p:cNvPr id="4187" name="Google Shape;4187;p19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188" name="Google Shape;4188;p19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67" name="Shape 4267"/>
        <p:cNvGrpSpPr/>
        <p:nvPr/>
      </p:nvGrpSpPr>
      <p:grpSpPr>
        <a:xfrm>
          <a:off x="0" y="0"/>
          <a:ext cx="0" cy="0"/>
          <a:chOff x="0" y="0"/>
          <a:chExt cx="0" cy="0"/>
        </a:xfrm>
      </p:grpSpPr>
      <p:sp>
        <p:nvSpPr>
          <p:cNvPr id="4268" name="Google Shape;4268;p19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269" name="Google Shape;4269;p19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81" name="Shape 4281"/>
        <p:cNvGrpSpPr/>
        <p:nvPr/>
      </p:nvGrpSpPr>
      <p:grpSpPr>
        <a:xfrm>
          <a:off x="0" y="0"/>
          <a:ext cx="0" cy="0"/>
          <a:chOff x="0" y="0"/>
          <a:chExt cx="0" cy="0"/>
        </a:xfrm>
      </p:grpSpPr>
      <p:sp>
        <p:nvSpPr>
          <p:cNvPr id="4282" name="Google Shape;4282;p199: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283" name="Google Shape;4283;p1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48" name="Shape 4348"/>
        <p:cNvGrpSpPr/>
        <p:nvPr/>
      </p:nvGrpSpPr>
      <p:grpSpPr>
        <a:xfrm>
          <a:off x="0" y="0"/>
          <a:ext cx="0" cy="0"/>
          <a:chOff x="0" y="0"/>
          <a:chExt cx="0" cy="0"/>
        </a:xfrm>
      </p:grpSpPr>
      <p:sp>
        <p:nvSpPr>
          <p:cNvPr id="4349" name="Google Shape;4349;p20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350" name="Google Shape;4350;p2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351" name="Google Shape;4351;p2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80" name="Shape 4380"/>
        <p:cNvGrpSpPr/>
        <p:nvPr/>
      </p:nvGrpSpPr>
      <p:grpSpPr>
        <a:xfrm>
          <a:off x="0" y="0"/>
          <a:ext cx="0" cy="0"/>
          <a:chOff x="0" y="0"/>
          <a:chExt cx="0" cy="0"/>
        </a:xfrm>
      </p:grpSpPr>
      <p:sp>
        <p:nvSpPr>
          <p:cNvPr id="4381" name="Google Shape;4381;p20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382" name="Google Shape;4382;p2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383" name="Google Shape;4383;p2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12" name="Shape 4412"/>
        <p:cNvGrpSpPr/>
        <p:nvPr/>
      </p:nvGrpSpPr>
      <p:grpSpPr>
        <a:xfrm>
          <a:off x="0" y="0"/>
          <a:ext cx="0" cy="0"/>
          <a:chOff x="0" y="0"/>
          <a:chExt cx="0" cy="0"/>
        </a:xfrm>
      </p:grpSpPr>
      <p:sp>
        <p:nvSpPr>
          <p:cNvPr id="4413" name="Google Shape;4413;p20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14" name="Google Shape;4414;p2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15" name="Google Shape;4415;p2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44" name="Shape 4444"/>
        <p:cNvGrpSpPr/>
        <p:nvPr/>
      </p:nvGrpSpPr>
      <p:grpSpPr>
        <a:xfrm>
          <a:off x="0" y="0"/>
          <a:ext cx="0" cy="0"/>
          <a:chOff x="0" y="0"/>
          <a:chExt cx="0" cy="0"/>
        </a:xfrm>
      </p:grpSpPr>
      <p:sp>
        <p:nvSpPr>
          <p:cNvPr id="4445" name="Google Shape;4445;p21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46" name="Google Shape;4446;p2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47" name="Google Shape;4447;p2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76" name="Shape 4476"/>
        <p:cNvGrpSpPr/>
        <p:nvPr/>
      </p:nvGrpSpPr>
      <p:grpSpPr>
        <a:xfrm>
          <a:off x="0" y="0"/>
          <a:ext cx="0" cy="0"/>
          <a:chOff x="0" y="0"/>
          <a:chExt cx="0" cy="0"/>
        </a:xfrm>
      </p:grpSpPr>
      <p:sp>
        <p:nvSpPr>
          <p:cNvPr id="4477" name="Google Shape;4477;p21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78" name="Google Shape;4478;p2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79" name="Google Shape;4479;p2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08" name="Shape 4508"/>
        <p:cNvGrpSpPr/>
        <p:nvPr/>
      </p:nvGrpSpPr>
      <p:grpSpPr>
        <a:xfrm>
          <a:off x="0" y="0"/>
          <a:ext cx="0" cy="0"/>
          <a:chOff x="0" y="0"/>
          <a:chExt cx="0" cy="0"/>
        </a:xfrm>
      </p:grpSpPr>
      <p:sp>
        <p:nvSpPr>
          <p:cNvPr id="4509" name="Google Shape;4509;p21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10" name="Google Shape;4510;p2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11" name="Google Shape;4511;p2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40" name="Shape 4540"/>
        <p:cNvGrpSpPr/>
        <p:nvPr/>
      </p:nvGrpSpPr>
      <p:grpSpPr>
        <a:xfrm>
          <a:off x="0" y="0"/>
          <a:ext cx="0" cy="0"/>
          <a:chOff x="0" y="0"/>
          <a:chExt cx="0" cy="0"/>
        </a:xfrm>
      </p:grpSpPr>
      <p:sp>
        <p:nvSpPr>
          <p:cNvPr id="4541" name="Google Shape;4541;p21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42" name="Google Shape;4542;p2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43" name="Google Shape;4543;p2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72" name="Shape 4572"/>
        <p:cNvGrpSpPr/>
        <p:nvPr/>
      </p:nvGrpSpPr>
      <p:grpSpPr>
        <a:xfrm>
          <a:off x="0" y="0"/>
          <a:ext cx="0" cy="0"/>
          <a:chOff x="0" y="0"/>
          <a:chExt cx="0" cy="0"/>
        </a:xfrm>
      </p:grpSpPr>
      <p:sp>
        <p:nvSpPr>
          <p:cNvPr id="4573" name="Google Shape;4573;p21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74" name="Google Shape;4574;p2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75" name="Google Shape;4575;p2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04" name="Shape 4604"/>
        <p:cNvGrpSpPr/>
        <p:nvPr/>
      </p:nvGrpSpPr>
      <p:grpSpPr>
        <a:xfrm>
          <a:off x="0" y="0"/>
          <a:ext cx="0" cy="0"/>
          <a:chOff x="0" y="0"/>
          <a:chExt cx="0" cy="0"/>
        </a:xfrm>
      </p:grpSpPr>
      <p:sp>
        <p:nvSpPr>
          <p:cNvPr id="4605" name="Google Shape;4605;p22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606" name="Google Shape;4606;p2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607" name="Google Shape;4607;p2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36" name="Shape 4636"/>
        <p:cNvGrpSpPr/>
        <p:nvPr/>
      </p:nvGrpSpPr>
      <p:grpSpPr>
        <a:xfrm>
          <a:off x="0" y="0"/>
          <a:ext cx="0" cy="0"/>
          <a:chOff x="0" y="0"/>
          <a:chExt cx="0" cy="0"/>
        </a:xfrm>
      </p:grpSpPr>
      <p:sp>
        <p:nvSpPr>
          <p:cNvPr id="4637" name="Google Shape;4637;p22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638" name="Google Shape;4638;p2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639" name="Google Shape;4639;p22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68" name="Shape 4668"/>
        <p:cNvGrpSpPr/>
        <p:nvPr/>
      </p:nvGrpSpPr>
      <p:grpSpPr>
        <a:xfrm>
          <a:off x="0" y="0"/>
          <a:ext cx="0" cy="0"/>
          <a:chOff x="0" y="0"/>
          <a:chExt cx="0" cy="0"/>
        </a:xfrm>
      </p:grpSpPr>
      <p:sp>
        <p:nvSpPr>
          <p:cNvPr id="4669" name="Google Shape;4669;p22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670" name="Google Shape;4670;p2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40" name="Shape 4740"/>
        <p:cNvGrpSpPr/>
        <p:nvPr/>
      </p:nvGrpSpPr>
      <p:grpSpPr>
        <a:xfrm>
          <a:off x="0" y="0"/>
          <a:ext cx="0" cy="0"/>
          <a:chOff x="0" y="0"/>
          <a:chExt cx="0" cy="0"/>
        </a:xfrm>
      </p:grpSpPr>
      <p:sp>
        <p:nvSpPr>
          <p:cNvPr id="4741" name="Google Shape;4741;p22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742" name="Google Shape;4742;p22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743" name="Google Shape;4743;p22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72" name="Shape 4772"/>
        <p:cNvGrpSpPr/>
        <p:nvPr/>
      </p:nvGrpSpPr>
      <p:grpSpPr>
        <a:xfrm>
          <a:off x="0" y="0"/>
          <a:ext cx="0" cy="0"/>
          <a:chOff x="0" y="0"/>
          <a:chExt cx="0" cy="0"/>
        </a:xfrm>
      </p:grpSpPr>
      <p:sp>
        <p:nvSpPr>
          <p:cNvPr id="4773" name="Google Shape;4773;p23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774" name="Google Shape;4774;p23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775" name="Google Shape;4775;p23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04" name="Shape 4804"/>
        <p:cNvGrpSpPr/>
        <p:nvPr/>
      </p:nvGrpSpPr>
      <p:grpSpPr>
        <a:xfrm>
          <a:off x="0" y="0"/>
          <a:ext cx="0" cy="0"/>
          <a:chOff x="0" y="0"/>
          <a:chExt cx="0" cy="0"/>
        </a:xfrm>
      </p:grpSpPr>
      <p:sp>
        <p:nvSpPr>
          <p:cNvPr id="4805" name="Google Shape;4805;p23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06" name="Google Shape;4806;p23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07" name="Google Shape;4807;p23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36" name="Shape 4836"/>
        <p:cNvGrpSpPr/>
        <p:nvPr/>
      </p:nvGrpSpPr>
      <p:grpSpPr>
        <a:xfrm>
          <a:off x="0" y="0"/>
          <a:ext cx="0" cy="0"/>
          <a:chOff x="0" y="0"/>
          <a:chExt cx="0" cy="0"/>
        </a:xfrm>
      </p:grpSpPr>
      <p:sp>
        <p:nvSpPr>
          <p:cNvPr id="4837" name="Google Shape;4837;p23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38" name="Google Shape;4838;p2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39" name="Google Shape;4839;p23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68" name="Shape 4868"/>
        <p:cNvGrpSpPr/>
        <p:nvPr/>
      </p:nvGrpSpPr>
      <p:grpSpPr>
        <a:xfrm>
          <a:off x="0" y="0"/>
          <a:ext cx="0" cy="0"/>
          <a:chOff x="0" y="0"/>
          <a:chExt cx="0" cy="0"/>
        </a:xfrm>
      </p:grpSpPr>
      <p:sp>
        <p:nvSpPr>
          <p:cNvPr id="4869" name="Google Shape;4869;p23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70" name="Google Shape;4870;p2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71" name="Google Shape;4871;p2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00" name="Shape 4900"/>
        <p:cNvGrpSpPr/>
        <p:nvPr/>
      </p:nvGrpSpPr>
      <p:grpSpPr>
        <a:xfrm>
          <a:off x="0" y="0"/>
          <a:ext cx="0" cy="0"/>
          <a:chOff x="0" y="0"/>
          <a:chExt cx="0" cy="0"/>
        </a:xfrm>
      </p:grpSpPr>
      <p:sp>
        <p:nvSpPr>
          <p:cNvPr id="4901" name="Google Shape;4901;p23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02" name="Google Shape;4902;p2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03" name="Google Shape;4903;p2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32" name="Shape 4932"/>
        <p:cNvGrpSpPr/>
        <p:nvPr/>
      </p:nvGrpSpPr>
      <p:grpSpPr>
        <a:xfrm>
          <a:off x="0" y="0"/>
          <a:ext cx="0" cy="0"/>
          <a:chOff x="0" y="0"/>
          <a:chExt cx="0" cy="0"/>
        </a:xfrm>
      </p:grpSpPr>
      <p:sp>
        <p:nvSpPr>
          <p:cNvPr id="4933" name="Google Shape;4933;p24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34" name="Google Shape;4934;p2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35" name="Google Shape;4935;p2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64" name="Shape 4964"/>
        <p:cNvGrpSpPr/>
        <p:nvPr/>
      </p:nvGrpSpPr>
      <p:grpSpPr>
        <a:xfrm>
          <a:off x="0" y="0"/>
          <a:ext cx="0" cy="0"/>
          <a:chOff x="0" y="0"/>
          <a:chExt cx="0" cy="0"/>
        </a:xfrm>
      </p:grpSpPr>
      <p:sp>
        <p:nvSpPr>
          <p:cNvPr id="4965" name="Google Shape;4965;p24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66" name="Google Shape;4966;p2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67" name="Google Shape;4967;p2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96" name="Shape 4996"/>
        <p:cNvGrpSpPr/>
        <p:nvPr/>
      </p:nvGrpSpPr>
      <p:grpSpPr>
        <a:xfrm>
          <a:off x="0" y="0"/>
          <a:ext cx="0" cy="0"/>
          <a:chOff x="0" y="0"/>
          <a:chExt cx="0" cy="0"/>
        </a:xfrm>
      </p:grpSpPr>
      <p:sp>
        <p:nvSpPr>
          <p:cNvPr id="4997" name="Google Shape;4997;p24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98" name="Google Shape;4998;p2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99" name="Google Shape;4999;p2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28" name="Shape 5028"/>
        <p:cNvGrpSpPr/>
        <p:nvPr/>
      </p:nvGrpSpPr>
      <p:grpSpPr>
        <a:xfrm>
          <a:off x="0" y="0"/>
          <a:ext cx="0" cy="0"/>
          <a:chOff x="0" y="0"/>
          <a:chExt cx="0" cy="0"/>
        </a:xfrm>
      </p:grpSpPr>
      <p:sp>
        <p:nvSpPr>
          <p:cNvPr id="5029" name="Google Shape;5029;p24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030" name="Google Shape;5030;p2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031" name="Google Shape;5031;p2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60" name="Shape 5060"/>
        <p:cNvGrpSpPr/>
        <p:nvPr/>
      </p:nvGrpSpPr>
      <p:grpSpPr>
        <a:xfrm>
          <a:off x="0" y="0"/>
          <a:ext cx="0" cy="0"/>
          <a:chOff x="0" y="0"/>
          <a:chExt cx="0" cy="0"/>
        </a:xfrm>
      </p:grpSpPr>
      <p:sp>
        <p:nvSpPr>
          <p:cNvPr id="5061" name="Google Shape;5061;p24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062" name="Google Shape;5062;p2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063" name="Google Shape;5063;p2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92" name="Shape 5092"/>
        <p:cNvGrpSpPr/>
        <p:nvPr/>
      </p:nvGrpSpPr>
      <p:grpSpPr>
        <a:xfrm>
          <a:off x="0" y="0"/>
          <a:ext cx="0" cy="0"/>
          <a:chOff x="0" y="0"/>
          <a:chExt cx="0" cy="0"/>
        </a:xfrm>
      </p:grpSpPr>
      <p:sp>
        <p:nvSpPr>
          <p:cNvPr id="5093" name="Google Shape;5093;p25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5094" name="Google Shape;5094;p2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59" name="Shape 5159"/>
        <p:cNvGrpSpPr/>
        <p:nvPr/>
      </p:nvGrpSpPr>
      <p:grpSpPr>
        <a:xfrm>
          <a:off x="0" y="0"/>
          <a:ext cx="0" cy="0"/>
          <a:chOff x="0" y="0"/>
          <a:chExt cx="0" cy="0"/>
        </a:xfrm>
      </p:grpSpPr>
      <p:sp>
        <p:nvSpPr>
          <p:cNvPr id="5160" name="Google Shape;5160;p25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161" name="Google Shape;5161;p2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162" name="Google Shape;5162;p2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91" name="Shape 5191"/>
        <p:cNvGrpSpPr/>
        <p:nvPr/>
      </p:nvGrpSpPr>
      <p:grpSpPr>
        <a:xfrm>
          <a:off x="0" y="0"/>
          <a:ext cx="0" cy="0"/>
          <a:chOff x="0" y="0"/>
          <a:chExt cx="0" cy="0"/>
        </a:xfrm>
      </p:grpSpPr>
      <p:sp>
        <p:nvSpPr>
          <p:cNvPr id="5192" name="Google Shape;5192;p25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193" name="Google Shape;5193;p2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194" name="Google Shape;5194;p2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23" name="Shape 5223"/>
        <p:cNvGrpSpPr/>
        <p:nvPr/>
      </p:nvGrpSpPr>
      <p:grpSpPr>
        <a:xfrm>
          <a:off x="0" y="0"/>
          <a:ext cx="0" cy="0"/>
          <a:chOff x="0" y="0"/>
          <a:chExt cx="0" cy="0"/>
        </a:xfrm>
      </p:grpSpPr>
      <p:sp>
        <p:nvSpPr>
          <p:cNvPr id="5224" name="Google Shape;5224;p26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25" name="Google Shape;5225;p2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26" name="Google Shape;5226;p2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55" name="Shape 5255"/>
        <p:cNvGrpSpPr/>
        <p:nvPr/>
      </p:nvGrpSpPr>
      <p:grpSpPr>
        <a:xfrm>
          <a:off x="0" y="0"/>
          <a:ext cx="0" cy="0"/>
          <a:chOff x="0" y="0"/>
          <a:chExt cx="0" cy="0"/>
        </a:xfrm>
      </p:grpSpPr>
      <p:sp>
        <p:nvSpPr>
          <p:cNvPr id="5256" name="Google Shape;5256;p26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57" name="Google Shape;5257;p2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58" name="Google Shape;5258;p2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87" name="Shape 5287"/>
        <p:cNvGrpSpPr/>
        <p:nvPr/>
      </p:nvGrpSpPr>
      <p:grpSpPr>
        <a:xfrm>
          <a:off x="0" y="0"/>
          <a:ext cx="0" cy="0"/>
          <a:chOff x="0" y="0"/>
          <a:chExt cx="0" cy="0"/>
        </a:xfrm>
      </p:grpSpPr>
      <p:sp>
        <p:nvSpPr>
          <p:cNvPr id="5288" name="Google Shape;5288;p26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89" name="Google Shape;5289;p2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90" name="Google Shape;5290;p2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19" name="Shape 5319"/>
        <p:cNvGrpSpPr/>
        <p:nvPr/>
      </p:nvGrpSpPr>
      <p:grpSpPr>
        <a:xfrm>
          <a:off x="0" y="0"/>
          <a:ext cx="0" cy="0"/>
          <a:chOff x="0" y="0"/>
          <a:chExt cx="0" cy="0"/>
        </a:xfrm>
      </p:grpSpPr>
      <p:sp>
        <p:nvSpPr>
          <p:cNvPr id="5320" name="Google Shape;5320;p26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321" name="Google Shape;5321;p2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322" name="Google Shape;5322;p2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51" name="Shape 5351"/>
        <p:cNvGrpSpPr/>
        <p:nvPr/>
      </p:nvGrpSpPr>
      <p:grpSpPr>
        <a:xfrm>
          <a:off x="0" y="0"/>
          <a:ext cx="0" cy="0"/>
          <a:chOff x="0" y="0"/>
          <a:chExt cx="0" cy="0"/>
        </a:xfrm>
      </p:grpSpPr>
      <p:sp>
        <p:nvSpPr>
          <p:cNvPr id="5352" name="Google Shape;5352;p26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353" name="Google Shape;5353;p2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354" name="Google Shape;5354;p2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83" name="Shape 5383"/>
        <p:cNvGrpSpPr/>
        <p:nvPr/>
      </p:nvGrpSpPr>
      <p:grpSpPr>
        <a:xfrm>
          <a:off x="0" y="0"/>
          <a:ext cx="0" cy="0"/>
          <a:chOff x="0" y="0"/>
          <a:chExt cx="0" cy="0"/>
        </a:xfrm>
      </p:grpSpPr>
      <p:sp>
        <p:nvSpPr>
          <p:cNvPr id="5384" name="Google Shape;5384;p27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5385" name="Google Shape;5385;p2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51" name="Shape 5451"/>
        <p:cNvGrpSpPr/>
        <p:nvPr/>
      </p:nvGrpSpPr>
      <p:grpSpPr>
        <a:xfrm>
          <a:off x="0" y="0"/>
          <a:ext cx="0" cy="0"/>
          <a:chOff x="0" y="0"/>
          <a:chExt cx="0" cy="0"/>
        </a:xfrm>
      </p:grpSpPr>
      <p:sp>
        <p:nvSpPr>
          <p:cNvPr id="5452" name="Google Shape;5452;p27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453" name="Google Shape;5453;p2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454" name="Google Shape;5454;p2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83" name="Shape 5483"/>
        <p:cNvGrpSpPr/>
        <p:nvPr/>
      </p:nvGrpSpPr>
      <p:grpSpPr>
        <a:xfrm>
          <a:off x="0" y="0"/>
          <a:ext cx="0" cy="0"/>
          <a:chOff x="0" y="0"/>
          <a:chExt cx="0" cy="0"/>
        </a:xfrm>
      </p:grpSpPr>
      <p:sp>
        <p:nvSpPr>
          <p:cNvPr id="5484" name="Google Shape;5484;p27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485" name="Google Shape;5485;p2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486" name="Google Shape;5486;p2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15" name="Shape 5515"/>
        <p:cNvGrpSpPr/>
        <p:nvPr/>
      </p:nvGrpSpPr>
      <p:grpSpPr>
        <a:xfrm>
          <a:off x="0" y="0"/>
          <a:ext cx="0" cy="0"/>
          <a:chOff x="0" y="0"/>
          <a:chExt cx="0" cy="0"/>
        </a:xfrm>
      </p:grpSpPr>
      <p:sp>
        <p:nvSpPr>
          <p:cNvPr id="5516" name="Google Shape;5516;p27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17" name="Google Shape;5517;p2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18" name="Google Shape;5518;p2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47" name="Shape 5547"/>
        <p:cNvGrpSpPr/>
        <p:nvPr/>
      </p:nvGrpSpPr>
      <p:grpSpPr>
        <a:xfrm>
          <a:off x="0" y="0"/>
          <a:ext cx="0" cy="0"/>
          <a:chOff x="0" y="0"/>
          <a:chExt cx="0" cy="0"/>
        </a:xfrm>
      </p:grpSpPr>
      <p:sp>
        <p:nvSpPr>
          <p:cNvPr id="5548" name="Google Shape;5548;p28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49" name="Google Shape;5549;p2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50" name="Google Shape;5550;p28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79" name="Shape 5579"/>
        <p:cNvGrpSpPr/>
        <p:nvPr/>
      </p:nvGrpSpPr>
      <p:grpSpPr>
        <a:xfrm>
          <a:off x="0" y="0"/>
          <a:ext cx="0" cy="0"/>
          <a:chOff x="0" y="0"/>
          <a:chExt cx="0" cy="0"/>
        </a:xfrm>
      </p:grpSpPr>
      <p:sp>
        <p:nvSpPr>
          <p:cNvPr id="5580" name="Google Shape;5580;p28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81" name="Google Shape;5581;p2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82" name="Google Shape;5582;p28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11" name="Shape 5611"/>
        <p:cNvGrpSpPr/>
        <p:nvPr/>
      </p:nvGrpSpPr>
      <p:grpSpPr>
        <a:xfrm>
          <a:off x="0" y="0"/>
          <a:ext cx="0" cy="0"/>
          <a:chOff x="0" y="0"/>
          <a:chExt cx="0" cy="0"/>
        </a:xfrm>
      </p:grpSpPr>
      <p:sp>
        <p:nvSpPr>
          <p:cNvPr id="5612" name="Google Shape;5612;p28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613" name="Google Shape;5613;p2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14" name="Google Shape;5614;p2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48" name="Shape 5648"/>
        <p:cNvGrpSpPr/>
        <p:nvPr/>
      </p:nvGrpSpPr>
      <p:grpSpPr>
        <a:xfrm>
          <a:off x="0" y="0"/>
          <a:ext cx="0" cy="0"/>
          <a:chOff x="0" y="0"/>
          <a:chExt cx="0" cy="0"/>
        </a:xfrm>
      </p:grpSpPr>
      <p:sp>
        <p:nvSpPr>
          <p:cNvPr id="5649" name="Google Shape;5649;p28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650" name="Google Shape;5650;p2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51" name="Google Shape;5651;p2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Clr>
                <a:schemeClr val="dk1"/>
              </a:buClr>
              <a:buSzPts val="1200"/>
              <a:buFont typeface="Arial"/>
              <a:buNone/>
            </a:pPr>
            <a:r>
              <a:rPr lang="en-GB"/>
              <a:t>Potential for RACE-type engagement (with constrained scope in 6-8 weeks)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68" name="Shape 5668"/>
        <p:cNvGrpSpPr/>
        <p:nvPr/>
      </p:nvGrpSpPr>
      <p:grpSpPr>
        <a:xfrm>
          <a:off x="0" y="0"/>
          <a:ext cx="0" cy="0"/>
          <a:chOff x="0" y="0"/>
          <a:chExt cx="0" cy="0"/>
        </a:xfrm>
      </p:grpSpPr>
      <p:sp>
        <p:nvSpPr>
          <p:cNvPr id="5669" name="Google Shape;5669;p28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670" name="Google Shape;5670;p28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71" name="Google Shape;5671;p2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Clr>
                <a:schemeClr val="dk1"/>
              </a:buClr>
              <a:buSzPts val="1200"/>
              <a:buFont typeface="Arial"/>
              <a:buNone/>
            </a:pPr>
            <a:r>
              <a:rPr lang="en-GB"/>
              <a:t>Potential for RACE-type engagement (with constrained scope in 6-8 weeks)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88" name="Shape 5688"/>
        <p:cNvGrpSpPr/>
        <p:nvPr/>
      </p:nvGrpSpPr>
      <p:grpSpPr>
        <a:xfrm>
          <a:off x="0" y="0"/>
          <a:ext cx="0" cy="0"/>
          <a:chOff x="0" y="0"/>
          <a:chExt cx="0" cy="0"/>
        </a:xfrm>
      </p:grpSpPr>
      <p:sp>
        <p:nvSpPr>
          <p:cNvPr id="5689" name="Google Shape;5689;p29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690" name="Google Shape;5690;p2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91" name="Google Shape;5691;p2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08" name="Shape 5708"/>
        <p:cNvGrpSpPr/>
        <p:nvPr/>
      </p:nvGrpSpPr>
      <p:grpSpPr>
        <a:xfrm>
          <a:off x="0" y="0"/>
          <a:ext cx="0" cy="0"/>
          <a:chOff x="0" y="0"/>
          <a:chExt cx="0" cy="0"/>
        </a:xfrm>
      </p:grpSpPr>
      <p:sp>
        <p:nvSpPr>
          <p:cNvPr id="5709" name="Google Shape;5709;p29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10" name="Google Shape;5710;p29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11" name="Google Shape;5711;p2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lt1"/>
              </a:buClr>
              <a:buSzPts val="1200"/>
              <a:buChar char="•"/>
            </a:pPr>
            <a:r>
              <a:rPr lang="en-GB" sz="1200">
                <a:solidFill>
                  <a:schemeClr val="lt1"/>
                </a:solidFill>
              </a:rPr>
              <a:t>References: T-Mobile, Discover, </a:t>
            </a:r>
            <a:endParaRPr/>
          </a:p>
          <a:p>
            <a:pPr indent="-173038" lvl="0" marL="173038" rtl="0" algn="l">
              <a:lnSpc>
                <a:spcPct val="95000"/>
              </a:lnSpc>
              <a:spcBef>
                <a:spcPts val="400"/>
              </a:spcBef>
              <a:spcAft>
                <a:spcPts val="0"/>
              </a:spcAft>
              <a:buClr>
                <a:schemeClr val="lt1"/>
              </a:buClr>
              <a:buSzPts val="1200"/>
              <a:buChar char="•"/>
            </a:pPr>
            <a:r>
              <a:rPr lang="en-GB" sz="1200">
                <a:solidFill>
                  <a:schemeClr val="lt1"/>
                </a:solidFill>
              </a:rPr>
              <a:t>Nordea, Swedbank</a:t>
            </a:r>
            <a:endParaRPr sz="1200">
              <a:solidFill>
                <a:schemeClr val="lt1"/>
              </a:solidFill>
            </a:endParaRPr>
          </a:p>
        </p:txBody>
      </p:sp>
    </p:spTree>
  </p:cSld>
  <p:clrMapOvr>
    <a:masterClrMapping/>
  </p:clrMapOvr>
</p:notes>
</file>

<file path=ppt/notesSlides/notesSlide2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28" name="Shape 5728"/>
        <p:cNvGrpSpPr/>
        <p:nvPr/>
      </p:nvGrpSpPr>
      <p:grpSpPr>
        <a:xfrm>
          <a:off x="0" y="0"/>
          <a:ext cx="0" cy="0"/>
          <a:chOff x="0" y="0"/>
          <a:chExt cx="0" cy="0"/>
        </a:xfrm>
      </p:grpSpPr>
      <p:sp>
        <p:nvSpPr>
          <p:cNvPr id="5729" name="Google Shape;5729;p29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30" name="Google Shape;5730;p29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31" name="Google Shape;5731;p2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would at least list the top 3 applied advanced analytics techniques</a:t>
            </a:r>
            <a:endParaRPr/>
          </a:p>
          <a:p>
            <a:pPr indent="-173038" lvl="0" marL="173038" rtl="0" algn="l">
              <a:lnSpc>
                <a:spcPct val="95000"/>
              </a:lnSpc>
              <a:spcBef>
                <a:spcPts val="400"/>
              </a:spcBef>
              <a:spcAft>
                <a:spcPts val="0"/>
              </a:spcAft>
              <a:buClr>
                <a:schemeClr val="dk1"/>
              </a:buClr>
              <a:buSzPts val="1200"/>
              <a:buChar char="•"/>
            </a:pPr>
            <a:r>
              <a:rPr lang="en-GB"/>
              <a:t>You have streaming data as a source I don’t think Listener needs to be prescribed, especially not as an Analytic technique</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48" name="Shape 5748"/>
        <p:cNvGrpSpPr/>
        <p:nvPr/>
      </p:nvGrpSpPr>
      <p:grpSpPr>
        <a:xfrm>
          <a:off x="0" y="0"/>
          <a:ext cx="0" cy="0"/>
          <a:chOff x="0" y="0"/>
          <a:chExt cx="0" cy="0"/>
        </a:xfrm>
      </p:grpSpPr>
      <p:sp>
        <p:nvSpPr>
          <p:cNvPr id="5749" name="Google Shape;5749;p29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50" name="Google Shape;5750;p29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51" name="Google Shape;5751;p2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200"/>
              <a:buFont typeface="Century Gothic"/>
              <a:buNone/>
            </a:pPr>
            <a:r>
              <a:rPr lang="en-GB"/>
              <a:t>I’m surprised we would be completely blank on needed AA help to get the Analytic techniques box populated with something – we’re calling this an optimization use case not just a simple valuation exercise</a:t>
            </a:r>
            <a:endParaRPr/>
          </a:p>
          <a:p>
            <a:pPr indent="0" lvl="0" marL="0" marR="0" rtl="0" algn="l">
              <a:lnSpc>
                <a:spcPct val="100000"/>
              </a:lnSpc>
              <a:spcBef>
                <a:spcPts val="0"/>
              </a:spcBef>
              <a:spcAft>
                <a:spcPts val="0"/>
              </a:spcAft>
              <a:buClr>
                <a:schemeClr val="dk1"/>
              </a:buClr>
              <a:buSzPts val="1200"/>
              <a:buFont typeface="Century Gothic"/>
              <a:buNone/>
            </a:pPr>
            <a:r>
              <a:rPr lang="en-GB"/>
              <a:t>Looking at the first two bullets – trying to figure out where this use case might go because it could go in a couple of directions like – does utilization affect valuation; also wondering if we didn’t cover the working capital piece under the working capital use case</a:t>
            </a:r>
            <a:endParaRPr/>
          </a:p>
          <a:p>
            <a:pPr indent="-96838" lvl="0" marL="173038" rtl="0" algn="l">
              <a:lnSpc>
                <a:spcPct val="95000"/>
              </a:lnSpc>
              <a:spcBef>
                <a:spcPts val="400"/>
              </a:spcBef>
              <a:spcAft>
                <a:spcPts val="0"/>
              </a:spcAft>
              <a:buClr>
                <a:schemeClr val="dk1"/>
              </a:buClr>
              <a:buSzPts val="1200"/>
              <a:buNone/>
            </a:pPr>
            <a:r>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68" name="Shape 5768"/>
        <p:cNvGrpSpPr/>
        <p:nvPr/>
      </p:nvGrpSpPr>
      <p:grpSpPr>
        <a:xfrm>
          <a:off x="0" y="0"/>
          <a:ext cx="0" cy="0"/>
          <a:chOff x="0" y="0"/>
          <a:chExt cx="0" cy="0"/>
        </a:xfrm>
      </p:grpSpPr>
      <p:sp>
        <p:nvSpPr>
          <p:cNvPr id="5769" name="Google Shape;5769;p29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70" name="Google Shape;5770;p2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71" name="Google Shape;5771;p29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What are the actual techniques to be applied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88" name="Shape 5788"/>
        <p:cNvGrpSpPr/>
        <p:nvPr/>
      </p:nvGrpSpPr>
      <p:grpSpPr>
        <a:xfrm>
          <a:off x="0" y="0"/>
          <a:ext cx="0" cy="0"/>
          <a:chOff x="0" y="0"/>
          <a:chExt cx="0" cy="0"/>
        </a:xfrm>
      </p:grpSpPr>
      <p:sp>
        <p:nvSpPr>
          <p:cNvPr id="5789" name="Google Shape;5789;p29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90" name="Google Shape;5790;p29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91" name="Google Shape;5791;p2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lt1"/>
              </a:buClr>
              <a:buSzPts val="1200"/>
              <a:buChar char="•"/>
            </a:pPr>
            <a:r>
              <a:rPr lang="en-GB" sz="1200">
                <a:solidFill>
                  <a:schemeClr val="lt1"/>
                </a:solidFill>
              </a:rPr>
              <a:t>Is this what I would consider a “speeds and feeds”? is there not some sort of enhancement to the reconciliations process where an application of an advanced analytic technique like attribution or nPath would provide some incremental business benefit?</a:t>
            </a:r>
            <a:endParaRPr sz="1200">
              <a:solidFill>
                <a:schemeClr val="lt1"/>
              </a:solidFill>
            </a:endParaRPr>
          </a:p>
          <a:p>
            <a:pPr indent="-173038" lvl="0" marL="173038" rtl="0" algn="l">
              <a:lnSpc>
                <a:spcPct val="95000"/>
              </a:lnSpc>
              <a:spcBef>
                <a:spcPts val="400"/>
              </a:spcBef>
              <a:spcAft>
                <a:spcPts val="0"/>
              </a:spcAft>
              <a:buClr>
                <a:schemeClr val="lt1"/>
              </a:buClr>
              <a:buSzPts val="1200"/>
              <a:buChar char="•"/>
            </a:pPr>
            <a:r>
              <a:rPr lang="en-GB" sz="1200">
                <a:solidFill>
                  <a:schemeClr val="lt1"/>
                </a:solidFill>
              </a:rPr>
              <a:t>References: Ford Credit, Nokia, Wesco,</a:t>
            </a:r>
            <a:endParaRPr/>
          </a:p>
          <a:p>
            <a:pPr indent="-173038" lvl="0" marL="173038" rtl="0" algn="l">
              <a:lnSpc>
                <a:spcPct val="95000"/>
              </a:lnSpc>
              <a:spcBef>
                <a:spcPts val="400"/>
              </a:spcBef>
              <a:spcAft>
                <a:spcPts val="0"/>
              </a:spcAft>
              <a:buClr>
                <a:schemeClr val="lt1"/>
              </a:buClr>
              <a:buSzPts val="1200"/>
              <a:buChar char="•"/>
            </a:pPr>
            <a:r>
              <a:rPr lang="en-GB" sz="1200">
                <a:solidFill>
                  <a:schemeClr val="lt1"/>
                </a:solidFill>
              </a:rPr>
              <a:t>Office Depot, Raiffeisen Bank</a:t>
            </a:r>
            <a:endParaRPr/>
          </a:p>
        </p:txBody>
      </p:sp>
    </p:spTree>
  </p:cSld>
  <p:clrMapOvr>
    <a:masterClrMapping/>
  </p:clrMapOvr>
</p:notes>
</file>

<file path=ppt/notesSlides/notesSlide2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08" name="Shape 5808"/>
        <p:cNvGrpSpPr/>
        <p:nvPr/>
      </p:nvGrpSpPr>
      <p:grpSpPr>
        <a:xfrm>
          <a:off x="0" y="0"/>
          <a:ext cx="0" cy="0"/>
          <a:chOff x="0" y="0"/>
          <a:chExt cx="0" cy="0"/>
        </a:xfrm>
      </p:grpSpPr>
      <p:sp>
        <p:nvSpPr>
          <p:cNvPr id="5809" name="Google Shape;5809;p29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10" name="Google Shape;5810;p29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11" name="Google Shape;5811;p2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rgbClr val="FF0000"/>
              </a:buClr>
              <a:buSzPts val="1200"/>
              <a:buChar char="•"/>
            </a:pPr>
            <a:r>
              <a:rPr b="1" lang="en-GB">
                <a:solidFill>
                  <a:srgbClr val="FF0000"/>
                </a:solidFill>
              </a:rPr>
              <a:t>I like the way he framed the “Analytic technique” without naming a technology</a:t>
            </a:r>
            <a:endParaRPr/>
          </a:p>
          <a:p>
            <a:pPr indent="-173038" lvl="0" marL="173038" rtl="0" algn="l">
              <a:lnSpc>
                <a:spcPct val="95000"/>
              </a:lnSpc>
              <a:spcBef>
                <a:spcPts val="400"/>
              </a:spcBef>
              <a:spcAft>
                <a:spcPts val="0"/>
              </a:spcAft>
              <a:buClr>
                <a:schemeClr val="dk1"/>
              </a:buClr>
              <a:buSzPts val="1200"/>
              <a:buChar char="•"/>
            </a:pPr>
            <a:r>
              <a:rPr lang="en-GB"/>
              <a:t>References:  CBS, Pfizer, J&amp;J, Freescale,</a:t>
            </a:r>
            <a:endParaRPr/>
          </a:p>
          <a:p>
            <a:pPr indent="-173038" lvl="0" marL="173038" rtl="0" algn="l">
              <a:lnSpc>
                <a:spcPct val="95000"/>
              </a:lnSpc>
              <a:spcBef>
                <a:spcPts val="400"/>
              </a:spcBef>
              <a:spcAft>
                <a:spcPts val="0"/>
              </a:spcAft>
              <a:buClr>
                <a:schemeClr val="dk1"/>
              </a:buClr>
              <a:buSzPts val="1200"/>
              <a:buChar char="•"/>
            </a:pPr>
            <a:r>
              <a:rPr lang="en-GB"/>
              <a:t>Nationwide, Intel, Office Depot, </a:t>
            </a:r>
            <a:endParaRPr/>
          </a:p>
          <a:p>
            <a:pPr indent="-173038" lvl="0" marL="173038" rtl="0" algn="l">
              <a:lnSpc>
                <a:spcPct val="95000"/>
              </a:lnSpc>
              <a:spcBef>
                <a:spcPts val="400"/>
              </a:spcBef>
              <a:spcAft>
                <a:spcPts val="0"/>
              </a:spcAft>
              <a:buClr>
                <a:schemeClr val="dk1"/>
              </a:buClr>
              <a:buSzPts val="1200"/>
              <a:buChar char="•"/>
            </a:pPr>
            <a:r>
              <a:rPr lang="en-GB"/>
              <a:t>SUPERVALU,  BNSF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28" name="Shape 5828"/>
        <p:cNvGrpSpPr/>
        <p:nvPr/>
      </p:nvGrpSpPr>
      <p:grpSpPr>
        <a:xfrm>
          <a:off x="0" y="0"/>
          <a:ext cx="0" cy="0"/>
          <a:chOff x="0" y="0"/>
          <a:chExt cx="0" cy="0"/>
        </a:xfrm>
      </p:grpSpPr>
      <p:sp>
        <p:nvSpPr>
          <p:cNvPr id="5829" name="Google Shape;5829;p29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30" name="Google Shape;5830;p29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31" name="Google Shape;5831;p29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Potential for ‘RACE-type’ engagement for close process analysis – however current skills base limited.</a:t>
            </a:r>
            <a:endParaRPr/>
          </a:p>
          <a:p>
            <a:pPr indent="-173038" lvl="0" marL="173038" rtl="0" algn="l">
              <a:lnSpc>
                <a:spcPct val="95000"/>
              </a:lnSpc>
              <a:spcBef>
                <a:spcPts val="400"/>
              </a:spcBef>
              <a:spcAft>
                <a:spcPts val="0"/>
              </a:spcAft>
              <a:buClr>
                <a:schemeClr val="dk1"/>
              </a:buClr>
              <a:buSzPts val="1200"/>
              <a:buChar char="•"/>
            </a:pPr>
            <a:r>
              <a:rPr lang="en-GB"/>
              <a:t>References: NCR, Nationwide, </a:t>
            </a:r>
            <a:endParaRPr/>
          </a:p>
          <a:p>
            <a:pPr indent="-173038" lvl="0" marL="173038" rtl="0" algn="l">
              <a:lnSpc>
                <a:spcPct val="95000"/>
              </a:lnSpc>
              <a:spcBef>
                <a:spcPts val="400"/>
              </a:spcBef>
              <a:spcAft>
                <a:spcPts val="0"/>
              </a:spcAft>
              <a:buClr>
                <a:schemeClr val="dk1"/>
              </a:buClr>
              <a:buSzPts val="1200"/>
              <a:buChar char="•"/>
            </a:pPr>
            <a:r>
              <a:rPr lang="en-GB"/>
              <a:t>GE Healthcare,  SuperValu, USPS, </a:t>
            </a:r>
            <a:endParaRPr/>
          </a:p>
          <a:p>
            <a:pPr indent="-173038" lvl="0" marL="173038" rtl="0" algn="l">
              <a:lnSpc>
                <a:spcPct val="95000"/>
              </a:lnSpc>
              <a:spcBef>
                <a:spcPts val="400"/>
              </a:spcBef>
              <a:spcAft>
                <a:spcPts val="0"/>
              </a:spcAft>
              <a:buClr>
                <a:schemeClr val="dk1"/>
              </a:buClr>
              <a:buSzPts val="1200"/>
              <a:buChar char="•"/>
            </a:pPr>
            <a:r>
              <a:rPr lang="en-GB"/>
              <a:t>Verizon, HCA</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48" name="Shape 5848"/>
        <p:cNvGrpSpPr/>
        <p:nvPr/>
      </p:nvGrpSpPr>
      <p:grpSpPr>
        <a:xfrm>
          <a:off x="0" y="0"/>
          <a:ext cx="0" cy="0"/>
          <a:chOff x="0" y="0"/>
          <a:chExt cx="0" cy="0"/>
        </a:xfrm>
      </p:grpSpPr>
      <p:sp>
        <p:nvSpPr>
          <p:cNvPr id="5849" name="Google Shape;5849;p29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50" name="Google Shape;5850;p29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51" name="Google Shape;5851;p29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68" name="Shape 5868"/>
        <p:cNvGrpSpPr/>
        <p:nvPr/>
      </p:nvGrpSpPr>
      <p:grpSpPr>
        <a:xfrm>
          <a:off x="0" y="0"/>
          <a:ext cx="0" cy="0"/>
          <a:chOff x="0" y="0"/>
          <a:chExt cx="0" cy="0"/>
        </a:xfrm>
      </p:grpSpPr>
      <p:sp>
        <p:nvSpPr>
          <p:cNvPr id="5869" name="Google Shape;5869;p29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70" name="Google Shape;5870;p2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71" name="Google Shape;5871;p29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88" name="Shape 5888"/>
        <p:cNvGrpSpPr/>
        <p:nvPr/>
      </p:nvGrpSpPr>
      <p:grpSpPr>
        <a:xfrm>
          <a:off x="0" y="0"/>
          <a:ext cx="0" cy="0"/>
          <a:chOff x="0" y="0"/>
          <a:chExt cx="0" cy="0"/>
        </a:xfrm>
      </p:grpSpPr>
      <p:sp>
        <p:nvSpPr>
          <p:cNvPr id="5889" name="Google Shape;5889;p30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90" name="Google Shape;5890;p30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91" name="Google Shape;5891;p3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lt1"/>
              </a:buClr>
              <a:buSzPts val="1200"/>
              <a:buChar char="•"/>
            </a:pPr>
            <a:r>
              <a:rPr lang="en-GB">
                <a:solidFill>
                  <a:schemeClr val="lt1"/>
                </a:solidFill>
              </a:rPr>
              <a:t>Potential for RACE analytics engagement around Sentiment and ‘path to attrition’ etc.</a:t>
            </a:r>
            <a:endParaRPr>
              <a:solidFill>
                <a:schemeClr val="lt1"/>
              </a:solidFill>
            </a:endParaRPr>
          </a:p>
          <a:p>
            <a:pPr indent="-173038" lvl="0" marL="173038" rtl="0" algn="l">
              <a:lnSpc>
                <a:spcPct val="95000"/>
              </a:lnSpc>
              <a:spcBef>
                <a:spcPts val="400"/>
              </a:spcBef>
              <a:spcAft>
                <a:spcPts val="0"/>
              </a:spcAft>
              <a:buClr>
                <a:schemeClr val="lt1"/>
              </a:buClr>
              <a:buSzPts val="1200"/>
              <a:buChar char="•"/>
            </a:pPr>
            <a:r>
              <a:rPr lang="en-GB">
                <a:solidFill>
                  <a:schemeClr val="lt1"/>
                </a:solidFill>
              </a:rPr>
              <a:t>References: Xcel Energy, Swift</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08" name="Shape 5908"/>
        <p:cNvGrpSpPr/>
        <p:nvPr/>
      </p:nvGrpSpPr>
      <p:grpSpPr>
        <a:xfrm>
          <a:off x="0" y="0"/>
          <a:ext cx="0" cy="0"/>
          <a:chOff x="0" y="0"/>
          <a:chExt cx="0" cy="0"/>
        </a:xfrm>
      </p:grpSpPr>
      <p:sp>
        <p:nvSpPr>
          <p:cNvPr id="5909" name="Google Shape;5909;p30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10" name="Google Shape;5910;p30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11" name="Google Shape;5911;p30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Header Issue – need to differentiate from the contiguous slides</a:t>
            </a:r>
            <a:endParaRPr/>
          </a:p>
          <a:p>
            <a:pPr indent="0" lvl="0" marL="0" marR="0" rtl="0" algn="l">
              <a:lnSpc>
                <a:spcPct val="100000"/>
              </a:lnSpc>
              <a:spcBef>
                <a:spcPts val="24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Tease out acronyms</a:t>
            </a:r>
            <a:endParaRPr/>
          </a:p>
          <a:p>
            <a:pPr indent="0" lvl="0" marL="0" marR="0" rtl="0" algn="l">
              <a:lnSpc>
                <a:spcPct val="100000"/>
              </a:lnSpc>
              <a:spcBef>
                <a:spcPts val="24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Don’t like “etc”</a:t>
            </a:r>
            <a:endParaRPr/>
          </a:p>
          <a:p>
            <a:pPr indent="0" lvl="0" marL="0" marR="0" rtl="0" algn="l">
              <a:lnSpc>
                <a:spcPct val="100000"/>
              </a:lnSpc>
              <a:spcBef>
                <a:spcPts val="24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Activity Based Costing is incredibly important across a number of industries  - I wonder with the VAT structures in International is they have something more robust in this particular use case area</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Product item master data, including packaging hierarchies, weights, and measures.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Route and delivery information for DSD. (direct store or customer delivery)</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Call information for allocation of call center activity.</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Transportation invoices (if paid by manufacturer) matched to shipment detail.</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Inventory detail for allocation of warehouse storage space.</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Actual labor detail by order line item (available in automated warehouse environments) or labor factors (for labor allocation based on units, cube, line items, etc.)</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Rebates, deductions, trade funds, and allowances.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Sales call information for allocation of sales activities.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Costing of manufacturing processes to calculate product unit value and COGS requires comprehensive manufacturing reporting detail including all material, labor, and machine inputs and outputs.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Service information for allocation of technical service activities.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Collect the current information by production order, lot, or specific item (important for major capital goods like airplanes, expensive machines, or even automobiles).  And, COGS should be extended to the specific items or stock-keeping unit (SKU) level</a:t>
            </a:r>
            <a:endParaRPr/>
          </a:p>
          <a:p>
            <a:pPr indent="-96838" lvl="0" marL="173038"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28" name="Shape 5928"/>
        <p:cNvGrpSpPr/>
        <p:nvPr/>
      </p:nvGrpSpPr>
      <p:grpSpPr>
        <a:xfrm>
          <a:off x="0" y="0"/>
          <a:ext cx="0" cy="0"/>
          <a:chOff x="0" y="0"/>
          <a:chExt cx="0" cy="0"/>
        </a:xfrm>
      </p:grpSpPr>
      <p:sp>
        <p:nvSpPr>
          <p:cNvPr id="5929" name="Google Shape;5929;p30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30" name="Google Shape;5930;p30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31" name="Google Shape;5931;p30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48" name="Shape 5948"/>
        <p:cNvGrpSpPr/>
        <p:nvPr/>
      </p:nvGrpSpPr>
      <p:grpSpPr>
        <a:xfrm>
          <a:off x="0" y="0"/>
          <a:ext cx="0" cy="0"/>
          <a:chOff x="0" y="0"/>
          <a:chExt cx="0" cy="0"/>
        </a:xfrm>
      </p:grpSpPr>
      <p:sp>
        <p:nvSpPr>
          <p:cNvPr id="5949" name="Google Shape;5949;p30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50" name="Google Shape;5950;p30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51" name="Google Shape;5951;p30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References</a:t>
            </a:r>
            <a:endParaRPr/>
          </a:p>
          <a:p>
            <a:pPr indent="-173038" lvl="0" marL="173038" rtl="0" algn="l">
              <a:lnSpc>
                <a:spcPct val="95000"/>
              </a:lnSpc>
              <a:spcBef>
                <a:spcPts val="400"/>
              </a:spcBef>
              <a:spcAft>
                <a:spcPts val="0"/>
              </a:spcAft>
              <a:buClr>
                <a:schemeClr val="dk1"/>
              </a:buClr>
              <a:buSzPts val="1200"/>
              <a:buChar char="•"/>
            </a:pPr>
            <a:r>
              <a:rPr b="1" lang="en-GB"/>
              <a:t>RBC, DHL, WW Grainger, United Rentals,</a:t>
            </a:r>
            <a:endParaRPr/>
          </a:p>
          <a:p>
            <a:pPr indent="-173038" lvl="0" marL="173038" rtl="0" algn="l">
              <a:lnSpc>
                <a:spcPct val="95000"/>
              </a:lnSpc>
              <a:spcBef>
                <a:spcPts val="400"/>
              </a:spcBef>
              <a:spcAft>
                <a:spcPts val="0"/>
              </a:spcAft>
              <a:buClr>
                <a:schemeClr val="dk1"/>
              </a:buClr>
              <a:buSzPts val="1200"/>
              <a:buChar char="•"/>
            </a:pPr>
            <a:r>
              <a:rPr b="1" lang="en-GB"/>
              <a:t>Hertz and others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68" name="Shape 5968"/>
        <p:cNvGrpSpPr/>
        <p:nvPr/>
      </p:nvGrpSpPr>
      <p:grpSpPr>
        <a:xfrm>
          <a:off x="0" y="0"/>
          <a:ext cx="0" cy="0"/>
          <a:chOff x="0" y="0"/>
          <a:chExt cx="0" cy="0"/>
        </a:xfrm>
      </p:grpSpPr>
      <p:sp>
        <p:nvSpPr>
          <p:cNvPr id="5969" name="Google Shape;5969;p30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70" name="Google Shape;5970;p3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71" name="Google Shape;5971;p3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3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88" name="Shape 5988"/>
        <p:cNvGrpSpPr/>
        <p:nvPr/>
      </p:nvGrpSpPr>
      <p:grpSpPr>
        <a:xfrm>
          <a:off x="0" y="0"/>
          <a:ext cx="0" cy="0"/>
          <a:chOff x="0" y="0"/>
          <a:chExt cx="0" cy="0"/>
        </a:xfrm>
      </p:grpSpPr>
      <p:sp>
        <p:nvSpPr>
          <p:cNvPr id="5989" name="Google Shape;5989;p30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90" name="Google Shape;5990;p30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91" name="Google Shape;5991;p3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3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08" name="Shape 6008"/>
        <p:cNvGrpSpPr/>
        <p:nvPr/>
      </p:nvGrpSpPr>
      <p:grpSpPr>
        <a:xfrm>
          <a:off x="0" y="0"/>
          <a:ext cx="0" cy="0"/>
          <a:chOff x="0" y="0"/>
          <a:chExt cx="0" cy="0"/>
        </a:xfrm>
      </p:grpSpPr>
      <p:sp>
        <p:nvSpPr>
          <p:cNvPr id="6009" name="Google Shape;6009;p30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10" name="Google Shape;6010;p3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11" name="Google Shape;6011;p3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3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28" name="Shape 6028"/>
        <p:cNvGrpSpPr/>
        <p:nvPr/>
      </p:nvGrpSpPr>
      <p:grpSpPr>
        <a:xfrm>
          <a:off x="0" y="0"/>
          <a:ext cx="0" cy="0"/>
          <a:chOff x="0" y="0"/>
          <a:chExt cx="0" cy="0"/>
        </a:xfrm>
      </p:grpSpPr>
      <p:sp>
        <p:nvSpPr>
          <p:cNvPr id="6029" name="Google Shape;6029;p30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30" name="Google Shape;6030;p3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31" name="Google Shape;6031;p3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48" name="Shape 6048"/>
        <p:cNvGrpSpPr/>
        <p:nvPr/>
      </p:nvGrpSpPr>
      <p:grpSpPr>
        <a:xfrm>
          <a:off x="0" y="0"/>
          <a:ext cx="0" cy="0"/>
          <a:chOff x="0" y="0"/>
          <a:chExt cx="0" cy="0"/>
        </a:xfrm>
      </p:grpSpPr>
      <p:sp>
        <p:nvSpPr>
          <p:cNvPr id="6049" name="Google Shape;6049;p30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50" name="Google Shape;6050;p3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51" name="Google Shape;6051;p3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68" name="Shape 6068"/>
        <p:cNvGrpSpPr/>
        <p:nvPr/>
      </p:nvGrpSpPr>
      <p:grpSpPr>
        <a:xfrm>
          <a:off x="0" y="0"/>
          <a:ext cx="0" cy="0"/>
          <a:chOff x="0" y="0"/>
          <a:chExt cx="0" cy="0"/>
        </a:xfrm>
      </p:grpSpPr>
      <p:sp>
        <p:nvSpPr>
          <p:cNvPr id="6069" name="Google Shape;6069;p30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70" name="Google Shape;6070;p3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71" name="Google Shape;6071;p3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88" name="Shape 6088"/>
        <p:cNvGrpSpPr/>
        <p:nvPr/>
      </p:nvGrpSpPr>
      <p:grpSpPr>
        <a:xfrm>
          <a:off x="0" y="0"/>
          <a:ext cx="0" cy="0"/>
          <a:chOff x="0" y="0"/>
          <a:chExt cx="0" cy="0"/>
        </a:xfrm>
      </p:grpSpPr>
      <p:sp>
        <p:nvSpPr>
          <p:cNvPr id="6089" name="Google Shape;6089;p31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90" name="Google Shape;6090;p3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91" name="Google Shape;6091;p3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08" name="Shape 6108"/>
        <p:cNvGrpSpPr/>
        <p:nvPr/>
      </p:nvGrpSpPr>
      <p:grpSpPr>
        <a:xfrm>
          <a:off x="0" y="0"/>
          <a:ext cx="0" cy="0"/>
          <a:chOff x="0" y="0"/>
          <a:chExt cx="0" cy="0"/>
        </a:xfrm>
      </p:grpSpPr>
      <p:sp>
        <p:nvSpPr>
          <p:cNvPr id="6109" name="Google Shape;6109;p31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110" name="Google Shape;6110;p3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11" name="Google Shape;6111;p3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28" name="Shape 6128"/>
        <p:cNvGrpSpPr/>
        <p:nvPr/>
      </p:nvGrpSpPr>
      <p:grpSpPr>
        <a:xfrm>
          <a:off x="0" y="0"/>
          <a:ext cx="0" cy="0"/>
          <a:chOff x="0" y="0"/>
          <a:chExt cx="0" cy="0"/>
        </a:xfrm>
      </p:grpSpPr>
      <p:sp>
        <p:nvSpPr>
          <p:cNvPr id="6129" name="Google Shape;6129;p31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30" name="Google Shape;6130;p3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31" name="Google Shape;6131;p3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Header Issue – shouldn’t repeat</a:t>
            </a:r>
            <a:endParaRPr/>
          </a:p>
          <a:p>
            <a:pPr indent="-173038" lvl="0" marL="173038" rtl="0" algn="l">
              <a:lnSpc>
                <a:spcPct val="95000"/>
              </a:lnSpc>
              <a:spcBef>
                <a:spcPts val="400"/>
              </a:spcBef>
              <a:spcAft>
                <a:spcPts val="0"/>
              </a:spcAft>
              <a:buClr>
                <a:schemeClr val="dk1"/>
              </a:buClr>
              <a:buSzPts val="1200"/>
              <a:buChar char="•"/>
            </a:pPr>
            <a:r>
              <a:rPr lang="en-GB"/>
              <a:t>Need to get to the analytic technique (Descriptive Statistics) … I’m not sure getting an 8K or a 10K kicked out is a use case in and of itself; there may be something along the lines of analyzing with text analytics the public financial reports as a tool for investment advisors, but Adrian may have that covered in one of his Capital Markets use cases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48" name="Shape 6148"/>
        <p:cNvGrpSpPr/>
        <p:nvPr/>
      </p:nvGrpSpPr>
      <p:grpSpPr>
        <a:xfrm>
          <a:off x="0" y="0"/>
          <a:ext cx="0" cy="0"/>
          <a:chOff x="0" y="0"/>
          <a:chExt cx="0" cy="0"/>
        </a:xfrm>
      </p:grpSpPr>
      <p:sp>
        <p:nvSpPr>
          <p:cNvPr id="6149" name="Google Shape;6149;p31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50" name="Google Shape;6150;p3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51" name="Google Shape;6151;p31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68" name="Shape 6168"/>
        <p:cNvGrpSpPr/>
        <p:nvPr/>
      </p:nvGrpSpPr>
      <p:grpSpPr>
        <a:xfrm>
          <a:off x="0" y="0"/>
          <a:ext cx="0" cy="0"/>
          <a:chOff x="0" y="0"/>
          <a:chExt cx="0" cy="0"/>
        </a:xfrm>
      </p:grpSpPr>
      <p:sp>
        <p:nvSpPr>
          <p:cNvPr id="6169" name="Google Shape;6169;p31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70" name="Google Shape;6170;p3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71" name="Google Shape;6171;p3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Potential for RACE-type engagement (with constrained scope in 6-8 weeks)</a:t>
            </a:r>
            <a:endParaRPr/>
          </a:p>
          <a:p>
            <a:pPr indent="-96838" lvl="0" marL="173038"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88" name="Shape 6188"/>
        <p:cNvGrpSpPr/>
        <p:nvPr/>
      </p:nvGrpSpPr>
      <p:grpSpPr>
        <a:xfrm>
          <a:off x="0" y="0"/>
          <a:ext cx="0" cy="0"/>
          <a:chOff x="0" y="0"/>
          <a:chExt cx="0" cy="0"/>
        </a:xfrm>
      </p:grpSpPr>
      <p:sp>
        <p:nvSpPr>
          <p:cNvPr id="6189" name="Google Shape;6189;p31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90" name="Google Shape;6190;p3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91" name="Google Shape;6191;p3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08" name="Shape 6208"/>
        <p:cNvGrpSpPr/>
        <p:nvPr/>
      </p:nvGrpSpPr>
      <p:grpSpPr>
        <a:xfrm>
          <a:off x="0" y="0"/>
          <a:ext cx="0" cy="0"/>
          <a:chOff x="0" y="0"/>
          <a:chExt cx="0" cy="0"/>
        </a:xfrm>
      </p:grpSpPr>
      <p:sp>
        <p:nvSpPr>
          <p:cNvPr id="6209" name="Google Shape;6209;p31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210" name="Google Shape;6210;p3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211" name="Google Shape;6211;p3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28" name="Shape 6228"/>
        <p:cNvGrpSpPr/>
        <p:nvPr/>
      </p:nvGrpSpPr>
      <p:grpSpPr>
        <a:xfrm>
          <a:off x="0" y="0"/>
          <a:ext cx="0" cy="0"/>
          <a:chOff x="0" y="0"/>
          <a:chExt cx="0" cy="0"/>
        </a:xfrm>
      </p:grpSpPr>
      <p:sp>
        <p:nvSpPr>
          <p:cNvPr id="6229" name="Google Shape;6229;p31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230" name="Google Shape;6230;p3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231" name="Google Shape;6231;p3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48" name="Shape 6248"/>
        <p:cNvGrpSpPr/>
        <p:nvPr/>
      </p:nvGrpSpPr>
      <p:grpSpPr>
        <a:xfrm>
          <a:off x="0" y="0"/>
          <a:ext cx="0" cy="0"/>
          <a:chOff x="0" y="0"/>
          <a:chExt cx="0" cy="0"/>
        </a:xfrm>
      </p:grpSpPr>
      <p:sp>
        <p:nvSpPr>
          <p:cNvPr id="6249" name="Google Shape;6249;p31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250" name="Google Shape;6250;p3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251" name="Google Shape;6251;p3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Potential for RACE-type engagement (with constrained scope in 6-8 weeks)</a:t>
            </a:r>
            <a:endParaRPr/>
          </a:p>
          <a:p>
            <a:pPr indent="-96838" lvl="0" marL="173038"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74" name="Shape 6274"/>
        <p:cNvGrpSpPr/>
        <p:nvPr/>
      </p:nvGrpSpPr>
      <p:grpSpPr>
        <a:xfrm>
          <a:off x="0" y="0"/>
          <a:ext cx="0" cy="0"/>
          <a:chOff x="0" y="0"/>
          <a:chExt cx="0" cy="0"/>
        </a:xfrm>
      </p:grpSpPr>
      <p:sp>
        <p:nvSpPr>
          <p:cNvPr id="6275" name="Google Shape;6275;p3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276" name="Google Shape;6276;p3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6277" name="Google Shape;6277;p32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98" name="Shape 6298"/>
        <p:cNvGrpSpPr/>
        <p:nvPr/>
      </p:nvGrpSpPr>
      <p:grpSpPr>
        <a:xfrm>
          <a:off x="0" y="0"/>
          <a:ext cx="0" cy="0"/>
          <a:chOff x="0" y="0"/>
          <a:chExt cx="0" cy="0"/>
        </a:xfrm>
      </p:grpSpPr>
      <p:sp>
        <p:nvSpPr>
          <p:cNvPr id="6299" name="Google Shape;6299;p32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300" name="Google Shape;6300;p3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28" name="Shape 6328"/>
        <p:cNvGrpSpPr/>
        <p:nvPr/>
      </p:nvGrpSpPr>
      <p:grpSpPr>
        <a:xfrm>
          <a:off x="0" y="0"/>
          <a:ext cx="0" cy="0"/>
          <a:chOff x="0" y="0"/>
          <a:chExt cx="0" cy="0"/>
        </a:xfrm>
      </p:grpSpPr>
      <p:sp>
        <p:nvSpPr>
          <p:cNvPr id="6329" name="Google Shape;6329;p32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330" name="Google Shape;6330;p3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55" name="Shape 6355"/>
        <p:cNvGrpSpPr/>
        <p:nvPr/>
      </p:nvGrpSpPr>
      <p:grpSpPr>
        <a:xfrm>
          <a:off x="0" y="0"/>
          <a:ext cx="0" cy="0"/>
          <a:chOff x="0" y="0"/>
          <a:chExt cx="0" cy="0"/>
        </a:xfrm>
      </p:grpSpPr>
      <p:sp>
        <p:nvSpPr>
          <p:cNvPr id="6356" name="Google Shape;6356;p3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357" name="Google Shape;6357;p3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a:p>
            <a:pPr indent="-173038" lvl="0" marL="173038" rtl="0" algn="l">
              <a:lnSpc>
                <a:spcPct val="95000"/>
              </a:lnSpc>
              <a:spcBef>
                <a:spcPts val="40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358" name="Google Shape;6358;p32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91" name="Shape 6391"/>
        <p:cNvGrpSpPr/>
        <p:nvPr/>
      </p:nvGrpSpPr>
      <p:grpSpPr>
        <a:xfrm>
          <a:off x="0" y="0"/>
          <a:ext cx="0" cy="0"/>
          <a:chOff x="0" y="0"/>
          <a:chExt cx="0" cy="0"/>
        </a:xfrm>
      </p:grpSpPr>
      <p:sp>
        <p:nvSpPr>
          <p:cNvPr id="6392" name="Google Shape;6392;p3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393" name="Google Shape;6393;p3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a:p>
            <a:pPr indent="-173038" lvl="0" marL="173038" rtl="0" algn="l">
              <a:lnSpc>
                <a:spcPct val="95000"/>
              </a:lnSpc>
              <a:spcBef>
                <a:spcPts val="40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394" name="Google Shape;6394;p32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27" name="Shape 6427"/>
        <p:cNvGrpSpPr/>
        <p:nvPr/>
      </p:nvGrpSpPr>
      <p:grpSpPr>
        <a:xfrm>
          <a:off x="0" y="0"/>
          <a:ext cx="0" cy="0"/>
          <a:chOff x="0" y="0"/>
          <a:chExt cx="0" cy="0"/>
        </a:xfrm>
      </p:grpSpPr>
      <p:sp>
        <p:nvSpPr>
          <p:cNvPr id="6428" name="Google Shape;6428;p326: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429" name="Google Shape;6429;p3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66" name="Shape 6466"/>
        <p:cNvGrpSpPr/>
        <p:nvPr/>
      </p:nvGrpSpPr>
      <p:grpSpPr>
        <a:xfrm>
          <a:off x="0" y="0"/>
          <a:ext cx="0" cy="0"/>
          <a:chOff x="0" y="0"/>
          <a:chExt cx="0" cy="0"/>
        </a:xfrm>
      </p:grpSpPr>
      <p:sp>
        <p:nvSpPr>
          <p:cNvPr id="6467" name="Google Shape;6467;p32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468" name="Google Shape;6468;p32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6469" name="Google Shape;6469;p32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62" name="Shape 6562"/>
        <p:cNvGrpSpPr/>
        <p:nvPr/>
      </p:nvGrpSpPr>
      <p:grpSpPr>
        <a:xfrm>
          <a:off x="0" y="0"/>
          <a:ext cx="0" cy="0"/>
          <a:chOff x="0" y="0"/>
          <a:chExt cx="0" cy="0"/>
        </a:xfrm>
      </p:grpSpPr>
      <p:sp>
        <p:nvSpPr>
          <p:cNvPr id="6563" name="Google Shape;6563;p33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564" name="Google Shape;6564;p3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81" name="Shape 6581"/>
        <p:cNvGrpSpPr/>
        <p:nvPr/>
      </p:nvGrpSpPr>
      <p:grpSpPr>
        <a:xfrm>
          <a:off x="0" y="0"/>
          <a:ext cx="0" cy="0"/>
          <a:chOff x="0" y="0"/>
          <a:chExt cx="0" cy="0"/>
        </a:xfrm>
      </p:grpSpPr>
      <p:sp>
        <p:nvSpPr>
          <p:cNvPr id="6582" name="Google Shape;6582;p33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583" name="Google Shape;6583;p3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584" name="Google Shape;6584;p3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13" name="Shape 6613"/>
        <p:cNvGrpSpPr/>
        <p:nvPr/>
      </p:nvGrpSpPr>
      <p:grpSpPr>
        <a:xfrm>
          <a:off x="0" y="0"/>
          <a:ext cx="0" cy="0"/>
          <a:chOff x="0" y="0"/>
          <a:chExt cx="0" cy="0"/>
        </a:xfrm>
      </p:grpSpPr>
      <p:sp>
        <p:nvSpPr>
          <p:cNvPr id="6614" name="Google Shape;6614;p34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15" name="Google Shape;6615;p3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616" name="Google Shape;6616;p3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marR="0" rtl="0" algn="l">
              <a:lnSpc>
                <a:spcPct val="95000"/>
              </a:lnSpc>
              <a:spcBef>
                <a:spcPts val="0"/>
              </a:spcBef>
              <a:spcAft>
                <a:spcPts val="0"/>
              </a:spcAft>
              <a:buClr>
                <a:schemeClr val="dk1"/>
              </a:buClr>
              <a:buSzPts val="1200"/>
              <a:buFont typeface="Arial"/>
              <a:buChar char="•"/>
            </a:pPr>
            <a:r>
              <a:rPr lang="en-GB"/>
              <a:t>Tidell</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45" name="Shape 6645"/>
        <p:cNvGrpSpPr/>
        <p:nvPr/>
      </p:nvGrpSpPr>
      <p:grpSpPr>
        <a:xfrm>
          <a:off x="0" y="0"/>
          <a:ext cx="0" cy="0"/>
          <a:chOff x="0" y="0"/>
          <a:chExt cx="0" cy="0"/>
        </a:xfrm>
      </p:grpSpPr>
      <p:sp>
        <p:nvSpPr>
          <p:cNvPr id="6646" name="Google Shape;6646;p34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47" name="Google Shape;6647;p3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648" name="Google Shape;6648;p3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77" name="Shape 6677"/>
        <p:cNvGrpSpPr/>
        <p:nvPr/>
      </p:nvGrpSpPr>
      <p:grpSpPr>
        <a:xfrm>
          <a:off x="0" y="0"/>
          <a:ext cx="0" cy="0"/>
          <a:chOff x="0" y="0"/>
          <a:chExt cx="0" cy="0"/>
        </a:xfrm>
      </p:grpSpPr>
      <p:sp>
        <p:nvSpPr>
          <p:cNvPr id="6678" name="Google Shape;6678;p3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679" name="Google Shape;6679;p3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BRL and  ABL = below the line (one to one offers) and above the line (mass media)</a:t>
            </a:r>
            <a:endParaRPr/>
          </a:p>
        </p:txBody>
      </p:sp>
      <p:sp>
        <p:nvSpPr>
          <p:cNvPr id="6680" name="Google Shape;6680;p34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97" name="Shape 6697"/>
        <p:cNvGrpSpPr/>
        <p:nvPr/>
      </p:nvGrpSpPr>
      <p:grpSpPr>
        <a:xfrm>
          <a:off x="0" y="0"/>
          <a:ext cx="0" cy="0"/>
          <a:chOff x="0" y="0"/>
          <a:chExt cx="0" cy="0"/>
        </a:xfrm>
      </p:grpSpPr>
      <p:sp>
        <p:nvSpPr>
          <p:cNvPr id="6698" name="Google Shape;6698;p34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99" name="Google Shape;6699;p3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700" name="Google Shape;6700;p3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32" name="Shape 6732"/>
        <p:cNvGrpSpPr/>
        <p:nvPr/>
      </p:nvGrpSpPr>
      <p:grpSpPr>
        <a:xfrm>
          <a:off x="0" y="0"/>
          <a:ext cx="0" cy="0"/>
          <a:chOff x="0" y="0"/>
          <a:chExt cx="0" cy="0"/>
        </a:xfrm>
      </p:grpSpPr>
      <p:sp>
        <p:nvSpPr>
          <p:cNvPr id="6733" name="Google Shape;6733;p34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734" name="Google Shape;6734;p3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735" name="Google Shape;6735;p3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64" name="Shape 6764"/>
        <p:cNvGrpSpPr/>
        <p:nvPr/>
      </p:nvGrpSpPr>
      <p:grpSpPr>
        <a:xfrm>
          <a:off x="0" y="0"/>
          <a:ext cx="0" cy="0"/>
          <a:chOff x="0" y="0"/>
          <a:chExt cx="0" cy="0"/>
        </a:xfrm>
      </p:grpSpPr>
      <p:sp>
        <p:nvSpPr>
          <p:cNvPr id="6765" name="Google Shape;6765;p3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766" name="Google Shape;6766;p3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Axon</a:t>
            </a:r>
            <a:endParaRPr/>
          </a:p>
        </p:txBody>
      </p:sp>
      <p:sp>
        <p:nvSpPr>
          <p:cNvPr id="6767" name="Google Shape;6767;p35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86" name="Shape 6786"/>
        <p:cNvGrpSpPr/>
        <p:nvPr/>
      </p:nvGrpSpPr>
      <p:grpSpPr>
        <a:xfrm>
          <a:off x="0" y="0"/>
          <a:ext cx="0" cy="0"/>
          <a:chOff x="0" y="0"/>
          <a:chExt cx="0" cy="0"/>
        </a:xfrm>
      </p:grpSpPr>
      <p:sp>
        <p:nvSpPr>
          <p:cNvPr id="6787" name="Google Shape;6787;p35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788" name="Google Shape;6788;p3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789" name="Google Shape;6789;p3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18" name="Shape 6818"/>
        <p:cNvGrpSpPr/>
        <p:nvPr/>
      </p:nvGrpSpPr>
      <p:grpSpPr>
        <a:xfrm>
          <a:off x="0" y="0"/>
          <a:ext cx="0" cy="0"/>
          <a:chOff x="0" y="0"/>
          <a:chExt cx="0" cy="0"/>
        </a:xfrm>
      </p:grpSpPr>
      <p:sp>
        <p:nvSpPr>
          <p:cNvPr id="6819" name="Google Shape;6819;p35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820" name="Google Shape;6820;p3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821" name="Google Shape;6821;p3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50" name="Shape 6850"/>
        <p:cNvGrpSpPr/>
        <p:nvPr/>
      </p:nvGrpSpPr>
      <p:grpSpPr>
        <a:xfrm>
          <a:off x="0" y="0"/>
          <a:ext cx="0" cy="0"/>
          <a:chOff x="0" y="0"/>
          <a:chExt cx="0" cy="0"/>
        </a:xfrm>
      </p:grpSpPr>
      <p:sp>
        <p:nvSpPr>
          <p:cNvPr id="6851" name="Google Shape;6851;p3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852" name="Google Shape;6852;p3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Erdelyi</a:t>
            </a:r>
            <a:endParaRPr/>
          </a:p>
        </p:txBody>
      </p:sp>
      <p:sp>
        <p:nvSpPr>
          <p:cNvPr id="6853" name="Google Shape;6853;p35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71" name="Shape 6871"/>
        <p:cNvGrpSpPr/>
        <p:nvPr/>
      </p:nvGrpSpPr>
      <p:grpSpPr>
        <a:xfrm>
          <a:off x="0" y="0"/>
          <a:ext cx="0" cy="0"/>
          <a:chOff x="0" y="0"/>
          <a:chExt cx="0" cy="0"/>
        </a:xfrm>
      </p:grpSpPr>
      <p:sp>
        <p:nvSpPr>
          <p:cNvPr id="6872" name="Google Shape;6872;p35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873" name="Google Shape;6873;p3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874" name="Google Shape;6874;p3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Tidell</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03" name="Shape 6903"/>
        <p:cNvGrpSpPr/>
        <p:nvPr/>
      </p:nvGrpSpPr>
      <p:grpSpPr>
        <a:xfrm>
          <a:off x="0" y="0"/>
          <a:ext cx="0" cy="0"/>
          <a:chOff x="0" y="0"/>
          <a:chExt cx="0" cy="0"/>
        </a:xfrm>
      </p:grpSpPr>
      <p:sp>
        <p:nvSpPr>
          <p:cNvPr id="6904" name="Google Shape;6904;p3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905" name="Google Shape;6905;p3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p:txBody>
      </p:sp>
      <p:sp>
        <p:nvSpPr>
          <p:cNvPr id="6906" name="Google Shape;6906;p36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24" name="Shape 6924"/>
        <p:cNvGrpSpPr/>
        <p:nvPr/>
      </p:nvGrpSpPr>
      <p:grpSpPr>
        <a:xfrm>
          <a:off x="0" y="0"/>
          <a:ext cx="0" cy="0"/>
          <a:chOff x="0" y="0"/>
          <a:chExt cx="0" cy="0"/>
        </a:xfrm>
      </p:grpSpPr>
      <p:sp>
        <p:nvSpPr>
          <p:cNvPr id="6925" name="Google Shape;6925;p36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926" name="Google Shape;6926;p3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927" name="Google Shape;6927;p3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56" name="Shape 6956"/>
        <p:cNvGrpSpPr/>
        <p:nvPr/>
      </p:nvGrpSpPr>
      <p:grpSpPr>
        <a:xfrm>
          <a:off x="0" y="0"/>
          <a:ext cx="0" cy="0"/>
          <a:chOff x="0" y="0"/>
          <a:chExt cx="0" cy="0"/>
        </a:xfrm>
      </p:grpSpPr>
      <p:sp>
        <p:nvSpPr>
          <p:cNvPr id="6957" name="Google Shape;6957;p36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958" name="Google Shape;6958;p3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959" name="Google Shape;6959;p3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Axon</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88" name="Shape 6988"/>
        <p:cNvGrpSpPr/>
        <p:nvPr/>
      </p:nvGrpSpPr>
      <p:grpSpPr>
        <a:xfrm>
          <a:off x="0" y="0"/>
          <a:ext cx="0" cy="0"/>
          <a:chOff x="0" y="0"/>
          <a:chExt cx="0" cy="0"/>
        </a:xfrm>
      </p:grpSpPr>
      <p:sp>
        <p:nvSpPr>
          <p:cNvPr id="6989" name="Google Shape;6989;p36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990" name="Google Shape;6990;p3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991" name="Google Shape;6991;p3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20" name="Shape 7020"/>
        <p:cNvGrpSpPr/>
        <p:nvPr/>
      </p:nvGrpSpPr>
      <p:grpSpPr>
        <a:xfrm>
          <a:off x="0" y="0"/>
          <a:ext cx="0" cy="0"/>
          <a:chOff x="0" y="0"/>
          <a:chExt cx="0" cy="0"/>
        </a:xfrm>
      </p:grpSpPr>
      <p:sp>
        <p:nvSpPr>
          <p:cNvPr id="7021" name="Google Shape;7021;p36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022" name="Google Shape;7022;p3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23" name="Google Shape;7023;p3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Daniel</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52" name="Shape 7052"/>
        <p:cNvGrpSpPr/>
        <p:nvPr/>
      </p:nvGrpSpPr>
      <p:grpSpPr>
        <a:xfrm>
          <a:off x="0" y="0"/>
          <a:ext cx="0" cy="0"/>
          <a:chOff x="0" y="0"/>
          <a:chExt cx="0" cy="0"/>
        </a:xfrm>
      </p:grpSpPr>
      <p:sp>
        <p:nvSpPr>
          <p:cNvPr id="7053" name="Google Shape;7053;p37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054" name="Google Shape;7054;p3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55" name="Google Shape;7055;p3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91" name="Shape 7091"/>
        <p:cNvGrpSpPr/>
        <p:nvPr/>
      </p:nvGrpSpPr>
      <p:grpSpPr>
        <a:xfrm>
          <a:off x="0" y="0"/>
          <a:ext cx="0" cy="0"/>
          <a:chOff x="0" y="0"/>
          <a:chExt cx="0" cy="0"/>
        </a:xfrm>
      </p:grpSpPr>
      <p:sp>
        <p:nvSpPr>
          <p:cNvPr id="7092" name="Google Shape;7092;p37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093" name="Google Shape;7093;p3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94" name="Google Shape;7094;p3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3</a:t>
            </a:r>
            <a:endParaRPr/>
          </a:p>
          <a:p>
            <a:pPr indent="-173038" lvl="0" marL="173038" rtl="0" algn="l">
              <a:lnSpc>
                <a:spcPct val="95000"/>
              </a:lnSpc>
              <a:spcBef>
                <a:spcPts val="400"/>
              </a:spcBef>
              <a:spcAft>
                <a:spcPts val="0"/>
              </a:spcAft>
              <a:buClr>
                <a:schemeClr val="dk1"/>
              </a:buClr>
              <a:buSzPts val="1200"/>
              <a:buChar char="•"/>
            </a:pPr>
            <a:r>
              <a:rPr lang="en-GB"/>
              <a:t>Owner is anonymous?</a:t>
            </a:r>
            <a:endParaRPr/>
          </a:p>
          <a:p>
            <a:pPr indent="-96838" lvl="0" marL="173038" rtl="0" algn="l">
              <a:lnSpc>
                <a:spcPct val="95000"/>
              </a:lnSpc>
              <a:spcBef>
                <a:spcPts val="400"/>
              </a:spcBef>
              <a:spcAft>
                <a:spcPts val="0"/>
              </a:spcAft>
              <a:buClr>
                <a:schemeClr val="dk1"/>
              </a:buClr>
              <a:buSzPts val="1200"/>
              <a:buNone/>
            </a:pPr>
            <a:r>
              <a:t/>
            </a:r>
            <a:endParaRPr/>
          </a:p>
          <a:p>
            <a:pPr indent="-173038" lvl="0" marL="173038" rtl="0" algn="l">
              <a:lnSpc>
                <a:spcPct val="95000"/>
              </a:lnSpc>
              <a:spcBef>
                <a:spcPts val="40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11" name="Shape 7111"/>
        <p:cNvGrpSpPr/>
        <p:nvPr/>
      </p:nvGrpSpPr>
      <p:grpSpPr>
        <a:xfrm>
          <a:off x="0" y="0"/>
          <a:ext cx="0" cy="0"/>
          <a:chOff x="0" y="0"/>
          <a:chExt cx="0" cy="0"/>
        </a:xfrm>
      </p:grpSpPr>
      <p:sp>
        <p:nvSpPr>
          <p:cNvPr id="7112" name="Google Shape;7112;p37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13" name="Google Shape;7113;p3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14" name="Google Shape;7114;p3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31" name="Shape 7131"/>
        <p:cNvGrpSpPr/>
        <p:nvPr/>
      </p:nvGrpSpPr>
      <p:grpSpPr>
        <a:xfrm>
          <a:off x="0" y="0"/>
          <a:ext cx="0" cy="0"/>
          <a:chOff x="0" y="0"/>
          <a:chExt cx="0" cy="0"/>
        </a:xfrm>
      </p:grpSpPr>
      <p:sp>
        <p:nvSpPr>
          <p:cNvPr id="7132" name="Google Shape;7132;p37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33" name="Google Shape;7133;p3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34" name="Google Shape;7134;p3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51" name="Shape 7151"/>
        <p:cNvGrpSpPr/>
        <p:nvPr/>
      </p:nvGrpSpPr>
      <p:grpSpPr>
        <a:xfrm>
          <a:off x="0" y="0"/>
          <a:ext cx="0" cy="0"/>
          <a:chOff x="0" y="0"/>
          <a:chExt cx="0" cy="0"/>
        </a:xfrm>
      </p:grpSpPr>
      <p:sp>
        <p:nvSpPr>
          <p:cNvPr id="7152" name="Google Shape;7152;p377: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53" name="Google Shape;7153;p3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54" name="Google Shape;7154;p3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71" name="Shape 7171"/>
        <p:cNvGrpSpPr/>
        <p:nvPr/>
      </p:nvGrpSpPr>
      <p:grpSpPr>
        <a:xfrm>
          <a:off x="0" y="0"/>
          <a:ext cx="0" cy="0"/>
          <a:chOff x="0" y="0"/>
          <a:chExt cx="0" cy="0"/>
        </a:xfrm>
      </p:grpSpPr>
      <p:sp>
        <p:nvSpPr>
          <p:cNvPr id="7172" name="Google Shape;7172;p378: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73" name="Google Shape;7173;p3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74" name="Google Shape;7174;p3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91" name="Shape 7191"/>
        <p:cNvGrpSpPr/>
        <p:nvPr/>
      </p:nvGrpSpPr>
      <p:grpSpPr>
        <a:xfrm>
          <a:off x="0" y="0"/>
          <a:ext cx="0" cy="0"/>
          <a:chOff x="0" y="0"/>
          <a:chExt cx="0" cy="0"/>
        </a:xfrm>
      </p:grpSpPr>
      <p:sp>
        <p:nvSpPr>
          <p:cNvPr id="7192" name="Google Shape;7192;p379: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193" name="Google Shape;7193;p3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94" name="Google Shape;7194;p3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11" name="Shape 7211"/>
        <p:cNvGrpSpPr/>
        <p:nvPr/>
      </p:nvGrpSpPr>
      <p:grpSpPr>
        <a:xfrm>
          <a:off x="0" y="0"/>
          <a:ext cx="0" cy="0"/>
          <a:chOff x="0" y="0"/>
          <a:chExt cx="0" cy="0"/>
        </a:xfrm>
      </p:grpSpPr>
      <p:sp>
        <p:nvSpPr>
          <p:cNvPr id="7212" name="Google Shape;7212;p380: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213" name="Google Shape;7213;p3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14" name="Google Shape;7214;p38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45" name="Shape 7245"/>
        <p:cNvGrpSpPr/>
        <p:nvPr/>
      </p:nvGrpSpPr>
      <p:grpSpPr>
        <a:xfrm>
          <a:off x="0" y="0"/>
          <a:ext cx="0" cy="0"/>
          <a:chOff x="0" y="0"/>
          <a:chExt cx="0" cy="0"/>
        </a:xfrm>
      </p:grpSpPr>
      <p:sp>
        <p:nvSpPr>
          <p:cNvPr id="7246" name="Google Shape;7246;p38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247" name="Google Shape;7247;p3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48" name="Google Shape;7248;p38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65" name="Shape 7265"/>
        <p:cNvGrpSpPr/>
        <p:nvPr/>
      </p:nvGrpSpPr>
      <p:grpSpPr>
        <a:xfrm>
          <a:off x="0" y="0"/>
          <a:ext cx="0" cy="0"/>
          <a:chOff x="0" y="0"/>
          <a:chExt cx="0" cy="0"/>
        </a:xfrm>
      </p:grpSpPr>
      <p:sp>
        <p:nvSpPr>
          <p:cNvPr id="7266" name="Google Shape;7266;p383: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267" name="Google Shape;7267;p3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68" name="Google Shape;7268;p38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85" name="Shape 7285"/>
        <p:cNvGrpSpPr/>
        <p:nvPr/>
      </p:nvGrpSpPr>
      <p:grpSpPr>
        <a:xfrm>
          <a:off x="0" y="0"/>
          <a:ext cx="0" cy="0"/>
          <a:chOff x="0" y="0"/>
          <a:chExt cx="0" cy="0"/>
        </a:xfrm>
      </p:grpSpPr>
      <p:sp>
        <p:nvSpPr>
          <p:cNvPr id="7286" name="Google Shape;7286;p384: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287" name="Google Shape;7287;p3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88" name="Google Shape;7288;p38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05" name="Shape 7305"/>
        <p:cNvGrpSpPr/>
        <p:nvPr/>
      </p:nvGrpSpPr>
      <p:grpSpPr>
        <a:xfrm>
          <a:off x="0" y="0"/>
          <a:ext cx="0" cy="0"/>
          <a:chOff x="0" y="0"/>
          <a:chExt cx="0" cy="0"/>
        </a:xfrm>
      </p:grpSpPr>
      <p:sp>
        <p:nvSpPr>
          <p:cNvPr id="7306" name="Google Shape;7306;p385: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307" name="Google Shape;7307;p3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308" name="Google Shape;7308;p3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25" name="Shape 7325"/>
        <p:cNvGrpSpPr/>
        <p:nvPr/>
      </p:nvGrpSpPr>
      <p:grpSpPr>
        <a:xfrm>
          <a:off x="0" y="0"/>
          <a:ext cx="0" cy="0"/>
          <a:chOff x="0" y="0"/>
          <a:chExt cx="0" cy="0"/>
        </a:xfrm>
      </p:grpSpPr>
      <p:sp>
        <p:nvSpPr>
          <p:cNvPr id="7326" name="Google Shape;7326;p38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327" name="Google Shape;7327;p3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328" name="Google Shape;7328;p3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59" name="Shape 7359"/>
        <p:cNvGrpSpPr/>
        <p:nvPr/>
      </p:nvGrpSpPr>
      <p:grpSpPr>
        <a:xfrm>
          <a:off x="0" y="0"/>
          <a:ext cx="0" cy="0"/>
          <a:chOff x="0" y="0"/>
          <a:chExt cx="0" cy="0"/>
        </a:xfrm>
      </p:grpSpPr>
      <p:sp>
        <p:nvSpPr>
          <p:cNvPr id="7360" name="Google Shape;7360;p38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361" name="Google Shape;7361;p3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362" name="Google Shape;7362;p3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89" name="Shape 7389"/>
        <p:cNvGrpSpPr/>
        <p:nvPr/>
      </p:nvGrpSpPr>
      <p:grpSpPr>
        <a:xfrm>
          <a:off x="0" y="0"/>
          <a:ext cx="0" cy="0"/>
          <a:chOff x="0" y="0"/>
          <a:chExt cx="0" cy="0"/>
        </a:xfrm>
      </p:grpSpPr>
      <p:sp>
        <p:nvSpPr>
          <p:cNvPr id="7390" name="Google Shape;7390;p3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391" name="Google Shape;7391;p3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392" name="Google Shape;7392;p39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14" name="Shape 7414"/>
        <p:cNvGrpSpPr/>
        <p:nvPr/>
      </p:nvGrpSpPr>
      <p:grpSpPr>
        <a:xfrm>
          <a:off x="0" y="0"/>
          <a:ext cx="0" cy="0"/>
          <a:chOff x="0" y="0"/>
          <a:chExt cx="0" cy="0"/>
        </a:xfrm>
      </p:grpSpPr>
      <p:sp>
        <p:nvSpPr>
          <p:cNvPr id="7415" name="Google Shape;7415;p39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16" name="Google Shape;7416;p3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417" name="Google Shape;7417;p39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45" name="Shape 7445"/>
        <p:cNvGrpSpPr/>
        <p:nvPr/>
      </p:nvGrpSpPr>
      <p:grpSpPr>
        <a:xfrm>
          <a:off x="0" y="0"/>
          <a:ext cx="0" cy="0"/>
          <a:chOff x="0" y="0"/>
          <a:chExt cx="0" cy="0"/>
        </a:xfrm>
      </p:grpSpPr>
      <p:sp>
        <p:nvSpPr>
          <p:cNvPr id="7446" name="Google Shape;7446;p39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47" name="Google Shape;7447;p3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448" name="Google Shape;7448;p392: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76" name="Shape 7476"/>
        <p:cNvGrpSpPr/>
        <p:nvPr/>
      </p:nvGrpSpPr>
      <p:grpSpPr>
        <a:xfrm>
          <a:off x="0" y="0"/>
          <a:ext cx="0" cy="0"/>
          <a:chOff x="0" y="0"/>
          <a:chExt cx="0" cy="0"/>
        </a:xfrm>
      </p:grpSpPr>
      <p:sp>
        <p:nvSpPr>
          <p:cNvPr id="7477" name="Google Shape;7477;p39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78" name="Google Shape;7478;p3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479" name="Google Shape;7479;p39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02" name="Shape 7502"/>
        <p:cNvGrpSpPr/>
        <p:nvPr/>
      </p:nvGrpSpPr>
      <p:grpSpPr>
        <a:xfrm>
          <a:off x="0" y="0"/>
          <a:ext cx="0" cy="0"/>
          <a:chOff x="0" y="0"/>
          <a:chExt cx="0" cy="0"/>
        </a:xfrm>
      </p:grpSpPr>
      <p:sp>
        <p:nvSpPr>
          <p:cNvPr id="7503" name="Google Shape;7503;p3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04" name="Google Shape;7504;p39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505" name="Google Shape;7505;p39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33" name="Shape 7533"/>
        <p:cNvGrpSpPr/>
        <p:nvPr/>
      </p:nvGrpSpPr>
      <p:grpSpPr>
        <a:xfrm>
          <a:off x="0" y="0"/>
          <a:ext cx="0" cy="0"/>
          <a:chOff x="0" y="0"/>
          <a:chExt cx="0" cy="0"/>
        </a:xfrm>
      </p:grpSpPr>
      <p:sp>
        <p:nvSpPr>
          <p:cNvPr id="7534" name="Google Shape;7534;p39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35" name="Google Shape;7535;p3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536" name="Google Shape;7536;p39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65" name="Shape 7565"/>
        <p:cNvGrpSpPr/>
        <p:nvPr/>
      </p:nvGrpSpPr>
      <p:grpSpPr>
        <a:xfrm>
          <a:off x="0" y="0"/>
          <a:ext cx="0" cy="0"/>
          <a:chOff x="0" y="0"/>
          <a:chExt cx="0" cy="0"/>
        </a:xfrm>
      </p:grpSpPr>
      <p:sp>
        <p:nvSpPr>
          <p:cNvPr id="7566" name="Google Shape;7566;p39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67" name="Google Shape;7567;p3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568" name="Google Shape;7568;p39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86" name="Shape 7586"/>
        <p:cNvGrpSpPr/>
        <p:nvPr/>
      </p:nvGrpSpPr>
      <p:grpSpPr>
        <a:xfrm>
          <a:off x="0" y="0"/>
          <a:ext cx="0" cy="0"/>
          <a:chOff x="0" y="0"/>
          <a:chExt cx="0" cy="0"/>
        </a:xfrm>
      </p:grpSpPr>
      <p:sp>
        <p:nvSpPr>
          <p:cNvPr id="7587" name="Google Shape;7587;p39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588" name="Google Shape;7588;p39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17" name="Shape 7617"/>
        <p:cNvGrpSpPr/>
        <p:nvPr/>
      </p:nvGrpSpPr>
      <p:grpSpPr>
        <a:xfrm>
          <a:off x="0" y="0"/>
          <a:ext cx="0" cy="0"/>
          <a:chOff x="0" y="0"/>
          <a:chExt cx="0" cy="0"/>
        </a:xfrm>
      </p:grpSpPr>
      <p:sp>
        <p:nvSpPr>
          <p:cNvPr id="7618" name="Google Shape;7618;p40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619" name="Google Shape;7619;p40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91" name="Shape 7691"/>
        <p:cNvGrpSpPr/>
        <p:nvPr/>
      </p:nvGrpSpPr>
      <p:grpSpPr>
        <a:xfrm>
          <a:off x="0" y="0"/>
          <a:ext cx="0" cy="0"/>
          <a:chOff x="0" y="0"/>
          <a:chExt cx="0" cy="0"/>
        </a:xfrm>
      </p:grpSpPr>
      <p:sp>
        <p:nvSpPr>
          <p:cNvPr id="7692" name="Google Shape;7692;p40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693" name="Google Shape;7693;p4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694" name="Google Shape;7694;p4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23" name="Shape 7723"/>
        <p:cNvGrpSpPr/>
        <p:nvPr/>
      </p:nvGrpSpPr>
      <p:grpSpPr>
        <a:xfrm>
          <a:off x="0" y="0"/>
          <a:ext cx="0" cy="0"/>
          <a:chOff x="0" y="0"/>
          <a:chExt cx="0" cy="0"/>
        </a:xfrm>
      </p:grpSpPr>
      <p:sp>
        <p:nvSpPr>
          <p:cNvPr id="7724" name="Google Shape;7724;p40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25" name="Google Shape;7725;p4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26" name="Google Shape;7726;p4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55" name="Shape 7755"/>
        <p:cNvGrpSpPr/>
        <p:nvPr/>
      </p:nvGrpSpPr>
      <p:grpSpPr>
        <a:xfrm>
          <a:off x="0" y="0"/>
          <a:ext cx="0" cy="0"/>
          <a:chOff x="0" y="0"/>
          <a:chExt cx="0" cy="0"/>
        </a:xfrm>
      </p:grpSpPr>
      <p:sp>
        <p:nvSpPr>
          <p:cNvPr id="7756" name="Google Shape;7756;p41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57" name="Google Shape;7757;p4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58" name="Google Shape;7758;p4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87" name="Shape 7787"/>
        <p:cNvGrpSpPr/>
        <p:nvPr/>
      </p:nvGrpSpPr>
      <p:grpSpPr>
        <a:xfrm>
          <a:off x="0" y="0"/>
          <a:ext cx="0" cy="0"/>
          <a:chOff x="0" y="0"/>
          <a:chExt cx="0" cy="0"/>
        </a:xfrm>
      </p:grpSpPr>
      <p:sp>
        <p:nvSpPr>
          <p:cNvPr id="7788" name="Google Shape;7788;p41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89" name="Google Shape;7789;p4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90" name="Google Shape;7790;p4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19" name="Shape 7819"/>
        <p:cNvGrpSpPr/>
        <p:nvPr/>
      </p:nvGrpSpPr>
      <p:grpSpPr>
        <a:xfrm>
          <a:off x="0" y="0"/>
          <a:ext cx="0" cy="0"/>
          <a:chOff x="0" y="0"/>
          <a:chExt cx="0" cy="0"/>
        </a:xfrm>
      </p:grpSpPr>
      <p:sp>
        <p:nvSpPr>
          <p:cNvPr id="7820" name="Google Shape;7820;p41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21" name="Google Shape;7821;p4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22" name="Google Shape;7822;p4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51" name="Shape 7851"/>
        <p:cNvGrpSpPr/>
        <p:nvPr/>
      </p:nvGrpSpPr>
      <p:grpSpPr>
        <a:xfrm>
          <a:off x="0" y="0"/>
          <a:ext cx="0" cy="0"/>
          <a:chOff x="0" y="0"/>
          <a:chExt cx="0" cy="0"/>
        </a:xfrm>
      </p:grpSpPr>
      <p:sp>
        <p:nvSpPr>
          <p:cNvPr id="7852" name="Google Shape;7852;p41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53" name="Google Shape;7853;p4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54" name="Google Shape;7854;p4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83" name="Shape 7883"/>
        <p:cNvGrpSpPr/>
        <p:nvPr/>
      </p:nvGrpSpPr>
      <p:grpSpPr>
        <a:xfrm>
          <a:off x="0" y="0"/>
          <a:ext cx="0" cy="0"/>
          <a:chOff x="0" y="0"/>
          <a:chExt cx="0" cy="0"/>
        </a:xfrm>
      </p:grpSpPr>
      <p:sp>
        <p:nvSpPr>
          <p:cNvPr id="7884" name="Google Shape;7884;p41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85" name="Google Shape;7885;p4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86" name="Google Shape;7886;p4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15" name="Shape 7915"/>
        <p:cNvGrpSpPr/>
        <p:nvPr/>
      </p:nvGrpSpPr>
      <p:grpSpPr>
        <a:xfrm>
          <a:off x="0" y="0"/>
          <a:ext cx="0" cy="0"/>
          <a:chOff x="0" y="0"/>
          <a:chExt cx="0" cy="0"/>
        </a:xfrm>
      </p:grpSpPr>
      <p:sp>
        <p:nvSpPr>
          <p:cNvPr id="7916" name="Google Shape;7916;p42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17" name="Google Shape;7917;p4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918" name="Google Shape;7918;p4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47" name="Shape 7947"/>
        <p:cNvGrpSpPr/>
        <p:nvPr/>
      </p:nvGrpSpPr>
      <p:grpSpPr>
        <a:xfrm>
          <a:off x="0" y="0"/>
          <a:ext cx="0" cy="0"/>
          <a:chOff x="0" y="0"/>
          <a:chExt cx="0" cy="0"/>
        </a:xfrm>
      </p:grpSpPr>
      <p:sp>
        <p:nvSpPr>
          <p:cNvPr id="7948" name="Google Shape;7948;p42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949" name="Google Shape;7949;p4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65" name="Shape 7965"/>
        <p:cNvGrpSpPr/>
        <p:nvPr/>
      </p:nvGrpSpPr>
      <p:grpSpPr>
        <a:xfrm>
          <a:off x="0" y="0"/>
          <a:ext cx="0" cy="0"/>
          <a:chOff x="0" y="0"/>
          <a:chExt cx="0" cy="0"/>
        </a:xfrm>
      </p:grpSpPr>
      <p:sp>
        <p:nvSpPr>
          <p:cNvPr id="7966" name="Google Shape;7966;p42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67" name="Google Shape;7967;p4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968" name="Google Shape;7968;p4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97" name="Shape 7997"/>
        <p:cNvGrpSpPr/>
        <p:nvPr/>
      </p:nvGrpSpPr>
      <p:grpSpPr>
        <a:xfrm>
          <a:off x="0" y="0"/>
          <a:ext cx="0" cy="0"/>
          <a:chOff x="0" y="0"/>
          <a:chExt cx="0" cy="0"/>
        </a:xfrm>
      </p:grpSpPr>
      <p:sp>
        <p:nvSpPr>
          <p:cNvPr id="7998" name="Google Shape;7998;p42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99" name="Google Shape;7999;p4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00" name="Google Shape;8000;p42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29" name="Shape 8029"/>
        <p:cNvGrpSpPr/>
        <p:nvPr/>
      </p:nvGrpSpPr>
      <p:grpSpPr>
        <a:xfrm>
          <a:off x="0" y="0"/>
          <a:ext cx="0" cy="0"/>
          <a:chOff x="0" y="0"/>
          <a:chExt cx="0" cy="0"/>
        </a:xfrm>
      </p:grpSpPr>
      <p:sp>
        <p:nvSpPr>
          <p:cNvPr id="8030" name="Google Shape;8030;p42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31" name="Google Shape;8031;p4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32" name="Google Shape;8032;p42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61" name="Shape 8061"/>
        <p:cNvGrpSpPr/>
        <p:nvPr/>
      </p:nvGrpSpPr>
      <p:grpSpPr>
        <a:xfrm>
          <a:off x="0" y="0"/>
          <a:ext cx="0" cy="0"/>
          <a:chOff x="0" y="0"/>
          <a:chExt cx="0" cy="0"/>
        </a:xfrm>
      </p:grpSpPr>
      <p:sp>
        <p:nvSpPr>
          <p:cNvPr id="8062" name="Google Shape;8062;p43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63" name="Google Shape;8063;p43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64" name="Google Shape;8064;p43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93" name="Shape 8093"/>
        <p:cNvGrpSpPr/>
        <p:nvPr/>
      </p:nvGrpSpPr>
      <p:grpSpPr>
        <a:xfrm>
          <a:off x="0" y="0"/>
          <a:ext cx="0" cy="0"/>
          <a:chOff x="0" y="0"/>
          <a:chExt cx="0" cy="0"/>
        </a:xfrm>
      </p:grpSpPr>
      <p:sp>
        <p:nvSpPr>
          <p:cNvPr id="8094" name="Google Shape;8094;p43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95" name="Google Shape;8095;p43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96" name="Google Shape;8096;p4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24" name="Shape 8124"/>
        <p:cNvGrpSpPr/>
        <p:nvPr/>
      </p:nvGrpSpPr>
      <p:grpSpPr>
        <a:xfrm>
          <a:off x="0" y="0"/>
          <a:ext cx="0" cy="0"/>
          <a:chOff x="0" y="0"/>
          <a:chExt cx="0" cy="0"/>
        </a:xfrm>
      </p:grpSpPr>
      <p:sp>
        <p:nvSpPr>
          <p:cNvPr id="8125" name="Google Shape;8125;p43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126" name="Google Shape;8126;p43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58" name="Shape 8158"/>
        <p:cNvGrpSpPr/>
        <p:nvPr/>
      </p:nvGrpSpPr>
      <p:grpSpPr>
        <a:xfrm>
          <a:off x="0" y="0"/>
          <a:ext cx="0" cy="0"/>
          <a:chOff x="0" y="0"/>
          <a:chExt cx="0" cy="0"/>
        </a:xfrm>
      </p:grpSpPr>
      <p:sp>
        <p:nvSpPr>
          <p:cNvPr id="8159" name="Google Shape;8159;p43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160" name="Google Shape;8160;p436: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161" name="Google Shape;8161;p43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90" name="Shape 8190"/>
        <p:cNvGrpSpPr/>
        <p:nvPr/>
      </p:nvGrpSpPr>
      <p:grpSpPr>
        <a:xfrm>
          <a:off x="0" y="0"/>
          <a:ext cx="0" cy="0"/>
          <a:chOff x="0" y="0"/>
          <a:chExt cx="0" cy="0"/>
        </a:xfrm>
      </p:grpSpPr>
      <p:sp>
        <p:nvSpPr>
          <p:cNvPr id="8191" name="Google Shape;8191;p43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192" name="Google Shape;8192;p438: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193" name="Google Shape;8193;p4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22" name="Shape 8222"/>
        <p:cNvGrpSpPr/>
        <p:nvPr/>
      </p:nvGrpSpPr>
      <p:grpSpPr>
        <a:xfrm>
          <a:off x="0" y="0"/>
          <a:ext cx="0" cy="0"/>
          <a:chOff x="0" y="0"/>
          <a:chExt cx="0" cy="0"/>
        </a:xfrm>
      </p:grpSpPr>
      <p:sp>
        <p:nvSpPr>
          <p:cNvPr id="8223" name="Google Shape;8223;p44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224" name="Google Shape;8224;p44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65" name="Shape 8265"/>
        <p:cNvGrpSpPr/>
        <p:nvPr/>
      </p:nvGrpSpPr>
      <p:grpSpPr>
        <a:xfrm>
          <a:off x="0" y="0"/>
          <a:ext cx="0" cy="0"/>
          <a:chOff x="0" y="0"/>
          <a:chExt cx="0" cy="0"/>
        </a:xfrm>
      </p:grpSpPr>
      <p:sp>
        <p:nvSpPr>
          <p:cNvPr id="8266" name="Google Shape;8266;p44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267" name="Google Shape;8267;p4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268" name="Google Shape;8268;p4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97" name="Shape 8297"/>
        <p:cNvGrpSpPr/>
        <p:nvPr/>
      </p:nvGrpSpPr>
      <p:grpSpPr>
        <a:xfrm>
          <a:off x="0" y="0"/>
          <a:ext cx="0" cy="0"/>
          <a:chOff x="0" y="0"/>
          <a:chExt cx="0" cy="0"/>
        </a:xfrm>
      </p:grpSpPr>
      <p:sp>
        <p:nvSpPr>
          <p:cNvPr id="8298" name="Google Shape;8298;p44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299" name="Google Shape;8299;p4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40" name="Shape 8340"/>
        <p:cNvGrpSpPr/>
        <p:nvPr/>
      </p:nvGrpSpPr>
      <p:grpSpPr>
        <a:xfrm>
          <a:off x="0" y="0"/>
          <a:ext cx="0" cy="0"/>
          <a:chOff x="0" y="0"/>
          <a:chExt cx="0" cy="0"/>
        </a:xfrm>
      </p:grpSpPr>
      <p:sp>
        <p:nvSpPr>
          <p:cNvPr id="8341" name="Google Shape;8341;p44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342" name="Google Shape;8342;p4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343" name="Google Shape;8343;p4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78" name="Shape 8378"/>
        <p:cNvGrpSpPr/>
        <p:nvPr/>
      </p:nvGrpSpPr>
      <p:grpSpPr>
        <a:xfrm>
          <a:off x="0" y="0"/>
          <a:ext cx="0" cy="0"/>
          <a:chOff x="0" y="0"/>
          <a:chExt cx="0" cy="0"/>
        </a:xfrm>
      </p:grpSpPr>
      <p:sp>
        <p:nvSpPr>
          <p:cNvPr id="8379" name="Google Shape;8379;p45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380" name="Google Shape;8380;p4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381" name="Google Shape;8381;p4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98" name="Shape 8398"/>
        <p:cNvGrpSpPr/>
        <p:nvPr/>
      </p:nvGrpSpPr>
      <p:grpSpPr>
        <a:xfrm>
          <a:off x="0" y="0"/>
          <a:ext cx="0" cy="0"/>
          <a:chOff x="0" y="0"/>
          <a:chExt cx="0" cy="0"/>
        </a:xfrm>
      </p:grpSpPr>
      <p:sp>
        <p:nvSpPr>
          <p:cNvPr id="8399" name="Google Shape;8399;p45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00" name="Google Shape;8400;p4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01" name="Google Shape;8401;p4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think GIS in this context is just another form of visualization in this context; may want to put in parenthesis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4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18" name="Shape 8418"/>
        <p:cNvGrpSpPr/>
        <p:nvPr/>
      </p:nvGrpSpPr>
      <p:grpSpPr>
        <a:xfrm>
          <a:off x="0" y="0"/>
          <a:ext cx="0" cy="0"/>
          <a:chOff x="0" y="0"/>
          <a:chExt cx="0" cy="0"/>
        </a:xfrm>
      </p:grpSpPr>
      <p:sp>
        <p:nvSpPr>
          <p:cNvPr id="8419" name="Google Shape;8419;p45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20" name="Google Shape;8420;p4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21" name="Google Shape;8421;p4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38" name="Shape 8438"/>
        <p:cNvGrpSpPr/>
        <p:nvPr/>
      </p:nvGrpSpPr>
      <p:grpSpPr>
        <a:xfrm>
          <a:off x="0" y="0"/>
          <a:ext cx="0" cy="0"/>
          <a:chOff x="0" y="0"/>
          <a:chExt cx="0" cy="0"/>
        </a:xfrm>
      </p:grpSpPr>
      <p:sp>
        <p:nvSpPr>
          <p:cNvPr id="8439" name="Google Shape;8439;p45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40" name="Google Shape;8440;p4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41" name="Google Shape;8441;p4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58" name="Shape 8458"/>
        <p:cNvGrpSpPr/>
        <p:nvPr/>
      </p:nvGrpSpPr>
      <p:grpSpPr>
        <a:xfrm>
          <a:off x="0" y="0"/>
          <a:ext cx="0" cy="0"/>
          <a:chOff x="0" y="0"/>
          <a:chExt cx="0" cy="0"/>
        </a:xfrm>
      </p:grpSpPr>
      <p:sp>
        <p:nvSpPr>
          <p:cNvPr id="8459" name="Google Shape;8459;p45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60" name="Google Shape;8460;p4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61" name="Google Shape;8461;p4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78" name="Shape 8478"/>
        <p:cNvGrpSpPr/>
        <p:nvPr/>
      </p:nvGrpSpPr>
      <p:grpSpPr>
        <a:xfrm>
          <a:off x="0" y="0"/>
          <a:ext cx="0" cy="0"/>
          <a:chOff x="0" y="0"/>
          <a:chExt cx="0" cy="0"/>
        </a:xfrm>
      </p:grpSpPr>
      <p:sp>
        <p:nvSpPr>
          <p:cNvPr id="8479" name="Google Shape;8479;p45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80" name="Google Shape;8480;p4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81" name="Google Shape;8481;p4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98" name="Shape 8498"/>
        <p:cNvGrpSpPr/>
        <p:nvPr/>
      </p:nvGrpSpPr>
      <p:grpSpPr>
        <a:xfrm>
          <a:off x="0" y="0"/>
          <a:ext cx="0" cy="0"/>
          <a:chOff x="0" y="0"/>
          <a:chExt cx="0" cy="0"/>
        </a:xfrm>
      </p:grpSpPr>
      <p:sp>
        <p:nvSpPr>
          <p:cNvPr id="8499" name="Google Shape;8499;p45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00" name="Google Shape;8500;p4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01" name="Google Shape;8501;p4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18" name="Shape 8518"/>
        <p:cNvGrpSpPr/>
        <p:nvPr/>
      </p:nvGrpSpPr>
      <p:grpSpPr>
        <a:xfrm>
          <a:off x="0" y="0"/>
          <a:ext cx="0" cy="0"/>
          <a:chOff x="0" y="0"/>
          <a:chExt cx="0" cy="0"/>
        </a:xfrm>
      </p:grpSpPr>
      <p:sp>
        <p:nvSpPr>
          <p:cNvPr id="8519" name="Google Shape;8519;p45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20" name="Google Shape;8520;p4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21" name="Google Shape;8521;p4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38" name="Shape 8538"/>
        <p:cNvGrpSpPr/>
        <p:nvPr/>
      </p:nvGrpSpPr>
      <p:grpSpPr>
        <a:xfrm>
          <a:off x="0" y="0"/>
          <a:ext cx="0" cy="0"/>
          <a:chOff x="0" y="0"/>
          <a:chExt cx="0" cy="0"/>
        </a:xfrm>
      </p:grpSpPr>
      <p:sp>
        <p:nvSpPr>
          <p:cNvPr id="8539" name="Google Shape;8539;p45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40" name="Google Shape;8540;p4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41" name="Google Shape;8541;p4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58" name="Shape 8558"/>
        <p:cNvGrpSpPr/>
        <p:nvPr/>
      </p:nvGrpSpPr>
      <p:grpSpPr>
        <a:xfrm>
          <a:off x="0" y="0"/>
          <a:ext cx="0" cy="0"/>
          <a:chOff x="0" y="0"/>
          <a:chExt cx="0" cy="0"/>
        </a:xfrm>
      </p:grpSpPr>
      <p:sp>
        <p:nvSpPr>
          <p:cNvPr id="8559" name="Google Shape;8559;p46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60" name="Google Shape;8560;p4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61" name="Google Shape;8561;p4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78" name="Shape 8578"/>
        <p:cNvGrpSpPr/>
        <p:nvPr/>
      </p:nvGrpSpPr>
      <p:grpSpPr>
        <a:xfrm>
          <a:off x="0" y="0"/>
          <a:ext cx="0" cy="0"/>
          <a:chOff x="0" y="0"/>
          <a:chExt cx="0" cy="0"/>
        </a:xfrm>
      </p:grpSpPr>
      <p:sp>
        <p:nvSpPr>
          <p:cNvPr id="8579" name="Google Shape;8579;p46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80" name="Google Shape;8580;p4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81" name="Google Shape;8581;p4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98" name="Shape 8598"/>
        <p:cNvGrpSpPr/>
        <p:nvPr/>
      </p:nvGrpSpPr>
      <p:grpSpPr>
        <a:xfrm>
          <a:off x="0" y="0"/>
          <a:ext cx="0" cy="0"/>
          <a:chOff x="0" y="0"/>
          <a:chExt cx="0" cy="0"/>
        </a:xfrm>
      </p:grpSpPr>
      <p:sp>
        <p:nvSpPr>
          <p:cNvPr id="8599" name="Google Shape;8599;p46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00" name="Google Shape;8600;p4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01" name="Google Shape;8601;p4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18" name="Shape 8618"/>
        <p:cNvGrpSpPr/>
        <p:nvPr/>
      </p:nvGrpSpPr>
      <p:grpSpPr>
        <a:xfrm>
          <a:off x="0" y="0"/>
          <a:ext cx="0" cy="0"/>
          <a:chOff x="0" y="0"/>
          <a:chExt cx="0" cy="0"/>
        </a:xfrm>
      </p:grpSpPr>
      <p:sp>
        <p:nvSpPr>
          <p:cNvPr id="8619" name="Google Shape;8619;p46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20" name="Google Shape;8620;p4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21" name="Google Shape;8621;p4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38" name="Shape 8638"/>
        <p:cNvGrpSpPr/>
        <p:nvPr/>
      </p:nvGrpSpPr>
      <p:grpSpPr>
        <a:xfrm>
          <a:off x="0" y="0"/>
          <a:ext cx="0" cy="0"/>
          <a:chOff x="0" y="0"/>
          <a:chExt cx="0" cy="0"/>
        </a:xfrm>
      </p:grpSpPr>
      <p:sp>
        <p:nvSpPr>
          <p:cNvPr id="8639" name="Google Shape;8639;p46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40" name="Google Shape;8640;p4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41" name="Google Shape;8641;p4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like what’s listed as Objectives – is there a way to frame this is as a problem to be solved?</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4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58" name="Shape 8658"/>
        <p:cNvGrpSpPr/>
        <p:nvPr/>
      </p:nvGrpSpPr>
      <p:grpSpPr>
        <a:xfrm>
          <a:off x="0" y="0"/>
          <a:ext cx="0" cy="0"/>
          <a:chOff x="0" y="0"/>
          <a:chExt cx="0" cy="0"/>
        </a:xfrm>
      </p:grpSpPr>
      <p:sp>
        <p:nvSpPr>
          <p:cNvPr id="8659" name="Google Shape;8659;p46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60" name="Google Shape;8660;p4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61" name="Google Shape;8661;p4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think it reads fine – you may want to clarify is “Graphing” Graph Analytics or some trend visualization</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4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78" name="Shape 8678"/>
        <p:cNvGrpSpPr/>
        <p:nvPr/>
      </p:nvGrpSpPr>
      <p:grpSpPr>
        <a:xfrm>
          <a:off x="0" y="0"/>
          <a:ext cx="0" cy="0"/>
          <a:chOff x="0" y="0"/>
          <a:chExt cx="0" cy="0"/>
        </a:xfrm>
      </p:grpSpPr>
      <p:sp>
        <p:nvSpPr>
          <p:cNvPr id="8679" name="Google Shape;8679;p46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80" name="Google Shape;8680;p4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81" name="Google Shape;8681;p4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98" name="Shape 8698"/>
        <p:cNvGrpSpPr/>
        <p:nvPr/>
      </p:nvGrpSpPr>
      <p:grpSpPr>
        <a:xfrm>
          <a:off x="0" y="0"/>
          <a:ext cx="0" cy="0"/>
          <a:chOff x="0" y="0"/>
          <a:chExt cx="0" cy="0"/>
        </a:xfrm>
      </p:grpSpPr>
      <p:sp>
        <p:nvSpPr>
          <p:cNvPr id="8699" name="Google Shape;8699;p46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00" name="Google Shape;8700;p4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01" name="Google Shape;8701;p4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18" name="Shape 8718"/>
        <p:cNvGrpSpPr/>
        <p:nvPr/>
      </p:nvGrpSpPr>
      <p:grpSpPr>
        <a:xfrm>
          <a:off x="0" y="0"/>
          <a:ext cx="0" cy="0"/>
          <a:chOff x="0" y="0"/>
          <a:chExt cx="0" cy="0"/>
        </a:xfrm>
      </p:grpSpPr>
      <p:sp>
        <p:nvSpPr>
          <p:cNvPr id="8719" name="Google Shape;8719;p46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20" name="Google Shape;8720;p4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21" name="Google Shape;8721;p4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38" name="Shape 8738"/>
        <p:cNvGrpSpPr/>
        <p:nvPr/>
      </p:nvGrpSpPr>
      <p:grpSpPr>
        <a:xfrm>
          <a:off x="0" y="0"/>
          <a:ext cx="0" cy="0"/>
          <a:chOff x="0" y="0"/>
          <a:chExt cx="0" cy="0"/>
        </a:xfrm>
      </p:grpSpPr>
      <p:sp>
        <p:nvSpPr>
          <p:cNvPr id="8739" name="Google Shape;8739;p46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40" name="Google Shape;8740;p4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41" name="Google Shape;8741;p4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rPr lang="en-GB"/>
              <a:t>References?</a:t>
            </a:r>
            <a:endParaRPr/>
          </a:p>
        </p:txBody>
      </p:sp>
    </p:spTree>
  </p:cSld>
  <p:clrMapOvr>
    <a:masterClrMapping/>
  </p:clrMapOvr>
</p:notes>
</file>

<file path=ppt/notesSlides/notesSlide4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58" name="Shape 8758"/>
        <p:cNvGrpSpPr/>
        <p:nvPr/>
      </p:nvGrpSpPr>
      <p:grpSpPr>
        <a:xfrm>
          <a:off x="0" y="0"/>
          <a:ext cx="0" cy="0"/>
          <a:chOff x="0" y="0"/>
          <a:chExt cx="0" cy="0"/>
        </a:xfrm>
      </p:grpSpPr>
      <p:sp>
        <p:nvSpPr>
          <p:cNvPr id="8759" name="Google Shape;8759;p47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60" name="Google Shape;8760;p4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61" name="Google Shape;8761;p4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78" name="Shape 8778"/>
        <p:cNvGrpSpPr/>
        <p:nvPr/>
      </p:nvGrpSpPr>
      <p:grpSpPr>
        <a:xfrm>
          <a:off x="0" y="0"/>
          <a:ext cx="0" cy="0"/>
          <a:chOff x="0" y="0"/>
          <a:chExt cx="0" cy="0"/>
        </a:xfrm>
      </p:grpSpPr>
      <p:sp>
        <p:nvSpPr>
          <p:cNvPr id="8779" name="Google Shape;8779;p47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80" name="Google Shape;8780;p4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81" name="Google Shape;8781;p4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98" name="Shape 8798"/>
        <p:cNvGrpSpPr/>
        <p:nvPr/>
      </p:nvGrpSpPr>
      <p:grpSpPr>
        <a:xfrm>
          <a:off x="0" y="0"/>
          <a:ext cx="0" cy="0"/>
          <a:chOff x="0" y="0"/>
          <a:chExt cx="0" cy="0"/>
        </a:xfrm>
      </p:grpSpPr>
      <p:sp>
        <p:nvSpPr>
          <p:cNvPr id="8799" name="Google Shape;8799;p47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800" name="Google Shape;8800;p4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801" name="Google Shape;8801;p4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18" name="Shape 8818"/>
        <p:cNvGrpSpPr/>
        <p:nvPr/>
      </p:nvGrpSpPr>
      <p:grpSpPr>
        <a:xfrm>
          <a:off x="0" y="0"/>
          <a:ext cx="0" cy="0"/>
          <a:chOff x="0" y="0"/>
          <a:chExt cx="0" cy="0"/>
        </a:xfrm>
      </p:grpSpPr>
      <p:sp>
        <p:nvSpPr>
          <p:cNvPr id="8819" name="Google Shape;8819;p47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820" name="Google Shape;8820;p4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821" name="Google Shape;8821;p47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43" name="Shape 8843"/>
        <p:cNvGrpSpPr/>
        <p:nvPr/>
      </p:nvGrpSpPr>
      <p:grpSpPr>
        <a:xfrm>
          <a:off x="0" y="0"/>
          <a:ext cx="0" cy="0"/>
          <a:chOff x="0" y="0"/>
          <a:chExt cx="0" cy="0"/>
        </a:xfrm>
      </p:grpSpPr>
      <p:sp>
        <p:nvSpPr>
          <p:cNvPr id="8844" name="Google Shape;8844;p4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845" name="Google Shape;8845;p4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846" name="Google Shape;8846;p47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67" name="Shape 8867"/>
        <p:cNvGrpSpPr/>
        <p:nvPr/>
      </p:nvGrpSpPr>
      <p:grpSpPr>
        <a:xfrm>
          <a:off x="0" y="0"/>
          <a:ext cx="0" cy="0"/>
          <a:chOff x="0" y="0"/>
          <a:chExt cx="0" cy="0"/>
        </a:xfrm>
      </p:grpSpPr>
      <p:sp>
        <p:nvSpPr>
          <p:cNvPr id="8868" name="Google Shape;8868;p4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869" name="Google Shape;8869;p4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870" name="Google Shape;8870;p47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02" name="Shape 8902"/>
        <p:cNvGrpSpPr/>
        <p:nvPr/>
      </p:nvGrpSpPr>
      <p:grpSpPr>
        <a:xfrm>
          <a:off x="0" y="0"/>
          <a:ext cx="0" cy="0"/>
          <a:chOff x="0" y="0"/>
          <a:chExt cx="0" cy="0"/>
        </a:xfrm>
      </p:grpSpPr>
      <p:sp>
        <p:nvSpPr>
          <p:cNvPr id="8903" name="Google Shape;8903;p4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04" name="Google Shape;8904;p4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905" name="Google Shape;8905;p47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33" name="Shape 8933"/>
        <p:cNvGrpSpPr/>
        <p:nvPr/>
      </p:nvGrpSpPr>
      <p:grpSpPr>
        <a:xfrm>
          <a:off x="0" y="0"/>
          <a:ext cx="0" cy="0"/>
          <a:chOff x="0" y="0"/>
          <a:chExt cx="0" cy="0"/>
        </a:xfrm>
      </p:grpSpPr>
      <p:sp>
        <p:nvSpPr>
          <p:cNvPr id="8934" name="Google Shape;8934;p4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35" name="Google Shape;8935;p4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8936" name="Google Shape;8936;p47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62" name="Shape 8962"/>
        <p:cNvGrpSpPr/>
        <p:nvPr/>
      </p:nvGrpSpPr>
      <p:grpSpPr>
        <a:xfrm>
          <a:off x="0" y="0"/>
          <a:ext cx="0" cy="0"/>
          <a:chOff x="0" y="0"/>
          <a:chExt cx="0" cy="0"/>
        </a:xfrm>
      </p:grpSpPr>
      <p:sp>
        <p:nvSpPr>
          <p:cNvPr id="8963" name="Google Shape;8963;p4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64" name="Google Shape;8964;p4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8965" name="Google Shape;8965;p47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96" name="Shape 8996"/>
        <p:cNvGrpSpPr/>
        <p:nvPr/>
      </p:nvGrpSpPr>
      <p:grpSpPr>
        <a:xfrm>
          <a:off x="0" y="0"/>
          <a:ext cx="0" cy="0"/>
          <a:chOff x="0" y="0"/>
          <a:chExt cx="0" cy="0"/>
        </a:xfrm>
      </p:grpSpPr>
      <p:sp>
        <p:nvSpPr>
          <p:cNvPr id="8997" name="Google Shape;8997;p4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98" name="Google Shape;8998;p48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8999" name="Google Shape;8999;p48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27" name="Shape 9027"/>
        <p:cNvGrpSpPr/>
        <p:nvPr/>
      </p:nvGrpSpPr>
      <p:grpSpPr>
        <a:xfrm>
          <a:off x="0" y="0"/>
          <a:ext cx="0" cy="0"/>
          <a:chOff x="0" y="0"/>
          <a:chExt cx="0" cy="0"/>
        </a:xfrm>
      </p:grpSpPr>
      <p:sp>
        <p:nvSpPr>
          <p:cNvPr id="9028" name="Google Shape;9028;p4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9029" name="Google Shape;9029;p48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9030" name="Google Shape;9030;p48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51" name="Shape 9051"/>
        <p:cNvGrpSpPr/>
        <p:nvPr/>
      </p:nvGrpSpPr>
      <p:grpSpPr>
        <a:xfrm>
          <a:off x="0" y="0"/>
          <a:ext cx="0" cy="0"/>
          <a:chOff x="0" y="0"/>
          <a:chExt cx="0" cy="0"/>
        </a:xfrm>
      </p:grpSpPr>
      <p:sp>
        <p:nvSpPr>
          <p:cNvPr id="9052" name="Google Shape;9052;p48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053" name="Google Shape;9053;p4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82" name="Shape 9082"/>
        <p:cNvGrpSpPr/>
        <p:nvPr/>
      </p:nvGrpSpPr>
      <p:grpSpPr>
        <a:xfrm>
          <a:off x="0" y="0"/>
          <a:ext cx="0" cy="0"/>
          <a:chOff x="0" y="0"/>
          <a:chExt cx="0" cy="0"/>
        </a:xfrm>
      </p:grpSpPr>
      <p:sp>
        <p:nvSpPr>
          <p:cNvPr id="9083" name="Google Shape;9083;p486: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084" name="Google Shape;9084;p4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25" name="Shape 9125"/>
        <p:cNvGrpSpPr/>
        <p:nvPr/>
      </p:nvGrpSpPr>
      <p:grpSpPr>
        <a:xfrm>
          <a:off x="0" y="0"/>
          <a:ext cx="0" cy="0"/>
          <a:chOff x="0" y="0"/>
          <a:chExt cx="0" cy="0"/>
        </a:xfrm>
      </p:grpSpPr>
      <p:sp>
        <p:nvSpPr>
          <p:cNvPr id="9126" name="Google Shape;9126;p48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127" name="Google Shape;9127;p489: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28" name="Google Shape;9128;p4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56" name="Shape 9156"/>
        <p:cNvGrpSpPr/>
        <p:nvPr/>
      </p:nvGrpSpPr>
      <p:grpSpPr>
        <a:xfrm>
          <a:off x="0" y="0"/>
          <a:ext cx="0" cy="0"/>
          <a:chOff x="0" y="0"/>
          <a:chExt cx="0" cy="0"/>
        </a:xfrm>
      </p:grpSpPr>
      <p:sp>
        <p:nvSpPr>
          <p:cNvPr id="9157" name="Google Shape;9157;p49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158" name="Google Shape;9158;p491: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59" name="Google Shape;9159;p4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87" name="Shape 9187"/>
        <p:cNvGrpSpPr/>
        <p:nvPr/>
      </p:nvGrpSpPr>
      <p:grpSpPr>
        <a:xfrm>
          <a:off x="0" y="0"/>
          <a:ext cx="0" cy="0"/>
          <a:chOff x="0" y="0"/>
          <a:chExt cx="0" cy="0"/>
        </a:xfrm>
      </p:grpSpPr>
      <p:sp>
        <p:nvSpPr>
          <p:cNvPr id="9188" name="Google Shape;9188;p49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189" name="Google Shape;9189;p493: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90" name="Google Shape;9190;p4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18" name="Shape 9218"/>
        <p:cNvGrpSpPr/>
        <p:nvPr/>
      </p:nvGrpSpPr>
      <p:grpSpPr>
        <a:xfrm>
          <a:off x="0" y="0"/>
          <a:ext cx="0" cy="0"/>
          <a:chOff x="0" y="0"/>
          <a:chExt cx="0" cy="0"/>
        </a:xfrm>
      </p:grpSpPr>
      <p:sp>
        <p:nvSpPr>
          <p:cNvPr id="9219" name="Google Shape;9219;p49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20" name="Google Shape;9220;p495: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21" name="Google Shape;9221;p4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49" name="Shape 9249"/>
        <p:cNvGrpSpPr/>
        <p:nvPr/>
      </p:nvGrpSpPr>
      <p:grpSpPr>
        <a:xfrm>
          <a:off x="0" y="0"/>
          <a:ext cx="0" cy="0"/>
          <a:chOff x="0" y="0"/>
          <a:chExt cx="0" cy="0"/>
        </a:xfrm>
      </p:grpSpPr>
      <p:sp>
        <p:nvSpPr>
          <p:cNvPr id="9250" name="Google Shape;9250;p49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51" name="Google Shape;9251;p497: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52" name="Google Shape;9252;p49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80" name="Shape 9280"/>
        <p:cNvGrpSpPr/>
        <p:nvPr/>
      </p:nvGrpSpPr>
      <p:grpSpPr>
        <a:xfrm>
          <a:off x="0" y="0"/>
          <a:ext cx="0" cy="0"/>
          <a:chOff x="0" y="0"/>
          <a:chExt cx="0" cy="0"/>
        </a:xfrm>
      </p:grpSpPr>
      <p:sp>
        <p:nvSpPr>
          <p:cNvPr id="9281" name="Google Shape;9281;p49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82" name="Google Shape;9282;p4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83" name="Google Shape;9283;p49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19" name="Shape 9319"/>
        <p:cNvGrpSpPr/>
        <p:nvPr/>
      </p:nvGrpSpPr>
      <p:grpSpPr>
        <a:xfrm>
          <a:off x="0" y="0"/>
          <a:ext cx="0" cy="0"/>
          <a:chOff x="0" y="0"/>
          <a:chExt cx="0" cy="0"/>
        </a:xfrm>
      </p:grpSpPr>
      <p:sp>
        <p:nvSpPr>
          <p:cNvPr id="9320" name="Google Shape;9320;p50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321" name="Google Shape;9321;p50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0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53" name="Shape 9353"/>
        <p:cNvGrpSpPr/>
        <p:nvPr/>
      </p:nvGrpSpPr>
      <p:grpSpPr>
        <a:xfrm>
          <a:off x="0" y="0"/>
          <a:ext cx="0" cy="0"/>
          <a:chOff x="0" y="0"/>
          <a:chExt cx="0" cy="0"/>
        </a:xfrm>
      </p:grpSpPr>
      <p:sp>
        <p:nvSpPr>
          <p:cNvPr id="9354" name="Google Shape;9354;p50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355" name="Google Shape;9355;p50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356" name="Google Shape;9356;p50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84" name="Shape 9384"/>
        <p:cNvGrpSpPr/>
        <p:nvPr/>
      </p:nvGrpSpPr>
      <p:grpSpPr>
        <a:xfrm>
          <a:off x="0" y="0"/>
          <a:ext cx="0" cy="0"/>
          <a:chOff x="0" y="0"/>
          <a:chExt cx="0" cy="0"/>
        </a:xfrm>
      </p:grpSpPr>
      <p:sp>
        <p:nvSpPr>
          <p:cNvPr id="9385" name="Google Shape;9385;p50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386" name="Google Shape;9386;p505: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387" name="Google Shape;9387;p5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07" name="Shape 9407"/>
        <p:cNvGrpSpPr/>
        <p:nvPr/>
      </p:nvGrpSpPr>
      <p:grpSpPr>
        <a:xfrm>
          <a:off x="0" y="0"/>
          <a:ext cx="0" cy="0"/>
          <a:chOff x="0" y="0"/>
          <a:chExt cx="0" cy="0"/>
        </a:xfrm>
      </p:grpSpPr>
      <p:sp>
        <p:nvSpPr>
          <p:cNvPr id="9408" name="Google Shape;9408;p50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09" name="Google Shape;9409;p5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10" name="Google Shape;9410;p5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46" name="Shape 9446"/>
        <p:cNvGrpSpPr/>
        <p:nvPr/>
      </p:nvGrpSpPr>
      <p:grpSpPr>
        <a:xfrm>
          <a:off x="0" y="0"/>
          <a:ext cx="0" cy="0"/>
          <a:chOff x="0" y="0"/>
          <a:chExt cx="0" cy="0"/>
        </a:xfrm>
      </p:grpSpPr>
      <p:sp>
        <p:nvSpPr>
          <p:cNvPr id="9447" name="Google Shape;9447;p50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48" name="Google Shape;9448;p5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49" name="Google Shape;9449;p5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78" name="Shape 9478"/>
        <p:cNvGrpSpPr/>
        <p:nvPr/>
      </p:nvGrpSpPr>
      <p:grpSpPr>
        <a:xfrm>
          <a:off x="0" y="0"/>
          <a:ext cx="0" cy="0"/>
          <a:chOff x="0" y="0"/>
          <a:chExt cx="0" cy="0"/>
        </a:xfrm>
      </p:grpSpPr>
      <p:sp>
        <p:nvSpPr>
          <p:cNvPr id="9479" name="Google Shape;9479;p51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80" name="Google Shape;9480;p511: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81" name="Google Shape;9481;p5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09" name="Shape 9509"/>
        <p:cNvGrpSpPr/>
        <p:nvPr/>
      </p:nvGrpSpPr>
      <p:grpSpPr>
        <a:xfrm>
          <a:off x="0" y="0"/>
          <a:ext cx="0" cy="0"/>
          <a:chOff x="0" y="0"/>
          <a:chExt cx="0" cy="0"/>
        </a:xfrm>
      </p:grpSpPr>
      <p:sp>
        <p:nvSpPr>
          <p:cNvPr id="9510" name="Google Shape;9510;p513: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511" name="Google Shape;9511;p5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61" name="Shape 9561"/>
        <p:cNvGrpSpPr/>
        <p:nvPr/>
      </p:nvGrpSpPr>
      <p:grpSpPr>
        <a:xfrm>
          <a:off x="0" y="0"/>
          <a:ext cx="0" cy="0"/>
          <a:chOff x="0" y="0"/>
          <a:chExt cx="0" cy="0"/>
        </a:xfrm>
      </p:grpSpPr>
      <p:sp>
        <p:nvSpPr>
          <p:cNvPr id="9562" name="Google Shape;9562;p517:notes"/>
          <p:cNvSpPr txBox="1"/>
          <p:nvPr>
            <p:ph idx="12" type="sldNum"/>
          </p:nvPr>
        </p:nvSpPr>
        <p:spPr>
          <a:xfrm>
            <a:off x="3885010" y="9446102"/>
            <a:ext cx="2971800" cy="497285"/>
          </a:xfrm>
          <a:prstGeom prst="rect">
            <a:avLst/>
          </a:prstGeom>
          <a:noFill/>
          <a:ln>
            <a:noFill/>
          </a:ln>
        </p:spPr>
        <p:txBody>
          <a:bodyPr anchorCtr="0" anchor="t" bIns="48000" lIns="96000" spcFirstLastPara="1" rIns="96000" wrap="square" tIns="480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563" name="Google Shape;9563;p5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564" name="Google Shape;9564;p5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93" name="Shape 9593"/>
        <p:cNvGrpSpPr/>
        <p:nvPr/>
      </p:nvGrpSpPr>
      <p:grpSpPr>
        <a:xfrm>
          <a:off x="0" y="0"/>
          <a:ext cx="0" cy="0"/>
          <a:chOff x="0" y="0"/>
          <a:chExt cx="0" cy="0"/>
        </a:xfrm>
      </p:grpSpPr>
      <p:sp>
        <p:nvSpPr>
          <p:cNvPr id="9594" name="Google Shape;9594;p51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595" name="Google Shape;9595;p5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596" name="Google Shape;9596;p5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25" name="Shape 9625"/>
        <p:cNvGrpSpPr/>
        <p:nvPr/>
      </p:nvGrpSpPr>
      <p:grpSpPr>
        <a:xfrm>
          <a:off x="0" y="0"/>
          <a:ext cx="0" cy="0"/>
          <a:chOff x="0" y="0"/>
          <a:chExt cx="0" cy="0"/>
        </a:xfrm>
      </p:grpSpPr>
      <p:sp>
        <p:nvSpPr>
          <p:cNvPr id="9626" name="Google Shape;9626;p521:notes"/>
          <p:cNvSpPr txBox="1"/>
          <p:nvPr>
            <p:ph idx="12" type="sldNum"/>
          </p:nvPr>
        </p:nvSpPr>
        <p:spPr>
          <a:xfrm>
            <a:off x="3885010" y="9446102"/>
            <a:ext cx="2971800" cy="497285"/>
          </a:xfrm>
          <a:prstGeom prst="rect">
            <a:avLst/>
          </a:prstGeom>
          <a:noFill/>
          <a:ln>
            <a:noFill/>
          </a:ln>
        </p:spPr>
        <p:txBody>
          <a:bodyPr anchorCtr="0" anchor="t" bIns="48000" lIns="96000" spcFirstLastPara="1" rIns="96000" wrap="square" tIns="480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627" name="Google Shape;9627;p5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628" name="Google Shape;9628;p5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57" name="Shape 9657"/>
        <p:cNvGrpSpPr/>
        <p:nvPr/>
      </p:nvGrpSpPr>
      <p:grpSpPr>
        <a:xfrm>
          <a:off x="0" y="0"/>
          <a:ext cx="0" cy="0"/>
          <a:chOff x="0" y="0"/>
          <a:chExt cx="0" cy="0"/>
        </a:xfrm>
      </p:grpSpPr>
      <p:sp>
        <p:nvSpPr>
          <p:cNvPr id="9658" name="Google Shape;9658;p52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659" name="Google Shape;9659;p5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660" name="Google Shape;9660;p5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97" name="Shape 9697"/>
        <p:cNvGrpSpPr/>
        <p:nvPr/>
      </p:nvGrpSpPr>
      <p:grpSpPr>
        <a:xfrm>
          <a:off x="0" y="0"/>
          <a:ext cx="0" cy="0"/>
          <a:chOff x="0" y="0"/>
          <a:chExt cx="0" cy="0"/>
        </a:xfrm>
      </p:grpSpPr>
      <p:sp>
        <p:nvSpPr>
          <p:cNvPr id="9698" name="Google Shape;9698;p52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699" name="Google Shape;9699;p52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39" name="Shape 9739"/>
        <p:cNvGrpSpPr/>
        <p:nvPr/>
      </p:nvGrpSpPr>
      <p:grpSpPr>
        <a:xfrm>
          <a:off x="0" y="0"/>
          <a:ext cx="0" cy="0"/>
          <a:chOff x="0" y="0"/>
          <a:chExt cx="0" cy="0"/>
        </a:xfrm>
      </p:grpSpPr>
      <p:sp>
        <p:nvSpPr>
          <p:cNvPr id="9740" name="Google Shape;9740;p52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741" name="Google Shape;9741;p5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42" name="Google Shape;9742;p52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78" name="Shape 9778"/>
        <p:cNvGrpSpPr/>
        <p:nvPr/>
      </p:nvGrpSpPr>
      <p:grpSpPr>
        <a:xfrm>
          <a:off x="0" y="0"/>
          <a:ext cx="0" cy="0"/>
          <a:chOff x="0" y="0"/>
          <a:chExt cx="0" cy="0"/>
        </a:xfrm>
      </p:grpSpPr>
      <p:sp>
        <p:nvSpPr>
          <p:cNvPr id="9779" name="Google Shape;9779;p53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780" name="Google Shape;9780;p530: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81" name="Google Shape;9781;p53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09" name="Shape 9809"/>
        <p:cNvGrpSpPr/>
        <p:nvPr/>
      </p:nvGrpSpPr>
      <p:grpSpPr>
        <a:xfrm>
          <a:off x="0" y="0"/>
          <a:ext cx="0" cy="0"/>
          <a:chOff x="0" y="0"/>
          <a:chExt cx="0" cy="0"/>
        </a:xfrm>
      </p:grpSpPr>
      <p:sp>
        <p:nvSpPr>
          <p:cNvPr id="9810" name="Google Shape;9810;p532:notes"/>
          <p:cNvSpPr txBox="1"/>
          <p:nvPr>
            <p:ph idx="12" type="sldNum"/>
          </p:nvPr>
        </p:nvSpPr>
        <p:spPr>
          <a:xfrm>
            <a:off x="3885011" y="9446102"/>
            <a:ext cx="2971799" cy="497285"/>
          </a:xfrm>
          <a:prstGeom prst="rect">
            <a:avLst/>
          </a:prstGeom>
          <a:noFill/>
          <a:ln>
            <a:noFill/>
          </a:ln>
        </p:spPr>
        <p:txBody>
          <a:bodyPr anchorCtr="0" anchor="t" bIns="47675" lIns="95350" spcFirstLastPara="1" rIns="95350" wrap="square" tIns="4767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811" name="Google Shape;9811;p53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12" name="Google Shape;9812;p5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54" name="Shape 9854"/>
        <p:cNvGrpSpPr/>
        <p:nvPr/>
      </p:nvGrpSpPr>
      <p:grpSpPr>
        <a:xfrm>
          <a:off x="0" y="0"/>
          <a:ext cx="0" cy="0"/>
          <a:chOff x="0" y="0"/>
          <a:chExt cx="0" cy="0"/>
        </a:xfrm>
      </p:grpSpPr>
      <p:sp>
        <p:nvSpPr>
          <p:cNvPr id="9855" name="Google Shape;9855;p53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856" name="Google Shape;9856;p5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57" name="Google Shape;9857;p53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74" name="Shape 9874"/>
        <p:cNvGrpSpPr/>
        <p:nvPr/>
      </p:nvGrpSpPr>
      <p:grpSpPr>
        <a:xfrm>
          <a:off x="0" y="0"/>
          <a:ext cx="0" cy="0"/>
          <a:chOff x="0" y="0"/>
          <a:chExt cx="0" cy="0"/>
        </a:xfrm>
      </p:grpSpPr>
      <p:sp>
        <p:nvSpPr>
          <p:cNvPr id="9875" name="Google Shape;9875;p53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876" name="Google Shape;9876;p53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77" name="Google Shape;9877;p53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94" name="Shape 9894"/>
        <p:cNvGrpSpPr/>
        <p:nvPr/>
      </p:nvGrpSpPr>
      <p:grpSpPr>
        <a:xfrm>
          <a:off x="0" y="0"/>
          <a:ext cx="0" cy="0"/>
          <a:chOff x="0" y="0"/>
          <a:chExt cx="0" cy="0"/>
        </a:xfrm>
      </p:grpSpPr>
      <p:sp>
        <p:nvSpPr>
          <p:cNvPr id="9895" name="Google Shape;9895;p53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896" name="Google Shape;9896;p5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97" name="Google Shape;9897;p5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14" name="Shape 9914"/>
        <p:cNvGrpSpPr/>
        <p:nvPr/>
      </p:nvGrpSpPr>
      <p:grpSpPr>
        <a:xfrm>
          <a:off x="0" y="0"/>
          <a:ext cx="0" cy="0"/>
          <a:chOff x="0" y="0"/>
          <a:chExt cx="0" cy="0"/>
        </a:xfrm>
      </p:grpSpPr>
      <p:sp>
        <p:nvSpPr>
          <p:cNvPr id="9915" name="Google Shape;9915;p53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16" name="Google Shape;9916;p53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17" name="Google Shape;9917;p5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34" name="Shape 9934"/>
        <p:cNvGrpSpPr/>
        <p:nvPr/>
      </p:nvGrpSpPr>
      <p:grpSpPr>
        <a:xfrm>
          <a:off x="0" y="0"/>
          <a:ext cx="0" cy="0"/>
          <a:chOff x="0" y="0"/>
          <a:chExt cx="0" cy="0"/>
        </a:xfrm>
      </p:grpSpPr>
      <p:sp>
        <p:nvSpPr>
          <p:cNvPr id="9935" name="Google Shape;9935;p53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36" name="Google Shape;9936;p5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37" name="Google Shape;9937;p5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54" name="Shape 9954"/>
        <p:cNvGrpSpPr/>
        <p:nvPr/>
      </p:nvGrpSpPr>
      <p:grpSpPr>
        <a:xfrm>
          <a:off x="0" y="0"/>
          <a:ext cx="0" cy="0"/>
          <a:chOff x="0" y="0"/>
          <a:chExt cx="0" cy="0"/>
        </a:xfrm>
      </p:grpSpPr>
      <p:sp>
        <p:nvSpPr>
          <p:cNvPr id="9955" name="Google Shape;9955;p54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56" name="Google Shape;9956;p54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57" name="Google Shape;9957;p54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74" name="Shape 9974"/>
        <p:cNvGrpSpPr/>
        <p:nvPr/>
      </p:nvGrpSpPr>
      <p:grpSpPr>
        <a:xfrm>
          <a:off x="0" y="0"/>
          <a:ext cx="0" cy="0"/>
          <a:chOff x="0" y="0"/>
          <a:chExt cx="0" cy="0"/>
        </a:xfrm>
      </p:grpSpPr>
      <p:sp>
        <p:nvSpPr>
          <p:cNvPr id="9975" name="Google Shape;9975;p54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76" name="Google Shape;9976;p5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77" name="Google Shape;9977;p5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94" name="Shape 9994"/>
        <p:cNvGrpSpPr/>
        <p:nvPr/>
      </p:nvGrpSpPr>
      <p:grpSpPr>
        <a:xfrm>
          <a:off x="0" y="0"/>
          <a:ext cx="0" cy="0"/>
          <a:chOff x="0" y="0"/>
          <a:chExt cx="0" cy="0"/>
        </a:xfrm>
      </p:grpSpPr>
      <p:sp>
        <p:nvSpPr>
          <p:cNvPr id="9995" name="Google Shape;9995;p54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96" name="Google Shape;9996;p54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97" name="Google Shape;9997;p54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14" name="Shape 10014"/>
        <p:cNvGrpSpPr/>
        <p:nvPr/>
      </p:nvGrpSpPr>
      <p:grpSpPr>
        <a:xfrm>
          <a:off x="0" y="0"/>
          <a:ext cx="0" cy="0"/>
          <a:chOff x="0" y="0"/>
          <a:chExt cx="0" cy="0"/>
        </a:xfrm>
      </p:grpSpPr>
      <p:sp>
        <p:nvSpPr>
          <p:cNvPr id="10015" name="Google Shape;10015;p54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16" name="Google Shape;10016;p5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17" name="Google Shape;10017;p5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34" name="Shape 10034"/>
        <p:cNvGrpSpPr/>
        <p:nvPr/>
      </p:nvGrpSpPr>
      <p:grpSpPr>
        <a:xfrm>
          <a:off x="0" y="0"/>
          <a:ext cx="0" cy="0"/>
          <a:chOff x="0" y="0"/>
          <a:chExt cx="0" cy="0"/>
        </a:xfrm>
      </p:grpSpPr>
      <p:sp>
        <p:nvSpPr>
          <p:cNvPr id="10035" name="Google Shape;10035;p54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36" name="Google Shape;10036;p5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37" name="Google Shape;10037;p5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54" name="Shape 10054"/>
        <p:cNvGrpSpPr/>
        <p:nvPr/>
      </p:nvGrpSpPr>
      <p:grpSpPr>
        <a:xfrm>
          <a:off x="0" y="0"/>
          <a:ext cx="0" cy="0"/>
          <a:chOff x="0" y="0"/>
          <a:chExt cx="0" cy="0"/>
        </a:xfrm>
      </p:grpSpPr>
      <p:sp>
        <p:nvSpPr>
          <p:cNvPr id="10055" name="Google Shape;10055;p54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56" name="Google Shape;10056;p5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57" name="Google Shape;10057;p5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74" name="Shape 10074"/>
        <p:cNvGrpSpPr/>
        <p:nvPr/>
      </p:nvGrpSpPr>
      <p:grpSpPr>
        <a:xfrm>
          <a:off x="0" y="0"/>
          <a:ext cx="0" cy="0"/>
          <a:chOff x="0" y="0"/>
          <a:chExt cx="0" cy="0"/>
        </a:xfrm>
      </p:grpSpPr>
      <p:sp>
        <p:nvSpPr>
          <p:cNvPr id="10075" name="Google Shape;10075;p54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76" name="Google Shape;10076;p5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77" name="Google Shape;10077;p54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94" name="Shape 10094"/>
        <p:cNvGrpSpPr/>
        <p:nvPr/>
      </p:nvGrpSpPr>
      <p:grpSpPr>
        <a:xfrm>
          <a:off x="0" y="0"/>
          <a:ext cx="0" cy="0"/>
          <a:chOff x="0" y="0"/>
          <a:chExt cx="0" cy="0"/>
        </a:xfrm>
      </p:grpSpPr>
      <p:sp>
        <p:nvSpPr>
          <p:cNvPr id="10095" name="Google Shape;10095;p54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96" name="Google Shape;10096;p5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97" name="Google Shape;10097;p5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14" name="Shape 10114"/>
        <p:cNvGrpSpPr/>
        <p:nvPr/>
      </p:nvGrpSpPr>
      <p:grpSpPr>
        <a:xfrm>
          <a:off x="0" y="0"/>
          <a:ext cx="0" cy="0"/>
          <a:chOff x="0" y="0"/>
          <a:chExt cx="0" cy="0"/>
        </a:xfrm>
      </p:grpSpPr>
      <p:sp>
        <p:nvSpPr>
          <p:cNvPr id="10115" name="Google Shape;10115;p54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16" name="Google Shape;10116;p5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17" name="Google Shape;10117;p5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34" name="Shape 10134"/>
        <p:cNvGrpSpPr/>
        <p:nvPr/>
      </p:nvGrpSpPr>
      <p:grpSpPr>
        <a:xfrm>
          <a:off x="0" y="0"/>
          <a:ext cx="0" cy="0"/>
          <a:chOff x="0" y="0"/>
          <a:chExt cx="0" cy="0"/>
        </a:xfrm>
      </p:grpSpPr>
      <p:sp>
        <p:nvSpPr>
          <p:cNvPr id="10135" name="Google Shape;10135;p54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36" name="Google Shape;10136;p5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37" name="Google Shape;10137;p5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54" name="Shape 10154"/>
        <p:cNvGrpSpPr/>
        <p:nvPr/>
      </p:nvGrpSpPr>
      <p:grpSpPr>
        <a:xfrm>
          <a:off x="0" y="0"/>
          <a:ext cx="0" cy="0"/>
          <a:chOff x="0" y="0"/>
          <a:chExt cx="0" cy="0"/>
        </a:xfrm>
      </p:grpSpPr>
      <p:sp>
        <p:nvSpPr>
          <p:cNvPr id="10155" name="Google Shape;10155;p55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56" name="Google Shape;10156;p5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57" name="Google Shape;10157;p5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74" name="Shape 10174"/>
        <p:cNvGrpSpPr/>
        <p:nvPr/>
      </p:nvGrpSpPr>
      <p:grpSpPr>
        <a:xfrm>
          <a:off x="0" y="0"/>
          <a:ext cx="0" cy="0"/>
          <a:chOff x="0" y="0"/>
          <a:chExt cx="0" cy="0"/>
        </a:xfrm>
      </p:grpSpPr>
      <p:sp>
        <p:nvSpPr>
          <p:cNvPr id="10175" name="Google Shape;10175;p55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76" name="Google Shape;10176;p5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77" name="Google Shape;10177;p5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94" name="Shape 10194"/>
        <p:cNvGrpSpPr/>
        <p:nvPr/>
      </p:nvGrpSpPr>
      <p:grpSpPr>
        <a:xfrm>
          <a:off x="0" y="0"/>
          <a:ext cx="0" cy="0"/>
          <a:chOff x="0" y="0"/>
          <a:chExt cx="0" cy="0"/>
        </a:xfrm>
      </p:grpSpPr>
      <p:sp>
        <p:nvSpPr>
          <p:cNvPr id="10195" name="Google Shape;10195;p55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96" name="Google Shape;10196;p5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97" name="Google Shape;10197;p5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14" name="Shape 10214"/>
        <p:cNvGrpSpPr/>
        <p:nvPr/>
      </p:nvGrpSpPr>
      <p:grpSpPr>
        <a:xfrm>
          <a:off x="0" y="0"/>
          <a:ext cx="0" cy="0"/>
          <a:chOff x="0" y="0"/>
          <a:chExt cx="0" cy="0"/>
        </a:xfrm>
      </p:grpSpPr>
      <p:sp>
        <p:nvSpPr>
          <p:cNvPr id="10215" name="Google Shape;10215;p55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16" name="Google Shape;10216;p5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17" name="Google Shape;10217;p5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34" name="Shape 10234"/>
        <p:cNvGrpSpPr/>
        <p:nvPr/>
      </p:nvGrpSpPr>
      <p:grpSpPr>
        <a:xfrm>
          <a:off x="0" y="0"/>
          <a:ext cx="0" cy="0"/>
          <a:chOff x="0" y="0"/>
          <a:chExt cx="0" cy="0"/>
        </a:xfrm>
      </p:grpSpPr>
      <p:sp>
        <p:nvSpPr>
          <p:cNvPr id="10235" name="Google Shape;10235;p55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36" name="Google Shape;10236;p5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37" name="Google Shape;10237;p5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54" name="Shape 10254"/>
        <p:cNvGrpSpPr/>
        <p:nvPr/>
      </p:nvGrpSpPr>
      <p:grpSpPr>
        <a:xfrm>
          <a:off x="0" y="0"/>
          <a:ext cx="0" cy="0"/>
          <a:chOff x="0" y="0"/>
          <a:chExt cx="0" cy="0"/>
        </a:xfrm>
      </p:grpSpPr>
      <p:sp>
        <p:nvSpPr>
          <p:cNvPr id="10255" name="Google Shape;10255;p55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56" name="Google Shape;10256;p5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57" name="Google Shape;10257;p5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74" name="Shape 10274"/>
        <p:cNvGrpSpPr/>
        <p:nvPr/>
      </p:nvGrpSpPr>
      <p:grpSpPr>
        <a:xfrm>
          <a:off x="0" y="0"/>
          <a:ext cx="0" cy="0"/>
          <a:chOff x="0" y="0"/>
          <a:chExt cx="0" cy="0"/>
        </a:xfrm>
      </p:grpSpPr>
      <p:sp>
        <p:nvSpPr>
          <p:cNvPr id="10275" name="Google Shape;10275;p55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76" name="Google Shape;10276;p5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77" name="Google Shape;10277;p5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94" name="Shape 10294"/>
        <p:cNvGrpSpPr/>
        <p:nvPr/>
      </p:nvGrpSpPr>
      <p:grpSpPr>
        <a:xfrm>
          <a:off x="0" y="0"/>
          <a:ext cx="0" cy="0"/>
          <a:chOff x="0" y="0"/>
          <a:chExt cx="0" cy="0"/>
        </a:xfrm>
      </p:grpSpPr>
      <p:sp>
        <p:nvSpPr>
          <p:cNvPr id="10295" name="Google Shape;10295;p55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96" name="Google Shape;10296;p5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97" name="Google Shape;10297;p5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14" name="Shape 10314"/>
        <p:cNvGrpSpPr/>
        <p:nvPr/>
      </p:nvGrpSpPr>
      <p:grpSpPr>
        <a:xfrm>
          <a:off x="0" y="0"/>
          <a:ext cx="0" cy="0"/>
          <a:chOff x="0" y="0"/>
          <a:chExt cx="0" cy="0"/>
        </a:xfrm>
      </p:grpSpPr>
      <p:sp>
        <p:nvSpPr>
          <p:cNvPr id="10315" name="Google Shape;10315;p55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16" name="Google Shape;10316;p5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17" name="Google Shape;10317;p5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34" name="Shape 10334"/>
        <p:cNvGrpSpPr/>
        <p:nvPr/>
      </p:nvGrpSpPr>
      <p:grpSpPr>
        <a:xfrm>
          <a:off x="0" y="0"/>
          <a:ext cx="0" cy="0"/>
          <a:chOff x="0" y="0"/>
          <a:chExt cx="0" cy="0"/>
        </a:xfrm>
      </p:grpSpPr>
      <p:sp>
        <p:nvSpPr>
          <p:cNvPr id="10335" name="Google Shape;10335;p55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36" name="Google Shape;10336;p5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37" name="Google Shape;10337;p5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54" name="Shape 10354"/>
        <p:cNvGrpSpPr/>
        <p:nvPr/>
      </p:nvGrpSpPr>
      <p:grpSpPr>
        <a:xfrm>
          <a:off x="0" y="0"/>
          <a:ext cx="0" cy="0"/>
          <a:chOff x="0" y="0"/>
          <a:chExt cx="0" cy="0"/>
        </a:xfrm>
      </p:grpSpPr>
      <p:sp>
        <p:nvSpPr>
          <p:cNvPr id="10355" name="Google Shape;10355;p56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56" name="Google Shape;10356;p5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57" name="Google Shape;10357;p5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5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94" name="Shape 10394"/>
        <p:cNvGrpSpPr/>
        <p:nvPr/>
      </p:nvGrpSpPr>
      <p:grpSpPr>
        <a:xfrm>
          <a:off x="0" y="0"/>
          <a:ext cx="0" cy="0"/>
          <a:chOff x="0" y="0"/>
          <a:chExt cx="0" cy="0"/>
        </a:xfrm>
      </p:grpSpPr>
      <p:sp>
        <p:nvSpPr>
          <p:cNvPr id="10395" name="Google Shape;10395;p56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96" name="Google Shape;10396;p5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97" name="Google Shape;10397;p5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14" name="Shape 10414"/>
        <p:cNvGrpSpPr/>
        <p:nvPr/>
      </p:nvGrpSpPr>
      <p:grpSpPr>
        <a:xfrm>
          <a:off x="0" y="0"/>
          <a:ext cx="0" cy="0"/>
          <a:chOff x="0" y="0"/>
          <a:chExt cx="0" cy="0"/>
        </a:xfrm>
      </p:grpSpPr>
      <p:sp>
        <p:nvSpPr>
          <p:cNvPr id="10415" name="Google Shape;10415;p56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16" name="Google Shape;10416;p5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17" name="Google Shape;10417;p5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34" name="Shape 10434"/>
        <p:cNvGrpSpPr/>
        <p:nvPr/>
      </p:nvGrpSpPr>
      <p:grpSpPr>
        <a:xfrm>
          <a:off x="0" y="0"/>
          <a:ext cx="0" cy="0"/>
          <a:chOff x="0" y="0"/>
          <a:chExt cx="0" cy="0"/>
        </a:xfrm>
      </p:grpSpPr>
      <p:sp>
        <p:nvSpPr>
          <p:cNvPr id="10435" name="Google Shape;10435;p56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36" name="Google Shape;10436;p5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37" name="Google Shape;10437;p5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54" name="Shape 10454"/>
        <p:cNvGrpSpPr/>
        <p:nvPr/>
      </p:nvGrpSpPr>
      <p:grpSpPr>
        <a:xfrm>
          <a:off x="0" y="0"/>
          <a:ext cx="0" cy="0"/>
          <a:chOff x="0" y="0"/>
          <a:chExt cx="0" cy="0"/>
        </a:xfrm>
      </p:grpSpPr>
      <p:sp>
        <p:nvSpPr>
          <p:cNvPr id="10455" name="Google Shape;10455;p56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56" name="Google Shape;10456;p5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57" name="Google Shape;10457;p5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74" name="Shape 10474"/>
        <p:cNvGrpSpPr/>
        <p:nvPr/>
      </p:nvGrpSpPr>
      <p:grpSpPr>
        <a:xfrm>
          <a:off x="0" y="0"/>
          <a:ext cx="0" cy="0"/>
          <a:chOff x="0" y="0"/>
          <a:chExt cx="0" cy="0"/>
        </a:xfrm>
      </p:grpSpPr>
      <p:sp>
        <p:nvSpPr>
          <p:cNvPr id="10475" name="Google Shape;10475;p56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76" name="Google Shape;10476;p5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77" name="Google Shape;10477;p5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111125" lvl="1" marL="284163" rtl="0" algn="l">
              <a:lnSpc>
                <a:spcPct val="85000"/>
              </a:lnSpc>
              <a:spcBef>
                <a:spcPts val="100"/>
              </a:spcBef>
              <a:spcAft>
                <a:spcPts val="0"/>
              </a:spcAft>
              <a:buClr>
                <a:schemeClr val="dk1"/>
              </a:buClr>
              <a:buSzPts val="1200"/>
              <a:buChar char="•"/>
            </a:pPr>
            <a:r>
              <a:rPr lang="en-GB"/>
              <a:t>Wikipedia define an </a:t>
            </a:r>
            <a:r>
              <a:rPr b="1" i="1" lang="en-GB"/>
              <a:t>n</a:t>
            </a:r>
            <a:r>
              <a:rPr b="1" lang="en-GB"/>
              <a:t>-gram model</a:t>
            </a:r>
            <a:r>
              <a:rPr b="0" lang="en-GB"/>
              <a:t> as</a:t>
            </a:r>
            <a:r>
              <a:rPr lang="en-GB"/>
              <a:t> a type of probabilistic </a:t>
            </a:r>
            <a:r>
              <a:rPr lang="en-GB" u="sng">
                <a:solidFill>
                  <a:schemeClr val="hlink"/>
                </a:solidFill>
                <a:hlinkClick r:id="rId2"/>
              </a:rPr>
              <a:t>language model</a:t>
            </a:r>
            <a:r>
              <a:rPr lang="en-GB"/>
              <a:t> for predicting the next item in a sequence.</a:t>
            </a:r>
            <a:r>
              <a:rPr baseline="30000" lang="en-GB" u="sng">
                <a:solidFill>
                  <a:schemeClr val="hlink"/>
                </a:solidFill>
                <a:hlinkClick r:id="rId3"/>
              </a:rPr>
              <a:t>[2]</a:t>
            </a:r>
            <a:r>
              <a:rPr lang="en-GB"/>
              <a:t> </a:t>
            </a:r>
            <a:r>
              <a:rPr i="1" lang="en-GB"/>
              <a:t>n</a:t>
            </a:r>
            <a:r>
              <a:rPr lang="en-GB"/>
              <a:t>-gram models are now widely used in </a:t>
            </a:r>
            <a:r>
              <a:rPr lang="en-GB" u="sng">
                <a:solidFill>
                  <a:schemeClr val="hlink"/>
                </a:solidFill>
                <a:hlinkClick r:id="rId4"/>
              </a:rPr>
              <a:t>probability</a:t>
            </a:r>
            <a:r>
              <a:rPr lang="en-GB"/>
              <a:t>, </a:t>
            </a:r>
            <a:r>
              <a:rPr lang="en-GB" u="sng">
                <a:solidFill>
                  <a:schemeClr val="hlink"/>
                </a:solidFill>
                <a:hlinkClick r:id="rId5"/>
              </a:rPr>
              <a:t>communication theory</a:t>
            </a:r>
            <a:r>
              <a:rPr lang="en-GB"/>
              <a:t>, </a:t>
            </a:r>
            <a:r>
              <a:rPr lang="en-GB" u="sng">
                <a:solidFill>
                  <a:schemeClr val="hlink"/>
                </a:solidFill>
                <a:hlinkClick r:id="rId6"/>
              </a:rPr>
              <a:t>computational linguistics</a:t>
            </a:r>
            <a:r>
              <a:rPr lang="en-GB"/>
              <a:t> (for instance, statistical </a:t>
            </a:r>
            <a:r>
              <a:rPr lang="en-GB" u="sng">
                <a:solidFill>
                  <a:schemeClr val="hlink"/>
                </a:solidFill>
                <a:hlinkClick r:id="rId7"/>
              </a:rPr>
              <a:t>natural language processing</a:t>
            </a:r>
            <a:r>
              <a:rPr lang="en-GB"/>
              <a:t>), </a:t>
            </a:r>
            <a:r>
              <a:rPr lang="en-GB" u="sng">
                <a:solidFill>
                  <a:schemeClr val="hlink"/>
                </a:solidFill>
                <a:hlinkClick r:id="rId8"/>
              </a:rPr>
              <a:t>computational biology</a:t>
            </a:r>
            <a:r>
              <a:rPr lang="en-GB"/>
              <a:t> (for instance, biological </a:t>
            </a:r>
            <a:r>
              <a:rPr lang="en-GB" u="sng">
                <a:solidFill>
                  <a:schemeClr val="hlink"/>
                </a:solidFill>
                <a:hlinkClick r:id="rId9"/>
              </a:rPr>
              <a:t>sequence analysis</a:t>
            </a:r>
            <a:r>
              <a:rPr lang="en-GB"/>
              <a:t>), and </a:t>
            </a:r>
            <a:r>
              <a:rPr lang="en-GB" u="sng">
                <a:solidFill>
                  <a:schemeClr val="hlink"/>
                </a:solidFill>
                <a:hlinkClick r:id="rId10"/>
              </a:rPr>
              <a:t>data compression</a:t>
            </a:r>
            <a:r>
              <a:rPr lang="en-GB"/>
              <a:t>..</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5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10" name="Shape 10510"/>
        <p:cNvGrpSpPr/>
        <p:nvPr/>
      </p:nvGrpSpPr>
      <p:grpSpPr>
        <a:xfrm>
          <a:off x="0" y="0"/>
          <a:ext cx="0" cy="0"/>
          <a:chOff x="0" y="0"/>
          <a:chExt cx="0" cy="0"/>
        </a:xfrm>
      </p:grpSpPr>
      <p:sp>
        <p:nvSpPr>
          <p:cNvPr id="10511" name="Google Shape;10511;p56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12" name="Google Shape;10512;p5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13" name="Google Shape;10513;p5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50" name="Shape 10550"/>
        <p:cNvGrpSpPr/>
        <p:nvPr/>
      </p:nvGrpSpPr>
      <p:grpSpPr>
        <a:xfrm>
          <a:off x="0" y="0"/>
          <a:ext cx="0" cy="0"/>
          <a:chOff x="0" y="0"/>
          <a:chExt cx="0" cy="0"/>
        </a:xfrm>
      </p:grpSpPr>
      <p:sp>
        <p:nvSpPr>
          <p:cNvPr id="10551" name="Google Shape;10551;p57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52" name="Google Shape;10552;p5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53" name="Google Shape;10553;p5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70" name="Shape 10570"/>
        <p:cNvGrpSpPr/>
        <p:nvPr/>
      </p:nvGrpSpPr>
      <p:grpSpPr>
        <a:xfrm>
          <a:off x="0" y="0"/>
          <a:ext cx="0" cy="0"/>
          <a:chOff x="0" y="0"/>
          <a:chExt cx="0" cy="0"/>
        </a:xfrm>
      </p:grpSpPr>
      <p:sp>
        <p:nvSpPr>
          <p:cNvPr id="10571" name="Google Shape;10571;p57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72" name="Google Shape;10572;p5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73" name="Google Shape;10573;p5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90" name="Shape 10590"/>
        <p:cNvGrpSpPr/>
        <p:nvPr/>
      </p:nvGrpSpPr>
      <p:grpSpPr>
        <a:xfrm>
          <a:off x="0" y="0"/>
          <a:ext cx="0" cy="0"/>
          <a:chOff x="0" y="0"/>
          <a:chExt cx="0" cy="0"/>
        </a:xfrm>
      </p:grpSpPr>
      <p:sp>
        <p:nvSpPr>
          <p:cNvPr id="10591" name="Google Shape;10591;p57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92" name="Google Shape;10592;p5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93" name="Google Shape;10593;p5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10" name="Shape 10610"/>
        <p:cNvGrpSpPr/>
        <p:nvPr/>
      </p:nvGrpSpPr>
      <p:grpSpPr>
        <a:xfrm>
          <a:off x="0" y="0"/>
          <a:ext cx="0" cy="0"/>
          <a:chOff x="0" y="0"/>
          <a:chExt cx="0" cy="0"/>
        </a:xfrm>
      </p:grpSpPr>
      <p:sp>
        <p:nvSpPr>
          <p:cNvPr id="10611" name="Google Shape;10611;p57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612" name="Google Shape;10612;p5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613" name="Google Shape;10613;p57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30" name="Shape 10630"/>
        <p:cNvGrpSpPr/>
        <p:nvPr/>
      </p:nvGrpSpPr>
      <p:grpSpPr>
        <a:xfrm>
          <a:off x="0" y="0"/>
          <a:ext cx="0" cy="0"/>
          <a:chOff x="0" y="0"/>
          <a:chExt cx="0" cy="0"/>
        </a:xfrm>
      </p:grpSpPr>
      <p:sp>
        <p:nvSpPr>
          <p:cNvPr id="10631" name="Google Shape;10631;p57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632" name="Google Shape;10632;p5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633" name="Google Shape;10633;p5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50" name="Shape 10650"/>
        <p:cNvGrpSpPr/>
        <p:nvPr/>
      </p:nvGrpSpPr>
      <p:grpSpPr>
        <a:xfrm>
          <a:off x="0" y="0"/>
          <a:ext cx="0" cy="0"/>
          <a:chOff x="0" y="0"/>
          <a:chExt cx="0" cy="0"/>
        </a:xfrm>
      </p:grpSpPr>
      <p:sp>
        <p:nvSpPr>
          <p:cNvPr id="10651" name="Google Shape;10651;p5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652" name="Google Shape;10652;p5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10653" name="Google Shape;10653;p57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72" name="Shape 10672"/>
        <p:cNvGrpSpPr/>
        <p:nvPr/>
      </p:nvGrpSpPr>
      <p:grpSpPr>
        <a:xfrm>
          <a:off x="0" y="0"/>
          <a:ext cx="0" cy="0"/>
          <a:chOff x="0" y="0"/>
          <a:chExt cx="0" cy="0"/>
        </a:xfrm>
      </p:grpSpPr>
      <p:sp>
        <p:nvSpPr>
          <p:cNvPr id="10673" name="Google Shape;10673;p5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674" name="Google Shape;10674;p5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10675" name="Google Shape;10675;p57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04" name="Shape 10704"/>
        <p:cNvGrpSpPr/>
        <p:nvPr/>
      </p:nvGrpSpPr>
      <p:grpSpPr>
        <a:xfrm>
          <a:off x="0" y="0"/>
          <a:ext cx="0" cy="0"/>
          <a:chOff x="0" y="0"/>
          <a:chExt cx="0" cy="0"/>
        </a:xfrm>
      </p:grpSpPr>
      <p:sp>
        <p:nvSpPr>
          <p:cNvPr id="10705" name="Google Shape;10705;p5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706" name="Google Shape;10706;p5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10707" name="Google Shape;10707;p57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33" name="Shape 10733"/>
        <p:cNvGrpSpPr/>
        <p:nvPr/>
      </p:nvGrpSpPr>
      <p:grpSpPr>
        <a:xfrm>
          <a:off x="0" y="0"/>
          <a:ext cx="0" cy="0"/>
          <a:chOff x="0" y="0"/>
          <a:chExt cx="0" cy="0"/>
        </a:xfrm>
      </p:grpSpPr>
      <p:sp>
        <p:nvSpPr>
          <p:cNvPr id="10734" name="Google Shape;10734;p5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735" name="Google Shape;10735;p5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10736" name="Google Shape;10736;p57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87" name="Shape 10787"/>
        <p:cNvGrpSpPr/>
        <p:nvPr/>
      </p:nvGrpSpPr>
      <p:grpSpPr>
        <a:xfrm>
          <a:off x="0" y="0"/>
          <a:ext cx="0" cy="0"/>
          <a:chOff x="0" y="0"/>
          <a:chExt cx="0" cy="0"/>
        </a:xfrm>
      </p:grpSpPr>
      <p:sp>
        <p:nvSpPr>
          <p:cNvPr id="10788" name="Google Shape;10788;p583: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0789" name="Google Shape;10789;p5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30" name="Shape 10830"/>
        <p:cNvGrpSpPr/>
        <p:nvPr/>
      </p:nvGrpSpPr>
      <p:grpSpPr>
        <a:xfrm>
          <a:off x="0" y="0"/>
          <a:ext cx="0" cy="0"/>
          <a:chOff x="0" y="0"/>
          <a:chExt cx="0" cy="0"/>
        </a:xfrm>
      </p:grpSpPr>
      <p:sp>
        <p:nvSpPr>
          <p:cNvPr id="10831" name="Google Shape;10831;p58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832" name="Google Shape;10832;p5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833" name="Google Shape;10833;p5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61" name="Shape 10861"/>
        <p:cNvGrpSpPr/>
        <p:nvPr/>
      </p:nvGrpSpPr>
      <p:grpSpPr>
        <a:xfrm>
          <a:off x="0" y="0"/>
          <a:ext cx="0" cy="0"/>
          <a:chOff x="0" y="0"/>
          <a:chExt cx="0" cy="0"/>
        </a:xfrm>
      </p:grpSpPr>
      <p:sp>
        <p:nvSpPr>
          <p:cNvPr id="10862" name="Google Shape;10862;p58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863" name="Google Shape;10863;p5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864" name="Google Shape;10864;p5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00" name="Shape 10900"/>
        <p:cNvGrpSpPr/>
        <p:nvPr/>
      </p:nvGrpSpPr>
      <p:grpSpPr>
        <a:xfrm>
          <a:off x="0" y="0"/>
          <a:ext cx="0" cy="0"/>
          <a:chOff x="0" y="0"/>
          <a:chExt cx="0" cy="0"/>
        </a:xfrm>
      </p:grpSpPr>
      <p:sp>
        <p:nvSpPr>
          <p:cNvPr id="10901" name="Google Shape;10901;p59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902" name="Google Shape;10902;p590: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03" name="Google Shape;10903;p5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31" name="Shape 10931"/>
        <p:cNvGrpSpPr/>
        <p:nvPr/>
      </p:nvGrpSpPr>
      <p:grpSpPr>
        <a:xfrm>
          <a:off x="0" y="0"/>
          <a:ext cx="0" cy="0"/>
          <a:chOff x="0" y="0"/>
          <a:chExt cx="0" cy="0"/>
        </a:xfrm>
      </p:grpSpPr>
      <p:sp>
        <p:nvSpPr>
          <p:cNvPr id="10932" name="Google Shape;10932;p59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933" name="Google Shape;10933;p59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34" name="Google Shape;10934;p5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62" name="Shape 10962"/>
        <p:cNvGrpSpPr/>
        <p:nvPr/>
      </p:nvGrpSpPr>
      <p:grpSpPr>
        <a:xfrm>
          <a:off x="0" y="0"/>
          <a:ext cx="0" cy="0"/>
          <a:chOff x="0" y="0"/>
          <a:chExt cx="0" cy="0"/>
        </a:xfrm>
      </p:grpSpPr>
      <p:sp>
        <p:nvSpPr>
          <p:cNvPr id="10963" name="Google Shape;10963;p59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0964" name="Google Shape;10964;p5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96" name="Shape 10996"/>
        <p:cNvGrpSpPr/>
        <p:nvPr/>
      </p:nvGrpSpPr>
      <p:grpSpPr>
        <a:xfrm>
          <a:off x="0" y="0"/>
          <a:ext cx="0" cy="0"/>
          <a:chOff x="0" y="0"/>
          <a:chExt cx="0" cy="0"/>
        </a:xfrm>
      </p:grpSpPr>
      <p:sp>
        <p:nvSpPr>
          <p:cNvPr id="10997" name="Google Shape;10997;p59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998" name="Google Shape;10998;p596: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99" name="Google Shape;10999;p5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27" name="Shape 11027"/>
        <p:cNvGrpSpPr/>
        <p:nvPr/>
      </p:nvGrpSpPr>
      <p:grpSpPr>
        <a:xfrm>
          <a:off x="0" y="0"/>
          <a:ext cx="0" cy="0"/>
          <a:chOff x="0" y="0"/>
          <a:chExt cx="0" cy="0"/>
        </a:xfrm>
      </p:grpSpPr>
      <p:sp>
        <p:nvSpPr>
          <p:cNvPr id="11028" name="Google Shape;11028;p59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29" name="Google Shape;11029;p598: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30" name="Google Shape;11030;p59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58" name="Shape 11058"/>
        <p:cNvGrpSpPr/>
        <p:nvPr/>
      </p:nvGrpSpPr>
      <p:grpSpPr>
        <a:xfrm>
          <a:off x="0" y="0"/>
          <a:ext cx="0" cy="0"/>
          <a:chOff x="0" y="0"/>
          <a:chExt cx="0" cy="0"/>
        </a:xfrm>
      </p:grpSpPr>
      <p:sp>
        <p:nvSpPr>
          <p:cNvPr id="11059" name="Google Shape;11059;p60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60" name="Google Shape;11060;p600: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61" name="Google Shape;11061;p6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89" name="Shape 11089"/>
        <p:cNvGrpSpPr/>
        <p:nvPr/>
      </p:nvGrpSpPr>
      <p:grpSpPr>
        <a:xfrm>
          <a:off x="0" y="0"/>
          <a:ext cx="0" cy="0"/>
          <a:chOff x="0" y="0"/>
          <a:chExt cx="0" cy="0"/>
        </a:xfrm>
      </p:grpSpPr>
      <p:sp>
        <p:nvSpPr>
          <p:cNvPr id="11090" name="Google Shape;11090;p60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91" name="Google Shape;11091;p60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92" name="Google Shape;11092;p60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26" name="Shape 11126"/>
        <p:cNvGrpSpPr/>
        <p:nvPr/>
      </p:nvGrpSpPr>
      <p:grpSpPr>
        <a:xfrm>
          <a:off x="0" y="0"/>
          <a:ext cx="0" cy="0"/>
          <a:chOff x="0" y="0"/>
          <a:chExt cx="0" cy="0"/>
        </a:xfrm>
      </p:grpSpPr>
      <p:sp>
        <p:nvSpPr>
          <p:cNvPr id="11127" name="Google Shape;11127;p60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128" name="Google Shape;11128;p60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29" name="Google Shape;11129;p6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46" name="Shape 11146"/>
        <p:cNvGrpSpPr/>
        <p:nvPr/>
      </p:nvGrpSpPr>
      <p:grpSpPr>
        <a:xfrm>
          <a:off x="0" y="0"/>
          <a:ext cx="0" cy="0"/>
          <a:chOff x="0" y="0"/>
          <a:chExt cx="0" cy="0"/>
        </a:xfrm>
      </p:grpSpPr>
      <p:sp>
        <p:nvSpPr>
          <p:cNvPr id="11147" name="Google Shape;11147;p60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148" name="Google Shape;11148;p6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49" name="Google Shape;11149;p6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On analytic techniques, if the answer is reporting or BI I would list the technique as “Descriptive Statistics” or “Visualization”. I’m not sure what Limits Management is as a technique, and stress testing can be teased out into it’s analytic components (e.g. control limit elasticity)</a:t>
            </a:r>
            <a:endParaRPr/>
          </a:p>
          <a:p>
            <a:pPr indent="-173038" lvl="0" marL="173038" rtl="0" algn="l">
              <a:lnSpc>
                <a:spcPct val="95000"/>
              </a:lnSpc>
              <a:spcBef>
                <a:spcPts val="400"/>
              </a:spcBef>
              <a:spcAft>
                <a:spcPts val="0"/>
              </a:spcAft>
              <a:buClr>
                <a:schemeClr val="dk1"/>
              </a:buClr>
              <a:buSzPts val="1200"/>
              <a:buChar char="•"/>
            </a:pPr>
            <a:r>
              <a:rPr lang="en-GB"/>
              <a:t>On Business Benefit – could any of this be put into simple bullets around $$ saved for risk mitigation?</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66" name="Shape 11166"/>
        <p:cNvGrpSpPr/>
        <p:nvPr/>
      </p:nvGrpSpPr>
      <p:grpSpPr>
        <a:xfrm>
          <a:off x="0" y="0"/>
          <a:ext cx="0" cy="0"/>
          <a:chOff x="0" y="0"/>
          <a:chExt cx="0" cy="0"/>
        </a:xfrm>
      </p:grpSpPr>
      <p:sp>
        <p:nvSpPr>
          <p:cNvPr id="11167" name="Google Shape;11167;p60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168" name="Google Shape;11168;p6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69" name="Google Shape;11169;p6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86" name="Shape 11186"/>
        <p:cNvGrpSpPr/>
        <p:nvPr/>
      </p:nvGrpSpPr>
      <p:grpSpPr>
        <a:xfrm>
          <a:off x="0" y="0"/>
          <a:ext cx="0" cy="0"/>
          <a:chOff x="0" y="0"/>
          <a:chExt cx="0" cy="0"/>
        </a:xfrm>
      </p:grpSpPr>
      <p:sp>
        <p:nvSpPr>
          <p:cNvPr id="11187" name="Google Shape;11187;p60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188" name="Google Shape;11188;p6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89" name="Google Shape;11189;p6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06" name="Shape 11206"/>
        <p:cNvGrpSpPr/>
        <p:nvPr/>
      </p:nvGrpSpPr>
      <p:grpSpPr>
        <a:xfrm>
          <a:off x="0" y="0"/>
          <a:ext cx="0" cy="0"/>
          <a:chOff x="0" y="0"/>
          <a:chExt cx="0" cy="0"/>
        </a:xfrm>
      </p:grpSpPr>
      <p:sp>
        <p:nvSpPr>
          <p:cNvPr id="11207" name="Google Shape;11207;p60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08" name="Google Shape;11208;p6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09" name="Google Shape;11209;p6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26" name="Shape 11226"/>
        <p:cNvGrpSpPr/>
        <p:nvPr/>
      </p:nvGrpSpPr>
      <p:grpSpPr>
        <a:xfrm>
          <a:off x="0" y="0"/>
          <a:ext cx="0" cy="0"/>
          <a:chOff x="0" y="0"/>
          <a:chExt cx="0" cy="0"/>
        </a:xfrm>
      </p:grpSpPr>
      <p:sp>
        <p:nvSpPr>
          <p:cNvPr id="11227" name="Google Shape;11227;p61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28" name="Google Shape;11228;p6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29" name="Google Shape;11229;p6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46" name="Shape 11246"/>
        <p:cNvGrpSpPr/>
        <p:nvPr/>
      </p:nvGrpSpPr>
      <p:grpSpPr>
        <a:xfrm>
          <a:off x="0" y="0"/>
          <a:ext cx="0" cy="0"/>
          <a:chOff x="0" y="0"/>
          <a:chExt cx="0" cy="0"/>
        </a:xfrm>
      </p:grpSpPr>
      <p:sp>
        <p:nvSpPr>
          <p:cNvPr id="11247" name="Google Shape;11247;p61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48" name="Google Shape;11248;p6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49" name="Google Shape;11249;p6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85" name="Shape 11285"/>
        <p:cNvGrpSpPr/>
        <p:nvPr/>
      </p:nvGrpSpPr>
      <p:grpSpPr>
        <a:xfrm>
          <a:off x="0" y="0"/>
          <a:ext cx="0" cy="0"/>
          <a:chOff x="0" y="0"/>
          <a:chExt cx="0" cy="0"/>
        </a:xfrm>
      </p:grpSpPr>
      <p:sp>
        <p:nvSpPr>
          <p:cNvPr id="11286" name="Google Shape;11286;p61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87" name="Google Shape;11287;p6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88" name="Google Shape;11288;p61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Needs more specificity on source data – what systems on the trade desk are utilized?</a:t>
            </a:r>
            <a:endParaRPr/>
          </a:p>
          <a:p>
            <a:pPr indent="-173038" lvl="0" marL="173038" rtl="0" algn="l">
              <a:lnSpc>
                <a:spcPct val="95000"/>
              </a:lnSpc>
              <a:spcBef>
                <a:spcPts val="400"/>
              </a:spcBef>
              <a:spcAft>
                <a:spcPts val="0"/>
              </a:spcAft>
              <a:buClr>
                <a:schemeClr val="dk1"/>
              </a:buClr>
              <a:buSzPts val="1200"/>
              <a:buChar char="•"/>
            </a:pPr>
            <a:r>
              <a:rPr lang="en-GB"/>
              <a:t>Analytic techniques look great!</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05" name="Shape 11305"/>
        <p:cNvGrpSpPr/>
        <p:nvPr/>
      </p:nvGrpSpPr>
      <p:grpSpPr>
        <a:xfrm>
          <a:off x="0" y="0"/>
          <a:ext cx="0" cy="0"/>
          <a:chOff x="0" y="0"/>
          <a:chExt cx="0" cy="0"/>
        </a:xfrm>
      </p:grpSpPr>
      <p:sp>
        <p:nvSpPr>
          <p:cNvPr id="11306" name="Google Shape;11306;p61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07" name="Google Shape;11307;p6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08" name="Google Shape;11308;p6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25" name="Shape 11325"/>
        <p:cNvGrpSpPr/>
        <p:nvPr/>
      </p:nvGrpSpPr>
      <p:grpSpPr>
        <a:xfrm>
          <a:off x="0" y="0"/>
          <a:ext cx="0" cy="0"/>
          <a:chOff x="0" y="0"/>
          <a:chExt cx="0" cy="0"/>
        </a:xfrm>
      </p:grpSpPr>
      <p:sp>
        <p:nvSpPr>
          <p:cNvPr id="11326" name="Google Shape;11326;p61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27" name="Google Shape;11327;p6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28" name="Google Shape;11328;p6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45" name="Shape 11345"/>
        <p:cNvGrpSpPr/>
        <p:nvPr/>
      </p:nvGrpSpPr>
      <p:grpSpPr>
        <a:xfrm>
          <a:off x="0" y="0"/>
          <a:ext cx="0" cy="0"/>
          <a:chOff x="0" y="0"/>
          <a:chExt cx="0" cy="0"/>
        </a:xfrm>
      </p:grpSpPr>
      <p:sp>
        <p:nvSpPr>
          <p:cNvPr id="11346" name="Google Shape;11346;p61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47" name="Google Shape;11347;p6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48" name="Google Shape;11348;p6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65" name="Shape 11365"/>
        <p:cNvGrpSpPr/>
        <p:nvPr/>
      </p:nvGrpSpPr>
      <p:grpSpPr>
        <a:xfrm>
          <a:off x="0" y="0"/>
          <a:ext cx="0" cy="0"/>
          <a:chOff x="0" y="0"/>
          <a:chExt cx="0" cy="0"/>
        </a:xfrm>
      </p:grpSpPr>
      <p:sp>
        <p:nvSpPr>
          <p:cNvPr id="11366" name="Google Shape;11366;p61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67" name="Google Shape;11367;p6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68" name="Google Shape;11368;p6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85" name="Shape 11385"/>
        <p:cNvGrpSpPr/>
        <p:nvPr/>
      </p:nvGrpSpPr>
      <p:grpSpPr>
        <a:xfrm>
          <a:off x="0" y="0"/>
          <a:ext cx="0" cy="0"/>
          <a:chOff x="0" y="0"/>
          <a:chExt cx="0" cy="0"/>
        </a:xfrm>
      </p:grpSpPr>
      <p:sp>
        <p:nvSpPr>
          <p:cNvPr id="11386" name="Google Shape;11386;p61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87" name="Google Shape;11387;p6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88" name="Google Shape;11388;p6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05" name="Shape 11405"/>
        <p:cNvGrpSpPr/>
        <p:nvPr/>
      </p:nvGrpSpPr>
      <p:grpSpPr>
        <a:xfrm>
          <a:off x="0" y="0"/>
          <a:ext cx="0" cy="0"/>
          <a:chOff x="0" y="0"/>
          <a:chExt cx="0" cy="0"/>
        </a:xfrm>
      </p:grpSpPr>
      <p:sp>
        <p:nvSpPr>
          <p:cNvPr id="11406" name="Google Shape;11406;p61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407" name="Google Shape;11407;p6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408" name="Google Shape;11408;p6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3.jp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Alternate Title Slide" showMasterSp="0">
  <p:cSld name="1_Alternate Title Slide">
    <p:spTree>
      <p:nvGrpSpPr>
        <p:cNvPr id="20" name="Shape 20"/>
        <p:cNvGrpSpPr/>
        <p:nvPr/>
      </p:nvGrpSpPr>
      <p:grpSpPr>
        <a:xfrm>
          <a:off x="0" y="0"/>
          <a:ext cx="0" cy="0"/>
          <a:chOff x="0" y="0"/>
          <a:chExt cx="0" cy="0"/>
        </a:xfrm>
      </p:grpSpPr>
      <p:pic>
        <p:nvPicPr>
          <p:cNvPr id="21" name="Google Shape;21;p2"/>
          <p:cNvPicPr preferRelativeResize="0"/>
          <p:nvPr/>
        </p:nvPicPr>
        <p:blipFill rotWithShape="1">
          <a:blip r:embed="rId2">
            <a:alphaModFix/>
          </a:blip>
          <a:srcRect b="-80" l="5141" r="6732" t="25561"/>
          <a:stretch/>
        </p:blipFill>
        <p:spPr>
          <a:xfrm>
            <a:off x="0" y="-5583"/>
            <a:ext cx="9144000" cy="5154666"/>
          </a:xfrm>
          <a:prstGeom prst="rect">
            <a:avLst/>
          </a:prstGeom>
          <a:noFill/>
          <a:ln>
            <a:noFill/>
          </a:ln>
        </p:spPr>
      </p:pic>
      <p:sp>
        <p:nvSpPr>
          <p:cNvPr id="22" name="Google Shape;22;p2"/>
          <p:cNvSpPr/>
          <p:nvPr/>
        </p:nvSpPr>
        <p:spPr>
          <a:xfrm>
            <a:off x="457200" y="-9525"/>
            <a:ext cx="2438400" cy="914400"/>
          </a:xfrm>
          <a:prstGeom prst="rect">
            <a:avLst/>
          </a:pr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chemeClr val="lt1"/>
              </a:solidFill>
              <a:latin typeface="Century Gothic"/>
              <a:ea typeface="Century Gothic"/>
              <a:cs typeface="Century Gothic"/>
              <a:sym typeface="Century Gothic"/>
            </a:endParaRPr>
          </a:p>
        </p:txBody>
      </p:sp>
      <p:grpSp>
        <p:nvGrpSpPr>
          <p:cNvPr id="23" name="Google Shape;23;p2"/>
          <p:cNvGrpSpPr/>
          <p:nvPr/>
        </p:nvGrpSpPr>
        <p:grpSpPr>
          <a:xfrm>
            <a:off x="994118" y="305466"/>
            <a:ext cx="1362335" cy="305001"/>
            <a:chOff x="5137" y="4139"/>
            <a:chExt cx="335" cy="75"/>
          </a:xfrm>
        </p:grpSpPr>
        <p:sp>
          <p:nvSpPr>
            <p:cNvPr id="24" name="Google Shape;24;p2"/>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5" name="Google Shape;25;p2"/>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26" name="Google Shape;26;p2"/>
          <p:cNvSpPr txBox="1"/>
          <p:nvPr>
            <p:ph idx="1" type="body"/>
          </p:nvPr>
        </p:nvSpPr>
        <p:spPr>
          <a:xfrm>
            <a:off x="0" y="2915344"/>
            <a:ext cx="9144000" cy="1065420"/>
          </a:xfrm>
          <a:prstGeom prst="rect">
            <a:avLst/>
          </a:prstGeom>
          <a:solidFill>
            <a:schemeClr val="accent1">
              <a:alpha val="89803"/>
            </a:schemeClr>
          </a:solidFill>
          <a:ln>
            <a:noFill/>
          </a:ln>
        </p:spPr>
        <p:txBody>
          <a:bodyPr anchorCtr="1" anchor="ctr" bIns="137150" lIns="457200" spcFirstLastPara="1" rIns="457200" wrap="square" tIns="137150">
            <a:noAutofit/>
          </a:bodyPr>
          <a:lstStyle>
            <a:lvl1pPr indent="-355600" lvl="0" marL="457200" algn="ctr">
              <a:lnSpc>
                <a:spcPct val="85000"/>
              </a:lnSpc>
              <a:spcBef>
                <a:spcPts val="200"/>
              </a:spcBef>
              <a:spcAft>
                <a:spcPts val="0"/>
              </a:spcAft>
              <a:buClr>
                <a:schemeClr val="lt1"/>
              </a:buClr>
              <a:buSzPts val="2000"/>
              <a:buFont typeface="Arial"/>
              <a:buChar char="​"/>
              <a:defRPr b="0" sz="2000">
                <a:solidFill>
                  <a:schemeClr val="lt1"/>
                </a:solidFill>
              </a:defRPr>
            </a:lvl1pPr>
            <a:lvl2pPr indent="-317500" lvl="1" marL="914400" algn="ctr">
              <a:lnSpc>
                <a:spcPct val="85000"/>
              </a:lnSpc>
              <a:spcBef>
                <a:spcPts val="200"/>
              </a:spcBef>
              <a:spcAft>
                <a:spcPts val="0"/>
              </a:spcAft>
              <a:buClr>
                <a:schemeClr val="lt1"/>
              </a:buClr>
              <a:buSzPts val="1400"/>
              <a:buFont typeface="Arial"/>
              <a:buChar char="​"/>
              <a:defRPr b="0" sz="1400">
                <a:solidFill>
                  <a:schemeClr val="lt1"/>
                </a:solidFill>
              </a:defRPr>
            </a:lvl2pPr>
            <a:lvl3pPr indent="-330200" lvl="2" marL="1371600" algn="ctr">
              <a:lnSpc>
                <a:spcPct val="85000"/>
              </a:lnSpc>
              <a:spcBef>
                <a:spcPts val="600"/>
              </a:spcBef>
              <a:spcAft>
                <a:spcPts val="0"/>
              </a:spcAft>
              <a:buClr>
                <a:schemeClr val="lt1"/>
              </a:buClr>
              <a:buSzPts val="1600"/>
              <a:buFont typeface="Arial"/>
              <a:buChar char="​"/>
              <a:defRPr b="1" sz="1600">
                <a:solidFill>
                  <a:schemeClr val="lt1"/>
                </a:solidFill>
              </a:defRPr>
            </a:lvl3pPr>
            <a:lvl4pPr indent="-317500" lvl="3" marL="1828800" algn="ctr">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ctr">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Tree>
  </p:cSld>
  <p:clrMapOvr>
    <a:masterClrMapping/>
  </p:clrMapOvr>
  <p:transition spd="med">
    <p:fade/>
  </p:transition>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and Content">
  <p:cSld name="1_Title and Content">
    <p:spTree>
      <p:nvGrpSpPr>
        <p:cNvPr id="27" name="Shape 27"/>
        <p:cNvGrpSpPr/>
        <p:nvPr/>
      </p:nvGrpSpPr>
      <p:grpSpPr>
        <a:xfrm>
          <a:off x="0" y="0"/>
          <a:ext cx="0" cy="0"/>
          <a:chOff x="0" y="0"/>
          <a:chExt cx="0" cy="0"/>
        </a:xfrm>
      </p:grpSpPr>
      <p:sp>
        <p:nvSpPr>
          <p:cNvPr id="28" name="Google Shape;28;p3"/>
          <p:cNvSpPr txBox="1"/>
          <p:nvPr>
            <p:ph idx="1" type="body"/>
          </p:nvPr>
        </p:nvSpPr>
        <p:spPr>
          <a:xfrm>
            <a:off x="457200" y="1115806"/>
            <a:ext cx="8229600" cy="3507581"/>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29" name="Google Shape;29;p3"/>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lvl1pPr indent="-228600" lvl="0" marL="457200" algn="l">
              <a:lnSpc>
                <a:spcPct val="85000"/>
              </a:lnSpc>
              <a:spcBef>
                <a:spcPts val="0"/>
              </a:spcBef>
              <a:spcAft>
                <a:spcPts val="0"/>
              </a:spcAft>
              <a:buClr>
                <a:schemeClr val="dk1"/>
              </a:buClr>
              <a:buSzPts val="1800"/>
              <a:buFont typeface="Century Gothic"/>
              <a:buNone/>
              <a:defRPr sz="1800">
                <a:solidFill>
                  <a:schemeClr val="dk1"/>
                </a:solidFill>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0" name="Google Shape;30;p3"/>
          <p:cNvSpPr txBox="1"/>
          <p:nvPr>
            <p:ph type="title"/>
          </p:nvPr>
        </p:nvSpPr>
        <p:spPr>
          <a:xfrm>
            <a:off x="457200" y="128588"/>
            <a:ext cx="8229600" cy="52629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31" name="Google Shape;31;p3"/>
          <p:cNvSpPr txBox="1"/>
          <p:nvPr>
            <p:ph idx="3" type="body"/>
          </p:nvPr>
        </p:nvSpPr>
        <p:spPr>
          <a:xfrm>
            <a:off x="3297994" y="494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7_Title and Content">
  <p:cSld name="17_Title and Content">
    <p:spTree>
      <p:nvGrpSpPr>
        <p:cNvPr id="32" name="Shape 32"/>
        <p:cNvGrpSpPr/>
        <p:nvPr/>
      </p:nvGrpSpPr>
      <p:grpSpPr>
        <a:xfrm>
          <a:off x="0" y="0"/>
          <a:ext cx="0" cy="0"/>
          <a:chOff x="0" y="0"/>
          <a:chExt cx="0" cy="0"/>
        </a:xfrm>
      </p:grpSpPr>
      <p:sp>
        <p:nvSpPr>
          <p:cNvPr id="33" name="Google Shape;33;p4"/>
          <p:cNvSpPr txBox="1"/>
          <p:nvPr>
            <p:ph idx="1" type="body"/>
          </p:nvPr>
        </p:nvSpPr>
        <p:spPr>
          <a:xfrm>
            <a:off x="457200" y="1216372"/>
            <a:ext cx="8229600" cy="3340559"/>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a:lvl1pPr>
            <a:lvl2pPr indent="-342900" lvl="1" marL="914400" algn="l">
              <a:lnSpc>
                <a:spcPct val="85000"/>
              </a:lnSpc>
              <a:spcBef>
                <a:spcPts val="200"/>
              </a:spcBef>
              <a:spcAft>
                <a:spcPts val="0"/>
              </a:spcAft>
              <a:buClr>
                <a:schemeClr val="dk1"/>
              </a:buClr>
              <a:buSzPts val="1800"/>
              <a:buChar char="–"/>
              <a:defRPr/>
            </a:lvl2pPr>
            <a:lvl3pPr indent="-342900" lvl="2" marL="1371600" algn="l">
              <a:lnSpc>
                <a:spcPct val="85000"/>
              </a:lnSpc>
              <a:spcBef>
                <a:spcPts val="200"/>
              </a:spcBef>
              <a:spcAft>
                <a:spcPts val="0"/>
              </a:spcAft>
              <a:buClr>
                <a:schemeClr val="dk1"/>
              </a:buClr>
              <a:buSzPts val="1800"/>
              <a:buChar char="-"/>
              <a:defRPr/>
            </a:lvl3pPr>
            <a:lvl4pPr indent="-342900" lvl="3" marL="1828800" algn="l">
              <a:lnSpc>
                <a:spcPct val="95000"/>
              </a:lnSpc>
              <a:spcBef>
                <a:spcPts val="600"/>
              </a:spcBef>
              <a:spcAft>
                <a:spcPts val="0"/>
              </a:spcAft>
              <a:buClr>
                <a:schemeClr val="dk1"/>
              </a:buClr>
              <a:buSzPts val="1800"/>
              <a:buChar char="​"/>
              <a:defRPr/>
            </a:lvl4pPr>
            <a:lvl5pPr indent="-342900" lvl="4" marL="2286000" algn="l">
              <a:lnSpc>
                <a:spcPct val="95000"/>
              </a:lnSpc>
              <a:spcBef>
                <a:spcPts val="600"/>
              </a:spcBef>
              <a:spcAft>
                <a:spcPts val="0"/>
              </a:spcAft>
              <a:buClr>
                <a:schemeClr val="accent1"/>
              </a:buClr>
              <a:buSzPts val="1800"/>
              <a:buChar char="​"/>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4" name="Google Shape;34;p4"/>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and Subtitle Only">
  <p:cSld name="1_Title and Subtitle Only">
    <p:spTree>
      <p:nvGrpSpPr>
        <p:cNvPr id="35" name="Shape 35"/>
        <p:cNvGrpSpPr/>
        <p:nvPr/>
      </p:nvGrpSpPr>
      <p:grpSpPr>
        <a:xfrm>
          <a:off x="0" y="0"/>
          <a:ext cx="0" cy="0"/>
          <a:chOff x="0" y="0"/>
          <a:chExt cx="0" cy="0"/>
        </a:xfrm>
      </p:grpSpPr>
      <p:sp>
        <p:nvSpPr>
          <p:cNvPr id="36" name="Google Shape;36;p5"/>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7" name="Google Shape;37;p5"/>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lvl1pPr indent="-228600" lvl="0" marL="457200" algn="l">
              <a:lnSpc>
                <a:spcPct val="85000"/>
              </a:lnSpc>
              <a:spcBef>
                <a:spcPts val="0"/>
              </a:spcBef>
              <a:spcAft>
                <a:spcPts val="0"/>
              </a:spcAft>
              <a:buClr>
                <a:schemeClr val="dk1"/>
              </a:buClr>
              <a:buSzPts val="1800"/>
              <a:buFont typeface="Century Gothic"/>
              <a:buNone/>
              <a:defRPr sz="1800">
                <a:solidFill>
                  <a:schemeClr val="dk1"/>
                </a:solidFill>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8" name="Google Shape;38;p5"/>
          <p:cNvSpPr txBox="1"/>
          <p:nvPr>
            <p:ph type="title"/>
          </p:nvPr>
        </p:nvSpPr>
        <p:spPr>
          <a:xfrm>
            <a:off x="457200" y="128590"/>
            <a:ext cx="8229600" cy="52629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5_Title and Content">
  <p:cSld name="15_Title and Content">
    <p:spTree>
      <p:nvGrpSpPr>
        <p:cNvPr id="39" name="Shape 39"/>
        <p:cNvGrpSpPr/>
        <p:nvPr/>
      </p:nvGrpSpPr>
      <p:grpSpPr>
        <a:xfrm>
          <a:off x="0" y="0"/>
          <a:ext cx="0" cy="0"/>
          <a:chOff x="0" y="0"/>
          <a:chExt cx="0" cy="0"/>
        </a:xfrm>
      </p:grpSpPr>
      <p:sp>
        <p:nvSpPr>
          <p:cNvPr id="40" name="Google Shape;40;p6"/>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1" name="Google Shape;41;p6"/>
          <p:cNvSpPr txBox="1"/>
          <p:nvPr>
            <p:ph idx="1" type="body"/>
          </p:nvPr>
        </p:nvSpPr>
        <p:spPr>
          <a:xfrm>
            <a:off x="457200" y="1216152"/>
            <a:ext cx="8229600" cy="3344033"/>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42" name="Google Shape;42;p6"/>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6_Title and Content">
  <p:cSld name="16_Title and Content">
    <p:spTree>
      <p:nvGrpSpPr>
        <p:cNvPr id="43" name="Shape 43"/>
        <p:cNvGrpSpPr/>
        <p:nvPr/>
      </p:nvGrpSpPr>
      <p:grpSpPr>
        <a:xfrm>
          <a:off x="0" y="0"/>
          <a:ext cx="0" cy="0"/>
          <a:chOff x="0" y="0"/>
          <a:chExt cx="0" cy="0"/>
        </a:xfrm>
      </p:grpSpPr>
      <p:sp>
        <p:nvSpPr>
          <p:cNvPr id="44" name="Google Shape;44;p7"/>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5" name="Google Shape;45;p7"/>
          <p:cNvSpPr txBox="1"/>
          <p:nvPr>
            <p:ph idx="1" type="body"/>
          </p:nvPr>
        </p:nvSpPr>
        <p:spPr>
          <a:xfrm>
            <a:off x="457200" y="1216152"/>
            <a:ext cx="8229600" cy="3344033"/>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46" name="Google Shape;46;p7"/>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Content">
  <p:cSld name="Title and Content">
    <p:spTree>
      <p:nvGrpSpPr>
        <p:cNvPr id="47" name="Shape 47"/>
        <p:cNvGrpSpPr/>
        <p:nvPr/>
      </p:nvGrpSpPr>
      <p:grpSpPr>
        <a:xfrm>
          <a:off x="0" y="0"/>
          <a:ext cx="0" cy="0"/>
          <a:chOff x="0" y="0"/>
          <a:chExt cx="0" cy="0"/>
        </a:xfrm>
      </p:grpSpPr>
      <p:sp>
        <p:nvSpPr>
          <p:cNvPr id="48" name="Google Shape;48;p8"/>
          <p:cNvSpPr txBox="1"/>
          <p:nvPr>
            <p:ph type="title"/>
          </p:nvPr>
        </p:nvSpPr>
        <p:spPr>
          <a:xfrm>
            <a:off x="457200" y="173736"/>
            <a:ext cx="8229600" cy="413639"/>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9" name="Google Shape;49;p8"/>
          <p:cNvSpPr txBox="1"/>
          <p:nvPr>
            <p:ph idx="1" type="body"/>
          </p:nvPr>
        </p:nvSpPr>
        <p:spPr>
          <a:xfrm>
            <a:off x="457200" y="865188"/>
            <a:ext cx="8229600" cy="3694997"/>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50" name="Google Shape;50;p8"/>
          <p:cNvSpPr txBox="1"/>
          <p:nvPr>
            <p:ph idx="2" type="body"/>
          </p:nvPr>
        </p:nvSpPr>
        <p:spPr>
          <a:xfrm>
            <a:off x="3297994" y="492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1_Title and Content">
  <p:cSld name="21_Title and Content">
    <p:spTree>
      <p:nvGrpSpPr>
        <p:cNvPr id="51" name="Shape 51"/>
        <p:cNvGrpSpPr/>
        <p:nvPr/>
      </p:nvGrpSpPr>
      <p:grpSpPr>
        <a:xfrm>
          <a:off x="0" y="0"/>
          <a:ext cx="0" cy="0"/>
          <a:chOff x="0" y="0"/>
          <a:chExt cx="0" cy="0"/>
        </a:xfrm>
      </p:grpSpPr>
      <p:sp>
        <p:nvSpPr>
          <p:cNvPr id="52" name="Google Shape;52;p9"/>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53" name="Google Shape;53;p9"/>
          <p:cNvSpPr txBox="1"/>
          <p:nvPr>
            <p:ph idx="1" type="body"/>
          </p:nvPr>
        </p:nvSpPr>
        <p:spPr>
          <a:xfrm>
            <a:off x="457200" y="1216152"/>
            <a:ext cx="8229600" cy="3344033"/>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54" name="Google Shape;54;p9"/>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gue" showMasterSp="0">
  <p:cSld name="Segue">
    <p:bg>
      <p:bgPr>
        <a:solidFill>
          <a:schemeClr val="accent1"/>
        </a:solidFill>
      </p:bgPr>
    </p:bg>
    <p:spTree>
      <p:nvGrpSpPr>
        <p:cNvPr id="55" name="Shape 55"/>
        <p:cNvGrpSpPr/>
        <p:nvPr/>
      </p:nvGrpSpPr>
      <p:grpSpPr>
        <a:xfrm>
          <a:off x="0" y="0"/>
          <a:ext cx="0" cy="0"/>
          <a:chOff x="0" y="0"/>
          <a:chExt cx="0" cy="0"/>
        </a:xfrm>
      </p:grpSpPr>
      <p:sp>
        <p:nvSpPr>
          <p:cNvPr id="56" name="Google Shape;56;p10"/>
          <p:cNvSpPr txBox="1"/>
          <p:nvPr>
            <p:ph idx="1" type="body"/>
          </p:nvPr>
        </p:nvSpPr>
        <p:spPr>
          <a:xfrm>
            <a:off x="0" y="2342217"/>
            <a:ext cx="9144000" cy="459100"/>
          </a:xfrm>
          <a:prstGeom prst="rect">
            <a:avLst/>
          </a:prstGeom>
          <a:solidFill>
            <a:schemeClr val="lt1"/>
          </a:solidFill>
          <a:ln>
            <a:noFill/>
          </a:ln>
        </p:spPr>
        <p:txBody>
          <a:bodyPr anchorCtr="1" anchor="ctr" bIns="45700" lIns="457200" spcFirstLastPara="1" rIns="457200" wrap="square" tIns="45700">
            <a:noAutofit/>
          </a:bodyPr>
          <a:lstStyle>
            <a:lvl1pPr indent="-228600" lvl="0" marL="457200" algn="ctr">
              <a:lnSpc>
                <a:spcPct val="110000"/>
              </a:lnSpc>
              <a:spcBef>
                <a:spcPts val="200"/>
              </a:spcBef>
              <a:spcAft>
                <a:spcPts val="0"/>
              </a:spcAft>
              <a:buClr>
                <a:schemeClr val="accent1"/>
              </a:buClr>
              <a:buSzPts val="2200"/>
              <a:buFont typeface="Century Gothic"/>
              <a:buNone/>
              <a:defRPr sz="2200">
                <a:solidFill>
                  <a:schemeClr val="accent1"/>
                </a:solidFill>
              </a:defRPr>
            </a:lvl1pPr>
            <a:lvl2pPr indent="-342900" lvl="1" marL="914400" algn="ctr">
              <a:lnSpc>
                <a:spcPct val="100000"/>
              </a:lnSpc>
              <a:spcBef>
                <a:spcPts val="200"/>
              </a:spcBef>
              <a:spcAft>
                <a:spcPts val="0"/>
              </a:spcAft>
              <a:buClr>
                <a:schemeClr val="accent1"/>
              </a:buClr>
              <a:buSzPts val="1800"/>
              <a:buFont typeface="Arial"/>
              <a:buChar char="​"/>
              <a:defRPr sz="1800">
                <a:solidFill>
                  <a:schemeClr val="accent1"/>
                </a:solidFill>
              </a:defRPr>
            </a:lvl2pPr>
            <a:lvl3pPr indent="-317500" lvl="2" marL="1371600" algn="ctr">
              <a:lnSpc>
                <a:spcPct val="85000"/>
              </a:lnSpc>
              <a:spcBef>
                <a:spcPts val="600"/>
              </a:spcBef>
              <a:spcAft>
                <a:spcPts val="0"/>
              </a:spcAft>
              <a:buClr>
                <a:schemeClr val="accent1"/>
              </a:buClr>
              <a:buSzPts val="1400"/>
              <a:buFont typeface="Arial"/>
              <a:buChar char="​"/>
              <a:defRPr b="1" sz="1400">
                <a:solidFill>
                  <a:schemeClr val="accent1"/>
                </a:solidFill>
              </a:defRPr>
            </a:lvl3pPr>
            <a:lvl4pPr indent="-317500" lvl="3" marL="1828800" algn="ctr">
              <a:lnSpc>
                <a:spcPct val="85000"/>
              </a:lnSpc>
              <a:spcBef>
                <a:spcPts val="200"/>
              </a:spcBef>
              <a:spcAft>
                <a:spcPts val="0"/>
              </a:spcAft>
              <a:buClr>
                <a:schemeClr val="accent1"/>
              </a:buClr>
              <a:buSzPts val="1400"/>
              <a:buFont typeface="Arial"/>
              <a:buChar char="​"/>
              <a:defRPr b="0" sz="1400">
                <a:solidFill>
                  <a:schemeClr val="accent1"/>
                </a:solidFill>
              </a:defRPr>
            </a:lvl4pPr>
            <a:lvl5pPr indent="-317500" lvl="4" marL="2286000" algn="ctr">
              <a:lnSpc>
                <a:spcPct val="85000"/>
              </a:lnSpc>
              <a:spcBef>
                <a:spcPts val="200"/>
              </a:spcBef>
              <a:spcAft>
                <a:spcPts val="0"/>
              </a:spcAft>
              <a:buClr>
                <a:schemeClr val="accent1"/>
              </a:buClr>
              <a:buSzPts val="1400"/>
              <a:buFont typeface="Arial"/>
              <a:buChar char="​"/>
              <a:defRPr b="0" sz="1400">
                <a:solidFill>
                  <a:schemeClr val="accent1"/>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57" name="Google Shape;57;p10"/>
          <p:cNvSpPr txBox="1"/>
          <p:nvPr/>
        </p:nvSpPr>
        <p:spPr>
          <a:xfrm>
            <a:off x="153254" y="4837176"/>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rgbClr val="D8D8D8"/>
                </a:solidFill>
                <a:latin typeface="Century Gothic"/>
                <a:ea typeface="Century Gothic"/>
                <a:cs typeface="Century Gothic"/>
                <a:sym typeface="Century Gothic"/>
              </a:rPr>
              <a:t>‹#›</a:t>
            </a:fld>
            <a:endParaRPr sz="850">
              <a:solidFill>
                <a:srgbClr val="D8D8D8"/>
              </a:solidFill>
              <a:latin typeface="Century Gothic"/>
              <a:ea typeface="Century Gothic"/>
              <a:cs typeface="Century Gothic"/>
              <a:sym typeface="Century Gothic"/>
            </a:endParaRPr>
          </a:p>
        </p:txBody>
      </p:sp>
      <p:sp>
        <p:nvSpPr>
          <p:cNvPr id="58" name="Google Shape;58;p10"/>
          <p:cNvSpPr txBox="1"/>
          <p:nvPr>
            <p:ph idx="2" type="body"/>
          </p:nvPr>
        </p:nvSpPr>
        <p:spPr>
          <a:xfrm>
            <a:off x="3242535" y="4855464"/>
            <a:ext cx="2658930"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chemeClr val="lt1"/>
              </a:buClr>
              <a:buSzPts val="700"/>
              <a:buFont typeface="Century Gothic"/>
              <a:buNone/>
              <a:defRPr b="1" sz="700">
                <a:solidFill>
                  <a:schemeClr val="lt1"/>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Title and Subtitle Only">
  <p:cSld name="2_Title and Subtitle Only">
    <p:spTree>
      <p:nvGrpSpPr>
        <p:cNvPr id="59" name="Shape 59"/>
        <p:cNvGrpSpPr/>
        <p:nvPr/>
      </p:nvGrpSpPr>
      <p:grpSpPr>
        <a:xfrm>
          <a:off x="0" y="0"/>
          <a:ext cx="0" cy="0"/>
          <a:chOff x="0" y="0"/>
          <a:chExt cx="0" cy="0"/>
        </a:xfrm>
      </p:grpSpPr>
      <p:sp>
        <p:nvSpPr>
          <p:cNvPr id="60" name="Google Shape;60;p11"/>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_Title and Subtitle Only">
  <p:cSld name="4_Title and Subtitle Only">
    <p:spTree>
      <p:nvGrpSpPr>
        <p:cNvPr id="61" name="Shape 61"/>
        <p:cNvGrpSpPr/>
        <p:nvPr/>
      </p:nvGrpSpPr>
      <p:grpSpPr>
        <a:xfrm>
          <a:off x="0" y="0"/>
          <a:ext cx="0" cy="0"/>
          <a:chOff x="0" y="0"/>
          <a:chExt cx="0" cy="0"/>
        </a:xfrm>
      </p:grpSpPr>
      <p:sp>
        <p:nvSpPr>
          <p:cNvPr id="62" name="Google Shape;62;p12"/>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Image">
  <p:cSld name="Content Image">
    <p:spTree>
      <p:nvGrpSpPr>
        <p:cNvPr id="63" name="Shape 63"/>
        <p:cNvGrpSpPr/>
        <p:nvPr/>
      </p:nvGrpSpPr>
      <p:grpSpPr>
        <a:xfrm>
          <a:off x="0" y="0"/>
          <a:ext cx="0" cy="0"/>
          <a:chOff x="0" y="0"/>
          <a:chExt cx="0" cy="0"/>
        </a:xfrm>
      </p:grpSpPr>
      <p:sp>
        <p:nvSpPr>
          <p:cNvPr id="64" name="Google Shape;64;p13"/>
          <p:cNvSpPr/>
          <p:nvPr>
            <p:ph idx="2" type="pic"/>
          </p:nvPr>
        </p:nvSpPr>
        <p:spPr>
          <a:xfrm>
            <a:off x="4800600" y="1216152"/>
            <a:ext cx="3886200" cy="3069714"/>
          </a:xfrm>
          <a:prstGeom prst="rect">
            <a:avLst/>
          </a:prstGeom>
          <a:noFill/>
          <a:ln>
            <a:noFill/>
          </a:ln>
        </p:spPr>
        <p:txBody>
          <a:bodyPr anchorCtr="0" anchor="t" bIns="0" lIns="0" spcFirstLastPara="1" rIns="0" wrap="square" tIns="0">
            <a:noAutofit/>
          </a:bodyPr>
          <a:lstStyle>
            <a:lvl1pPr lvl="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65" name="Google Shape;65;p13"/>
          <p:cNvSpPr txBox="1"/>
          <p:nvPr>
            <p:ph idx="1" type="body"/>
          </p:nvPr>
        </p:nvSpPr>
        <p:spPr>
          <a:xfrm>
            <a:off x="457200" y="1216152"/>
            <a:ext cx="3886200" cy="3350596"/>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66" name="Google Shape;66;p13"/>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67" name="Google Shape;67;p13"/>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6_Title and Content">
  <p:cSld name="6_Title and Content">
    <p:spTree>
      <p:nvGrpSpPr>
        <p:cNvPr id="68" name="Shape 68"/>
        <p:cNvGrpSpPr/>
        <p:nvPr/>
      </p:nvGrpSpPr>
      <p:grpSpPr>
        <a:xfrm>
          <a:off x="0" y="0"/>
          <a:ext cx="0" cy="0"/>
          <a:chOff x="0" y="0"/>
          <a:chExt cx="0" cy="0"/>
        </a:xfrm>
      </p:grpSpPr>
      <p:sp>
        <p:nvSpPr>
          <p:cNvPr id="69" name="Google Shape;69;p14"/>
          <p:cNvSpPr txBox="1"/>
          <p:nvPr>
            <p:ph idx="1" type="body"/>
          </p:nvPr>
        </p:nvSpPr>
        <p:spPr>
          <a:xfrm>
            <a:off x="457200" y="1216372"/>
            <a:ext cx="8229600" cy="3340559"/>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a:lvl1pPr>
            <a:lvl2pPr indent="-342900" lvl="1" marL="914400" algn="l">
              <a:lnSpc>
                <a:spcPct val="85000"/>
              </a:lnSpc>
              <a:spcBef>
                <a:spcPts val="200"/>
              </a:spcBef>
              <a:spcAft>
                <a:spcPts val="0"/>
              </a:spcAft>
              <a:buClr>
                <a:schemeClr val="dk1"/>
              </a:buClr>
              <a:buSzPts val="1800"/>
              <a:buChar char="–"/>
              <a:defRPr/>
            </a:lvl2pPr>
            <a:lvl3pPr indent="-342900" lvl="2" marL="1371600" algn="l">
              <a:lnSpc>
                <a:spcPct val="85000"/>
              </a:lnSpc>
              <a:spcBef>
                <a:spcPts val="200"/>
              </a:spcBef>
              <a:spcAft>
                <a:spcPts val="0"/>
              </a:spcAft>
              <a:buClr>
                <a:schemeClr val="dk1"/>
              </a:buClr>
              <a:buSzPts val="1800"/>
              <a:buChar char="-"/>
              <a:defRPr/>
            </a:lvl3pPr>
            <a:lvl4pPr indent="-342900" lvl="3" marL="1828800" algn="l">
              <a:lnSpc>
                <a:spcPct val="95000"/>
              </a:lnSpc>
              <a:spcBef>
                <a:spcPts val="600"/>
              </a:spcBef>
              <a:spcAft>
                <a:spcPts val="0"/>
              </a:spcAft>
              <a:buClr>
                <a:schemeClr val="dk1"/>
              </a:buClr>
              <a:buSzPts val="1800"/>
              <a:buChar char="​"/>
              <a:defRPr/>
            </a:lvl4pPr>
            <a:lvl5pPr indent="-342900" lvl="4" marL="2286000" algn="l">
              <a:lnSpc>
                <a:spcPct val="95000"/>
              </a:lnSpc>
              <a:spcBef>
                <a:spcPts val="600"/>
              </a:spcBef>
              <a:spcAft>
                <a:spcPts val="0"/>
              </a:spcAft>
              <a:buClr>
                <a:schemeClr val="accent1"/>
              </a:buClr>
              <a:buSzPts val="1800"/>
              <a:buChar char="​"/>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70" name="Google Shape;70;p14"/>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3_Segue" showMasterSp="0">
  <p:cSld name="3_Segue">
    <p:bg>
      <p:bgPr>
        <a:solidFill>
          <a:schemeClr val="accent1"/>
        </a:solidFill>
      </p:bgPr>
    </p:bg>
    <p:spTree>
      <p:nvGrpSpPr>
        <p:cNvPr id="71" name="Shape 71"/>
        <p:cNvGrpSpPr/>
        <p:nvPr/>
      </p:nvGrpSpPr>
      <p:grpSpPr>
        <a:xfrm>
          <a:off x="0" y="0"/>
          <a:ext cx="0" cy="0"/>
          <a:chOff x="0" y="0"/>
          <a:chExt cx="0" cy="0"/>
        </a:xfrm>
      </p:grpSpPr>
      <p:sp>
        <p:nvSpPr>
          <p:cNvPr id="72" name="Google Shape;72;p15"/>
          <p:cNvSpPr txBox="1"/>
          <p:nvPr>
            <p:ph idx="1" type="body"/>
          </p:nvPr>
        </p:nvSpPr>
        <p:spPr>
          <a:xfrm>
            <a:off x="0" y="2342217"/>
            <a:ext cx="9144000" cy="459100"/>
          </a:xfrm>
          <a:prstGeom prst="rect">
            <a:avLst/>
          </a:prstGeom>
          <a:solidFill>
            <a:schemeClr val="lt1"/>
          </a:solidFill>
          <a:ln>
            <a:noFill/>
          </a:ln>
        </p:spPr>
        <p:txBody>
          <a:bodyPr anchorCtr="1" anchor="ctr" bIns="45700" lIns="457200" spcFirstLastPara="1" rIns="457200" wrap="square" tIns="45700">
            <a:noAutofit/>
          </a:bodyPr>
          <a:lstStyle>
            <a:lvl1pPr indent="-228600" lvl="0" marL="457200" algn="ctr">
              <a:lnSpc>
                <a:spcPct val="110000"/>
              </a:lnSpc>
              <a:spcBef>
                <a:spcPts val="200"/>
              </a:spcBef>
              <a:spcAft>
                <a:spcPts val="0"/>
              </a:spcAft>
              <a:buClr>
                <a:schemeClr val="accent1"/>
              </a:buClr>
              <a:buSzPts val="2200"/>
              <a:buFont typeface="Century Gothic"/>
              <a:buNone/>
              <a:defRPr sz="2200">
                <a:solidFill>
                  <a:schemeClr val="accent1"/>
                </a:solidFill>
              </a:defRPr>
            </a:lvl1pPr>
            <a:lvl2pPr indent="-342900" lvl="1" marL="914400" algn="ctr">
              <a:lnSpc>
                <a:spcPct val="100000"/>
              </a:lnSpc>
              <a:spcBef>
                <a:spcPts val="200"/>
              </a:spcBef>
              <a:spcAft>
                <a:spcPts val="0"/>
              </a:spcAft>
              <a:buClr>
                <a:schemeClr val="accent1"/>
              </a:buClr>
              <a:buSzPts val="1800"/>
              <a:buFont typeface="Arial"/>
              <a:buChar char="​"/>
              <a:defRPr sz="1800">
                <a:solidFill>
                  <a:schemeClr val="accent1"/>
                </a:solidFill>
              </a:defRPr>
            </a:lvl2pPr>
            <a:lvl3pPr indent="-317500" lvl="2" marL="1371600" algn="ctr">
              <a:lnSpc>
                <a:spcPct val="85000"/>
              </a:lnSpc>
              <a:spcBef>
                <a:spcPts val="600"/>
              </a:spcBef>
              <a:spcAft>
                <a:spcPts val="0"/>
              </a:spcAft>
              <a:buClr>
                <a:schemeClr val="accent1"/>
              </a:buClr>
              <a:buSzPts val="1400"/>
              <a:buFont typeface="Arial"/>
              <a:buChar char="​"/>
              <a:defRPr b="1" sz="1400">
                <a:solidFill>
                  <a:schemeClr val="accent1"/>
                </a:solidFill>
              </a:defRPr>
            </a:lvl3pPr>
            <a:lvl4pPr indent="-317500" lvl="3" marL="1828800" algn="ctr">
              <a:lnSpc>
                <a:spcPct val="85000"/>
              </a:lnSpc>
              <a:spcBef>
                <a:spcPts val="200"/>
              </a:spcBef>
              <a:spcAft>
                <a:spcPts val="0"/>
              </a:spcAft>
              <a:buClr>
                <a:schemeClr val="accent1"/>
              </a:buClr>
              <a:buSzPts val="1400"/>
              <a:buFont typeface="Arial"/>
              <a:buChar char="​"/>
              <a:defRPr b="0" sz="1400">
                <a:solidFill>
                  <a:schemeClr val="accent1"/>
                </a:solidFill>
              </a:defRPr>
            </a:lvl4pPr>
            <a:lvl5pPr indent="-317500" lvl="4" marL="2286000" algn="ctr">
              <a:lnSpc>
                <a:spcPct val="85000"/>
              </a:lnSpc>
              <a:spcBef>
                <a:spcPts val="200"/>
              </a:spcBef>
              <a:spcAft>
                <a:spcPts val="0"/>
              </a:spcAft>
              <a:buClr>
                <a:schemeClr val="accent1"/>
              </a:buClr>
              <a:buSzPts val="1400"/>
              <a:buFont typeface="Arial"/>
              <a:buChar char="​"/>
              <a:defRPr b="0" sz="1400">
                <a:solidFill>
                  <a:schemeClr val="accent1"/>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73" name="Google Shape;73;p15"/>
          <p:cNvSpPr txBox="1"/>
          <p:nvPr/>
        </p:nvSpPr>
        <p:spPr>
          <a:xfrm>
            <a:off x="153254" y="4837176"/>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chemeClr val="lt2"/>
                </a:solidFill>
                <a:latin typeface="Century Gothic"/>
                <a:ea typeface="Century Gothic"/>
                <a:cs typeface="Century Gothic"/>
                <a:sym typeface="Century Gothic"/>
              </a:rPr>
              <a:t>‹#›</a:t>
            </a:fld>
            <a:endParaRPr sz="850">
              <a:solidFill>
                <a:schemeClr val="lt2"/>
              </a:solidFill>
              <a:latin typeface="Century Gothic"/>
              <a:ea typeface="Century Gothic"/>
              <a:cs typeface="Century Gothic"/>
              <a:sym typeface="Century Gothic"/>
            </a:endParaRPr>
          </a:p>
        </p:txBody>
      </p:sp>
    </p:spTree>
  </p:cSld>
  <p:clrMapOvr>
    <a:masterClrMapping/>
  </p:clrMapOvr>
  <p:transition spd="med">
    <p:fade/>
  </p:transition>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Segue" showMasterSp="0">
  <p:cSld name="2_Segue">
    <p:bg>
      <p:bgPr>
        <a:solidFill>
          <a:schemeClr val="accent1"/>
        </a:solidFill>
      </p:bgPr>
    </p:bg>
    <p:spTree>
      <p:nvGrpSpPr>
        <p:cNvPr id="74" name="Shape 74"/>
        <p:cNvGrpSpPr/>
        <p:nvPr/>
      </p:nvGrpSpPr>
      <p:grpSpPr>
        <a:xfrm>
          <a:off x="0" y="0"/>
          <a:ext cx="0" cy="0"/>
          <a:chOff x="0" y="0"/>
          <a:chExt cx="0" cy="0"/>
        </a:xfrm>
      </p:grpSpPr>
      <p:sp>
        <p:nvSpPr>
          <p:cNvPr id="75" name="Google Shape;75;p16"/>
          <p:cNvSpPr txBox="1"/>
          <p:nvPr>
            <p:ph idx="1" type="body"/>
          </p:nvPr>
        </p:nvSpPr>
        <p:spPr>
          <a:xfrm>
            <a:off x="0" y="2342217"/>
            <a:ext cx="9144000" cy="459100"/>
          </a:xfrm>
          <a:prstGeom prst="rect">
            <a:avLst/>
          </a:prstGeom>
          <a:solidFill>
            <a:schemeClr val="lt1"/>
          </a:solidFill>
          <a:ln>
            <a:noFill/>
          </a:ln>
        </p:spPr>
        <p:txBody>
          <a:bodyPr anchorCtr="1" anchor="ctr" bIns="45700" lIns="457200" spcFirstLastPara="1" rIns="457200" wrap="square" tIns="45700">
            <a:noAutofit/>
          </a:bodyPr>
          <a:lstStyle>
            <a:lvl1pPr indent="-228600" lvl="0" marL="457200" algn="ctr">
              <a:lnSpc>
                <a:spcPct val="110000"/>
              </a:lnSpc>
              <a:spcBef>
                <a:spcPts val="200"/>
              </a:spcBef>
              <a:spcAft>
                <a:spcPts val="0"/>
              </a:spcAft>
              <a:buClr>
                <a:schemeClr val="accent1"/>
              </a:buClr>
              <a:buSzPts val="2200"/>
              <a:buFont typeface="Century Gothic"/>
              <a:buNone/>
              <a:defRPr sz="2200">
                <a:solidFill>
                  <a:schemeClr val="accent1"/>
                </a:solidFill>
              </a:defRPr>
            </a:lvl1pPr>
            <a:lvl2pPr indent="-342900" lvl="1" marL="914400" algn="ctr">
              <a:lnSpc>
                <a:spcPct val="100000"/>
              </a:lnSpc>
              <a:spcBef>
                <a:spcPts val="200"/>
              </a:spcBef>
              <a:spcAft>
                <a:spcPts val="0"/>
              </a:spcAft>
              <a:buClr>
                <a:schemeClr val="accent1"/>
              </a:buClr>
              <a:buSzPts val="1800"/>
              <a:buFont typeface="Arial"/>
              <a:buChar char="​"/>
              <a:defRPr sz="1800">
                <a:solidFill>
                  <a:schemeClr val="accent1"/>
                </a:solidFill>
              </a:defRPr>
            </a:lvl2pPr>
            <a:lvl3pPr indent="-317500" lvl="2" marL="1371600" algn="ctr">
              <a:lnSpc>
                <a:spcPct val="85000"/>
              </a:lnSpc>
              <a:spcBef>
                <a:spcPts val="600"/>
              </a:spcBef>
              <a:spcAft>
                <a:spcPts val="0"/>
              </a:spcAft>
              <a:buClr>
                <a:schemeClr val="accent1"/>
              </a:buClr>
              <a:buSzPts val="1400"/>
              <a:buFont typeface="Arial"/>
              <a:buChar char="​"/>
              <a:defRPr b="1" sz="1400">
                <a:solidFill>
                  <a:schemeClr val="accent1"/>
                </a:solidFill>
              </a:defRPr>
            </a:lvl3pPr>
            <a:lvl4pPr indent="-317500" lvl="3" marL="1828800" algn="ctr">
              <a:lnSpc>
                <a:spcPct val="85000"/>
              </a:lnSpc>
              <a:spcBef>
                <a:spcPts val="200"/>
              </a:spcBef>
              <a:spcAft>
                <a:spcPts val="0"/>
              </a:spcAft>
              <a:buClr>
                <a:schemeClr val="accent1"/>
              </a:buClr>
              <a:buSzPts val="1400"/>
              <a:buFont typeface="Arial"/>
              <a:buChar char="​"/>
              <a:defRPr b="0" sz="1400">
                <a:solidFill>
                  <a:schemeClr val="accent1"/>
                </a:solidFill>
              </a:defRPr>
            </a:lvl4pPr>
            <a:lvl5pPr indent="-317500" lvl="4" marL="2286000" algn="ctr">
              <a:lnSpc>
                <a:spcPct val="85000"/>
              </a:lnSpc>
              <a:spcBef>
                <a:spcPts val="200"/>
              </a:spcBef>
              <a:spcAft>
                <a:spcPts val="0"/>
              </a:spcAft>
              <a:buClr>
                <a:schemeClr val="accent1"/>
              </a:buClr>
              <a:buSzPts val="1400"/>
              <a:buFont typeface="Arial"/>
              <a:buChar char="​"/>
              <a:defRPr b="0" sz="1400">
                <a:solidFill>
                  <a:schemeClr val="accent1"/>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76" name="Google Shape;76;p16"/>
          <p:cNvSpPr txBox="1"/>
          <p:nvPr/>
        </p:nvSpPr>
        <p:spPr>
          <a:xfrm>
            <a:off x="153254" y="4837176"/>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chemeClr val="lt2"/>
                </a:solidFill>
                <a:latin typeface="Century Gothic"/>
                <a:ea typeface="Century Gothic"/>
                <a:cs typeface="Century Gothic"/>
                <a:sym typeface="Century Gothic"/>
              </a:rPr>
              <a:t>‹#›</a:t>
            </a:fld>
            <a:endParaRPr sz="850">
              <a:solidFill>
                <a:schemeClr val="lt2"/>
              </a:solidFill>
              <a:latin typeface="Century Gothic"/>
              <a:ea typeface="Century Gothic"/>
              <a:cs typeface="Century Gothic"/>
              <a:sym typeface="Century Gothic"/>
            </a:endParaRPr>
          </a:p>
        </p:txBody>
      </p:sp>
    </p:spTree>
  </p:cSld>
  <p:clrMapOvr>
    <a:masterClrMapping/>
  </p:clrMapOvr>
  <p:transition spd="med">
    <p:fade/>
  </p:transition>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Text, and 2 Content">
  <p:cSld name="1_Title, Text, and 2 Content">
    <p:spTree>
      <p:nvGrpSpPr>
        <p:cNvPr id="77" name="Shape 77"/>
        <p:cNvGrpSpPr/>
        <p:nvPr/>
      </p:nvGrpSpPr>
      <p:grpSpPr>
        <a:xfrm>
          <a:off x="0" y="0"/>
          <a:ext cx="0" cy="0"/>
          <a:chOff x="0" y="0"/>
          <a:chExt cx="0" cy="0"/>
        </a:xfrm>
      </p:grpSpPr>
      <p:sp>
        <p:nvSpPr>
          <p:cNvPr id="78" name="Google Shape;78;p17"/>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79" name="Google Shape;79;p17"/>
          <p:cNvSpPr/>
          <p:nvPr/>
        </p:nvSpPr>
        <p:spPr>
          <a:xfrm>
            <a:off x="0" y="777875"/>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t/>
            </a:r>
            <a:endParaRPr b="0" i="0" sz="1400" u="none" cap="none" strike="noStrike">
              <a:solidFill>
                <a:schemeClr val="lt1"/>
              </a:solidFill>
              <a:latin typeface="Century Gothic"/>
              <a:ea typeface="Century Gothic"/>
              <a:cs typeface="Century Gothic"/>
              <a:sym typeface="Century Gothic"/>
            </a:endParaRPr>
          </a:p>
        </p:txBody>
      </p:sp>
      <p:sp>
        <p:nvSpPr>
          <p:cNvPr id="80" name="Google Shape;80;p17"/>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lvl1pPr indent="-228600" lvl="0" marL="457200" algn="l">
              <a:lnSpc>
                <a:spcPct val="95000"/>
              </a:lnSpc>
              <a:spcBef>
                <a:spcPts val="600"/>
              </a:spcBef>
              <a:spcAft>
                <a:spcPts val="0"/>
              </a:spcAft>
              <a:buClr>
                <a:schemeClr val="dk2"/>
              </a:buClr>
              <a:buSzPts val="1800"/>
              <a:buNone/>
              <a:defRPr sz="1800">
                <a:solidFill>
                  <a:schemeClr val="dk2"/>
                </a:solidFill>
              </a:defRPr>
            </a:lvl1pPr>
            <a:lvl2pPr indent="-317500" lvl="1" marL="914400" algn="l">
              <a:lnSpc>
                <a:spcPct val="100000"/>
              </a:lnSpc>
              <a:spcBef>
                <a:spcPts val="200"/>
              </a:spcBef>
              <a:spcAft>
                <a:spcPts val="0"/>
              </a:spcAft>
              <a:buClr>
                <a:schemeClr val="dk1"/>
              </a:buClr>
              <a:buSzPts val="1400"/>
              <a:buFont typeface="Arial"/>
              <a:buChar char="•"/>
              <a:defRPr sz="1400"/>
            </a:lvl2pPr>
            <a:lvl3pPr indent="-342900" lvl="2" marL="1371600" algn="l">
              <a:lnSpc>
                <a:spcPct val="85000"/>
              </a:lnSpc>
              <a:spcBef>
                <a:spcPts val="600"/>
              </a:spcBef>
              <a:spcAft>
                <a:spcPts val="0"/>
              </a:spcAft>
              <a:buClr>
                <a:schemeClr val="dk1"/>
              </a:buClr>
              <a:buSzPts val="1800"/>
              <a:buChar char="-"/>
              <a:defRPr/>
            </a:lvl3pPr>
            <a:lvl4pPr indent="-342900" lvl="3" marL="1828800" algn="l">
              <a:lnSpc>
                <a:spcPct val="95000"/>
              </a:lnSpc>
              <a:spcBef>
                <a:spcPts val="600"/>
              </a:spcBef>
              <a:spcAft>
                <a:spcPts val="0"/>
              </a:spcAft>
              <a:buClr>
                <a:schemeClr val="dk1"/>
              </a:buClr>
              <a:buSzPts val="1800"/>
              <a:buChar char="​"/>
              <a:defRPr/>
            </a:lvl4pPr>
            <a:lvl5pPr indent="-342900" lvl="4" marL="2286000" algn="l">
              <a:lnSpc>
                <a:spcPct val="95000"/>
              </a:lnSpc>
              <a:spcBef>
                <a:spcPts val="600"/>
              </a:spcBef>
              <a:spcAft>
                <a:spcPts val="0"/>
              </a:spcAft>
              <a:buClr>
                <a:schemeClr val="accent1"/>
              </a:buClr>
              <a:buSzPts val="1800"/>
              <a:buChar char="​"/>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81" name="Google Shape;81;p17"/>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lvl1pPr indent="-228600" lvl="0" marL="457200" algn="l">
              <a:lnSpc>
                <a:spcPct val="95000"/>
              </a:lnSpc>
              <a:spcBef>
                <a:spcPts val="600"/>
              </a:spcBef>
              <a:spcAft>
                <a:spcPts val="0"/>
              </a:spcAft>
              <a:buClr>
                <a:schemeClr val="lt1"/>
              </a:buClr>
              <a:buSzPts val="1800"/>
              <a:buNone/>
              <a:defRPr sz="1800">
                <a:solidFill>
                  <a:schemeClr val="lt1"/>
                </a:solidFill>
              </a:defRPr>
            </a:lvl1pPr>
            <a:lvl2pPr indent="-342900" lvl="1" marL="914400" algn="l">
              <a:lnSpc>
                <a:spcPct val="85000"/>
              </a:lnSpc>
              <a:spcBef>
                <a:spcPts val="200"/>
              </a:spcBef>
              <a:spcAft>
                <a:spcPts val="0"/>
              </a:spcAft>
              <a:buClr>
                <a:schemeClr val="dk1"/>
              </a:buClr>
              <a:buSzPts val="1800"/>
              <a:buChar char="–"/>
              <a:defRPr sz="1800"/>
            </a:lvl2pPr>
            <a:lvl3pPr indent="-342900" lvl="2" marL="1371600" algn="l">
              <a:lnSpc>
                <a:spcPct val="85000"/>
              </a:lnSpc>
              <a:spcBef>
                <a:spcPts val="200"/>
              </a:spcBef>
              <a:spcAft>
                <a:spcPts val="0"/>
              </a:spcAft>
              <a:buClr>
                <a:schemeClr val="dk1"/>
              </a:buClr>
              <a:buSzPts val="1800"/>
              <a:buChar char="-"/>
              <a:defRPr sz="18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Case Study_Option2">
  <p:cSld name="2_Case Study_Option2">
    <p:spTree>
      <p:nvGrpSpPr>
        <p:cNvPr id="82" name="Shape 82"/>
        <p:cNvGrpSpPr/>
        <p:nvPr/>
      </p:nvGrpSpPr>
      <p:grpSpPr>
        <a:xfrm>
          <a:off x="0" y="0"/>
          <a:ext cx="0" cy="0"/>
          <a:chOff x="0" y="0"/>
          <a:chExt cx="0" cy="0"/>
        </a:xfrm>
      </p:grpSpPr>
      <p:sp>
        <p:nvSpPr>
          <p:cNvPr id="83" name="Google Shape;83;p18"/>
          <p:cNvSpPr txBox="1"/>
          <p:nvPr>
            <p:ph idx="1" type="body"/>
          </p:nvPr>
        </p:nvSpPr>
        <p:spPr>
          <a:xfrm>
            <a:off x="3495437" y="128016"/>
            <a:ext cx="5648693" cy="914400"/>
          </a:xfrm>
          <a:prstGeom prst="rect">
            <a:avLst/>
          </a:prstGeom>
          <a:solidFill>
            <a:srgbClr val="0079DB"/>
          </a:solidFill>
          <a:ln>
            <a:noFill/>
          </a:ln>
        </p:spPr>
        <p:txBody>
          <a:bodyPr anchorCtr="0" anchor="b" bIns="227825" lIns="227825" spcFirstLastPara="1" rIns="455800" wrap="square" tIns="136775">
            <a:noAutofit/>
          </a:bodyPr>
          <a:lstStyle>
            <a:lvl1pPr indent="-368300" lvl="0" marL="457200" algn="l">
              <a:lnSpc>
                <a:spcPct val="85000"/>
              </a:lnSpc>
              <a:spcBef>
                <a:spcPts val="200"/>
              </a:spcBef>
              <a:spcAft>
                <a:spcPts val="0"/>
              </a:spcAft>
              <a:buClr>
                <a:schemeClr val="lt1"/>
              </a:buClr>
              <a:buSzPts val="2200"/>
              <a:buFont typeface="Arial"/>
              <a:buChar char="​"/>
              <a:defRPr sz="2200">
                <a:solidFill>
                  <a:schemeClr val="lt1"/>
                </a:solidFill>
              </a:defRPr>
            </a:lvl1pPr>
            <a:lvl2pPr indent="-342900" lvl="1" marL="914400" algn="l">
              <a:lnSpc>
                <a:spcPct val="85000"/>
              </a:lnSpc>
              <a:spcBef>
                <a:spcPts val="200"/>
              </a:spcBef>
              <a:spcAft>
                <a:spcPts val="0"/>
              </a:spcAft>
              <a:buClr>
                <a:schemeClr val="lt1"/>
              </a:buClr>
              <a:buSzPts val="1800"/>
              <a:buFont typeface="Arial"/>
              <a:buChar char="​"/>
              <a:defRPr sz="1800">
                <a:solidFill>
                  <a:schemeClr val="lt1"/>
                </a:solidFill>
              </a:defRPr>
            </a:lvl2pPr>
            <a:lvl3pPr indent="-317500" lvl="2" marL="1371600" algn="l">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l">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l">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84" name="Google Shape;84;p18"/>
          <p:cNvSpPr/>
          <p:nvPr>
            <p:ph idx="2" type="pic"/>
          </p:nvPr>
        </p:nvSpPr>
        <p:spPr>
          <a:xfrm>
            <a:off x="0" y="0"/>
            <a:ext cx="29718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600"/>
              <a:buFont typeface="Arial"/>
              <a:buNone/>
              <a:defRPr b="0" i="0" sz="16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85" name="Google Shape;85;p18"/>
          <p:cNvSpPr txBox="1"/>
          <p:nvPr>
            <p:ph idx="3" type="body"/>
          </p:nvPr>
        </p:nvSpPr>
        <p:spPr>
          <a:xfrm>
            <a:off x="3511296" y="1152143"/>
            <a:ext cx="5164694" cy="3511296"/>
          </a:xfrm>
          <a:prstGeom prst="rect">
            <a:avLst/>
          </a:prstGeom>
          <a:noFill/>
          <a:ln>
            <a:noFill/>
          </a:ln>
        </p:spPr>
        <p:txBody>
          <a:bodyPr anchorCtr="0" anchor="t" bIns="0" lIns="0" spcFirstLastPara="1" rIns="0" wrap="square" tIns="0">
            <a:noAutofit/>
          </a:bodyPr>
          <a:lstStyle>
            <a:lvl1pPr indent="-355600" lvl="0" marL="457200" algn="l">
              <a:lnSpc>
                <a:spcPct val="95000"/>
              </a:lnSpc>
              <a:spcBef>
                <a:spcPts val="400"/>
              </a:spcBef>
              <a:spcAft>
                <a:spcPts val="0"/>
              </a:spcAft>
              <a:buClr>
                <a:schemeClr val="dk1"/>
              </a:buClr>
              <a:buSzPts val="2000"/>
              <a:buChar char="•"/>
              <a:defRPr sz="2000"/>
            </a:lvl1pPr>
            <a:lvl2pPr indent="-342900" lvl="1" marL="914400" algn="l">
              <a:lnSpc>
                <a:spcPct val="85000"/>
              </a:lnSpc>
              <a:spcBef>
                <a:spcPts val="200"/>
              </a:spcBef>
              <a:spcAft>
                <a:spcPts val="0"/>
              </a:spcAft>
              <a:buClr>
                <a:schemeClr val="dk1"/>
              </a:buClr>
              <a:buSzPts val="1800"/>
              <a:buChar char="–"/>
              <a:defRPr sz="1800"/>
            </a:lvl2pPr>
            <a:lvl3pPr indent="-330200" lvl="2" marL="1371600" algn="l">
              <a:lnSpc>
                <a:spcPct val="85000"/>
              </a:lnSpc>
              <a:spcBef>
                <a:spcPts val="200"/>
              </a:spcBef>
              <a:spcAft>
                <a:spcPts val="0"/>
              </a:spcAft>
              <a:buClr>
                <a:schemeClr val="dk1"/>
              </a:buClr>
              <a:buSzPts val="1600"/>
              <a:buChar char="-"/>
              <a:defRPr sz="16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lternate Title Slide" showMasterSp="0">
  <p:cSld name="Alternate Title Slide">
    <p:spTree>
      <p:nvGrpSpPr>
        <p:cNvPr id="86" name="Shape 86"/>
        <p:cNvGrpSpPr/>
        <p:nvPr/>
      </p:nvGrpSpPr>
      <p:grpSpPr>
        <a:xfrm>
          <a:off x="0" y="0"/>
          <a:ext cx="0" cy="0"/>
          <a:chOff x="0" y="0"/>
          <a:chExt cx="0" cy="0"/>
        </a:xfrm>
      </p:grpSpPr>
      <p:sp>
        <p:nvSpPr>
          <p:cNvPr id="87" name="Google Shape;87;p19"/>
          <p:cNvSpPr txBox="1"/>
          <p:nvPr>
            <p:ph idx="1" type="body"/>
          </p:nvPr>
        </p:nvSpPr>
        <p:spPr>
          <a:xfrm>
            <a:off x="0" y="1765763"/>
            <a:ext cx="9144000" cy="1611980"/>
          </a:xfrm>
          <a:prstGeom prst="rect">
            <a:avLst/>
          </a:prstGeom>
          <a:solidFill>
            <a:schemeClr val="accent1">
              <a:alpha val="89803"/>
            </a:schemeClr>
          </a:solidFill>
          <a:ln>
            <a:noFill/>
          </a:ln>
        </p:spPr>
        <p:txBody>
          <a:bodyPr anchorCtr="1" anchor="ctr" bIns="137150" lIns="457200" spcFirstLastPara="1" rIns="457200" wrap="square" tIns="137150">
            <a:noAutofit/>
          </a:bodyPr>
          <a:lstStyle>
            <a:lvl1pPr indent="-381000" lvl="0" marL="457200" algn="ctr">
              <a:lnSpc>
                <a:spcPct val="85000"/>
              </a:lnSpc>
              <a:spcBef>
                <a:spcPts val="200"/>
              </a:spcBef>
              <a:spcAft>
                <a:spcPts val="0"/>
              </a:spcAft>
              <a:buClr>
                <a:schemeClr val="lt1"/>
              </a:buClr>
              <a:buSzPts val="2400"/>
              <a:buFont typeface="Arial"/>
              <a:buChar char="​"/>
              <a:defRPr b="1" sz="2400">
                <a:solidFill>
                  <a:schemeClr val="lt1"/>
                </a:solidFill>
              </a:defRPr>
            </a:lvl1pPr>
            <a:lvl2pPr indent="-342900" lvl="1" marL="914400" algn="ctr">
              <a:lnSpc>
                <a:spcPct val="85000"/>
              </a:lnSpc>
              <a:spcBef>
                <a:spcPts val="200"/>
              </a:spcBef>
              <a:spcAft>
                <a:spcPts val="0"/>
              </a:spcAft>
              <a:buClr>
                <a:schemeClr val="lt1"/>
              </a:buClr>
              <a:buSzPts val="1800"/>
              <a:buFont typeface="Arial"/>
              <a:buChar char="​"/>
              <a:defRPr b="1" sz="1800">
                <a:solidFill>
                  <a:schemeClr val="lt1"/>
                </a:solidFill>
              </a:defRPr>
            </a:lvl2pPr>
            <a:lvl3pPr indent="-317500" lvl="2" marL="1371600" algn="ctr">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ctr">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ctr">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88" name="Google Shape;88;p19"/>
          <p:cNvSpPr/>
          <p:nvPr/>
        </p:nvSpPr>
        <p:spPr>
          <a:xfrm>
            <a:off x="457200" y="0"/>
            <a:ext cx="2438400" cy="914400"/>
          </a:xfrm>
          <a:prstGeom prst="rect">
            <a:avLst/>
          </a:pr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nvGrpSpPr>
          <p:cNvPr id="89" name="Google Shape;89;p19"/>
          <p:cNvGrpSpPr/>
          <p:nvPr/>
        </p:nvGrpSpPr>
        <p:grpSpPr>
          <a:xfrm>
            <a:off x="994117" y="305466"/>
            <a:ext cx="1362335" cy="305001"/>
            <a:chOff x="5137" y="4139"/>
            <a:chExt cx="335" cy="75"/>
          </a:xfrm>
        </p:grpSpPr>
        <p:sp>
          <p:nvSpPr>
            <p:cNvPr id="90" name="Google Shape;90;p19"/>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91" name="Google Shape;91;p19"/>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Tree>
  </p:cSld>
  <p:clrMapOvr>
    <a:masterClrMapping/>
  </p:clrMapOvr>
  <p:transition spd="med">
    <p:fade/>
  </p:transition>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genda/Table Contents">
  <p:cSld name="Agenda/Table Contents">
    <p:spTree>
      <p:nvGrpSpPr>
        <p:cNvPr id="92" name="Shape 92"/>
        <p:cNvGrpSpPr/>
        <p:nvPr/>
      </p:nvGrpSpPr>
      <p:grpSpPr>
        <a:xfrm>
          <a:off x="0" y="0"/>
          <a:ext cx="0" cy="0"/>
          <a:chOff x="0" y="0"/>
          <a:chExt cx="0" cy="0"/>
        </a:xfrm>
      </p:grpSpPr>
      <p:sp>
        <p:nvSpPr>
          <p:cNvPr id="93" name="Google Shape;93;p20"/>
          <p:cNvSpPr txBox="1"/>
          <p:nvPr>
            <p:ph idx="1" type="body"/>
          </p:nvPr>
        </p:nvSpPr>
        <p:spPr>
          <a:xfrm>
            <a:off x="4800600" y="1216152"/>
            <a:ext cx="3886200" cy="3349777"/>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94" name="Google Shape;94;p20"/>
          <p:cNvSpPr txBox="1"/>
          <p:nvPr>
            <p:ph type="title"/>
          </p:nvPr>
        </p:nvSpPr>
        <p:spPr>
          <a:xfrm>
            <a:off x="4800600" y="263385"/>
            <a:ext cx="3886200" cy="704088"/>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95" name="Google Shape;95;p20"/>
          <p:cNvSpPr/>
          <p:nvPr/>
        </p:nvSpPr>
        <p:spPr>
          <a:xfrm>
            <a:off x="99060" y="4858087"/>
            <a:ext cx="236220" cy="177165"/>
          </a:xfrm>
          <a:prstGeom prst="rect">
            <a:avLst/>
          </a:prstGeom>
          <a:solidFill>
            <a:schemeClr val="l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 name="Google Shape;96;p20"/>
          <p:cNvSpPr/>
          <p:nvPr>
            <p:ph idx="2" type="pic"/>
          </p:nvPr>
        </p:nvSpPr>
        <p:spPr>
          <a:xfrm>
            <a:off x="0" y="0"/>
            <a:ext cx="43434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200"/>
              <a:buFont typeface="Arial"/>
              <a:buNone/>
              <a:defRPr b="0" i="0" sz="12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Tree>
  </p:cSld>
  <p:clrMapOvr>
    <a:masterClrMapping/>
  </p:clrMapOvr>
  <p:transition spd="med">
    <p:fade/>
  </p:transition>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wo Content">
  <p:cSld name="1_Two Content">
    <p:spTree>
      <p:nvGrpSpPr>
        <p:cNvPr id="97" name="Shape 97"/>
        <p:cNvGrpSpPr/>
        <p:nvPr/>
      </p:nvGrpSpPr>
      <p:grpSpPr>
        <a:xfrm>
          <a:off x="0" y="0"/>
          <a:ext cx="0" cy="0"/>
          <a:chOff x="0" y="0"/>
          <a:chExt cx="0" cy="0"/>
        </a:xfrm>
      </p:grpSpPr>
      <p:sp>
        <p:nvSpPr>
          <p:cNvPr id="98" name="Google Shape;98;p21"/>
          <p:cNvSpPr txBox="1"/>
          <p:nvPr>
            <p:ph idx="1" type="body"/>
          </p:nvPr>
        </p:nvSpPr>
        <p:spPr>
          <a:xfrm>
            <a:off x="4800600" y="1216188"/>
            <a:ext cx="3886200" cy="3343998"/>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99" name="Google Shape;99;p21"/>
          <p:cNvSpPr txBox="1"/>
          <p:nvPr>
            <p:ph idx="2" type="body"/>
          </p:nvPr>
        </p:nvSpPr>
        <p:spPr>
          <a:xfrm>
            <a:off x="457200" y="1216152"/>
            <a:ext cx="3886200" cy="3344436"/>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0" name="Google Shape;100;p21"/>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1" name="Google Shape;101;p21"/>
          <p:cNvSpPr txBox="1"/>
          <p:nvPr>
            <p:ph type="title"/>
          </p:nvPr>
        </p:nvSpPr>
        <p:spPr>
          <a:xfrm>
            <a:off x="457200" y="173735"/>
            <a:ext cx="8229600" cy="700031"/>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ntent">
  <p:cSld name="Title and Three Content">
    <p:spTree>
      <p:nvGrpSpPr>
        <p:cNvPr id="102" name="Shape 102"/>
        <p:cNvGrpSpPr/>
        <p:nvPr/>
      </p:nvGrpSpPr>
      <p:grpSpPr>
        <a:xfrm>
          <a:off x="0" y="0"/>
          <a:ext cx="0" cy="0"/>
          <a:chOff x="0" y="0"/>
          <a:chExt cx="0" cy="0"/>
        </a:xfrm>
      </p:grpSpPr>
      <p:sp>
        <p:nvSpPr>
          <p:cNvPr id="103" name="Google Shape;103;p22"/>
          <p:cNvSpPr txBox="1"/>
          <p:nvPr>
            <p:ph idx="1" type="body"/>
          </p:nvPr>
        </p:nvSpPr>
        <p:spPr>
          <a:xfrm>
            <a:off x="457200" y="1216152"/>
            <a:ext cx="24384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4" name="Google Shape;104;p22"/>
          <p:cNvSpPr txBox="1"/>
          <p:nvPr>
            <p:ph idx="2" type="body"/>
          </p:nvPr>
        </p:nvSpPr>
        <p:spPr>
          <a:xfrm>
            <a:off x="3352800" y="1216152"/>
            <a:ext cx="24384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5" name="Google Shape;105;p22"/>
          <p:cNvSpPr txBox="1"/>
          <p:nvPr>
            <p:ph idx="3" type="body"/>
          </p:nvPr>
        </p:nvSpPr>
        <p:spPr>
          <a:xfrm>
            <a:off x="6248400" y="1216152"/>
            <a:ext cx="24384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6" name="Google Shape;106;p22"/>
          <p:cNvSpPr txBox="1"/>
          <p:nvPr>
            <p:ph idx="4"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7" name="Google Shape;107;p22"/>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Left Weighted">
  <p:cSld name="Title and Two Left Weighted">
    <p:spTree>
      <p:nvGrpSpPr>
        <p:cNvPr id="108" name="Shape 108"/>
        <p:cNvGrpSpPr/>
        <p:nvPr/>
      </p:nvGrpSpPr>
      <p:grpSpPr>
        <a:xfrm>
          <a:off x="0" y="0"/>
          <a:ext cx="0" cy="0"/>
          <a:chOff x="0" y="0"/>
          <a:chExt cx="0" cy="0"/>
        </a:xfrm>
      </p:grpSpPr>
      <p:sp>
        <p:nvSpPr>
          <p:cNvPr id="109" name="Google Shape;109;p23"/>
          <p:cNvSpPr/>
          <p:nvPr>
            <p:ph idx="2" type="pic"/>
          </p:nvPr>
        </p:nvSpPr>
        <p:spPr>
          <a:xfrm>
            <a:off x="6258796" y="1216152"/>
            <a:ext cx="2438400" cy="3068356"/>
          </a:xfrm>
          <a:prstGeom prst="rect">
            <a:avLst/>
          </a:prstGeom>
          <a:noFill/>
          <a:ln>
            <a:noFill/>
          </a:ln>
        </p:spPr>
        <p:txBody>
          <a:bodyPr anchorCtr="0" anchor="t" bIns="0" lIns="0" spcFirstLastPara="1" rIns="0" wrap="square" tIns="0">
            <a:noAutofit/>
          </a:bodyPr>
          <a:lstStyle>
            <a:lvl1pPr lvl="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10" name="Google Shape;110;p23"/>
          <p:cNvSpPr txBox="1"/>
          <p:nvPr>
            <p:ph idx="1" type="body"/>
          </p:nvPr>
        </p:nvSpPr>
        <p:spPr>
          <a:xfrm>
            <a:off x="457200" y="1216152"/>
            <a:ext cx="5334000" cy="3344035"/>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1" name="Google Shape;111;p23"/>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2" name="Google Shape;112;p23"/>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Right Weighted">
  <p:cSld name="Title and Two Right Weighted">
    <p:spTree>
      <p:nvGrpSpPr>
        <p:cNvPr id="113" name="Shape 113"/>
        <p:cNvGrpSpPr/>
        <p:nvPr/>
      </p:nvGrpSpPr>
      <p:grpSpPr>
        <a:xfrm>
          <a:off x="0" y="0"/>
          <a:ext cx="0" cy="0"/>
          <a:chOff x="0" y="0"/>
          <a:chExt cx="0" cy="0"/>
        </a:xfrm>
      </p:grpSpPr>
      <p:sp>
        <p:nvSpPr>
          <p:cNvPr id="114" name="Google Shape;114;p24"/>
          <p:cNvSpPr/>
          <p:nvPr>
            <p:ph idx="2" type="pic"/>
          </p:nvPr>
        </p:nvSpPr>
        <p:spPr>
          <a:xfrm>
            <a:off x="457200" y="1216152"/>
            <a:ext cx="2438400" cy="3070129"/>
          </a:xfrm>
          <a:prstGeom prst="rect">
            <a:avLst/>
          </a:prstGeom>
          <a:noFill/>
          <a:ln>
            <a:noFill/>
          </a:ln>
        </p:spPr>
        <p:txBody>
          <a:bodyPr anchorCtr="0" anchor="t" bIns="0" lIns="0" spcFirstLastPara="1" rIns="0" wrap="square" tIns="0">
            <a:noAutofit/>
          </a:bodyPr>
          <a:lstStyle>
            <a:lvl1pPr lvl="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15" name="Google Shape;115;p24"/>
          <p:cNvSpPr txBox="1"/>
          <p:nvPr>
            <p:ph idx="1" type="body"/>
          </p:nvPr>
        </p:nvSpPr>
        <p:spPr>
          <a:xfrm>
            <a:off x="3352800" y="1216152"/>
            <a:ext cx="53340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6" name="Google Shape;116;p24"/>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7" name="Google Shape;117;p24"/>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ubtitle Only">
  <p:cSld name="Title and Subtitle Only">
    <p:spTree>
      <p:nvGrpSpPr>
        <p:cNvPr id="118" name="Shape 118"/>
        <p:cNvGrpSpPr/>
        <p:nvPr/>
      </p:nvGrpSpPr>
      <p:grpSpPr>
        <a:xfrm>
          <a:off x="0" y="0"/>
          <a:ext cx="0" cy="0"/>
          <a:chOff x="0" y="0"/>
          <a:chExt cx="0" cy="0"/>
        </a:xfrm>
      </p:grpSpPr>
      <p:sp>
        <p:nvSpPr>
          <p:cNvPr id="119" name="Google Shape;119;p25"/>
          <p:cNvSpPr txBox="1"/>
          <p:nvPr>
            <p:ph idx="1"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20" name="Google Shape;120;p25"/>
          <p:cNvSpPr txBox="1"/>
          <p:nvPr>
            <p:ph type="title"/>
          </p:nvPr>
        </p:nvSpPr>
        <p:spPr>
          <a:xfrm>
            <a:off x="457200" y="173736"/>
            <a:ext cx="8229600" cy="413639"/>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p:cSld name="Blank">
    <p:spTree>
      <p:nvGrpSpPr>
        <p:cNvPr id="121" name="Shape 121"/>
        <p:cNvGrpSpPr/>
        <p:nvPr/>
      </p:nvGrpSpPr>
      <p:grpSpPr>
        <a:xfrm>
          <a:off x="0" y="0"/>
          <a:ext cx="0" cy="0"/>
          <a:chOff x="0" y="0"/>
          <a:chExt cx="0" cy="0"/>
        </a:xfrm>
      </p:grpSpPr>
      <p:sp>
        <p:nvSpPr>
          <p:cNvPr id="122" name="Google Shape;122;p26"/>
          <p:cNvSpPr txBox="1"/>
          <p:nvPr>
            <p:ph idx="1"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se Study">
  <p:cSld name="Case Study">
    <p:spTree>
      <p:nvGrpSpPr>
        <p:cNvPr id="123" name="Shape 123"/>
        <p:cNvGrpSpPr/>
        <p:nvPr/>
      </p:nvGrpSpPr>
      <p:grpSpPr>
        <a:xfrm>
          <a:off x="0" y="0"/>
          <a:ext cx="0" cy="0"/>
          <a:chOff x="0" y="0"/>
          <a:chExt cx="0" cy="0"/>
        </a:xfrm>
      </p:grpSpPr>
      <p:sp>
        <p:nvSpPr>
          <p:cNvPr id="124" name="Google Shape;124;p27"/>
          <p:cNvSpPr txBox="1"/>
          <p:nvPr>
            <p:ph idx="1" type="body"/>
          </p:nvPr>
        </p:nvSpPr>
        <p:spPr>
          <a:xfrm>
            <a:off x="3514722" y="777240"/>
            <a:ext cx="5629278" cy="914400"/>
          </a:xfrm>
          <a:prstGeom prst="rect">
            <a:avLst/>
          </a:prstGeom>
          <a:solidFill>
            <a:srgbClr val="0079DB"/>
          </a:solidFill>
          <a:ln>
            <a:noFill/>
          </a:ln>
        </p:spPr>
        <p:txBody>
          <a:bodyPr anchorCtr="0" anchor="b" bIns="228600" lIns="228600" spcFirstLastPara="1" rIns="457200" wrap="square" tIns="137150">
            <a:noAutofit/>
          </a:bodyPr>
          <a:lstStyle>
            <a:lvl1pPr indent="-368300" lvl="0" marL="457200" algn="l">
              <a:lnSpc>
                <a:spcPct val="85000"/>
              </a:lnSpc>
              <a:spcBef>
                <a:spcPts val="200"/>
              </a:spcBef>
              <a:spcAft>
                <a:spcPts val="0"/>
              </a:spcAft>
              <a:buClr>
                <a:schemeClr val="lt1"/>
              </a:buClr>
              <a:buSzPts val="2200"/>
              <a:buFont typeface="Arial"/>
              <a:buChar char="​"/>
              <a:defRPr sz="2200">
                <a:solidFill>
                  <a:schemeClr val="lt1"/>
                </a:solidFill>
              </a:defRPr>
            </a:lvl1pPr>
            <a:lvl2pPr indent="-342900" lvl="1" marL="914400" algn="l">
              <a:lnSpc>
                <a:spcPct val="85000"/>
              </a:lnSpc>
              <a:spcBef>
                <a:spcPts val="200"/>
              </a:spcBef>
              <a:spcAft>
                <a:spcPts val="0"/>
              </a:spcAft>
              <a:buClr>
                <a:schemeClr val="lt1"/>
              </a:buClr>
              <a:buSzPts val="1800"/>
              <a:buFont typeface="Arial"/>
              <a:buChar char="​"/>
              <a:defRPr sz="1800">
                <a:solidFill>
                  <a:schemeClr val="lt1"/>
                </a:solidFill>
              </a:defRPr>
            </a:lvl2pPr>
            <a:lvl3pPr indent="-317500" lvl="2" marL="1371600" algn="l">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l">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l">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125" name="Google Shape;125;p27"/>
          <p:cNvSpPr/>
          <p:nvPr>
            <p:ph idx="2" type="pic"/>
          </p:nvPr>
        </p:nvSpPr>
        <p:spPr>
          <a:xfrm>
            <a:off x="0" y="0"/>
            <a:ext cx="29718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600"/>
              <a:buFont typeface="Arial"/>
              <a:buNone/>
              <a:defRPr b="0" i="0" sz="16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26" name="Google Shape;126;p27"/>
          <p:cNvSpPr txBox="1"/>
          <p:nvPr>
            <p:ph idx="3" type="body"/>
          </p:nvPr>
        </p:nvSpPr>
        <p:spPr>
          <a:xfrm>
            <a:off x="3511296" y="1878314"/>
            <a:ext cx="5146943" cy="2783250"/>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4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27" name="Google Shape;127;p27"/>
          <p:cNvSpPr/>
          <p:nvPr>
            <p:ph idx="4" type="pic"/>
          </p:nvPr>
        </p:nvSpPr>
        <p:spPr>
          <a:xfrm>
            <a:off x="3505200" y="73152"/>
            <a:ext cx="1371600" cy="621792"/>
          </a:xfrm>
          <a:prstGeom prst="rect">
            <a:avLst/>
          </a:prstGeom>
          <a:noFill/>
          <a:ln>
            <a:noFill/>
          </a:ln>
        </p:spPr>
        <p:txBody>
          <a:bodyPr anchorCtr="0" anchor="ctr" bIns="0" lIns="0" spcFirstLastPara="1" rIns="0" wrap="square" tIns="0">
            <a:noAutofit/>
          </a:bodyPr>
          <a:lstStyle>
            <a:lvl1pPr lvl="0" marR="0" rtl="0" algn="ctr">
              <a:lnSpc>
                <a:spcPct val="95000"/>
              </a:lnSpc>
              <a:spcBef>
                <a:spcPts val="600"/>
              </a:spcBef>
              <a:spcAft>
                <a:spcPts val="0"/>
              </a:spcAft>
              <a:buClr>
                <a:schemeClr val="dk1"/>
              </a:buClr>
              <a:buSzPts val="900"/>
              <a:buFont typeface="Arial"/>
              <a:buNone/>
              <a:defRPr b="0" i="0" sz="9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Tree>
  </p:cSld>
  <p:clrMapOvr>
    <a:masterClrMapping/>
  </p:clrMapOvr>
  <p:transition spd="med">
    <p:fade/>
  </p:transition>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Case Study_Option2">
  <p:cSld name="1_Case Study_Option2">
    <p:spTree>
      <p:nvGrpSpPr>
        <p:cNvPr id="128" name="Shape 128"/>
        <p:cNvGrpSpPr/>
        <p:nvPr/>
      </p:nvGrpSpPr>
      <p:grpSpPr>
        <a:xfrm>
          <a:off x="0" y="0"/>
          <a:ext cx="0" cy="0"/>
          <a:chOff x="0" y="0"/>
          <a:chExt cx="0" cy="0"/>
        </a:xfrm>
      </p:grpSpPr>
      <p:sp>
        <p:nvSpPr>
          <p:cNvPr id="129" name="Google Shape;129;p28"/>
          <p:cNvSpPr txBox="1"/>
          <p:nvPr>
            <p:ph idx="1" type="body"/>
          </p:nvPr>
        </p:nvSpPr>
        <p:spPr>
          <a:xfrm>
            <a:off x="3495307" y="128016"/>
            <a:ext cx="5648693" cy="914400"/>
          </a:xfrm>
          <a:prstGeom prst="rect">
            <a:avLst/>
          </a:prstGeom>
          <a:solidFill>
            <a:srgbClr val="0079DB"/>
          </a:solidFill>
          <a:ln>
            <a:noFill/>
          </a:ln>
        </p:spPr>
        <p:txBody>
          <a:bodyPr anchorCtr="0" anchor="b" bIns="228600" lIns="228600" spcFirstLastPara="1" rIns="457200" wrap="square" tIns="137150">
            <a:noAutofit/>
          </a:bodyPr>
          <a:lstStyle>
            <a:lvl1pPr indent="-368300" lvl="0" marL="457200" algn="l">
              <a:lnSpc>
                <a:spcPct val="85000"/>
              </a:lnSpc>
              <a:spcBef>
                <a:spcPts val="200"/>
              </a:spcBef>
              <a:spcAft>
                <a:spcPts val="0"/>
              </a:spcAft>
              <a:buClr>
                <a:schemeClr val="lt1"/>
              </a:buClr>
              <a:buSzPts val="2200"/>
              <a:buFont typeface="Arial"/>
              <a:buChar char="​"/>
              <a:defRPr sz="2200">
                <a:solidFill>
                  <a:schemeClr val="lt1"/>
                </a:solidFill>
              </a:defRPr>
            </a:lvl1pPr>
            <a:lvl2pPr indent="-342900" lvl="1" marL="914400" algn="l">
              <a:lnSpc>
                <a:spcPct val="85000"/>
              </a:lnSpc>
              <a:spcBef>
                <a:spcPts val="200"/>
              </a:spcBef>
              <a:spcAft>
                <a:spcPts val="0"/>
              </a:spcAft>
              <a:buClr>
                <a:schemeClr val="lt1"/>
              </a:buClr>
              <a:buSzPts val="1800"/>
              <a:buFont typeface="Arial"/>
              <a:buChar char="​"/>
              <a:defRPr sz="1800">
                <a:solidFill>
                  <a:schemeClr val="lt1"/>
                </a:solidFill>
              </a:defRPr>
            </a:lvl2pPr>
            <a:lvl3pPr indent="-317500" lvl="2" marL="1371600" algn="l">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l">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l">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130" name="Google Shape;130;p28"/>
          <p:cNvSpPr/>
          <p:nvPr>
            <p:ph idx="2" type="pic"/>
          </p:nvPr>
        </p:nvSpPr>
        <p:spPr>
          <a:xfrm>
            <a:off x="0" y="0"/>
            <a:ext cx="29718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600"/>
              <a:buFont typeface="Arial"/>
              <a:buNone/>
              <a:defRPr b="0" i="0" sz="16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31" name="Google Shape;131;p28"/>
          <p:cNvSpPr txBox="1"/>
          <p:nvPr>
            <p:ph idx="3" type="body"/>
          </p:nvPr>
        </p:nvSpPr>
        <p:spPr>
          <a:xfrm>
            <a:off x="3511296" y="1152143"/>
            <a:ext cx="5164694" cy="3511296"/>
          </a:xfrm>
          <a:prstGeom prst="rect">
            <a:avLst/>
          </a:prstGeom>
          <a:noFill/>
          <a:ln>
            <a:noFill/>
          </a:ln>
        </p:spPr>
        <p:txBody>
          <a:bodyPr anchorCtr="0" anchor="t" bIns="0" lIns="0" spcFirstLastPara="1" rIns="0" wrap="square" tIns="0">
            <a:noAutofit/>
          </a:bodyPr>
          <a:lstStyle>
            <a:lvl1pPr indent="-355600" lvl="0" marL="457200" algn="l">
              <a:lnSpc>
                <a:spcPct val="95000"/>
              </a:lnSpc>
              <a:spcBef>
                <a:spcPts val="400"/>
              </a:spcBef>
              <a:spcAft>
                <a:spcPts val="0"/>
              </a:spcAft>
              <a:buClr>
                <a:schemeClr val="dk1"/>
              </a:buClr>
              <a:buSzPts val="2000"/>
              <a:buChar char="•"/>
              <a:defRPr sz="2000"/>
            </a:lvl1pPr>
            <a:lvl2pPr indent="-342900" lvl="1" marL="914400" algn="l">
              <a:lnSpc>
                <a:spcPct val="85000"/>
              </a:lnSpc>
              <a:spcBef>
                <a:spcPts val="200"/>
              </a:spcBef>
              <a:spcAft>
                <a:spcPts val="0"/>
              </a:spcAft>
              <a:buClr>
                <a:schemeClr val="dk1"/>
              </a:buClr>
              <a:buSzPts val="1800"/>
              <a:buChar char="–"/>
              <a:defRPr sz="1800"/>
            </a:lvl2pPr>
            <a:lvl3pPr indent="-330200" lvl="2" marL="1371600" algn="l">
              <a:lnSpc>
                <a:spcPct val="85000"/>
              </a:lnSpc>
              <a:spcBef>
                <a:spcPts val="200"/>
              </a:spcBef>
              <a:spcAft>
                <a:spcPts val="0"/>
              </a:spcAft>
              <a:buClr>
                <a:schemeClr val="dk1"/>
              </a:buClr>
              <a:buSzPts val="1600"/>
              <a:buChar char="-"/>
              <a:defRPr sz="16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End Slide" showMasterSp="0">
  <p:cSld name="End Slide">
    <p:spTree>
      <p:nvGrpSpPr>
        <p:cNvPr id="132" name="Shape 132"/>
        <p:cNvGrpSpPr/>
        <p:nvPr/>
      </p:nvGrpSpPr>
      <p:grpSpPr>
        <a:xfrm>
          <a:off x="0" y="0"/>
          <a:ext cx="0" cy="0"/>
          <a:chOff x="0" y="0"/>
          <a:chExt cx="0" cy="0"/>
        </a:xfrm>
      </p:grpSpPr>
      <p:sp>
        <p:nvSpPr>
          <p:cNvPr id="133" name="Google Shape;133;p29"/>
          <p:cNvSpPr txBox="1"/>
          <p:nvPr/>
        </p:nvSpPr>
        <p:spPr>
          <a:xfrm>
            <a:off x="171052" y="4837176"/>
            <a:ext cx="115416" cy="107722"/>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700">
                <a:solidFill>
                  <a:srgbClr val="A2A2A2"/>
                </a:solidFill>
                <a:latin typeface="Century Gothic"/>
                <a:ea typeface="Century Gothic"/>
                <a:cs typeface="Century Gothic"/>
                <a:sym typeface="Century Gothic"/>
              </a:rPr>
              <a:t>‹#›</a:t>
            </a:fld>
            <a:endParaRPr sz="700">
              <a:solidFill>
                <a:srgbClr val="A2A2A2"/>
              </a:solidFill>
              <a:latin typeface="Century Gothic"/>
              <a:ea typeface="Century Gothic"/>
              <a:cs typeface="Century Gothic"/>
              <a:sym typeface="Century Gothic"/>
            </a:endParaRPr>
          </a:p>
        </p:txBody>
      </p:sp>
      <p:sp>
        <p:nvSpPr>
          <p:cNvPr id="134" name="Google Shape;134;p29"/>
          <p:cNvSpPr txBox="1"/>
          <p:nvPr>
            <p:ph idx="1"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35" name="Google Shape;135;p29"/>
          <p:cNvSpPr txBox="1"/>
          <p:nvPr/>
        </p:nvSpPr>
        <p:spPr>
          <a:xfrm>
            <a:off x="153254" y="4837176"/>
            <a:ext cx="133221" cy="130805"/>
          </a:xfrm>
          <a:prstGeom prst="rect">
            <a:avLst/>
          </a:prstGeom>
          <a:solidFill>
            <a:schemeClr val="lt1"/>
          </a:solid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rgbClr val="6C6C6C"/>
                </a:solidFill>
                <a:latin typeface="Century Gothic"/>
                <a:ea typeface="Century Gothic"/>
                <a:cs typeface="Century Gothic"/>
                <a:sym typeface="Century Gothic"/>
              </a:rPr>
              <a:t>‹#›</a:t>
            </a:fld>
            <a:endParaRPr sz="850">
              <a:solidFill>
                <a:srgbClr val="6C6C6C"/>
              </a:solidFill>
              <a:latin typeface="Century Gothic"/>
              <a:ea typeface="Century Gothic"/>
              <a:cs typeface="Century Gothic"/>
              <a:sym typeface="Century Gothic"/>
            </a:endParaRPr>
          </a:p>
        </p:txBody>
      </p:sp>
      <p:grpSp>
        <p:nvGrpSpPr>
          <p:cNvPr id="136" name="Google Shape;136;p29"/>
          <p:cNvGrpSpPr/>
          <p:nvPr/>
        </p:nvGrpSpPr>
        <p:grpSpPr>
          <a:xfrm>
            <a:off x="2742406" y="2158207"/>
            <a:ext cx="3659188" cy="827087"/>
            <a:chOff x="1728" y="1805"/>
            <a:chExt cx="2305" cy="521"/>
          </a:xfrm>
        </p:grpSpPr>
        <p:sp>
          <p:nvSpPr>
            <p:cNvPr id="137" name="Google Shape;137;p29"/>
            <p:cNvSpPr/>
            <p:nvPr/>
          </p:nvSpPr>
          <p:spPr>
            <a:xfrm>
              <a:off x="1728" y="1805"/>
              <a:ext cx="2231" cy="521"/>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138" name="Google Shape;138;p29"/>
            <p:cNvSpPr/>
            <p:nvPr/>
          </p:nvSpPr>
          <p:spPr>
            <a:xfrm>
              <a:off x="3974" y="2210"/>
              <a:ext cx="59" cy="5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Tree>
  </p:cSld>
  <p:clrMapOvr>
    <a:masterClrMapping/>
  </p:clrMapOvr>
  <p:transition spd="med">
    <p:fade/>
  </p:transition>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5_Title and Content">
  <p:cSld name="5_Title and Content">
    <p:spTree>
      <p:nvGrpSpPr>
        <p:cNvPr id="139" name="Shape 139"/>
        <p:cNvGrpSpPr/>
        <p:nvPr/>
      </p:nvGrpSpPr>
      <p:grpSpPr>
        <a:xfrm>
          <a:off x="0" y="0"/>
          <a:ext cx="0" cy="0"/>
          <a:chOff x="0" y="0"/>
          <a:chExt cx="0" cy="0"/>
        </a:xfrm>
      </p:grpSpPr>
      <p:sp>
        <p:nvSpPr>
          <p:cNvPr id="140" name="Google Shape;140;p30"/>
          <p:cNvSpPr txBox="1"/>
          <p:nvPr>
            <p:ph idx="1" type="body"/>
          </p:nvPr>
        </p:nvSpPr>
        <p:spPr>
          <a:xfrm>
            <a:off x="457200" y="1115840"/>
            <a:ext cx="8229600" cy="3507581"/>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41" name="Google Shape;141;p30"/>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lvl1pPr indent="-228600" lvl="0" marL="457200" algn="l">
              <a:lnSpc>
                <a:spcPct val="85000"/>
              </a:lnSpc>
              <a:spcBef>
                <a:spcPts val="0"/>
              </a:spcBef>
              <a:spcAft>
                <a:spcPts val="0"/>
              </a:spcAft>
              <a:buClr>
                <a:schemeClr val="dk1"/>
              </a:buClr>
              <a:buSzPts val="1800"/>
              <a:buFont typeface="Century Gothic"/>
              <a:buNone/>
              <a:defRPr sz="1800">
                <a:solidFill>
                  <a:schemeClr val="dk1"/>
                </a:solidFill>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42" name="Google Shape;142;p30"/>
          <p:cNvSpPr txBox="1"/>
          <p:nvPr>
            <p:ph type="title"/>
          </p:nvPr>
        </p:nvSpPr>
        <p:spPr>
          <a:xfrm>
            <a:off x="457200" y="128590"/>
            <a:ext cx="8229600" cy="52629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143" name="Google Shape;143;p30"/>
          <p:cNvSpPr txBox="1"/>
          <p:nvPr>
            <p:ph idx="3" type="body"/>
          </p:nvPr>
        </p:nvSpPr>
        <p:spPr>
          <a:xfrm>
            <a:off x="3297994" y="494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slideLayout" Target="../slideLayouts/slideLayout12.xml"/><Relationship Id="rId13" Type="http://schemas.openxmlformats.org/officeDocument/2006/relationships/slideLayout" Target="../slideLayouts/slideLayout13.xml"/><Relationship Id="rId14" Type="http://schemas.openxmlformats.org/officeDocument/2006/relationships/slideLayout" Target="../slideLayouts/slideLayout14.xml"/><Relationship Id="rId15" Type="http://schemas.openxmlformats.org/officeDocument/2006/relationships/slideLayout" Target="../slideLayouts/slideLayout15.xml"/><Relationship Id="rId16" Type="http://schemas.openxmlformats.org/officeDocument/2006/relationships/slideLayout" Target="../slideLayouts/slideLayout16.xml"/><Relationship Id="rId17" Type="http://schemas.openxmlformats.org/officeDocument/2006/relationships/slideLayout" Target="../slideLayouts/slideLayout17.xml"/><Relationship Id="rId18" Type="http://schemas.openxmlformats.org/officeDocument/2006/relationships/slideLayout" Target="../slideLayouts/slideLayout18.xml"/><Relationship Id="rId19" Type="http://schemas.openxmlformats.org/officeDocument/2006/relationships/slideLayout" Target="../slideLayouts/slideLayout19.xml"/><Relationship Id="rId20" Type="http://schemas.openxmlformats.org/officeDocument/2006/relationships/slideLayout" Target="../slideLayouts/slideLayout20.xml"/><Relationship Id="rId21" Type="http://schemas.openxmlformats.org/officeDocument/2006/relationships/slideLayout" Target="../slideLayouts/slideLayout21.xml"/><Relationship Id="rId22" Type="http://schemas.openxmlformats.org/officeDocument/2006/relationships/slideLayout" Target="../slideLayouts/slideLayout22.xml"/><Relationship Id="rId23" Type="http://schemas.openxmlformats.org/officeDocument/2006/relationships/slideLayout" Target="../slideLayouts/slideLayout23.xml"/><Relationship Id="rId24" Type="http://schemas.openxmlformats.org/officeDocument/2006/relationships/slideLayout" Target="../slideLayouts/slideLayout24.xml"/><Relationship Id="rId25" Type="http://schemas.openxmlformats.org/officeDocument/2006/relationships/slideLayout" Target="../slideLayouts/slideLayout25.xml"/><Relationship Id="rId26" Type="http://schemas.openxmlformats.org/officeDocument/2006/relationships/slideLayout" Target="../slideLayouts/slideLayout26.xml"/><Relationship Id="rId27" Type="http://schemas.openxmlformats.org/officeDocument/2006/relationships/slideLayout" Target="../slideLayouts/slideLayout27.xml"/><Relationship Id="rId28" Type="http://schemas.openxmlformats.org/officeDocument/2006/relationships/slideLayout" Target="../slideLayouts/slideLayout28.xml"/><Relationship Id="rId29" Type="http://schemas.openxmlformats.org/officeDocument/2006/relationships/slideLayout" Target="../slideLayouts/slideLayout29.xml"/><Relationship Id="rId30"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2" name="Shape 12"/>
        <p:cNvGrpSpPr/>
        <p:nvPr/>
      </p:nvGrpSpPr>
      <p:grpSpPr>
        <a:xfrm>
          <a:off x="0" y="0"/>
          <a:ext cx="0" cy="0"/>
          <a:chOff x="0" y="0"/>
          <a:chExt cx="0" cy="0"/>
        </a:xfrm>
      </p:grpSpPr>
      <p:sp>
        <p:nvSpPr>
          <p:cNvPr id="13" name="Google Shape;13;p1"/>
          <p:cNvSpPr txBox="1"/>
          <p:nvPr>
            <p:ph idx="1" type="body"/>
          </p:nvPr>
        </p:nvSpPr>
        <p:spPr>
          <a:xfrm>
            <a:off x="457200" y="1216372"/>
            <a:ext cx="8229600" cy="3340559"/>
          </a:xfrm>
          <a:prstGeom prst="rect">
            <a:avLst/>
          </a:prstGeom>
          <a:noFill/>
          <a:ln>
            <a:noFill/>
          </a:ln>
        </p:spPr>
        <p:txBody>
          <a:bodyPr anchorCtr="0" anchor="t" bIns="0" lIns="0" spcFirstLastPara="1" rIns="0" wrap="square" tIns="0">
            <a:noAutofit/>
          </a:bodyPr>
          <a:lstStyle>
            <a:lvl1pPr indent="-342900" lvl="0" marL="45720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indent="-330200" lvl="1" marL="914400"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indent="-317500" lvl="2" marL="1371600"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indent="-342900" lvl="3" marL="182880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indent="-342900" lvl="4" marL="2286000"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indent="-342900" lvl="5" marL="2743200"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indent="-342900" lvl="6" marL="3200400"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indent="-342900" lvl="7" marL="3657600"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indent="-285750" lvl="8" marL="4114800"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4" name="Google Shape;14;p1"/>
          <p:cNvSpPr txBox="1"/>
          <p:nvPr/>
        </p:nvSpPr>
        <p:spPr>
          <a:xfrm>
            <a:off x="153254" y="4896022"/>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rgbClr val="6C6C6C"/>
                </a:solidFill>
                <a:latin typeface="Century Gothic"/>
                <a:ea typeface="Century Gothic"/>
                <a:cs typeface="Century Gothic"/>
                <a:sym typeface="Century Gothic"/>
              </a:rPr>
              <a:t>‹#›</a:t>
            </a:fld>
            <a:endParaRPr sz="850">
              <a:solidFill>
                <a:srgbClr val="6C6C6C"/>
              </a:solidFill>
              <a:latin typeface="Century Gothic"/>
              <a:ea typeface="Century Gothic"/>
              <a:cs typeface="Century Gothic"/>
              <a:sym typeface="Century Gothic"/>
            </a:endParaRPr>
          </a:p>
        </p:txBody>
      </p:sp>
      <p:sp>
        <p:nvSpPr>
          <p:cNvPr id="15" name="Google Shape;15;p1"/>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lvl1pPr lvl="0" marR="0" rtl="0" algn="l">
              <a:lnSpc>
                <a:spcPct val="95000"/>
              </a:lnSpc>
              <a:spcBef>
                <a:spcPts val="0"/>
              </a:spcBef>
              <a:spcAft>
                <a:spcPts val="0"/>
              </a:spcAft>
              <a:buClr>
                <a:schemeClr val="accent1"/>
              </a:buClr>
              <a:buSzPts val="2200"/>
              <a:buFont typeface="Century Gothic"/>
              <a:buNone/>
              <a:defRPr b="1" i="0" sz="2200" u="none" cap="none" strike="noStrike">
                <a:solidFill>
                  <a:schemeClr val="accent1"/>
                </a:solidFill>
                <a:latin typeface="Century Gothic"/>
                <a:ea typeface="Century Gothic"/>
                <a:cs typeface="Century Gothic"/>
                <a:sym typeface="Century Gothic"/>
              </a:defRPr>
            </a:lvl1pPr>
            <a:lvl2pPr lvl="1">
              <a:spcBef>
                <a:spcPts val="0"/>
              </a:spcBef>
              <a:spcAft>
                <a:spcPts val="0"/>
              </a:spcAft>
              <a:buSzPts val="1400"/>
              <a:buNone/>
              <a:defRPr sz="1800"/>
            </a:lvl2pPr>
            <a:lvl3pPr lvl="2">
              <a:spcBef>
                <a:spcPts val="0"/>
              </a:spcBef>
              <a:spcAft>
                <a:spcPts val="0"/>
              </a:spcAft>
              <a:buSzPts val="1400"/>
              <a:buNone/>
              <a:defRPr sz="1800"/>
            </a:lvl3pPr>
            <a:lvl4pPr lvl="3">
              <a:spcBef>
                <a:spcPts val="0"/>
              </a:spcBef>
              <a:spcAft>
                <a:spcPts val="0"/>
              </a:spcAft>
              <a:buSzPts val="1400"/>
              <a:buNone/>
              <a:defRPr sz="1800"/>
            </a:lvl4pPr>
            <a:lvl5pPr lvl="4">
              <a:spcBef>
                <a:spcPts val="0"/>
              </a:spcBef>
              <a:spcAft>
                <a:spcPts val="0"/>
              </a:spcAft>
              <a:buSzPts val="1400"/>
              <a:buNone/>
              <a:defRPr sz="1800"/>
            </a:lvl5pPr>
            <a:lvl6pPr lvl="5">
              <a:spcBef>
                <a:spcPts val="0"/>
              </a:spcBef>
              <a:spcAft>
                <a:spcPts val="0"/>
              </a:spcAft>
              <a:buSzPts val="1400"/>
              <a:buNone/>
              <a:defRPr sz="1800"/>
            </a:lvl6pPr>
            <a:lvl7pPr lvl="6">
              <a:spcBef>
                <a:spcPts val="0"/>
              </a:spcBef>
              <a:spcAft>
                <a:spcPts val="0"/>
              </a:spcAft>
              <a:buSzPts val="1400"/>
              <a:buNone/>
              <a:defRPr sz="1800"/>
            </a:lvl7pPr>
            <a:lvl8pPr lvl="7">
              <a:spcBef>
                <a:spcPts val="0"/>
              </a:spcBef>
              <a:spcAft>
                <a:spcPts val="0"/>
              </a:spcAft>
              <a:buSzPts val="1400"/>
              <a:buNone/>
              <a:defRPr sz="1800"/>
            </a:lvl8pPr>
            <a:lvl9pPr lvl="8">
              <a:spcBef>
                <a:spcPts val="0"/>
              </a:spcBef>
              <a:spcAft>
                <a:spcPts val="0"/>
              </a:spcAft>
              <a:buSzPts val="1400"/>
              <a:buNone/>
              <a:defRPr sz="1800"/>
            </a:lvl9pPr>
          </a:lstStyle>
          <a:p/>
        </p:txBody>
      </p:sp>
      <p:grpSp>
        <p:nvGrpSpPr>
          <p:cNvPr id="16" name="Google Shape;16;p1"/>
          <p:cNvGrpSpPr/>
          <p:nvPr/>
        </p:nvGrpSpPr>
        <p:grpSpPr>
          <a:xfrm>
            <a:off x="7772401" y="4853350"/>
            <a:ext cx="914400" cy="204717"/>
            <a:chOff x="5137" y="4139"/>
            <a:chExt cx="335" cy="75"/>
          </a:xfrm>
        </p:grpSpPr>
        <p:sp>
          <p:nvSpPr>
            <p:cNvPr id="17" name="Google Shape;17;p1"/>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18" name="Google Shape;18;p1"/>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
        <p:nvSpPr>
          <p:cNvPr id="19" name="Google Shape;19;p1"/>
          <p:cNvSpPr txBox="1"/>
          <p:nvPr/>
        </p:nvSpPr>
        <p:spPr>
          <a:xfrm>
            <a:off x="457200" y="4867275"/>
            <a:ext cx="3214489" cy="232042"/>
          </a:xfrm>
          <a:prstGeom prst="rect">
            <a:avLst/>
          </a:prstGeom>
          <a:noFill/>
          <a:ln>
            <a:noFill/>
          </a:ln>
        </p:spPr>
        <p:txBody>
          <a:bodyPr anchorCtr="0" anchor="ctr" bIns="45700" lIns="46800" spcFirstLastPara="1" rIns="91425" wrap="square" tIns="45700">
            <a:noAutofit/>
          </a:bodyPr>
          <a:lstStyle/>
          <a:p>
            <a:pPr indent="0" lvl="0" marL="0" marR="0" rtl="0" algn="l">
              <a:lnSpc>
                <a:spcPct val="100000"/>
              </a:lnSpc>
              <a:spcBef>
                <a:spcPts val="0"/>
              </a:spcBef>
              <a:spcAft>
                <a:spcPts val="0"/>
              </a:spcAft>
              <a:buClr>
                <a:schemeClr val="dk1"/>
              </a:buClr>
              <a:buSzPts val="800"/>
              <a:buFont typeface="Century Gothic"/>
              <a:buNone/>
            </a:pPr>
            <a:r>
              <a:rPr b="0" baseline="30000" lang="en-GB" sz="800">
                <a:solidFill>
                  <a:schemeClr val="dk1"/>
                </a:solidFill>
                <a:latin typeface="Century Gothic"/>
                <a:ea typeface="Century Gothic"/>
                <a:cs typeface="Century Gothic"/>
                <a:sym typeface="Century Gothic"/>
              </a:rPr>
              <a:t>© </a:t>
            </a:r>
            <a:r>
              <a:rPr b="0" lang="en-GB" sz="800">
                <a:solidFill>
                  <a:schemeClr val="dk1"/>
                </a:solidFill>
                <a:latin typeface="Century Gothic"/>
                <a:ea typeface="Century Gothic"/>
                <a:cs typeface="Century Gothic"/>
                <a:sym typeface="Century Gothic"/>
              </a:rPr>
              <a:t>2017 Teradata Confidential Information</a:t>
            </a:r>
            <a:endParaRPr/>
          </a:p>
          <a:p>
            <a:pPr indent="0" lvl="0" marL="0" marR="0" rtl="0" algn="l">
              <a:spcBef>
                <a:spcPts val="0"/>
              </a:spcBef>
              <a:spcAft>
                <a:spcPts val="0"/>
              </a:spcAft>
              <a:buNone/>
            </a:pPr>
            <a:r>
              <a:t/>
            </a:r>
            <a:endParaRPr b="0" sz="100">
              <a:solidFill>
                <a:srgbClr val="A2A2A2"/>
              </a:solidFill>
              <a:latin typeface="Century Gothic"/>
              <a:ea typeface="Century Gothic"/>
              <a:cs typeface="Century Gothic"/>
              <a:sym typeface="Century Gothic"/>
            </a:endParaRPr>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Lst>
  <p:transition spd="med">
    <p:fade/>
  </p:transition>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0.xml"/><Relationship Id="rId3" Type="http://schemas.openxmlformats.org/officeDocument/2006/relationships/slide" Target="slide12.xml"/><Relationship Id="rId4" Type="http://schemas.openxmlformats.org/officeDocument/2006/relationships/slide" Target="slide11.xml"/><Relationship Id="rId5" Type="http://schemas.openxmlformats.org/officeDocument/2006/relationships/slide" Target="slide320.xml"/><Relationship Id="rId6" Type="http://schemas.openxmlformats.org/officeDocument/2006/relationships/slide" Target="slide183.xml"/><Relationship Id="rId7" Type="http://schemas.openxmlformats.org/officeDocument/2006/relationships/slide" Target="slide475.xml"/><Relationship Id="rId8" Type="http://schemas.openxmlformats.org/officeDocument/2006/relationships/slide" Target="slide575.xml"/><Relationship Id="rId9" Type="http://schemas.openxmlformats.org/officeDocument/2006/relationships/slide" Target="slide390.xml"/><Relationship Id="rId10" Type="http://schemas.openxmlformats.org/officeDocument/2006/relationships/slide" Target="slide14.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1.xml"/><Relationship Id="rId3" Type="http://schemas.openxmlformats.org/officeDocument/2006/relationships/slide" Target="slide12.xml"/><Relationship Id="rId4" Type="http://schemas.openxmlformats.org/officeDocument/2006/relationships/slide" Target="slide10.xml"/><Relationship Id="rId5" Type="http://schemas.openxmlformats.org/officeDocument/2006/relationships/slide" Target="slide320.xml"/><Relationship Id="rId6" Type="http://schemas.openxmlformats.org/officeDocument/2006/relationships/slide" Target="slide183.xml"/><Relationship Id="rId7" Type="http://schemas.openxmlformats.org/officeDocument/2006/relationships/slide" Target="slide475.xml"/><Relationship Id="rId8" Type="http://schemas.openxmlformats.org/officeDocument/2006/relationships/slide" Target="slide575.xml"/><Relationship Id="rId9" Type="http://schemas.openxmlformats.org/officeDocument/2006/relationships/slide" Target="slide390.xml"/><Relationship Id="rId10" Type="http://schemas.openxmlformats.org/officeDocument/2006/relationships/slide" Target="slide14.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2.xml"/><Relationship Id="rId3" Type="http://schemas.openxmlformats.org/officeDocument/2006/relationships/slide" Target="slide11.xml"/><Relationship Id="rId4" Type="http://schemas.openxmlformats.org/officeDocument/2006/relationships/slide" Target="slide10.xml"/><Relationship Id="rId5" Type="http://schemas.openxmlformats.org/officeDocument/2006/relationships/slide" Target="slide320.xml"/><Relationship Id="rId6" Type="http://schemas.openxmlformats.org/officeDocument/2006/relationships/slide" Target="slide183.xml"/><Relationship Id="rId7" Type="http://schemas.openxmlformats.org/officeDocument/2006/relationships/slide" Target="slide475.xml"/><Relationship Id="rId8" Type="http://schemas.openxmlformats.org/officeDocument/2006/relationships/slide" Target="slide575.xml"/><Relationship Id="rId9" Type="http://schemas.openxmlformats.org/officeDocument/2006/relationships/slide" Target="slide390.xml"/><Relationship Id="rId10" Type="http://schemas.openxmlformats.org/officeDocument/2006/relationships/slide" Target="slide14.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4.xml"/><Relationship Id="rId3" Type="http://schemas.openxmlformats.org/officeDocument/2006/relationships/slide" Target="slide10.xml"/><Relationship Id="rId4" Type="http://schemas.openxmlformats.org/officeDocument/2006/relationships/slide" Target="slide15.xml"/><Relationship Id="rId5" Type="http://schemas.openxmlformats.org/officeDocument/2006/relationships/slide" Target="slide16.xml"/><Relationship Id="rId6" Type="http://schemas.openxmlformats.org/officeDocument/2006/relationships/slide" Target="slide17.xml"/><Relationship Id="rId7" Type="http://schemas.openxmlformats.org/officeDocument/2006/relationships/slide" Target="slide18.xml"/><Relationship Id="rId8" Type="http://schemas.openxmlformats.org/officeDocument/2006/relationships/slide" Target="slide25.xml"/><Relationship Id="rId9" Type="http://schemas.openxmlformats.org/officeDocument/2006/relationships/slide" Target="slide20.xml"/><Relationship Id="rId10" Type="http://schemas.openxmlformats.org/officeDocument/2006/relationships/slide" Target="slide10.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5.xml"/><Relationship Id="rId3" Type="http://schemas.openxmlformats.org/officeDocument/2006/relationships/slide" Target="slide14.xml"/><Relationship Id="rId4" Type="http://schemas.openxmlformats.org/officeDocument/2006/relationships/slide" Target="slide35.xml"/><Relationship Id="rId5" Type="http://schemas.openxmlformats.org/officeDocument/2006/relationships/slide" Target="slide37.xml"/><Relationship Id="rId6" Type="http://schemas.openxmlformats.org/officeDocument/2006/relationships/slide" Target="slide39.xml"/><Relationship Id="rId7" Type="http://schemas.openxmlformats.org/officeDocument/2006/relationships/slide" Target="slide20.xml"/><Relationship Id="rId8" Type="http://schemas.openxmlformats.org/officeDocument/2006/relationships/slide" Target="slide14.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6.xml"/><Relationship Id="rId3" Type="http://schemas.openxmlformats.org/officeDocument/2006/relationships/slide" Target="slide14.xml"/><Relationship Id="rId4" Type="http://schemas.openxmlformats.org/officeDocument/2006/relationships/slide" Target="slide41.xml"/><Relationship Id="rId5" Type="http://schemas.openxmlformats.org/officeDocument/2006/relationships/slide" Target="slide44.xml"/><Relationship Id="rId6" Type="http://schemas.openxmlformats.org/officeDocument/2006/relationships/slide" Target="slide52.xml"/><Relationship Id="rId7" Type="http://schemas.openxmlformats.org/officeDocument/2006/relationships/slide" Target="slide56.xml"/><Relationship Id="rId8" Type="http://schemas.openxmlformats.org/officeDocument/2006/relationships/slide" Target="slide46.xml"/><Relationship Id="rId9" Type="http://schemas.openxmlformats.org/officeDocument/2006/relationships/slide" Target="slide54.xml"/><Relationship Id="rId10" Type="http://schemas.openxmlformats.org/officeDocument/2006/relationships/slide" Target="slide58.xml"/><Relationship Id="rId11" Type="http://schemas.openxmlformats.org/officeDocument/2006/relationships/slide" Target="slide50.xml"/><Relationship Id="rId12" Type="http://schemas.openxmlformats.org/officeDocument/2006/relationships/slide" Target="slide60.xml"/><Relationship Id="rId13" Type="http://schemas.openxmlformats.org/officeDocument/2006/relationships/slide" Target="slide62.xml"/><Relationship Id="rId14" Type="http://schemas.openxmlformats.org/officeDocument/2006/relationships/slide" Target="slide20.xml"/><Relationship Id="rId15" Type="http://schemas.openxmlformats.org/officeDocument/2006/relationships/slide" Target="slide48.xml"/><Relationship Id="rId16" Type="http://schemas.openxmlformats.org/officeDocument/2006/relationships/slide" Target="slide14.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7.xml"/><Relationship Id="rId3" Type="http://schemas.openxmlformats.org/officeDocument/2006/relationships/slide" Target="slide14.xml"/><Relationship Id="rId4" Type="http://schemas.openxmlformats.org/officeDocument/2006/relationships/slide" Target="slide64.xml"/><Relationship Id="rId5" Type="http://schemas.openxmlformats.org/officeDocument/2006/relationships/slide" Target="slide66.xml"/><Relationship Id="rId6" Type="http://schemas.openxmlformats.org/officeDocument/2006/relationships/slide" Target="slide70.xml"/><Relationship Id="rId7" Type="http://schemas.openxmlformats.org/officeDocument/2006/relationships/slide" Target="slide76.xml"/><Relationship Id="rId8" Type="http://schemas.openxmlformats.org/officeDocument/2006/relationships/slide" Target="slide68.xml"/><Relationship Id="rId9" Type="http://schemas.openxmlformats.org/officeDocument/2006/relationships/slide" Target="slide72.xml"/><Relationship Id="rId10" Type="http://schemas.openxmlformats.org/officeDocument/2006/relationships/slide" Target="slide78.xml"/><Relationship Id="rId11" Type="http://schemas.openxmlformats.org/officeDocument/2006/relationships/slide" Target="slide74.xml"/><Relationship Id="rId12" Type="http://schemas.openxmlformats.org/officeDocument/2006/relationships/slide" Target="slide22.xml"/><Relationship Id="rId13" Type="http://schemas.openxmlformats.org/officeDocument/2006/relationships/slide" Target="slide14.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xml"/><Relationship Id="rId3" Type="http://schemas.openxmlformats.org/officeDocument/2006/relationships/slide" Target="slide14.xml"/><Relationship Id="rId4" Type="http://schemas.openxmlformats.org/officeDocument/2006/relationships/slide" Target="slide80.xml"/><Relationship Id="rId5" Type="http://schemas.openxmlformats.org/officeDocument/2006/relationships/slide" Target="slide84.xml"/><Relationship Id="rId6" Type="http://schemas.openxmlformats.org/officeDocument/2006/relationships/slide" Target="slide92.xml"/><Relationship Id="rId7" Type="http://schemas.openxmlformats.org/officeDocument/2006/relationships/slide" Target="slide100.xml"/><Relationship Id="rId8" Type="http://schemas.openxmlformats.org/officeDocument/2006/relationships/slide" Target="slide86.xml"/><Relationship Id="rId9" Type="http://schemas.openxmlformats.org/officeDocument/2006/relationships/slide" Target="slide90.xml"/><Relationship Id="rId10" Type="http://schemas.openxmlformats.org/officeDocument/2006/relationships/slide" Target="slide102.xml"/><Relationship Id="rId11" Type="http://schemas.openxmlformats.org/officeDocument/2006/relationships/slide" Target="slide88.xml"/><Relationship Id="rId12" Type="http://schemas.openxmlformats.org/officeDocument/2006/relationships/slide" Target="slide96.xml"/><Relationship Id="rId13" Type="http://schemas.openxmlformats.org/officeDocument/2006/relationships/slide" Target="slide106.xml"/><Relationship Id="rId14" Type="http://schemas.openxmlformats.org/officeDocument/2006/relationships/slide" Target="slide98.xml"/><Relationship Id="rId15" Type="http://schemas.openxmlformats.org/officeDocument/2006/relationships/slide" Target="slide104.xml"/><Relationship Id="rId16" Type="http://schemas.openxmlformats.org/officeDocument/2006/relationships/slide" Target="slide23.xml"/><Relationship Id="rId17" Type="http://schemas.openxmlformats.org/officeDocument/2006/relationships/slide" Target="slide94.xml"/><Relationship Id="rId18" Type="http://schemas.openxmlformats.org/officeDocument/2006/relationships/slide" Target="slide19.xml"/><Relationship Id="rId19" Type="http://schemas.openxmlformats.org/officeDocument/2006/relationships/slide" Target="slide14.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9.xml"/><Relationship Id="rId3" Type="http://schemas.openxmlformats.org/officeDocument/2006/relationships/slide" Target="slide14.xml"/><Relationship Id="rId4" Type="http://schemas.openxmlformats.org/officeDocument/2006/relationships/slide" Target="slide110.xml"/><Relationship Id="rId5" Type="http://schemas.openxmlformats.org/officeDocument/2006/relationships/slide" Target="slide112.xml"/><Relationship Id="rId6" Type="http://schemas.openxmlformats.org/officeDocument/2006/relationships/slide" Target="slide23.xml"/><Relationship Id="rId7" Type="http://schemas.openxmlformats.org/officeDocument/2006/relationships/slide" Target="slide108.xml"/><Relationship Id="rId8" Type="http://schemas.openxmlformats.org/officeDocument/2006/relationships/slide" Target="slide18.xml"/><Relationship Id="rId9" Type="http://schemas.openxmlformats.org/officeDocument/2006/relationships/slide" Target="slide14.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0.xml"/><Relationship Id="rId3" Type="http://schemas.openxmlformats.org/officeDocument/2006/relationships/slide" Target="slide115.xml"/><Relationship Id="rId4" Type="http://schemas.openxmlformats.org/officeDocument/2006/relationships/slide" Target="slide15.xml"/><Relationship Id="rId5" Type="http://schemas.openxmlformats.org/officeDocument/2006/relationships/slide" Target="slide14.xml"/><Relationship Id="rId6" Type="http://schemas.openxmlformats.org/officeDocument/2006/relationships/slide" Target="slide16.xml"/><Relationship Id="rId7" Type="http://schemas.openxmlformats.org/officeDocument/2006/relationships/slide" Target="slide118.xml"/><Relationship Id="rId8" Type="http://schemas.openxmlformats.org/officeDocument/2006/relationships/slide" Target="slide117.xml"/><Relationship Id="rId9" Type="http://schemas.openxmlformats.org/officeDocument/2006/relationships/slide" Target="slide120.xml"/><Relationship Id="rId10" Type="http://schemas.openxmlformats.org/officeDocument/2006/relationships/slide" Target="slide119.xml"/><Relationship Id="rId11" Type="http://schemas.openxmlformats.org/officeDocument/2006/relationships/slide" Target="slide121.xml"/><Relationship Id="rId12" Type="http://schemas.openxmlformats.org/officeDocument/2006/relationships/slide" Target="slide122.xml"/><Relationship Id="rId13" Type="http://schemas.openxmlformats.org/officeDocument/2006/relationships/slide" Target="slide123.xml"/><Relationship Id="rId14" Type="http://schemas.openxmlformats.org/officeDocument/2006/relationships/slide" Target="slide126.xml"/><Relationship Id="rId15" Type="http://schemas.openxmlformats.org/officeDocument/2006/relationships/slide" Target="slide124.xml"/><Relationship Id="rId16" Type="http://schemas.openxmlformats.org/officeDocument/2006/relationships/slide" Target="slide127.xml"/><Relationship Id="rId17" Type="http://schemas.openxmlformats.org/officeDocument/2006/relationships/slide" Target="slide128.xml"/><Relationship Id="rId18" Type="http://schemas.openxmlformats.org/officeDocument/2006/relationships/slide" Target="slide130.xml"/><Relationship Id="rId19" Type="http://schemas.openxmlformats.org/officeDocument/2006/relationships/slide" Target="slide21.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1.xml"/><Relationship Id="rId3" Type="http://schemas.openxmlformats.org/officeDocument/2006/relationships/slide" Target="slide20.xml"/><Relationship Id="rId4" Type="http://schemas.openxmlformats.org/officeDocument/2006/relationships/slide" Target="slide16.xml"/><Relationship Id="rId5" Type="http://schemas.openxmlformats.org/officeDocument/2006/relationships/slide" Target="slide131.xml"/><Relationship Id="rId6" Type="http://schemas.openxmlformats.org/officeDocument/2006/relationships/slide" Target="slide132.xml"/><Relationship Id="rId7" Type="http://schemas.openxmlformats.org/officeDocument/2006/relationships/slide" Target="slide133.xml"/><Relationship Id="rId8" Type="http://schemas.openxmlformats.org/officeDocument/2006/relationships/slide" Target="slide136.xml"/><Relationship Id="rId9" Type="http://schemas.openxmlformats.org/officeDocument/2006/relationships/slide" Target="slide135.xml"/><Relationship Id="rId10" Type="http://schemas.openxmlformats.org/officeDocument/2006/relationships/slide" Target="slide134.xml"/><Relationship Id="rId11" Type="http://schemas.openxmlformats.org/officeDocument/2006/relationships/slide" Target="slide137.xml"/><Relationship Id="rId12" Type="http://schemas.openxmlformats.org/officeDocument/2006/relationships/slide" Target="slide138.xml"/><Relationship Id="rId13" Type="http://schemas.openxmlformats.org/officeDocument/2006/relationships/slide" Target="slide141.xml"/><Relationship Id="rId14" Type="http://schemas.openxmlformats.org/officeDocument/2006/relationships/slide" Target="slide138.xml"/><Relationship Id="rId15" Type="http://schemas.openxmlformats.org/officeDocument/2006/relationships/slide" Target="slide139.xml"/><Relationship Id="rId16" Type="http://schemas.openxmlformats.org/officeDocument/2006/relationships/slide" Target="slide143.xml"/><Relationship Id="rId17" Type="http://schemas.openxmlformats.org/officeDocument/2006/relationships/slide" Target="slide142.xml"/><Relationship Id="rId18" Type="http://schemas.openxmlformats.org/officeDocument/2006/relationships/slide" Target="slide145.xml"/><Relationship Id="rId19" Type="http://schemas.openxmlformats.org/officeDocument/2006/relationships/slide" Target="slide144.xml"/><Relationship Id="rId20" Type="http://schemas.openxmlformats.org/officeDocument/2006/relationships/slide" Target="slide146.xml"/><Relationship Id="rId21" Type="http://schemas.openxmlformats.org/officeDocument/2006/relationships/slide" Target="slide22.xml"/><Relationship Id="rId22" Type="http://schemas.openxmlformats.org/officeDocument/2006/relationships/slide" Target="slide14.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2.xml"/><Relationship Id="rId3" Type="http://schemas.openxmlformats.org/officeDocument/2006/relationships/slide" Target="slide21.xml"/><Relationship Id="rId4" Type="http://schemas.openxmlformats.org/officeDocument/2006/relationships/slide" Target="slide16.xml"/><Relationship Id="rId5" Type="http://schemas.openxmlformats.org/officeDocument/2006/relationships/slide" Target="slide147.xml"/><Relationship Id="rId6" Type="http://schemas.openxmlformats.org/officeDocument/2006/relationships/slide" Target="slide148.xml"/><Relationship Id="rId7" Type="http://schemas.openxmlformats.org/officeDocument/2006/relationships/slide" Target="slide150.xml"/><Relationship Id="rId8" Type="http://schemas.openxmlformats.org/officeDocument/2006/relationships/slide" Target="slide151.xml"/><Relationship Id="rId9" Type="http://schemas.openxmlformats.org/officeDocument/2006/relationships/slide" Target="slide17.xml"/><Relationship Id="rId10" Type="http://schemas.openxmlformats.org/officeDocument/2006/relationships/slide" Target="slide155.xml"/><Relationship Id="rId11" Type="http://schemas.openxmlformats.org/officeDocument/2006/relationships/slide" Target="slide154.xml"/><Relationship Id="rId12" Type="http://schemas.openxmlformats.org/officeDocument/2006/relationships/slide" Target="slide153.xml"/><Relationship Id="rId13" Type="http://schemas.openxmlformats.org/officeDocument/2006/relationships/slide" Target="slide156.xml"/><Relationship Id="rId14" Type="http://schemas.openxmlformats.org/officeDocument/2006/relationships/slide" Target="slide157.xml"/><Relationship Id="rId15" Type="http://schemas.openxmlformats.org/officeDocument/2006/relationships/slide" Target="slide158.xml"/><Relationship Id="rId16" Type="http://schemas.openxmlformats.org/officeDocument/2006/relationships/slide" Target="slide159.xml"/><Relationship Id="rId17" Type="http://schemas.openxmlformats.org/officeDocument/2006/relationships/slide" Target="slide160.xml"/><Relationship Id="rId18" Type="http://schemas.openxmlformats.org/officeDocument/2006/relationships/slide" Target="slide161.xml"/><Relationship Id="rId19" Type="http://schemas.openxmlformats.org/officeDocument/2006/relationships/slide" Target="slide162.xml"/><Relationship Id="rId20" Type="http://schemas.openxmlformats.org/officeDocument/2006/relationships/slide" Target="slide23.xml"/><Relationship Id="rId21" Type="http://schemas.openxmlformats.org/officeDocument/2006/relationships/slide" Target="slide14.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3.xml"/><Relationship Id="rId3" Type="http://schemas.openxmlformats.org/officeDocument/2006/relationships/slide" Target="slide167.xml"/><Relationship Id="rId4" Type="http://schemas.openxmlformats.org/officeDocument/2006/relationships/slide" Target="slide166.xml"/><Relationship Id="rId5" Type="http://schemas.openxmlformats.org/officeDocument/2006/relationships/slide" Target="slide165.xml"/><Relationship Id="rId6" Type="http://schemas.openxmlformats.org/officeDocument/2006/relationships/slide" Target="slide164.xml"/><Relationship Id="rId7" Type="http://schemas.openxmlformats.org/officeDocument/2006/relationships/slide" Target="slide22.xml"/><Relationship Id="rId8" Type="http://schemas.openxmlformats.org/officeDocument/2006/relationships/slide" Target="slide18.xml"/><Relationship Id="rId9" Type="http://schemas.openxmlformats.org/officeDocument/2006/relationships/slide" Target="slide170.xml"/><Relationship Id="rId10" Type="http://schemas.openxmlformats.org/officeDocument/2006/relationships/slide" Target="slide172.xml"/><Relationship Id="rId11" Type="http://schemas.openxmlformats.org/officeDocument/2006/relationships/slide" Target="slide171.xml"/><Relationship Id="rId12" Type="http://schemas.openxmlformats.org/officeDocument/2006/relationships/slide" Target="slide173.xml"/><Relationship Id="rId13" Type="http://schemas.openxmlformats.org/officeDocument/2006/relationships/slide" Target="slide174.xml"/><Relationship Id="rId14" Type="http://schemas.openxmlformats.org/officeDocument/2006/relationships/slide" Target="slide175.xml"/><Relationship Id="rId15" Type="http://schemas.openxmlformats.org/officeDocument/2006/relationships/slide" Target="slide176.xml"/><Relationship Id="rId16" Type="http://schemas.openxmlformats.org/officeDocument/2006/relationships/slide" Target="slide177.xml"/><Relationship Id="rId17" Type="http://schemas.openxmlformats.org/officeDocument/2006/relationships/slide" Target="slide178.xml"/><Relationship Id="rId18" Type="http://schemas.openxmlformats.org/officeDocument/2006/relationships/slide" Target="slide179.xml"/><Relationship Id="rId19" Type="http://schemas.openxmlformats.org/officeDocument/2006/relationships/slide" Target="slide24.xml"/><Relationship Id="rId20" Type="http://schemas.openxmlformats.org/officeDocument/2006/relationships/slide" Target="slide168.xml"/><Relationship Id="rId21" Type="http://schemas.openxmlformats.org/officeDocument/2006/relationships/slide" Target="slide169.xml"/><Relationship Id="rId22" Type="http://schemas.openxmlformats.org/officeDocument/2006/relationships/slide" Target="slide14.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4.xml"/><Relationship Id="rId3" Type="http://schemas.openxmlformats.org/officeDocument/2006/relationships/slide" Target="slide23.xml"/><Relationship Id="rId4" Type="http://schemas.openxmlformats.org/officeDocument/2006/relationships/slide" Target="slide18.xml"/><Relationship Id="rId5" Type="http://schemas.openxmlformats.org/officeDocument/2006/relationships/slide" Target="slide180.xml"/><Relationship Id="rId6" Type="http://schemas.openxmlformats.org/officeDocument/2006/relationships/slide" Target="slide181.xml"/><Relationship Id="rId7" Type="http://schemas.openxmlformats.org/officeDocument/2006/relationships/slide" Target="slide182.xml"/><Relationship Id="rId8" Type="http://schemas.openxmlformats.org/officeDocument/2006/relationships/slide" Target="slide1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5.xml"/><Relationship Id="rId3" Type="http://schemas.openxmlformats.org/officeDocument/2006/relationships/image" Target="../media/image8.jpg"/><Relationship Id="rId4" Type="http://schemas.openxmlformats.org/officeDocument/2006/relationships/slide" Target="slide1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5.xml"/><Relationship Id="rId3" Type="http://schemas.openxmlformats.org/officeDocument/2006/relationships/image" Target="../media/image18.jpg"/><Relationship Id="rId4" Type="http://schemas.openxmlformats.org/officeDocument/2006/relationships/slide" Target="slide15.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7.xml"/><Relationship Id="rId3" Type="http://schemas.openxmlformats.org/officeDocument/2006/relationships/slide" Target="slide20.xml"/><Relationship Id="rId4" Type="http://schemas.openxmlformats.org/officeDocument/2006/relationships/slide" Target="slide15.xml"/><Relationship Id="rId5" Type="http://schemas.openxmlformats.org/officeDocument/2006/relationships/image" Target="../media/image19.pn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9.xml"/><Relationship Id="rId3" Type="http://schemas.openxmlformats.org/officeDocument/2006/relationships/image" Target="../media/image19.png"/><Relationship Id="rId4" Type="http://schemas.openxmlformats.org/officeDocument/2006/relationships/slide" Target="slide15.xml"/><Relationship Id="rId5" Type="http://schemas.openxmlformats.org/officeDocument/2006/relationships/slide" Target="slide2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1.xml"/><Relationship Id="rId3" Type="http://schemas.openxmlformats.org/officeDocument/2006/relationships/image" Target="../media/image21.jpg"/><Relationship Id="rId4" Type="http://schemas.openxmlformats.org/officeDocument/2006/relationships/slide" Target="slide16.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4.xml"/><Relationship Id="rId3" Type="http://schemas.openxmlformats.org/officeDocument/2006/relationships/slide" Target="slide16.xml"/><Relationship Id="rId4" Type="http://schemas.openxmlformats.org/officeDocument/2006/relationships/slide" Target="slide20.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6.xml"/><Relationship Id="rId3" Type="http://schemas.openxmlformats.org/officeDocument/2006/relationships/slide" Target="slide16.xml"/><Relationship Id="rId4" Type="http://schemas.openxmlformats.org/officeDocument/2006/relationships/slide" Target="slide20.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8.xml"/><Relationship Id="rId3" Type="http://schemas.openxmlformats.org/officeDocument/2006/relationships/slide" Target="slide16.xml"/><Relationship Id="rId4" Type="http://schemas.openxmlformats.org/officeDocument/2006/relationships/slide" Target="slide20.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xml"/><Relationship Id="rId3" Type="http://schemas.openxmlformats.org/officeDocument/2006/relationships/slide" Target="slide16.xml"/><Relationship Id="rId4" Type="http://schemas.openxmlformats.org/officeDocument/2006/relationships/slide" Target="slide20.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xml"/><Relationship Id="rId3" Type="http://schemas.openxmlformats.org/officeDocument/2006/relationships/slide" Target="slide16.xml"/><Relationship Id="rId4" Type="http://schemas.openxmlformats.org/officeDocument/2006/relationships/slide" Target="slide20.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4.xml"/><Relationship Id="rId3" Type="http://schemas.openxmlformats.org/officeDocument/2006/relationships/slide" Target="slide16.xml"/><Relationship Id="rId4" Type="http://schemas.openxmlformats.org/officeDocument/2006/relationships/slide" Target="slide21.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6.xml"/><Relationship Id="rId3" Type="http://schemas.openxmlformats.org/officeDocument/2006/relationships/slide" Target="slide16.xml"/><Relationship Id="rId4" Type="http://schemas.openxmlformats.org/officeDocument/2006/relationships/slide" Target="slide21.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8.xml"/><Relationship Id="rId3" Type="http://schemas.openxmlformats.org/officeDocument/2006/relationships/slide" Target="slide16.xml"/><Relationship Id="rId4" Type="http://schemas.openxmlformats.org/officeDocument/2006/relationships/slide" Target="slide21.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0.xml"/><Relationship Id="rId3" Type="http://schemas.openxmlformats.org/officeDocument/2006/relationships/slide" Target="slide16.xml"/><Relationship Id="rId4" Type="http://schemas.openxmlformats.org/officeDocument/2006/relationships/slide" Target="slide22.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2.xml"/><Relationship Id="rId3" Type="http://schemas.openxmlformats.org/officeDocument/2006/relationships/slide" Target="slide16.xml"/><Relationship Id="rId4" Type="http://schemas.openxmlformats.org/officeDocument/2006/relationships/slide" Target="slide22.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64.xml"/><Relationship Id="rId3" Type="http://schemas.openxmlformats.org/officeDocument/2006/relationships/image" Target="../media/image8.jpg"/><Relationship Id="rId4" Type="http://schemas.openxmlformats.org/officeDocument/2006/relationships/slide" Target="slide17.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6.xml"/><Relationship Id="rId3" Type="http://schemas.openxmlformats.org/officeDocument/2006/relationships/slide" Target="slide17.xml"/><Relationship Id="rId4" Type="http://schemas.openxmlformats.org/officeDocument/2006/relationships/slide" Target="slide22.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67.xml"/><Relationship Id="rId3" Type="http://schemas.openxmlformats.org/officeDocument/2006/relationships/slide" Target="slide17.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8.xml"/><Relationship Id="rId3" Type="http://schemas.openxmlformats.org/officeDocument/2006/relationships/slide" Target="slide17.xml"/><Relationship Id="rId4" Type="http://schemas.openxmlformats.org/officeDocument/2006/relationships/slide" Target="slide22.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69.xml"/><Relationship Id="rId3" Type="http://schemas.openxmlformats.org/officeDocument/2006/relationships/slide" Target="slide17.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0.xml"/><Relationship Id="rId3" Type="http://schemas.openxmlformats.org/officeDocument/2006/relationships/slide" Target="slide17.xml"/><Relationship Id="rId4" Type="http://schemas.openxmlformats.org/officeDocument/2006/relationships/slide" Target="slide22.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71.xml"/><Relationship Id="rId3" Type="http://schemas.openxmlformats.org/officeDocument/2006/relationships/slide" Target="slide17.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2.xml"/><Relationship Id="rId3" Type="http://schemas.openxmlformats.org/officeDocument/2006/relationships/slide" Target="slide17.xml"/><Relationship Id="rId4" Type="http://schemas.openxmlformats.org/officeDocument/2006/relationships/slide" Target="slide22.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73.xml"/><Relationship Id="rId3" Type="http://schemas.openxmlformats.org/officeDocument/2006/relationships/slide" Target="slide17.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4.xml"/><Relationship Id="rId3" Type="http://schemas.openxmlformats.org/officeDocument/2006/relationships/slide" Target="slide17.xml"/><Relationship Id="rId4" Type="http://schemas.openxmlformats.org/officeDocument/2006/relationships/slide" Target="slide22.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75.xml"/><Relationship Id="rId3" Type="http://schemas.openxmlformats.org/officeDocument/2006/relationships/slide" Target="slide17.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6.xml"/><Relationship Id="rId3" Type="http://schemas.openxmlformats.org/officeDocument/2006/relationships/slide" Target="slide17.xml"/><Relationship Id="rId4" Type="http://schemas.openxmlformats.org/officeDocument/2006/relationships/slide" Target="slide22.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77.xml"/><Relationship Id="rId3" Type="http://schemas.openxmlformats.org/officeDocument/2006/relationships/slide" Target="slide17.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8.xml"/><Relationship Id="rId3" Type="http://schemas.openxmlformats.org/officeDocument/2006/relationships/slide" Target="slide17.xml"/><Relationship Id="rId4" Type="http://schemas.openxmlformats.org/officeDocument/2006/relationships/slide" Target="slide22.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79.xml"/><Relationship Id="rId3" Type="http://schemas.openxmlformats.org/officeDocument/2006/relationships/slide" Target="slide17.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80.xml"/><Relationship Id="rId3" Type="http://schemas.openxmlformats.org/officeDocument/2006/relationships/image" Target="../media/image22.jpg"/><Relationship Id="rId4" Type="http://schemas.openxmlformats.org/officeDocument/2006/relationships/slide" Target="slide18.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81.xml"/><Relationship Id="rId3" Type="http://schemas.openxmlformats.org/officeDocument/2006/relationships/image" Target="../media/image22.jpg"/><Relationship Id="rId4" Type="http://schemas.openxmlformats.org/officeDocument/2006/relationships/slide" Target="slide18.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82.xml"/><Relationship Id="rId3" Type="http://schemas.openxmlformats.org/officeDocument/2006/relationships/image" Target="../media/image22.jpg"/><Relationship Id="rId4" Type="http://schemas.openxmlformats.org/officeDocument/2006/relationships/slide" Target="slide18.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83.xml"/><Relationship Id="rId3" Type="http://schemas.openxmlformats.org/officeDocument/2006/relationships/image" Target="../media/image22.jpg"/><Relationship Id="rId4" Type="http://schemas.openxmlformats.org/officeDocument/2006/relationships/slide" Target="slide18.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4.xml"/><Relationship Id="rId3" Type="http://schemas.openxmlformats.org/officeDocument/2006/relationships/slide" Target="slide18.xml"/><Relationship Id="rId4" Type="http://schemas.openxmlformats.org/officeDocument/2006/relationships/slide" Target="slide23.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6.xml"/><Relationship Id="rId3" Type="http://schemas.openxmlformats.org/officeDocument/2006/relationships/slide" Target="slide18.xml"/><Relationship Id="rId4" Type="http://schemas.openxmlformats.org/officeDocument/2006/relationships/slide" Target="slide23.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8.xml"/><Relationship Id="rId3" Type="http://schemas.openxmlformats.org/officeDocument/2006/relationships/slide" Target="slide18.xml"/><Relationship Id="rId4" Type="http://schemas.openxmlformats.org/officeDocument/2006/relationships/slide" Target="slide23.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0.xml"/><Relationship Id="rId3" Type="http://schemas.openxmlformats.org/officeDocument/2006/relationships/slide" Target="slide18.xml"/><Relationship Id="rId4" Type="http://schemas.openxmlformats.org/officeDocument/2006/relationships/slide" Target="slide23.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2.xml"/><Relationship Id="rId3" Type="http://schemas.openxmlformats.org/officeDocument/2006/relationships/slide" Target="slide18.xml"/><Relationship Id="rId4" Type="http://schemas.openxmlformats.org/officeDocument/2006/relationships/slide" Target="slide23.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4.xml"/><Relationship Id="rId3" Type="http://schemas.openxmlformats.org/officeDocument/2006/relationships/slide" Target="slide18.xml"/><Relationship Id="rId4" Type="http://schemas.openxmlformats.org/officeDocument/2006/relationships/slide" Target="slide23.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6.xml"/><Relationship Id="rId3" Type="http://schemas.openxmlformats.org/officeDocument/2006/relationships/slide" Target="slide18.xml"/><Relationship Id="rId4" Type="http://schemas.openxmlformats.org/officeDocument/2006/relationships/slide" Target="slide23.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8.xml"/><Relationship Id="rId3" Type="http://schemas.openxmlformats.org/officeDocument/2006/relationships/slide" Target="slide18.xml"/><Relationship Id="rId4" Type="http://schemas.openxmlformats.org/officeDocument/2006/relationships/slide" Target="slide23.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0.xml"/><Relationship Id="rId3" Type="http://schemas.openxmlformats.org/officeDocument/2006/relationships/slide" Target="slide18.xml"/><Relationship Id="rId4" Type="http://schemas.openxmlformats.org/officeDocument/2006/relationships/slide" Target="slide23.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2.xml"/><Relationship Id="rId3" Type="http://schemas.openxmlformats.org/officeDocument/2006/relationships/slide" Target="slide18.xml"/><Relationship Id="rId4" Type="http://schemas.openxmlformats.org/officeDocument/2006/relationships/slide" Target="slide23.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4.xml"/><Relationship Id="rId3" Type="http://schemas.openxmlformats.org/officeDocument/2006/relationships/slide" Target="slide18.xml"/><Relationship Id="rId4" Type="http://schemas.openxmlformats.org/officeDocument/2006/relationships/slide" Target="slide23.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6.xml"/><Relationship Id="rId3" Type="http://schemas.openxmlformats.org/officeDocument/2006/relationships/slide" Target="slide18.xml"/><Relationship Id="rId4" Type="http://schemas.openxmlformats.org/officeDocument/2006/relationships/slide" Target="slide23.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8.xml"/><Relationship Id="rId3" Type="http://schemas.openxmlformats.org/officeDocument/2006/relationships/slide" Target="slide19.xml"/><Relationship Id="rId4" Type="http://schemas.openxmlformats.org/officeDocument/2006/relationships/slide" Target="slide23.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10.xml"/><Relationship Id="rId3" Type="http://schemas.openxmlformats.org/officeDocument/2006/relationships/slide" Target="slide19.xml"/><Relationship Id="rId4" Type="http://schemas.openxmlformats.org/officeDocument/2006/relationships/slide" Target="slide24.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12.xml"/><Relationship Id="rId3" Type="http://schemas.openxmlformats.org/officeDocument/2006/relationships/slide" Target="slide19.xml"/><Relationship Id="rId4" Type="http://schemas.openxmlformats.org/officeDocument/2006/relationships/slide" Target="slide24.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5.xml"/><Relationship Id="rId3" Type="http://schemas.openxmlformats.org/officeDocument/2006/relationships/slide" Target="slide20.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7.xml"/><Relationship Id="rId3" Type="http://schemas.openxmlformats.org/officeDocument/2006/relationships/slide" Target="slide20.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8.xml"/><Relationship Id="rId3" Type="http://schemas.openxmlformats.org/officeDocument/2006/relationships/slide" Target="slide20.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9.xml"/><Relationship Id="rId3" Type="http://schemas.openxmlformats.org/officeDocument/2006/relationships/slide" Target="slide20.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0.xml"/><Relationship Id="rId3" Type="http://schemas.openxmlformats.org/officeDocument/2006/relationships/slide" Target="slide20.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1.xml"/><Relationship Id="rId3" Type="http://schemas.openxmlformats.org/officeDocument/2006/relationships/slide" Target="slide20.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2.xml"/><Relationship Id="rId3" Type="http://schemas.openxmlformats.org/officeDocument/2006/relationships/slide" Target="slide20.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3.xml"/><Relationship Id="rId3" Type="http://schemas.openxmlformats.org/officeDocument/2006/relationships/slide" Target="slide20.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4.xml"/><Relationship Id="rId3" Type="http://schemas.openxmlformats.org/officeDocument/2006/relationships/slide" Target="slide20.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6.xml"/><Relationship Id="rId3" Type="http://schemas.openxmlformats.org/officeDocument/2006/relationships/slide" Target="slide20.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7.xml"/><Relationship Id="rId3" Type="http://schemas.openxmlformats.org/officeDocument/2006/relationships/slide" Target="slide20.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8.xml"/><Relationship Id="rId3" Type="http://schemas.openxmlformats.org/officeDocument/2006/relationships/slide" Target="slide20.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0.xml"/><Relationship Id="rId3" Type="http://schemas.openxmlformats.org/officeDocument/2006/relationships/slide" Target="slide20.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1.xml"/><Relationship Id="rId3" Type="http://schemas.openxmlformats.org/officeDocument/2006/relationships/slide" Target="slide21.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2.xml"/><Relationship Id="rId3" Type="http://schemas.openxmlformats.org/officeDocument/2006/relationships/slide" Target="slide21.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3.xml"/><Relationship Id="rId3" Type="http://schemas.openxmlformats.org/officeDocument/2006/relationships/slide" Target="slide21.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4.xml"/><Relationship Id="rId3" Type="http://schemas.openxmlformats.org/officeDocument/2006/relationships/slide" Target="slide21.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5.xml"/><Relationship Id="rId3" Type="http://schemas.openxmlformats.org/officeDocument/2006/relationships/slide" Target="slide21.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6.xml"/><Relationship Id="rId3" Type="http://schemas.openxmlformats.org/officeDocument/2006/relationships/slide" Target="slide21.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7.xml"/><Relationship Id="rId3" Type="http://schemas.openxmlformats.org/officeDocument/2006/relationships/slide" Target="slide21.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8.xml"/><Relationship Id="rId3" Type="http://schemas.openxmlformats.org/officeDocument/2006/relationships/slide" Target="slide21.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9.xml"/><Relationship Id="rId3" Type="http://schemas.openxmlformats.org/officeDocument/2006/relationships/slide" Target="slide21.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1.xml"/><Relationship Id="rId3" Type="http://schemas.openxmlformats.org/officeDocument/2006/relationships/slide" Target="slide21.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2.xml"/><Relationship Id="rId3" Type="http://schemas.openxmlformats.org/officeDocument/2006/relationships/slide" Target="slide21.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3.xml"/><Relationship Id="rId3" Type="http://schemas.openxmlformats.org/officeDocument/2006/relationships/slide" Target="slide21.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4.xml"/><Relationship Id="rId3" Type="http://schemas.openxmlformats.org/officeDocument/2006/relationships/slide" Target="slide21.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5.xml"/><Relationship Id="rId3" Type="http://schemas.openxmlformats.org/officeDocument/2006/relationships/slide" Target="slide21.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6.xml"/><Relationship Id="rId3" Type="http://schemas.openxmlformats.org/officeDocument/2006/relationships/slide" Target="slide21.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7.xml"/><Relationship Id="rId3" Type="http://schemas.openxmlformats.org/officeDocument/2006/relationships/slide" Target="slide22.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8.xml"/><Relationship Id="rId3" Type="http://schemas.openxmlformats.org/officeDocument/2006/relationships/slide" Target="slide22.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0.xml"/><Relationship Id="rId3" Type="http://schemas.openxmlformats.org/officeDocument/2006/relationships/slide" Target="slide22.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1.xml"/><Relationship Id="rId3" Type="http://schemas.openxmlformats.org/officeDocument/2006/relationships/slide" Target="slide22.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3.xml"/><Relationship Id="rId3" Type="http://schemas.openxmlformats.org/officeDocument/2006/relationships/slide" Target="slide22.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4.xml"/><Relationship Id="rId3" Type="http://schemas.openxmlformats.org/officeDocument/2006/relationships/slide" Target="slide22.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5.xml"/><Relationship Id="rId3" Type="http://schemas.openxmlformats.org/officeDocument/2006/relationships/slide" Target="slide22.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6.xml"/><Relationship Id="rId3" Type="http://schemas.openxmlformats.org/officeDocument/2006/relationships/slide" Target="slide22.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7.xml"/><Relationship Id="rId3" Type="http://schemas.openxmlformats.org/officeDocument/2006/relationships/slide" Target="slide22.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8.xml"/><Relationship Id="rId3" Type="http://schemas.openxmlformats.org/officeDocument/2006/relationships/slide" Target="slide22.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9.xml"/><Relationship Id="rId3" Type="http://schemas.openxmlformats.org/officeDocument/2006/relationships/slide" Target="slide22.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0.xml"/><Relationship Id="rId3" Type="http://schemas.openxmlformats.org/officeDocument/2006/relationships/slide" Target="slide22.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1.xml"/><Relationship Id="rId3" Type="http://schemas.openxmlformats.org/officeDocument/2006/relationships/slide" Target="slide22.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2.xml"/><Relationship Id="rId3" Type="http://schemas.openxmlformats.org/officeDocument/2006/relationships/slide" Target="slide22.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4.xml"/><Relationship Id="rId3" Type="http://schemas.openxmlformats.org/officeDocument/2006/relationships/slide" Target="slide23.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5.xml"/><Relationship Id="rId3" Type="http://schemas.openxmlformats.org/officeDocument/2006/relationships/slide" Target="slide23.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6.xml"/><Relationship Id="rId3" Type="http://schemas.openxmlformats.org/officeDocument/2006/relationships/slide" Target="slide23.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7.xml"/><Relationship Id="rId3" Type="http://schemas.openxmlformats.org/officeDocument/2006/relationships/slide" Target="slide23.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8.xml"/><Relationship Id="rId3" Type="http://schemas.openxmlformats.org/officeDocument/2006/relationships/slide" Target="slide23.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9.xml"/><Relationship Id="rId3" Type="http://schemas.openxmlformats.org/officeDocument/2006/relationships/slide" Target="slide23.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0.xml"/><Relationship Id="rId3" Type="http://schemas.openxmlformats.org/officeDocument/2006/relationships/slide" Target="slide23.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1.xml"/><Relationship Id="rId3" Type="http://schemas.openxmlformats.org/officeDocument/2006/relationships/slide" Target="slide23.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2.xml"/><Relationship Id="rId3" Type="http://schemas.openxmlformats.org/officeDocument/2006/relationships/slide" Target="slide23.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3.xml"/><Relationship Id="rId3" Type="http://schemas.openxmlformats.org/officeDocument/2006/relationships/slide" Target="slide23.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4.xml"/><Relationship Id="rId3" Type="http://schemas.openxmlformats.org/officeDocument/2006/relationships/slide" Target="slide23.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5.xml"/><Relationship Id="rId3" Type="http://schemas.openxmlformats.org/officeDocument/2006/relationships/slide" Target="slide23.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6.xml"/><Relationship Id="rId3" Type="http://schemas.openxmlformats.org/officeDocument/2006/relationships/slide" Target="slide23.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7.xml"/><Relationship Id="rId3" Type="http://schemas.openxmlformats.org/officeDocument/2006/relationships/slide" Target="slide23.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8.xml"/><Relationship Id="rId3" Type="http://schemas.openxmlformats.org/officeDocument/2006/relationships/slide" Target="slide23.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9.xml"/><Relationship Id="rId3" Type="http://schemas.openxmlformats.org/officeDocument/2006/relationships/slide" Target="slide23.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0.xml"/><Relationship Id="rId3" Type="http://schemas.openxmlformats.org/officeDocument/2006/relationships/slide" Target="slide24.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1.xml"/><Relationship Id="rId3" Type="http://schemas.openxmlformats.org/officeDocument/2006/relationships/slide" Target="slide24.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2.xml"/><Relationship Id="rId3" Type="http://schemas.openxmlformats.org/officeDocument/2006/relationships/slide" Target="slide24.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3.xml"/><Relationship Id="rId3" Type="http://schemas.openxmlformats.org/officeDocument/2006/relationships/slide" Target="slide10.xml"/><Relationship Id="rId4" Type="http://schemas.openxmlformats.org/officeDocument/2006/relationships/slide" Target="slide184.xml"/><Relationship Id="rId5" Type="http://schemas.openxmlformats.org/officeDocument/2006/relationships/slide" Target="slide185.xml"/><Relationship Id="rId6" Type="http://schemas.openxmlformats.org/officeDocument/2006/relationships/slide" Target="slide186.xml"/><Relationship Id="rId7" Type="http://schemas.openxmlformats.org/officeDocument/2006/relationships/slide" Target="slide187.xml"/><Relationship Id="rId8" Type="http://schemas.openxmlformats.org/officeDocument/2006/relationships/slide" Target="slide191.xml"/><Relationship Id="rId9" Type="http://schemas.openxmlformats.org/officeDocument/2006/relationships/slide" Target="slide188.xml"/><Relationship Id="rId10" Type="http://schemas.openxmlformats.org/officeDocument/2006/relationships/slide" Target="slide10.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4.xml"/><Relationship Id="rId3" Type="http://schemas.openxmlformats.org/officeDocument/2006/relationships/slide" Target="slide183.xml"/><Relationship Id="rId4" Type="http://schemas.openxmlformats.org/officeDocument/2006/relationships/slide" Target="slide199.xml"/><Relationship Id="rId5" Type="http://schemas.openxmlformats.org/officeDocument/2006/relationships/slide" Target="slide204.xml"/><Relationship Id="rId6" Type="http://schemas.openxmlformats.org/officeDocument/2006/relationships/slide" Target="slide206.xml"/><Relationship Id="rId7" Type="http://schemas.openxmlformats.org/officeDocument/2006/relationships/slide" Target="slide208.xml"/><Relationship Id="rId8" Type="http://schemas.openxmlformats.org/officeDocument/2006/relationships/slide" Target="slide210.xml"/><Relationship Id="rId9" Type="http://schemas.openxmlformats.org/officeDocument/2006/relationships/slide" Target="slide212.xml"/><Relationship Id="rId10" Type="http://schemas.openxmlformats.org/officeDocument/2006/relationships/slide" Target="slide214.xml"/><Relationship Id="rId11" Type="http://schemas.openxmlformats.org/officeDocument/2006/relationships/slide" Target="slide216.xml"/><Relationship Id="rId12" Type="http://schemas.openxmlformats.org/officeDocument/2006/relationships/slide" Target="slide218.xml"/><Relationship Id="rId13" Type="http://schemas.openxmlformats.org/officeDocument/2006/relationships/slide" Target="slide220.xml"/><Relationship Id="rId14" Type="http://schemas.openxmlformats.org/officeDocument/2006/relationships/slide" Target="slide222.xml"/><Relationship Id="rId15" Type="http://schemas.openxmlformats.org/officeDocument/2006/relationships/slide" Target="slide188.xml"/><Relationship Id="rId16" Type="http://schemas.openxmlformats.org/officeDocument/2006/relationships/slide" Target="slide183.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5.xml"/><Relationship Id="rId3" Type="http://schemas.openxmlformats.org/officeDocument/2006/relationships/slide" Target="slide183.xml"/><Relationship Id="rId4" Type="http://schemas.openxmlformats.org/officeDocument/2006/relationships/slide" Target="slide224.xml"/><Relationship Id="rId5" Type="http://schemas.openxmlformats.org/officeDocument/2006/relationships/slide" Target="slide229.xml"/><Relationship Id="rId6" Type="http://schemas.openxmlformats.org/officeDocument/2006/relationships/slide" Target="slide231.xml"/><Relationship Id="rId7" Type="http://schemas.openxmlformats.org/officeDocument/2006/relationships/slide" Target="slide233.xml"/><Relationship Id="rId8" Type="http://schemas.openxmlformats.org/officeDocument/2006/relationships/slide" Target="slide235.xml"/><Relationship Id="rId9" Type="http://schemas.openxmlformats.org/officeDocument/2006/relationships/slide" Target="slide237.xml"/><Relationship Id="rId10" Type="http://schemas.openxmlformats.org/officeDocument/2006/relationships/slide" Target="slide239.xml"/><Relationship Id="rId11" Type="http://schemas.openxmlformats.org/officeDocument/2006/relationships/slide" Target="slide241.xml"/><Relationship Id="rId12" Type="http://schemas.openxmlformats.org/officeDocument/2006/relationships/slide" Target="slide243.xml"/><Relationship Id="rId13" Type="http://schemas.openxmlformats.org/officeDocument/2006/relationships/slide" Target="slide245.xml"/><Relationship Id="rId14" Type="http://schemas.openxmlformats.org/officeDocument/2006/relationships/slide" Target="slide247.xml"/><Relationship Id="rId15" Type="http://schemas.openxmlformats.org/officeDocument/2006/relationships/slide" Target="slide249.xml"/><Relationship Id="rId16" Type="http://schemas.openxmlformats.org/officeDocument/2006/relationships/slide" Target="slide189.xml"/><Relationship Id="rId17" Type="http://schemas.openxmlformats.org/officeDocument/2006/relationships/slide" Target="slide183.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6.xml"/><Relationship Id="rId3" Type="http://schemas.openxmlformats.org/officeDocument/2006/relationships/slide" Target="slide183.xml"/><Relationship Id="rId4" Type="http://schemas.openxmlformats.org/officeDocument/2006/relationships/slide" Target="slide251.xml"/><Relationship Id="rId5" Type="http://schemas.openxmlformats.org/officeDocument/2006/relationships/slide" Target="slide256.xml"/><Relationship Id="rId6" Type="http://schemas.openxmlformats.org/officeDocument/2006/relationships/slide" Target="slide258.xml"/><Relationship Id="rId7" Type="http://schemas.openxmlformats.org/officeDocument/2006/relationships/slide" Target="slide260.xml"/><Relationship Id="rId8" Type="http://schemas.openxmlformats.org/officeDocument/2006/relationships/slide" Target="slide262.xml"/><Relationship Id="rId9" Type="http://schemas.openxmlformats.org/officeDocument/2006/relationships/slide" Target="slide264.xml"/><Relationship Id="rId10" Type="http://schemas.openxmlformats.org/officeDocument/2006/relationships/slide" Target="slide266.xml"/><Relationship Id="rId11" Type="http://schemas.openxmlformats.org/officeDocument/2006/relationships/slide" Target="slide268.xml"/><Relationship Id="rId12" Type="http://schemas.openxmlformats.org/officeDocument/2006/relationships/slide" Target="slide189.xml"/><Relationship Id="rId13" Type="http://schemas.openxmlformats.org/officeDocument/2006/relationships/slide" Target="slide183.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7.xml"/><Relationship Id="rId3" Type="http://schemas.openxmlformats.org/officeDocument/2006/relationships/slide" Target="slide183.xml"/><Relationship Id="rId4" Type="http://schemas.openxmlformats.org/officeDocument/2006/relationships/slide" Target="slide270.xml"/><Relationship Id="rId5" Type="http://schemas.openxmlformats.org/officeDocument/2006/relationships/slide" Target="slide275.xml"/><Relationship Id="rId6" Type="http://schemas.openxmlformats.org/officeDocument/2006/relationships/slide" Target="slide277.xml"/><Relationship Id="rId7" Type="http://schemas.openxmlformats.org/officeDocument/2006/relationships/slide" Target="slide279.xml"/><Relationship Id="rId8" Type="http://schemas.openxmlformats.org/officeDocument/2006/relationships/slide" Target="slide281.xml"/><Relationship Id="rId9" Type="http://schemas.openxmlformats.org/officeDocument/2006/relationships/slide" Target="slide283.xml"/><Relationship Id="rId10" Type="http://schemas.openxmlformats.org/officeDocument/2006/relationships/slide" Target="slide285.xml"/><Relationship Id="rId11" Type="http://schemas.openxmlformats.org/officeDocument/2006/relationships/slide" Target="slide190.xml"/><Relationship Id="rId12" Type="http://schemas.openxmlformats.org/officeDocument/2006/relationships/slide" Target="slide183.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8.xml"/><Relationship Id="rId3" Type="http://schemas.openxmlformats.org/officeDocument/2006/relationships/slide" Target="slide184.xml"/><Relationship Id="rId4" Type="http://schemas.openxmlformats.org/officeDocument/2006/relationships/slide" Target="slide298.xml"/><Relationship Id="rId5" Type="http://schemas.openxmlformats.org/officeDocument/2006/relationships/slide" Target="slide297.xml"/><Relationship Id="rId6" Type="http://schemas.openxmlformats.org/officeDocument/2006/relationships/slide" Target="slide296.xml"/><Relationship Id="rId7" Type="http://schemas.openxmlformats.org/officeDocument/2006/relationships/slide" Target="slide295.xml"/><Relationship Id="rId8" Type="http://schemas.openxmlformats.org/officeDocument/2006/relationships/slide" Target="slide294.xml"/><Relationship Id="rId9" Type="http://schemas.openxmlformats.org/officeDocument/2006/relationships/slide" Target="slide293.xml"/><Relationship Id="rId10" Type="http://schemas.openxmlformats.org/officeDocument/2006/relationships/slide" Target="slide292.xml"/><Relationship Id="rId11" Type="http://schemas.openxmlformats.org/officeDocument/2006/relationships/slide" Target="slide291.xml"/><Relationship Id="rId12" Type="http://schemas.openxmlformats.org/officeDocument/2006/relationships/slide" Target="slide290.xml"/><Relationship Id="rId13" Type="http://schemas.openxmlformats.org/officeDocument/2006/relationships/slide" Target="slide289.xml"/><Relationship Id="rId14" Type="http://schemas.openxmlformats.org/officeDocument/2006/relationships/slide" Target="slide288.xml"/><Relationship Id="rId15" Type="http://schemas.openxmlformats.org/officeDocument/2006/relationships/slide" Target="slide189.xml"/><Relationship Id="rId16" Type="http://schemas.openxmlformats.org/officeDocument/2006/relationships/slide" Target="slide183.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9.xml"/><Relationship Id="rId3" Type="http://schemas.openxmlformats.org/officeDocument/2006/relationships/slide" Target="slide306.xml"/><Relationship Id="rId4" Type="http://schemas.openxmlformats.org/officeDocument/2006/relationships/slide" Target="slide305.xml"/><Relationship Id="rId5" Type="http://schemas.openxmlformats.org/officeDocument/2006/relationships/slide" Target="slide304.xml"/><Relationship Id="rId6" Type="http://schemas.openxmlformats.org/officeDocument/2006/relationships/slide" Target="slide303.xml"/><Relationship Id="rId7" Type="http://schemas.openxmlformats.org/officeDocument/2006/relationships/slide" Target="slide302.xml"/><Relationship Id="rId8" Type="http://schemas.openxmlformats.org/officeDocument/2006/relationships/slide" Target="slide301.xml"/><Relationship Id="rId9" Type="http://schemas.openxmlformats.org/officeDocument/2006/relationships/slide" Target="slide300.xml"/><Relationship Id="rId10" Type="http://schemas.openxmlformats.org/officeDocument/2006/relationships/slide" Target="slide299.xml"/><Relationship Id="rId11" Type="http://schemas.openxmlformats.org/officeDocument/2006/relationships/slide" Target="slide188.xml"/><Relationship Id="rId12" Type="http://schemas.openxmlformats.org/officeDocument/2006/relationships/slide" Target="slide190.xml"/><Relationship Id="rId13" Type="http://schemas.openxmlformats.org/officeDocument/2006/relationships/slide" Target="slide185.xml"/><Relationship Id="rId14" Type="http://schemas.openxmlformats.org/officeDocument/2006/relationships/slide" Target="slide186.xml"/><Relationship Id="rId15" Type="http://schemas.openxmlformats.org/officeDocument/2006/relationships/slide" Target="slide311.xml"/><Relationship Id="rId16" Type="http://schemas.openxmlformats.org/officeDocument/2006/relationships/slide" Target="slide310.xml"/><Relationship Id="rId17" Type="http://schemas.openxmlformats.org/officeDocument/2006/relationships/slide" Target="slide309.xml"/><Relationship Id="rId18" Type="http://schemas.openxmlformats.org/officeDocument/2006/relationships/slide" Target="slide308.xml"/><Relationship Id="rId19" Type="http://schemas.openxmlformats.org/officeDocument/2006/relationships/slide" Target="slide307.xml"/><Relationship Id="rId20" Type="http://schemas.openxmlformats.org/officeDocument/2006/relationships/slide" Target="slide183.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90.xml"/><Relationship Id="rId3" Type="http://schemas.openxmlformats.org/officeDocument/2006/relationships/slide" Target="slide317.xml"/><Relationship Id="rId4" Type="http://schemas.openxmlformats.org/officeDocument/2006/relationships/slide" Target="slide316.xml"/><Relationship Id="rId5" Type="http://schemas.openxmlformats.org/officeDocument/2006/relationships/slide" Target="slide315.xml"/><Relationship Id="rId6" Type="http://schemas.openxmlformats.org/officeDocument/2006/relationships/slide" Target="slide314.xml"/><Relationship Id="rId7" Type="http://schemas.openxmlformats.org/officeDocument/2006/relationships/slide" Target="slide313.xml"/><Relationship Id="rId8" Type="http://schemas.openxmlformats.org/officeDocument/2006/relationships/slide" Target="slide312.xml"/><Relationship Id="rId9" Type="http://schemas.openxmlformats.org/officeDocument/2006/relationships/slide" Target="slide189.xml"/><Relationship Id="rId10" Type="http://schemas.openxmlformats.org/officeDocument/2006/relationships/slide" Target="slide187.xml"/><Relationship Id="rId11" Type="http://schemas.openxmlformats.org/officeDocument/2006/relationships/slide" Target="slide318.xml"/><Relationship Id="rId12" Type="http://schemas.openxmlformats.org/officeDocument/2006/relationships/slide" Target="slide183.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1.xml"/><Relationship Id="rId3" Type="http://schemas.openxmlformats.org/officeDocument/2006/relationships/image" Target="../media/image37.jpg"/><Relationship Id="rId4" Type="http://schemas.openxmlformats.org/officeDocument/2006/relationships/image" Target="../media/image31.jpg"/><Relationship Id="rId5" Type="http://schemas.openxmlformats.org/officeDocument/2006/relationships/slide" Target="slide183.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97.xml"/><Relationship Id="rId3" Type="http://schemas.openxmlformats.org/officeDocument/2006/relationships/image" Target="../media/image33.jpg"/><Relationship Id="rId4" Type="http://schemas.openxmlformats.org/officeDocument/2006/relationships/slide" Target="slide183.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9.xml"/><Relationship Id="rId3" Type="http://schemas.openxmlformats.org/officeDocument/2006/relationships/image" Target="../media/image34.jpg"/><Relationship Id="rId4" Type="http://schemas.openxmlformats.org/officeDocument/2006/relationships/slide" Target="slide184.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4.xml"/><Relationship Id="rId3" Type="http://schemas.openxmlformats.org/officeDocument/2006/relationships/image" Target="../media/image35.png"/><Relationship Id="rId4" Type="http://schemas.openxmlformats.org/officeDocument/2006/relationships/slide" Target="slide188.xml"/><Relationship Id="rId5" Type="http://schemas.openxmlformats.org/officeDocument/2006/relationships/slide" Target="slide184.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6.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8.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0.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2.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4.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6.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8.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0.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2.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24.xml"/><Relationship Id="rId3" Type="http://schemas.openxmlformats.org/officeDocument/2006/relationships/image" Target="../media/image38.png"/><Relationship Id="rId4" Type="http://schemas.openxmlformats.org/officeDocument/2006/relationships/slide" Target="slide185.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9.xml"/><Relationship Id="rId3" Type="http://schemas.openxmlformats.org/officeDocument/2006/relationships/image" Target="../media/image41.jpg"/><Relationship Id="rId4" Type="http://schemas.openxmlformats.org/officeDocument/2006/relationships/slide" Target="slide189.xml"/><Relationship Id="rId5" Type="http://schemas.openxmlformats.org/officeDocument/2006/relationships/slide" Target="slide185.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1.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3.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5.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7.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9.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1.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3.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5.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7.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9.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51.xml"/><Relationship Id="rId3" Type="http://schemas.openxmlformats.org/officeDocument/2006/relationships/image" Target="../media/image42.jpg"/><Relationship Id="rId4" Type="http://schemas.openxmlformats.org/officeDocument/2006/relationships/slide" Target="slide186.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56.xml"/><Relationship Id="rId3" Type="http://schemas.openxmlformats.org/officeDocument/2006/relationships/image" Target="../media/image39.jpg"/><Relationship Id="rId4" Type="http://schemas.openxmlformats.org/officeDocument/2006/relationships/slide" Target="slide189.xml"/><Relationship Id="rId5" Type="http://schemas.openxmlformats.org/officeDocument/2006/relationships/slide" Target="slide186.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58.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0.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2.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4.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6.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8.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70.xml"/><Relationship Id="rId3" Type="http://schemas.openxmlformats.org/officeDocument/2006/relationships/image" Target="../media/image44.png"/><Relationship Id="rId4" Type="http://schemas.openxmlformats.org/officeDocument/2006/relationships/slide" Target="slide187.xml"/></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5.xml"/><Relationship Id="rId3" Type="http://schemas.openxmlformats.org/officeDocument/2006/relationships/image" Target="../media/image43.jpg"/><Relationship Id="rId4" Type="http://schemas.openxmlformats.org/officeDocument/2006/relationships/slide" Target="slide190.xml"/><Relationship Id="rId5" Type="http://schemas.openxmlformats.org/officeDocument/2006/relationships/slide" Target="slide187.xml"/></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7.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9.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1.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3.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5.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88.xml"/><Relationship Id="rId3" Type="http://schemas.openxmlformats.org/officeDocument/2006/relationships/slide" Target="slide188.xml"/></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89.xml"/><Relationship Id="rId3" Type="http://schemas.openxmlformats.org/officeDocument/2006/relationships/slide" Target="slide188.xml"/></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0.xml"/><Relationship Id="rId3" Type="http://schemas.openxmlformats.org/officeDocument/2006/relationships/slide" Target="slide188.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1.xml"/><Relationship Id="rId3" Type="http://schemas.openxmlformats.org/officeDocument/2006/relationships/slide" Target="slide188.xml"/></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2.xml"/><Relationship Id="rId3" Type="http://schemas.openxmlformats.org/officeDocument/2006/relationships/slide" Target="slide188.xml"/></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3.xml"/><Relationship Id="rId3" Type="http://schemas.openxmlformats.org/officeDocument/2006/relationships/slide" Target="slide188.xml"/></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4.xml"/><Relationship Id="rId3" Type="http://schemas.openxmlformats.org/officeDocument/2006/relationships/slide" Target="slide188.xml"/></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5.xml"/><Relationship Id="rId3" Type="http://schemas.openxmlformats.org/officeDocument/2006/relationships/slide" Target="slide188.xml"/></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6.xml"/><Relationship Id="rId3" Type="http://schemas.openxmlformats.org/officeDocument/2006/relationships/slide" Target="slide188.xml"/></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7.xml"/><Relationship Id="rId3" Type="http://schemas.openxmlformats.org/officeDocument/2006/relationships/slide" Target="slide188.xml"/></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8.xml"/><Relationship Id="rId3" Type="http://schemas.openxmlformats.org/officeDocument/2006/relationships/slide" Target="slide188.xml"/></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9.xml"/><Relationship Id="rId3" Type="http://schemas.openxmlformats.org/officeDocument/2006/relationships/slide" Target="slide189.xml"/></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0.xml"/><Relationship Id="rId3" Type="http://schemas.openxmlformats.org/officeDocument/2006/relationships/slide" Target="slide189.xml"/></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1.xml"/><Relationship Id="rId3" Type="http://schemas.openxmlformats.org/officeDocument/2006/relationships/slide" Target="slide189.xml"/></Relationships>
</file>

<file path=ppt/slides/_rels/slide30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2.xml"/><Relationship Id="rId3" Type="http://schemas.openxmlformats.org/officeDocument/2006/relationships/slide" Target="slide189.xml"/></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3.xml"/><Relationship Id="rId3" Type="http://schemas.openxmlformats.org/officeDocument/2006/relationships/slide" Target="slide189.xml"/></Relationships>
</file>

<file path=ppt/slides/_rels/slide30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4.xml"/><Relationship Id="rId3" Type="http://schemas.openxmlformats.org/officeDocument/2006/relationships/slide" Target="slide189.xml"/></Relationships>
</file>

<file path=ppt/slides/_rels/slide30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5.xml"/><Relationship Id="rId3" Type="http://schemas.openxmlformats.org/officeDocument/2006/relationships/slide" Target="slide189.xml"/></Relationships>
</file>

<file path=ppt/slides/_rels/slide30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6.xml"/><Relationship Id="rId3" Type="http://schemas.openxmlformats.org/officeDocument/2006/relationships/slide" Target="slide189.xml"/></Relationships>
</file>

<file path=ppt/slides/_rels/slide30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7.xml"/><Relationship Id="rId3" Type="http://schemas.openxmlformats.org/officeDocument/2006/relationships/slide" Target="slide197.xml"/></Relationships>
</file>

<file path=ppt/slides/_rels/slide30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8.xml"/><Relationship Id="rId3" Type="http://schemas.openxmlformats.org/officeDocument/2006/relationships/slide" Target="slide197.xml"/></Relationships>
</file>

<file path=ppt/slides/_rels/slide30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9.xml"/><Relationship Id="rId3" Type="http://schemas.openxmlformats.org/officeDocument/2006/relationships/slide" Target="slide197.xml"/></Relationships>
</file>

<file path=ppt/slides/_rels/slide31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0.xml"/><Relationship Id="rId3" Type="http://schemas.openxmlformats.org/officeDocument/2006/relationships/slide" Target="slide197.xml"/></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1.xml"/><Relationship Id="rId3" Type="http://schemas.openxmlformats.org/officeDocument/2006/relationships/slide" Target="slide197.xml"/></Relationships>
</file>

<file path=ppt/slides/_rels/slide31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2.xml"/><Relationship Id="rId3" Type="http://schemas.openxmlformats.org/officeDocument/2006/relationships/slide" Target="slide190.xml"/></Relationships>
</file>

<file path=ppt/slides/_rels/slide31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3.xml"/><Relationship Id="rId3" Type="http://schemas.openxmlformats.org/officeDocument/2006/relationships/slide" Target="slide190.xml"/></Relationships>
</file>

<file path=ppt/slides/_rels/slide3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4.xml"/><Relationship Id="rId3" Type="http://schemas.openxmlformats.org/officeDocument/2006/relationships/slide" Target="slide190.xml"/></Relationships>
</file>

<file path=ppt/slides/_rels/slide3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5.xml"/><Relationship Id="rId3" Type="http://schemas.openxmlformats.org/officeDocument/2006/relationships/slide" Target="slide190.xml"/></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6.xml"/><Relationship Id="rId3" Type="http://schemas.openxmlformats.org/officeDocument/2006/relationships/slide" Target="slide190.xml"/></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7.xml"/><Relationship Id="rId3" Type="http://schemas.openxmlformats.org/officeDocument/2006/relationships/slide" Target="slide190.xml"/></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8.xml"/><Relationship Id="rId3" Type="http://schemas.openxmlformats.org/officeDocument/2006/relationships/slide" Target="slide190.xml"/></Relationships>
</file>

<file path=ppt/slides/_rels/slide32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0.xml"/><Relationship Id="rId3" Type="http://schemas.openxmlformats.org/officeDocument/2006/relationships/slide" Target="slide10.xml"/><Relationship Id="rId4" Type="http://schemas.openxmlformats.org/officeDocument/2006/relationships/slide" Target="slide326.xml"/><Relationship Id="rId5" Type="http://schemas.openxmlformats.org/officeDocument/2006/relationships/slide" Target="slide321.xml"/><Relationship Id="rId6" Type="http://schemas.openxmlformats.org/officeDocument/2006/relationships/slide" Target="slide321.xml"/><Relationship Id="rId7" Type="http://schemas.openxmlformats.org/officeDocument/2006/relationships/slide" Target="slide321.xml"/><Relationship Id="rId8" Type="http://schemas.openxmlformats.org/officeDocument/2006/relationships/slide" Target="slide322.xml"/><Relationship Id="rId9" Type="http://schemas.openxmlformats.org/officeDocument/2006/relationships/slide" Target="slide322.xml"/><Relationship Id="rId10" Type="http://schemas.openxmlformats.org/officeDocument/2006/relationships/slide" Target="slide323.xml"/><Relationship Id="rId11" Type="http://schemas.openxmlformats.org/officeDocument/2006/relationships/slide" Target="slide10.xml"/></Relationships>
</file>

<file path=ppt/slides/_rels/slide32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1.xml"/><Relationship Id="rId3" Type="http://schemas.openxmlformats.org/officeDocument/2006/relationships/slide" Target="slide343.xml"/><Relationship Id="rId4" Type="http://schemas.openxmlformats.org/officeDocument/2006/relationships/slide" Target="slide341.xml"/><Relationship Id="rId5" Type="http://schemas.openxmlformats.org/officeDocument/2006/relationships/slide" Target="slide339.xml"/><Relationship Id="rId6" Type="http://schemas.openxmlformats.org/officeDocument/2006/relationships/slide" Target="slide320.xml"/><Relationship Id="rId7" Type="http://schemas.openxmlformats.org/officeDocument/2006/relationships/slide" Target="slide323.xml"/><Relationship Id="rId8" Type="http://schemas.openxmlformats.org/officeDocument/2006/relationships/slide" Target="slide337.xml"/><Relationship Id="rId9" Type="http://schemas.openxmlformats.org/officeDocument/2006/relationships/slide" Target="slide320.xml"/><Relationship Id="rId10" Type="http://schemas.openxmlformats.org/officeDocument/2006/relationships/slide" Target="slide345.xml"/><Relationship Id="rId11" Type="http://schemas.openxmlformats.org/officeDocument/2006/relationships/slide" Target="slide349.xml"/><Relationship Id="rId12" Type="http://schemas.openxmlformats.org/officeDocument/2006/relationships/slide" Target="slide347.xml"/><Relationship Id="rId13" Type="http://schemas.openxmlformats.org/officeDocument/2006/relationships/slide" Target="slide320.xml"/><Relationship Id="rId14" Type="http://schemas.openxmlformats.org/officeDocument/2006/relationships/slide" Target="slide355.xml"/><Relationship Id="rId15" Type="http://schemas.openxmlformats.org/officeDocument/2006/relationships/slide" Target="slide353.xml"/><Relationship Id="rId16" Type="http://schemas.openxmlformats.org/officeDocument/2006/relationships/slide" Target="slide351.xml"/><Relationship Id="rId17" Type="http://schemas.openxmlformats.org/officeDocument/2006/relationships/slide" Target="slide320.xml"/></Relationships>
</file>

<file path=ppt/slides/_rels/slide32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2.xml"/><Relationship Id="rId3" Type="http://schemas.openxmlformats.org/officeDocument/2006/relationships/slide" Target="slide359.xml"/><Relationship Id="rId4" Type="http://schemas.openxmlformats.org/officeDocument/2006/relationships/slide" Target="slide320.xml"/><Relationship Id="rId5" Type="http://schemas.openxmlformats.org/officeDocument/2006/relationships/slide" Target="slide324.xml"/><Relationship Id="rId6" Type="http://schemas.openxmlformats.org/officeDocument/2006/relationships/slide" Target="slide357.xml"/><Relationship Id="rId7" Type="http://schemas.openxmlformats.org/officeDocument/2006/relationships/slide" Target="slide320.xml"/><Relationship Id="rId8" Type="http://schemas.openxmlformats.org/officeDocument/2006/relationships/slide" Target="slide361.xml"/><Relationship Id="rId9" Type="http://schemas.openxmlformats.org/officeDocument/2006/relationships/slide" Target="slide365.xml"/><Relationship Id="rId10" Type="http://schemas.openxmlformats.org/officeDocument/2006/relationships/slide" Target="slide363.xml"/><Relationship Id="rId11" Type="http://schemas.openxmlformats.org/officeDocument/2006/relationships/slide" Target="slide367.xml"/><Relationship Id="rId12" Type="http://schemas.openxmlformats.org/officeDocument/2006/relationships/slide" Target="slide369.xml"/><Relationship Id="rId13" Type="http://schemas.openxmlformats.org/officeDocument/2006/relationships/slide" Target="slide371.xml"/><Relationship Id="rId14" Type="http://schemas.openxmlformats.org/officeDocument/2006/relationships/slide" Target="slide320.xml"/></Relationships>
</file>

<file path=ppt/slides/_rels/slide32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3.xml"/><Relationship Id="rId3" Type="http://schemas.openxmlformats.org/officeDocument/2006/relationships/slide" Target="slide379.xml"/><Relationship Id="rId4" Type="http://schemas.openxmlformats.org/officeDocument/2006/relationships/slide" Target="slide378.xml"/><Relationship Id="rId5" Type="http://schemas.openxmlformats.org/officeDocument/2006/relationships/slide" Target="slide377.xml"/><Relationship Id="rId6" Type="http://schemas.openxmlformats.org/officeDocument/2006/relationships/slide" Target="slide376.xml"/><Relationship Id="rId7" Type="http://schemas.openxmlformats.org/officeDocument/2006/relationships/slide" Target="slide375.xml"/><Relationship Id="rId8" Type="http://schemas.openxmlformats.org/officeDocument/2006/relationships/slide" Target="slide374.xml"/><Relationship Id="rId9" Type="http://schemas.openxmlformats.org/officeDocument/2006/relationships/slide" Target="slide321.xml"/><Relationship Id="rId10" Type="http://schemas.openxmlformats.org/officeDocument/2006/relationships/slide" Target="slide324.xml"/><Relationship Id="rId11" Type="http://schemas.openxmlformats.org/officeDocument/2006/relationships/slide" Target="slide380.xml"/><Relationship Id="rId12" Type="http://schemas.openxmlformats.org/officeDocument/2006/relationships/slide" Target="slide321.xml"/><Relationship Id="rId13" Type="http://schemas.openxmlformats.org/officeDocument/2006/relationships/slide" Target="slide382.xml"/><Relationship Id="rId14" Type="http://schemas.openxmlformats.org/officeDocument/2006/relationships/slide" Target="slide320.xml"/></Relationships>
</file>

<file path=ppt/slides/_rels/slide32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4.xml"/><Relationship Id="rId3" Type="http://schemas.openxmlformats.org/officeDocument/2006/relationships/slide" Target="slide385.xml"/><Relationship Id="rId4" Type="http://schemas.openxmlformats.org/officeDocument/2006/relationships/slide" Target="slide384.xml"/><Relationship Id="rId5" Type="http://schemas.openxmlformats.org/officeDocument/2006/relationships/slide" Target="slide383.xml"/><Relationship Id="rId6" Type="http://schemas.openxmlformats.org/officeDocument/2006/relationships/slide" Target="slide321.xml"/><Relationship Id="rId7" Type="http://schemas.openxmlformats.org/officeDocument/2006/relationships/slide" Target="slide322.xml"/><Relationship Id="rId8" Type="http://schemas.openxmlformats.org/officeDocument/2006/relationships/slide" Target="slide386.xml"/><Relationship Id="rId9" Type="http://schemas.openxmlformats.org/officeDocument/2006/relationships/slide" Target="slide388.xml"/><Relationship Id="rId10" Type="http://schemas.openxmlformats.org/officeDocument/2006/relationships/slide" Target="slide323.xml"/><Relationship Id="rId11" Type="http://schemas.openxmlformats.org/officeDocument/2006/relationships/slide" Target="slide320.xml"/></Relationships>
</file>

<file path=ppt/slides/_rels/slide3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26.xml"/><Relationship Id="rId3" Type="http://schemas.openxmlformats.org/officeDocument/2006/relationships/image" Target="../media/image51.png"/><Relationship Id="rId4" Type="http://schemas.openxmlformats.org/officeDocument/2006/relationships/image" Target="../media/image48.png"/><Relationship Id="rId5" Type="http://schemas.openxmlformats.org/officeDocument/2006/relationships/image" Target="../media/image53.png"/><Relationship Id="rId6" Type="http://schemas.openxmlformats.org/officeDocument/2006/relationships/image" Target="../media/image61.png"/><Relationship Id="rId7" Type="http://schemas.openxmlformats.org/officeDocument/2006/relationships/hyperlink" Target="http://www.google.com/url?sa=i&amp;rct=j&amp;q=&amp;esrc=s&amp;source=images&amp;cd=&amp;cad=rja&amp;uact=8&amp;ved=0ahUKEwjQ_5iq77LPAhWF0h4KHcYLC_4QjRwIBw&amp;url=http://www.pullman-wa.gov/departments/police/crime-prevention/drugs&amp;bvm=bv.134052249,d.dmo&amp;psig=AFQjCNH4M2X9F_FSAZOmNY-5z41aykvBqQ&amp;ust=1475179843438811" TargetMode="External"/><Relationship Id="rId8" Type="http://schemas.openxmlformats.org/officeDocument/2006/relationships/image" Target="../media/image45.jpg"/><Relationship Id="rId9" Type="http://schemas.openxmlformats.org/officeDocument/2006/relationships/hyperlink" Target="https://www.google.com/url?sa=i&amp;rct=j&amp;q=&amp;esrc=s&amp;source=images&amp;cd=&amp;cad=rja&amp;uact=8&amp;ved=0ahUKEwj6y67I77LPAhUGKh4KHfXBDz0QjRwIBw&amp;url=https://palacestation.sclv.com/Hotel.aspx&amp;bvm=bv.134052249,d.dmo&amp;psig=AFQjCNEOv67BHBepsS1HeunpNMF7c08klw&amp;ust=1475179907322776" TargetMode="External"/><Relationship Id="rId10" Type="http://schemas.openxmlformats.org/officeDocument/2006/relationships/image" Target="../media/image63.jpg"/><Relationship Id="rId11" Type="http://schemas.openxmlformats.org/officeDocument/2006/relationships/image" Target="../media/image57.png"/><Relationship Id="rId12" Type="http://schemas.openxmlformats.org/officeDocument/2006/relationships/image" Target="../media/image47.png"/><Relationship Id="rId13" Type="http://schemas.openxmlformats.org/officeDocument/2006/relationships/image" Target="../media/image50.jpg"/><Relationship Id="rId14" Type="http://schemas.openxmlformats.org/officeDocument/2006/relationships/image" Target="../media/image52.png"/><Relationship Id="rId15" Type="http://schemas.openxmlformats.org/officeDocument/2006/relationships/hyperlink" Target="http://www.google.com/url?sa=i&amp;rct=j&amp;q=&amp;esrc=s&amp;source=images&amp;cd=&amp;cad=rja&amp;uact=8&amp;ved=0ahUKEwilycm1kLPPAhVL1B4KHUyVAg8QjRwIBw&amp;url=http://knack.nyc/category/blog/page/4/&amp;psig=AFQjCNHaW4IrkYBM5O2agoKWbAie617oJQ&amp;ust=1475188644504619" TargetMode="External"/><Relationship Id="rId16" Type="http://schemas.openxmlformats.org/officeDocument/2006/relationships/image" Target="../media/image58.jpg"/><Relationship Id="rId17" Type="http://schemas.openxmlformats.org/officeDocument/2006/relationships/hyperlink" Target="https://www.google.com/url?sa=i&amp;rct=j&amp;q=&amp;esrc=s&amp;source=images&amp;cd=&amp;cad=rja&amp;uact=8&amp;ved=0ahUKEwj4j6fHicjPAhWBKiYKHZN_DWQQjRwIBw&amp;url=https://illinoislending.com/blog/&amp;psig=AFQjCNF0u7oLZCSM8ZmSf58fqQbfM89mTA&amp;ust=1475908416892471" TargetMode="External"/><Relationship Id="rId18" Type="http://schemas.openxmlformats.org/officeDocument/2006/relationships/image" Target="../media/image49.jpg"/><Relationship Id="rId19" Type="http://schemas.openxmlformats.org/officeDocument/2006/relationships/slide" Target="slide320.xml"/></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329.xml"/><Relationship Id="rId3" Type="http://schemas.openxmlformats.org/officeDocument/2006/relationships/image" Target="../media/image36.jpg"/><Relationship Id="rId4" Type="http://schemas.openxmlformats.org/officeDocument/2006/relationships/slide" Target="slide320.xml"/></Relationships>
</file>

<file path=ppt/slides/_rels/slide33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37.xml"/><Relationship Id="rId3" Type="http://schemas.openxmlformats.org/officeDocument/2006/relationships/image" Target="../media/image69.jpg"/><Relationship Id="rId4" Type="http://schemas.openxmlformats.org/officeDocument/2006/relationships/slide" Target="slide321.xml"/></Relationships>
</file>

<file path=ppt/slides/_rels/slide33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39.xml"/><Relationship Id="rId3" Type="http://schemas.openxmlformats.org/officeDocument/2006/relationships/slide" Target="slide323.xml"/><Relationship Id="rId4" Type="http://schemas.openxmlformats.org/officeDocument/2006/relationships/image" Target="../media/image59.jpg"/><Relationship Id="rId5" Type="http://schemas.openxmlformats.org/officeDocument/2006/relationships/slide" Target="slide321.xml"/></Relationships>
</file>

<file path=ppt/slides/_rels/slide34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1.xml"/><Relationship Id="rId3" Type="http://schemas.openxmlformats.org/officeDocument/2006/relationships/image" Target="../media/image54.jpg"/><Relationship Id="rId4" Type="http://schemas.openxmlformats.org/officeDocument/2006/relationships/slide" Target="slide321.xml"/><Relationship Id="rId5" Type="http://schemas.openxmlformats.org/officeDocument/2006/relationships/slide" Target="slide323.xml"/></Relationships>
</file>

<file path=ppt/slides/_rels/slide34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3.xml"/><Relationship Id="rId3" Type="http://schemas.openxmlformats.org/officeDocument/2006/relationships/image" Target="../media/image71.jpg"/><Relationship Id="rId4" Type="http://schemas.openxmlformats.org/officeDocument/2006/relationships/slide" Target="slide321.xml"/><Relationship Id="rId5" Type="http://schemas.openxmlformats.org/officeDocument/2006/relationships/slide" Target="slide323.xml"/></Relationships>
</file>

<file path=ppt/slides/_rels/slide345.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45.xml"/><Relationship Id="rId3" Type="http://schemas.openxmlformats.org/officeDocument/2006/relationships/image" Target="../media/image34.jpg"/><Relationship Id="rId4" Type="http://schemas.openxmlformats.org/officeDocument/2006/relationships/slide" Target="slide321.xml"/></Relationships>
</file>

<file path=ppt/slides/_rels/slide34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7.xml"/><Relationship Id="rId3" Type="http://schemas.openxmlformats.org/officeDocument/2006/relationships/image" Target="../media/image62.jpg"/><Relationship Id="rId4" Type="http://schemas.openxmlformats.org/officeDocument/2006/relationships/slide" Target="slide321.xml"/><Relationship Id="rId5" Type="http://schemas.openxmlformats.org/officeDocument/2006/relationships/slide" Target="slide323.xml"/></Relationships>
</file>

<file path=ppt/slides/_rels/slide34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9.xml"/><Relationship Id="rId3" Type="http://schemas.openxmlformats.org/officeDocument/2006/relationships/image" Target="../media/image66.png"/><Relationship Id="rId4" Type="http://schemas.openxmlformats.org/officeDocument/2006/relationships/slide" Target="slide321.xml"/><Relationship Id="rId5" Type="http://schemas.openxmlformats.org/officeDocument/2006/relationships/slide" Target="slide323.xml"/></Relationships>
</file>

<file path=ppt/slides/_rels/slide35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51.xml"/><Relationship Id="rId3" Type="http://schemas.openxmlformats.org/officeDocument/2006/relationships/image" Target="../media/image70.jpg"/><Relationship Id="rId4" Type="http://schemas.openxmlformats.org/officeDocument/2006/relationships/image" Target="../media/image64.jpg"/><Relationship Id="rId5" Type="http://schemas.openxmlformats.org/officeDocument/2006/relationships/slide" Target="slide321.xml"/></Relationships>
</file>

<file path=ppt/slides/_rels/slide35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53.xml"/><Relationship Id="rId3" Type="http://schemas.openxmlformats.org/officeDocument/2006/relationships/slide" Target="slide324.xml"/><Relationship Id="rId4" Type="http://schemas.openxmlformats.org/officeDocument/2006/relationships/image" Target="../media/image79.jpg"/><Relationship Id="rId5" Type="http://schemas.openxmlformats.org/officeDocument/2006/relationships/slide" Target="slide321.xml"/></Relationships>
</file>

<file path=ppt/slides/_rels/slide35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55.xml"/><Relationship Id="rId3" Type="http://schemas.openxmlformats.org/officeDocument/2006/relationships/image" Target="../media/image65.jpg"/><Relationship Id="rId4" Type="http://schemas.openxmlformats.org/officeDocument/2006/relationships/slide" Target="slide321.xml"/><Relationship Id="rId5" Type="http://schemas.openxmlformats.org/officeDocument/2006/relationships/slide" Target="slide324.xml"/></Relationships>
</file>

<file path=ppt/slides/_rels/slide35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57.xml"/><Relationship Id="rId3" Type="http://schemas.openxmlformats.org/officeDocument/2006/relationships/image" Target="../media/image68.jpg"/><Relationship Id="rId4" Type="http://schemas.openxmlformats.org/officeDocument/2006/relationships/slide" Target="slide322.xml"/></Relationships>
</file>

<file path=ppt/slides/_rels/slide35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59.xml"/><Relationship Id="rId3" Type="http://schemas.openxmlformats.org/officeDocument/2006/relationships/image" Target="../media/image33.jpg"/><Relationship Id="rId4" Type="http://schemas.openxmlformats.org/officeDocument/2006/relationships/slide" Target="slide322.xml"/><Relationship Id="rId5" Type="http://schemas.openxmlformats.org/officeDocument/2006/relationships/slide" Target="slide324.xml"/></Relationships>
</file>

<file path=ppt/slides/_rels/slide36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61.xml"/><Relationship Id="rId3" Type="http://schemas.openxmlformats.org/officeDocument/2006/relationships/image" Target="../media/image64.jpg"/><Relationship Id="rId4" Type="http://schemas.openxmlformats.org/officeDocument/2006/relationships/slide" Target="slide322.xml"/></Relationships>
</file>

<file path=ppt/slides/_rels/slide36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3.xml"/><Relationship Id="rId3" Type="http://schemas.openxmlformats.org/officeDocument/2006/relationships/image" Target="../media/image82.png"/><Relationship Id="rId4" Type="http://schemas.openxmlformats.org/officeDocument/2006/relationships/slide" Target="slide322.xml"/><Relationship Id="rId5" Type="http://schemas.openxmlformats.org/officeDocument/2006/relationships/slide" Target="slide324.xml"/></Relationships>
</file>

<file path=ppt/slides/_rels/slide36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5.xml"/><Relationship Id="rId3" Type="http://schemas.openxmlformats.org/officeDocument/2006/relationships/image" Target="../media/image77.jpg"/><Relationship Id="rId4" Type="http://schemas.openxmlformats.org/officeDocument/2006/relationships/slide" Target="slide322.xml"/><Relationship Id="rId5" Type="http://schemas.openxmlformats.org/officeDocument/2006/relationships/slide" Target="slide324.xml"/></Relationships>
</file>

<file path=ppt/slides/_rels/slide36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7.xml"/><Relationship Id="rId3" Type="http://schemas.openxmlformats.org/officeDocument/2006/relationships/image" Target="../media/image85.jpg"/><Relationship Id="rId4" Type="http://schemas.openxmlformats.org/officeDocument/2006/relationships/slide" Target="slide322.xml"/><Relationship Id="rId5" Type="http://schemas.openxmlformats.org/officeDocument/2006/relationships/slide" Target="slide324.xml"/></Relationships>
</file>

<file path=ppt/slides/_rels/slide36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9.xml"/><Relationship Id="rId3" Type="http://schemas.openxmlformats.org/officeDocument/2006/relationships/image" Target="../media/image67.jpg"/><Relationship Id="rId4" Type="http://schemas.openxmlformats.org/officeDocument/2006/relationships/slide" Target="slide322.xml"/><Relationship Id="rId5" Type="http://schemas.openxmlformats.org/officeDocument/2006/relationships/slide" Target="slide324.xml"/></Relationships>
</file>

<file path=ppt/slides/_rels/slide37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71.xml"/><Relationship Id="rId3" Type="http://schemas.openxmlformats.org/officeDocument/2006/relationships/image" Target="../media/image84.png"/><Relationship Id="rId4" Type="http://schemas.openxmlformats.org/officeDocument/2006/relationships/slide" Target="slide322.xml"/><Relationship Id="rId5" Type="http://schemas.openxmlformats.org/officeDocument/2006/relationships/slide" Target="slide324.xml"/></Relationships>
</file>

<file path=ppt/slides/_rels/slide37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4.xml"/><Relationship Id="rId3" Type="http://schemas.openxmlformats.org/officeDocument/2006/relationships/slide" Target="slide323.xml"/></Relationships>
</file>

<file path=ppt/slides/_rels/slide37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5.xml"/><Relationship Id="rId3" Type="http://schemas.openxmlformats.org/officeDocument/2006/relationships/slide" Target="slide323.xml"/></Relationships>
</file>

<file path=ppt/slides/_rels/slide37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6.xml"/><Relationship Id="rId3" Type="http://schemas.openxmlformats.org/officeDocument/2006/relationships/slide" Target="slide323.xml"/></Relationships>
</file>

<file path=ppt/slides/_rels/slide37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7.xml"/><Relationship Id="rId3" Type="http://schemas.openxmlformats.org/officeDocument/2006/relationships/slide" Target="slide323.xml"/></Relationships>
</file>

<file path=ppt/slides/_rels/slide37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8.xml"/><Relationship Id="rId3" Type="http://schemas.openxmlformats.org/officeDocument/2006/relationships/slide" Target="slide323.xml"/></Relationships>
</file>

<file path=ppt/slides/_rels/slide37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9.xml"/><Relationship Id="rId3" Type="http://schemas.openxmlformats.org/officeDocument/2006/relationships/slide" Target="slide323.xml"/></Relationships>
</file>

<file path=ppt/slides/_rels/slide38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0.xml"/><Relationship Id="rId3" Type="http://schemas.openxmlformats.org/officeDocument/2006/relationships/slide" Target="slide323.xml"/></Relationships>
</file>

<file path=ppt/slides/_rels/slide38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2.xml"/><Relationship Id="rId3" Type="http://schemas.openxmlformats.org/officeDocument/2006/relationships/slide" Target="slide323.xml"/></Relationships>
</file>

<file path=ppt/slides/_rels/slide38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3.xml"/><Relationship Id="rId3" Type="http://schemas.openxmlformats.org/officeDocument/2006/relationships/slide" Target="slide324.xml"/></Relationships>
</file>

<file path=ppt/slides/_rels/slide38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4.xml"/><Relationship Id="rId3" Type="http://schemas.openxmlformats.org/officeDocument/2006/relationships/slide" Target="slide324.xml"/></Relationships>
</file>

<file path=ppt/slides/_rels/slide38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5.xml"/><Relationship Id="rId3" Type="http://schemas.openxmlformats.org/officeDocument/2006/relationships/slide" Target="slide324.xml"/></Relationships>
</file>

<file path=ppt/slides/_rels/slide38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6.xml"/><Relationship Id="rId3" Type="http://schemas.openxmlformats.org/officeDocument/2006/relationships/slide" Target="slide324.xml"/></Relationships>
</file>

<file path=ppt/slides/_rels/slide38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8.xml"/><Relationship Id="rId3" Type="http://schemas.openxmlformats.org/officeDocument/2006/relationships/slide" Target="slide324.xml"/></Relationships>
</file>

<file path=ppt/slides/_rels/slide39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0.xml"/><Relationship Id="rId3" Type="http://schemas.openxmlformats.org/officeDocument/2006/relationships/slide" Target="slide10.xml"/><Relationship Id="rId4" Type="http://schemas.openxmlformats.org/officeDocument/2006/relationships/slide" Target="slide391.xml"/><Relationship Id="rId5" Type="http://schemas.openxmlformats.org/officeDocument/2006/relationships/slide" Target="slide392.xml"/><Relationship Id="rId6" Type="http://schemas.openxmlformats.org/officeDocument/2006/relationships/slide" Target="slide392.xml"/><Relationship Id="rId7" Type="http://schemas.openxmlformats.org/officeDocument/2006/relationships/slide" Target="slide397.xml"/><Relationship Id="rId8" Type="http://schemas.openxmlformats.org/officeDocument/2006/relationships/slide" Target="slide394.xml"/><Relationship Id="rId9" Type="http://schemas.openxmlformats.org/officeDocument/2006/relationships/slide" Target="slide393.xml"/><Relationship Id="rId10" Type="http://schemas.openxmlformats.org/officeDocument/2006/relationships/slide" Target="slide393.xml"/><Relationship Id="rId11" Type="http://schemas.openxmlformats.org/officeDocument/2006/relationships/slide" Target="slide10.xml"/></Relationships>
</file>

<file path=ppt/slides/_rels/slide39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1.xml"/><Relationship Id="rId3" Type="http://schemas.openxmlformats.org/officeDocument/2006/relationships/slide" Target="slide390.xml"/><Relationship Id="rId4" Type="http://schemas.openxmlformats.org/officeDocument/2006/relationships/slide" Target="slide401.xml"/><Relationship Id="rId5" Type="http://schemas.openxmlformats.org/officeDocument/2006/relationships/slide" Target="slide394.xml"/><Relationship Id="rId6" Type="http://schemas.openxmlformats.org/officeDocument/2006/relationships/slide" Target="slide406.xml"/><Relationship Id="rId7" Type="http://schemas.openxmlformats.org/officeDocument/2006/relationships/slide" Target="slide408.xml"/><Relationship Id="rId8" Type="http://schemas.openxmlformats.org/officeDocument/2006/relationships/slide" Target="slide410.xml"/><Relationship Id="rId9" Type="http://schemas.openxmlformats.org/officeDocument/2006/relationships/slide" Target="slide412.xml"/><Relationship Id="rId10" Type="http://schemas.openxmlformats.org/officeDocument/2006/relationships/slide" Target="slide414.xml"/><Relationship Id="rId11" Type="http://schemas.openxmlformats.org/officeDocument/2006/relationships/slide" Target="slide416.xml"/><Relationship Id="rId12" Type="http://schemas.openxmlformats.org/officeDocument/2006/relationships/slide" Target="slide394.xml"/><Relationship Id="rId13" Type="http://schemas.openxmlformats.org/officeDocument/2006/relationships/slide" Target="slide418.xml"/><Relationship Id="rId14" Type="http://schemas.openxmlformats.org/officeDocument/2006/relationships/slide" Target="slide420.xml"/><Relationship Id="rId15" Type="http://schemas.openxmlformats.org/officeDocument/2006/relationships/slide" Target="slide390.xml"/></Relationships>
</file>

<file path=ppt/slides/_rels/slide39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2.xml"/><Relationship Id="rId3" Type="http://schemas.openxmlformats.org/officeDocument/2006/relationships/slide" Target="slide183.xml"/><Relationship Id="rId4" Type="http://schemas.openxmlformats.org/officeDocument/2006/relationships/slide" Target="slide422.xml"/><Relationship Id="rId5" Type="http://schemas.openxmlformats.org/officeDocument/2006/relationships/slide" Target="slide424.xml"/><Relationship Id="rId6" Type="http://schemas.openxmlformats.org/officeDocument/2006/relationships/slide" Target="slide426.xml"/><Relationship Id="rId7" Type="http://schemas.openxmlformats.org/officeDocument/2006/relationships/slide" Target="slide428.xml"/><Relationship Id="rId8" Type="http://schemas.openxmlformats.org/officeDocument/2006/relationships/slide" Target="slide430.xml"/><Relationship Id="rId9" Type="http://schemas.openxmlformats.org/officeDocument/2006/relationships/slide" Target="slide432.xml"/><Relationship Id="rId10" Type="http://schemas.openxmlformats.org/officeDocument/2006/relationships/slide" Target="slide395.xml"/><Relationship Id="rId11" Type="http://schemas.openxmlformats.org/officeDocument/2006/relationships/slide" Target="slide390.xml"/><Relationship Id="rId12" Type="http://schemas.openxmlformats.org/officeDocument/2006/relationships/slide" Target="slide434.xml"/><Relationship Id="rId13" Type="http://schemas.openxmlformats.org/officeDocument/2006/relationships/slide" Target="slide436.xml"/><Relationship Id="rId14" Type="http://schemas.openxmlformats.org/officeDocument/2006/relationships/slide" Target="slide438.xml"/><Relationship Id="rId15" Type="http://schemas.openxmlformats.org/officeDocument/2006/relationships/slide" Target="slide390.xml"/></Relationships>
</file>

<file path=ppt/slides/_rels/slide39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3.xml"/><Relationship Id="rId3" Type="http://schemas.openxmlformats.org/officeDocument/2006/relationships/slide" Target="slide390.xml"/><Relationship Id="rId4" Type="http://schemas.openxmlformats.org/officeDocument/2006/relationships/slide" Target="slide440.xml"/><Relationship Id="rId5" Type="http://schemas.openxmlformats.org/officeDocument/2006/relationships/slide" Target="slide443.xml"/><Relationship Id="rId6" Type="http://schemas.openxmlformats.org/officeDocument/2006/relationships/slide" Target="slide22.xml"/><Relationship Id="rId7" Type="http://schemas.openxmlformats.org/officeDocument/2006/relationships/slide" Target="slide390.xml"/><Relationship Id="rId8" Type="http://schemas.openxmlformats.org/officeDocument/2006/relationships/slide" Target="slide445.xml"/><Relationship Id="rId9" Type="http://schemas.openxmlformats.org/officeDocument/2006/relationships/slide" Target="slide448.xml"/><Relationship Id="rId10" Type="http://schemas.openxmlformats.org/officeDocument/2006/relationships/slide" Target="slide390.xml"/></Relationships>
</file>

<file path=ppt/slides/_rels/slide39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4.xml"/><Relationship Id="rId3" Type="http://schemas.openxmlformats.org/officeDocument/2006/relationships/slide" Target="slide459.xml"/><Relationship Id="rId4" Type="http://schemas.openxmlformats.org/officeDocument/2006/relationships/slide" Target="slide458.xml"/><Relationship Id="rId5" Type="http://schemas.openxmlformats.org/officeDocument/2006/relationships/slide" Target="slide462.xml"/><Relationship Id="rId6" Type="http://schemas.openxmlformats.org/officeDocument/2006/relationships/slide" Target="slide461.xml"/><Relationship Id="rId7" Type="http://schemas.openxmlformats.org/officeDocument/2006/relationships/slide" Target="slide460.xml"/><Relationship Id="rId8" Type="http://schemas.openxmlformats.org/officeDocument/2006/relationships/slide" Target="slide457.xml"/><Relationship Id="rId9" Type="http://schemas.openxmlformats.org/officeDocument/2006/relationships/slide" Target="slide456.xml"/><Relationship Id="rId10" Type="http://schemas.openxmlformats.org/officeDocument/2006/relationships/slide" Target="slide455.xml"/><Relationship Id="rId11" Type="http://schemas.openxmlformats.org/officeDocument/2006/relationships/slide" Target="slide454.xml"/><Relationship Id="rId12" Type="http://schemas.openxmlformats.org/officeDocument/2006/relationships/slide" Target="slide453.xml"/><Relationship Id="rId13" Type="http://schemas.openxmlformats.org/officeDocument/2006/relationships/slide" Target="slide452.xml"/><Relationship Id="rId14" Type="http://schemas.openxmlformats.org/officeDocument/2006/relationships/slide" Target="slide451.xml"/><Relationship Id="rId15" Type="http://schemas.openxmlformats.org/officeDocument/2006/relationships/slide" Target="slide390.xml"/><Relationship Id="rId16" Type="http://schemas.openxmlformats.org/officeDocument/2006/relationships/slide" Target="slide395.xml"/><Relationship Id="rId17" Type="http://schemas.openxmlformats.org/officeDocument/2006/relationships/slide" Target="slide390.xml"/></Relationships>
</file>

<file path=ppt/slides/_rels/slide39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5.xml"/><Relationship Id="rId3" Type="http://schemas.openxmlformats.org/officeDocument/2006/relationships/slide" Target="slide467.xml"/><Relationship Id="rId4" Type="http://schemas.openxmlformats.org/officeDocument/2006/relationships/slide" Target="slide468.xml"/><Relationship Id="rId5" Type="http://schemas.openxmlformats.org/officeDocument/2006/relationships/slide" Target="slide466.xml"/><Relationship Id="rId6" Type="http://schemas.openxmlformats.org/officeDocument/2006/relationships/slide" Target="slide465.xml"/><Relationship Id="rId7" Type="http://schemas.openxmlformats.org/officeDocument/2006/relationships/slide" Target="slide464.xml"/><Relationship Id="rId8" Type="http://schemas.openxmlformats.org/officeDocument/2006/relationships/slide" Target="slide463.xml"/><Relationship Id="rId9" Type="http://schemas.openxmlformats.org/officeDocument/2006/relationships/slide" Target="slide394.xml"/><Relationship Id="rId10" Type="http://schemas.openxmlformats.org/officeDocument/2006/relationships/slide" Target="slide396.xml"/><Relationship Id="rId11" Type="http://schemas.openxmlformats.org/officeDocument/2006/relationships/slide" Target="slide390.xml"/><Relationship Id="rId12" Type="http://schemas.openxmlformats.org/officeDocument/2006/relationships/slide" Target="slide390.xml"/><Relationship Id="rId13" Type="http://schemas.openxmlformats.org/officeDocument/2006/relationships/slide" Target="slide471.xml"/><Relationship Id="rId14" Type="http://schemas.openxmlformats.org/officeDocument/2006/relationships/slide" Target="slide470.xml"/><Relationship Id="rId15" Type="http://schemas.openxmlformats.org/officeDocument/2006/relationships/slide" Target="slide469.xml"/><Relationship Id="rId16" Type="http://schemas.openxmlformats.org/officeDocument/2006/relationships/slide" Target="slide390.xml"/></Relationships>
</file>

<file path=ppt/slides/_rels/slide39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6.xml"/><Relationship Id="rId3" Type="http://schemas.openxmlformats.org/officeDocument/2006/relationships/slide" Target="slide395.xml"/><Relationship Id="rId4" Type="http://schemas.openxmlformats.org/officeDocument/2006/relationships/slide" Target="slide473.xml"/><Relationship Id="rId5" Type="http://schemas.openxmlformats.org/officeDocument/2006/relationships/slide" Target="slide472.xml"/><Relationship Id="rId6" Type="http://schemas.openxmlformats.org/officeDocument/2006/relationships/slide" Target="slide390.xml"/><Relationship Id="rId7" Type="http://schemas.openxmlformats.org/officeDocument/2006/relationships/slide" Target="slide390.xml"/></Relationships>
</file>

<file path=ppt/slides/_rels/slide3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97.xml"/><Relationship Id="rId3" Type="http://schemas.openxmlformats.org/officeDocument/2006/relationships/image" Target="../media/image78.jpg"/><Relationship Id="rId4" Type="http://schemas.openxmlformats.org/officeDocument/2006/relationships/slide" Target="slide390.xml"/></Relationships>
</file>

<file path=ppt/slides/_rels/slide40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01.xml"/><Relationship Id="rId3" Type="http://schemas.openxmlformats.org/officeDocument/2006/relationships/image" Target="../media/image37.jpg"/><Relationship Id="rId4" Type="http://schemas.openxmlformats.org/officeDocument/2006/relationships/slide" Target="slide391.xml"/></Relationships>
</file>

<file path=ppt/slides/_rels/slide40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06.xml"/><Relationship Id="rId3" Type="http://schemas.openxmlformats.org/officeDocument/2006/relationships/slide" Target="slide391.xml"/><Relationship Id="rId4" Type="http://schemas.openxmlformats.org/officeDocument/2006/relationships/image" Target="../media/image88.jpg"/><Relationship Id="rId5" Type="http://schemas.openxmlformats.org/officeDocument/2006/relationships/slide" Target="slide394.xml"/></Relationships>
</file>

<file path=ppt/slides/_rels/slide40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08.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0.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2.xml"/><Relationship Id="rId3" Type="http://schemas.openxmlformats.org/officeDocument/2006/relationships/image" Target="../media/image35.png"/><Relationship Id="rId4" Type="http://schemas.openxmlformats.org/officeDocument/2006/relationships/slide" Target="slide391.xml"/><Relationship Id="rId5" Type="http://schemas.openxmlformats.org/officeDocument/2006/relationships/slide" Target="slide394.xml"/></Relationships>
</file>

<file path=ppt/slides/_rels/slide41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4.xml"/><Relationship Id="rId3" Type="http://schemas.openxmlformats.org/officeDocument/2006/relationships/image" Target="../media/image91.jpg"/><Relationship Id="rId4" Type="http://schemas.openxmlformats.org/officeDocument/2006/relationships/slide" Target="slide391.xml"/><Relationship Id="rId5" Type="http://schemas.openxmlformats.org/officeDocument/2006/relationships/slide" Target="slide394.xml"/></Relationships>
</file>

<file path=ppt/slides/_rels/slide41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6.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8.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2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0.xml"/><Relationship Id="rId3" Type="http://schemas.openxmlformats.org/officeDocument/2006/relationships/image" Target="../media/image81.png"/><Relationship Id="rId4" Type="http://schemas.openxmlformats.org/officeDocument/2006/relationships/slide" Target="slide391.xml"/><Relationship Id="rId5" Type="http://schemas.openxmlformats.org/officeDocument/2006/relationships/slide" Target="slide394.xml"/></Relationships>
</file>

<file path=ppt/slides/_rels/slide4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22.xml"/><Relationship Id="rId3" Type="http://schemas.openxmlformats.org/officeDocument/2006/relationships/slide" Target="slide392.xml"/></Relationships>
</file>

<file path=ppt/slides/_rels/slide42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4.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2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6.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2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8.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3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0.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3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2.xml"/><Relationship Id="rId3" Type="http://schemas.openxmlformats.org/officeDocument/2006/relationships/slide" Target="slide392.xml"/><Relationship Id="rId4" Type="http://schemas.openxmlformats.org/officeDocument/2006/relationships/slide" Target="slide395.xml"/></Relationships>
</file>

<file path=ppt/slides/_rels/slide4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34.xml"/><Relationship Id="rId3" Type="http://schemas.openxmlformats.org/officeDocument/2006/relationships/image" Target="../media/image31.jpg"/><Relationship Id="rId4" Type="http://schemas.openxmlformats.org/officeDocument/2006/relationships/slide" Target="slide392.xml"/></Relationships>
</file>

<file path=ppt/slides/_rels/slide43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6.xml"/><Relationship Id="rId3" Type="http://schemas.openxmlformats.org/officeDocument/2006/relationships/slide" Target="slide392.xml"/><Relationship Id="rId4" Type="http://schemas.openxmlformats.org/officeDocument/2006/relationships/slide" Target="slide395.xml"/><Relationship Id="rId5" Type="http://schemas.openxmlformats.org/officeDocument/2006/relationships/image" Target="../media/image41.jpg"/></Relationships>
</file>

<file path=ppt/slides/_rels/slide43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8.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4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40.xml"/><Relationship Id="rId3" Type="http://schemas.openxmlformats.org/officeDocument/2006/relationships/image" Target="../media/image93.jpg"/><Relationship Id="rId4" Type="http://schemas.openxmlformats.org/officeDocument/2006/relationships/slide" Target="slide393.xml"/></Relationships>
</file>

<file path=ppt/slides/_rels/slide44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43.xml"/><Relationship Id="rId3" Type="http://schemas.openxmlformats.org/officeDocument/2006/relationships/image" Target="../media/image83.jpg"/><Relationship Id="rId4" Type="http://schemas.openxmlformats.org/officeDocument/2006/relationships/slide" Target="slide393.xml"/><Relationship Id="rId5" Type="http://schemas.openxmlformats.org/officeDocument/2006/relationships/slide" Target="slide396.xml"/></Relationships>
</file>

<file path=ppt/slides/_rels/slide44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45.xml"/><Relationship Id="rId3" Type="http://schemas.openxmlformats.org/officeDocument/2006/relationships/image" Target="../media/image93.jpg"/><Relationship Id="rId4" Type="http://schemas.openxmlformats.org/officeDocument/2006/relationships/slide" Target="slide393.xml"/></Relationships>
</file>

<file path=ppt/slides/_rels/slide44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48.xml"/><Relationship Id="rId3" Type="http://schemas.openxmlformats.org/officeDocument/2006/relationships/slide" Target="slide393.xml"/><Relationship Id="rId4" Type="http://schemas.openxmlformats.org/officeDocument/2006/relationships/image" Target="../media/image83.jpg"/><Relationship Id="rId5" Type="http://schemas.openxmlformats.org/officeDocument/2006/relationships/slide" Target="slide396.xml"/></Relationships>
</file>

<file path=ppt/slides/_rels/slide45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1.xml"/><Relationship Id="rId3" Type="http://schemas.openxmlformats.org/officeDocument/2006/relationships/slide" Target="slide394.xml"/></Relationships>
</file>

<file path=ppt/slides/_rels/slide45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2.xml"/><Relationship Id="rId3" Type="http://schemas.openxmlformats.org/officeDocument/2006/relationships/slide" Target="slide394.xml"/></Relationships>
</file>

<file path=ppt/slides/_rels/slide45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3.xml"/><Relationship Id="rId3" Type="http://schemas.openxmlformats.org/officeDocument/2006/relationships/slide" Target="slide394.xml"/></Relationships>
</file>

<file path=ppt/slides/_rels/slide45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4.xml"/><Relationship Id="rId3" Type="http://schemas.openxmlformats.org/officeDocument/2006/relationships/slide" Target="slide394.xml"/></Relationships>
</file>

<file path=ppt/slides/_rels/slide45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5.xml"/><Relationship Id="rId3" Type="http://schemas.openxmlformats.org/officeDocument/2006/relationships/slide" Target="slide394.xml"/></Relationships>
</file>

<file path=ppt/slides/_rels/slide45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6.xml"/><Relationship Id="rId3" Type="http://schemas.openxmlformats.org/officeDocument/2006/relationships/slide" Target="slide394.xml"/></Relationships>
</file>

<file path=ppt/slides/_rels/slide45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7.xml"/><Relationship Id="rId3" Type="http://schemas.openxmlformats.org/officeDocument/2006/relationships/slide" Target="slide394.xml"/></Relationships>
</file>

<file path=ppt/slides/_rels/slide45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8.xml"/><Relationship Id="rId3" Type="http://schemas.openxmlformats.org/officeDocument/2006/relationships/slide" Target="slide394.xml"/></Relationships>
</file>

<file path=ppt/slides/_rels/slide45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9.xml"/><Relationship Id="rId3" Type="http://schemas.openxmlformats.org/officeDocument/2006/relationships/slide" Target="slide394.xml"/></Relationships>
</file>

<file path=ppt/slides/_rels/slide46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0.xml"/><Relationship Id="rId3" Type="http://schemas.openxmlformats.org/officeDocument/2006/relationships/slide" Target="slide394.xml"/></Relationships>
</file>

<file path=ppt/slides/_rels/slide46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1.xml"/><Relationship Id="rId3" Type="http://schemas.openxmlformats.org/officeDocument/2006/relationships/slide" Target="slide394.xml"/></Relationships>
</file>

<file path=ppt/slides/_rels/slide46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2.xml"/><Relationship Id="rId3" Type="http://schemas.openxmlformats.org/officeDocument/2006/relationships/slide" Target="slide394.xml"/></Relationships>
</file>

<file path=ppt/slides/_rels/slide46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3.xml"/><Relationship Id="rId3" Type="http://schemas.openxmlformats.org/officeDocument/2006/relationships/slide" Target="slide395.xml"/></Relationships>
</file>

<file path=ppt/slides/_rels/slide46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4.xml"/><Relationship Id="rId3" Type="http://schemas.openxmlformats.org/officeDocument/2006/relationships/slide" Target="slide395.xml"/></Relationships>
</file>

<file path=ppt/slides/_rels/slide46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5.xml"/><Relationship Id="rId3" Type="http://schemas.openxmlformats.org/officeDocument/2006/relationships/slide" Target="slide395.xml"/></Relationships>
</file>

<file path=ppt/slides/_rels/slide46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6.xml"/><Relationship Id="rId3" Type="http://schemas.openxmlformats.org/officeDocument/2006/relationships/slide" Target="slide395.xml"/></Relationships>
</file>

<file path=ppt/slides/_rels/slide46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7.xml"/><Relationship Id="rId3" Type="http://schemas.openxmlformats.org/officeDocument/2006/relationships/slide" Target="slide395.xml"/></Relationships>
</file>

<file path=ppt/slides/_rels/slide46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8.xml"/><Relationship Id="rId3" Type="http://schemas.openxmlformats.org/officeDocument/2006/relationships/slide" Target="slide395.xml"/></Relationships>
</file>

<file path=ppt/slides/_rels/slide46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9.xml"/><Relationship Id="rId3" Type="http://schemas.openxmlformats.org/officeDocument/2006/relationships/slide" Target="slide395.xml"/></Relationships>
</file>

<file path=ppt/slides/_rels/slide47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0.xml"/><Relationship Id="rId3" Type="http://schemas.openxmlformats.org/officeDocument/2006/relationships/slide" Target="slide395.xml"/></Relationships>
</file>

<file path=ppt/slides/_rels/slide47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1.xml"/><Relationship Id="rId3" Type="http://schemas.openxmlformats.org/officeDocument/2006/relationships/slide" Target="slide395.xml"/></Relationships>
</file>

<file path=ppt/slides/_rels/slide47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2.xml"/><Relationship Id="rId3" Type="http://schemas.openxmlformats.org/officeDocument/2006/relationships/slide" Target="slide396.xml"/></Relationships>
</file>

<file path=ppt/slides/_rels/slide47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3.xml"/><Relationship Id="rId3" Type="http://schemas.openxmlformats.org/officeDocument/2006/relationships/slide" Target="slide396.xml"/></Relationships>
</file>

<file path=ppt/slides/_rels/slide47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5.xml"/><Relationship Id="rId3" Type="http://schemas.openxmlformats.org/officeDocument/2006/relationships/slide" Target="slide10.xml"/><Relationship Id="rId4" Type="http://schemas.openxmlformats.org/officeDocument/2006/relationships/slide" Target="slide476.xml"/><Relationship Id="rId5" Type="http://schemas.openxmlformats.org/officeDocument/2006/relationships/slide" Target="slide476.xml"/><Relationship Id="rId6" Type="http://schemas.openxmlformats.org/officeDocument/2006/relationships/slide" Target="slide477.xml"/><Relationship Id="rId7" Type="http://schemas.openxmlformats.org/officeDocument/2006/relationships/slide" Target="slide482.xml"/><Relationship Id="rId8" Type="http://schemas.openxmlformats.org/officeDocument/2006/relationships/slide" Target="slide478.xml"/><Relationship Id="rId9" Type="http://schemas.openxmlformats.org/officeDocument/2006/relationships/slide" Target="slide477.xml"/><Relationship Id="rId10" Type="http://schemas.openxmlformats.org/officeDocument/2006/relationships/slide" Target="slide10.xml"/></Relationships>
</file>

<file path=ppt/slides/_rels/slide47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6.xml"/><Relationship Id="rId3" Type="http://schemas.openxmlformats.org/officeDocument/2006/relationships/slide" Target="slide475.xml"/><Relationship Id="rId4" Type="http://schemas.openxmlformats.org/officeDocument/2006/relationships/slide" Target="slide486.xml"/><Relationship Id="rId5" Type="http://schemas.openxmlformats.org/officeDocument/2006/relationships/slide" Target="slide489.xml"/><Relationship Id="rId6" Type="http://schemas.openxmlformats.org/officeDocument/2006/relationships/slide" Target="slide491.xml"/><Relationship Id="rId7" Type="http://schemas.openxmlformats.org/officeDocument/2006/relationships/slide" Target="slide493.xml"/><Relationship Id="rId8" Type="http://schemas.openxmlformats.org/officeDocument/2006/relationships/slide" Target="slide495.xml"/><Relationship Id="rId9" Type="http://schemas.openxmlformats.org/officeDocument/2006/relationships/slide" Target="slide478.xml"/><Relationship Id="rId10" Type="http://schemas.openxmlformats.org/officeDocument/2006/relationships/slide" Target="slide497.xml"/><Relationship Id="rId11" Type="http://schemas.openxmlformats.org/officeDocument/2006/relationships/slide" Target="slide499.xml"/><Relationship Id="rId12" Type="http://schemas.openxmlformats.org/officeDocument/2006/relationships/slide" Target="slide475.xml"/><Relationship Id="rId13" Type="http://schemas.openxmlformats.org/officeDocument/2006/relationships/slide" Target="slide501.xml"/><Relationship Id="rId14" Type="http://schemas.openxmlformats.org/officeDocument/2006/relationships/slide" Target="slide503.xml"/><Relationship Id="rId15" Type="http://schemas.openxmlformats.org/officeDocument/2006/relationships/slide" Target="slide505.xml"/><Relationship Id="rId16" Type="http://schemas.openxmlformats.org/officeDocument/2006/relationships/slide" Target="slide507.xml"/><Relationship Id="rId17" Type="http://schemas.openxmlformats.org/officeDocument/2006/relationships/slide" Target="slide509.xml"/><Relationship Id="rId18" Type="http://schemas.openxmlformats.org/officeDocument/2006/relationships/slide" Target="slide511.xml"/><Relationship Id="rId19" Type="http://schemas.openxmlformats.org/officeDocument/2006/relationships/slide" Target="slide475.xml"/></Relationships>
</file>

<file path=ppt/slides/_rels/slide47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7.xml"/><Relationship Id="rId3" Type="http://schemas.openxmlformats.org/officeDocument/2006/relationships/slide" Target="slide475.xml"/><Relationship Id="rId4" Type="http://schemas.openxmlformats.org/officeDocument/2006/relationships/slide" Target="slide513.xml"/><Relationship Id="rId5" Type="http://schemas.openxmlformats.org/officeDocument/2006/relationships/slide" Target="slide517.xml"/><Relationship Id="rId6" Type="http://schemas.openxmlformats.org/officeDocument/2006/relationships/slide" Target="slide519.xml"/><Relationship Id="rId7" Type="http://schemas.openxmlformats.org/officeDocument/2006/relationships/slide" Target="slide521.xml"/><Relationship Id="rId8" Type="http://schemas.openxmlformats.org/officeDocument/2006/relationships/slide" Target="slide523.xml"/><Relationship Id="rId9" Type="http://schemas.openxmlformats.org/officeDocument/2006/relationships/slide" Target="slide480.xml"/><Relationship Id="rId10" Type="http://schemas.openxmlformats.org/officeDocument/2006/relationships/slide" Target="slide475.xml"/><Relationship Id="rId11" Type="http://schemas.openxmlformats.org/officeDocument/2006/relationships/slide" Target="slide525.xml"/><Relationship Id="rId12" Type="http://schemas.openxmlformats.org/officeDocument/2006/relationships/slide" Target="slide528.xml"/><Relationship Id="rId13" Type="http://schemas.openxmlformats.org/officeDocument/2006/relationships/slide" Target="slide530.xml"/><Relationship Id="rId14" Type="http://schemas.openxmlformats.org/officeDocument/2006/relationships/slide" Target="slide532.xml"/><Relationship Id="rId15" Type="http://schemas.openxmlformats.org/officeDocument/2006/relationships/slide" Target="slide475.xml"/></Relationships>
</file>

<file path=ppt/slides/_rels/slide47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8.xml"/><Relationship Id="rId3" Type="http://schemas.openxmlformats.org/officeDocument/2006/relationships/slide" Target="slide543.xml"/><Relationship Id="rId4" Type="http://schemas.openxmlformats.org/officeDocument/2006/relationships/slide" Target="slide542.xml"/><Relationship Id="rId5" Type="http://schemas.openxmlformats.org/officeDocument/2006/relationships/slide" Target="slide544.xml"/><Relationship Id="rId6" Type="http://schemas.openxmlformats.org/officeDocument/2006/relationships/slide" Target="slide541.xml"/><Relationship Id="rId7" Type="http://schemas.openxmlformats.org/officeDocument/2006/relationships/slide" Target="slide540.xml"/><Relationship Id="rId8" Type="http://schemas.openxmlformats.org/officeDocument/2006/relationships/slide" Target="slide539.xml"/><Relationship Id="rId9" Type="http://schemas.openxmlformats.org/officeDocument/2006/relationships/slide" Target="slide538.xml"/><Relationship Id="rId10" Type="http://schemas.openxmlformats.org/officeDocument/2006/relationships/slide" Target="slide537.xml"/><Relationship Id="rId11" Type="http://schemas.openxmlformats.org/officeDocument/2006/relationships/slide" Target="slide536.xml"/><Relationship Id="rId12" Type="http://schemas.openxmlformats.org/officeDocument/2006/relationships/slide" Target="slide535.xml"/><Relationship Id="rId13" Type="http://schemas.openxmlformats.org/officeDocument/2006/relationships/slide" Target="slide476.xml"/><Relationship Id="rId14" Type="http://schemas.openxmlformats.org/officeDocument/2006/relationships/slide" Target="slide479.xml"/><Relationship Id="rId15" Type="http://schemas.openxmlformats.org/officeDocument/2006/relationships/slide" Target="slide475.xml"/></Relationships>
</file>

<file path=ppt/slides/_rels/slide47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9.xml"/><Relationship Id="rId3" Type="http://schemas.openxmlformats.org/officeDocument/2006/relationships/slide" Target="slide551.xml"/><Relationship Id="rId4" Type="http://schemas.openxmlformats.org/officeDocument/2006/relationships/slide" Target="slide550.xml"/><Relationship Id="rId5" Type="http://schemas.openxmlformats.org/officeDocument/2006/relationships/slide" Target="slide552.xml"/><Relationship Id="rId6" Type="http://schemas.openxmlformats.org/officeDocument/2006/relationships/slide" Target="slide549.xml"/><Relationship Id="rId7" Type="http://schemas.openxmlformats.org/officeDocument/2006/relationships/slide" Target="slide548.xml"/><Relationship Id="rId8" Type="http://schemas.openxmlformats.org/officeDocument/2006/relationships/slide" Target="slide547.xml"/><Relationship Id="rId9" Type="http://schemas.openxmlformats.org/officeDocument/2006/relationships/slide" Target="slide546.xml"/><Relationship Id="rId10" Type="http://schemas.openxmlformats.org/officeDocument/2006/relationships/slide" Target="slide545.xml"/><Relationship Id="rId11" Type="http://schemas.openxmlformats.org/officeDocument/2006/relationships/slide" Target="slide476.xml"/><Relationship Id="rId12" Type="http://schemas.openxmlformats.org/officeDocument/2006/relationships/slide" Target="slide480.xml"/><Relationship Id="rId13" Type="http://schemas.openxmlformats.org/officeDocument/2006/relationships/slide" Target="slide555.xml"/><Relationship Id="rId14" Type="http://schemas.openxmlformats.org/officeDocument/2006/relationships/slide" Target="slide553.xml"/><Relationship Id="rId15" Type="http://schemas.openxmlformats.org/officeDocument/2006/relationships/slide" Target="slide554.xml"/><Relationship Id="rId16" Type="http://schemas.openxmlformats.org/officeDocument/2006/relationships/slide" Target="slide556.xml"/><Relationship Id="rId17" Type="http://schemas.openxmlformats.org/officeDocument/2006/relationships/slide" Target="slide557.xml"/><Relationship Id="rId18" Type="http://schemas.openxmlformats.org/officeDocument/2006/relationships/slide" Target="slide478.xml"/><Relationship Id="rId19" Type="http://schemas.openxmlformats.org/officeDocument/2006/relationships/slide" Target="slide475.xml"/></Relationships>
</file>

<file path=ppt/slides/_rels/slide48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80.xml"/><Relationship Id="rId3" Type="http://schemas.openxmlformats.org/officeDocument/2006/relationships/slide" Target="slide565.xml"/><Relationship Id="rId4" Type="http://schemas.openxmlformats.org/officeDocument/2006/relationships/slide" Target="slide564.xml"/><Relationship Id="rId5" Type="http://schemas.openxmlformats.org/officeDocument/2006/relationships/slide" Target="slide563.xml"/><Relationship Id="rId6" Type="http://schemas.openxmlformats.org/officeDocument/2006/relationships/slide" Target="slide562.xml"/><Relationship Id="rId7" Type="http://schemas.openxmlformats.org/officeDocument/2006/relationships/slide" Target="slide560.xml"/><Relationship Id="rId8" Type="http://schemas.openxmlformats.org/officeDocument/2006/relationships/slide" Target="slide559.xml"/><Relationship Id="rId9" Type="http://schemas.openxmlformats.org/officeDocument/2006/relationships/slide" Target="slide558.xml"/><Relationship Id="rId10" Type="http://schemas.openxmlformats.org/officeDocument/2006/relationships/slide" Target="slide477.xml"/><Relationship Id="rId11" Type="http://schemas.openxmlformats.org/officeDocument/2006/relationships/slide" Target="slide481.xml"/><Relationship Id="rId12" Type="http://schemas.openxmlformats.org/officeDocument/2006/relationships/slide" Target="slide479.xml"/><Relationship Id="rId13" Type="http://schemas.openxmlformats.org/officeDocument/2006/relationships/slide" Target="slide566.xml"/><Relationship Id="rId14" Type="http://schemas.openxmlformats.org/officeDocument/2006/relationships/slide" Target="slide568.xml"/><Relationship Id="rId15" Type="http://schemas.openxmlformats.org/officeDocument/2006/relationships/slide" Target="slide570.xml"/><Relationship Id="rId16" Type="http://schemas.openxmlformats.org/officeDocument/2006/relationships/slide" Target="slide475.xml"/></Relationships>
</file>

<file path=ppt/slides/_rels/slide48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81.xml"/><Relationship Id="rId3" Type="http://schemas.openxmlformats.org/officeDocument/2006/relationships/slide" Target="slide573.xml"/><Relationship Id="rId4" Type="http://schemas.openxmlformats.org/officeDocument/2006/relationships/slide" Target="slide572.xml"/><Relationship Id="rId5" Type="http://schemas.openxmlformats.org/officeDocument/2006/relationships/slide" Target="slide571.xml"/><Relationship Id="rId6" Type="http://schemas.openxmlformats.org/officeDocument/2006/relationships/slide" Target="slide570.xml"/><Relationship Id="rId7" Type="http://schemas.openxmlformats.org/officeDocument/2006/relationships/slide" Target="slide477.xml"/><Relationship Id="rId8" Type="http://schemas.openxmlformats.org/officeDocument/2006/relationships/slide" Target="slide574.xml"/><Relationship Id="rId9" Type="http://schemas.openxmlformats.org/officeDocument/2006/relationships/slide" Target="slide480.xml"/><Relationship Id="rId10" Type="http://schemas.openxmlformats.org/officeDocument/2006/relationships/slide" Target="slide475.xml"/></Relationships>
</file>

<file path=ppt/slides/_rels/slide4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82.xml"/><Relationship Id="rId3" Type="http://schemas.openxmlformats.org/officeDocument/2006/relationships/image" Target="../media/image78.jpg"/><Relationship Id="rId4" Type="http://schemas.openxmlformats.org/officeDocument/2006/relationships/slide" Target="slide475.xml"/></Relationships>
</file>

<file path=ppt/slides/_rels/slide48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86.xml"/><Relationship Id="rId3" Type="http://schemas.openxmlformats.org/officeDocument/2006/relationships/image" Target="../media/image96.jpg"/><Relationship Id="rId4" Type="http://schemas.openxmlformats.org/officeDocument/2006/relationships/slide" Target="slide476.xml"/></Relationships>
</file>

<file path=ppt/slides/_rels/slide48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89.xml"/><Relationship Id="rId3" Type="http://schemas.openxmlformats.org/officeDocument/2006/relationships/slide" Target="slide476.xml"/></Relationships>
</file>

<file path=ppt/slides/_rels/slide49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1.xml"/><Relationship Id="rId3" Type="http://schemas.openxmlformats.org/officeDocument/2006/relationships/slide" Target="slide476.xml"/></Relationships>
</file>

<file path=ppt/slides/_rels/slide49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3.xml"/><Relationship Id="rId3" Type="http://schemas.openxmlformats.org/officeDocument/2006/relationships/slide" Target="slide476.xml"/></Relationships>
</file>

<file path=ppt/slides/_rels/slide49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5.xml"/><Relationship Id="rId3" Type="http://schemas.openxmlformats.org/officeDocument/2006/relationships/slide" Target="slide476.xml"/></Relationships>
</file>

<file path=ppt/slides/_rels/slide49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7.xml"/><Relationship Id="rId3" Type="http://schemas.openxmlformats.org/officeDocument/2006/relationships/slide" Target="slide476.xml"/></Relationships>
</file>

<file path=ppt/slides/_rels/slide49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9.xml"/><Relationship Id="rId3" Type="http://schemas.openxmlformats.org/officeDocument/2006/relationships/image" Target="../media/image95.jpg"/><Relationship Id="rId4" Type="http://schemas.openxmlformats.org/officeDocument/2006/relationships/slide" Target="slide476.xml"/></Relationships>
</file>

<file path=ppt/slides/_rels/slide5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01.xml"/><Relationship Id="rId3" Type="http://schemas.openxmlformats.org/officeDocument/2006/relationships/image" Target="../media/image31.jpg"/><Relationship Id="rId4" Type="http://schemas.openxmlformats.org/officeDocument/2006/relationships/slide" Target="slide476.xml"/></Relationships>
</file>

<file path=ppt/slides/_rels/slide50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3.xml"/><Relationship Id="rId3" Type="http://schemas.openxmlformats.org/officeDocument/2006/relationships/slide" Target="slide476.xml"/></Relationships>
</file>

<file path=ppt/slides/_rels/slide50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5.xml"/><Relationship Id="rId3" Type="http://schemas.openxmlformats.org/officeDocument/2006/relationships/slide" Target="slide476.xml"/></Relationships>
</file>

<file path=ppt/slides/_rels/slide50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7.xml"/><Relationship Id="rId3" Type="http://schemas.openxmlformats.org/officeDocument/2006/relationships/image" Target="../media/image103.png"/><Relationship Id="rId4" Type="http://schemas.openxmlformats.org/officeDocument/2006/relationships/slide" Target="slide476.xml"/></Relationships>
</file>

<file path=ppt/slides/_rels/slide50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9.xml"/><Relationship Id="rId3" Type="http://schemas.openxmlformats.org/officeDocument/2006/relationships/image" Target="../media/image101.jpg"/><Relationship Id="rId4" Type="http://schemas.openxmlformats.org/officeDocument/2006/relationships/slide" Target="slide476.xml"/></Relationships>
</file>

<file path=ppt/slides/_rels/slide51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11.xml"/><Relationship Id="rId3" Type="http://schemas.openxmlformats.org/officeDocument/2006/relationships/slide" Target="slide476.xml"/></Relationships>
</file>

<file path=ppt/slides/_rels/slide5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13.xml"/><Relationship Id="rId3" Type="http://schemas.openxmlformats.org/officeDocument/2006/relationships/image" Target="../media/image31.jpg"/><Relationship Id="rId4" Type="http://schemas.openxmlformats.org/officeDocument/2006/relationships/slide" Target="slide477.xml"/></Relationships>
</file>

<file path=ppt/slides/_rels/slide51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17.xml"/><Relationship Id="rId3" Type="http://schemas.openxmlformats.org/officeDocument/2006/relationships/image" Target="../media/image99.png"/><Relationship Id="rId4" Type="http://schemas.openxmlformats.org/officeDocument/2006/relationships/slide" Target="slide477.xml"/></Relationships>
</file>

<file path=ppt/slides/_rels/slide51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19.xml"/><Relationship Id="rId3" Type="http://schemas.openxmlformats.org/officeDocument/2006/relationships/image" Target="../media/image105.png"/><Relationship Id="rId4" Type="http://schemas.openxmlformats.org/officeDocument/2006/relationships/slide" Target="slide477.xml"/></Relationships>
</file>

<file path=ppt/slides/_rels/slide52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1.xml"/><Relationship Id="rId3" Type="http://schemas.openxmlformats.org/officeDocument/2006/relationships/image" Target="../media/image94.jpg"/><Relationship Id="rId4" Type="http://schemas.openxmlformats.org/officeDocument/2006/relationships/slide" Target="slide477.xml"/></Relationships>
</file>

<file path=ppt/slides/_rels/slide52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3.xml"/><Relationship Id="rId3" Type="http://schemas.openxmlformats.org/officeDocument/2006/relationships/image" Target="../media/image102.gif"/><Relationship Id="rId4" Type="http://schemas.openxmlformats.org/officeDocument/2006/relationships/image" Target="../media/image111.jpg"/><Relationship Id="rId5" Type="http://schemas.openxmlformats.org/officeDocument/2006/relationships/slide" Target="slide477.xml"/></Relationships>
</file>

<file path=ppt/slides/_rels/slide5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25.xml"/><Relationship Id="rId3" Type="http://schemas.openxmlformats.org/officeDocument/2006/relationships/image" Target="../media/image97.png"/><Relationship Id="rId4" Type="http://schemas.openxmlformats.org/officeDocument/2006/relationships/slide" Target="slide477.xml"/></Relationships>
</file>

<file path=ppt/slides/_rels/slide52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8.xml"/><Relationship Id="rId3" Type="http://schemas.openxmlformats.org/officeDocument/2006/relationships/image" Target="../media/image103.png"/><Relationship Id="rId4" Type="http://schemas.openxmlformats.org/officeDocument/2006/relationships/slide" Target="slide477.xml"/></Relationships>
</file>

<file path=ppt/slides/_rels/slide53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30.xml"/><Relationship Id="rId3" Type="http://schemas.openxmlformats.org/officeDocument/2006/relationships/slide" Target="slide477.xml"/></Relationships>
</file>

<file path=ppt/slides/_rels/slide53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32.xml"/><Relationship Id="rId3" Type="http://schemas.openxmlformats.org/officeDocument/2006/relationships/image" Target="../media/image103.png"/><Relationship Id="rId4" Type="http://schemas.openxmlformats.org/officeDocument/2006/relationships/slide" Target="slide477.xml"/></Relationships>
</file>

<file path=ppt/slides/_rels/slide53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5.xml"/><Relationship Id="rId3" Type="http://schemas.openxmlformats.org/officeDocument/2006/relationships/slide" Target="slide478.xml"/></Relationships>
</file>

<file path=ppt/slides/_rels/slide53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6.xml"/><Relationship Id="rId3" Type="http://schemas.openxmlformats.org/officeDocument/2006/relationships/slide" Target="slide478.xml"/></Relationships>
</file>

<file path=ppt/slides/_rels/slide53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7.xml"/><Relationship Id="rId3" Type="http://schemas.openxmlformats.org/officeDocument/2006/relationships/slide" Target="slide478.xml"/></Relationships>
</file>

<file path=ppt/slides/_rels/slide53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8.xml"/><Relationship Id="rId3" Type="http://schemas.openxmlformats.org/officeDocument/2006/relationships/slide" Target="slide478.xml"/></Relationships>
</file>

<file path=ppt/slides/_rels/slide53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9.xml"/><Relationship Id="rId3" Type="http://schemas.openxmlformats.org/officeDocument/2006/relationships/slide" Target="slide478.xml"/></Relationships>
</file>

<file path=ppt/slides/_rels/slide54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0.xml"/><Relationship Id="rId3" Type="http://schemas.openxmlformats.org/officeDocument/2006/relationships/slide" Target="slide478.xml"/></Relationships>
</file>

<file path=ppt/slides/_rels/slide54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1.xml"/><Relationship Id="rId3" Type="http://schemas.openxmlformats.org/officeDocument/2006/relationships/slide" Target="slide478.xml"/></Relationships>
</file>

<file path=ppt/slides/_rels/slide54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2.xml"/><Relationship Id="rId3" Type="http://schemas.openxmlformats.org/officeDocument/2006/relationships/slide" Target="slide478.xml"/></Relationships>
</file>

<file path=ppt/slides/_rels/slide54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3.xml"/><Relationship Id="rId3" Type="http://schemas.openxmlformats.org/officeDocument/2006/relationships/slide" Target="slide478.xml"/></Relationships>
</file>

<file path=ppt/slides/_rels/slide54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4.xml"/><Relationship Id="rId3" Type="http://schemas.openxmlformats.org/officeDocument/2006/relationships/slide" Target="slide478.xml"/></Relationships>
</file>

<file path=ppt/slides/_rels/slide54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5.xml"/><Relationship Id="rId3" Type="http://schemas.openxmlformats.org/officeDocument/2006/relationships/slide" Target="slide479.xml"/></Relationships>
</file>

<file path=ppt/slides/_rels/slide54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6.xml"/><Relationship Id="rId3" Type="http://schemas.openxmlformats.org/officeDocument/2006/relationships/slide" Target="slide479.xml"/></Relationships>
</file>

<file path=ppt/slides/_rels/slide54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7.xml"/><Relationship Id="rId3" Type="http://schemas.openxmlformats.org/officeDocument/2006/relationships/slide" Target="slide479.xml"/></Relationships>
</file>

<file path=ppt/slides/_rels/slide54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8.xml"/><Relationship Id="rId3" Type="http://schemas.openxmlformats.org/officeDocument/2006/relationships/slide" Target="slide479.xml"/></Relationships>
</file>

<file path=ppt/slides/_rels/slide54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9.xml"/><Relationship Id="rId3" Type="http://schemas.openxmlformats.org/officeDocument/2006/relationships/slide" Target="slide479.xml"/></Relationships>
</file>

<file path=ppt/slides/_rels/slide55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0.xml"/><Relationship Id="rId3" Type="http://schemas.openxmlformats.org/officeDocument/2006/relationships/slide" Target="slide479.xml"/></Relationships>
</file>

<file path=ppt/slides/_rels/slide55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1.xml"/><Relationship Id="rId3" Type="http://schemas.openxmlformats.org/officeDocument/2006/relationships/slide" Target="slide479.xml"/></Relationships>
</file>

<file path=ppt/slides/_rels/slide55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2.xml"/><Relationship Id="rId3" Type="http://schemas.openxmlformats.org/officeDocument/2006/relationships/slide" Target="slide479.xml"/></Relationships>
</file>

<file path=ppt/slides/_rels/slide55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3.xml"/><Relationship Id="rId3" Type="http://schemas.openxmlformats.org/officeDocument/2006/relationships/slide" Target="slide479.xml"/></Relationships>
</file>

<file path=ppt/slides/_rels/slide55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4.xml"/><Relationship Id="rId3" Type="http://schemas.openxmlformats.org/officeDocument/2006/relationships/slide" Target="slide479.xml"/></Relationships>
</file>

<file path=ppt/slides/_rels/slide55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5.xml"/><Relationship Id="rId3" Type="http://schemas.openxmlformats.org/officeDocument/2006/relationships/slide" Target="slide479.xml"/></Relationships>
</file>

<file path=ppt/slides/_rels/slide55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6.xml"/><Relationship Id="rId3" Type="http://schemas.openxmlformats.org/officeDocument/2006/relationships/slide" Target="slide479.xml"/></Relationships>
</file>

<file path=ppt/slides/_rels/slide55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7.xml"/><Relationship Id="rId3" Type="http://schemas.openxmlformats.org/officeDocument/2006/relationships/slide" Target="slide479.xml"/></Relationships>
</file>

<file path=ppt/slides/_rels/slide55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8.xml"/><Relationship Id="rId3" Type="http://schemas.openxmlformats.org/officeDocument/2006/relationships/slide" Target="slide480.xml"/></Relationships>
</file>

<file path=ppt/slides/_rels/slide55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9.xml"/><Relationship Id="rId3" Type="http://schemas.openxmlformats.org/officeDocument/2006/relationships/slide" Target="slide480.xml"/></Relationships>
</file>

<file path=ppt/slides/_rels/slide56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0.xml"/><Relationship Id="rId3" Type="http://schemas.openxmlformats.org/officeDocument/2006/relationships/slide" Target="slide480.xml"/></Relationships>
</file>

<file path=ppt/slides/_rels/slide56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2.xml"/><Relationship Id="rId3" Type="http://schemas.openxmlformats.org/officeDocument/2006/relationships/slide" Target="slide480.xml"/></Relationships>
</file>

<file path=ppt/slides/_rels/slide56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3.xml"/><Relationship Id="rId3" Type="http://schemas.openxmlformats.org/officeDocument/2006/relationships/slide" Target="slide480.xml"/></Relationships>
</file>

<file path=ppt/slides/_rels/slide56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4.xml"/><Relationship Id="rId3" Type="http://schemas.openxmlformats.org/officeDocument/2006/relationships/slide" Target="slide480.xml"/></Relationships>
</file>

<file path=ppt/slides/_rels/slide56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5.xml"/><Relationship Id="rId3" Type="http://schemas.openxmlformats.org/officeDocument/2006/relationships/slide" Target="slide480.xml"/></Relationships>
</file>

<file path=ppt/slides/_rels/slide56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6.xml"/><Relationship Id="rId3" Type="http://schemas.openxmlformats.org/officeDocument/2006/relationships/slide" Target="slide480.xml"/></Relationships>
</file>

<file path=ppt/slides/_rels/slide56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8.xml"/><Relationship Id="rId3" Type="http://schemas.openxmlformats.org/officeDocument/2006/relationships/slide" Target="slide480.xml"/></Relationships>
</file>

<file path=ppt/slides/_rels/slide57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0.xml"/><Relationship Id="rId3" Type="http://schemas.openxmlformats.org/officeDocument/2006/relationships/slide" Target="slide481.xml"/></Relationships>
</file>

<file path=ppt/slides/_rels/slide57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1.xml"/><Relationship Id="rId3" Type="http://schemas.openxmlformats.org/officeDocument/2006/relationships/slide" Target="slide481.xml"/></Relationships>
</file>

<file path=ppt/slides/_rels/slide57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2.xml"/><Relationship Id="rId3" Type="http://schemas.openxmlformats.org/officeDocument/2006/relationships/slide" Target="slide481.xml"/></Relationships>
</file>

<file path=ppt/slides/_rels/slide57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3.xml"/><Relationship Id="rId3" Type="http://schemas.openxmlformats.org/officeDocument/2006/relationships/slide" Target="slide481.xml"/></Relationships>
</file>

<file path=ppt/slides/_rels/slide57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4.xml"/><Relationship Id="rId3" Type="http://schemas.openxmlformats.org/officeDocument/2006/relationships/slide" Target="slide481.xml"/></Relationships>
</file>

<file path=ppt/slides/_rels/slide57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5.xml"/><Relationship Id="rId3" Type="http://schemas.openxmlformats.org/officeDocument/2006/relationships/slide" Target="slide10.xml"/><Relationship Id="rId4" Type="http://schemas.openxmlformats.org/officeDocument/2006/relationships/slide" Target="slide576.xml"/><Relationship Id="rId5" Type="http://schemas.openxmlformats.org/officeDocument/2006/relationships/slide" Target="slide329.xml"/><Relationship Id="rId6" Type="http://schemas.openxmlformats.org/officeDocument/2006/relationships/slide" Target="slide577.xml"/><Relationship Id="rId7" Type="http://schemas.openxmlformats.org/officeDocument/2006/relationships/slide" Target="slide576.xml"/><Relationship Id="rId8" Type="http://schemas.openxmlformats.org/officeDocument/2006/relationships/slide" Target="slide10.xml"/></Relationships>
</file>

<file path=ppt/slides/_rels/slide57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6.xml"/><Relationship Id="rId3" Type="http://schemas.openxmlformats.org/officeDocument/2006/relationships/slide" Target="slide575.xml"/><Relationship Id="rId4" Type="http://schemas.openxmlformats.org/officeDocument/2006/relationships/slide" Target="slide583.xml"/><Relationship Id="rId5" Type="http://schemas.openxmlformats.org/officeDocument/2006/relationships/slide" Target="slide586.xml"/><Relationship Id="rId6" Type="http://schemas.openxmlformats.org/officeDocument/2006/relationships/slide" Target="slide588.xml"/><Relationship Id="rId7" Type="http://schemas.openxmlformats.org/officeDocument/2006/relationships/slide" Target="slide590.xml"/><Relationship Id="rId8" Type="http://schemas.openxmlformats.org/officeDocument/2006/relationships/slide" Target="slide592.xml"/><Relationship Id="rId9" Type="http://schemas.openxmlformats.org/officeDocument/2006/relationships/slide" Target="slide577.xml"/><Relationship Id="rId10" Type="http://schemas.openxmlformats.org/officeDocument/2006/relationships/slide" Target="slide575.xml"/><Relationship Id="rId11" Type="http://schemas.openxmlformats.org/officeDocument/2006/relationships/slide" Target="slide594.xml"/><Relationship Id="rId12" Type="http://schemas.openxmlformats.org/officeDocument/2006/relationships/slide" Target="slide596.xml"/><Relationship Id="rId13" Type="http://schemas.openxmlformats.org/officeDocument/2006/relationships/slide" Target="slide598.xml"/><Relationship Id="rId14" Type="http://schemas.openxmlformats.org/officeDocument/2006/relationships/slide" Target="slide600.xml"/><Relationship Id="rId15" Type="http://schemas.openxmlformats.org/officeDocument/2006/relationships/slide" Target="slide602.xml"/><Relationship Id="rId16" Type="http://schemas.openxmlformats.org/officeDocument/2006/relationships/slide" Target="slide575.xml"/></Relationships>
</file>

<file path=ppt/slides/_rels/slide57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7.xml"/><Relationship Id="rId3" Type="http://schemas.openxmlformats.org/officeDocument/2006/relationships/slide" Target="slide614.xml"/><Relationship Id="rId4" Type="http://schemas.openxmlformats.org/officeDocument/2006/relationships/slide" Target="slide613.xml"/><Relationship Id="rId5" Type="http://schemas.openxmlformats.org/officeDocument/2006/relationships/slide" Target="slide615.xml"/><Relationship Id="rId6" Type="http://schemas.openxmlformats.org/officeDocument/2006/relationships/slide" Target="slide611.xml"/><Relationship Id="rId7" Type="http://schemas.openxmlformats.org/officeDocument/2006/relationships/slide" Target="slide610.xml"/><Relationship Id="rId8" Type="http://schemas.openxmlformats.org/officeDocument/2006/relationships/slide" Target="slide609.xml"/><Relationship Id="rId9" Type="http://schemas.openxmlformats.org/officeDocument/2006/relationships/slide" Target="slide608.xml"/><Relationship Id="rId10" Type="http://schemas.openxmlformats.org/officeDocument/2006/relationships/slide" Target="slide607.xml"/><Relationship Id="rId11" Type="http://schemas.openxmlformats.org/officeDocument/2006/relationships/slide" Target="slide606.xml"/><Relationship Id="rId12" Type="http://schemas.openxmlformats.org/officeDocument/2006/relationships/slide" Target="slide605.xml"/><Relationship Id="rId13" Type="http://schemas.openxmlformats.org/officeDocument/2006/relationships/slide" Target="slide184.xml"/><Relationship Id="rId14" Type="http://schemas.openxmlformats.org/officeDocument/2006/relationships/slide" Target="slide578.xml"/><Relationship Id="rId15" Type="http://schemas.openxmlformats.org/officeDocument/2006/relationships/slide" Target="slide575.xml"/></Relationships>
</file>

<file path=ppt/slides/_rels/slide57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8.xml"/><Relationship Id="rId3" Type="http://schemas.openxmlformats.org/officeDocument/2006/relationships/slide" Target="slide619.xml"/><Relationship Id="rId4" Type="http://schemas.openxmlformats.org/officeDocument/2006/relationships/slide" Target="slide618.xml"/><Relationship Id="rId5" Type="http://schemas.openxmlformats.org/officeDocument/2006/relationships/slide" Target="slide617.xml"/><Relationship Id="rId6" Type="http://schemas.openxmlformats.org/officeDocument/2006/relationships/slide" Target="slide616.xml"/><Relationship Id="rId7" Type="http://schemas.openxmlformats.org/officeDocument/2006/relationships/slide" Target="slide184.xml"/><Relationship Id="rId8" Type="http://schemas.openxmlformats.org/officeDocument/2006/relationships/slide" Target="slide577.xml"/><Relationship Id="rId9" Type="http://schemas.openxmlformats.org/officeDocument/2006/relationships/slide" Target="slide575.xml"/></Relationships>
</file>

<file path=ppt/slides/_rels/slide58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83.xml"/><Relationship Id="rId3" Type="http://schemas.openxmlformats.org/officeDocument/2006/relationships/image" Target="../media/image37.jpg"/><Relationship Id="rId4" Type="http://schemas.openxmlformats.org/officeDocument/2006/relationships/slide" Target="slide576.xml"/></Relationships>
</file>

<file path=ppt/slides/_rels/slide58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86.xml"/><Relationship Id="rId3" Type="http://schemas.openxmlformats.org/officeDocument/2006/relationships/slide" Target="slide576.xml"/><Relationship Id="rId4" Type="http://schemas.openxmlformats.org/officeDocument/2006/relationships/slide" Target="slide577.xml"/></Relationships>
</file>

<file path=ppt/slides/_rels/slide58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88.xml"/><Relationship Id="rId3" Type="http://schemas.openxmlformats.org/officeDocument/2006/relationships/image" Target="../media/image112.jpg"/><Relationship Id="rId4" Type="http://schemas.openxmlformats.org/officeDocument/2006/relationships/slide" Target="slide576.xml"/><Relationship Id="rId5" Type="http://schemas.openxmlformats.org/officeDocument/2006/relationships/slide" Target="slide577.xml"/></Relationships>
</file>

<file path=ppt/slides/_rels/slide59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0.xml"/><Relationship Id="rId3" Type="http://schemas.openxmlformats.org/officeDocument/2006/relationships/slide" Target="slide576.xml"/><Relationship Id="rId4" Type="http://schemas.openxmlformats.org/officeDocument/2006/relationships/slide" Target="slide577.xml"/></Relationships>
</file>

<file path=ppt/slides/_rels/slide59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2.xml"/><Relationship Id="rId3" Type="http://schemas.openxmlformats.org/officeDocument/2006/relationships/slide" Target="slide576.xml"/><Relationship Id="rId4" Type="http://schemas.openxmlformats.org/officeDocument/2006/relationships/slide" Target="slide577.xml"/></Relationships>
</file>

<file path=ppt/slides/_rels/slide5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94.xml"/><Relationship Id="rId3" Type="http://schemas.openxmlformats.org/officeDocument/2006/relationships/image" Target="../media/image31.jpg"/><Relationship Id="rId4" Type="http://schemas.openxmlformats.org/officeDocument/2006/relationships/slide" Target="slide576.xml"/></Relationships>
</file>

<file path=ppt/slides/_rels/slide59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6.xml"/><Relationship Id="rId3" Type="http://schemas.openxmlformats.org/officeDocument/2006/relationships/slide" Target="slide576.xml"/><Relationship Id="rId4" Type="http://schemas.openxmlformats.org/officeDocument/2006/relationships/slide" Target="slide578.xml"/></Relationships>
</file>

<file path=ppt/slides/_rels/slide59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8.xml"/><Relationship Id="rId3" Type="http://schemas.openxmlformats.org/officeDocument/2006/relationships/slide" Target="slide576.xml"/><Relationship Id="rId4" Type="http://schemas.openxmlformats.org/officeDocument/2006/relationships/slide" Target="slide578.xml"/></Relationships>
</file>

<file path=ppt/slides/_rels/slide60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00.xml"/><Relationship Id="rId3" Type="http://schemas.openxmlformats.org/officeDocument/2006/relationships/slide" Target="slide576.xml"/><Relationship Id="rId4" Type="http://schemas.openxmlformats.org/officeDocument/2006/relationships/slide" Target="slide578.xml"/></Relationships>
</file>

<file path=ppt/slides/_rels/slide60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02.xml"/><Relationship Id="rId3" Type="http://schemas.openxmlformats.org/officeDocument/2006/relationships/slide" Target="slide576.xml"/><Relationship Id="rId4" Type="http://schemas.openxmlformats.org/officeDocument/2006/relationships/slide" Target="slide578.xml"/></Relationships>
</file>

<file path=ppt/slides/_rels/slide60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5.xml"/><Relationship Id="rId3" Type="http://schemas.openxmlformats.org/officeDocument/2006/relationships/slide" Target="slide577.xml"/></Relationships>
</file>

<file path=ppt/slides/_rels/slide60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6.xml"/><Relationship Id="rId3" Type="http://schemas.openxmlformats.org/officeDocument/2006/relationships/slide" Target="slide577.xml"/></Relationships>
</file>

<file path=ppt/slides/_rels/slide60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7.xml"/><Relationship Id="rId3" Type="http://schemas.openxmlformats.org/officeDocument/2006/relationships/slide" Target="slide577.xml"/></Relationships>
</file>

<file path=ppt/slides/_rels/slide60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8.xml"/><Relationship Id="rId3" Type="http://schemas.openxmlformats.org/officeDocument/2006/relationships/slide" Target="slide577.xml"/></Relationships>
</file>

<file path=ppt/slides/_rels/slide60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9.xml"/><Relationship Id="rId3" Type="http://schemas.openxmlformats.org/officeDocument/2006/relationships/slide" Target="slide577.xml"/></Relationships>
</file>

<file path=ppt/slides/_rels/slide61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0.xml"/><Relationship Id="rId3" Type="http://schemas.openxmlformats.org/officeDocument/2006/relationships/slide" Target="slide577.xml"/></Relationships>
</file>

<file path=ppt/slides/_rels/slide61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1.xml"/></Relationships>
</file>

<file path=ppt/slides/_rels/slide61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3.xml"/><Relationship Id="rId3" Type="http://schemas.openxmlformats.org/officeDocument/2006/relationships/slide" Target="slide577.xml"/></Relationships>
</file>

<file path=ppt/slides/_rels/slide6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4.xml"/><Relationship Id="rId3" Type="http://schemas.openxmlformats.org/officeDocument/2006/relationships/slide" Target="slide577.xml"/></Relationships>
</file>

<file path=ppt/slides/_rels/slide6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5.xml"/><Relationship Id="rId3" Type="http://schemas.openxmlformats.org/officeDocument/2006/relationships/slide" Target="slide577.xml"/></Relationships>
</file>

<file path=ppt/slides/_rels/slide61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6.xml"/><Relationship Id="rId3" Type="http://schemas.openxmlformats.org/officeDocument/2006/relationships/slide" Target="slide578.xml"/></Relationships>
</file>

<file path=ppt/slides/_rels/slide6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7.xml"/><Relationship Id="rId3" Type="http://schemas.openxmlformats.org/officeDocument/2006/relationships/slide" Target="slide578.xml"/></Relationships>
</file>

<file path=ppt/slides/_rels/slide6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8.xml"/><Relationship Id="rId3" Type="http://schemas.openxmlformats.org/officeDocument/2006/relationships/slide" Target="slide578.xml"/></Relationships>
</file>

<file path=ppt/slides/_rels/slide61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9.xml"/><Relationship Id="rId3" Type="http://schemas.openxmlformats.org/officeDocument/2006/relationships/slide" Target="slide578.xml"/></Relationships>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8" name="Shape 288"/>
        <p:cNvGrpSpPr/>
        <p:nvPr/>
      </p:nvGrpSpPr>
      <p:grpSpPr>
        <a:xfrm>
          <a:off x="0" y="0"/>
          <a:ext cx="0" cy="0"/>
          <a:chOff x="0" y="0"/>
          <a:chExt cx="0" cy="0"/>
        </a:xfrm>
      </p:grpSpPr>
      <p:sp>
        <p:nvSpPr>
          <p:cNvPr id="289" name="Google Shape;289;p40"/>
          <p:cNvSpPr/>
          <p:nvPr/>
        </p:nvSpPr>
        <p:spPr>
          <a:xfrm>
            <a:off x="459950" y="3782483"/>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0" name="Google Shape;290;p40">
            <a:hlinkClick action="ppaction://hlinksldjump" r:id="rId3"/>
          </p:cNvPr>
          <p:cNvSpPr/>
          <p:nvPr/>
        </p:nvSpPr>
        <p:spPr>
          <a:xfrm>
            <a:off x="578169" y="3903881"/>
            <a:ext cx="7997739" cy="378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Sources</a:t>
            </a:r>
            <a:endParaRPr sz="1200">
              <a:solidFill>
                <a:srgbClr val="FFFFFF"/>
              </a:solidFill>
              <a:latin typeface="Century Gothic"/>
              <a:ea typeface="Century Gothic"/>
              <a:cs typeface="Century Gothic"/>
              <a:sym typeface="Century Gothic"/>
            </a:endParaRPr>
          </a:p>
        </p:txBody>
      </p:sp>
      <p:sp>
        <p:nvSpPr>
          <p:cNvPr id="291" name="Google Shape;291;p40"/>
          <p:cNvSpPr/>
          <p:nvPr/>
        </p:nvSpPr>
        <p:spPr>
          <a:xfrm>
            <a:off x="459950" y="3073400"/>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2" name="Google Shape;292;p40">
            <a:hlinkClick action="ppaction://hlinksldjump" r:id="rId4"/>
          </p:cNvPr>
          <p:cNvSpPr/>
          <p:nvPr/>
        </p:nvSpPr>
        <p:spPr>
          <a:xfrm>
            <a:off x="578168" y="3186991"/>
            <a:ext cx="7997739" cy="36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Analytic Infrastructure</a:t>
            </a:r>
            <a:endParaRPr sz="1200">
              <a:solidFill>
                <a:srgbClr val="FFFFFF"/>
              </a:solidFill>
              <a:latin typeface="Century Gothic"/>
              <a:ea typeface="Century Gothic"/>
              <a:cs typeface="Century Gothic"/>
              <a:sym typeface="Century Gothic"/>
            </a:endParaRPr>
          </a:p>
        </p:txBody>
      </p:sp>
      <p:sp>
        <p:nvSpPr>
          <p:cNvPr id="293" name="Google Shape;293;p40"/>
          <p:cNvSpPr/>
          <p:nvPr/>
        </p:nvSpPr>
        <p:spPr>
          <a:xfrm>
            <a:off x="459950" y="1189567"/>
            <a:ext cx="8223249" cy="1767416"/>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4" name="Google Shape;294;p40">
            <a:hlinkClick action="ppaction://hlinksldjump" r:id="rId5"/>
          </p:cNvPr>
          <p:cNvSpPr/>
          <p:nvPr/>
        </p:nvSpPr>
        <p:spPr>
          <a:xfrm>
            <a:off x="5965910"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Product Management</a:t>
            </a:r>
            <a:endParaRPr sz="1200">
              <a:solidFill>
                <a:srgbClr val="FFFFFF"/>
              </a:solidFill>
              <a:latin typeface="Century Gothic"/>
              <a:ea typeface="Century Gothic"/>
              <a:cs typeface="Century Gothic"/>
              <a:sym typeface="Century Gothic"/>
            </a:endParaRPr>
          </a:p>
        </p:txBody>
      </p:sp>
      <p:sp>
        <p:nvSpPr>
          <p:cNvPr id="295" name="Google Shape;295;p40">
            <a:hlinkClick action="ppaction://hlinksldjump" r:id="rId6"/>
          </p:cNvPr>
          <p:cNvSpPr/>
          <p:nvPr/>
        </p:nvSpPr>
        <p:spPr>
          <a:xfrm>
            <a:off x="3265906"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Finance &amp; Performance Management</a:t>
            </a:r>
            <a:endParaRPr sz="1200">
              <a:solidFill>
                <a:srgbClr val="FFFFFF"/>
              </a:solidFill>
              <a:latin typeface="Century Gothic"/>
              <a:ea typeface="Century Gothic"/>
              <a:cs typeface="Century Gothic"/>
              <a:sym typeface="Century Gothic"/>
            </a:endParaRPr>
          </a:p>
        </p:txBody>
      </p:sp>
      <p:sp>
        <p:nvSpPr>
          <p:cNvPr id="296" name="Google Shape;296;p40">
            <a:hlinkClick action="ppaction://hlinksldjump" r:id="rId7"/>
          </p:cNvPr>
          <p:cNvSpPr/>
          <p:nvPr/>
        </p:nvSpPr>
        <p:spPr>
          <a:xfrm>
            <a:off x="565901"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Security &amp; Fraud</a:t>
            </a:r>
            <a:endParaRPr sz="1200">
              <a:solidFill>
                <a:srgbClr val="FFFFFF"/>
              </a:solidFill>
              <a:latin typeface="Century Gothic"/>
              <a:ea typeface="Century Gothic"/>
              <a:cs typeface="Century Gothic"/>
              <a:sym typeface="Century Gothic"/>
            </a:endParaRPr>
          </a:p>
        </p:txBody>
      </p:sp>
      <p:sp>
        <p:nvSpPr>
          <p:cNvPr id="297" name="Google Shape;297;p40">
            <a:hlinkClick action="ppaction://hlinksldjump" r:id="rId8"/>
          </p:cNvPr>
          <p:cNvSpPr/>
          <p:nvPr/>
        </p:nvSpPr>
        <p:spPr>
          <a:xfrm>
            <a:off x="5965910"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Legal &amp; Regulatory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Compliance</a:t>
            </a:r>
            <a:endParaRPr sz="900">
              <a:solidFill>
                <a:srgbClr val="FFFFFF"/>
              </a:solidFill>
              <a:latin typeface="Century Gothic"/>
              <a:ea typeface="Century Gothic"/>
              <a:cs typeface="Century Gothic"/>
              <a:sym typeface="Century Gothic"/>
            </a:endParaRPr>
          </a:p>
        </p:txBody>
      </p:sp>
      <p:sp>
        <p:nvSpPr>
          <p:cNvPr id="298" name="Google Shape;298;p40">
            <a:hlinkClick action="ppaction://hlinksldjump" r:id="rId9"/>
          </p:cNvPr>
          <p:cNvSpPr/>
          <p:nvPr/>
        </p:nvSpPr>
        <p:spPr>
          <a:xfrm>
            <a:off x="3265906"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Risk Management &amp;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Mitigation</a:t>
            </a:r>
            <a:endParaRPr sz="1200">
              <a:solidFill>
                <a:srgbClr val="FFFFFF"/>
              </a:solidFill>
              <a:latin typeface="Century Gothic"/>
              <a:ea typeface="Century Gothic"/>
              <a:cs typeface="Century Gothic"/>
              <a:sym typeface="Century Gothic"/>
            </a:endParaRPr>
          </a:p>
        </p:txBody>
      </p:sp>
      <p:sp>
        <p:nvSpPr>
          <p:cNvPr id="299" name="Google Shape;299;p40">
            <a:hlinkClick action="ppaction://hlinksldjump" r:id="rId10"/>
          </p:cNvPr>
          <p:cNvSpPr/>
          <p:nvPr/>
        </p:nvSpPr>
        <p:spPr>
          <a:xfrm>
            <a:off x="565901"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Marketing &amp; Customer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Experience</a:t>
            </a:r>
            <a:endParaRPr sz="1200">
              <a:solidFill>
                <a:srgbClr val="FFFFFF"/>
              </a:solidFill>
              <a:latin typeface="Century Gothic"/>
              <a:ea typeface="Century Gothic"/>
              <a:cs typeface="Century Gothic"/>
              <a:sym typeface="Century Gothic"/>
            </a:endParaRPr>
          </a:p>
        </p:txBody>
      </p:sp>
      <p:sp>
        <p:nvSpPr>
          <p:cNvPr id="300" name="Google Shape;300;p40"/>
          <p:cNvSpPr txBox="1"/>
          <p:nvPr/>
        </p:nvSpPr>
        <p:spPr>
          <a:xfrm rot="-5400000">
            <a:off x="-543318" y="1965128"/>
            <a:ext cx="1773574" cy="225062"/>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chemeClr val="dk1"/>
                </a:solidFill>
                <a:latin typeface="Century Gothic"/>
                <a:ea typeface="Century Gothic"/>
                <a:cs typeface="Century Gothic"/>
                <a:sym typeface="Century Gothic"/>
              </a:rPr>
              <a:t>Business Functions</a:t>
            </a:r>
            <a:endParaRPr sz="900">
              <a:solidFill>
                <a:schemeClr val="dk1"/>
              </a:solidFill>
              <a:latin typeface="Century Gothic"/>
              <a:ea typeface="Century Gothic"/>
              <a:cs typeface="Century Gothic"/>
              <a:sym typeface="Century Gothic"/>
            </a:endParaRPr>
          </a:p>
        </p:txBody>
      </p:sp>
      <p:sp>
        <p:nvSpPr>
          <p:cNvPr id="301" name="Google Shape;301;p4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driving value across the organisation</a:t>
            </a:r>
            <a:endParaRPr sz="1600"/>
          </a:p>
        </p:txBody>
      </p:sp>
      <p:sp>
        <p:nvSpPr>
          <p:cNvPr id="302" name="Google Shape;302;p4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303" name="Google Shape;303;p40"/>
          <p:cNvSpPr/>
          <p:nvPr/>
        </p:nvSpPr>
        <p:spPr>
          <a:xfrm>
            <a:off x="6389788" y="-875464"/>
            <a:ext cx="1762241" cy="114071"/>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8" name="Shape 308"/>
        <p:cNvGrpSpPr/>
        <p:nvPr/>
      </p:nvGrpSpPr>
      <p:grpSpPr>
        <a:xfrm>
          <a:off x="0" y="0"/>
          <a:ext cx="0" cy="0"/>
          <a:chOff x="0" y="0"/>
          <a:chExt cx="0" cy="0"/>
        </a:xfrm>
      </p:grpSpPr>
      <p:sp>
        <p:nvSpPr>
          <p:cNvPr id="309" name="Google Shape;309;p41"/>
          <p:cNvSpPr/>
          <p:nvPr/>
        </p:nvSpPr>
        <p:spPr>
          <a:xfrm>
            <a:off x="459950" y="4131733"/>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0" name="Google Shape;310;p41">
            <a:hlinkClick action="ppaction://hlinksldjump" r:id="rId3"/>
          </p:cNvPr>
          <p:cNvSpPr/>
          <p:nvPr/>
        </p:nvSpPr>
        <p:spPr>
          <a:xfrm>
            <a:off x="578169" y="4237225"/>
            <a:ext cx="7997739"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Sources</a:t>
            </a:r>
            <a:endParaRPr sz="1200">
              <a:solidFill>
                <a:srgbClr val="FFFFFF"/>
              </a:solidFill>
              <a:latin typeface="Century Gothic"/>
              <a:ea typeface="Century Gothic"/>
              <a:cs typeface="Century Gothic"/>
              <a:sym typeface="Century Gothic"/>
            </a:endParaRPr>
          </a:p>
        </p:txBody>
      </p:sp>
      <p:sp>
        <p:nvSpPr>
          <p:cNvPr id="311" name="Google Shape;311;p41"/>
          <p:cNvSpPr/>
          <p:nvPr/>
        </p:nvSpPr>
        <p:spPr>
          <a:xfrm>
            <a:off x="459950" y="3073400"/>
            <a:ext cx="8223249" cy="9525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2" name="Google Shape;312;p41"/>
          <p:cNvSpPr txBox="1"/>
          <p:nvPr/>
        </p:nvSpPr>
        <p:spPr>
          <a:xfrm rot="-5400000">
            <a:off x="-186346" y="3364782"/>
            <a:ext cx="932651" cy="356636"/>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rgbClr val="3C3C3B"/>
                </a:solidFill>
                <a:latin typeface="Century Gothic"/>
                <a:ea typeface="Century Gothic"/>
                <a:cs typeface="Century Gothic"/>
                <a:sym typeface="Century Gothic"/>
              </a:rPr>
              <a:t>Analytic</a:t>
            </a:r>
            <a:br>
              <a:rPr lang="en-GB" sz="900">
                <a:solidFill>
                  <a:srgbClr val="3C3C3B"/>
                </a:solidFill>
                <a:latin typeface="Century Gothic"/>
                <a:ea typeface="Century Gothic"/>
                <a:cs typeface="Century Gothic"/>
                <a:sym typeface="Century Gothic"/>
              </a:rPr>
            </a:br>
            <a:r>
              <a:rPr lang="en-GB" sz="900">
                <a:solidFill>
                  <a:srgbClr val="3C3C3B"/>
                </a:solidFill>
                <a:latin typeface="Century Gothic"/>
                <a:ea typeface="Century Gothic"/>
                <a:cs typeface="Century Gothic"/>
                <a:sym typeface="Century Gothic"/>
              </a:rPr>
              <a:t>Infrastructure</a:t>
            </a:r>
            <a:endParaRPr sz="900">
              <a:solidFill>
                <a:srgbClr val="3C3C3B"/>
              </a:solidFill>
              <a:latin typeface="Century Gothic"/>
              <a:ea typeface="Century Gothic"/>
              <a:cs typeface="Century Gothic"/>
              <a:sym typeface="Century Gothic"/>
            </a:endParaRPr>
          </a:p>
        </p:txBody>
      </p:sp>
      <p:sp>
        <p:nvSpPr>
          <p:cNvPr id="313" name="Google Shape;313;p41"/>
          <p:cNvSpPr/>
          <p:nvPr/>
        </p:nvSpPr>
        <p:spPr>
          <a:xfrm>
            <a:off x="6644178"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Decisioning &amp; Delivery of Insight to Channels</a:t>
            </a:r>
            <a:endParaRPr sz="1200">
              <a:solidFill>
                <a:srgbClr val="FFFFFF"/>
              </a:solidFill>
              <a:latin typeface="Century Gothic"/>
              <a:ea typeface="Century Gothic"/>
              <a:cs typeface="Century Gothic"/>
              <a:sym typeface="Century Gothic"/>
            </a:endParaRPr>
          </a:p>
        </p:txBody>
      </p:sp>
      <p:sp>
        <p:nvSpPr>
          <p:cNvPr id="314" name="Google Shape;314;p41"/>
          <p:cNvSpPr/>
          <p:nvPr/>
        </p:nvSpPr>
        <p:spPr>
          <a:xfrm>
            <a:off x="4620885"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Analytical tools for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Discovery &amp; Creation</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of Insight</a:t>
            </a:r>
            <a:endParaRPr sz="1200">
              <a:solidFill>
                <a:srgbClr val="FFFFFF"/>
              </a:solidFill>
              <a:latin typeface="Century Gothic"/>
              <a:ea typeface="Century Gothic"/>
              <a:cs typeface="Century Gothic"/>
              <a:sym typeface="Century Gothic"/>
            </a:endParaRPr>
          </a:p>
        </p:txBody>
      </p:sp>
      <p:sp>
        <p:nvSpPr>
          <p:cNvPr id="315" name="Google Shape;315;p41"/>
          <p:cNvSpPr/>
          <p:nvPr/>
        </p:nvSpPr>
        <p:spPr>
          <a:xfrm>
            <a:off x="2596862"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Structured data for integration &amp; reuse</a:t>
            </a:r>
            <a:endParaRPr sz="1200">
              <a:solidFill>
                <a:srgbClr val="FFFFFF"/>
              </a:solidFill>
              <a:latin typeface="Century Gothic"/>
              <a:ea typeface="Century Gothic"/>
              <a:cs typeface="Century Gothic"/>
              <a:sym typeface="Century Gothic"/>
            </a:endParaRPr>
          </a:p>
        </p:txBody>
      </p:sp>
      <p:sp>
        <p:nvSpPr>
          <p:cNvPr id="316" name="Google Shape;316;p41"/>
          <p:cNvSpPr/>
          <p:nvPr/>
        </p:nvSpPr>
        <p:spPr>
          <a:xfrm>
            <a:off x="578169"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Lake for Landing, Storage &amp; Archive</a:t>
            </a:r>
            <a:endParaRPr sz="1200">
              <a:solidFill>
                <a:srgbClr val="FFFFFF"/>
              </a:solidFill>
              <a:latin typeface="Century Gothic"/>
              <a:ea typeface="Century Gothic"/>
              <a:cs typeface="Century Gothic"/>
              <a:sym typeface="Century Gothic"/>
            </a:endParaRPr>
          </a:p>
        </p:txBody>
      </p:sp>
      <p:sp>
        <p:nvSpPr>
          <p:cNvPr id="317" name="Google Shape;317;p41"/>
          <p:cNvSpPr/>
          <p:nvPr/>
        </p:nvSpPr>
        <p:spPr>
          <a:xfrm>
            <a:off x="459950" y="1189567"/>
            <a:ext cx="8223249" cy="1767416"/>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8" name="Google Shape;318;p41">
            <a:hlinkClick action="ppaction://hlinksldjump" r:id="rId4"/>
          </p:cNvPr>
          <p:cNvSpPr txBox="1"/>
          <p:nvPr/>
        </p:nvSpPr>
        <p:spPr>
          <a:xfrm rot="-5400000">
            <a:off x="-543318" y="1965128"/>
            <a:ext cx="1773574" cy="225062"/>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chemeClr val="dk1"/>
                </a:solidFill>
                <a:latin typeface="Century Gothic"/>
                <a:ea typeface="Century Gothic"/>
                <a:cs typeface="Century Gothic"/>
                <a:sym typeface="Century Gothic"/>
              </a:rPr>
              <a:t>Business Functions</a:t>
            </a:r>
            <a:endParaRPr sz="900">
              <a:solidFill>
                <a:schemeClr val="dk1"/>
              </a:solidFill>
              <a:latin typeface="Century Gothic"/>
              <a:ea typeface="Century Gothic"/>
              <a:cs typeface="Century Gothic"/>
              <a:sym typeface="Century Gothic"/>
            </a:endParaRPr>
          </a:p>
        </p:txBody>
      </p:sp>
      <p:sp>
        <p:nvSpPr>
          <p:cNvPr id="319" name="Google Shape;319;p41"/>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driving value across the organisation</a:t>
            </a:r>
            <a:endParaRPr sz="1600"/>
          </a:p>
        </p:txBody>
      </p:sp>
      <p:sp>
        <p:nvSpPr>
          <p:cNvPr id="320" name="Google Shape;320;p41"/>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321" name="Google Shape;321;p41">
            <a:hlinkClick action="ppaction://hlinksldjump" r:id="rId5"/>
          </p:cNvPr>
          <p:cNvSpPr/>
          <p:nvPr/>
        </p:nvSpPr>
        <p:spPr>
          <a:xfrm>
            <a:off x="5965910"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Product Management</a:t>
            </a:r>
            <a:endParaRPr sz="1200">
              <a:solidFill>
                <a:srgbClr val="FFFFFF"/>
              </a:solidFill>
              <a:latin typeface="Century Gothic"/>
              <a:ea typeface="Century Gothic"/>
              <a:cs typeface="Century Gothic"/>
              <a:sym typeface="Century Gothic"/>
            </a:endParaRPr>
          </a:p>
        </p:txBody>
      </p:sp>
      <p:sp>
        <p:nvSpPr>
          <p:cNvPr id="322" name="Google Shape;322;p41">
            <a:hlinkClick action="ppaction://hlinksldjump" r:id="rId6"/>
          </p:cNvPr>
          <p:cNvSpPr/>
          <p:nvPr/>
        </p:nvSpPr>
        <p:spPr>
          <a:xfrm>
            <a:off x="3265906"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Finance &amp; Performance Management</a:t>
            </a:r>
            <a:endParaRPr sz="1200">
              <a:solidFill>
                <a:srgbClr val="FFFFFF"/>
              </a:solidFill>
              <a:latin typeface="Century Gothic"/>
              <a:ea typeface="Century Gothic"/>
              <a:cs typeface="Century Gothic"/>
              <a:sym typeface="Century Gothic"/>
            </a:endParaRPr>
          </a:p>
        </p:txBody>
      </p:sp>
      <p:sp>
        <p:nvSpPr>
          <p:cNvPr id="323" name="Google Shape;323;p41">
            <a:hlinkClick action="ppaction://hlinksldjump" r:id="rId7"/>
          </p:cNvPr>
          <p:cNvSpPr/>
          <p:nvPr/>
        </p:nvSpPr>
        <p:spPr>
          <a:xfrm>
            <a:off x="565901"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Security &amp; Fraud</a:t>
            </a:r>
            <a:endParaRPr sz="1200">
              <a:solidFill>
                <a:srgbClr val="FFFFFF"/>
              </a:solidFill>
              <a:latin typeface="Century Gothic"/>
              <a:ea typeface="Century Gothic"/>
              <a:cs typeface="Century Gothic"/>
              <a:sym typeface="Century Gothic"/>
            </a:endParaRPr>
          </a:p>
        </p:txBody>
      </p:sp>
      <p:sp>
        <p:nvSpPr>
          <p:cNvPr id="324" name="Google Shape;324;p41">
            <a:hlinkClick action="ppaction://hlinksldjump" r:id="rId8"/>
          </p:cNvPr>
          <p:cNvSpPr/>
          <p:nvPr/>
        </p:nvSpPr>
        <p:spPr>
          <a:xfrm>
            <a:off x="5965910"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Legal &amp; Regulatory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Compliance</a:t>
            </a:r>
            <a:endParaRPr sz="900">
              <a:solidFill>
                <a:srgbClr val="FFFFFF"/>
              </a:solidFill>
              <a:latin typeface="Century Gothic"/>
              <a:ea typeface="Century Gothic"/>
              <a:cs typeface="Century Gothic"/>
              <a:sym typeface="Century Gothic"/>
            </a:endParaRPr>
          </a:p>
        </p:txBody>
      </p:sp>
      <p:sp>
        <p:nvSpPr>
          <p:cNvPr id="325" name="Google Shape;325;p41">
            <a:hlinkClick action="ppaction://hlinksldjump" r:id="rId9"/>
          </p:cNvPr>
          <p:cNvSpPr/>
          <p:nvPr/>
        </p:nvSpPr>
        <p:spPr>
          <a:xfrm>
            <a:off x="3265906"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Risk Management &amp;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Mitigation</a:t>
            </a:r>
            <a:endParaRPr sz="1200">
              <a:solidFill>
                <a:srgbClr val="FFFFFF"/>
              </a:solidFill>
              <a:latin typeface="Century Gothic"/>
              <a:ea typeface="Century Gothic"/>
              <a:cs typeface="Century Gothic"/>
              <a:sym typeface="Century Gothic"/>
            </a:endParaRPr>
          </a:p>
        </p:txBody>
      </p:sp>
      <p:sp>
        <p:nvSpPr>
          <p:cNvPr id="326" name="Google Shape;326;p41">
            <a:hlinkClick action="ppaction://hlinksldjump" r:id="rId10"/>
          </p:cNvPr>
          <p:cNvSpPr/>
          <p:nvPr/>
        </p:nvSpPr>
        <p:spPr>
          <a:xfrm>
            <a:off x="565901"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Marketing &amp; Customer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Experience</a:t>
            </a:r>
            <a:endParaRPr sz="1200">
              <a:solidFill>
                <a:srgbClr val="FFFFFF"/>
              </a:solidFill>
              <a:latin typeface="Century Gothic"/>
              <a:ea typeface="Century Gothic"/>
              <a:cs typeface="Century Gothic"/>
              <a:sym typeface="Century Gothic"/>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0" name="Shape 330"/>
        <p:cNvGrpSpPr/>
        <p:nvPr/>
      </p:nvGrpSpPr>
      <p:grpSpPr>
        <a:xfrm>
          <a:off x="0" y="0"/>
          <a:ext cx="0" cy="0"/>
          <a:chOff x="0" y="0"/>
          <a:chExt cx="0" cy="0"/>
        </a:xfrm>
      </p:grpSpPr>
      <p:sp>
        <p:nvSpPr>
          <p:cNvPr id="331" name="Google Shape;331;p42"/>
          <p:cNvSpPr/>
          <p:nvPr/>
        </p:nvSpPr>
        <p:spPr>
          <a:xfrm>
            <a:off x="463961" y="4131733"/>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2" name="Google Shape;332;p42"/>
          <p:cNvSpPr txBox="1"/>
          <p:nvPr/>
        </p:nvSpPr>
        <p:spPr>
          <a:xfrm rot="-5400000">
            <a:off x="-16622" y="4244047"/>
            <a:ext cx="601225" cy="356636"/>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rgbClr val="231F20"/>
                </a:solidFill>
                <a:latin typeface="Century Gothic"/>
                <a:ea typeface="Century Gothic"/>
                <a:cs typeface="Century Gothic"/>
                <a:sym typeface="Century Gothic"/>
              </a:rPr>
              <a:t>Data</a:t>
            </a:r>
            <a:br>
              <a:rPr lang="en-GB" sz="900">
                <a:solidFill>
                  <a:srgbClr val="231F20"/>
                </a:solidFill>
                <a:latin typeface="Century Gothic"/>
                <a:ea typeface="Century Gothic"/>
                <a:cs typeface="Century Gothic"/>
                <a:sym typeface="Century Gothic"/>
              </a:rPr>
            </a:br>
            <a:r>
              <a:rPr lang="en-GB" sz="900">
                <a:solidFill>
                  <a:srgbClr val="231F20"/>
                </a:solidFill>
                <a:latin typeface="Century Gothic"/>
                <a:ea typeface="Century Gothic"/>
                <a:cs typeface="Century Gothic"/>
                <a:sym typeface="Century Gothic"/>
              </a:rPr>
              <a:t>Sources</a:t>
            </a:r>
            <a:endParaRPr sz="900">
              <a:solidFill>
                <a:srgbClr val="231F20"/>
              </a:solidFill>
              <a:latin typeface="Century Gothic"/>
              <a:ea typeface="Century Gothic"/>
              <a:cs typeface="Century Gothic"/>
              <a:sym typeface="Century Gothic"/>
            </a:endParaRPr>
          </a:p>
        </p:txBody>
      </p:sp>
      <p:sp>
        <p:nvSpPr>
          <p:cNvPr id="333" name="Google Shape;333;p42"/>
          <p:cNvSpPr/>
          <p:nvPr/>
        </p:nvSpPr>
        <p:spPr>
          <a:xfrm>
            <a:off x="7782189"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Master &amp; Reference Data</a:t>
            </a:r>
            <a:endParaRPr sz="800">
              <a:solidFill>
                <a:srgbClr val="FFFFFF"/>
              </a:solidFill>
              <a:latin typeface="Century Gothic"/>
              <a:ea typeface="Century Gothic"/>
              <a:cs typeface="Century Gothic"/>
              <a:sym typeface="Century Gothic"/>
            </a:endParaRPr>
          </a:p>
        </p:txBody>
      </p:sp>
      <p:sp>
        <p:nvSpPr>
          <p:cNvPr id="334" name="Google Shape;334;p42"/>
          <p:cNvSpPr/>
          <p:nvPr/>
        </p:nvSpPr>
        <p:spPr>
          <a:xfrm>
            <a:off x="6869921"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Multi-structured Data </a:t>
            </a:r>
            <a:endParaRPr sz="800">
              <a:solidFill>
                <a:srgbClr val="FFFFFF"/>
              </a:solidFill>
              <a:latin typeface="Century Gothic"/>
              <a:ea typeface="Century Gothic"/>
              <a:cs typeface="Century Gothic"/>
              <a:sym typeface="Century Gothic"/>
            </a:endParaRPr>
          </a:p>
        </p:txBody>
      </p:sp>
      <p:sp>
        <p:nvSpPr>
          <p:cNvPr id="335" name="Google Shape;335;p42"/>
          <p:cNvSpPr/>
          <p:nvPr/>
        </p:nvSpPr>
        <p:spPr>
          <a:xfrm>
            <a:off x="5969921"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General Ledger &amp; ERP</a:t>
            </a:r>
            <a:endParaRPr sz="800">
              <a:solidFill>
                <a:srgbClr val="FFFFFF"/>
              </a:solidFill>
              <a:latin typeface="Century Gothic"/>
              <a:ea typeface="Century Gothic"/>
              <a:cs typeface="Century Gothic"/>
              <a:sym typeface="Century Gothic"/>
            </a:endParaRPr>
          </a:p>
        </p:txBody>
      </p:sp>
      <p:sp>
        <p:nvSpPr>
          <p:cNvPr id="336" name="Google Shape;336;p42"/>
          <p:cNvSpPr/>
          <p:nvPr/>
        </p:nvSpPr>
        <p:spPr>
          <a:xfrm>
            <a:off x="5069917"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Limits, Collateral, Provisions</a:t>
            </a:r>
            <a:endParaRPr sz="800">
              <a:solidFill>
                <a:srgbClr val="FFFFFF"/>
              </a:solidFill>
              <a:latin typeface="Century Gothic"/>
              <a:ea typeface="Century Gothic"/>
              <a:cs typeface="Century Gothic"/>
              <a:sym typeface="Century Gothic"/>
            </a:endParaRPr>
          </a:p>
        </p:txBody>
      </p:sp>
      <p:sp>
        <p:nvSpPr>
          <p:cNvPr id="337" name="Google Shape;337;p42"/>
          <p:cNvSpPr/>
          <p:nvPr/>
        </p:nvSpPr>
        <p:spPr>
          <a:xfrm>
            <a:off x="4169917"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Transactions &amp;</a:t>
            </a:r>
            <a:br>
              <a:rPr lang="en-GB" sz="800">
                <a:solidFill>
                  <a:srgbClr val="FFFFFF"/>
                </a:solidFill>
                <a:latin typeface="Century Gothic"/>
                <a:ea typeface="Century Gothic"/>
                <a:cs typeface="Century Gothic"/>
                <a:sym typeface="Century Gothic"/>
              </a:rPr>
            </a:br>
            <a:r>
              <a:rPr lang="en-GB" sz="800">
                <a:solidFill>
                  <a:srgbClr val="FFFFFF"/>
                </a:solidFill>
                <a:latin typeface="Century Gothic"/>
                <a:ea typeface="Century Gothic"/>
                <a:cs typeface="Century Gothic"/>
                <a:sym typeface="Century Gothic"/>
              </a:rPr>
              <a:t>Interactions</a:t>
            </a:r>
            <a:endParaRPr sz="800">
              <a:solidFill>
                <a:srgbClr val="FFFFFF"/>
              </a:solidFill>
              <a:latin typeface="Century Gothic"/>
              <a:ea typeface="Century Gothic"/>
              <a:cs typeface="Century Gothic"/>
              <a:sym typeface="Century Gothic"/>
            </a:endParaRPr>
          </a:p>
        </p:txBody>
      </p:sp>
      <p:sp>
        <p:nvSpPr>
          <p:cNvPr id="338" name="Google Shape;338;p42"/>
          <p:cNvSpPr/>
          <p:nvPr/>
        </p:nvSpPr>
        <p:spPr>
          <a:xfrm>
            <a:off x="3271191"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Balances &amp; Interest Rates</a:t>
            </a:r>
            <a:endParaRPr sz="800">
              <a:solidFill>
                <a:srgbClr val="FFFFFF"/>
              </a:solidFill>
              <a:latin typeface="Century Gothic"/>
              <a:ea typeface="Century Gothic"/>
              <a:cs typeface="Century Gothic"/>
              <a:sym typeface="Century Gothic"/>
            </a:endParaRPr>
          </a:p>
        </p:txBody>
      </p:sp>
      <p:sp>
        <p:nvSpPr>
          <p:cNvPr id="339" name="Google Shape;339;p42"/>
          <p:cNvSpPr/>
          <p:nvPr/>
        </p:nvSpPr>
        <p:spPr>
          <a:xfrm>
            <a:off x="2362740"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Account,  Policy  &amp; Service Details</a:t>
            </a:r>
            <a:endParaRPr sz="800">
              <a:solidFill>
                <a:srgbClr val="FFFFFF"/>
              </a:solidFill>
              <a:latin typeface="Century Gothic"/>
              <a:ea typeface="Century Gothic"/>
              <a:cs typeface="Century Gothic"/>
              <a:sym typeface="Century Gothic"/>
            </a:endParaRPr>
          </a:p>
        </p:txBody>
      </p:sp>
      <p:sp>
        <p:nvSpPr>
          <p:cNvPr id="340" name="Google Shape;340;p42"/>
          <p:cNvSpPr/>
          <p:nvPr/>
        </p:nvSpPr>
        <p:spPr>
          <a:xfrm>
            <a:off x="1469912"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Demographics &amp; Preferences</a:t>
            </a:r>
            <a:endParaRPr sz="800">
              <a:solidFill>
                <a:srgbClr val="FFFFFF"/>
              </a:solidFill>
              <a:latin typeface="Century Gothic"/>
              <a:ea typeface="Century Gothic"/>
              <a:cs typeface="Century Gothic"/>
              <a:sym typeface="Century Gothic"/>
            </a:endParaRPr>
          </a:p>
        </p:txBody>
      </p:sp>
      <p:sp>
        <p:nvSpPr>
          <p:cNvPr id="341" name="Google Shape;341;p42"/>
          <p:cNvSpPr/>
          <p:nvPr/>
        </p:nvSpPr>
        <p:spPr>
          <a:xfrm>
            <a:off x="582180"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360</a:t>
            </a:r>
            <a:r>
              <a:rPr lang="en-GB" sz="800">
                <a:solidFill>
                  <a:srgbClr val="FFFFFF"/>
                </a:solidFill>
                <a:latin typeface="Arial"/>
                <a:ea typeface="Arial"/>
                <a:cs typeface="Arial"/>
                <a:sym typeface="Arial"/>
              </a:rPr>
              <a:t>º</a:t>
            </a:r>
            <a:r>
              <a:rPr lang="en-GB" sz="800">
                <a:solidFill>
                  <a:srgbClr val="FFFFFF"/>
                </a:solidFill>
                <a:latin typeface="Century Gothic"/>
                <a:ea typeface="Century Gothic"/>
                <a:cs typeface="Century Gothic"/>
                <a:sym typeface="Century Gothic"/>
              </a:rPr>
              <a:t> Customer View</a:t>
            </a:r>
            <a:endParaRPr sz="800">
              <a:solidFill>
                <a:srgbClr val="FFFFFF"/>
              </a:solidFill>
              <a:latin typeface="Century Gothic"/>
              <a:ea typeface="Century Gothic"/>
              <a:cs typeface="Century Gothic"/>
              <a:sym typeface="Century Gothic"/>
            </a:endParaRPr>
          </a:p>
        </p:txBody>
      </p:sp>
      <p:sp>
        <p:nvSpPr>
          <p:cNvPr id="342" name="Google Shape;342;p42"/>
          <p:cNvSpPr/>
          <p:nvPr/>
        </p:nvSpPr>
        <p:spPr>
          <a:xfrm>
            <a:off x="459950" y="3073400"/>
            <a:ext cx="8223249" cy="9525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3" name="Google Shape;343;p42">
            <a:hlinkClick action="ppaction://hlinksldjump" r:id="rId3"/>
          </p:cNvPr>
          <p:cNvSpPr txBox="1"/>
          <p:nvPr/>
        </p:nvSpPr>
        <p:spPr>
          <a:xfrm rot="-5400000">
            <a:off x="-186346" y="3364782"/>
            <a:ext cx="932651" cy="356636"/>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rgbClr val="3C3C3B"/>
                </a:solidFill>
                <a:latin typeface="Century Gothic"/>
                <a:ea typeface="Century Gothic"/>
                <a:cs typeface="Century Gothic"/>
                <a:sym typeface="Century Gothic"/>
              </a:rPr>
              <a:t>Analytic</a:t>
            </a:r>
            <a:br>
              <a:rPr lang="en-GB" sz="900">
                <a:solidFill>
                  <a:srgbClr val="3C3C3B"/>
                </a:solidFill>
                <a:latin typeface="Century Gothic"/>
                <a:ea typeface="Century Gothic"/>
                <a:cs typeface="Century Gothic"/>
                <a:sym typeface="Century Gothic"/>
              </a:rPr>
            </a:br>
            <a:r>
              <a:rPr lang="en-GB" sz="900">
                <a:solidFill>
                  <a:srgbClr val="3C3C3B"/>
                </a:solidFill>
                <a:latin typeface="Century Gothic"/>
                <a:ea typeface="Century Gothic"/>
                <a:cs typeface="Century Gothic"/>
                <a:sym typeface="Century Gothic"/>
              </a:rPr>
              <a:t>Infrastructure</a:t>
            </a:r>
            <a:endParaRPr sz="900">
              <a:solidFill>
                <a:srgbClr val="3C3C3B"/>
              </a:solidFill>
              <a:latin typeface="Century Gothic"/>
              <a:ea typeface="Century Gothic"/>
              <a:cs typeface="Century Gothic"/>
              <a:sym typeface="Century Gothic"/>
            </a:endParaRPr>
          </a:p>
        </p:txBody>
      </p:sp>
      <p:sp>
        <p:nvSpPr>
          <p:cNvPr id="344" name="Google Shape;344;p42"/>
          <p:cNvSpPr/>
          <p:nvPr/>
        </p:nvSpPr>
        <p:spPr>
          <a:xfrm>
            <a:off x="6644178"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Decisioning &amp; Delivery of Insight to Channels</a:t>
            </a:r>
            <a:endParaRPr sz="1200">
              <a:solidFill>
                <a:srgbClr val="FFFFFF"/>
              </a:solidFill>
              <a:latin typeface="Century Gothic"/>
              <a:ea typeface="Century Gothic"/>
              <a:cs typeface="Century Gothic"/>
              <a:sym typeface="Century Gothic"/>
            </a:endParaRPr>
          </a:p>
        </p:txBody>
      </p:sp>
      <p:sp>
        <p:nvSpPr>
          <p:cNvPr id="345" name="Google Shape;345;p42"/>
          <p:cNvSpPr/>
          <p:nvPr/>
        </p:nvSpPr>
        <p:spPr>
          <a:xfrm>
            <a:off x="4620885"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Analytical tools for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Discovery &amp; Creation</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of Insight</a:t>
            </a:r>
            <a:endParaRPr sz="1200">
              <a:solidFill>
                <a:srgbClr val="FFFFFF"/>
              </a:solidFill>
              <a:latin typeface="Century Gothic"/>
              <a:ea typeface="Century Gothic"/>
              <a:cs typeface="Century Gothic"/>
              <a:sym typeface="Century Gothic"/>
            </a:endParaRPr>
          </a:p>
        </p:txBody>
      </p:sp>
      <p:sp>
        <p:nvSpPr>
          <p:cNvPr id="346" name="Google Shape;346;p42"/>
          <p:cNvSpPr/>
          <p:nvPr/>
        </p:nvSpPr>
        <p:spPr>
          <a:xfrm>
            <a:off x="2596862"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Structured data for integration &amp; reuse</a:t>
            </a:r>
            <a:endParaRPr sz="1200">
              <a:solidFill>
                <a:srgbClr val="FFFFFF"/>
              </a:solidFill>
              <a:latin typeface="Century Gothic"/>
              <a:ea typeface="Century Gothic"/>
              <a:cs typeface="Century Gothic"/>
              <a:sym typeface="Century Gothic"/>
            </a:endParaRPr>
          </a:p>
        </p:txBody>
      </p:sp>
      <p:sp>
        <p:nvSpPr>
          <p:cNvPr id="347" name="Google Shape;347;p42"/>
          <p:cNvSpPr/>
          <p:nvPr/>
        </p:nvSpPr>
        <p:spPr>
          <a:xfrm>
            <a:off x="578169"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Lake for Landing, Storage &amp; Archive</a:t>
            </a:r>
            <a:endParaRPr sz="1200">
              <a:solidFill>
                <a:srgbClr val="FFFFFF"/>
              </a:solidFill>
              <a:latin typeface="Century Gothic"/>
              <a:ea typeface="Century Gothic"/>
              <a:cs typeface="Century Gothic"/>
              <a:sym typeface="Century Gothic"/>
            </a:endParaRPr>
          </a:p>
        </p:txBody>
      </p:sp>
      <p:sp>
        <p:nvSpPr>
          <p:cNvPr id="348" name="Google Shape;348;p42"/>
          <p:cNvSpPr/>
          <p:nvPr/>
        </p:nvSpPr>
        <p:spPr>
          <a:xfrm>
            <a:off x="459950" y="1189567"/>
            <a:ext cx="8223249" cy="1767416"/>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9" name="Google Shape;349;p42">
            <a:hlinkClick action="ppaction://hlinksldjump" r:id="rId4"/>
          </p:cNvPr>
          <p:cNvSpPr txBox="1"/>
          <p:nvPr/>
        </p:nvSpPr>
        <p:spPr>
          <a:xfrm rot="-5400000">
            <a:off x="-543318" y="1965128"/>
            <a:ext cx="1773574" cy="225062"/>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chemeClr val="dk1"/>
                </a:solidFill>
                <a:latin typeface="Century Gothic"/>
                <a:ea typeface="Century Gothic"/>
                <a:cs typeface="Century Gothic"/>
                <a:sym typeface="Century Gothic"/>
              </a:rPr>
              <a:t>Business Functions</a:t>
            </a:r>
            <a:endParaRPr sz="900">
              <a:solidFill>
                <a:schemeClr val="dk1"/>
              </a:solidFill>
              <a:latin typeface="Century Gothic"/>
              <a:ea typeface="Century Gothic"/>
              <a:cs typeface="Century Gothic"/>
              <a:sym typeface="Century Gothic"/>
            </a:endParaRPr>
          </a:p>
        </p:txBody>
      </p:sp>
      <p:sp>
        <p:nvSpPr>
          <p:cNvPr id="350" name="Google Shape;350;p42"/>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driving value across the organisation</a:t>
            </a:r>
            <a:endParaRPr sz="1600"/>
          </a:p>
        </p:txBody>
      </p:sp>
      <p:sp>
        <p:nvSpPr>
          <p:cNvPr id="351" name="Google Shape;351;p42"/>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352" name="Google Shape;352;p42">
            <a:hlinkClick action="ppaction://hlinksldjump" r:id="rId5"/>
          </p:cNvPr>
          <p:cNvSpPr/>
          <p:nvPr/>
        </p:nvSpPr>
        <p:spPr>
          <a:xfrm>
            <a:off x="5965910"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Product Management</a:t>
            </a:r>
            <a:endParaRPr sz="1200">
              <a:solidFill>
                <a:srgbClr val="FFFFFF"/>
              </a:solidFill>
              <a:latin typeface="Century Gothic"/>
              <a:ea typeface="Century Gothic"/>
              <a:cs typeface="Century Gothic"/>
              <a:sym typeface="Century Gothic"/>
            </a:endParaRPr>
          </a:p>
        </p:txBody>
      </p:sp>
      <p:sp>
        <p:nvSpPr>
          <p:cNvPr id="353" name="Google Shape;353;p42">
            <a:hlinkClick action="ppaction://hlinksldjump" r:id="rId6"/>
          </p:cNvPr>
          <p:cNvSpPr/>
          <p:nvPr/>
        </p:nvSpPr>
        <p:spPr>
          <a:xfrm>
            <a:off x="3265906"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Finance &amp; Performance Management</a:t>
            </a:r>
            <a:endParaRPr sz="1200">
              <a:solidFill>
                <a:srgbClr val="FFFFFF"/>
              </a:solidFill>
              <a:latin typeface="Century Gothic"/>
              <a:ea typeface="Century Gothic"/>
              <a:cs typeface="Century Gothic"/>
              <a:sym typeface="Century Gothic"/>
            </a:endParaRPr>
          </a:p>
        </p:txBody>
      </p:sp>
      <p:sp>
        <p:nvSpPr>
          <p:cNvPr id="354" name="Google Shape;354;p42">
            <a:hlinkClick action="ppaction://hlinksldjump" r:id="rId7"/>
          </p:cNvPr>
          <p:cNvSpPr/>
          <p:nvPr/>
        </p:nvSpPr>
        <p:spPr>
          <a:xfrm>
            <a:off x="565901"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Security &amp; Fraud</a:t>
            </a:r>
            <a:endParaRPr sz="1200">
              <a:solidFill>
                <a:srgbClr val="FFFFFF"/>
              </a:solidFill>
              <a:latin typeface="Century Gothic"/>
              <a:ea typeface="Century Gothic"/>
              <a:cs typeface="Century Gothic"/>
              <a:sym typeface="Century Gothic"/>
            </a:endParaRPr>
          </a:p>
        </p:txBody>
      </p:sp>
      <p:sp>
        <p:nvSpPr>
          <p:cNvPr id="355" name="Google Shape;355;p42">
            <a:hlinkClick action="ppaction://hlinksldjump" r:id="rId8"/>
          </p:cNvPr>
          <p:cNvSpPr/>
          <p:nvPr/>
        </p:nvSpPr>
        <p:spPr>
          <a:xfrm>
            <a:off x="5965910"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Legal &amp; Regulatory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Compliance</a:t>
            </a:r>
            <a:endParaRPr sz="900">
              <a:solidFill>
                <a:srgbClr val="FFFFFF"/>
              </a:solidFill>
              <a:latin typeface="Century Gothic"/>
              <a:ea typeface="Century Gothic"/>
              <a:cs typeface="Century Gothic"/>
              <a:sym typeface="Century Gothic"/>
            </a:endParaRPr>
          </a:p>
        </p:txBody>
      </p:sp>
      <p:sp>
        <p:nvSpPr>
          <p:cNvPr id="356" name="Google Shape;356;p42">
            <a:hlinkClick action="ppaction://hlinksldjump" r:id="rId9"/>
          </p:cNvPr>
          <p:cNvSpPr/>
          <p:nvPr/>
        </p:nvSpPr>
        <p:spPr>
          <a:xfrm>
            <a:off x="3265906"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Risk Management &amp;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Mitigation</a:t>
            </a:r>
            <a:endParaRPr sz="1200">
              <a:solidFill>
                <a:srgbClr val="FFFFFF"/>
              </a:solidFill>
              <a:latin typeface="Century Gothic"/>
              <a:ea typeface="Century Gothic"/>
              <a:cs typeface="Century Gothic"/>
              <a:sym typeface="Century Gothic"/>
            </a:endParaRPr>
          </a:p>
        </p:txBody>
      </p:sp>
      <p:sp>
        <p:nvSpPr>
          <p:cNvPr id="357" name="Google Shape;357;p42">
            <a:hlinkClick action="ppaction://hlinksldjump" r:id="rId10"/>
          </p:cNvPr>
          <p:cNvSpPr/>
          <p:nvPr/>
        </p:nvSpPr>
        <p:spPr>
          <a:xfrm>
            <a:off x="565901"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Marketing &amp; Customer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Experience</a:t>
            </a:r>
            <a:endParaRPr sz="1200">
              <a:solidFill>
                <a:srgbClr val="FFFFFF"/>
              </a:solidFill>
              <a:latin typeface="Century Gothic"/>
              <a:ea typeface="Century Gothic"/>
              <a:cs typeface="Century Gothic"/>
              <a:sym typeface="Century Gothic"/>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7" name="Shape 367"/>
        <p:cNvGrpSpPr/>
        <p:nvPr/>
      </p:nvGrpSpPr>
      <p:grpSpPr>
        <a:xfrm>
          <a:off x="0" y="0"/>
          <a:ext cx="0" cy="0"/>
          <a:chOff x="0" y="0"/>
          <a:chExt cx="0" cy="0"/>
        </a:xfrm>
      </p:grpSpPr>
      <p:sp>
        <p:nvSpPr>
          <p:cNvPr id="368" name="Google Shape;368;p44"/>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Marketing and Customer Experience</a:t>
            </a:r>
            <a:endParaRPr sz="1600"/>
          </a:p>
        </p:txBody>
      </p:sp>
      <p:sp>
        <p:nvSpPr>
          <p:cNvPr id="369" name="Google Shape;369;p4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370" name="Google Shape;370;p44"/>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1" name="Google Shape;371;p44">
            <a:hlinkClick action="ppaction://hlinksldjump" r:id="rId3"/>
          </p:cNvPr>
          <p:cNvSpPr/>
          <p:nvPr/>
        </p:nvSpPr>
        <p:spPr>
          <a:xfrm>
            <a:off x="565151" y="1301750"/>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Marketing and Customer Experience</a:t>
            </a:r>
            <a:endParaRPr sz="1100">
              <a:solidFill>
                <a:srgbClr val="FFFFFF"/>
              </a:solidFill>
              <a:latin typeface="Century Gothic"/>
              <a:ea typeface="Century Gothic"/>
              <a:cs typeface="Century Gothic"/>
              <a:sym typeface="Century Gothic"/>
            </a:endParaRPr>
          </a:p>
        </p:txBody>
      </p:sp>
      <p:sp>
        <p:nvSpPr>
          <p:cNvPr id="372" name="Google Shape;372;p44">
            <a:hlinkClick action="ppaction://hlinksldjump" r:id="rId4"/>
          </p:cNvPr>
          <p:cNvSpPr/>
          <p:nvPr/>
        </p:nvSpPr>
        <p:spPr>
          <a:xfrm>
            <a:off x="209973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Information Management</a:t>
            </a:r>
            <a:endParaRPr sz="1100">
              <a:solidFill>
                <a:srgbClr val="FFFFFF"/>
              </a:solidFill>
              <a:latin typeface="Century Gothic"/>
              <a:ea typeface="Century Gothic"/>
              <a:cs typeface="Century Gothic"/>
              <a:sym typeface="Century Gothic"/>
            </a:endParaRPr>
          </a:p>
        </p:txBody>
      </p:sp>
      <p:sp>
        <p:nvSpPr>
          <p:cNvPr id="373" name="Google Shape;373;p44">
            <a:hlinkClick action="ppaction://hlinksldjump" r:id="rId5"/>
          </p:cNvPr>
          <p:cNvSpPr/>
          <p:nvPr/>
        </p:nvSpPr>
        <p:spPr>
          <a:xfrm>
            <a:off x="429169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374" name="Google Shape;374;p44">
            <a:hlinkClick action="ppaction://hlinksldjump" r:id="rId6"/>
          </p:cNvPr>
          <p:cNvSpPr/>
          <p:nvPr/>
        </p:nvSpPr>
        <p:spPr>
          <a:xfrm>
            <a:off x="646992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Lifecycle Management</a:t>
            </a:r>
            <a:endParaRPr sz="1100">
              <a:solidFill>
                <a:srgbClr val="FFFFFF"/>
              </a:solidFill>
              <a:latin typeface="Century Gothic"/>
              <a:ea typeface="Century Gothic"/>
              <a:cs typeface="Century Gothic"/>
              <a:sym typeface="Century Gothic"/>
            </a:endParaRPr>
          </a:p>
        </p:txBody>
      </p:sp>
      <p:sp>
        <p:nvSpPr>
          <p:cNvPr id="375" name="Google Shape;375;p44">
            <a:hlinkClick action="ppaction://hlinksldjump" r:id="rId7"/>
          </p:cNvPr>
          <p:cNvSpPr/>
          <p:nvPr/>
        </p:nvSpPr>
        <p:spPr>
          <a:xfrm>
            <a:off x="2099735" y="2604823"/>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376" name="Google Shape;376;p44"/>
          <p:cNvSpPr/>
          <p:nvPr/>
        </p:nvSpPr>
        <p:spPr>
          <a:xfrm>
            <a:off x="2073748" y="12835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377" name="Google Shape;377;p44">
            <a:hlinkClick action="ppaction://hlinksldjump" r:id="rId8"/>
          </p:cNvPr>
          <p:cNvSpPr/>
          <p:nvPr/>
        </p:nvSpPr>
        <p:spPr>
          <a:xfrm>
            <a:off x="567549" y="39594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grpSp>
        <p:nvGrpSpPr>
          <p:cNvPr id="378" name="Google Shape;378;p44"/>
          <p:cNvGrpSpPr/>
          <p:nvPr/>
        </p:nvGrpSpPr>
        <p:grpSpPr>
          <a:xfrm>
            <a:off x="7717533" y="4360377"/>
            <a:ext cx="1058348" cy="347375"/>
            <a:chOff x="7651698" y="4287227"/>
            <a:chExt cx="1058348" cy="347375"/>
          </a:xfrm>
        </p:grpSpPr>
        <p:grpSp>
          <p:nvGrpSpPr>
            <p:cNvPr id="379" name="Google Shape;379;p44"/>
            <p:cNvGrpSpPr/>
            <p:nvPr/>
          </p:nvGrpSpPr>
          <p:grpSpPr>
            <a:xfrm>
              <a:off x="7714163" y="4337598"/>
              <a:ext cx="995883" cy="297004"/>
              <a:chOff x="7711013" y="3986494"/>
              <a:chExt cx="995883" cy="297004"/>
            </a:xfrm>
          </p:grpSpPr>
          <p:sp>
            <p:nvSpPr>
              <p:cNvPr id="380" name="Google Shape;380;p4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381" name="Google Shape;381;p44"/>
              <p:cNvGrpSpPr/>
              <p:nvPr/>
            </p:nvGrpSpPr>
            <p:grpSpPr>
              <a:xfrm>
                <a:off x="7711013" y="4002615"/>
                <a:ext cx="281520" cy="241973"/>
                <a:chOff x="5652748" y="4066000"/>
                <a:chExt cx="906498" cy="747974"/>
              </a:xfrm>
            </p:grpSpPr>
            <p:sp>
              <p:nvSpPr>
                <p:cNvPr id="382" name="Google Shape;382;p4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383" name="Google Shape;383;p4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4" name="Google Shape;384;p4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385" name="Google Shape;385;p44">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386" name="Google Shape;386;p44"/>
          <p:cNvSpPr/>
          <p:nvPr/>
        </p:nvSpPr>
        <p:spPr>
          <a:xfrm>
            <a:off x="6898877" y="-29356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387" name="Google Shape;387;p44"/>
          <p:cNvSpPr/>
          <p:nvPr/>
        </p:nvSpPr>
        <p:spPr>
          <a:xfrm rot="5400000">
            <a:off x="8412064" y="64185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388" name="Google Shape;388;p44">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3" name="Shape 393"/>
        <p:cNvGrpSpPr/>
        <p:nvPr/>
      </p:nvGrpSpPr>
      <p:grpSpPr>
        <a:xfrm>
          <a:off x="0" y="0"/>
          <a:ext cx="0" cy="0"/>
          <a:chOff x="0" y="0"/>
          <a:chExt cx="0" cy="0"/>
        </a:xfrm>
      </p:grpSpPr>
      <p:sp>
        <p:nvSpPr>
          <p:cNvPr id="394" name="Google Shape;394;p45"/>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5" name="Google Shape;395;p45">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Information Management</a:t>
            </a:r>
            <a:endParaRPr sz="1100">
              <a:solidFill>
                <a:srgbClr val="FFFFFF"/>
              </a:solidFill>
              <a:latin typeface="Century Gothic"/>
              <a:ea typeface="Century Gothic"/>
              <a:cs typeface="Century Gothic"/>
              <a:sym typeface="Century Gothic"/>
            </a:endParaRPr>
          </a:p>
        </p:txBody>
      </p:sp>
      <p:sp>
        <p:nvSpPr>
          <p:cNvPr id="396" name="Google Shape;396;p45"/>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397" name="Google Shape;397;p45">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398" name="Google Shape;398;p45">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Single View Of Customer</a:t>
            </a:r>
            <a:endParaRPr sz="1100">
              <a:solidFill>
                <a:schemeClr val="dk1"/>
              </a:solidFill>
              <a:latin typeface="Century Gothic"/>
              <a:ea typeface="Century Gothic"/>
              <a:cs typeface="Century Gothic"/>
              <a:sym typeface="Century Gothic"/>
            </a:endParaRPr>
          </a:p>
        </p:txBody>
      </p:sp>
      <p:sp>
        <p:nvSpPr>
          <p:cNvPr id="399" name="Google Shape;399;p45">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Multi-Dimensional Customer View</a:t>
            </a:r>
            <a:endParaRPr sz="1100">
              <a:solidFill>
                <a:schemeClr val="dk1"/>
              </a:solidFill>
              <a:latin typeface="Century Gothic"/>
              <a:ea typeface="Century Gothic"/>
              <a:cs typeface="Century Gothic"/>
              <a:sym typeface="Century Gothic"/>
            </a:endParaRPr>
          </a:p>
        </p:txBody>
      </p:sp>
      <p:sp>
        <p:nvSpPr>
          <p:cNvPr id="400" name="Google Shape;400;p45"/>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01" name="Google Shape;401;p45"/>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02" name="Google Shape;402;p45"/>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03" name="Google Shape;403;p45"/>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04" name="Google Shape;404;p45"/>
          <p:cNvGrpSpPr/>
          <p:nvPr/>
        </p:nvGrpSpPr>
        <p:grpSpPr>
          <a:xfrm>
            <a:off x="7717533" y="4360377"/>
            <a:ext cx="1058348" cy="347375"/>
            <a:chOff x="7651698" y="4287227"/>
            <a:chExt cx="1058348" cy="347375"/>
          </a:xfrm>
        </p:grpSpPr>
        <p:grpSp>
          <p:nvGrpSpPr>
            <p:cNvPr id="405" name="Google Shape;405;p45"/>
            <p:cNvGrpSpPr/>
            <p:nvPr/>
          </p:nvGrpSpPr>
          <p:grpSpPr>
            <a:xfrm>
              <a:off x="7714163" y="4337598"/>
              <a:ext cx="995883" cy="297004"/>
              <a:chOff x="7711013" y="3986494"/>
              <a:chExt cx="995883" cy="297004"/>
            </a:xfrm>
          </p:grpSpPr>
          <p:sp>
            <p:nvSpPr>
              <p:cNvPr id="406" name="Google Shape;406;p4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7" name="Google Shape;407;p45"/>
              <p:cNvGrpSpPr/>
              <p:nvPr/>
            </p:nvGrpSpPr>
            <p:grpSpPr>
              <a:xfrm>
                <a:off x="7711013" y="4002615"/>
                <a:ext cx="281520" cy="241973"/>
                <a:chOff x="5652748" y="4066000"/>
                <a:chExt cx="906498" cy="747974"/>
              </a:xfrm>
            </p:grpSpPr>
            <p:sp>
              <p:nvSpPr>
                <p:cNvPr id="408" name="Google Shape;408;p4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9" name="Google Shape;409;p4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0" name="Google Shape;410;p4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11" name="Google Shape;411;p45">
              <a:hlinkClick action="ppaction://hlinksldjump" r:id="rId7"/>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12" name="Google Shape;412;p45">
            <a:hlinkClick action="ppaction://hlinksldjump" r:id="rId8"/>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7" name="Shape 417"/>
        <p:cNvGrpSpPr/>
        <p:nvPr/>
      </p:nvGrpSpPr>
      <p:grpSpPr>
        <a:xfrm>
          <a:off x="0" y="0"/>
          <a:ext cx="0" cy="0"/>
          <a:chOff x="0" y="0"/>
          <a:chExt cx="0" cy="0"/>
        </a:xfrm>
      </p:grpSpPr>
      <p:sp>
        <p:nvSpPr>
          <p:cNvPr id="418" name="Google Shape;418;p46"/>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9" name="Google Shape;419;p46">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420" name="Google Shape;420;p4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21" name="Google Shape;421;p46">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22" name="Google Shape;422;p4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Value &amp; Profitability</a:t>
            </a:r>
            <a:endParaRPr sz="1100">
              <a:solidFill>
                <a:schemeClr val="dk1"/>
              </a:solidFill>
              <a:latin typeface="Century Gothic"/>
              <a:ea typeface="Century Gothic"/>
              <a:cs typeface="Century Gothic"/>
              <a:sym typeface="Century Gothic"/>
            </a:endParaRPr>
          </a:p>
        </p:txBody>
      </p:sp>
      <p:sp>
        <p:nvSpPr>
          <p:cNvPr id="423" name="Google Shape;423;p46">
            <a:hlinkClick action="ppaction://hlinksldjump" r:id="rId6"/>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Journey Analysis</a:t>
            </a:r>
            <a:endParaRPr/>
          </a:p>
        </p:txBody>
      </p:sp>
      <p:sp>
        <p:nvSpPr>
          <p:cNvPr id="424" name="Google Shape;424;p46">
            <a:hlinkClick action="ppaction://hlinksldjump" r:id="rId7"/>
          </p:cNvPr>
          <p:cNvSpPr/>
          <p:nvPr/>
        </p:nvSpPr>
        <p:spPr>
          <a:xfrm>
            <a:off x="2093595" y="3012784"/>
            <a:ext cx="2065200" cy="5226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Segmentation</a:t>
            </a:r>
            <a:endParaRPr sz="1100">
              <a:solidFill>
                <a:schemeClr val="dk1"/>
              </a:solidFill>
              <a:latin typeface="Century Gothic"/>
              <a:ea typeface="Century Gothic"/>
              <a:cs typeface="Century Gothic"/>
              <a:sym typeface="Century Gothic"/>
            </a:endParaRPr>
          </a:p>
        </p:txBody>
      </p:sp>
      <p:sp>
        <p:nvSpPr>
          <p:cNvPr id="425" name="Google Shape;425;p46">
            <a:hlinkClick action="ppaction://hlinksldjump" r:id="rId8"/>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Satisfaction Indexing</a:t>
            </a:r>
            <a:endParaRPr sz="1100">
              <a:solidFill>
                <a:schemeClr val="dk1"/>
              </a:solidFill>
              <a:latin typeface="Century Gothic"/>
              <a:ea typeface="Century Gothic"/>
              <a:cs typeface="Century Gothic"/>
              <a:sym typeface="Century Gothic"/>
            </a:endParaRPr>
          </a:p>
        </p:txBody>
      </p:sp>
      <p:sp>
        <p:nvSpPr>
          <p:cNvPr id="426" name="Google Shape;426;p46">
            <a:hlinkClick action="ppaction://hlinksldjump" r:id="rId9"/>
          </p:cNvPr>
          <p:cNvSpPr/>
          <p:nvPr/>
        </p:nvSpPr>
        <p:spPr>
          <a:xfrm>
            <a:off x="6475527"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Event Analytics</a:t>
            </a:r>
            <a:endParaRPr sz="1100">
              <a:solidFill>
                <a:schemeClr val="dk1"/>
              </a:solidFill>
              <a:latin typeface="Century Gothic"/>
              <a:ea typeface="Century Gothic"/>
              <a:cs typeface="Century Gothic"/>
              <a:sym typeface="Century Gothic"/>
            </a:endParaRPr>
          </a:p>
        </p:txBody>
      </p:sp>
      <p:sp>
        <p:nvSpPr>
          <p:cNvPr id="427" name="Google Shape;427;p46">
            <a:hlinkClick action="ppaction://hlinksldjump" r:id="rId10"/>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Connection Analytics</a:t>
            </a:r>
            <a:endParaRPr sz="1100">
              <a:solidFill>
                <a:schemeClr val="dk1"/>
              </a:solidFill>
              <a:latin typeface="Century Gothic"/>
              <a:ea typeface="Century Gothic"/>
              <a:cs typeface="Century Gothic"/>
              <a:sym typeface="Century Gothic"/>
            </a:endParaRPr>
          </a:p>
        </p:txBody>
      </p:sp>
      <p:sp>
        <p:nvSpPr>
          <p:cNvPr id="428" name="Google Shape;428;p46">
            <a:hlinkClick action="ppaction://hlinksldjump" r:id="rId11"/>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Transaction Clasification</a:t>
            </a:r>
            <a:endParaRPr sz="1100">
              <a:solidFill>
                <a:schemeClr val="dk1"/>
              </a:solidFill>
              <a:latin typeface="Century Gothic"/>
              <a:ea typeface="Century Gothic"/>
              <a:cs typeface="Century Gothic"/>
              <a:sym typeface="Century Gothic"/>
            </a:endParaRPr>
          </a:p>
        </p:txBody>
      </p:sp>
      <p:sp>
        <p:nvSpPr>
          <p:cNvPr id="429" name="Google Shape;429;p46">
            <a:hlinkClick action="ppaction://hlinksldjump" r:id="rId12"/>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Behavioural</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 Preference Analytics</a:t>
            </a:r>
            <a:endParaRPr/>
          </a:p>
        </p:txBody>
      </p:sp>
      <p:sp>
        <p:nvSpPr>
          <p:cNvPr id="430" name="Google Shape;430;p46">
            <a:hlinkClick action="ppaction://hlinksldjump" r:id="rId13"/>
          </p:cNvPr>
          <p:cNvSpPr/>
          <p:nvPr/>
        </p:nvSpPr>
        <p:spPr>
          <a:xfrm>
            <a:off x="2099732"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Life Stage</a:t>
            </a:r>
            <a:endParaRPr sz="1100">
              <a:solidFill>
                <a:schemeClr val="dk1"/>
              </a:solidFill>
              <a:latin typeface="Century Gothic"/>
              <a:ea typeface="Century Gothic"/>
              <a:cs typeface="Century Gothic"/>
              <a:sym typeface="Century Gothic"/>
            </a:endParaRPr>
          </a:p>
        </p:txBody>
      </p:sp>
      <p:sp>
        <p:nvSpPr>
          <p:cNvPr id="431" name="Google Shape;431;p46"/>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32" name="Google Shape;432;p4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33" name="Google Shape;433;p46"/>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34" name="Google Shape;434;p4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35" name="Google Shape;435;p46"/>
          <p:cNvGrpSpPr/>
          <p:nvPr/>
        </p:nvGrpSpPr>
        <p:grpSpPr>
          <a:xfrm>
            <a:off x="7717533" y="4360377"/>
            <a:ext cx="1058348" cy="347375"/>
            <a:chOff x="7651698" y="4287227"/>
            <a:chExt cx="1058348" cy="347375"/>
          </a:xfrm>
        </p:grpSpPr>
        <p:grpSp>
          <p:nvGrpSpPr>
            <p:cNvPr id="436" name="Google Shape;436;p46"/>
            <p:cNvGrpSpPr/>
            <p:nvPr/>
          </p:nvGrpSpPr>
          <p:grpSpPr>
            <a:xfrm>
              <a:off x="7714163" y="4337598"/>
              <a:ext cx="995883" cy="297004"/>
              <a:chOff x="7711013" y="3986494"/>
              <a:chExt cx="995883" cy="297004"/>
            </a:xfrm>
          </p:grpSpPr>
          <p:sp>
            <p:nvSpPr>
              <p:cNvPr id="437" name="Google Shape;437;p4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38" name="Google Shape;438;p46"/>
              <p:cNvGrpSpPr/>
              <p:nvPr/>
            </p:nvGrpSpPr>
            <p:grpSpPr>
              <a:xfrm>
                <a:off x="7711013" y="4002615"/>
                <a:ext cx="281520" cy="241973"/>
                <a:chOff x="5652748" y="4066000"/>
                <a:chExt cx="906498" cy="747974"/>
              </a:xfrm>
            </p:grpSpPr>
            <p:sp>
              <p:nvSpPr>
                <p:cNvPr id="439" name="Google Shape;439;p4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0" name="Google Shape;440;p4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1" name="Google Shape;441;p4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2" name="Google Shape;442;p46">
              <a:hlinkClick action="ppaction://hlinksldjump" r:id="rId1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43" name="Google Shape;443;p46">
            <a:hlinkClick action="ppaction://hlinksldjump" r:id="rId15"/>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Experience Analytics</a:t>
            </a:r>
            <a:endParaRPr sz="1100">
              <a:solidFill>
                <a:schemeClr val="dk1"/>
              </a:solidFill>
              <a:latin typeface="Century Gothic"/>
              <a:ea typeface="Century Gothic"/>
              <a:cs typeface="Century Gothic"/>
              <a:sym typeface="Century Gothic"/>
            </a:endParaRPr>
          </a:p>
        </p:txBody>
      </p:sp>
      <p:sp>
        <p:nvSpPr>
          <p:cNvPr id="444" name="Google Shape;444;p46">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9" name="Shape 449"/>
        <p:cNvGrpSpPr/>
        <p:nvPr/>
      </p:nvGrpSpPr>
      <p:grpSpPr>
        <a:xfrm>
          <a:off x="0" y="0"/>
          <a:ext cx="0" cy="0"/>
          <a:chOff x="0" y="0"/>
          <a:chExt cx="0" cy="0"/>
        </a:xfrm>
      </p:grpSpPr>
      <p:sp>
        <p:nvSpPr>
          <p:cNvPr id="450" name="Google Shape;450;p47"/>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1" name="Google Shape;451;p47">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Lifecycle Management</a:t>
            </a:r>
            <a:endParaRPr sz="1100">
              <a:solidFill>
                <a:srgbClr val="FFFFFF"/>
              </a:solidFill>
              <a:latin typeface="Century Gothic"/>
              <a:ea typeface="Century Gothic"/>
              <a:cs typeface="Century Gothic"/>
              <a:sym typeface="Century Gothic"/>
            </a:endParaRPr>
          </a:p>
        </p:txBody>
      </p:sp>
      <p:sp>
        <p:nvSpPr>
          <p:cNvPr id="452" name="Google Shape;452;p4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53" name="Google Shape;453;p47">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54" name="Google Shape;454;p47">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Acquisiton</a:t>
            </a:r>
            <a:endParaRPr sz="1100">
              <a:solidFill>
                <a:schemeClr val="dk1"/>
              </a:solidFill>
              <a:latin typeface="Century Gothic"/>
              <a:ea typeface="Century Gothic"/>
              <a:cs typeface="Century Gothic"/>
              <a:sym typeface="Century Gothic"/>
            </a:endParaRPr>
          </a:p>
        </p:txBody>
      </p:sp>
      <p:sp>
        <p:nvSpPr>
          <p:cNvPr id="455" name="Google Shape;455;p47">
            <a:hlinkClick action="ppaction://hlinksldjump" r:id="rId6"/>
          </p:cNvPr>
          <p:cNvSpPr/>
          <p:nvPr/>
        </p:nvSpPr>
        <p:spPr>
          <a:xfrm>
            <a:off x="6475527" y="1762241"/>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Retention</a:t>
            </a:r>
            <a:endParaRPr sz="1100">
              <a:solidFill>
                <a:schemeClr val="dk1"/>
              </a:solidFill>
              <a:latin typeface="Century Gothic"/>
              <a:ea typeface="Century Gothic"/>
              <a:cs typeface="Century Gothic"/>
              <a:sym typeface="Century Gothic"/>
            </a:endParaRPr>
          </a:p>
        </p:txBody>
      </p:sp>
      <p:sp>
        <p:nvSpPr>
          <p:cNvPr id="456" name="Google Shape;456;p47">
            <a:hlinkClick action="ppaction://hlinksldjump" r:id="rId7"/>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Loyalty</a:t>
            </a:r>
            <a:endParaRPr sz="1100">
              <a:solidFill>
                <a:schemeClr val="dk1"/>
              </a:solidFill>
              <a:latin typeface="Century Gothic"/>
              <a:ea typeface="Century Gothic"/>
              <a:cs typeface="Century Gothic"/>
              <a:sym typeface="Century Gothic"/>
            </a:endParaRPr>
          </a:p>
        </p:txBody>
      </p:sp>
      <p:sp>
        <p:nvSpPr>
          <p:cNvPr id="457" name="Google Shape;457;p47">
            <a:hlinkClick action="ppaction://hlinksldjump" r:id="rId8"/>
          </p:cNvPr>
          <p:cNvSpPr/>
          <p:nvPr/>
        </p:nvSpPr>
        <p:spPr>
          <a:xfrm>
            <a:off x="4290975"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On-Boarding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and Development</a:t>
            </a:r>
            <a:endParaRPr sz="1100">
              <a:solidFill>
                <a:schemeClr val="dk1"/>
              </a:solidFill>
              <a:latin typeface="Century Gothic"/>
              <a:ea typeface="Century Gothic"/>
              <a:cs typeface="Century Gothic"/>
              <a:sym typeface="Century Gothic"/>
            </a:endParaRPr>
          </a:p>
        </p:txBody>
      </p:sp>
      <p:sp>
        <p:nvSpPr>
          <p:cNvPr id="458" name="Google Shape;458;p47">
            <a:hlinkClick action="ppaction://hlinksldjump" r:id="rId9"/>
          </p:cNvPr>
          <p:cNvSpPr/>
          <p:nvPr/>
        </p:nvSpPr>
        <p:spPr>
          <a:xfrm>
            <a:off x="2099731"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Churn</a:t>
            </a:r>
            <a:endParaRPr sz="1100">
              <a:solidFill>
                <a:schemeClr val="dk1"/>
              </a:solidFill>
              <a:latin typeface="Century Gothic"/>
              <a:ea typeface="Century Gothic"/>
              <a:cs typeface="Century Gothic"/>
              <a:sym typeface="Century Gothic"/>
            </a:endParaRPr>
          </a:p>
        </p:txBody>
      </p:sp>
      <p:sp>
        <p:nvSpPr>
          <p:cNvPr id="459" name="Google Shape;459;p47">
            <a:hlinkClick action="ppaction://hlinksldjump" r:id="rId10"/>
          </p:cNvPr>
          <p:cNvSpPr/>
          <p:nvPr/>
        </p:nvSpPr>
        <p:spPr>
          <a:xfrm>
            <a:off x="207374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Cross Sell / Up Sell</a:t>
            </a:r>
            <a:endParaRPr sz="1100">
              <a:solidFill>
                <a:schemeClr val="dk1"/>
              </a:solidFill>
              <a:latin typeface="Century Gothic"/>
              <a:ea typeface="Century Gothic"/>
              <a:cs typeface="Century Gothic"/>
              <a:sym typeface="Century Gothic"/>
            </a:endParaRPr>
          </a:p>
        </p:txBody>
      </p:sp>
      <p:sp>
        <p:nvSpPr>
          <p:cNvPr id="460" name="Google Shape;460;p47">
            <a:hlinkClick action="ppaction://hlinksldjump" r:id="rId11"/>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Re-engagement</a:t>
            </a:r>
            <a:endParaRPr sz="1100">
              <a:solidFill>
                <a:schemeClr val="dk1"/>
              </a:solidFill>
              <a:latin typeface="Century Gothic"/>
              <a:ea typeface="Century Gothic"/>
              <a:cs typeface="Century Gothic"/>
              <a:sym typeface="Century Gothic"/>
            </a:endParaRPr>
          </a:p>
        </p:txBody>
      </p:sp>
      <p:sp>
        <p:nvSpPr>
          <p:cNvPr id="461" name="Google Shape;461;p47"/>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62" name="Google Shape;462;p47"/>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63" name="Google Shape;463;p47"/>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64" name="Google Shape;464;p47"/>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65" name="Google Shape;465;p47"/>
          <p:cNvGrpSpPr/>
          <p:nvPr/>
        </p:nvGrpSpPr>
        <p:grpSpPr>
          <a:xfrm>
            <a:off x="7717533" y="4360377"/>
            <a:ext cx="1058348" cy="347375"/>
            <a:chOff x="7651698" y="4287227"/>
            <a:chExt cx="1058348" cy="347375"/>
          </a:xfrm>
        </p:grpSpPr>
        <p:grpSp>
          <p:nvGrpSpPr>
            <p:cNvPr id="466" name="Google Shape;466;p47"/>
            <p:cNvGrpSpPr/>
            <p:nvPr/>
          </p:nvGrpSpPr>
          <p:grpSpPr>
            <a:xfrm>
              <a:off x="7714163" y="4337598"/>
              <a:ext cx="995883" cy="297004"/>
              <a:chOff x="7711013" y="3986494"/>
              <a:chExt cx="995883" cy="297004"/>
            </a:xfrm>
          </p:grpSpPr>
          <p:sp>
            <p:nvSpPr>
              <p:cNvPr id="467" name="Google Shape;467;p4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68" name="Google Shape;468;p47"/>
              <p:cNvGrpSpPr/>
              <p:nvPr/>
            </p:nvGrpSpPr>
            <p:grpSpPr>
              <a:xfrm>
                <a:off x="7711013" y="4002615"/>
                <a:ext cx="281520" cy="241973"/>
                <a:chOff x="5652748" y="4066000"/>
                <a:chExt cx="906498" cy="747974"/>
              </a:xfrm>
            </p:grpSpPr>
            <p:sp>
              <p:nvSpPr>
                <p:cNvPr id="469" name="Google Shape;469;p4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70" name="Google Shape;470;p4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71" name="Google Shape;471;p4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72" name="Google Shape;472;p47">
              <a:hlinkClick action="ppaction://hlinksldjump" r:id="rId12"/>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73" name="Google Shape;473;p47">
            <a:hlinkClick action="ppaction://hlinksldjump" r:id="rId13"/>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8" name="Shape 478"/>
        <p:cNvGrpSpPr/>
        <p:nvPr/>
      </p:nvGrpSpPr>
      <p:grpSpPr>
        <a:xfrm>
          <a:off x="0" y="0"/>
          <a:ext cx="0" cy="0"/>
          <a:chOff x="0" y="0"/>
          <a:chExt cx="0" cy="0"/>
        </a:xfrm>
      </p:grpSpPr>
      <p:sp>
        <p:nvSpPr>
          <p:cNvPr id="479" name="Google Shape;479;p48"/>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0" name="Google Shape;480;p48">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481" name="Google Shape;481;p4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82" name="Google Shape;482;p48">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83" name="Google Shape;483;p48">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Communication Targeting</a:t>
            </a:r>
            <a:endParaRPr sz="1100">
              <a:solidFill>
                <a:schemeClr val="dk1"/>
              </a:solidFill>
              <a:latin typeface="Century Gothic"/>
              <a:ea typeface="Century Gothic"/>
              <a:cs typeface="Century Gothic"/>
              <a:sym typeface="Century Gothic"/>
            </a:endParaRPr>
          </a:p>
        </p:txBody>
      </p:sp>
      <p:sp>
        <p:nvSpPr>
          <p:cNvPr id="484" name="Google Shape;484;p48">
            <a:hlinkClick action="ppaction://hlinksldjump" r:id="rId6"/>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Contextual Decisioning</a:t>
            </a:r>
            <a:endParaRPr sz="1100">
              <a:solidFill>
                <a:schemeClr val="dk1"/>
              </a:solidFill>
              <a:latin typeface="Century Gothic"/>
              <a:ea typeface="Century Gothic"/>
              <a:cs typeface="Century Gothic"/>
              <a:sym typeface="Century Gothic"/>
            </a:endParaRPr>
          </a:p>
        </p:txBody>
      </p:sp>
      <p:sp>
        <p:nvSpPr>
          <p:cNvPr id="485" name="Google Shape;485;p48">
            <a:hlinkClick action="ppaction://hlinksldjump" r:id="rId7"/>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Personalization</a:t>
            </a:r>
            <a:endParaRPr sz="1100">
              <a:solidFill>
                <a:schemeClr val="dk1"/>
              </a:solidFill>
              <a:latin typeface="Century Gothic"/>
              <a:ea typeface="Century Gothic"/>
              <a:cs typeface="Century Gothic"/>
              <a:sym typeface="Century Gothic"/>
            </a:endParaRPr>
          </a:p>
        </p:txBody>
      </p:sp>
      <p:sp>
        <p:nvSpPr>
          <p:cNvPr id="486" name="Google Shape;486;p48">
            <a:hlinkClick action="ppaction://hlinksldjump" r:id="rId8"/>
          </p:cNvPr>
          <p:cNvSpPr/>
          <p:nvPr/>
        </p:nvSpPr>
        <p:spPr>
          <a:xfrm>
            <a:off x="4290975"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Contact Optimization</a:t>
            </a:r>
            <a:endParaRPr sz="1100">
              <a:solidFill>
                <a:schemeClr val="dk1"/>
              </a:solidFill>
              <a:latin typeface="Century Gothic"/>
              <a:ea typeface="Century Gothic"/>
              <a:cs typeface="Century Gothic"/>
              <a:sym typeface="Century Gothic"/>
            </a:endParaRPr>
          </a:p>
        </p:txBody>
      </p:sp>
      <p:sp>
        <p:nvSpPr>
          <p:cNvPr id="487" name="Google Shape;487;p48">
            <a:hlinkClick action="ppaction://hlinksldjump" r:id="rId9"/>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Cross-Channel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Customer Experience</a:t>
            </a:r>
            <a:endParaRPr sz="1100">
              <a:solidFill>
                <a:schemeClr val="dk1"/>
              </a:solidFill>
              <a:latin typeface="Century Gothic"/>
              <a:ea typeface="Century Gothic"/>
              <a:cs typeface="Century Gothic"/>
              <a:sym typeface="Century Gothic"/>
            </a:endParaRPr>
          </a:p>
        </p:txBody>
      </p:sp>
      <p:sp>
        <p:nvSpPr>
          <p:cNvPr id="488" name="Google Shape;488;p48">
            <a:hlinkClick action="ppaction://hlinksldjump" r:id="rId10"/>
          </p:cNvPr>
          <p:cNvSpPr/>
          <p:nvPr/>
        </p:nvSpPr>
        <p:spPr>
          <a:xfrm>
            <a:off x="2099731"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Next Best Action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Arbitration</a:t>
            </a:r>
            <a:endParaRPr sz="1100">
              <a:solidFill>
                <a:schemeClr val="dk1"/>
              </a:solidFill>
              <a:latin typeface="Century Gothic"/>
              <a:ea typeface="Century Gothic"/>
              <a:cs typeface="Century Gothic"/>
              <a:sym typeface="Century Gothic"/>
            </a:endParaRPr>
          </a:p>
        </p:txBody>
      </p:sp>
      <p:sp>
        <p:nvSpPr>
          <p:cNvPr id="489" name="Google Shape;489;p48">
            <a:hlinkClick action="ppaction://hlinksldjump" r:id="rId11"/>
          </p:cNvPr>
          <p:cNvSpPr/>
          <p:nvPr/>
        </p:nvSpPr>
        <p:spPr>
          <a:xfrm>
            <a:off x="645754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Response Optimization</a:t>
            </a:r>
            <a:endParaRPr sz="1100">
              <a:solidFill>
                <a:schemeClr val="dk1"/>
              </a:solidFill>
              <a:latin typeface="Century Gothic"/>
              <a:ea typeface="Century Gothic"/>
              <a:cs typeface="Century Gothic"/>
              <a:sym typeface="Century Gothic"/>
            </a:endParaRPr>
          </a:p>
        </p:txBody>
      </p:sp>
      <p:sp>
        <p:nvSpPr>
          <p:cNvPr id="490" name="Google Shape;490;p48">
            <a:hlinkClick action="ppaction://hlinksldjump" r:id="rId12"/>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Digital Optimization</a:t>
            </a:r>
            <a:endParaRPr sz="1100">
              <a:solidFill>
                <a:schemeClr val="dk1"/>
              </a:solidFill>
              <a:latin typeface="Century Gothic"/>
              <a:ea typeface="Century Gothic"/>
              <a:cs typeface="Century Gothic"/>
              <a:sym typeface="Century Gothic"/>
            </a:endParaRPr>
          </a:p>
        </p:txBody>
      </p:sp>
      <p:sp>
        <p:nvSpPr>
          <p:cNvPr id="491" name="Google Shape;491;p48">
            <a:hlinkClick action="ppaction://hlinksldjump" r:id="rId13"/>
          </p:cNvPr>
          <p:cNvSpPr/>
          <p:nvPr/>
        </p:nvSpPr>
        <p:spPr>
          <a:xfrm>
            <a:off x="6475527"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Multi-Step Campaigns</a:t>
            </a:r>
            <a:endParaRPr sz="1100">
              <a:solidFill>
                <a:schemeClr val="dk1"/>
              </a:solidFill>
              <a:latin typeface="Century Gothic"/>
              <a:ea typeface="Century Gothic"/>
              <a:cs typeface="Century Gothic"/>
              <a:sym typeface="Century Gothic"/>
            </a:endParaRPr>
          </a:p>
        </p:txBody>
      </p:sp>
      <p:sp>
        <p:nvSpPr>
          <p:cNvPr id="492" name="Google Shape;492;p48">
            <a:hlinkClick action="ppaction://hlinksldjump" r:id="rId14"/>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Search Engine Optimization</a:t>
            </a:r>
            <a:endParaRPr sz="1100">
              <a:solidFill>
                <a:schemeClr val="dk1"/>
              </a:solidFill>
              <a:latin typeface="Century Gothic"/>
              <a:ea typeface="Century Gothic"/>
              <a:cs typeface="Century Gothic"/>
              <a:sym typeface="Century Gothic"/>
            </a:endParaRPr>
          </a:p>
        </p:txBody>
      </p:sp>
      <p:sp>
        <p:nvSpPr>
          <p:cNvPr id="493" name="Google Shape;493;p48">
            <a:hlinkClick action="ppaction://hlinksldjump" r:id="rId15"/>
          </p:cNvPr>
          <p:cNvSpPr/>
          <p:nvPr/>
        </p:nvSpPr>
        <p:spPr>
          <a:xfrm>
            <a:off x="4290974"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Product Recommendations</a:t>
            </a:r>
            <a:endParaRPr sz="1100">
              <a:solidFill>
                <a:schemeClr val="dk1"/>
              </a:solidFill>
              <a:latin typeface="Century Gothic"/>
              <a:ea typeface="Century Gothic"/>
              <a:cs typeface="Century Gothic"/>
              <a:sym typeface="Century Gothic"/>
            </a:endParaRPr>
          </a:p>
        </p:txBody>
      </p:sp>
      <p:sp>
        <p:nvSpPr>
          <p:cNvPr id="494" name="Google Shape;494;p48"/>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95" name="Google Shape;495;p4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96" name="Google Shape;496;p48"/>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97" name="Google Shape;497;p48"/>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98" name="Google Shape;498;p48"/>
          <p:cNvGrpSpPr/>
          <p:nvPr/>
        </p:nvGrpSpPr>
        <p:grpSpPr>
          <a:xfrm>
            <a:off x="7717533" y="4360377"/>
            <a:ext cx="1058348" cy="347375"/>
            <a:chOff x="7651698" y="4287227"/>
            <a:chExt cx="1058348" cy="347375"/>
          </a:xfrm>
        </p:grpSpPr>
        <p:grpSp>
          <p:nvGrpSpPr>
            <p:cNvPr id="499" name="Google Shape;499;p48"/>
            <p:cNvGrpSpPr/>
            <p:nvPr/>
          </p:nvGrpSpPr>
          <p:grpSpPr>
            <a:xfrm>
              <a:off x="7714163" y="4337598"/>
              <a:ext cx="995883" cy="297004"/>
              <a:chOff x="7711013" y="3986494"/>
              <a:chExt cx="995883" cy="297004"/>
            </a:xfrm>
          </p:grpSpPr>
          <p:sp>
            <p:nvSpPr>
              <p:cNvPr id="500" name="Google Shape;500;p4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1" name="Google Shape;501;p48"/>
              <p:cNvGrpSpPr/>
              <p:nvPr/>
            </p:nvGrpSpPr>
            <p:grpSpPr>
              <a:xfrm>
                <a:off x="7711013" y="4002615"/>
                <a:ext cx="281520" cy="241973"/>
                <a:chOff x="5652748" y="4066000"/>
                <a:chExt cx="906498" cy="747974"/>
              </a:xfrm>
            </p:grpSpPr>
            <p:sp>
              <p:nvSpPr>
                <p:cNvPr id="502" name="Google Shape;502;p4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3" name="Google Shape;503;p4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4" name="Google Shape;504;p4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5" name="Google Shape;505;p48">
              <a:hlinkClick action="ppaction://hlinksldjump" r:id="rId1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06" name="Google Shape;506;p48">
            <a:hlinkClick action="ppaction://hlinksldjump" r:id="rId17"/>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Call / Contact Centre Optimization</a:t>
            </a:r>
            <a:endParaRPr sz="1100">
              <a:solidFill>
                <a:schemeClr val="dk1"/>
              </a:solidFill>
              <a:latin typeface="Century Gothic"/>
              <a:ea typeface="Century Gothic"/>
              <a:cs typeface="Century Gothic"/>
              <a:sym typeface="Century Gothic"/>
            </a:endParaRPr>
          </a:p>
        </p:txBody>
      </p:sp>
      <p:sp>
        <p:nvSpPr>
          <p:cNvPr id="507" name="Google Shape;507;p48">
            <a:hlinkClick action="ppaction://hlinksldjump" r:id="rId18"/>
          </p:cNvPr>
          <p:cNvSpPr/>
          <p:nvPr/>
        </p:nvSpPr>
        <p:spPr>
          <a:xfrm rot="5400000">
            <a:off x="5064095" y="4164719"/>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48"/>
          <p:cNvSpPr txBox="1"/>
          <p:nvPr/>
        </p:nvSpPr>
        <p:spPr>
          <a:xfrm>
            <a:off x="4868417" y="4360358"/>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More</a:t>
            </a:r>
            <a:endParaRPr/>
          </a:p>
        </p:txBody>
      </p:sp>
      <p:sp>
        <p:nvSpPr>
          <p:cNvPr id="509" name="Google Shape;509;p48">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4" name="Shape 514"/>
        <p:cNvGrpSpPr/>
        <p:nvPr/>
      </p:nvGrpSpPr>
      <p:grpSpPr>
        <a:xfrm>
          <a:off x="0" y="0"/>
          <a:ext cx="0" cy="0"/>
          <a:chOff x="0" y="0"/>
          <a:chExt cx="0" cy="0"/>
        </a:xfrm>
      </p:grpSpPr>
      <p:sp>
        <p:nvSpPr>
          <p:cNvPr id="515" name="Google Shape;515;p49"/>
          <p:cNvSpPr/>
          <p:nvPr/>
        </p:nvSpPr>
        <p:spPr>
          <a:xfrm>
            <a:off x="42301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16" name="Google Shape;516;p49">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517" name="Google Shape;517;p49"/>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518" name="Google Shape;518;p49"/>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519" name="Google Shape;519;p49">
            <a:hlinkClick action="ppaction://hlinksldjump" r:id="rId4"/>
          </p:cNvPr>
          <p:cNvSpPr/>
          <p:nvPr/>
        </p:nvSpPr>
        <p:spPr>
          <a:xfrm>
            <a:off x="4277281"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Marketing Attribution</a:t>
            </a:r>
            <a:endParaRPr sz="1100">
              <a:solidFill>
                <a:schemeClr val="dk1"/>
              </a:solidFill>
              <a:latin typeface="Century Gothic"/>
              <a:ea typeface="Century Gothic"/>
              <a:cs typeface="Century Gothic"/>
              <a:sym typeface="Century Gothic"/>
            </a:endParaRPr>
          </a:p>
        </p:txBody>
      </p:sp>
      <p:sp>
        <p:nvSpPr>
          <p:cNvPr id="520" name="Google Shape;520;p49">
            <a:hlinkClick action="ppaction://hlinksldjump" r:id="rId5"/>
          </p:cNvPr>
          <p:cNvSpPr/>
          <p:nvPr/>
        </p:nvSpPr>
        <p:spPr>
          <a:xfrm>
            <a:off x="6460207"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Brand Analytics</a:t>
            </a:r>
            <a:endParaRPr sz="1100">
              <a:solidFill>
                <a:schemeClr val="dk1"/>
              </a:solidFill>
              <a:latin typeface="Century Gothic"/>
              <a:ea typeface="Century Gothic"/>
              <a:cs typeface="Century Gothic"/>
              <a:sym typeface="Century Gothic"/>
            </a:endParaRPr>
          </a:p>
        </p:txBody>
      </p:sp>
      <p:sp>
        <p:nvSpPr>
          <p:cNvPr id="521" name="Google Shape;521;p49"/>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522" name="Google Shape;522;p49"/>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523" name="Google Shape;523;p49"/>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524" name="Google Shape;524;p49"/>
          <p:cNvSpPr/>
          <p:nvPr/>
        </p:nvSpPr>
        <p:spPr>
          <a:xfrm rot="5400000">
            <a:off x="5522922" y="-1120387"/>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525" name="Google Shape;525;p49"/>
          <p:cNvGrpSpPr/>
          <p:nvPr/>
        </p:nvGrpSpPr>
        <p:grpSpPr>
          <a:xfrm>
            <a:off x="7717533" y="4360377"/>
            <a:ext cx="1058348" cy="347375"/>
            <a:chOff x="7651698" y="4287227"/>
            <a:chExt cx="1058348" cy="347375"/>
          </a:xfrm>
        </p:grpSpPr>
        <p:grpSp>
          <p:nvGrpSpPr>
            <p:cNvPr id="526" name="Google Shape;526;p49"/>
            <p:cNvGrpSpPr/>
            <p:nvPr/>
          </p:nvGrpSpPr>
          <p:grpSpPr>
            <a:xfrm>
              <a:off x="7714163" y="4337598"/>
              <a:ext cx="995883" cy="297004"/>
              <a:chOff x="7711013" y="3986494"/>
              <a:chExt cx="995883" cy="297004"/>
            </a:xfrm>
          </p:grpSpPr>
          <p:sp>
            <p:nvSpPr>
              <p:cNvPr id="527" name="Google Shape;527;p4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28" name="Google Shape;528;p49"/>
              <p:cNvGrpSpPr/>
              <p:nvPr/>
            </p:nvGrpSpPr>
            <p:grpSpPr>
              <a:xfrm>
                <a:off x="7711013" y="4002615"/>
                <a:ext cx="281520" cy="241973"/>
                <a:chOff x="5652748" y="4066000"/>
                <a:chExt cx="906498" cy="747974"/>
              </a:xfrm>
            </p:grpSpPr>
            <p:sp>
              <p:nvSpPr>
                <p:cNvPr id="529" name="Google Shape;529;p4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0" name="Google Shape;530;p4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1" name="Google Shape;531;p4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2" name="Google Shape;532;p49">
              <a:hlinkClick action="ppaction://hlinksldjump" r:id="rId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33" name="Google Shape;533;p49">
            <a:hlinkClick action="ppaction://hlinksldjump" r:id="rId7"/>
          </p:cNvPr>
          <p:cNvSpPr/>
          <p:nvPr/>
        </p:nvSpPr>
        <p:spPr>
          <a:xfrm>
            <a:off x="2099732" y="1742585"/>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Marketing Effectiveness</a:t>
            </a:r>
            <a:endParaRPr sz="1100">
              <a:solidFill>
                <a:schemeClr val="dk1"/>
              </a:solidFill>
              <a:latin typeface="Century Gothic"/>
              <a:ea typeface="Century Gothic"/>
              <a:cs typeface="Century Gothic"/>
              <a:sym typeface="Century Gothic"/>
            </a:endParaRPr>
          </a:p>
        </p:txBody>
      </p:sp>
      <p:sp>
        <p:nvSpPr>
          <p:cNvPr id="534" name="Google Shape;534;p49">
            <a:hlinkClick action="ppaction://hlinksldjump" r:id="rId8"/>
          </p:cNvPr>
          <p:cNvSpPr/>
          <p:nvPr/>
        </p:nvSpPr>
        <p:spPr>
          <a:xfrm flipH="1" rot="5400000">
            <a:off x="5064095" y="8410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49"/>
          <p:cNvSpPr txBox="1"/>
          <p:nvPr/>
        </p:nvSpPr>
        <p:spPr>
          <a:xfrm flipH="1">
            <a:off x="4868417" y="10874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More</a:t>
            </a:r>
            <a:endParaRPr/>
          </a:p>
        </p:txBody>
      </p:sp>
      <p:sp>
        <p:nvSpPr>
          <p:cNvPr id="536" name="Google Shape;536;p49">
            <a:hlinkClick action="ppaction://hlinksldjump" r:id="rId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1" name="Shape 541"/>
        <p:cNvGrpSpPr/>
        <p:nvPr/>
      </p:nvGrpSpPr>
      <p:grpSpPr>
        <a:xfrm>
          <a:off x="0" y="0"/>
          <a:ext cx="0" cy="0"/>
          <a:chOff x="0" y="0"/>
          <a:chExt cx="0" cy="0"/>
        </a:xfrm>
      </p:grpSpPr>
      <p:sp>
        <p:nvSpPr>
          <p:cNvPr id="542" name="Google Shape;542;p50"/>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3" name="Google Shape;543;p50">
            <a:hlinkClick action="ppaction://hlinksldjump" r:id="rId3"/>
          </p:cNvPr>
          <p:cNvSpPr/>
          <p:nvPr/>
        </p:nvSpPr>
        <p:spPr>
          <a:xfrm>
            <a:off x="209491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spcBef>
                <a:spcPts val="0"/>
              </a:spcBef>
              <a:spcAft>
                <a:spcPts val="0"/>
              </a:spcAft>
              <a:buNone/>
            </a:pPr>
            <a:r>
              <a:rPr lang="en-GB" sz="1000">
                <a:solidFill>
                  <a:srgbClr val="3C3C3B"/>
                </a:solidFill>
                <a:latin typeface="Century Gothic"/>
                <a:ea typeface="Century Gothic"/>
                <a:cs typeface="Century Gothic"/>
                <a:sym typeface="Century Gothic"/>
              </a:rPr>
              <a:t>Multi-Dimensional Customer View</a:t>
            </a:r>
            <a:endParaRPr sz="1000">
              <a:solidFill>
                <a:srgbClr val="3C3C3B"/>
              </a:solidFill>
              <a:latin typeface="Century Gothic"/>
              <a:ea typeface="Century Gothic"/>
              <a:cs typeface="Century Gothic"/>
              <a:sym typeface="Century Gothic"/>
            </a:endParaRPr>
          </a:p>
        </p:txBody>
      </p:sp>
      <p:sp>
        <p:nvSpPr>
          <p:cNvPr id="544" name="Google Shape;544;p50"/>
          <p:cNvSpPr/>
          <p:nvPr/>
        </p:nvSpPr>
        <p:spPr>
          <a:xfrm rot="5400000">
            <a:off x="2079372" y="1932769"/>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5" name="Google Shape;545;p50"/>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546" name="Google Shape;546;p50"/>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547" name="Google Shape;547;p50"/>
          <p:cNvGrpSpPr/>
          <p:nvPr/>
        </p:nvGrpSpPr>
        <p:grpSpPr>
          <a:xfrm>
            <a:off x="2100364" y="1348315"/>
            <a:ext cx="281520" cy="241973"/>
            <a:chOff x="5652748" y="4066000"/>
            <a:chExt cx="906498" cy="747974"/>
          </a:xfrm>
        </p:grpSpPr>
        <p:sp>
          <p:nvSpPr>
            <p:cNvPr id="548" name="Google Shape;548;p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49" name="Google Shape;549;p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0" name="Google Shape;550;p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551" name="Google Shape;551;p5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552" name="Google Shape;552;p5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Insight Driven Customer Management business value</a:t>
            </a:r>
            <a:endParaRPr sz="1600"/>
          </a:p>
        </p:txBody>
      </p:sp>
      <p:sp>
        <p:nvSpPr>
          <p:cNvPr id="553" name="Google Shape;553;p50">
            <a:hlinkClick action="ppaction://hlinksldjump" r:id="rId4"/>
          </p:cNvPr>
          <p:cNvSpPr/>
          <p:nvPr/>
        </p:nvSpPr>
        <p:spPr>
          <a:xfrm>
            <a:off x="565902" y="1683866"/>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Information Management</a:t>
            </a:r>
            <a:endParaRPr sz="1100">
              <a:solidFill>
                <a:srgbClr val="FFFFFF"/>
              </a:solidFill>
              <a:latin typeface="Century Gothic"/>
              <a:ea typeface="Century Gothic"/>
              <a:cs typeface="Century Gothic"/>
              <a:sym typeface="Century Gothic"/>
            </a:endParaRPr>
          </a:p>
        </p:txBody>
      </p:sp>
      <p:sp>
        <p:nvSpPr>
          <p:cNvPr id="554" name="Google Shape;554;p50">
            <a:hlinkClick action="ppaction://hlinksldjump" r:id="rId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
        <p:nvSpPr>
          <p:cNvPr id="555" name="Google Shape;555;p50">
            <a:hlinkClick action="ppaction://hlinksldjump" r:id="rId6"/>
          </p:cNvPr>
          <p:cNvSpPr/>
          <p:nvPr/>
        </p:nvSpPr>
        <p:spPr>
          <a:xfrm>
            <a:off x="565902" y="2393118"/>
            <a:ext cx="1395519" cy="2115625"/>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556" name="Google Shape;556;p50">
            <a:hlinkClick action="ppaction://hlinksldjump" r:id="rId7"/>
          </p:cNvPr>
          <p:cNvSpPr/>
          <p:nvPr/>
        </p:nvSpPr>
        <p:spPr>
          <a:xfrm>
            <a:off x="3734907"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Life Time Value</a:t>
            </a:r>
            <a:endParaRPr sz="1000">
              <a:solidFill>
                <a:schemeClr val="dk1"/>
              </a:solidFill>
              <a:latin typeface="Century Gothic"/>
              <a:ea typeface="Century Gothic"/>
              <a:cs typeface="Century Gothic"/>
              <a:sym typeface="Century Gothic"/>
            </a:endParaRPr>
          </a:p>
        </p:txBody>
      </p:sp>
      <p:sp>
        <p:nvSpPr>
          <p:cNvPr id="557" name="Google Shape;557;p50"/>
          <p:cNvSpPr/>
          <p:nvPr/>
        </p:nvSpPr>
        <p:spPr>
          <a:xfrm rot="5400000">
            <a:off x="3721906" y="265892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8" name="Google Shape;558;p50">
            <a:hlinkClick action="ppaction://hlinksldjump" r:id="rId8"/>
          </p:cNvPr>
          <p:cNvSpPr/>
          <p:nvPr/>
        </p:nvSpPr>
        <p:spPr>
          <a:xfrm>
            <a:off x="2094914"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 Profitable/</a:t>
            </a:r>
            <a:endParaRPr/>
          </a:p>
          <a:p>
            <a:pPr indent="0" lvl="0" marL="0" marR="0" rtl="0" algn="ctr">
              <a:lnSpc>
                <a:spcPct val="95000"/>
              </a:lnSpc>
              <a:spcBef>
                <a:spcPts val="200"/>
              </a:spcBef>
              <a:spcAft>
                <a:spcPts val="0"/>
              </a:spcAft>
              <a:buNone/>
            </a:pPr>
            <a:r>
              <a:rPr lang="en-GB" sz="1000">
                <a:solidFill>
                  <a:schemeClr val="dk1"/>
                </a:solidFill>
                <a:latin typeface="Century Gothic"/>
                <a:ea typeface="Century Gothic"/>
                <a:cs typeface="Century Gothic"/>
                <a:sym typeface="Century Gothic"/>
              </a:rPr>
              <a:t>Unprofitable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Customers</a:t>
            </a:r>
            <a:endParaRPr sz="700">
              <a:solidFill>
                <a:schemeClr val="dk1"/>
              </a:solidFill>
              <a:latin typeface="Century Gothic"/>
              <a:ea typeface="Century Gothic"/>
              <a:cs typeface="Century Gothic"/>
              <a:sym typeface="Century Gothic"/>
            </a:endParaRPr>
          </a:p>
        </p:txBody>
      </p:sp>
      <p:sp>
        <p:nvSpPr>
          <p:cNvPr id="559" name="Google Shape;559;p50"/>
          <p:cNvSpPr/>
          <p:nvPr/>
        </p:nvSpPr>
        <p:spPr>
          <a:xfrm rot="5400000">
            <a:off x="2079372" y="265892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0" name="Google Shape;560;p50">
            <a:hlinkClick action="ppaction://hlinksldjump" r:id="rId9"/>
          </p:cNvPr>
          <p:cNvSpPr/>
          <p:nvPr/>
        </p:nvSpPr>
        <p:spPr>
          <a:xfrm>
            <a:off x="7010783"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Satisfaction Index</a:t>
            </a:r>
            <a:endParaRPr sz="1000">
              <a:solidFill>
                <a:schemeClr val="dk1"/>
              </a:solidFill>
              <a:latin typeface="Century Gothic"/>
              <a:ea typeface="Century Gothic"/>
              <a:cs typeface="Century Gothic"/>
              <a:sym typeface="Century Gothic"/>
            </a:endParaRPr>
          </a:p>
        </p:txBody>
      </p:sp>
      <p:sp>
        <p:nvSpPr>
          <p:cNvPr id="561" name="Google Shape;561;p50">
            <a:hlinkClick action="ppaction://hlinksldjump" r:id="rId10"/>
          </p:cNvPr>
          <p:cNvSpPr/>
          <p:nvPr/>
        </p:nvSpPr>
        <p:spPr>
          <a:xfrm>
            <a:off x="5375890"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Satisfaction NPS</a:t>
            </a:r>
            <a:endParaRPr sz="1000">
              <a:solidFill>
                <a:schemeClr val="dk1"/>
              </a:solidFill>
              <a:latin typeface="Century Gothic"/>
              <a:ea typeface="Century Gothic"/>
              <a:cs typeface="Century Gothic"/>
              <a:sym typeface="Century Gothic"/>
            </a:endParaRPr>
          </a:p>
        </p:txBody>
      </p:sp>
      <p:sp>
        <p:nvSpPr>
          <p:cNvPr id="562" name="Google Shape;562;p50"/>
          <p:cNvSpPr/>
          <p:nvPr/>
        </p:nvSpPr>
        <p:spPr>
          <a:xfrm rot="5400000">
            <a:off x="5362889" y="266130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3" name="Google Shape;563;p50"/>
          <p:cNvSpPr/>
          <p:nvPr/>
        </p:nvSpPr>
        <p:spPr>
          <a:xfrm rot="5400000">
            <a:off x="6994654" y="266130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4" name="Google Shape;564;p50">
            <a:hlinkClick action="ppaction://hlinksldjump" r:id="rId11"/>
          </p:cNvPr>
          <p:cNvSpPr/>
          <p:nvPr/>
        </p:nvSpPr>
        <p:spPr>
          <a:xfrm>
            <a:off x="2095501" y="313544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Predict Complaint</a:t>
            </a:r>
            <a:endParaRPr sz="700">
              <a:solidFill>
                <a:schemeClr val="dk1"/>
              </a:solidFill>
              <a:latin typeface="Century Gothic"/>
              <a:ea typeface="Century Gothic"/>
              <a:cs typeface="Century Gothic"/>
              <a:sym typeface="Century Gothic"/>
            </a:endParaRPr>
          </a:p>
        </p:txBody>
      </p:sp>
      <p:sp>
        <p:nvSpPr>
          <p:cNvPr id="565" name="Google Shape;565;p50">
            <a:hlinkClick action="ppaction://hlinksldjump" r:id="rId12"/>
          </p:cNvPr>
          <p:cNvSpPr/>
          <p:nvPr/>
        </p:nvSpPr>
        <p:spPr>
          <a:xfrm>
            <a:off x="3740832" y="31364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Broken</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Sub Optimal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Processes</a:t>
            </a:r>
            <a:endParaRPr sz="700">
              <a:solidFill>
                <a:schemeClr val="dk1"/>
              </a:solidFill>
              <a:latin typeface="Century Gothic"/>
              <a:ea typeface="Century Gothic"/>
              <a:cs typeface="Century Gothic"/>
              <a:sym typeface="Century Gothic"/>
            </a:endParaRPr>
          </a:p>
        </p:txBody>
      </p:sp>
      <p:sp>
        <p:nvSpPr>
          <p:cNvPr id="566" name="Google Shape;566;p50"/>
          <p:cNvSpPr/>
          <p:nvPr/>
        </p:nvSpPr>
        <p:spPr>
          <a:xfrm rot="5400000">
            <a:off x="3721906" y="339887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7" name="Google Shape;567;p50"/>
          <p:cNvSpPr/>
          <p:nvPr/>
        </p:nvSpPr>
        <p:spPr>
          <a:xfrm rot="5400000">
            <a:off x="2079372" y="338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8" name="Google Shape;568;p50">
            <a:hlinkClick action="ppaction://hlinksldjump" r:id="rId13"/>
          </p:cNvPr>
          <p:cNvSpPr/>
          <p:nvPr/>
        </p:nvSpPr>
        <p:spPr>
          <a:xfrm>
            <a:off x="5375889" y="313544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Call Centre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Sentiment</a:t>
            </a:r>
            <a:endParaRPr sz="700">
              <a:solidFill>
                <a:schemeClr val="dk1"/>
              </a:solidFill>
              <a:latin typeface="Century Gothic"/>
              <a:ea typeface="Century Gothic"/>
              <a:cs typeface="Century Gothic"/>
              <a:sym typeface="Century Gothic"/>
            </a:endParaRPr>
          </a:p>
        </p:txBody>
      </p:sp>
      <p:sp>
        <p:nvSpPr>
          <p:cNvPr id="569" name="Google Shape;569;p50"/>
          <p:cNvSpPr/>
          <p:nvPr/>
        </p:nvSpPr>
        <p:spPr>
          <a:xfrm rot="5400000">
            <a:off x="5347203" y="3400645"/>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0" name="Google Shape;570;p50">
            <a:hlinkClick action="ppaction://hlinksldjump" r:id="rId14"/>
          </p:cNvPr>
          <p:cNvSpPr/>
          <p:nvPr/>
        </p:nvSpPr>
        <p:spPr>
          <a:xfrm>
            <a:off x="2094913"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Sales Process Improvement</a:t>
            </a:r>
            <a:endParaRPr sz="1000">
              <a:solidFill>
                <a:schemeClr val="dk1"/>
              </a:solidFill>
              <a:latin typeface="Century Gothic"/>
              <a:ea typeface="Century Gothic"/>
              <a:cs typeface="Century Gothic"/>
              <a:sym typeface="Century Gothic"/>
            </a:endParaRPr>
          </a:p>
        </p:txBody>
      </p:sp>
      <p:sp>
        <p:nvSpPr>
          <p:cNvPr id="571" name="Google Shape;571;p50">
            <a:hlinkClick action="ppaction://hlinksldjump" r:id="rId15"/>
          </p:cNvPr>
          <p:cNvSpPr/>
          <p:nvPr/>
        </p:nvSpPr>
        <p:spPr>
          <a:xfrm>
            <a:off x="7010783" y="313544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Transaction Classification</a:t>
            </a:r>
            <a:endParaRPr sz="1000">
              <a:solidFill>
                <a:schemeClr val="dk1"/>
              </a:solidFill>
              <a:latin typeface="Century Gothic"/>
              <a:ea typeface="Century Gothic"/>
              <a:cs typeface="Century Gothic"/>
              <a:sym typeface="Century Gothic"/>
            </a:endParaRPr>
          </a:p>
        </p:txBody>
      </p:sp>
      <p:sp>
        <p:nvSpPr>
          <p:cNvPr id="572" name="Google Shape;572;p50"/>
          <p:cNvSpPr/>
          <p:nvPr/>
        </p:nvSpPr>
        <p:spPr>
          <a:xfrm rot="5400000">
            <a:off x="6994654" y="34051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3" name="Google Shape;573;p50"/>
          <p:cNvSpPr/>
          <p:nvPr/>
        </p:nvSpPr>
        <p:spPr>
          <a:xfrm rot="5400000">
            <a:off x="2078528" y="414693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4" name="Google Shape;574;p50">
            <a:hlinkClick action="ppaction://hlinksldjump" r:id="rId16"/>
          </p:cNvPr>
          <p:cNvSpPr/>
          <p:nvPr/>
        </p:nvSpPr>
        <p:spPr>
          <a:xfrm>
            <a:off x="3734906"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Purchase - Event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Based Marketing</a:t>
            </a:r>
            <a:endParaRPr sz="700">
              <a:solidFill>
                <a:schemeClr val="dk1"/>
              </a:solidFill>
              <a:latin typeface="Century Gothic"/>
              <a:ea typeface="Century Gothic"/>
              <a:cs typeface="Century Gothic"/>
              <a:sym typeface="Century Gothic"/>
            </a:endParaRPr>
          </a:p>
        </p:txBody>
      </p:sp>
      <p:sp>
        <p:nvSpPr>
          <p:cNvPr id="575" name="Google Shape;575;p50">
            <a:hlinkClick action="ppaction://hlinksldjump" r:id="rId17"/>
          </p:cNvPr>
          <p:cNvSpPr/>
          <p:nvPr/>
        </p:nvSpPr>
        <p:spPr>
          <a:xfrm>
            <a:off x="5374312"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Journey Analytics</a:t>
            </a:r>
            <a:endParaRPr sz="700">
              <a:solidFill>
                <a:schemeClr val="dk1"/>
              </a:solidFill>
              <a:latin typeface="Century Gothic"/>
              <a:ea typeface="Century Gothic"/>
              <a:cs typeface="Century Gothic"/>
              <a:sym typeface="Century Gothic"/>
            </a:endParaRPr>
          </a:p>
        </p:txBody>
      </p:sp>
      <p:sp>
        <p:nvSpPr>
          <p:cNvPr id="576" name="Google Shape;576;p50"/>
          <p:cNvSpPr/>
          <p:nvPr/>
        </p:nvSpPr>
        <p:spPr>
          <a:xfrm rot="5400000">
            <a:off x="5361311" y="413766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7" name="Google Shape;577;p50"/>
          <p:cNvSpPr/>
          <p:nvPr/>
        </p:nvSpPr>
        <p:spPr>
          <a:xfrm rot="5400000">
            <a:off x="3718777" y="413766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8" name="Google Shape;578;p50">
            <a:hlinkClick action="ppaction://hlinksldjump" r:id="rId18"/>
          </p:cNvPr>
          <p:cNvSpPr/>
          <p:nvPr/>
        </p:nvSpPr>
        <p:spPr>
          <a:xfrm>
            <a:off x="7010783"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Appointment</a:t>
            </a:r>
            <a:endParaRPr sz="700">
              <a:solidFill>
                <a:schemeClr val="dk1"/>
              </a:solidFill>
              <a:latin typeface="Century Gothic"/>
              <a:ea typeface="Century Gothic"/>
              <a:cs typeface="Century Gothic"/>
              <a:sym typeface="Century Gothic"/>
            </a:endParaRPr>
          </a:p>
        </p:txBody>
      </p:sp>
      <p:sp>
        <p:nvSpPr>
          <p:cNvPr id="579" name="Google Shape;579;p50"/>
          <p:cNvSpPr/>
          <p:nvPr/>
        </p:nvSpPr>
        <p:spPr>
          <a:xfrm rot="5400000">
            <a:off x="6994654" y="411447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0" name="Google Shape;580;p50">
            <a:hlinkClick action="ppaction://hlinksldjump" r:id="rId19"/>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50"/>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5</a:t>
            </a:r>
            <a:endParaRPr sz="800">
              <a:solidFill>
                <a:srgbClr val="FFFFFF"/>
              </a:solidFill>
              <a:latin typeface="Century Gothic"/>
              <a:ea typeface="Century Gothic"/>
              <a:cs typeface="Century Gothic"/>
              <a:sym typeface="Century Gothic"/>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6" name="Shape 586"/>
        <p:cNvGrpSpPr/>
        <p:nvPr/>
      </p:nvGrpSpPr>
      <p:grpSpPr>
        <a:xfrm>
          <a:off x="0" y="0"/>
          <a:ext cx="0" cy="0"/>
          <a:chOff x="0" y="0"/>
          <a:chExt cx="0" cy="0"/>
        </a:xfrm>
      </p:grpSpPr>
      <p:sp>
        <p:nvSpPr>
          <p:cNvPr id="587" name="Google Shape;587;p51"/>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8" name="Google Shape;588;p5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589" name="Google Shape;589;p51"/>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590" name="Google Shape;590;p51"/>
          <p:cNvGrpSpPr/>
          <p:nvPr/>
        </p:nvGrpSpPr>
        <p:grpSpPr>
          <a:xfrm>
            <a:off x="2100364" y="1348315"/>
            <a:ext cx="281520" cy="241973"/>
            <a:chOff x="5652748" y="4066000"/>
            <a:chExt cx="906498" cy="747974"/>
          </a:xfrm>
        </p:grpSpPr>
        <p:sp>
          <p:nvSpPr>
            <p:cNvPr id="591" name="Google Shape;591;p5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92" name="Google Shape;592;p5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3" name="Google Shape;593;p5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594" name="Google Shape;594;p51"/>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595" name="Google Shape;595;p51"/>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Insight Driven Customer Management business value</a:t>
            </a:r>
            <a:endParaRPr sz="1600"/>
          </a:p>
        </p:txBody>
      </p:sp>
      <p:sp>
        <p:nvSpPr>
          <p:cNvPr id="596" name="Google Shape;596;p51">
            <a:hlinkClick action="ppaction://hlinksldjump" r:id="rId3"/>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51"/>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5</a:t>
            </a:r>
            <a:endParaRPr/>
          </a:p>
        </p:txBody>
      </p:sp>
      <p:sp>
        <p:nvSpPr>
          <p:cNvPr id="598" name="Google Shape;598;p51">
            <a:hlinkClick action="ppaction://hlinksldjump" r:id="rId4"/>
          </p:cNvPr>
          <p:cNvSpPr/>
          <p:nvPr/>
        </p:nvSpPr>
        <p:spPr>
          <a:xfrm>
            <a:off x="565902" y="1683866"/>
            <a:ext cx="1395519" cy="2857339"/>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599" name="Google Shape;599;p51"/>
          <p:cNvSpPr/>
          <p:nvPr/>
        </p:nvSpPr>
        <p:spPr>
          <a:xfrm rot="5400000">
            <a:off x="3721906"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0" name="Google Shape;600;p51">
            <a:hlinkClick action="ppaction://hlinksldjump" r:id="rId5"/>
          </p:cNvPr>
          <p:cNvSpPr/>
          <p:nvPr/>
        </p:nvSpPr>
        <p:spPr>
          <a:xfrm>
            <a:off x="209491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Product Sequence: Path to Value</a:t>
            </a:r>
            <a:endParaRPr sz="700">
              <a:solidFill>
                <a:schemeClr val="dk1"/>
              </a:solidFill>
              <a:latin typeface="Century Gothic"/>
              <a:ea typeface="Century Gothic"/>
              <a:cs typeface="Century Gothic"/>
              <a:sym typeface="Century Gothic"/>
            </a:endParaRPr>
          </a:p>
        </p:txBody>
      </p:sp>
      <p:sp>
        <p:nvSpPr>
          <p:cNvPr id="601" name="Google Shape;601;p51"/>
          <p:cNvSpPr/>
          <p:nvPr/>
        </p:nvSpPr>
        <p:spPr>
          <a:xfrm rot="5400000">
            <a:off x="3716854"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2" name="Google Shape;602;p51">
            <a:hlinkClick action="ppaction://hlinksldjump" r:id="rId6"/>
          </p:cNvPr>
          <p:cNvSpPr/>
          <p:nvPr/>
        </p:nvSpPr>
        <p:spPr>
          <a:xfrm>
            <a:off x="3734907"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Spending Journey</a:t>
            </a:r>
            <a:endParaRPr sz="700">
              <a:solidFill>
                <a:schemeClr val="dk1"/>
              </a:solidFill>
              <a:latin typeface="Century Gothic"/>
              <a:ea typeface="Century Gothic"/>
              <a:cs typeface="Century Gothic"/>
              <a:sym typeface="Century Gothic"/>
            </a:endParaRPr>
          </a:p>
        </p:txBody>
      </p:sp>
      <p:sp>
        <p:nvSpPr>
          <p:cNvPr id="603" name="Google Shape;603;p51"/>
          <p:cNvSpPr/>
          <p:nvPr/>
        </p:nvSpPr>
        <p:spPr>
          <a:xfrm rot="5400000">
            <a:off x="3716854"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4" name="Google Shape;604;p51"/>
          <p:cNvSpPr/>
          <p:nvPr/>
        </p:nvSpPr>
        <p:spPr>
          <a:xfrm rot="5400000">
            <a:off x="2079372"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5" name="Google Shape;605;p51">
            <a:hlinkClick action="ppaction://hlinksldjump" r:id="rId7"/>
          </p:cNvPr>
          <p:cNvSpPr/>
          <p:nvPr/>
        </p:nvSpPr>
        <p:spPr>
          <a:xfrm>
            <a:off x="5372103"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Abandoned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Online Purchase</a:t>
            </a:r>
            <a:endParaRPr sz="1000">
              <a:solidFill>
                <a:schemeClr val="dk1"/>
              </a:solidFill>
              <a:latin typeface="Century Gothic"/>
              <a:ea typeface="Century Gothic"/>
              <a:cs typeface="Century Gothic"/>
              <a:sym typeface="Century Gothic"/>
            </a:endParaRPr>
          </a:p>
        </p:txBody>
      </p:sp>
      <p:sp>
        <p:nvSpPr>
          <p:cNvPr id="606" name="Google Shape;606;p51">
            <a:hlinkClick action="ppaction://hlinksldjump" r:id="rId8"/>
          </p:cNvPr>
          <p:cNvSpPr/>
          <p:nvPr/>
        </p:nvSpPr>
        <p:spPr>
          <a:xfrm>
            <a:off x="373490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Lead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Generation From Branch Notes</a:t>
            </a:r>
            <a:endParaRPr sz="1000">
              <a:solidFill>
                <a:schemeClr val="dk1"/>
              </a:solidFill>
              <a:latin typeface="Century Gothic"/>
              <a:ea typeface="Century Gothic"/>
              <a:cs typeface="Century Gothic"/>
              <a:sym typeface="Century Gothic"/>
            </a:endParaRPr>
          </a:p>
        </p:txBody>
      </p:sp>
      <p:sp>
        <p:nvSpPr>
          <p:cNvPr id="607" name="Google Shape;607;p51">
            <a:hlinkClick action="ppaction://hlinksldjump" r:id="rId9"/>
          </p:cNvPr>
          <p:cNvSpPr/>
          <p:nvPr/>
        </p:nvSpPr>
        <p:spPr>
          <a:xfrm>
            <a:off x="2094913"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Portfolio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Increase and New ”Win Over”</a:t>
            </a:r>
            <a:endParaRPr sz="1000">
              <a:solidFill>
                <a:schemeClr val="dk1"/>
              </a:solidFill>
              <a:latin typeface="Century Gothic"/>
              <a:ea typeface="Century Gothic"/>
              <a:cs typeface="Century Gothic"/>
              <a:sym typeface="Century Gothic"/>
            </a:endParaRPr>
          </a:p>
        </p:txBody>
      </p:sp>
      <p:sp>
        <p:nvSpPr>
          <p:cNvPr id="608" name="Google Shape;608;p51">
            <a:hlinkClick action="ppaction://hlinksldjump" r:id="rId10"/>
          </p:cNvPr>
          <p:cNvSpPr/>
          <p:nvPr/>
        </p:nvSpPr>
        <p:spPr>
          <a:xfrm>
            <a:off x="7012096" y="166458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Wealth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Management</a:t>
            </a:r>
            <a:endParaRPr/>
          </a:p>
          <a:p>
            <a:pPr indent="0" lvl="0" marL="0" marR="0" rtl="0" algn="ctr">
              <a:lnSpc>
                <a:spcPct val="95000"/>
              </a:lnSpc>
              <a:spcBef>
                <a:spcPts val="200"/>
              </a:spcBef>
              <a:spcAft>
                <a:spcPts val="0"/>
              </a:spcAft>
              <a:buNone/>
            </a:pPr>
            <a:r>
              <a:rPr lang="en-GB" sz="1000">
                <a:solidFill>
                  <a:schemeClr val="dk1"/>
                </a:solidFill>
                <a:latin typeface="Century Gothic"/>
                <a:ea typeface="Century Gothic"/>
                <a:cs typeface="Century Gothic"/>
                <a:sym typeface="Century Gothic"/>
              </a:rPr>
              <a:t>Proactive Advice</a:t>
            </a:r>
            <a:endParaRPr sz="1000">
              <a:solidFill>
                <a:schemeClr val="dk1"/>
              </a:solidFill>
              <a:latin typeface="Century Gothic"/>
              <a:ea typeface="Century Gothic"/>
              <a:cs typeface="Century Gothic"/>
              <a:sym typeface="Century Gothic"/>
            </a:endParaRPr>
          </a:p>
        </p:txBody>
      </p:sp>
      <p:sp>
        <p:nvSpPr>
          <p:cNvPr id="609" name="Google Shape;609;p51"/>
          <p:cNvSpPr/>
          <p:nvPr/>
        </p:nvSpPr>
        <p:spPr>
          <a:xfrm rot="5400000">
            <a:off x="6999095" y="1932769"/>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0" name="Google Shape;610;p51"/>
          <p:cNvSpPr/>
          <p:nvPr/>
        </p:nvSpPr>
        <p:spPr>
          <a:xfrm rot="5400000">
            <a:off x="5356561" y="1932769"/>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1" name="Google Shape;611;p51"/>
          <p:cNvSpPr/>
          <p:nvPr/>
        </p:nvSpPr>
        <p:spPr>
          <a:xfrm rot="5400000">
            <a:off x="3718521"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2" name="Google Shape;612;p51">
            <a:hlinkClick action="ppaction://hlinksldjump" r:id="rId11"/>
          </p:cNvPr>
          <p:cNvSpPr/>
          <p:nvPr/>
        </p:nvSpPr>
        <p:spPr>
          <a:xfrm>
            <a:off x="5372690" y="24526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Potential Money Flow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To Retain</a:t>
            </a:r>
            <a:endParaRPr sz="700">
              <a:solidFill>
                <a:schemeClr val="dk1"/>
              </a:solidFill>
              <a:latin typeface="Century Gothic"/>
              <a:ea typeface="Century Gothic"/>
              <a:cs typeface="Century Gothic"/>
              <a:sym typeface="Century Gothic"/>
            </a:endParaRPr>
          </a:p>
        </p:txBody>
      </p:sp>
      <p:sp>
        <p:nvSpPr>
          <p:cNvPr id="613" name="Google Shape;613;p51"/>
          <p:cNvSpPr/>
          <p:nvPr/>
        </p:nvSpPr>
        <p:spPr>
          <a:xfrm rot="5400000">
            <a:off x="5356561" y="269869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4" name="Google Shape;614;p51"/>
          <p:cNvSpPr/>
          <p:nvPr/>
        </p:nvSpPr>
        <p:spPr>
          <a:xfrm rot="5400000">
            <a:off x="7004127" y="2696093"/>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5" name="Google Shape;615;p51">
            <a:hlinkClick action="ppaction://hlinksldjump" r:id="rId12"/>
          </p:cNvPr>
          <p:cNvSpPr/>
          <p:nvPr/>
        </p:nvSpPr>
        <p:spPr>
          <a:xfrm>
            <a:off x="701522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Investor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Segmentation</a:t>
            </a:r>
            <a:endParaRPr sz="700">
              <a:solidFill>
                <a:schemeClr val="dk1"/>
              </a:solidFill>
              <a:latin typeface="Century Gothic"/>
              <a:ea typeface="Century Gothic"/>
              <a:cs typeface="Century Gothic"/>
              <a:sym typeface="Century Gothic"/>
            </a:endParaRPr>
          </a:p>
        </p:txBody>
      </p:sp>
      <p:sp>
        <p:nvSpPr>
          <p:cNvPr id="616" name="Google Shape;616;p51"/>
          <p:cNvSpPr/>
          <p:nvPr/>
        </p:nvSpPr>
        <p:spPr>
          <a:xfrm rot="5400000">
            <a:off x="7004127" y="268253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7" name="Google Shape;617;p51">
            <a:hlinkClick action="ppaction://hlinksldjump" r:id="rId13"/>
          </p:cNvPr>
          <p:cNvSpPr/>
          <p:nvPr/>
        </p:nvSpPr>
        <p:spPr>
          <a:xfrm>
            <a:off x="5380349" y="318757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People Like Me</a:t>
            </a:r>
            <a:endParaRPr sz="700">
              <a:solidFill>
                <a:schemeClr val="dk1"/>
              </a:solidFill>
              <a:latin typeface="Century Gothic"/>
              <a:ea typeface="Century Gothic"/>
              <a:cs typeface="Century Gothic"/>
              <a:sym typeface="Century Gothic"/>
            </a:endParaRPr>
          </a:p>
        </p:txBody>
      </p:sp>
      <p:sp>
        <p:nvSpPr>
          <p:cNvPr id="618" name="Google Shape;618;p51">
            <a:hlinkClick action="ppaction://hlinksldjump" r:id="rId14"/>
          </p:cNvPr>
          <p:cNvSpPr/>
          <p:nvPr/>
        </p:nvSpPr>
        <p:spPr>
          <a:xfrm>
            <a:off x="3759112"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Credit/Debit Card Spend Stimulation</a:t>
            </a:r>
            <a:endParaRPr sz="700">
              <a:solidFill>
                <a:schemeClr val="dk1"/>
              </a:solidFill>
              <a:latin typeface="Century Gothic"/>
              <a:ea typeface="Century Gothic"/>
              <a:cs typeface="Century Gothic"/>
              <a:sym typeface="Century Gothic"/>
            </a:endParaRPr>
          </a:p>
        </p:txBody>
      </p:sp>
      <p:sp>
        <p:nvSpPr>
          <p:cNvPr id="619" name="Google Shape;619;p51">
            <a:hlinkClick action="ppaction://hlinksldjump" r:id="rId15"/>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‘Hidden’ Individual Business Owners</a:t>
            </a:r>
            <a:endParaRPr sz="700">
              <a:solidFill>
                <a:schemeClr val="dk1"/>
              </a:solidFill>
              <a:latin typeface="Century Gothic"/>
              <a:ea typeface="Century Gothic"/>
              <a:cs typeface="Century Gothic"/>
              <a:sym typeface="Century Gothic"/>
            </a:endParaRPr>
          </a:p>
        </p:txBody>
      </p:sp>
      <p:sp>
        <p:nvSpPr>
          <p:cNvPr id="620" name="Google Shape;620;p51"/>
          <p:cNvSpPr/>
          <p:nvPr/>
        </p:nvSpPr>
        <p:spPr>
          <a:xfrm rot="5400000">
            <a:off x="3742983" y="345079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1" name="Google Shape;621;p51"/>
          <p:cNvSpPr/>
          <p:nvPr/>
        </p:nvSpPr>
        <p:spPr>
          <a:xfrm rot="5400000">
            <a:off x="5367908" y="345079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2" name="Google Shape;622;p51"/>
          <p:cNvSpPr/>
          <p:nvPr/>
        </p:nvSpPr>
        <p:spPr>
          <a:xfrm rot="5400000">
            <a:off x="2084235" y="345079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3" name="Google Shape;623;p51">
            <a:hlinkClick action="ppaction://hlinksldjump" r:id="rId16"/>
          </p:cNvPr>
          <p:cNvSpPr/>
          <p:nvPr/>
        </p:nvSpPr>
        <p:spPr>
          <a:xfrm>
            <a:off x="2094912"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Hidden ‘Preferred’ Customers</a:t>
            </a:r>
            <a:endParaRPr sz="1000">
              <a:solidFill>
                <a:schemeClr val="dk1"/>
              </a:solidFill>
              <a:latin typeface="Century Gothic"/>
              <a:ea typeface="Century Gothic"/>
              <a:cs typeface="Century Gothic"/>
              <a:sym typeface="Century Gothic"/>
            </a:endParaRPr>
          </a:p>
        </p:txBody>
      </p:sp>
      <p:sp>
        <p:nvSpPr>
          <p:cNvPr id="624" name="Google Shape;624;p51"/>
          <p:cNvSpPr/>
          <p:nvPr/>
        </p:nvSpPr>
        <p:spPr>
          <a:xfrm rot="5400000">
            <a:off x="2081911" y="417700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5" name="Google Shape;625;p51">
            <a:hlinkClick action="ppaction://hlinksldjump" r:id="rId17"/>
          </p:cNvPr>
          <p:cNvSpPr/>
          <p:nvPr/>
        </p:nvSpPr>
        <p:spPr>
          <a:xfrm>
            <a:off x="7012095" y="318757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Attitudinal Segmentation</a:t>
            </a:r>
            <a:endParaRPr sz="700">
              <a:solidFill>
                <a:schemeClr val="dk1"/>
              </a:solidFill>
              <a:latin typeface="Century Gothic"/>
              <a:ea typeface="Century Gothic"/>
              <a:cs typeface="Century Gothic"/>
              <a:sym typeface="Century Gothic"/>
            </a:endParaRPr>
          </a:p>
        </p:txBody>
      </p:sp>
      <p:sp>
        <p:nvSpPr>
          <p:cNvPr id="626" name="Google Shape;626;p51"/>
          <p:cNvSpPr/>
          <p:nvPr/>
        </p:nvSpPr>
        <p:spPr>
          <a:xfrm rot="5400000">
            <a:off x="6996553" y="345337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7" name="Google Shape;627;p51">
            <a:hlinkClick action="ppaction://hlinksldjump" r:id="rId18"/>
          </p:cNvPr>
          <p:cNvSpPr/>
          <p:nvPr/>
        </p:nvSpPr>
        <p:spPr>
          <a:xfrm>
            <a:off x="5374899"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Social Network</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Driven Potential Value”</a:t>
            </a:r>
            <a:endParaRPr sz="1000">
              <a:solidFill>
                <a:schemeClr val="dk1"/>
              </a:solidFill>
              <a:latin typeface="Century Gothic"/>
              <a:ea typeface="Century Gothic"/>
              <a:cs typeface="Century Gothic"/>
              <a:sym typeface="Century Gothic"/>
            </a:endParaRPr>
          </a:p>
        </p:txBody>
      </p:sp>
      <p:sp>
        <p:nvSpPr>
          <p:cNvPr id="628" name="Google Shape;628;p51"/>
          <p:cNvSpPr/>
          <p:nvPr/>
        </p:nvSpPr>
        <p:spPr>
          <a:xfrm rot="5400000">
            <a:off x="5355973" y="417939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9" name="Google Shape;629;p51">
            <a:hlinkClick action="ppaction://hlinksldjump" r:id="rId19"/>
          </p:cNvPr>
          <p:cNvSpPr/>
          <p:nvPr/>
        </p:nvSpPr>
        <p:spPr>
          <a:xfrm>
            <a:off x="3734907"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Propensity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Modeling</a:t>
            </a:r>
            <a:endParaRPr sz="1000">
              <a:solidFill>
                <a:schemeClr val="dk1"/>
              </a:solidFill>
              <a:latin typeface="Century Gothic"/>
              <a:ea typeface="Century Gothic"/>
              <a:cs typeface="Century Gothic"/>
              <a:sym typeface="Century Gothic"/>
            </a:endParaRPr>
          </a:p>
        </p:txBody>
      </p:sp>
      <p:sp>
        <p:nvSpPr>
          <p:cNvPr id="630" name="Google Shape;630;p51"/>
          <p:cNvSpPr/>
          <p:nvPr/>
        </p:nvSpPr>
        <p:spPr>
          <a:xfrm rot="5400000">
            <a:off x="3721906" y="417939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1" name="Google Shape;631;p51">
            <a:hlinkClick action="ppaction://hlinksldjump" r:id="rId20"/>
          </p:cNvPr>
          <p:cNvSpPr/>
          <p:nvPr/>
        </p:nvSpPr>
        <p:spPr>
          <a:xfrm>
            <a:off x="7012094"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Network Analysis</a:t>
            </a:r>
            <a:endParaRPr sz="700">
              <a:solidFill>
                <a:schemeClr val="dk1"/>
              </a:solidFill>
              <a:latin typeface="Century Gothic"/>
              <a:ea typeface="Century Gothic"/>
              <a:cs typeface="Century Gothic"/>
              <a:sym typeface="Century Gothic"/>
            </a:endParaRPr>
          </a:p>
        </p:txBody>
      </p:sp>
      <p:sp>
        <p:nvSpPr>
          <p:cNvPr id="632" name="Google Shape;632;p51"/>
          <p:cNvSpPr/>
          <p:nvPr/>
        </p:nvSpPr>
        <p:spPr>
          <a:xfrm rot="5400000">
            <a:off x="6995965" y="4173665"/>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3" name="Google Shape;633;p51"/>
          <p:cNvSpPr/>
          <p:nvPr/>
        </p:nvSpPr>
        <p:spPr>
          <a:xfrm rot="5400000">
            <a:off x="2078784"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4" name="Google Shape;634;p51">
            <a:hlinkClick action="ppaction://hlinksldjump" r:id="rId21"/>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51"/>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5</a:t>
            </a:r>
            <a:endParaRPr sz="800">
              <a:solidFill>
                <a:srgbClr val="FFFFFF"/>
              </a:solidFill>
              <a:latin typeface="Century Gothic"/>
              <a:ea typeface="Century Gothic"/>
              <a:cs typeface="Century Gothic"/>
              <a:sym typeface="Century Gothic"/>
            </a:endParaRPr>
          </a:p>
        </p:txBody>
      </p:sp>
      <p:sp>
        <p:nvSpPr>
          <p:cNvPr id="636" name="Google Shape;636;p51">
            <a:hlinkClick action="ppaction://hlinksldjump" r:id="rId2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1" name="Shape 641"/>
        <p:cNvGrpSpPr/>
        <p:nvPr/>
      </p:nvGrpSpPr>
      <p:grpSpPr>
        <a:xfrm>
          <a:off x="0" y="0"/>
          <a:ext cx="0" cy="0"/>
          <a:chOff x="0" y="0"/>
          <a:chExt cx="0" cy="0"/>
        </a:xfrm>
      </p:grpSpPr>
      <p:sp>
        <p:nvSpPr>
          <p:cNvPr id="642" name="Google Shape;642;p52"/>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3" name="Google Shape;643;p52"/>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644" name="Google Shape;644;p52"/>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645" name="Google Shape;645;p52"/>
          <p:cNvGrpSpPr/>
          <p:nvPr/>
        </p:nvGrpSpPr>
        <p:grpSpPr>
          <a:xfrm>
            <a:off x="2100364" y="1348315"/>
            <a:ext cx="281520" cy="241973"/>
            <a:chOff x="5652748" y="4066000"/>
            <a:chExt cx="906498" cy="747974"/>
          </a:xfrm>
        </p:grpSpPr>
        <p:sp>
          <p:nvSpPr>
            <p:cNvPr id="646" name="Google Shape;646;p5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47" name="Google Shape;647;p5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8" name="Google Shape;648;p5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649" name="Google Shape;649;p52"/>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650" name="Google Shape;650;p52"/>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Insight Driven Customer Management business value</a:t>
            </a:r>
            <a:endParaRPr sz="1600"/>
          </a:p>
        </p:txBody>
      </p:sp>
      <p:sp>
        <p:nvSpPr>
          <p:cNvPr id="651" name="Google Shape;651;p52">
            <a:hlinkClick action="ppaction://hlinksldjump" r:id="rId3"/>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52"/>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5</a:t>
            </a:r>
            <a:endParaRPr/>
          </a:p>
        </p:txBody>
      </p:sp>
      <p:sp>
        <p:nvSpPr>
          <p:cNvPr id="653" name="Google Shape;653;p52">
            <a:hlinkClick action="ppaction://hlinksldjump" r:id="rId4"/>
          </p:cNvPr>
          <p:cNvSpPr/>
          <p:nvPr/>
        </p:nvSpPr>
        <p:spPr>
          <a:xfrm>
            <a:off x="565902" y="1683866"/>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654" name="Google Shape;654;p52">
            <a:hlinkClick action="ppaction://hlinksldjump" r:id="rId5"/>
          </p:cNvPr>
          <p:cNvSpPr/>
          <p:nvPr/>
        </p:nvSpPr>
        <p:spPr>
          <a:xfrm>
            <a:off x="210036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Client Connections</a:t>
            </a:r>
            <a:endParaRPr sz="700">
              <a:solidFill>
                <a:schemeClr val="dk1"/>
              </a:solidFill>
              <a:latin typeface="Century Gothic"/>
              <a:ea typeface="Century Gothic"/>
              <a:cs typeface="Century Gothic"/>
              <a:sym typeface="Century Gothic"/>
            </a:endParaRPr>
          </a:p>
        </p:txBody>
      </p:sp>
      <p:sp>
        <p:nvSpPr>
          <p:cNvPr id="655" name="Google Shape;655;p52"/>
          <p:cNvSpPr/>
          <p:nvPr/>
        </p:nvSpPr>
        <p:spPr>
          <a:xfrm rot="5400000">
            <a:off x="2087363" y="194632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6" name="Google Shape;656;p52"/>
          <p:cNvSpPr/>
          <p:nvPr/>
        </p:nvSpPr>
        <p:spPr>
          <a:xfrm rot="5400000">
            <a:off x="5364163"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7" name="Google Shape;657;p52">
            <a:hlinkClick action="ppaction://hlinksldjump" r:id="rId6"/>
          </p:cNvPr>
          <p:cNvSpPr/>
          <p:nvPr/>
        </p:nvSpPr>
        <p:spPr>
          <a:xfrm>
            <a:off x="3737171"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Holder Behavior Analysis</a:t>
            </a:r>
            <a:endParaRPr sz="700">
              <a:solidFill>
                <a:schemeClr val="dk1"/>
              </a:solidFill>
              <a:latin typeface="Century Gothic"/>
              <a:ea typeface="Century Gothic"/>
              <a:cs typeface="Century Gothic"/>
              <a:sym typeface="Century Gothic"/>
            </a:endParaRPr>
          </a:p>
        </p:txBody>
      </p:sp>
      <p:sp>
        <p:nvSpPr>
          <p:cNvPr id="658" name="Google Shape;658;p52"/>
          <p:cNvSpPr/>
          <p:nvPr/>
        </p:nvSpPr>
        <p:spPr>
          <a:xfrm rot="5400000">
            <a:off x="5359111"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9" name="Google Shape;659;p52">
            <a:hlinkClick action="ppaction://hlinksldjump" r:id="rId7"/>
          </p:cNvPr>
          <p:cNvSpPr/>
          <p:nvPr/>
        </p:nvSpPr>
        <p:spPr>
          <a:xfrm>
            <a:off x="537716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Client Branch Visit Preference</a:t>
            </a:r>
            <a:endParaRPr sz="700">
              <a:solidFill>
                <a:schemeClr val="dk1"/>
              </a:solidFill>
              <a:latin typeface="Century Gothic"/>
              <a:ea typeface="Century Gothic"/>
              <a:cs typeface="Century Gothic"/>
              <a:sym typeface="Century Gothic"/>
            </a:endParaRPr>
          </a:p>
        </p:txBody>
      </p:sp>
      <p:sp>
        <p:nvSpPr>
          <p:cNvPr id="660" name="Google Shape;660;p52"/>
          <p:cNvSpPr/>
          <p:nvPr/>
        </p:nvSpPr>
        <p:spPr>
          <a:xfrm rot="5400000">
            <a:off x="5359111"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1" name="Google Shape;661;p52"/>
          <p:cNvSpPr/>
          <p:nvPr/>
        </p:nvSpPr>
        <p:spPr>
          <a:xfrm rot="5400000">
            <a:off x="3721629"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2" name="Google Shape;662;p52">
            <a:hlinkClick action="ppaction://hlinksldjump" r:id="rId8"/>
          </p:cNvPr>
          <p:cNvSpPr/>
          <p:nvPr/>
        </p:nvSpPr>
        <p:spPr>
          <a:xfrm>
            <a:off x="70108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Life-Based Events</a:t>
            </a:r>
            <a:endParaRPr sz="1000">
              <a:solidFill>
                <a:schemeClr val="dk1"/>
              </a:solidFill>
              <a:latin typeface="Century Gothic"/>
              <a:ea typeface="Century Gothic"/>
              <a:cs typeface="Century Gothic"/>
              <a:sym typeface="Century Gothic"/>
            </a:endParaRPr>
          </a:p>
        </p:txBody>
      </p:sp>
      <p:sp>
        <p:nvSpPr>
          <p:cNvPr id="663" name="Google Shape;663;p52"/>
          <p:cNvSpPr/>
          <p:nvPr/>
        </p:nvSpPr>
        <p:spPr>
          <a:xfrm rot="5400000">
            <a:off x="6997813"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4" name="Google Shape;664;p52">
            <a:hlinkClick action="ppaction://hlinksldjump" r:id="rId9"/>
          </p:cNvPr>
          <p:cNvSpPr/>
          <p:nvPr/>
        </p:nvSpPr>
        <p:spPr>
          <a:xfrm>
            <a:off x="565902" y="2413036"/>
            <a:ext cx="1395519" cy="2114217"/>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Lifecycle Management</a:t>
            </a:r>
            <a:endParaRPr sz="1100">
              <a:solidFill>
                <a:srgbClr val="FFFFFF"/>
              </a:solidFill>
              <a:latin typeface="Century Gothic"/>
              <a:ea typeface="Century Gothic"/>
              <a:cs typeface="Century Gothic"/>
              <a:sym typeface="Century Gothic"/>
            </a:endParaRPr>
          </a:p>
        </p:txBody>
      </p:sp>
      <p:sp>
        <p:nvSpPr>
          <p:cNvPr id="665" name="Google Shape;665;p52">
            <a:hlinkClick action="ppaction://hlinksldjump" r:id="rId10"/>
          </p:cNvPr>
          <p:cNvSpPr/>
          <p:nvPr/>
        </p:nvSpPr>
        <p:spPr>
          <a:xfrm>
            <a:off x="5383477"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Product Sequence: Path To Value</a:t>
            </a:r>
            <a:endParaRPr sz="1000">
              <a:solidFill>
                <a:schemeClr val="dk1"/>
              </a:solidFill>
              <a:latin typeface="Century Gothic"/>
              <a:ea typeface="Century Gothic"/>
              <a:cs typeface="Century Gothic"/>
              <a:sym typeface="Century Gothic"/>
            </a:endParaRPr>
          </a:p>
        </p:txBody>
      </p:sp>
      <p:sp>
        <p:nvSpPr>
          <p:cNvPr id="666" name="Google Shape;666;p52"/>
          <p:cNvSpPr/>
          <p:nvPr/>
        </p:nvSpPr>
        <p:spPr>
          <a:xfrm rot="5400000">
            <a:off x="5367092" y="267883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7" name="Google Shape;667;p52">
            <a:hlinkClick action="ppaction://hlinksldjump" r:id="rId11"/>
          </p:cNvPr>
          <p:cNvSpPr/>
          <p:nvPr/>
        </p:nvSpPr>
        <p:spPr>
          <a:xfrm>
            <a:off x="3743484"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Prospect Screener</a:t>
            </a:r>
            <a:endParaRPr sz="1000">
              <a:solidFill>
                <a:schemeClr val="dk1"/>
              </a:solidFill>
              <a:latin typeface="Century Gothic"/>
              <a:ea typeface="Century Gothic"/>
              <a:cs typeface="Century Gothic"/>
              <a:sym typeface="Century Gothic"/>
            </a:endParaRPr>
          </a:p>
        </p:txBody>
      </p:sp>
      <p:sp>
        <p:nvSpPr>
          <p:cNvPr id="668" name="Google Shape;668;p52"/>
          <p:cNvSpPr/>
          <p:nvPr/>
        </p:nvSpPr>
        <p:spPr>
          <a:xfrm rot="5400000">
            <a:off x="3724558" y="267883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9" name="Google Shape;669;p52">
            <a:hlinkClick action="ppaction://hlinksldjump" r:id="rId12"/>
          </p:cNvPr>
          <p:cNvSpPr/>
          <p:nvPr/>
        </p:nvSpPr>
        <p:spPr>
          <a:xfrm>
            <a:off x="2103492"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Lunch Buddy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Analysis</a:t>
            </a:r>
            <a:endParaRPr sz="1000">
              <a:solidFill>
                <a:schemeClr val="dk1"/>
              </a:solidFill>
              <a:latin typeface="Century Gothic"/>
              <a:ea typeface="Century Gothic"/>
              <a:cs typeface="Century Gothic"/>
              <a:sym typeface="Century Gothic"/>
            </a:endParaRPr>
          </a:p>
        </p:txBody>
      </p:sp>
      <p:sp>
        <p:nvSpPr>
          <p:cNvPr id="670" name="Google Shape;670;p52"/>
          <p:cNvSpPr/>
          <p:nvPr/>
        </p:nvSpPr>
        <p:spPr>
          <a:xfrm rot="5400000">
            <a:off x="2090491" y="267883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1" name="Google Shape;671;p52">
            <a:hlinkClick action="ppaction://hlinksldjump" r:id="rId13"/>
          </p:cNvPr>
          <p:cNvSpPr/>
          <p:nvPr/>
        </p:nvSpPr>
        <p:spPr>
          <a:xfrm>
            <a:off x="7013942"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 Churn</a:t>
            </a:r>
            <a:endParaRPr/>
          </a:p>
        </p:txBody>
      </p:sp>
      <p:sp>
        <p:nvSpPr>
          <p:cNvPr id="672" name="Google Shape;672;p52"/>
          <p:cNvSpPr/>
          <p:nvPr/>
        </p:nvSpPr>
        <p:spPr>
          <a:xfrm rot="5400000">
            <a:off x="7000941" y="267549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3" name="Google Shape;673;p52">
            <a:hlinkClick action="ppaction://hlinksldjump" r:id="rId14"/>
          </p:cNvPr>
          <p:cNvSpPr/>
          <p:nvPr/>
        </p:nvSpPr>
        <p:spPr>
          <a:xfrm>
            <a:off x="2106620" y="315912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’Balance” Churners</a:t>
            </a:r>
            <a:endParaRPr sz="700">
              <a:solidFill>
                <a:schemeClr val="dk1"/>
              </a:solidFill>
              <a:latin typeface="Century Gothic"/>
              <a:ea typeface="Century Gothic"/>
              <a:cs typeface="Century Gothic"/>
              <a:sym typeface="Century Gothic"/>
            </a:endParaRPr>
          </a:p>
        </p:txBody>
      </p:sp>
      <p:sp>
        <p:nvSpPr>
          <p:cNvPr id="674" name="Google Shape;674;p52"/>
          <p:cNvSpPr/>
          <p:nvPr/>
        </p:nvSpPr>
        <p:spPr>
          <a:xfrm rot="5400000">
            <a:off x="2087694" y="3421585"/>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5" name="Google Shape;675;p52">
            <a:hlinkClick action="ppaction://hlinksldjump" r:id="rId15"/>
          </p:cNvPr>
          <p:cNvSpPr/>
          <p:nvPr/>
        </p:nvSpPr>
        <p:spPr>
          <a:xfrm>
            <a:off x="3741325" y="315912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Balance Churn</a:t>
            </a:r>
            <a:endParaRPr sz="700">
              <a:solidFill>
                <a:schemeClr val="dk1"/>
              </a:solidFill>
              <a:latin typeface="Century Gothic"/>
              <a:ea typeface="Century Gothic"/>
              <a:cs typeface="Century Gothic"/>
              <a:sym typeface="Century Gothic"/>
            </a:endParaRPr>
          </a:p>
        </p:txBody>
      </p:sp>
      <p:sp>
        <p:nvSpPr>
          <p:cNvPr id="676" name="Google Shape;676;p52"/>
          <p:cNvSpPr/>
          <p:nvPr/>
        </p:nvSpPr>
        <p:spPr>
          <a:xfrm rot="5400000">
            <a:off x="3725196" y="340802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7" name="Google Shape;677;p52">
            <a:hlinkClick action="ppaction://hlinksldjump" r:id="rId16"/>
          </p:cNvPr>
          <p:cNvSpPr/>
          <p:nvPr/>
        </p:nvSpPr>
        <p:spPr>
          <a:xfrm>
            <a:off x="5375240" y="317028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CASA Silent Churn</a:t>
            </a:r>
            <a:endParaRPr sz="700">
              <a:solidFill>
                <a:schemeClr val="dk1"/>
              </a:solidFill>
              <a:latin typeface="Century Gothic"/>
              <a:ea typeface="Century Gothic"/>
              <a:cs typeface="Century Gothic"/>
              <a:sym typeface="Century Gothic"/>
            </a:endParaRPr>
          </a:p>
        </p:txBody>
      </p:sp>
      <p:sp>
        <p:nvSpPr>
          <p:cNvPr id="678" name="Google Shape;678;p52">
            <a:hlinkClick action="ppaction://hlinksldjump" r:id="rId17"/>
          </p:cNvPr>
          <p:cNvSpPr/>
          <p:nvPr/>
        </p:nvSpPr>
        <p:spPr>
          <a:xfrm>
            <a:off x="7015233" y="317028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Churn Model In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Retail Banking</a:t>
            </a:r>
            <a:endParaRPr sz="700">
              <a:solidFill>
                <a:schemeClr val="dk1"/>
              </a:solidFill>
              <a:latin typeface="Century Gothic"/>
              <a:ea typeface="Century Gothic"/>
              <a:cs typeface="Century Gothic"/>
              <a:sym typeface="Century Gothic"/>
            </a:endParaRPr>
          </a:p>
        </p:txBody>
      </p:sp>
      <p:sp>
        <p:nvSpPr>
          <p:cNvPr id="679" name="Google Shape;679;p52"/>
          <p:cNvSpPr/>
          <p:nvPr/>
        </p:nvSpPr>
        <p:spPr>
          <a:xfrm rot="5400000">
            <a:off x="6997180" y="3435483"/>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0" name="Google Shape;680;p52"/>
          <p:cNvSpPr/>
          <p:nvPr/>
        </p:nvSpPr>
        <p:spPr>
          <a:xfrm rot="5400000">
            <a:off x="5359698" y="3435483"/>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1" name="Google Shape;681;p52">
            <a:hlinkClick action="ppaction://hlinksldjump" r:id="rId18"/>
          </p:cNvPr>
          <p:cNvSpPr/>
          <p:nvPr/>
        </p:nvSpPr>
        <p:spPr>
          <a:xfrm>
            <a:off x="2116049" y="389725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Broker Introduced Insurance -</a:t>
            </a:r>
            <a:endParaRPr/>
          </a:p>
          <a:p>
            <a:pPr indent="0" lvl="0" marL="0" marR="0" rtl="0" algn="ctr">
              <a:lnSpc>
                <a:spcPct val="95000"/>
              </a:lnSpc>
              <a:spcBef>
                <a:spcPts val="200"/>
              </a:spcBef>
              <a:spcAft>
                <a:spcPts val="0"/>
              </a:spcAft>
              <a:buNone/>
            </a:pPr>
            <a:r>
              <a:rPr lang="en-GB" sz="1000">
                <a:solidFill>
                  <a:schemeClr val="dk1"/>
                </a:solidFill>
                <a:latin typeface="Century Gothic"/>
                <a:ea typeface="Century Gothic"/>
                <a:cs typeface="Century Gothic"/>
                <a:sym typeface="Century Gothic"/>
              </a:rPr>
              <a:t>Path To Churn</a:t>
            </a:r>
            <a:endParaRPr sz="700">
              <a:solidFill>
                <a:schemeClr val="dk1"/>
              </a:solidFill>
              <a:latin typeface="Century Gothic"/>
              <a:ea typeface="Century Gothic"/>
              <a:cs typeface="Century Gothic"/>
              <a:sym typeface="Century Gothic"/>
            </a:endParaRPr>
          </a:p>
        </p:txBody>
      </p:sp>
      <p:sp>
        <p:nvSpPr>
          <p:cNvPr id="682" name="Google Shape;682;p52"/>
          <p:cNvSpPr/>
          <p:nvPr/>
        </p:nvSpPr>
        <p:spPr>
          <a:xfrm rot="5400000">
            <a:off x="2087363" y="4162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3" name="Google Shape;683;p52">
            <a:hlinkClick action="ppaction://hlinksldjump" r:id="rId19"/>
          </p:cNvPr>
          <p:cNvSpPr/>
          <p:nvPr/>
        </p:nvSpPr>
        <p:spPr>
          <a:xfrm>
            <a:off x="3743484" y="389725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Improving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Cross-Sell Targeting</a:t>
            </a:r>
            <a:endParaRPr sz="1000">
              <a:solidFill>
                <a:schemeClr val="dk1"/>
              </a:solidFill>
              <a:latin typeface="Century Gothic"/>
              <a:ea typeface="Century Gothic"/>
              <a:cs typeface="Century Gothic"/>
              <a:sym typeface="Century Gothic"/>
            </a:endParaRPr>
          </a:p>
        </p:txBody>
      </p:sp>
      <p:sp>
        <p:nvSpPr>
          <p:cNvPr id="684" name="Google Shape;684;p52"/>
          <p:cNvSpPr/>
          <p:nvPr/>
        </p:nvSpPr>
        <p:spPr>
          <a:xfrm rot="5400000">
            <a:off x="3727942" y="414615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5" name="Google Shape;685;p52">
            <a:hlinkClick action="ppaction://hlinksldjump" r:id="rId20"/>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52"/>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5</a:t>
            </a:r>
            <a:endParaRPr sz="800">
              <a:solidFill>
                <a:srgbClr val="FFFFFF"/>
              </a:solidFill>
              <a:latin typeface="Century Gothic"/>
              <a:ea typeface="Century Gothic"/>
              <a:cs typeface="Century Gothic"/>
              <a:sym typeface="Century Gothic"/>
            </a:endParaRPr>
          </a:p>
        </p:txBody>
      </p:sp>
      <p:sp>
        <p:nvSpPr>
          <p:cNvPr id="687" name="Google Shape;687;p52">
            <a:hlinkClick action="ppaction://hlinksldjump" r:id="rId2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2" name="Shape 692"/>
        <p:cNvGrpSpPr/>
        <p:nvPr/>
      </p:nvGrpSpPr>
      <p:grpSpPr>
        <a:xfrm>
          <a:off x="0" y="0"/>
          <a:ext cx="0" cy="0"/>
          <a:chOff x="0" y="0"/>
          <a:chExt cx="0" cy="0"/>
        </a:xfrm>
      </p:grpSpPr>
      <p:sp>
        <p:nvSpPr>
          <p:cNvPr id="693" name="Google Shape;693;p53"/>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4" name="Google Shape;694;p53">
            <a:hlinkClick action="ppaction://hlinksldjump" r:id="rId3"/>
          </p:cNvPr>
          <p:cNvSpPr/>
          <p:nvPr/>
        </p:nvSpPr>
        <p:spPr>
          <a:xfrm>
            <a:off x="7014892" y="169211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Omni Channel 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Engagement</a:t>
            </a:r>
            <a:endParaRPr sz="1000">
              <a:solidFill>
                <a:schemeClr val="dk1"/>
              </a:solidFill>
              <a:latin typeface="Century Gothic"/>
              <a:ea typeface="Century Gothic"/>
              <a:cs typeface="Century Gothic"/>
              <a:sym typeface="Century Gothic"/>
            </a:endParaRPr>
          </a:p>
        </p:txBody>
      </p:sp>
      <p:sp>
        <p:nvSpPr>
          <p:cNvPr id="695" name="Google Shape;695;p53">
            <a:hlinkClick action="ppaction://hlinksldjump" r:id="rId4"/>
          </p:cNvPr>
          <p:cNvSpPr/>
          <p:nvPr/>
        </p:nvSpPr>
        <p:spPr>
          <a:xfrm>
            <a:off x="5374899" y="169211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Omni Channel Customer Experience Optimization</a:t>
            </a:r>
            <a:endParaRPr sz="1000">
              <a:solidFill>
                <a:schemeClr val="dk1"/>
              </a:solidFill>
              <a:latin typeface="Century Gothic"/>
              <a:ea typeface="Century Gothic"/>
              <a:cs typeface="Century Gothic"/>
              <a:sym typeface="Century Gothic"/>
            </a:endParaRPr>
          </a:p>
        </p:txBody>
      </p:sp>
      <p:sp>
        <p:nvSpPr>
          <p:cNvPr id="696" name="Google Shape;696;p53"/>
          <p:cNvSpPr/>
          <p:nvPr/>
        </p:nvSpPr>
        <p:spPr>
          <a:xfrm rot="5400000">
            <a:off x="5355973" y="196030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7" name="Google Shape;697;p53">
            <a:hlinkClick action="ppaction://hlinksldjump" r:id="rId5"/>
          </p:cNvPr>
          <p:cNvSpPr/>
          <p:nvPr/>
        </p:nvSpPr>
        <p:spPr>
          <a:xfrm>
            <a:off x="3728563"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Contact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Management</a:t>
            </a:r>
            <a:endParaRPr sz="1000">
              <a:solidFill>
                <a:schemeClr val="dk1"/>
              </a:solidFill>
              <a:latin typeface="Century Gothic"/>
              <a:ea typeface="Century Gothic"/>
              <a:cs typeface="Century Gothic"/>
              <a:sym typeface="Century Gothic"/>
            </a:endParaRPr>
          </a:p>
        </p:txBody>
      </p:sp>
      <p:sp>
        <p:nvSpPr>
          <p:cNvPr id="698" name="Google Shape;698;p53"/>
          <p:cNvSpPr/>
          <p:nvPr/>
        </p:nvSpPr>
        <p:spPr>
          <a:xfrm rot="5400000">
            <a:off x="3712178"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9" name="Google Shape;699;p53">
            <a:hlinkClick action="ppaction://hlinksldjump" r:id="rId6"/>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Social Networks Data For Marketing Campaigns</a:t>
            </a:r>
            <a:endParaRPr sz="700">
              <a:solidFill>
                <a:schemeClr val="dk1"/>
              </a:solidFill>
              <a:latin typeface="Century Gothic"/>
              <a:ea typeface="Century Gothic"/>
              <a:cs typeface="Century Gothic"/>
              <a:sym typeface="Century Gothic"/>
            </a:endParaRPr>
          </a:p>
        </p:txBody>
      </p:sp>
      <p:sp>
        <p:nvSpPr>
          <p:cNvPr id="700" name="Google Shape;700;p53"/>
          <p:cNvSpPr/>
          <p:nvPr/>
        </p:nvSpPr>
        <p:spPr>
          <a:xfrm rot="5400000">
            <a:off x="2079372"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1" name="Google Shape;701;p53"/>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02" name="Google Shape;702;p53"/>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03" name="Google Shape;703;p53"/>
          <p:cNvGrpSpPr/>
          <p:nvPr/>
        </p:nvGrpSpPr>
        <p:grpSpPr>
          <a:xfrm>
            <a:off x="2100364" y="1348315"/>
            <a:ext cx="281520" cy="241973"/>
            <a:chOff x="5652748" y="4066000"/>
            <a:chExt cx="906498" cy="747974"/>
          </a:xfrm>
        </p:grpSpPr>
        <p:sp>
          <p:nvSpPr>
            <p:cNvPr id="704" name="Google Shape;704;p5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5" name="Google Shape;705;p5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6" name="Google Shape;706;p5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07" name="Google Shape;707;p53"/>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708" name="Google Shape;708;p53"/>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Customer Interaction Management business value</a:t>
            </a:r>
            <a:endParaRPr sz="1600"/>
          </a:p>
        </p:txBody>
      </p:sp>
      <p:sp>
        <p:nvSpPr>
          <p:cNvPr id="709" name="Google Shape;709;p53">
            <a:hlinkClick action="ppaction://hlinksldjump" r:id="rId7"/>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53"/>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4 of 5</a:t>
            </a:r>
            <a:endParaRPr/>
          </a:p>
        </p:txBody>
      </p:sp>
      <p:sp>
        <p:nvSpPr>
          <p:cNvPr id="711" name="Google Shape;711;p53">
            <a:hlinkClick action="ppaction://hlinksldjump" r:id="rId8"/>
          </p:cNvPr>
          <p:cNvSpPr/>
          <p:nvPr/>
        </p:nvSpPr>
        <p:spPr>
          <a:xfrm>
            <a:off x="565902" y="168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712" name="Google Shape;712;p53"/>
          <p:cNvSpPr/>
          <p:nvPr/>
        </p:nvSpPr>
        <p:spPr>
          <a:xfrm rot="5400000">
            <a:off x="6998507" y="196030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3" name="Google Shape;713;p53"/>
          <p:cNvSpPr/>
          <p:nvPr/>
        </p:nvSpPr>
        <p:spPr>
          <a:xfrm>
            <a:off x="2100364" y="-1058898"/>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14" name="Google Shape;714;p53"/>
          <p:cNvSpPr/>
          <p:nvPr/>
        </p:nvSpPr>
        <p:spPr>
          <a:xfrm rot="5400000">
            <a:off x="4437614" y="-10712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15" name="Google Shape;715;p53">
            <a:hlinkClick action="ppaction://hlinksldjump" r:id="rId9"/>
          </p:cNvPr>
          <p:cNvSpPr/>
          <p:nvPr/>
        </p:nvSpPr>
        <p:spPr>
          <a:xfrm>
            <a:off x="5372102" y="243444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RTIM And Real-Time</a:t>
            </a:r>
            <a:endParaRPr sz="1000">
              <a:solidFill>
                <a:schemeClr val="dk1"/>
              </a:solidFill>
              <a:latin typeface="Century Gothic"/>
              <a:ea typeface="Century Gothic"/>
              <a:cs typeface="Century Gothic"/>
              <a:sym typeface="Century Gothic"/>
            </a:endParaRPr>
          </a:p>
        </p:txBody>
      </p:sp>
      <p:sp>
        <p:nvSpPr>
          <p:cNvPr id="716" name="Google Shape;716;p53"/>
          <p:cNvSpPr/>
          <p:nvPr/>
        </p:nvSpPr>
        <p:spPr>
          <a:xfrm rot="5400000">
            <a:off x="5355717" y="270024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7" name="Google Shape;717;p53">
            <a:hlinkClick action="ppaction://hlinksldjump" r:id="rId10"/>
          </p:cNvPr>
          <p:cNvSpPr/>
          <p:nvPr/>
        </p:nvSpPr>
        <p:spPr>
          <a:xfrm>
            <a:off x="2097711"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Complaints Process Optimisation</a:t>
            </a:r>
            <a:endParaRPr sz="1000">
              <a:solidFill>
                <a:schemeClr val="dk1"/>
              </a:solidFill>
              <a:latin typeface="Century Gothic"/>
              <a:ea typeface="Century Gothic"/>
              <a:cs typeface="Century Gothic"/>
              <a:sym typeface="Century Gothic"/>
            </a:endParaRPr>
          </a:p>
        </p:txBody>
      </p:sp>
      <p:sp>
        <p:nvSpPr>
          <p:cNvPr id="718" name="Google Shape;718;p53"/>
          <p:cNvSpPr/>
          <p:nvPr/>
        </p:nvSpPr>
        <p:spPr>
          <a:xfrm rot="5400000">
            <a:off x="2078785" y="3453779"/>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9" name="Google Shape;719;p53">
            <a:hlinkClick action="ppaction://hlinksldjump" r:id="rId11"/>
          </p:cNvPr>
          <p:cNvSpPr/>
          <p:nvPr/>
        </p:nvSpPr>
        <p:spPr>
          <a:xfrm>
            <a:off x="703326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Web/IVR Breakout</a:t>
            </a:r>
            <a:endParaRPr sz="1000">
              <a:solidFill>
                <a:schemeClr val="dk1"/>
              </a:solidFill>
              <a:latin typeface="Century Gothic"/>
              <a:ea typeface="Century Gothic"/>
              <a:cs typeface="Century Gothic"/>
              <a:sym typeface="Century Gothic"/>
            </a:endParaRPr>
          </a:p>
        </p:txBody>
      </p:sp>
      <p:sp>
        <p:nvSpPr>
          <p:cNvPr id="720" name="Google Shape;720;p53"/>
          <p:cNvSpPr/>
          <p:nvPr/>
        </p:nvSpPr>
        <p:spPr>
          <a:xfrm rot="5400000">
            <a:off x="7020260"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1" name="Google Shape;721;p53">
            <a:hlinkClick action="ppaction://hlinksldjump" r:id="rId12"/>
          </p:cNvPr>
          <p:cNvSpPr/>
          <p:nvPr/>
        </p:nvSpPr>
        <p:spPr>
          <a:xfrm>
            <a:off x="373770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Onsite Search</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Engine Optimization</a:t>
            </a:r>
            <a:endParaRPr sz="700">
              <a:solidFill>
                <a:schemeClr val="dk1"/>
              </a:solidFill>
              <a:latin typeface="Century Gothic"/>
              <a:ea typeface="Century Gothic"/>
              <a:cs typeface="Century Gothic"/>
              <a:sym typeface="Century Gothic"/>
            </a:endParaRPr>
          </a:p>
        </p:txBody>
      </p:sp>
      <p:sp>
        <p:nvSpPr>
          <p:cNvPr id="722" name="Google Shape;722;p53"/>
          <p:cNvSpPr/>
          <p:nvPr/>
        </p:nvSpPr>
        <p:spPr>
          <a:xfrm rot="5400000">
            <a:off x="3725263" y="344880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3" name="Google Shape;723;p53">
            <a:hlinkClick action="ppaction://hlinksldjump" r:id="rId13"/>
          </p:cNvPr>
          <p:cNvSpPr/>
          <p:nvPr/>
        </p:nvSpPr>
        <p:spPr>
          <a:xfrm>
            <a:off x="5374898"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Customized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“Amount” Button</a:t>
            </a:r>
            <a:endParaRPr sz="700">
              <a:solidFill>
                <a:schemeClr val="dk1"/>
              </a:solidFill>
              <a:latin typeface="Century Gothic"/>
              <a:ea typeface="Century Gothic"/>
              <a:cs typeface="Century Gothic"/>
              <a:sym typeface="Century Gothic"/>
            </a:endParaRPr>
          </a:p>
        </p:txBody>
      </p:sp>
      <p:sp>
        <p:nvSpPr>
          <p:cNvPr id="724" name="Google Shape;724;p53"/>
          <p:cNvSpPr/>
          <p:nvPr/>
        </p:nvSpPr>
        <p:spPr>
          <a:xfrm rot="5400000">
            <a:off x="5359356" y="345139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5" name="Google Shape;725;p53">
            <a:hlinkClick action="ppaction://hlinksldjump" r:id="rId14"/>
          </p:cNvPr>
          <p:cNvSpPr/>
          <p:nvPr/>
        </p:nvSpPr>
        <p:spPr>
          <a:xfrm>
            <a:off x="7029713"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Enhanced NBA Contact Strategy</a:t>
            </a:r>
            <a:endParaRPr sz="1000">
              <a:solidFill>
                <a:schemeClr val="dk1"/>
              </a:solidFill>
              <a:latin typeface="Century Gothic"/>
              <a:ea typeface="Century Gothic"/>
              <a:cs typeface="Century Gothic"/>
              <a:sym typeface="Century Gothic"/>
            </a:endParaRPr>
          </a:p>
        </p:txBody>
      </p:sp>
      <p:sp>
        <p:nvSpPr>
          <p:cNvPr id="726" name="Google Shape;726;p53"/>
          <p:cNvSpPr/>
          <p:nvPr/>
        </p:nvSpPr>
        <p:spPr>
          <a:xfrm rot="5400000">
            <a:off x="7010787" y="345139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7" name="Google Shape;727;p53">
            <a:hlinkClick action="ppaction://hlinksldjump" r:id="rId15"/>
          </p:cNvPr>
          <p:cNvSpPr/>
          <p:nvPr/>
        </p:nvSpPr>
        <p:spPr>
          <a:xfrm>
            <a:off x="2076289"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Next Best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Product Offer</a:t>
            </a:r>
            <a:endParaRPr sz="1000">
              <a:solidFill>
                <a:schemeClr val="dk1"/>
              </a:solidFill>
              <a:latin typeface="Century Gothic"/>
              <a:ea typeface="Century Gothic"/>
              <a:cs typeface="Century Gothic"/>
              <a:sym typeface="Century Gothic"/>
            </a:endParaRPr>
          </a:p>
        </p:txBody>
      </p:sp>
      <p:sp>
        <p:nvSpPr>
          <p:cNvPr id="728" name="Google Shape;728;p53"/>
          <p:cNvSpPr/>
          <p:nvPr/>
        </p:nvSpPr>
        <p:spPr>
          <a:xfrm rot="5400000">
            <a:off x="2057363" y="418378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9" name="Google Shape;729;p53">
            <a:hlinkClick action="ppaction://hlinksldjump" r:id="rId16"/>
          </p:cNvPr>
          <p:cNvSpPr/>
          <p:nvPr/>
        </p:nvSpPr>
        <p:spPr>
          <a:xfrm>
            <a:off x="3717173"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Product Bundling</a:t>
            </a:r>
            <a:endParaRPr sz="700">
              <a:solidFill>
                <a:schemeClr val="dk1"/>
              </a:solidFill>
              <a:latin typeface="Century Gothic"/>
              <a:ea typeface="Century Gothic"/>
              <a:cs typeface="Century Gothic"/>
              <a:sym typeface="Century Gothic"/>
            </a:endParaRPr>
          </a:p>
        </p:txBody>
      </p:sp>
      <p:sp>
        <p:nvSpPr>
          <p:cNvPr id="730" name="Google Shape;730;p53"/>
          <p:cNvSpPr/>
          <p:nvPr/>
        </p:nvSpPr>
        <p:spPr>
          <a:xfrm rot="5400000">
            <a:off x="3698247" y="417806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1" name="Google Shape;731;p53">
            <a:hlinkClick action="ppaction://hlinksldjump" r:id="rId17"/>
          </p:cNvPr>
          <p:cNvSpPr/>
          <p:nvPr/>
        </p:nvSpPr>
        <p:spPr>
          <a:xfrm>
            <a:off x="5374899"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Individualized Merchants Recommendations</a:t>
            </a:r>
            <a:endParaRPr sz="700">
              <a:solidFill>
                <a:schemeClr val="dk1"/>
              </a:solidFill>
              <a:latin typeface="Century Gothic"/>
              <a:ea typeface="Century Gothic"/>
              <a:cs typeface="Century Gothic"/>
              <a:sym typeface="Century Gothic"/>
            </a:endParaRPr>
          </a:p>
        </p:txBody>
      </p:sp>
      <p:sp>
        <p:nvSpPr>
          <p:cNvPr id="732" name="Google Shape;732;p53"/>
          <p:cNvSpPr/>
          <p:nvPr/>
        </p:nvSpPr>
        <p:spPr>
          <a:xfrm rot="5400000">
            <a:off x="5363802" y="415487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3" name="Google Shape;733;p53">
            <a:hlinkClick action="ppaction://hlinksldjump" r:id="rId18"/>
          </p:cNvPr>
          <p:cNvSpPr/>
          <p:nvPr/>
        </p:nvSpPr>
        <p:spPr>
          <a:xfrm>
            <a:off x="7029714"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Advertising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Creative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Optimization</a:t>
            </a:r>
            <a:endParaRPr sz="700">
              <a:solidFill>
                <a:schemeClr val="dk1"/>
              </a:solidFill>
              <a:latin typeface="Century Gothic"/>
              <a:ea typeface="Century Gothic"/>
              <a:cs typeface="Century Gothic"/>
              <a:sym typeface="Century Gothic"/>
            </a:endParaRPr>
          </a:p>
        </p:txBody>
      </p:sp>
      <p:sp>
        <p:nvSpPr>
          <p:cNvPr id="734" name="Google Shape;734;p53"/>
          <p:cNvSpPr/>
          <p:nvPr/>
        </p:nvSpPr>
        <p:spPr>
          <a:xfrm rot="5400000">
            <a:off x="7017273" y="417881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5" name="Google Shape;735;p53">
            <a:hlinkClick action="ppaction://hlinksldjump" r:id="rId19"/>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53"/>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4 of 5</a:t>
            </a:r>
            <a:endParaRPr sz="800">
              <a:solidFill>
                <a:srgbClr val="FFFFFF"/>
              </a:solidFill>
              <a:latin typeface="Century Gothic"/>
              <a:ea typeface="Century Gothic"/>
              <a:cs typeface="Century Gothic"/>
              <a:sym typeface="Century Gothic"/>
            </a:endParaRPr>
          </a:p>
        </p:txBody>
      </p:sp>
      <p:sp>
        <p:nvSpPr>
          <p:cNvPr id="737" name="Google Shape;737;p53">
            <a:hlinkClick action="ppaction://hlinksldjump" r:id="rId20"/>
          </p:cNvPr>
          <p:cNvSpPr/>
          <p:nvPr/>
        </p:nvSpPr>
        <p:spPr>
          <a:xfrm>
            <a:off x="2073492" y="243444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Location Based</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Offers</a:t>
            </a:r>
            <a:endParaRPr sz="1000">
              <a:solidFill>
                <a:schemeClr val="dk1"/>
              </a:solidFill>
              <a:latin typeface="Century Gothic"/>
              <a:ea typeface="Century Gothic"/>
              <a:cs typeface="Century Gothic"/>
              <a:sym typeface="Century Gothic"/>
            </a:endParaRPr>
          </a:p>
        </p:txBody>
      </p:sp>
      <p:sp>
        <p:nvSpPr>
          <p:cNvPr id="738" name="Google Shape;738;p53"/>
          <p:cNvSpPr/>
          <p:nvPr/>
        </p:nvSpPr>
        <p:spPr>
          <a:xfrm rot="5400000">
            <a:off x="2057107" y="270024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9" name="Google Shape;739;p53">
            <a:hlinkClick action="ppaction://hlinksldjump" r:id="rId21"/>
          </p:cNvPr>
          <p:cNvSpPr/>
          <p:nvPr/>
        </p:nvSpPr>
        <p:spPr>
          <a:xfrm>
            <a:off x="373465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Real-time Customer GIS location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 Collaboration with Telcos </a:t>
            </a:r>
            <a:endParaRPr sz="1000">
              <a:solidFill>
                <a:schemeClr val="dk1"/>
              </a:solidFill>
              <a:latin typeface="Century Gothic"/>
              <a:ea typeface="Century Gothic"/>
              <a:cs typeface="Century Gothic"/>
              <a:sym typeface="Century Gothic"/>
            </a:endParaRPr>
          </a:p>
        </p:txBody>
      </p:sp>
      <p:sp>
        <p:nvSpPr>
          <p:cNvPr id="740" name="Google Shape;740;p53"/>
          <p:cNvSpPr/>
          <p:nvPr/>
        </p:nvSpPr>
        <p:spPr>
          <a:xfrm rot="5400000">
            <a:off x="3721650"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1" name="Google Shape;741;p53">
            <a:hlinkClick action="ppaction://hlinksldjump" r:id="rId2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6" name="Shape 746"/>
        <p:cNvGrpSpPr/>
        <p:nvPr/>
      </p:nvGrpSpPr>
      <p:grpSpPr>
        <a:xfrm>
          <a:off x="0" y="0"/>
          <a:ext cx="0" cy="0"/>
          <a:chOff x="0" y="0"/>
          <a:chExt cx="0" cy="0"/>
        </a:xfrm>
      </p:grpSpPr>
      <p:sp>
        <p:nvSpPr>
          <p:cNvPr id="747" name="Google Shape;747;p54"/>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8" name="Google Shape;748;p54"/>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49" name="Google Shape;749;p54"/>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0" name="Google Shape;750;p54"/>
          <p:cNvGrpSpPr/>
          <p:nvPr/>
        </p:nvGrpSpPr>
        <p:grpSpPr>
          <a:xfrm>
            <a:off x="2100364" y="1348315"/>
            <a:ext cx="281520" cy="241973"/>
            <a:chOff x="5652748" y="4066000"/>
            <a:chExt cx="906498" cy="747974"/>
          </a:xfrm>
        </p:grpSpPr>
        <p:sp>
          <p:nvSpPr>
            <p:cNvPr id="751" name="Google Shape;751;p5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2" name="Google Shape;752;p5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3" name="Google Shape;753;p5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4" name="Google Shape;754;p5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755" name="Google Shape;755;p54"/>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Customer Interaction Management business value</a:t>
            </a:r>
            <a:endParaRPr sz="1600"/>
          </a:p>
        </p:txBody>
      </p:sp>
      <p:sp>
        <p:nvSpPr>
          <p:cNvPr id="756" name="Google Shape;756;p54">
            <a:hlinkClick action="ppaction://hlinksldjump" r:id="rId3"/>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54"/>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5 of 5</a:t>
            </a:r>
            <a:endParaRPr/>
          </a:p>
        </p:txBody>
      </p:sp>
      <p:sp>
        <p:nvSpPr>
          <p:cNvPr id="758" name="Google Shape;758;p54">
            <a:hlinkClick action="ppaction://hlinksldjump" r:id="rId4"/>
          </p:cNvPr>
          <p:cNvSpPr/>
          <p:nvPr/>
        </p:nvSpPr>
        <p:spPr>
          <a:xfrm>
            <a:off x="565902" y="1683866"/>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759" name="Google Shape;759;p54">
            <a:hlinkClick action="ppaction://hlinksldjump" r:id="rId5"/>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Competitor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Analysis</a:t>
            </a:r>
            <a:endParaRPr sz="1000">
              <a:solidFill>
                <a:schemeClr val="dk1"/>
              </a:solidFill>
              <a:latin typeface="Century Gothic"/>
              <a:ea typeface="Century Gothic"/>
              <a:cs typeface="Century Gothic"/>
              <a:sym typeface="Century Gothic"/>
            </a:endParaRPr>
          </a:p>
        </p:txBody>
      </p:sp>
      <p:sp>
        <p:nvSpPr>
          <p:cNvPr id="760" name="Google Shape;760;p54"/>
          <p:cNvSpPr/>
          <p:nvPr/>
        </p:nvSpPr>
        <p:spPr>
          <a:xfrm rot="5400000">
            <a:off x="2079372"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1" name="Google Shape;761;p54">
            <a:hlinkClick action="ppaction://hlinksldjump" r:id="rId6"/>
          </p:cNvPr>
          <p:cNvSpPr/>
          <p:nvPr/>
        </p:nvSpPr>
        <p:spPr>
          <a:xfrm>
            <a:off x="3728563"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Marketing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Attribution</a:t>
            </a:r>
            <a:endParaRPr sz="1000">
              <a:solidFill>
                <a:schemeClr val="dk1"/>
              </a:solidFill>
              <a:latin typeface="Century Gothic"/>
              <a:ea typeface="Century Gothic"/>
              <a:cs typeface="Century Gothic"/>
              <a:sym typeface="Century Gothic"/>
            </a:endParaRPr>
          </a:p>
        </p:txBody>
      </p:sp>
      <p:sp>
        <p:nvSpPr>
          <p:cNvPr id="762" name="Google Shape;762;p54"/>
          <p:cNvSpPr/>
          <p:nvPr/>
        </p:nvSpPr>
        <p:spPr>
          <a:xfrm rot="5400000">
            <a:off x="3712178"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3" name="Google Shape;763;p54">
            <a:hlinkClick action="ppaction://hlinksldjump" r:id="rId7"/>
          </p:cNvPr>
          <p:cNvSpPr/>
          <p:nvPr/>
        </p:nvSpPr>
        <p:spPr>
          <a:xfrm>
            <a:off x="5374899" y="169211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Attribution</a:t>
            </a:r>
            <a:endParaRPr sz="1000">
              <a:solidFill>
                <a:schemeClr val="dk1"/>
              </a:solidFill>
              <a:latin typeface="Century Gothic"/>
              <a:ea typeface="Century Gothic"/>
              <a:cs typeface="Century Gothic"/>
              <a:sym typeface="Century Gothic"/>
            </a:endParaRPr>
          </a:p>
        </p:txBody>
      </p:sp>
      <p:sp>
        <p:nvSpPr>
          <p:cNvPr id="764" name="Google Shape;764;p54"/>
          <p:cNvSpPr/>
          <p:nvPr/>
        </p:nvSpPr>
        <p:spPr>
          <a:xfrm rot="5400000">
            <a:off x="5355973" y="196030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5" name="Google Shape;765;p54">
            <a:hlinkClick action="ppaction://hlinksldjump" r:id="rId8"/>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0" name="Shape 770"/>
        <p:cNvGrpSpPr/>
        <p:nvPr/>
      </p:nvGrpSpPr>
      <p:grpSpPr>
        <a:xfrm>
          <a:off x="0" y="0"/>
          <a:ext cx="0" cy="0"/>
          <a:chOff x="0" y="0"/>
          <a:chExt cx="0" cy="0"/>
        </a:xfrm>
      </p:grpSpPr>
      <p:pic>
        <p:nvPicPr>
          <p:cNvPr descr="COM-1008-L.jpg" id="771" name="Google Shape;771;p55"/>
          <p:cNvPicPr preferRelativeResize="0"/>
          <p:nvPr/>
        </p:nvPicPr>
        <p:blipFill rotWithShape="1">
          <a:blip r:embed="rId3">
            <a:alphaModFix/>
          </a:blip>
          <a:srcRect b="11622" l="57468" r="7520" t="12931"/>
          <a:stretch/>
        </p:blipFill>
        <p:spPr>
          <a:xfrm>
            <a:off x="5178010" y="670721"/>
            <a:ext cx="3600450" cy="4168233"/>
          </a:xfrm>
          <a:prstGeom prst="rect">
            <a:avLst/>
          </a:prstGeom>
          <a:noFill/>
          <a:ln>
            <a:noFill/>
          </a:ln>
        </p:spPr>
      </p:pic>
      <p:sp>
        <p:nvSpPr>
          <p:cNvPr id="772" name="Google Shape;772;p55"/>
          <p:cNvSpPr txBox="1"/>
          <p:nvPr>
            <p:ph idx="1" type="body"/>
          </p:nvPr>
        </p:nvSpPr>
        <p:spPr>
          <a:xfrm>
            <a:off x="455485" y="2133600"/>
            <a:ext cx="4662784" cy="2454576"/>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110000"/>
              </a:lnSpc>
              <a:spcBef>
                <a:spcPts val="800"/>
              </a:spcBef>
              <a:spcAft>
                <a:spcPts val="0"/>
              </a:spcAft>
              <a:buClr>
                <a:schemeClr val="dk1"/>
              </a:buClr>
              <a:buSzPts val="1200"/>
              <a:buChar char="•"/>
            </a:pPr>
            <a:r>
              <a:rPr lang="en-GB" sz="1200"/>
              <a:t>Companies today are under increasing competitive pressure impacting their sales and margins as  Customers seek better price, quality and service</a:t>
            </a:r>
            <a:endParaRPr sz="1200"/>
          </a:p>
          <a:p>
            <a:pPr indent="-169863" lvl="0" marL="169863" rtl="0" algn="l">
              <a:lnSpc>
                <a:spcPct val="95000"/>
              </a:lnSpc>
              <a:spcBef>
                <a:spcPts val="200"/>
              </a:spcBef>
              <a:spcAft>
                <a:spcPts val="0"/>
              </a:spcAft>
              <a:buClr>
                <a:schemeClr val="dk1"/>
              </a:buClr>
              <a:buSzPts val="1200"/>
              <a:buChar char="•"/>
            </a:pPr>
            <a:r>
              <a:rPr lang="en-GB" sz="1200"/>
              <a:t>Companies are recognizing that to achieve sustained growth , they must  not only acquire customers but also understand their customers’ needs and wants to optimize customer experience and develop long term relationships</a:t>
            </a:r>
            <a:endParaRPr/>
          </a:p>
          <a:p>
            <a:pPr indent="-169863" lvl="0" marL="169863" rtl="0" algn="l">
              <a:lnSpc>
                <a:spcPct val="95000"/>
              </a:lnSpc>
              <a:spcBef>
                <a:spcPts val="600"/>
              </a:spcBef>
              <a:spcAft>
                <a:spcPts val="0"/>
              </a:spcAft>
              <a:buClr>
                <a:schemeClr val="dk1"/>
              </a:buClr>
              <a:buSzPts val="1200"/>
              <a:buChar char="•"/>
            </a:pPr>
            <a:r>
              <a:rPr lang="en-GB" sz="1200"/>
              <a:t>Customers expect companies to know them, make interactions relevant, and provide an easy, consistent, seamless experience across touch points</a:t>
            </a:r>
            <a:endParaRPr/>
          </a:p>
          <a:p>
            <a:pPr indent="-93663" lvl="0" marL="169863" rtl="0" algn="l">
              <a:lnSpc>
                <a:spcPct val="95000"/>
              </a:lnSpc>
              <a:spcBef>
                <a:spcPts val="600"/>
              </a:spcBef>
              <a:spcAft>
                <a:spcPts val="0"/>
              </a:spcAft>
              <a:buClr>
                <a:schemeClr val="dk1"/>
              </a:buClr>
              <a:buSzPts val="1200"/>
              <a:buNone/>
            </a:pPr>
            <a:r>
              <a:t/>
            </a:r>
            <a:endParaRPr sz="1200"/>
          </a:p>
          <a:p>
            <a:pPr indent="-93663" lvl="0" marL="169863" rtl="0" algn="l">
              <a:lnSpc>
                <a:spcPct val="95000"/>
              </a:lnSpc>
              <a:spcBef>
                <a:spcPts val="600"/>
              </a:spcBef>
              <a:spcAft>
                <a:spcPts val="0"/>
              </a:spcAft>
              <a:buClr>
                <a:schemeClr val="dk1"/>
              </a:buClr>
              <a:buSzPts val="1200"/>
              <a:buNone/>
            </a:pPr>
            <a:r>
              <a:t/>
            </a:r>
            <a:endParaRPr sz="1200"/>
          </a:p>
        </p:txBody>
      </p:sp>
      <p:sp>
        <p:nvSpPr>
          <p:cNvPr id="773" name="Google Shape;773;p55"/>
          <p:cNvSpPr txBox="1"/>
          <p:nvPr>
            <p:ph type="title"/>
          </p:nvPr>
        </p:nvSpPr>
        <p:spPr>
          <a:xfrm>
            <a:off x="477880" y="174273"/>
            <a:ext cx="5435240" cy="704088"/>
          </a:xfrm>
          <a:prstGeom prst="rect">
            <a:avLst/>
          </a:prstGeom>
          <a:noFill/>
          <a:ln>
            <a:noFill/>
          </a:ln>
        </p:spPr>
        <p:txBody>
          <a:bodyPr anchorCtr="0" anchor="ctr"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and Customer Experience</a:t>
            </a:r>
            <a:endParaRPr/>
          </a:p>
        </p:txBody>
      </p:sp>
      <p:sp>
        <p:nvSpPr>
          <p:cNvPr id="774" name="Google Shape;774;p55"/>
          <p:cNvSpPr/>
          <p:nvPr/>
        </p:nvSpPr>
        <p:spPr>
          <a:xfrm>
            <a:off x="1" y="914400"/>
            <a:ext cx="7205662" cy="1016000"/>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The strategic process of designing and managing Customer interactions  across all touch points to deliver a relevant, seamless experience that increases Customer satisfaction while driving revenue and marketing effectiveness </a:t>
            </a:r>
            <a:endParaRPr b="0" i="0" sz="1400" u="none" cap="none" strike="noStrike">
              <a:solidFill>
                <a:schemeClr val="lt1"/>
              </a:solidFill>
              <a:latin typeface="Century Gothic"/>
              <a:ea typeface="Century Gothic"/>
              <a:cs typeface="Century Gothic"/>
              <a:sym typeface="Century Gothic"/>
            </a:endParaRPr>
          </a:p>
        </p:txBody>
      </p:sp>
      <p:sp>
        <p:nvSpPr>
          <p:cNvPr id="775" name="Google Shape;775;p55">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 Marketing and Customer Experience</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2" name="Shape 872"/>
        <p:cNvGrpSpPr/>
        <p:nvPr/>
      </p:nvGrpSpPr>
      <p:grpSpPr>
        <a:xfrm>
          <a:off x="0" y="0"/>
          <a:ext cx="0" cy="0"/>
          <a:chOff x="0" y="0"/>
          <a:chExt cx="0" cy="0"/>
        </a:xfrm>
      </p:grpSpPr>
      <p:pic>
        <p:nvPicPr>
          <p:cNvPr descr="COM-1013-L.jpg" id="873" name="Google Shape;873;p65"/>
          <p:cNvPicPr preferRelativeResize="0"/>
          <p:nvPr/>
        </p:nvPicPr>
        <p:blipFill rotWithShape="1">
          <a:blip r:embed="rId3">
            <a:alphaModFix/>
          </a:blip>
          <a:srcRect b="0" l="11654" r="38595" t="5646"/>
          <a:stretch/>
        </p:blipFill>
        <p:spPr>
          <a:xfrm>
            <a:off x="5380061" y="670720"/>
            <a:ext cx="3365230" cy="4037771"/>
          </a:xfrm>
          <a:prstGeom prst="rect">
            <a:avLst/>
          </a:prstGeom>
          <a:noFill/>
          <a:ln>
            <a:noFill/>
          </a:ln>
          <a:effectLst>
            <a:outerShdw blurRad="292100" rotWithShape="0" algn="tl" dir="2700000" dist="139700">
              <a:srgbClr val="333333">
                <a:alpha val="64705"/>
              </a:srgbClr>
            </a:outerShdw>
          </a:effectLst>
        </p:spPr>
      </p:pic>
      <p:sp>
        <p:nvSpPr>
          <p:cNvPr id="874" name="Google Shape;874;p65"/>
          <p:cNvSpPr txBox="1"/>
          <p:nvPr>
            <p:ph idx="1" type="body"/>
          </p:nvPr>
        </p:nvSpPr>
        <p:spPr>
          <a:xfrm>
            <a:off x="455485" y="2211360"/>
            <a:ext cx="4494748" cy="2454576"/>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200"/>
              <a:buChar char="•"/>
            </a:pPr>
            <a:r>
              <a:rPr lang="en-GB" sz="1200"/>
              <a:t>Customers expect that companies know them across touch points. Companies need to capture and reconcile multiple customer identifiers such as cell phone, email, address, to one single customer ID.</a:t>
            </a:r>
            <a:endParaRPr/>
          </a:p>
          <a:p>
            <a:pPr indent="-169863" lvl="0" marL="169863" rtl="0" algn="l">
              <a:lnSpc>
                <a:spcPct val="95000"/>
              </a:lnSpc>
              <a:spcBef>
                <a:spcPts val="600"/>
              </a:spcBef>
              <a:spcAft>
                <a:spcPts val="0"/>
              </a:spcAft>
              <a:buClr>
                <a:schemeClr val="dk1"/>
              </a:buClr>
              <a:buSzPts val="1200"/>
              <a:buChar char="•"/>
            </a:pPr>
            <a:r>
              <a:rPr lang="en-GB" sz="1200"/>
              <a:t>Customers are increasingly using multiple channels in their interactions with companies and both traditional and digital data sources must be brought together to understand customers’ behaviors and needs</a:t>
            </a:r>
            <a:endParaRPr/>
          </a:p>
          <a:p>
            <a:pPr indent="-169863" lvl="0" marL="169863" rtl="0" algn="l">
              <a:lnSpc>
                <a:spcPct val="95000"/>
              </a:lnSpc>
              <a:spcBef>
                <a:spcPts val="600"/>
              </a:spcBef>
              <a:spcAft>
                <a:spcPts val="0"/>
              </a:spcAft>
              <a:buClr>
                <a:schemeClr val="dk1"/>
              </a:buClr>
              <a:buSzPts val="1200"/>
              <a:buChar char="•"/>
            </a:pPr>
            <a:r>
              <a:rPr lang="en-GB" sz="1200"/>
              <a:t>Customers expect and companies need to deliver real-time, contextually relevant experiences</a:t>
            </a:r>
            <a:endParaRPr sz="1200"/>
          </a:p>
        </p:txBody>
      </p:sp>
      <p:sp>
        <p:nvSpPr>
          <p:cNvPr id="875" name="Google Shape;875;p65"/>
          <p:cNvSpPr txBox="1"/>
          <p:nvPr>
            <p:ph type="title"/>
          </p:nvPr>
        </p:nvSpPr>
        <p:spPr>
          <a:xfrm>
            <a:off x="127987" y="174273"/>
            <a:ext cx="5435240" cy="443244"/>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Information Management</a:t>
            </a:r>
            <a:endParaRPr/>
          </a:p>
        </p:txBody>
      </p:sp>
      <p:sp>
        <p:nvSpPr>
          <p:cNvPr id="876" name="Google Shape;876;p65"/>
          <p:cNvSpPr/>
          <p:nvPr/>
        </p:nvSpPr>
        <p:spPr>
          <a:xfrm>
            <a:off x="1" y="751681"/>
            <a:ext cx="7205662" cy="1101599"/>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600" u="none" cap="none" strike="noStrike">
                <a:solidFill>
                  <a:schemeClr val="lt1"/>
                </a:solidFill>
                <a:latin typeface="Century Gothic"/>
                <a:ea typeface="Century Gothic"/>
                <a:cs typeface="Century Gothic"/>
                <a:sym typeface="Century Gothic"/>
              </a:rPr>
              <a:t>The process of capturing all available data sources across channels to create a detailed 360 view of Customers in order to gain insights into individual Customers preferences and behaviors</a:t>
            </a:r>
            <a:endParaRPr b="0" i="0" sz="1600" u="none" cap="none" strike="noStrike">
              <a:solidFill>
                <a:schemeClr val="lt1"/>
              </a:solidFill>
              <a:latin typeface="Century Gothic"/>
              <a:ea typeface="Century Gothic"/>
              <a:cs typeface="Century Gothic"/>
              <a:sym typeface="Century Gothic"/>
            </a:endParaRPr>
          </a:p>
        </p:txBody>
      </p:sp>
      <p:sp>
        <p:nvSpPr>
          <p:cNvPr id="877" name="Google Shape;877;p6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0" name="Shape 890"/>
        <p:cNvGrpSpPr/>
        <p:nvPr/>
      </p:nvGrpSpPr>
      <p:grpSpPr>
        <a:xfrm>
          <a:off x="0" y="0"/>
          <a:ext cx="0" cy="0"/>
          <a:chOff x="0" y="0"/>
          <a:chExt cx="0" cy="0"/>
        </a:xfrm>
      </p:grpSpPr>
      <p:graphicFrame>
        <p:nvGraphicFramePr>
          <p:cNvPr id="891" name="Google Shape;891;p6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u="none" cap="none" strike="noStrike">
                          <a:solidFill>
                            <a:schemeClr val="dk2"/>
                          </a:solidFill>
                        </a:rPr>
                        <a:t>Business Objectives</a:t>
                      </a:r>
                      <a:endParaRPr b="1" sz="1400" u="none" cap="none" strike="noStrike">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u="none" cap="none" strike="noStrike">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u="none" cap="none" strike="noStrike">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u="none" cap="none" strike="noStrike">
                          <a:solidFill>
                            <a:schemeClr val="dk1"/>
                          </a:solidFill>
                        </a:rPr>
                        <a:t>Create a single view of the customer across the organisation</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Effectively manage customer relationships through a single customer view across business units, brands, channels and third party relationships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rPr>
                        <a:t>Extend the single customer view to include identifiers across digital channels such as social media or non-authenticated websites</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Measure the depth and value of the entire customer relationship </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Understand household customer relationships</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Treat customers consistently across  brands and channels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u="none" cap="none" strike="noStrike">
                          <a:solidFill>
                            <a:schemeClr val="dk2"/>
                          </a:solidFill>
                          <a:latin typeface="Century Gothic"/>
                          <a:ea typeface="Century Gothic"/>
                          <a:cs typeface="Century Gothic"/>
                          <a:sym typeface="Century Gothic"/>
                        </a:rPr>
                        <a:t>Data &amp; Solution</a:t>
                      </a:r>
                      <a:endParaRPr b="1" sz="1400" u="none" cap="none" strike="noStrike">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u="none" cap="none" strike="noStrike">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u="none" cap="none" strike="noStrike">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u="none" cap="none" strike="noStrike">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Detailed customer, product, channel,</a:t>
                      </a:r>
                      <a:r>
                        <a:rPr b="0" lang="en-GB" sz="900">
                          <a:solidFill>
                            <a:schemeClr val="dk1"/>
                          </a:solidFill>
                        </a:rPr>
                        <a:t> transactional</a:t>
                      </a:r>
                      <a:r>
                        <a:rPr b="0" lang="en-GB" sz="900">
                          <a:solidFill>
                            <a:schemeClr val="dk1"/>
                          </a:solidFill>
                        </a:rPr>
                        <a:t> data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Master customer record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Inter party relationships between personal and business parties / individuals and households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Non-personal online identity data such as cookie / device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Enterprise data model with well defined subject areas to allow consistent storage of integrated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Data quality monitoring of core customer data items to ensure accuracy of cross-match process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Extended matching process to link identity of customer in Non PII channels such social media and non authenticated web sites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pool of customers for personalized interactions across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targeting of cross sell / up-sell offers through a more complete view of the customer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Better understanding of brand preference and affinity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cannibalisation and churn of existing product holdings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leverage an extended set of 1:1 targeted distribution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Pre-requisite building block to create single view of customer interactions across the organisation and touch points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892" name="Google Shape;892;p6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893" name="Google Shape;893;p6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Single View Of Customer</a:t>
            </a:r>
            <a:endParaRPr/>
          </a:p>
        </p:txBody>
      </p:sp>
      <p:grpSp>
        <p:nvGrpSpPr>
          <p:cNvPr id="894" name="Google Shape;894;p67"/>
          <p:cNvGrpSpPr/>
          <p:nvPr/>
        </p:nvGrpSpPr>
        <p:grpSpPr>
          <a:xfrm>
            <a:off x="7717533" y="4360377"/>
            <a:ext cx="1058348" cy="347375"/>
            <a:chOff x="7651698" y="4287227"/>
            <a:chExt cx="1058348" cy="347375"/>
          </a:xfrm>
        </p:grpSpPr>
        <p:grpSp>
          <p:nvGrpSpPr>
            <p:cNvPr id="895" name="Google Shape;895;p67"/>
            <p:cNvGrpSpPr/>
            <p:nvPr/>
          </p:nvGrpSpPr>
          <p:grpSpPr>
            <a:xfrm>
              <a:off x="7714163" y="4337598"/>
              <a:ext cx="995883" cy="297004"/>
              <a:chOff x="7711013" y="3986494"/>
              <a:chExt cx="995883" cy="297004"/>
            </a:xfrm>
          </p:grpSpPr>
          <p:sp>
            <p:nvSpPr>
              <p:cNvPr id="896" name="Google Shape;896;p6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97" name="Google Shape;897;p67"/>
              <p:cNvGrpSpPr/>
              <p:nvPr/>
            </p:nvGrpSpPr>
            <p:grpSpPr>
              <a:xfrm>
                <a:off x="7711013" y="4002615"/>
                <a:ext cx="281520" cy="241973"/>
                <a:chOff x="5652748" y="4066000"/>
                <a:chExt cx="906498" cy="747974"/>
              </a:xfrm>
            </p:grpSpPr>
            <p:sp>
              <p:nvSpPr>
                <p:cNvPr id="898" name="Google Shape;898;p6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9" name="Google Shape;899;p6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0" name="Google Shape;900;p6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01" name="Google Shape;901;p67">
              <a:hlinkClick action="ppaction://hlinksldjump" r:id="rId3"/>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02" name="Google Shape;902;p6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pic>
        <p:nvPicPr>
          <p:cNvPr id="903" name="Google Shape;903;p67"/>
          <p:cNvPicPr preferRelativeResize="0"/>
          <p:nvPr/>
        </p:nvPicPr>
        <p:blipFill rotWithShape="1">
          <a:blip r:embed="rId5">
            <a:alphaModFix/>
          </a:blip>
          <a:srcRect b="0" l="0" r="0" t="0"/>
          <a:stretch/>
        </p:blipFill>
        <p:spPr>
          <a:xfrm>
            <a:off x="6666624" y="205782"/>
            <a:ext cx="2457450" cy="1536700"/>
          </a:xfrm>
          <a:prstGeom prst="rect">
            <a:avLst/>
          </a:prstGeom>
          <a:noFill/>
          <a:ln>
            <a:noFill/>
          </a:ln>
        </p:spPr>
      </p:pic>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2" name="Shape 922"/>
        <p:cNvGrpSpPr/>
        <p:nvPr/>
      </p:nvGrpSpPr>
      <p:grpSpPr>
        <a:xfrm>
          <a:off x="0" y="0"/>
          <a:ext cx="0" cy="0"/>
          <a:chOff x="0" y="0"/>
          <a:chExt cx="0" cy="0"/>
        </a:xfrm>
      </p:grpSpPr>
      <p:graphicFrame>
        <p:nvGraphicFramePr>
          <p:cNvPr id="923" name="Google Shape;923;p6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Create a robust</a:t>
                      </a:r>
                      <a:r>
                        <a:rPr b="1" lang="en-GB" sz="900">
                          <a:solidFill>
                            <a:schemeClr val="dk1"/>
                          </a:solidFill>
                        </a:rPr>
                        <a:t> 360 view of the customer across all channels and interactions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 and infer customer  attributes,</a:t>
                      </a:r>
                      <a:r>
                        <a:rPr b="0" lang="en-GB" sz="900">
                          <a:solidFill>
                            <a:schemeClr val="dk1"/>
                          </a:solidFill>
                        </a:rPr>
                        <a:t> </a:t>
                      </a:r>
                      <a:r>
                        <a:rPr b="0" lang="en-GB" sz="900">
                          <a:solidFill>
                            <a:schemeClr val="dk1"/>
                          </a:solidFill>
                        </a:rPr>
                        <a:t>experience ,wants and</a:t>
                      </a:r>
                      <a:r>
                        <a:rPr b="0" lang="en-GB" sz="900">
                          <a:solidFill>
                            <a:schemeClr val="dk1"/>
                          </a:solidFill>
                        </a:rPr>
                        <a:t> likes based on factual data about a customer’s interaction through different business lines and channels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Inferred demand and interest groups the customer may belong to, based on availability of connection data and behavioural patterns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Create a rich set of  customer interactions/events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holistic customer relationships, offers and track drivers for customer making decisions across different business lines and in the context of a community</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Detailed customer, product, channel</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Customer interactions /events across touch points </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Text</a:t>
                      </a:r>
                      <a:r>
                        <a:rPr b="0" lang="en-GB" sz="900">
                          <a:solidFill>
                            <a:schemeClr val="dk1"/>
                          </a:solidFill>
                        </a:rPr>
                        <a:t> data from reviews, email, call logs and social media</a:t>
                      </a:r>
                      <a:endParaRPr b="0" sz="900">
                        <a:solidFill>
                          <a:schemeClr val="dk1"/>
                        </a:solidFill>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Connection data where available (interactions between customers) and natural groupings of customers based on expressed interests-user</a:t>
                      </a:r>
                      <a:r>
                        <a:rPr b="0" lang="en-GB" sz="900">
                          <a:solidFill>
                            <a:schemeClr val="dk1"/>
                          </a:solidFill>
                        </a:rPr>
                        <a:t> profiles, etc.</a:t>
                      </a:r>
                      <a:endParaRPr b="0"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All forms of classification ,</a:t>
                      </a:r>
                      <a:r>
                        <a:rPr b="0" lang="en-GB" sz="900">
                          <a:solidFill>
                            <a:schemeClr val="dk1"/>
                          </a:solidFill>
                        </a:rPr>
                        <a:t> </a:t>
                      </a:r>
                      <a:r>
                        <a:rPr b="0" lang="en-GB" sz="900">
                          <a:solidFill>
                            <a:schemeClr val="dk1"/>
                          </a:solidFill>
                        </a:rPr>
                        <a:t>clustering and segmentation</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Connection</a:t>
                      </a:r>
                      <a:r>
                        <a:rPr b="0" lang="en-GB" sz="900">
                          <a:solidFill>
                            <a:schemeClr val="dk1"/>
                          </a:solidFill>
                        </a:rPr>
                        <a:t>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Customer journey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Path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Sentiment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Predictive modeling and scoring</a:t>
                      </a:r>
                      <a:endParaRPr/>
                    </a:p>
                    <a:p>
                      <a:pPr indent="0" lvl="0" marL="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accurate measurement of the depth and value of the entire customer relationship</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of customer interactions across channels and time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Deeper understanding of customers decisions, needs and journeys to   tailor  relationship and interactions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Predictive satisfaction levels and root causes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Customer experiences and influence across lines of business (e.g. A bad experience with the service provided at the home affects the individual’s perception when deciding for his company, etc.)</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Tailored marketing plans and communication</a:t>
                      </a:r>
                      <a:br>
                        <a:rPr b="0" lang="en-GB" sz="900">
                          <a:solidFill>
                            <a:schemeClr val="dk1"/>
                          </a:solidFill>
                          <a:latin typeface="Century Gothic"/>
                          <a:ea typeface="Century Gothic"/>
                          <a:cs typeface="Century Gothic"/>
                          <a:sym typeface="Century Gothic"/>
                        </a:rPr>
                      </a:br>
                      <a:r>
                        <a:rPr b="0" lang="en-GB" sz="900">
                          <a:solidFill>
                            <a:schemeClr val="dk1"/>
                          </a:solidFill>
                          <a:latin typeface="Century Gothic"/>
                          <a:ea typeface="Century Gothic"/>
                          <a:cs typeface="Century Gothic"/>
                          <a:sym typeface="Century Gothic"/>
                        </a:rPr>
                        <a:t> aimed at individuals and communities or </a:t>
                      </a:r>
                      <a:br>
                        <a:rPr b="0" lang="en-GB" sz="900">
                          <a:solidFill>
                            <a:schemeClr val="dk1"/>
                          </a:solidFill>
                          <a:latin typeface="Century Gothic"/>
                          <a:ea typeface="Century Gothic"/>
                          <a:cs typeface="Century Gothic"/>
                          <a:sym typeface="Century Gothic"/>
                        </a:rPr>
                      </a:br>
                      <a:r>
                        <a:rPr b="0" lang="en-GB" sz="900">
                          <a:solidFill>
                            <a:schemeClr val="dk1"/>
                          </a:solidFill>
                          <a:latin typeface="Century Gothic"/>
                          <a:ea typeface="Century Gothic"/>
                          <a:cs typeface="Century Gothic"/>
                          <a:sym typeface="Century Gothic"/>
                        </a:rPr>
                        <a:t>groups with common interests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Product design for groups joined by </a:t>
                      </a:r>
                      <a:br>
                        <a:rPr b="0" lang="en-GB" sz="900">
                          <a:solidFill>
                            <a:schemeClr val="dk1"/>
                          </a:solidFill>
                          <a:latin typeface="Century Gothic"/>
                          <a:ea typeface="Century Gothic"/>
                          <a:cs typeface="Century Gothic"/>
                          <a:sym typeface="Century Gothic"/>
                        </a:rPr>
                      </a:br>
                      <a:r>
                        <a:rPr b="0" lang="en-GB" sz="900">
                          <a:solidFill>
                            <a:schemeClr val="dk1"/>
                          </a:solidFill>
                          <a:latin typeface="Century Gothic"/>
                          <a:ea typeface="Century Gothic"/>
                          <a:cs typeface="Century Gothic"/>
                          <a:sym typeface="Century Gothic"/>
                        </a:rPr>
                        <a:t>nearness and common interests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924" name="Google Shape;924;p6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25" name="Google Shape;925;p6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Multi-Dimensional Customer View</a:t>
            </a:r>
            <a:endParaRPr/>
          </a:p>
        </p:txBody>
      </p:sp>
      <p:pic>
        <p:nvPicPr>
          <p:cNvPr id="926" name="Google Shape;926;p69"/>
          <p:cNvPicPr preferRelativeResize="0"/>
          <p:nvPr/>
        </p:nvPicPr>
        <p:blipFill rotWithShape="1">
          <a:blip r:embed="rId3">
            <a:alphaModFix/>
          </a:blip>
          <a:srcRect b="0" l="0" r="0" t="0"/>
          <a:stretch/>
        </p:blipFill>
        <p:spPr>
          <a:xfrm>
            <a:off x="6666624" y="205782"/>
            <a:ext cx="2457450" cy="1536700"/>
          </a:xfrm>
          <a:prstGeom prst="rect">
            <a:avLst/>
          </a:prstGeom>
          <a:noFill/>
          <a:ln>
            <a:noFill/>
          </a:ln>
        </p:spPr>
      </p:pic>
      <p:sp>
        <p:nvSpPr>
          <p:cNvPr id="927" name="Google Shape;927;p6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grpSp>
        <p:nvGrpSpPr>
          <p:cNvPr id="928" name="Google Shape;928;p69"/>
          <p:cNvGrpSpPr/>
          <p:nvPr/>
        </p:nvGrpSpPr>
        <p:grpSpPr>
          <a:xfrm>
            <a:off x="7717533" y="4360377"/>
            <a:ext cx="1058348" cy="347375"/>
            <a:chOff x="7651698" y="4287227"/>
            <a:chExt cx="1058348" cy="347375"/>
          </a:xfrm>
        </p:grpSpPr>
        <p:grpSp>
          <p:nvGrpSpPr>
            <p:cNvPr id="929" name="Google Shape;929;p69"/>
            <p:cNvGrpSpPr/>
            <p:nvPr/>
          </p:nvGrpSpPr>
          <p:grpSpPr>
            <a:xfrm>
              <a:off x="7714163" y="4337598"/>
              <a:ext cx="995883" cy="297004"/>
              <a:chOff x="7711013" y="3986494"/>
              <a:chExt cx="995883" cy="297004"/>
            </a:xfrm>
          </p:grpSpPr>
          <p:sp>
            <p:nvSpPr>
              <p:cNvPr id="930" name="Google Shape;930;p6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31" name="Google Shape;931;p69"/>
              <p:cNvGrpSpPr/>
              <p:nvPr/>
            </p:nvGrpSpPr>
            <p:grpSpPr>
              <a:xfrm>
                <a:off x="7711013" y="4002615"/>
                <a:ext cx="281520" cy="241973"/>
                <a:chOff x="5652748" y="4066000"/>
                <a:chExt cx="906498" cy="747974"/>
              </a:xfrm>
            </p:grpSpPr>
            <p:sp>
              <p:nvSpPr>
                <p:cNvPr id="932" name="Google Shape;932;p6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33" name="Google Shape;933;p6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34" name="Google Shape;934;p6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35" name="Google Shape;935;p6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3" name="Shape 953"/>
        <p:cNvGrpSpPr/>
        <p:nvPr/>
      </p:nvGrpSpPr>
      <p:grpSpPr>
        <a:xfrm>
          <a:off x="0" y="0"/>
          <a:ext cx="0" cy="0"/>
          <a:chOff x="0" y="0"/>
          <a:chExt cx="0" cy="0"/>
        </a:xfrm>
      </p:grpSpPr>
      <p:pic>
        <p:nvPicPr>
          <p:cNvPr descr="COM-1010-L.jpg" id="954" name="Google Shape;954;p71"/>
          <p:cNvPicPr preferRelativeResize="0"/>
          <p:nvPr/>
        </p:nvPicPr>
        <p:blipFill rotWithShape="1">
          <a:blip r:embed="rId3">
            <a:alphaModFix/>
          </a:blip>
          <a:srcRect b="12894" l="49983" r="5439" t="7287"/>
          <a:stretch/>
        </p:blipFill>
        <p:spPr>
          <a:xfrm>
            <a:off x="5358809" y="723887"/>
            <a:ext cx="3510209" cy="4028870"/>
          </a:xfrm>
          <a:prstGeom prst="rect">
            <a:avLst/>
          </a:prstGeom>
          <a:noFill/>
          <a:ln>
            <a:noFill/>
          </a:ln>
          <a:effectLst>
            <a:outerShdw blurRad="292100" rotWithShape="0" algn="tl" dir="2700000" dist="139700">
              <a:srgbClr val="333333">
                <a:alpha val="64705"/>
              </a:srgbClr>
            </a:outerShdw>
          </a:effectLst>
        </p:spPr>
      </p:pic>
      <p:sp>
        <p:nvSpPr>
          <p:cNvPr id="955" name="Google Shape;955;p71"/>
          <p:cNvSpPr txBox="1"/>
          <p:nvPr>
            <p:ph idx="1" type="body"/>
          </p:nvPr>
        </p:nvSpPr>
        <p:spPr>
          <a:xfrm>
            <a:off x="455485" y="2211360"/>
            <a:ext cx="4494748" cy="2454576"/>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200"/>
              <a:buChar char="•"/>
            </a:pPr>
            <a:r>
              <a:rPr lang="en-GB" sz="1200"/>
              <a:t>Creates competitive advantage with unique customer insights  to drive interactions with customers</a:t>
            </a:r>
            <a:endParaRPr sz="1200"/>
          </a:p>
          <a:p>
            <a:pPr indent="-169863" lvl="0" marL="169863" rtl="0" algn="l">
              <a:lnSpc>
                <a:spcPct val="95000"/>
              </a:lnSpc>
              <a:spcBef>
                <a:spcPts val="600"/>
              </a:spcBef>
              <a:spcAft>
                <a:spcPts val="0"/>
              </a:spcAft>
              <a:buClr>
                <a:schemeClr val="dk1"/>
              </a:buClr>
              <a:buSzPts val="1200"/>
              <a:buChar char="•"/>
            </a:pPr>
            <a:r>
              <a:rPr lang="en-GB" sz="1200"/>
              <a:t>Enables increased personalization, relevance and real time messaging</a:t>
            </a:r>
            <a:endParaRPr/>
          </a:p>
          <a:p>
            <a:pPr indent="-169863" lvl="0" marL="169863" rtl="0" algn="l">
              <a:lnSpc>
                <a:spcPct val="95000"/>
              </a:lnSpc>
              <a:spcBef>
                <a:spcPts val="600"/>
              </a:spcBef>
              <a:spcAft>
                <a:spcPts val="0"/>
              </a:spcAft>
              <a:buClr>
                <a:schemeClr val="dk1"/>
              </a:buClr>
              <a:buSzPts val="1200"/>
              <a:buChar char="•"/>
            </a:pPr>
            <a:r>
              <a:rPr lang="en-GB" sz="1200"/>
              <a:t>Provides comprehensive insights to improve both customer interactions and internal processes</a:t>
            </a:r>
            <a:endParaRPr/>
          </a:p>
          <a:p>
            <a:pPr indent="-169863" lvl="0" marL="169863" rtl="0" algn="l">
              <a:lnSpc>
                <a:spcPct val="95000"/>
              </a:lnSpc>
              <a:spcBef>
                <a:spcPts val="600"/>
              </a:spcBef>
              <a:spcAft>
                <a:spcPts val="0"/>
              </a:spcAft>
              <a:buClr>
                <a:schemeClr val="dk1"/>
              </a:buClr>
              <a:buSzPts val="1200"/>
              <a:buChar char="•"/>
            </a:pPr>
            <a:r>
              <a:rPr lang="en-GB" sz="1200"/>
              <a:t>Provides a view of customer behaviors and ‘events’ across channels and over time to analyze customer journeys</a:t>
            </a:r>
            <a:endParaRPr/>
          </a:p>
          <a:p>
            <a:pPr indent="-169863" lvl="0" marL="169863" rtl="0" algn="l">
              <a:lnSpc>
                <a:spcPct val="95000"/>
              </a:lnSpc>
              <a:spcBef>
                <a:spcPts val="600"/>
              </a:spcBef>
              <a:spcAft>
                <a:spcPts val="0"/>
              </a:spcAft>
              <a:buClr>
                <a:schemeClr val="dk1"/>
              </a:buClr>
              <a:buSzPts val="1200"/>
              <a:buChar char="•"/>
            </a:pPr>
            <a:r>
              <a:rPr lang="en-GB" sz="1200"/>
              <a:t>Improves customer experience and satisfaction</a:t>
            </a:r>
            <a:endParaRPr/>
          </a:p>
          <a:p>
            <a:pPr indent="-93663" lvl="0" marL="169863" rtl="0" algn="l">
              <a:lnSpc>
                <a:spcPct val="95000"/>
              </a:lnSpc>
              <a:spcBef>
                <a:spcPts val="600"/>
              </a:spcBef>
              <a:spcAft>
                <a:spcPts val="0"/>
              </a:spcAft>
              <a:buClr>
                <a:schemeClr val="dk1"/>
              </a:buClr>
              <a:buSzPts val="1200"/>
              <a:buNone/>
            </a:pPr>
            <a:r>
              <a:t/>
            </a:r>
            <a:endParaRPr sz="1200"/>
          </a:p>
        </p:txBody>
      </p:sp>
      <p:sp>
        <p:nvSpPr>
          <p:cNvPr id="956" name="Google Shape;956;p71"/>
          <p:cNvSpPr txBox="1"/>
          <p:nvPr>
            <p:ph type="title"/>
          </p:nvPr>
        </p:nvSpPr>
        <p:spPr>
          <a:xfrm>
            <a:off x="127987"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Insight Driven Customer Management</a:t>
            </a:r>
            <a:br>
              <a:rPr lang="en-GB"/>
            </a:br>
            <a:endParaRPr/>
          </a:p>
        </p:txBody>
      </p:sp>
      <p:sp>
        <p:nvSpPr>
          <p:cNvPr id="957" name="Google Shape;957;p71"/>
          <p:cNvSpPr/>
          <p:nvPr/>
        </p:nvSpPr>
        <p:spPr>
          <a:xfrm>
            <a:off x="1" y="751681"/>
            <a:ext cx="7205662" cy="1101599"/>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1" marL="457200" marR="0" rtl="0" algn="l">
              <a:spcBef>
                <a:spcPts val="0"/>
              </a:spcBef>
              <a:spcAft>
                <a:spcPts val="0"/>
              </a:spcAft>
              <a:buNone/>
            </a:pPr>
            <a:r>
              <a:rPr b="0" i="0" lang="en-GB" sz="1600" u="none" cap="none" strike="noStrike">
                <a:solidFill>
                  <a:schemeClr val="lt1"/>
                </a:solidFill>
                <a:latin typeface="Century Gothic"/>
                <a:ea typeface="Century Gothic"/>
                <a:cs typeface="Century Gothic"/>
                <a:sym typeface="Century Gothic"/>
              </a:rPr>
              <a:t>Utilize advanced and multi-genre analytics to drive new Customer insights into behaviors, experiences, journeys over time and satisfaction. Leverage these new insights to drive customer interaction</a:t>
            </a:r>
            <a:endParaRPr b="0" i="0" sz="1600" u="none" cap="none" strike="noStrike">
              <a:solidFill>
                <a:schemeClr val="lt1"/>
              </a:solidFill>
              <a:latin typeface="Century Gothic"/>
              <a:ea typeface="Century Gothic"/>
              <a:cs typeface="Century Gothic"/>
              <a:sym typeface="Century Gothic"/>
            </a:endParaRPr>
          </a:p>
        </p:txBody>
      </p:sp>
      <p:sp>
        <p:nvSpPr>
          <p:cNvPr id="958" name="Google Shape;958;p7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9" name="Shape 979"/>
        <p:cNvGrpSpPr/>
        <p:nvPr/>
      </p:nvGrpSpPr>
      <p:grpSpPr>
        <a:xfrm>
          <a:off x="0" y="0"/>
          <a:ext cx="0" cy="0"/>
          <a:chOff x="0" y="0"/>
          <a:chExt cx="0" cy="0"/>
        </a:xfrm>
      </p:grpSpPr>
      <p:cxnSp>
        <p:nvCxnSpPr>
          <p:cNvPr id="980" name="Google Shape;980;p7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81" name="Google Shape;981;p74"/>
          <p:cNvSpPr txBox="1"/>
          <p:nvPr>
            <p:ph type="title"/>
          </p:nvPr>
        </p:nvSpPr>
        <p:spPr>
          <a:xfrm>
            <a:off x="228600"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Value &amp; Profitability</a:t>
            </a:r>
            <a:endParaRPr/>
          </a:p>
        </p:txBody>
      </p:sp>
      <p:sp>
        <p:nvSpPr>
          <p:cNvPr id="982" name="Google Shape;982;p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aphicFrame>
        <p:nvGraphicFramePr>
          <p:cNvPr id="983" name="Google Shape;983;p74"/>
          <p:cNvGraphicFramePr/>
          <p:nvPr/>
        </p:nvGraphicFramePr>
        <p:xfrm>
          <a:off x="228600" y="514350"/>
          <a:ext cx="3000000" cy="3000000"/>
        </p:xfrm>
        <a:graphic>
          <a:graphicData uri="http://schemas.openxmlformats.org/drawingml/2006/table">
            <a:tbl>
              <a:tblPr bandRow="1" firstRow="1">
                <a:noFill/>
                <a:tableStyleId>{D098BFCB-6916-41F2-A2A5-0DF0D5139B6F}</a:tableStyleId>
              </a:tblPr>
              <a:tblGrid>
                <a:gridCol w="4257450"/>
                <a:gridCol w="179650"/>
                <a:gridCol w="42574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2222400">
                <a:tc>
                  <a:txBody>
                    <a:bodyPr/>
                    <a:lstStyle/>
                    <a:p>
                      <a:pPr indent="0" lvl="0" marL="0" marR="0" rtl="0" algn="l">
                        <a:spcBef>
                          <a:spcPts val="0"/>
                        </a:spcBef>
                        <a:spcAft>
                          <a:spcPts val="0"/>
                        </a:spcAft>
                        <a:buNone/>
                      </a:pPr>
                      <a:r>
                        <a:rPr b="1" lang="en-GB" sz="900">
                          <a:solidFill>
                            <a:schemeClr val="dk1"/>
                          </a:solidFill>
                        </a:rPr>
                        <a:t>Support customer-related</a:t>
                      </a:r>
                      <a:r>
                        <a:rPr b="1" lang="en-GB" sz="900">
                          <a:solidFill>
                            <a:schemeClr val="dk1"/>
                          </a:solidFill>
                        </a:rPr>
                        <a:t> processes (e.g., Marketing, Pricing, etc.) creating customer level measures of actual and potential value</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Target new prospects, and manage existing customers based on their current &amp; future value potential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Provide ability to Implement relation based pricing,</a:t>
                      </a:r>
                      <a:r>
                        <a:rPr b="0" lang="en-GB" sz="900">
                          <a:solidFill>
                            <a:schemeClr val="dk1"/>
                          </a:solidFill>
                          <a:latin typeface="Century Gothic"/>
                          <a:ea typeface="Century Gothic"/>
                          <a:cs typeface="Century Gothic"/>
                          <a:sym typeface="Century Gothic"/>
                        </a:rPr>
                        <a:t> </a:t>
                      </a:r>
                      <a:endParaRPr b="0" sz="900">
                        <a:solidFill>
                          <a:schemeClr val="dk1"/>
                        </a:solidFill>
                        <a:latin typeface="Century Gothic"/>
                        <a:ea typeface="Century Gothic"/>
                        <a:cs typeface="Century Gothic"/>
                        <a:sym typeface="Century Gothic"/>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Optimise</a:t>
                      </a:r>
                      <a:r>
                        <a:rPr b="0" lang="en-GB" sz="900">
                          <a:solidFill>
                            <a:schemeClr val="dk1"/>
                          </a:solidFill>
                          <a:latin typeface="Century Gothic"/>
                          <a:ea typeface="Century Gothic"/>
                          <a:cs typeface="Century Gothic"/>
                          <a:sym typeface="Century Gothic"/>
                        </a:rPr>
                        <a:t> customer interaction strategy </a:t>
                      </a:r>
                      <a:r>
                        <a:rPr b="0" lang="en-GB" sz="900">
                          <a:solidFill>
                            <a:schemeClr val="dk1"/>
                          </a:solidFill>
                          <a:latin typeface="Century Gothic"/>
                          <a:ea typeface="Century Gothic"/>
                          <a:cs typeface="Century Gothic"/>
                          <a:sym typeface="Century Gothic"/>
                        </a:rPr>
                        <a:t>based on profitability  &amp;</a:t>
                      </a:r>
                      <a:r>
                        <a:rPr b="0" lang="en-GB" sz="900">
                          <a:solidFill>
                            <a:schemeClr val="dk1"/>
                          </a:solidFill>
                          <a:latin typeface="Century Gothic"/>
                          <a:ea typeface="Century Gothic"/>
                          <a:cs typeface="Century Gothic"/>
                          <a:sym typeface="Century Gothic"/>
                        </a:rPr>
                        <a:t> LTV</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Leverage the ability to drill down into detailed profitability component to identify value creation opportunities   and drivers of profitability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Support network optimisation and portfolio redesign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 effectiveness of customer strategy including impact on value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how cross-sell strategies and channel usage impact customer profitability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relationship between customer satisfaction and customer profitability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data covering the  whole organisation, including: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s, product usage, transactions, account balances, channel usage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activity costing data</a:t>
                      </a:r>
                      <a:endParaRPr/>
                    </a:p>
                    <a:p>
                      <a:pPr indent="0" lvl="0" marL="177800" marR="0" rtl="0" algn="l">
                        <a:lnSpc>
                          <a:spcPct val="100000"/>
                        </a:lnSpc>
                        <a:spcBef>
                          <a:spcPts val="0"/>
                        </a:spcBef>
                        <a:spcAft>
                          <a:spcPts val="0"/>
                        </a:spcAft>
                        <a:buClr>
                          <a:schemeClr val="dk1"/>
                        </a:buClr>
                        <a:buSzPts val="900"/>
                        <a:buFont typeface="Century Gothic"/>
                        <a:buNone/>
                      </a:pPr>
                      <a:r>
                        <a:rPr lang="en-GB" sz="900">
                          <a:solidFill>
                            <a:schemeClr val="dk1"/>
                          </a:solidFill>
                          <a:latin typeface="Century Gothic"/>
                          <a:ea typeface="Century Gothic"/>
                          <a:cs typeface="Century Gothic"/>
                          <a:sym typeface="Century Gothic"/>
                        </a:rPr>
                        <a:t>Bad debt/collections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Analytical process to calculate customer profitability from atomic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Monitor profitability over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Ability to drill into individual product profitability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Monthly profit model reconciliation to general ledger</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segmentation based on current / future value potential</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Increase marketing ROI by better targeting budget allocations </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Redesign products and packages to enhance profitability</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Identify and make profitable product recommendations quickly and easily</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Identify most profitable customers and develop strategies to protect their value </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Accelerate profit growth by identifying potentially valuable customers and investing in this segment </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Identify customers with a negative impact on profitability and develop strategies to reduce costs to serve or migrate to </a:t>
                      </a:r>
                      <a:br>
                        <a:rPr lang="en-GB" sz="850">
                          <a:solidFill>
                            <a:schemeClr val="dk1"/>
                          </a:solidFill>
                          <a:latin typeface="Century Gothic"/>
                          <a:ea typeface="Century Gothic"/>
                          <a:cs typeface="Century Gothic"/>
                          <a:sym typeface="Century Gothic"/>
                        </a:rPr>
                      </a:br>
                      <a:r>
                        <a:rPr lang="en-GB" sz="850">
                          <a:solidFill>
                            <a:schemeClr val="dk1"/>
                          </a:solidFill>
                          <a:latin typeface="Century Gothic"/>
                          <a:ea typeface="Century Gothic"/>
                          <a:cs typeface="Century Gothic"/>
                          <a:sym typeface="Century Gothic"/>
                        </a:rPr>
                        <a:t>more profitable product set</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Understand paths to value / loss and interactions</a:t>
                      </a:r>
                      <a:br>
                        <a:rPr lang="en-GB" sz="850">
                          <a:solidFill>
                            <a:schemeClr val="dk1"/>
                          </a:solidFill>
                          <a:latin typeface="Century Gothic"/>
                          <a:ea typeface="Century Gothic"/>
                          <a:cs typeface="Century Gothic"/>
                          <a:sym typeface="Century Gothic"/>
                        </a:rPr>
                      </a:br>
                      <a:r>
                        <a:rPr lang="en-GB" sz="850">
                          <a:solidFill>
                            <a:schemeClr val="dk1"/>
                          </a:solidFill>
                          <a:latin typeface="Century Gothic"/>
                          <a:ea typeface="Century Gothic"/>
                          <a:cs typeface="Century Gothic"/>
                          <a:sym typeface="Century Gothic"/>
                        </a:rPr>
                        <a:t> to create more profitable results</a:t>
                      </a:r>
                      <a:endParaRPr b="1" sz="85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984" name="Google Shape;984;p74"/>
          <p:cNvGrpSpPr/>
          <p:nvPr/>
        </p:nvGrpSpPr>
        <p:grpSpPr>
          <a:xfrm>
            <a:off x="6681181" y="227746"/>
            <a:ext cx="2432605" cy="1508418"/>
            <a:chOff x="3241483" y="678377"/>
            <a:chExt cx="2432605" cy="1508418"/>
          </a:xfrm>
        </p:grpSpPr>
        <p:sp>
          <p:nvSpPr>
            <p:cNvPr id="985" name="Google Shape;985;p74"/>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986" name="Google Shape;986;p74"/>
            <p:cNvGrpSpPr/>
            <p:nvPr/>
          </p:nvGrpSpPr>
          <p:grpSpPr>
            <a:xfrm>
              <a:off x="3430680" y="814892"/>
              <a:ext cx="2230757" cy="1257815"/>
              <a:chOff x="6269745" y="1818918"/>
              <a:chExt cx="2825275" cy="1593033"/>
            </a:xfrm>
          </p:grpSpPr>
          <p:grpSp>
            <p:nvGrpSpPr>
              <p:cNvPr id="987" name="Google Shape;987;p74"/>
              <p:cNvGrpSpPr/>
              <p:nvPr/>
            </p:nvGrpSpPr>
            <p:grpSpPr>
              <a:xfrm>
                <a:off x="7216189" y="1999143"/>
                <a:ext cx="992955" cy="399680"/>
                <a:chOff x="1795630" y="3780481"/>
                <a:chExt cx="992955" cy="399680"/>
              </a:xfrm>
            </p:grpSpPr>
            <p:sp>
              <p:nvSpPr>
                <p:cNvPr id="988" name="Google Shape;988;p74"/>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89" name="Google Shape;989;p74"/>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990" name="Google Shape;990;p74"/>
              <p:cNvGrpSpPr/>
              <p:nvPr/>
            </p:nvGrpSpPr>
            <p:grpSpPr>
              <a:xfrm>
                <a:off x="8395782" y="1818918"/>
                <a:ext cx="582035" cy="745654"/>
                <a:chOff x="6632575" y="6389688"/>
                <a:chExt cx="739775" cy="947737"/>
              </a:xfrm>
            </p:grpSpPr>
            <p:sp>
              <p:nvSpPr>
                <p:cNvPr id="991" name="Google Shape;991;p74"/>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2" name="Google Shape;992;p74"/>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993" name="Google Shape;993;p74"/>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4" name="Google Shape;994;p74"/>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5" name="Google Shape;995;p74"/>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6" name="Google Shape;996;p74"/>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grpSp>
        <p:nvGrpSpPr>
          <p:cNvPr id="997" name="Google Shape;997;p74"/>
          <p:cNvGrpSpPr/>
          <p:nvPr/>
        </p:nvGrpSpPr>
        <p:grpSpPr>
          <a:xfrm>
            <a:off x="7717533" y="4360377"/>
            <a:ext cx="1058348" cy="347375"/>
            <a:chOff x="7651698" y="4287227"/>
            <a:chExt cx="1058348" cy="347375"/>
          </a:xfrm>
        </p:grpSpPr>
        <p:grpSp>
          <p:nvGrpSpPr>
            <p:cNvPr id="998" name="Google Shape;998;p74"/>
            <p:cNvGrpSpPr/>
            <p:nvPr/>
          </p:nvGrpSpPr>
          <p:grpSpPr>
            <a:xfrm>
              <a:off x="7714163" y="4337598"/>
              <a:ext cx="995883" cy="297004"/>
              <a:chOff x="7711013" y="3986494"/>
              <a:chExt cx="995883" cy="297004"/>
            </a:xfrm>
          </p:grpSpPr>
          <p:sp>
            <p:nvSpPr>
              <p:cNvPr id="999" name="Google Shape;999;p7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00" name="Google Shape;1000;p74"/>
              <p:cNvGrpSpPr/>
              <p:nvPr/>
            </p:nvGrpSpPr>
            <p:grpSpPr>
              <a:xfrm>
                <a:off x="7711013" y="4002615"/>
                <a:ext cx="281520" cy="241973"/>
                <a:chOff x="5652748" y="4066000"/>
                <a:chExt cx="906498" cy="747974"/>
              </a:xfrm>
            </p:grpSpPr>
            <p:sp>
              <p:nvSpPr>
                <p:cNvPr id="1001" name="Google Shape;1001;p7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02" name="Google Shape;1002;p7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3" name="Google Shape;1003;p7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04" name="Google Shape;1004;p7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3" name="Shape 1023"/>
        <p:cNvGrpSpPr/>
        <p:nvPr/>
      </p:nvGrpSpPr>
      <p:grpSpPr>
        <a:xfrm>
          <a:off x="0" y="0"/>
          <a:ext cx="0" cy="0"/>
          <a:chOff x="0" y="0"/>
          <a:chExt cx="0" cy="0"/>
        </a:xfrm>
      </p:grpSpPr>
      <p:cxnSp>
        <p:nvCxnSpPr>
          <p:cNvPr id="1024" name="Google Shape;1024;p7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25" name="Google Shape;1025;p76"/>
          <p:cNvGraphicFramePr/>
          <p:nvPr/>
        </p:nvGraphicFramePr>
        <p:xfrm>
          <a:off x="381000"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Measure and manage the impact of</a:t>
                      </a:r>
                      <a:r>
                        <a:rPr b="1" lang="en-GB" sz="900">
                          <a:solidFill>
                            <a:schemeClr val="dk1"/>
                          </a:solidFill>
                        </a:rPr>
                        <a:t> </a:t>
                      </a:r>
                      <a:r>
                        <a:rPr b="1" lang="en-GB" sz="900">
                          <a:solidFill>
                            <a:schemeClr val="dk1"/>
                          </a:solidFill>
                        </a:rPr>
                        <a:t>interactions</a:t>
                      </a:r>
                      <a:r>
                        <a:rPr b="1" lang="en-GB" sz="900">
                          <a:solidFill>
                            <a:schemeClr val="dk1"/>
                          </a:solidFill>
                        </a:rPr>
                        <a:t> on customer satisfaction and experience</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Capture</a:t>
                      </a:r>
                      <a:r>
                        <a:rPr b="0" lang="en-GB" sz="900">
                          <a:solidFill>
                            <a:schemeClr val="dk1"/>
                          </a:solidFill>
                        </a:rPr>
                        <a:t> and analyse customer interactions across multiple touch points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Measure the impact of various interactions on satisfaction/experience</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Incorporate direct customer feedback through sentiment</a:t>
                      </a:r>
                      <a:r>
                        <a:rPr b="0" lang="en-GB" sz="900">
                          <a:solidFill>
                            <a:schemeClr val="dk1"/>
                          </a:solidFill>
                        </a:rPr>
                        <a:t> analysis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Operationalize satisfaction measurements to</a:t>
                      </a:r>
                      <a:r>
                        <a:rPr b="0" lang="en-GB" sz="900">
                          <a:solidFill>
                            <a:schemeClr val="dk1"/>
                          </a:solidFill>
                        </a:rPr>
                        <a:t> provide continuous monitoring of satisfaction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Provide “alerts” for significant satisfaction changes in key segments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and utilize</a:t>
                      </a:r>
                      <a:r>
                        <a:rPr b="0" lang="en-GB" sz="900">
                          <a:solidFill>
                            <a:schemeClr val="dk1"/>
                          </a:solidFill>
                        </a:rPr>
                        <a:t> a Net Promoter Score for relevant customer treatment strategies</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and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and non-financial transactions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Online ,offline and service interactions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Social media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Multi-variant predictive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Collaborative filtering and indexing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and pattern analysis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Behavioral clustering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Text and sentiment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measurement of customer satisfaction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effective treatment strategies to improve customer satisfaction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and quantification of  interactions that positively or negatively impact customer experience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dis-satisfied customers before they abandon or churn and the ability to proactively take 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process improvements  that will  drive better customer experiences and higher customer satisfaction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26" name="Google Shape;1026;p7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Satisfaction Indexing</a:t>
            </a:r>
            <a:endParaRPr sz="1600"/>
          </a:p>
        </p:txBody>
      </p:sp>
      <p:grpSp>
        <p:nvGrpSpPr>
          <p:cNvPr id="1027" name="Google Shape;1027;p76"/>
          <p:cNvGrpSpPr/>
          <p:nvPr/>
        </p:nvGrpSpPr>
        <p:grpSpPr>
          <a:xfrm>
            <a:off x="6681181" y="227746"/>
            <a:ext cx="2432605" cy="1508418"/>
            <a:chOff x="3241483" y="678377"/>
            <a:chExt cx="2432605" cy="1508418"/>
          </a:xfrm>
        </p:grpSpPr>
        <p:sp>
          <p:nvSpPr>
            <p:cNvPr id="1028" name="Google Shape;1028;p7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029" name="Google Shape;1029;p76"/>
            <p:cNvGrpSpPr/>
            <p:nvPr/>
          </p:nvGrpSpPr>
          <p:grpSpPr>
            <a:xfrm>
              <a:off x="3430680" y="814892"/>
              <a:ext cx="2230757" cy="1257815"/>
              <a:chOff x="6269745" y="1818918"/>
              <a:chExt cx="2825275" cy="1593033"/>
            </a:xfrm>
          </p:grpSpPr>
          <p:grpSp>
            <p:nvGrpSpPr>
              <p:cNvPr id="1030" name="Google Shape;1030;p76"/>
              <p:cNvGrpSpPr/>
              <p:nvPr/>
            </p:nvGrpSpPr>
            <p:grpSpPr>
              <a:xfrm>
                <a:off x="7216189" y="1999143"/>
                <a:ext cx="992955" cy="399680"/>
                <a:chOff x="1795630" y="3780481"/>
                <a:chExt cx="992955" cy="399680"/>
              </a:xfrm>
            </p:grpSpPr>
            <p:sp>
              <p:nvSpPr>
                <p:cNvPr id="1031" name="Google Shape;1031;p7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2" name="Google Shape;1032;p7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033" name="Google Shape;1033;p76"/>
              <p:cNvGrpSpPr/>
              <p:nvPr/>
            </p:nvGrpSpPr>
            <p:grpSpPr>
              <a:xfrm>
                <a:off x="8395782" y="1818918"/>
                <a:ext cx="582035" cy="745654"/>
                <a:chOff x="6632575" y="6389688"/>
                <a:chExt cx="739775" cy="947737"/>
              </a:xfrm>
            </p:grpSpPr>
            <p:sp>
              <p:nvSpPr>
                <p:cNvPr id="1034" name="Google Shape;1034;p7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5" name="Google Shape;1035;p7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036" name="Google Shape;1036;p7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7" name="Google Shape;1037;p7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8" name="Google Shape;1038;p7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9" name="Google Shape;1039;p7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040" name="Google Shape;1040;p7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041" name="Google Shape;1041;p76"/>
          <p:cNvGrpSpPr/>
          <p:nvPr/>
        </p:nvGrpSpPr>
        <p:grpSpPr>
          <a:xfrm>
            <a:off x="7717533" y="4360377"/>
            <a:ext cx="1058348" cy="347375"/>
            <a:chOff x="7651698" y="4287227"/>
            <a:chExt cx="1058348" cy="347375"/>
          </a:xfrm>
        </p:grpSpPr>
        <p:grpSp>
          <p:nvGrpSpPr>
            <p:cNvPr id="1042" name="Google Shape;1042;p76"/>
            <p:cNvGrpSpPr/>
            <p:nvPr/>
          </p:nvGrpSpPr>
          <p:grpSpPr>
            <a:xfrm>
              <a:off x="7714163" y="4337598"/>
              <a:ext cx="995883" cy="297004"/>
              <a:chOff x="7711013" y="3986494"/>
              <a:chExt cx="995883" cy="297004"/>
            </a:xfrm>
          </p:grpSpPr>
          <p:sp>
            <p:nvSpPr>
              <p:cNvPr id="1043" name="Google Shape;1043;p7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44" name="Google Shape;1044;p76"/>
              <p:cNvGrpSpPr/>
              <p:nvPr/>
            </p:nvGrpSpPr>
            <p:grpSpPr>
              <a:xfrm>
                <a:off x="7711013" y="4002615"/>
                <a:ext cx="281520" cy="241973"/>
                <a:chOff x="5652748" y="4066000"/>
                <a:chExt cx="906498" cy="747974"/>
              </a:xfrm>
            </p:grpSpPr>
            <p:sp>
              <p:nvSpPr>
                <p:cNvPr id="1045" name="Google Shape;1045;p7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46" name="Google Shape;1046;p7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7" name="Google Shape;1047;p7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48" name="Google Shape;1048;p7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7" name="Shape 1067"/>
        <p:cNvGrpSpPr/>
        <p:nvPr/>
      </p:nvGrpSpPr>
      <p:grpSpPr>
        <a:xfrm>
          <a:off x="0" y="0"/>
          <a:ext cx="0" cy="0"/>
          <a:chOff x="0" y="0"/>
          <a:chExt cx="0" cy="0"/>
        </a:xfrm>
      </p:grpSpPr>
      <p:graphicFrame>
        <p:nvGraphicFramePr>
          <p:cNvPr id="1068" name="Google Shape;1068;p7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Measure and predict</a:t>
                      </a:r>
                      <a:r>
                        <a:rPr b="1" lang="en-GB" sz="900">
                          <a:solidFill>
                            <a:schemeClr val="dk1"/>
                          </a:solidFill>
                        </a:rPr>
                        <a:t> the customer´s perception of a service or product</a:t>
                      </a:r>
                      <a:r>
                        <a:rPr b="1" lang="en-GB" sz="900">
                          <a:solidFill>
                            <a:schemeClr val="dk1"/>
                          </a:solidFill>
                        </a:rPr>
                        <a:t> </a:t>
                      </a:r>
                      <a:endParaRPr/>
                    </a:p>
                    <a:p>
                      <a:pPr indent="0" lvl="0" marL="0" marR="0" rtl="0" algn="l">
                        <a:spcBef>
                          <a:spcPts val="0"/>
                        </a:spcBef>
                        <a:spcAft>
                          <a:spcPts val="0"/>
                        </a:spcAft>
                        <a:buClr>
                          <a:srgbClr val="3C3C3B"/>
                        </a:buClr>
                        <a:buSzPts val="900"/>
                        <a:buFont typeface="Arial"/>
                        <a:buNone/>
                      </a:pPr>
                      <a:r>
                        <a:rPr b="0" lang="en-GB" sz="900">
                          <a:solidFill>
                            <a:srgbClr val="3C3C3B"/>
                          </a:solidFill>
                        </a:rPr>
                        <a:t>To be used across</a:t>
                      </a:r>
                      <a:r>
                        <a:rPr b="0" lang="en-GB" sz="900">
                          <a:solidFill>
                            <a:srgbClr val="3C3C3B"/>
                          </a:solidFill>
                        </a:rPr>
                        <a:t> all business functions, but fundamentally in areas responsible with customer care and customer experience management, this part of analytics includes:</a:t>
                      </a:r>
                      <a:endParaRPr b="0" sz="900">
                        <a:solidFill>
                          <a:srgbClr val="3C3C3B"/>
                        </a:solidFill>
                      </a:endParaRPr>
                    </a:p>
                    <a:p>
                      <a:pPr indent="-171450" lvl="0" marL="171450" marR="0" rtl="0" algn="l">
                        <a:spcBef>
                          <a:spcPts val="0"/>
                        </a:spcBef>
                        <a:spcAft>
                          <a:spcPts val="0"/>
                        </a:spcAft>
                        <a:buClr>
                          <a:srgbClr val="3C3C3B"/>
                        </a:buClr>
                        <a:buSzPts val="900"/>
                        <a:buFont typeface="Arial"/>
                        <a:buChar char="•"/>
                      </a:pPr>
                      <a:r>
                        <a:rPr b="0" lang="en-GB" sz="900">
                          <a:solidFill>
                            <a:srgbClr val="3C3C3B"/>
                          </a:solidFill>
                        </a:rPr>
                        <a:t>Customer Behavior Analysis</a:t>
                      </a:r>
                      <a:endParaRPr/>
                    </a:p>
                    <a:p>
                      <a:pPr indent="-171450" lvl="0" marL="171450" marR="0" rtl="0" algn="l">
                        <a:spcBef>
                          <a:spcPts val="0"/>
                        </a:spcBef>
                        <a:spcAft>
                          <a:spcPts val="0"/>
                        </a:spcAft>
                        <a:buClr>
                          <a:srgbClr val="3C3C3B"/>
                        </a:buClr>
                        <a:buSzPts val="900"/>
                        <a:buFont typeface="Arial"/>
                        <a:buChar char="•"/>
                      </a:pPr>
                      <a:r>
                        <a:rPr b="0" lang="en-GB" sz="900">
                          <a:solidFill>
                            <a:srgbClr val="3C3C3B"/>
                          </a:solidFill>
                        </a:rPr>
                        <a:t>Sentiment analysis</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CEM Indexing</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Service efficiency</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Enhanced</a:t>
                      </a:r>
                      <a:r>
                        <a:rPr b="0" lang="en-GB" sz="900">
                          <a:solidFill>
                            <a:srgbClr val="3C3C3B"/>
                          </a:solidFill>
                        </a:rPr>
                        <a:t> customer profiling</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Customer Journey analytics across multiple touchpoints</a:t>
                      </a:r>
                      <a:endParaRPr b="0" sz="900">
                        <a:solidFill>
                          <a:srgbClr val="3C3C3B"/>
                        </a:solidFill>
                      </a:endParaRPr>
                    </a:p>
                    <a:p>
                      <a:pPr indent="-114300" lvl="0" marL="171450" marR="0" rtl="0" algn="l">
                        <a:spcBef>
                          <a:spcPts val="0"/>
                        </a:spcBef>
                        <a:spcAft>
                          <a:spcPts val="0"/>
                        </a:spcAft>
                        <a:buClr>
                          <a:schemeClr val="dk1"/>
                        </a:buClr>
                        <a:buSzPts val="900"/>
                        <a:buFont typeface="Arial"/>
                        <a:buNone/>
                      </a:pPr>
                      <a:r>
                        <a:t/>
                      </a:r>
                      <a:endParaRPr b="0" sz="9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All direct and indirect customer generated data and product and service data at granular level, including time stamps, across all channels and customer interaction systems where customer events are generated</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Root cause analysis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Predictive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and other classification methods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Direct understanding of real customer journeys and relationship with the company’s products and services for experience design, churn prevention, process designs,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Connection of systematic relationship of operational aspects of customer experience and direct customer perception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Customer experience indicators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understanding of churn root causes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Access real customer issues to direct resolution prioritisation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hidden causes for customer related problems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1069" name="Google Shape;1069;p7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070" name="Google Shape;1070;p7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Experience Analytics</a:t>
            </a:r>
            <a:endParaRPr sz="1600"/>
          </a:p>
        </p:txBody>
      </p:sp>
      <p:grpSp>
        <p:nvGrpSpPr>
          <p:cNvPr id="1071" name="Google Shape;1071;p78"/>
          <p:cNvGrpSpPr/>
          <p:nvPr/>
        </p:nvGrpSpPr>
        <p:grpSpPr>
          <a:xfrm>
            <a:off x="6681181" y="227746"/>
            <a:ext cx="2432605" cy="1508418"/>
            <a:chOff x="3241483" y="678377"/>
            <a:chExt cx="2432605" cy="1508418"/>
          </a:xfrm>
        </p:grpSpPr>
        <p:sp>
          <p:nvSpPr>
            <p:cNvPr id="1072" name="Google Shape;1072;p7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073" name="Google Shape;1073;p78"/>
            <p:cNvGrpSpPr/>
            <p:nvPr/>
          </p:nvGrpSpPr>
          <p:grpSpPr>
            <a:xfrm>
              <a:off x="3430680" y="814892"/>
              <a:ext cx="2230757" cy="1257815"/>
              <a:chOff x="6269745" y="1818918"/>
              <a:chExt cx="2825275" cy="1593033"/>
            </a:xfrm>
          </p:grpSpPr>
          <p:grpSp>
            <p:nvGrpSpPr>
              <p:cNvPr id="1074" name="Google Shape;1074;p78"/>
              <p:cNvGrpSpPr/>
              <p:nvPr/>
            </p:nvGrpSpPr>
            <p:grpSpPr>
              <a:xfrm>
                <a:off x="7216189" y="1999143"/>
                <a:ext cx="992955" cy="399680"/>
                <a:chOff x="1795630" y="3780481"/>
                <a:chExt cx="992955" cy="399680"/>
              </a:xfrm>
            </p:grpSpPr>
            <p:sp>
              <p:nvSpPr>
                <p:cNvPr id="1075" name="Google Shape;1075;p7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76" name="Google Shape;1076;p7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077" name="Google Shape;1077;p78"/>
              <p:cNvGrpSpPr/>
              <p:nvPr/>
            </p:nvGrpSpPr>
            <p:grpSpPr>
              <a:xfrm>
                <a:off x="8395782" y="1818918"/>
                <a:ext cx="582035" cy="745654"/>
                <a:chOff x="6632575" y="6389688"/>
                <a:chExt cx="739775" cy="947737"/>
              </a:xfrm>
            </p:grpSpPr>
            <p:sp>
              <p:nvSpPr>
                <p:cNvPr id="1078" name="Google Shape;1078;p7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79" name="Google Shape;1079;p7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080" name="Google Shape;1080;p7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81" name="Google Shape;1081;p7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82" name="Google Shape;1082;p7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83" name="Google Shape;1083;p7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084" name="Google Shape;1084;p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085" name="Google Shape;1085;p78"/>
          <p:cNvGrpSpPr/>
          <p:nvPr/>
        </p:nvGrpSpPr>
        <p:grpSpPr>
          <a:xfrm>
            <a:off x="7717533" y="4360377"/>
            <a:ext cx="1058348" cy="347375"/>
            <a:chOff x="7651698" y="4287227"/>
            <a:chExt cx="1058348" cy="347375"/>
          </a:xfrm>
        </p:grpSpPr>
        <p:grpSp>
          <p:nvGrpSpPr>
            <p:cNvPr id="1086" name="Google Shape;1086;p78"/>
            <p:cNvGrpSpPr/>
            <p:nvPr/>
          </p:nvGrpSpPr>
          <p:grpSpPr>
            <a:xfrm>
              <a:off x="7714163" y="4337598"/>
              <a:ext cx="995883" cy="297004"/>
              <a:chOff x="7711013" y="3986494"/>
              <a:chExt cx="995883" cy="297004"/>
            </a:xfrm>
          </p:grpSpPr>
          <p:sp>
            <p:nvSpPr>
              <p:cNvPr id="1087" name="Google Shape;1087;p7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88" name="Google Shape;1088;p78"/>
              <p:cNvGrpSpPr/>
              <p:nvPr/>
            </p:nvGrpSpPr>
            <p:grpSpPr>
              <a:xfrm>
                <a:off x="7711013" y="4002615"/>
                <a:ext cx="281520" cy="241973"/>
                <a:chOff x="5652748" y="4066000"/>
                <a:chExt cx="906498" cy="747974"/>
              </a:xfrm>
            </p:grpSpPr>
            <p:sp>
              <p:nvSpPr>
                <p:cNvPr id="1089" name="Google Shape;1089;p7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90" name="Google Shape;1090;p7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91" name="Google Shape;1091;p7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92" name="Google Shape;1092;p7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1" name="Shape 1111"/>
        <p:cNvGrpSpPr/>
        <p:nvPr/>
      </p:nvGrpSpPr>
      <p:grpSpPr>
        <a:xfrm>
          <a:off x="0" y="0"/>
          <a:ext cx="0" cy="0"/>
          <a:chOff x="0" y="0"/>
          <a:chExt cx="0" cy="0"/>
        </a:xfrm>
      </p:grpSpPr>
      <p:graphicFrame>
        <p:nvGraphicFramePr>
          <p:cNvPr id="1112" name="Google Shape;1112;p8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Classify account transactions</a:t>
                      </a:r>
                      <a:r>
                        <a:rPr b="1" lang="en-GB" sz="900">
                          <a:solidFill>
                            <a:schemeClr val="dk1"/>
                          </a:solidFill>
                        </a:rPr>
                        <a:t> (e.g., salary payments, channel usage, purchase history, etc.)</a:t>
                      </a:r>
                      <a:r>
                        <a:rPr b="1" lang="en-GB" sz="900">
                          <a:solidFill>
                            <a:schemeClr val="dk1"/>
                          </a:solidFill>
                        </a:rPr>
                        <a:t> to better understand customer behaviour, life stage,</a:t>
                      </a:r>
                      <a:r>
                        <a:rPr b="1" lang="en-GB" sz="900">
                          <a:solidFill>
                            <a:schemeClr val="dk1"/>
                          </a:solidFill>
                        </a:rPr>
                        <a:t> channel usage</a:t>
                      </a:r>
                      <a:r>
                        <a:rPr b="1" lang="en-GB" sz="900">
                          <a:solidFill>
                            <a:schemeClr val="dk1"/>
                          </a:solidFill>
                        </a:rPr>
                        <a:t> and preferences to:</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Offer</a:t>
                      </a:r>
                      <a:r>
                        <a:rPr b="0" lang="en-GB" sz="900">
                          <a:solidFill>
                            <a:schemeClr val="dk1"/>
                          </a:solidFill>
                        </a:rPr>
                        <a:t> relevant products and services at the time when the customer is most receptive to considering them</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life events that indicate</a:t>
                      </a:r>
                      <a:r>
                        <a:rPr b="0" lang="en-GB" sz="900">
                          <a:solidFill>
                            <a:schemeClr val="dk1"/>
                          </a:solidFill>
                        </a:rPr>
                        <a:t> a customer need</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Target customers with appropriate products and</a:t>
                      </a:r>
                      <a:r>
                        <a:rPr b="0" lang="en-GB" sz="900">
                          <a:solidFill>
                            <a:schemeClr val="dk1"/>
                          </a:solidFill>
                        </a:rPr>
                        <a:t> services based on the attitude and behaviour exhibited in their spending/purchasing history</a:t>
                      </a:r>
                      <a:r>
                        <a:rPr b="0" lang="en-GB" sz="900">
                          <a:solidFill>
                            <a:schemeClr val="dk1"/>
                          </a:solidFill>
                        </a:rPr>
                        <a:t> (e.g., loyalty, ethics, brand cachet, price-consciousness,</a:t>
                      </a:r>
                      <a:r>
                        <a:rPr b="0" lang="en-GB" sz="900">
                          <a:solidFill>
                            <a:schemeClr val="dk1"/>
                          </a:solidFill>
                        </a:rPr>
                        <a:t> etc.</a:t>
                      </a:r>
                      <a:r>
                        <a:rPr b="0" lang="en-GB" sz="900">
                          <a:solidFill>
                            <a:schemeClr val="dk1"/>
                          </a:solidFill>
                        </a:rPr>
                        <a: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Offer value to customer through creation of relevant 3rd party offers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All detailed payment records including payment type, beneficiary account details, beneficiary names, payment reference details, merchant codes, location, currency, Date,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Full debit and credit transactional history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Comprehensive transaction reference library with business focused taxonomy and automated monitoring of coverage</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of common transactional categories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level spending summaries by Category, Merchant, Price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Ability to slice and dice data and view profile over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detection of exceptional spending patterns to trigger customer communications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Improved understanding on customer attitudes and preferences driving: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cross sales from timely and relevant contact based on key customer events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response from personalized offers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market share / average product holdings by targeting customers who have expensive products with competitors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Additional sales and customer satisfaction resulting from providing relevant 3rd party offers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loyalty from customers using online budgeting tools – transact with one provider to provide complete picture of spend (OCBC)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ATM reciprocity fees as customers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use new payment methods such as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contactless payments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1113" name="Google Shape;1113;p8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114" name="Google Shape;1114;p8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Transaction Classification</a:t>
            </a:r>
            <a:endParaRPr sz="1600"/>
          </a:p>
        </p:txBody>
      </p:sp>
      <p:grpSp>
        <p:nvGrpSpPr>
          <p:cNvPr id="1115" name="Google Shape;1115;p80"/>
          <p:cNvGrpSpPr/>
          <p:nvPr/>
        </p:nvGrpSpPr>
        <p:grpSpPr>
          <a:xfrm>
            <a:off x="6681181" y="227746"/>
            <a:ext cx="2432605" cy="1508418"/>
            <a:chOff x="3241483" y="678377"/>
            <a:chExt cx="2432605" cy="1508418"/>
          </a:xfrm>
        </p:grpSpPr>
        <p:sp>
          <p:nvSpPr>
            <p:cNvPr id="1116" name="Google Shape;1116;p80"/>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117" name="Google Shape;1117;p80"/>
            <p:cNvGrpSpPr/>
            <p:nvPr/>
          </p:nvGrpSpPr>
          <p:grpSpPr>
            <a:xfrm>
              <a:off x="3430680" y="814892"/>
              <a:ext cx="2230757" cy="1257815"/>
              <a:chOff x="6269745" y="1818918"/>
              <a:chExt cx="2825275" cy="1593033"/>
            </a:xfrm>
          </p:grpSpPr>
          <p:grpSp>
            <p:nvGrpSpPr>
              <p:cNvPr id="1118" name="Google Shape;1118;p80"/>
              <p:cNvGrpSpPr/>
              <p:nvPr/>
            </p:nvGrpSpPr>
            <p:grpSpPr>
              <a:xfrm>
                <a:off x="7216189" y="1999143"/>
                <a:ext cx="992955" cy="399680"/>
                <a:chOff x="1795630" y="3780481"/>
                <a:chExt cx="992955" cy="399680"/>
              </a:xfrm>
            </p:grpSpPr>
            <p:sp>
              <p:nvSpPr>
                <p:cNvPr id="1119" name="Google Shape;1119;p80"/>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0" name="Google Shape;1120;p80"/>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121" name="Google Shape;1121;p80"/>
              <p:cNvGrpSpPr/>
              <p:nvPr/>
            </p:nvGrpSpPr>
            <p:grpSpPr>
              <a:xfrm>
                <a:off x="8395782" y="1818918"/>
                <a:ext cx="582035" cy="745654"/>
                <a:chOff x="6632575" y="6389688"/>
                <a:chExt cx="739775" cy="947737"/>
              </a:xfrm>
            </p:grpSpPr>
            <p:sp>
              <p:nvSpPr>
                <p:cNvPr id="1122" name="Google Shape;1122;p80"/>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3" name="Google Shape;1123;p80"/>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124" name="Google Shape;1124;p80"/>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5" name="Google Shape;1125;p80"/>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6" name="Google Shape;1126;p80"/>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7" name="Google Shape;1127;p80"/>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128" name="Google Shape;1128;p8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129" name="Google Shape;1129;p80"/>
          <p:cNvGrpSpPr/>
          <p:nvPr/>
        </p:nvGrpSpPr>
        <p:grpSpPr>
          <a:xfrm>
            <a:off x="7717533" y="4360377"/>
            <a:ext cx="1058348" cy="347375"/>
            <a:chOff x="7651698" y="4287227"/>
            <a:chExt cx="1058348" cy="347375"/>
          </a:xfrm>
        </p:grpSpPr>
        <p:grpSp>
          <p:nvGrpSpPr>
            <p:cNvPr id="1130" name="Google Shape;1130;p80"/>
            <p:cNvGrpSpPr/>
            <p:nvPr/>
          </p:nvGrpSpPr>
          <p:grpSpPr>
            <a:xfrm>
              <a:off x="7714163" y="4337598"/>
              <a:ext cx="995883" cy="297004"/>
              <a:chOff x="7711013" y="3986494"/>
              <a:chExt cx="995883" cy="297004"/>
            </a:xfrm>
          </p:grpSpPr>
          <p:sp>
            <p:nvSpPr>
              <p:cNvPr id="1131" name="Google Shape;1131;p8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32" name="Google Shape;1132;p80"/>
              <p:cNvGrpSpPr/>
              <p:nvPr/>
            </p:nvGrpSpPr>
            <p:grpSpPr>
              <a:xfrm>
                <a:off x="7711013" y="4002615"/>
                <a:ext cx="281520" cy="241973"/>
                <a:chOff x="5652748" y="4066000"/>
                <a:chExt cx="906498" cy="747974"/>
              </a:xfrm>
            </p:grpSpPr>
            <p:sp>
              <p:nvSpPr>
                <p:cNvPr id="1133" name="Google Shape;1133;p8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34" name="Google Shape;1134;p8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5" name="Google Shape;1135;p8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36" name="Google Shape;1136;p8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5" name="Shape 1155"/>
        <p:cNvGrpSpPr/>
        <p:nvPr/>
      </p:nvGrpSpPr>
      <p:grpSpPr>
        <a:xfrm>
          <a:off x="0" y="0"/>
          <a:ext cx="0" cy="0"/>
          <a:chOff x="0" y="0"/>
          <a:chExt cx="0" cy="0"/>
        </a:xfrm>
      </p:grpSpPr>
      <p:cxnSp>
        <p:nvCxnSpPr>
          <p:cNvPr id="1156" name="Google Shape;1156;p8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157" name="Google Shape;1157;p8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Journey Analysis</a:t>
            </a:r>
            <a:endParaRPr sz="1600"/>
          </a:p>
        </p:txBody>
      </p:sp>
      <p:graphicFrame>
        <p:nvGraphicFramePr>
          <p:cNvPr id="1158" name="Google Shape;1158;p8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Identification</a:t>
                      </a:r>
                      <a:r>
                        <a:rPr b="1" lang="en-GB" sz="900">
                          <a:solidFill>
                            <a:schemeClr val="dk1"/>
                          </a:solidFill>
                        </a:rPr>
                        <a:t> of sequences of events  which lead to or follow on from specific events </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patterns leading to  key customer events such as – churn, purchase,</a:t>
                      </a:r>
                      <a:r>
                        <a:rPr b="0" lang="en-GB" sz="900">
                          <a:solidFill>
                            <a:schemeClr val="dk1"/>
                          </a:solidFill>
                        </a:rPr>
                        <a:t> basket abandonment, path to complaint (CX)</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Assess customer movement between interaction channels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new predictive variables based upon time-series analysis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new opportunities  for inter-session relevant interactions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changes to customer interactions and patterns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All customer interactions regardless of channel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marketing contact history and responses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Raw &amp; derived event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Master customer record (customer identifyer)</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N path</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Other analytical techniques to enrich the analysis</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improved web experience (more efficient path to 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Early warning of key customer events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Model uplift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Discovery of previously unknown patterns of behaviour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more accurately measure CX</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CX &amp; Sales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understanding of channel interaction and economics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Process improvement through identification of customer pain points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159" name="Google Shape;1159;p82"/>
          <p:cNvGrpSpPr/>
          <p:nvPr/>
        </p:nvGrpSpPr>
        <p:grpSpPr>
          <a:xfrm>
            <a:off x="6681181" y="227746"/>
            <a:ext cx="2432605" cy="1508418"/>
            <a:chOff x="3241483" y="678377"/>
            <a:chExt cx="2432605" cy="1508418"/>
          </a:xfrm>
        </p:grpSpPr>
        <p:sp>
          <p:nvSpPr>
            <p:cNvPr id="1160" name="Google Shape;1160;p82"/>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161" name="Google Shape;1161;p82"/>
            <p:cNvGrpSpPr/>
            <p:nvPr/>
          </p:nvGrpSpPr>
          <p:grpSpPr>
            <a:xfrm>
              <a:off x="3430680" y="814892"/>
              <a:ext cx="2230757" cy="1257815"/>
              <a:chOff x="6269745" y="1818918"/>
              <a:chExt cx="2825275" cy="1593033"/>
            </a:xfrm>
          </p:grpSpPr>
          <p:grpSp>
            <p:nvGrpSpPr>
              <p:cNvPr id="1162" name="Google Shape;1162;p82"/>
              <p:cNvGrpSpPr/>
              <p:nvPr/>
            </p:nvGrpSpPr>
            <p:grpSpPr>
              <a:xfrm>
                <a:off x="7216189" y="1999143"/>
                <a:ext cx="992955" cy="399680"/>
                <a:chOff x="1795630" y="3780481"/>
                <a:chExt cx="992955" cy="399680"/>
              </a:xfrm>
            </p:grpSpPr>
            <p:sp>
              <p:nvSpPr>
                <p:cNvPr id="1163" name="Google Shape;1163;p82"/>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64" name="Google Shape;1164;p82"/>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165" name="Google Shape;1165;p82"/>
              <p:cNvGrpSpPr/>
              <p:nvPr/>
            </p:nvGrpSpPr>
            <p:grpSpPr>
              <a:xfrm>
                <a:off x="8395782" y="1818918"/>
                <a:ext cx="582035" cy="745654"/>
                <a:chOff x="6632575" y="6389688"/>
                <a:chExt cx="739775" cy="947737"/>
              </a:xfrm>
            </p:grpSpPr>
            <p:sp>
              <p:nvSpPr>
                <p:cNvPr id="1166" name="Google Shape;1166;p82"/>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67" name="Google Shape;1167;p82"/>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168" name="Google Shape;1168;p82"/>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69" name="Google Shape;1169;p82"/>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70" name="Google Shape;1170;p82"/>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71" name="Google Shape;1171;p82"/>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172" name="Google Shape;1172;p8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173" name="Google Shape;1173;p82"/>
          <p:cNvGrpSpPr/>
          <p:nvPr/>
        </p:nvGrpSpPr>
        <p:grpSpPr>
          <a:xfrm>
            <a:off x="7717533" y="4360377"/>
            <a:ext cx="1058348" cy="347375"/>
            <a:chOff x="7651698" y="4287227"/>
            <a:chExt cx="1058348" cy="347375"/>
          </a:xfrm>
        </p:grpSpPr>
        <p:grpSp>
          <p:nvGrpSpPr>
            <p:cNvPr id="1174" name="Google Shape;1174;p82"/>
            <p:cNvGrpSpPr/>
            <p:nvPr/>
          </p:nvGrpSpPr>
          <p:grpSpPr>
            <a:xfrm>
              <a:off x="7714163" y="4337598"/>
              <a:ext cx="995883" cy="297004"/>
              <a:chOff x="7711013" y="3986494"/>
              <a:chExt cx="995883" cy="297004"/>
            </a:xfrm>
          </p:grpSpPr>
          <p:sp>
            <p:nvSpPr>
              <p:cNvPr id="1175" name="Google Shape;1175;p8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76" name="Google Shape;1176;p82"/>
              <p:cNvGrpSpPr/>
              <p:nvPr/>
            </p:nvGrpSpPr>
            <p:grpSpPr>
              <a:xfrm>
                <a:off x="7711013" y="4002615"/>
                <a:ext cx="281520" cy="241973"/>
                <a:chOff x="5652748" y="4066000"/>
                <a:chExt cx="906498" cy="747974"/>
              </a:xfrm>
            </p:grpSpPr>
            <p:sp>
              <p:nvSpPr>
                <p:cNvPr id="1177" name="Google Shape;1177;p8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78" name="Google Shape;1178;p8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79" name="Google Shape;1179;p8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80" name="Google Shape;1180;p8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99" name="Shape 1199"/>
        <p:cNvGrpSpPr/>
        <p:nvPr/>
      </p:nvGrpSpPr>
      <p:grpSpPr>
        <a:xfrm>
          <a:off x="0" y="0"/>
          <a:ext cx="0" cy="0"/>
          <a:chOff x="0" y="0"/>
          <a:chExt cx="0" cy="0"/>
        </a:xfrm>
      </p:grpSpPr>
      <p:cxnSp>
        <p:nvCxnSpPr>
          <p:cNvPr id="1200" name="Google Shape;1200;p8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201" name="Google Shape;1201;p8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Event Analytics</a:t>
            </a:r>
            <a:endParaRPr sz="1600"/>
          </a:p>
        </p:txBody>
      </p:sp>
      <p:graphicFrame>
        <p:nvGraphicFramePr>
          <p:cNvPr id="1202" name="Google Shape;1202;p8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Systematic approach to identify customer events to drive highly relevant interactions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Link the events to relevant customer needs to drive the type of conversation to have when these events arise, e.g. new product, help resolve a service issue etc.</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these events at individual customer level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Operationalise the event detection process to support a timely and personalised customer contact strategy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Enable continuous growth in the range of events being detected, and their rapid deployment to satisfy an ever increasing range of customer needs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and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and non-financial transactions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Online and offline interactions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Sales and other outcome data to validate the cause and effect impact of identified events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Variety of traditional (e.g. profiling, regression) and advanced  analytical techniques (e.g. pathing, graphing) events that significantly impact customer outcomes (complaints, sales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Automated analytical applications created derived data attributes such as spending profiles from transactional data</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more targeted discussions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from more relevant approaches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staff engagement from better customer conversations – driven from tangible reasons for contact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support lifecycle analysis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203" name="Google Shape;1203;p84"/>
          <p:cNvGrpSpPr/>
          <p:nvPr/>
        </p:nvGrpSpPr>
        <p:grpSpPr>
          <a:xfrm>
            <a:off x="6681181" y="227746"/>
            <a:ext cx="2432605" cy="1508418"/>
            <a:chOff x="3241483" y="678377"/>
            <a:chExt cx="2432605" cy="1508418"/>
          </a:xfrm>
        </p:grpSpPr>
        <p:sp>
          <p:nvSpPr>
            <p:cNvPr id="1204" name="Google Shape;1204;p84"/>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205" name="Google Shape;1205;p84"/>
            <p:cNvGrpSpPr/>
            <p:nvPr/>
          </p:nvGrpSpPr>
          <p:grpSpPr>
            <a:xfrm>
              <a:off x="3430680" y="814892"/>
              <a:ext cx="2230757" cy="1257815"/>
              <a:chOff x="6269745" y="1818918"/>
              <a:chExt cx="2825275" cy="1593033"/>
            </a:xfrm>
          </p:grpSpPr>
          <p:grpSp>
            <p:nvGrpSpPr>
              <p:cNvPr id="1206" name="Google Shape;1206;p84"/>
              <p:cNvGrpSpPr/>
              <p:nvPr/>
            </p:nvGrpSpPr>
            <p:grpSpPr>
              <a:xfrm>
                <a:off x="7216189" y="1999143"/>
                <a:ext cx="992955" cy="399680"/>
                <a:chOff x="1795630" y="3780481"/>
                <a:chExt cx="992955" cy="399680"/>
              </a:xfrm>
            </p:grpSpPr>
            <p:sp>
              <p:nvSpPr>
                <p:cNvPr id="1207" name="Google Shape;1207;p84"/>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08" name="Google Shape;1208;p84"/>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209" name="Google Shape;1209;p84"/>
              <p:cNvGrpSpPr/>
              <p:nvPr/>
            </p:nvGrpSpPr>
            <p:grpSpPr>
              <a:xfrm>
                <a:off x="8395782" y="1818918"/>
                <a:ext cx="582035" cy="745654"/>
                <a:chOff x="6632575" y="6389688"/>
                <a:chExt cx="739775" cy="947737"/>
              </a:xfrm>
            </p:grpSpPr>
            <p:sp>
              <p:nvSpPr>
                <p:cNvPr id="1210" name="Google Shape;1210;p84"/>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1" name="Google Shape;1211;p84"/>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212" name="Google Shape;1212;p84"/>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3" name="Google Shape;1213;p84"/>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4" name="Google Shape;1214;p84"/>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5" name="Google Shape;1215;p84"/>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216" name="Google Shape;1216;p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217" name="Google Shape;1217;p84"/>
          <p:cNvGrpSpPr/>
          <p:nvPr/>
        </p:nvGrpSpPr>
        <p:grpSpPr>
          <a:xfrm>
            <a:off x="7717533" y="4360377"/>
            <a:ext cx="1058348" cy="347375"/>
            <a:chOff x="7651698" y="4287227"/>
            <a:chExt cx="1058348" cy="347375"/>
          </a:xfrm>
        </p:grpSpPr>
        <p:grpSp>
          <p:nvGrpSpPr>
            <p:cNvPr id="1218" name="Google Shape;1218;p84"/>
            <p:cNvGrpSpPr/>
            <p:nvPr/>
          </p:nvGrpSpPr>
          <p:grpSpPr>
            <a:xfrm>
              <a:off x="7714163" y="4337598"/>
              <a:ext cx="995883" cy="297004"/>
              <a:chOff x="7711013" y="3986494"/>
              <a:chExt cx="995883" cy="297004"/>
            </a:xfrm>
          </p:grpSpPr>
          <p:sp>
            <p:nvSpPr>
              <p:cNvPr id="1219" name="Google Shape;1219;p8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220" name="Google Shape;1220;p84"/>
              <p:cNvGrpSpPr/>
              <p:nvPr/>
            </p:nvGrpSpPr>
            <p:grpSpPr>
              <a:xfrm>
                <a:off x="7711013" y="4002615"/>
                <a:ext cx="281520" cy="241973"/>
                <a:chOff x="5652748" y="4066000"/>
                <a:chExt cx="906498" cy="747974"/>
              </a:xfrm>
            </p:grpSpPr>
            <p:sp>
              <p:nvSpPr>
                <p:cNvPr id="1221" name="Google Shape;1221;p8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222" name="Google Shape;1222;p8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223" name="Google Shape;1223;p8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224" name="Google Shape;1224;p8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3" name="Shape 1243"/>
        <p:cNvGrpSpPr/>
        <p:nvPr/>
      </p:nvGrpSpPr>
      <p:grpSpPr>
        <a:xfrm>
          <a:off x="0" y="0"/>
          <a:ext cx="0" cy="0"/>
          <a:chOff x="0" y="0"/>
          <a:chExt cx="0" cy="0"/>
        </a:xfrm>
      </p:grpSpPr>
      <p:cxnSp>
        <p:nvCxnSpPr>
          <p:cNvPr id="1244" name="Google Shape;1244;p8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245" name="Google Shape;1245;p8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Segmentation</a:t>
            </a:r>
            <a:endParaRPr sz="1600"/>
          </a:p>
        </p:txBody>
      </p:sp>
      <p:graphicFrame>
        <p:nvGraphicFramePr>
          <p:cNvPr id="1246" name="Google Shape;1246;p86"/>
          <p:cNvGraphicFramePr/>
          <p:nvPr/>
        </p:nvGraphicFramePr>
        <p:xfrm>
          <a:off x="414866" y="758312"/>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Define and subdivide the customer base into a number of clearly identifiable segments that have similar needs, behaviours, or communication characteristics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Build the segmentation based on clear business needs and fullest range of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Profile and describe the segments based on customer data – (simple through to complex)</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Undertake research on segments to understand customer needs, attitudes and opportunities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Operationalise the segmentation through regular refresh</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Frequently communicate and reinforce main customer segment characteristics across the organisation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 the growth, development and movement across  segments over time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Wide range of 1st data including customer, account, transactions, product usage, channel usage, profitability etc</a:t>
                      </a:r>
                      <a:endParaRPr sz="900">
                        <a:solidFill>
                          <a:schemeClr val="dk1"/>
                        </a:solidFill>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3rd party data sources such as geo-demographics, social media, bureau, research etc</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Integrate and prepare the data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Pre-analysis E.g. normalisation, principal component, factor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Perform Clustering E.g. K-means / Hierarchical / CHAID etc,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Profiling of segments to understand composition of audience across attributes such as demographics, product holding, geography</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Develop segment forecasts E.g. Markov Chains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insights delivered through the value chain</a:t>
                      </a:r>
                      <a:endParaRPr/>
                    </a:p>
                    <a:p>
                      <a:pPr indent="-171450" lvl="1" marL="176213"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Facilitates creation of customer strategy and is a key component of a go-to-market approach</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Enables the  organisation to focus on key areas of opportunity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Helps colleagues understand needs and wants of key customer groups to create differentiated value propositions and customer management strategies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Influences Brand strategy in terms of positioning and values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Influence content creation in terms of tone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of voice or visual imagery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247" name="Google Shape;1247;p86"/>
          <p:cNvGrpSpPr/>
          <p:nvPr/>
        </p:nvGrpSpPr>
        <p:grpSpPr>
          <a:xfrm>
            <a:off x="6681181" y="227746"/>
            <a:ext cx="2432605" cy="1508418"/>
            <a:chOff x="3241483" y="678377"/>
            <a:chExt cx="2432605" cy="1508418"/>
          </a:xfrm>
        </p:grpSpPr>
        <p:sp>
          <p:nvSpPr>
            <p:cNvPr id="1248" name="Google Shape;1248;p8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249" name="Google Shape;1249;p86"/>
            <p:cNvGrpSpPr/>
            <p:nvPr/>
          </p:nvGrpSpPr>
          <p:grpSpPr>
            <a:xfrm>
              <a:off x="3430680" y="814892"/>
              <a:ext cx="2230757" cy="1257815"/>
              <a:chOff x="6269745" y="1818918"/>
              <a:chExt cx="2825275" cy="1593033"/>
            </a:xfrm>
          </p:grpSpPr>
          <p:grpSp>
            <p:nvGrpSpPr>
              <p:cNvPr id="1250" name="Google Shape;1250;p86"/>
              <p:cNvGrpSpPr/>
              <p:nvPr/>
            </p:nvGrpSpPr>
            <p:grpSpPr>
              <a:xfrm>
                <a:off x="7216189" y="1999143"/>
                <a:ext cx="992955" cy="399680"/>
                <a:chOff x="1795630" y="3780481"/>
                <a:chExt cx="992955" cy="399680"/>
              </a:xfrm>
            </p:grpSpPr>
            <p:sp>
              <p:nvSpPr>
                <p:cNvPr id="1251" name="Google Shape;1251;p8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2" name="Google Shape;1252;p8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253" name="Google Shape;1253;p86"/>
              <p:cNvGrpSpPr/>
              <p:nvPr/>
            </p:nvGrpSpPr>
            <p:grpSpPr>
              <a:xfrm>
                <a:off x="8395782" y="1818918"/>
                <a:ext cx="582035" cy="745654"/>
                <a:chOff x="6632575" y="6389688"/>
                <a:chExt cx="739775" cy="947737"/>
              </a:xfrm>
            </p:grpSpPr>
            <p:sp>
              <p:nvSpPr>
                <p:cNvPr id="1254" name="Google Shape;1254;p8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5" name="Google Shape;1255;p8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256" name="Google Shape;1256;p8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7" name="Google Shape;1257;p8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8" name="Google Shape;1258;p8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9" name="Google Shape;1259;p8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260" name="Google Shape;1260;p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261" name="Google Shape;1261;p86"/>
          <p:cNvGrpSpPr/>
          <p:nvPr/>
        </p:nvGrpSpPr>
        <p:grpSpPr>
          <a:xfrm>
            <a:off x="7717533" y="4360377"/>
            <a:ext cx="1058348" cy="347375"/>
            <a:chOff x="7651698" y="4287227"/>
            <a:chExt cx="1058348" cy="347375"/>
          </a:xfrm>
        </p:grpSpPr>
        <p:grpSp>
          <p:nvGrpSpPr>
            <p:cNvPr id="1262" name="Google Shape;1262;p86"/>
            <p:cNvGrpSpPr/>
            <p:nvPr/>
          </p:nvGrpSpPr>
          <p:grpSpPr>
            <a:xfrm>
              <a:off x="7714163" y="4337598"/>
              <a:ext cx="995883" cy="297004"/>
              <a:chOff x="7711013" y="3986494"/>
              <a:chExt cx="995883" cy="297004"/>
            </a:xfrm>
          </p:grpSpPr>
          <p:sp>
            <p:nvSpPr>
              <p:cNvPr id="1263" name="Google Shape;1263;p8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264" name="Google Shape;1264;p86"/>
              <p:cNvGrpSpPr/>
              <p:nvPr/>
            </p:nvGrpSpPr>
            <p:grpSpPr>
              <a:xfrm>
                <a:off x="7711013" y="4002615"/>
                <a:ext cx="281520" cy="241973"/>
                <a:chOff x="5652748" y="4066000"/>
                <a:chExt cx="906498" cy="747974"/>
              </a:xfrm>
            </p:grpSpPr>
            <p:sp>
              <p:nvSpPr>
                <p:cNvPr id="1265" name="Google Shape;1265;p8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266" name="Google Shape;1266;p8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267" name="Google Shape;1267;p8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268" name="Google Shape;1268;p8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87" name="Shape 1287"/>
        <p:cNvGrpSpPr/>
        <p:nvPr/>
      </p:nvGrpSpPr>
      <p:grpSpPr>
        <a:xfrm>
          <a:off x="0" y="0"/>
          <a:ext cx="0" cy="0"/>
          <a:chOff x="0" y="0"/>
          <a:chExt cx="0" cy="0"/>
        </a:xfrm>
      </p:grpSpPr>
      <p:cxnSp>
        <p:nvCxnSpPr>
          <p:cNvPr id="1288" name="Google Shape;1288;p8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289" name="Google Shape;1289;p88"/>
          <p:cNvGraphicFramePr/>
          <p:nvPr/>
        </p:nvGraphicFramePr>
        <p:xfrm>
          <a:off x="414866" y="8176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1" marL="0" marR="0" rtl="0" algn="l">
                        <a:spcBef>
                          <a:spcPts val="0"/>
                        </a:spcBef>
                        <a:spcAft>
                          <a:spcPts val="0"/>
                        </a:spcAft>
                        <a:buClr>
                          <a:schemeClr val="dk1"/>
                        </a:buClr>
                        <a:buSzPts val="900"/>
                        <a:buFont typeface="Arial"/>
                        <a:buNone/>
                      </a:pPr>
                      <a:r>
                        <a:rPr b="1" lang="en-GB" sz="900" u="none" cap="none" strike="noStrike">
                          <a:latin typeface="Century Gothic"/>
                          <a:ea typeface="Century Gothic"/>
                          <a:cs typeface="Century Gothic"/>
                          <a:sym typeface="Century Gothic"/>
                        </a:rPr>
                        <a:t>Understand the network a customer is in to capture the most influential person, forces and patterns of a social network</a:t>
                      </a:r>
                      <a:endParaRPr b="1" sz="900" u="none" cap="none" strike="noStrike">
                        <a:latin typeface="Century Gothic"/>
                        <a:ea typeface="Century Gothic"/>
                        <a:cs typeface="Century Gothic"/>
                        <a:sym typeface="Century Gothic"/>
                      </a:endParaRPr>
                    </a:p>
                    <a:p>
                      <a:pPr indent="-285750" lvl="1" marL="285750" marR="0" rtl="0" algn="l">
                        <a:spcBef>
                          <a:spcPts val="0"/>
                        </a:spcBef>
                        <a:spcAft>
                          <a:spcPts val="0"/>
                        </a:spcAft>
                        <a:buClr>
                          <a:schemeClr val="dk1"/>
                        </a:buClr>
                        <a:buSzPts val="900"/>
                        <a:buFont typeface="Arial"/>
                        <a:buChar char="•"/>
                      </a:pPr>
                      <a:r>
                        <a:rPr lang="en-GB" sz="900" u="none" cap="none" strike="noStrike">
                          <a:latin typeface="Century Gothic"/>
                          <a:ea typeface="Century Gothic"/>
                          <a:cs typeface="Century Gothic"/>
                          <a:sym typeface="Century Gothic"/>
                        </a:rPr>
                        <a:t>To understand only the single customer individually is no longer enough, as companies want to understand their network to gain insight of who they are, who they interact with, what culture they are in, how influenced they are compared to others, who their friends are or members of the family that they transact with.</a:t>
                      </a:r>
                      <a:endParaRPr/>
                    </a:p>
                    <a:p>
                      <a:pPr indent="-285750" lvl="1" marL="285750" marR="0" rtl="0" algn="l">
                        <a:spcBef>
                          <a:spcPts val="0"/>
                        </a:spcBef>
                        <a:spcAft>
                          <a:spcPts val="0"/>
                        </a:spcAft>
                        <a:buClr>
                          <a:schemeClr val="dk1"/>
                        </a:buClr>
                        <a:buSzPts val="900"/>
                        <a:buFont typeface="Arial"/>
                        <a:buChar char="•"/>
                      </a:pPr>
                      <a:r>
                        <a:rPr lang="en-GB" sz="900" u="none" cap="none" strike="noStrike">
                          <a:latin typeface="Century Gothic"/>
                          <a:ea typeface="Century Gothic"/>
                          <a:cs typeface="Century Gothic"/>
                          <a:sym typeface="Century Gothic"/>
                        </a:rPr>
                        <a:t>Identify customer networks that can lead to a improved sales activity</a:t>
                      </a:r>
                      <a:endParaRPr sz="900" u="none" cap="none" strike="noStrike">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latin typeface="Century Gothic"/>
                          <a:ea typeface="Century Gothic"/>
                          <a:cs typeface="Century Gothic"/>
                          <a:sym typeface="Century Gothic"/>
                        </a:rPr>
                        <a:t>Data (industry specific):</a:t>
                      </a:r>
                      <a:endParaRPr/>
                    </a:p>
                    <a:p>
                      <a:pPr indent="-179388" lvl="0" marL="179388"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Transaction/behaviour (e.g.</a:t>
                      </a:r>
                      <a:r>
                        <a:rPr b="1" i="1" lang="en-GB" sz="900">
                          <a:latin typeface="Century Gothic"/>
                          <a:ea typeface="Century Gothic"/>
                          <a:cs typeface="Century Gothic"/>
                          <a:sym typeface="Century Gothic"/>
                        </a:rPr>
                        <a:t> calling pattern) </a:t>
                      </a:r>
                      <a:r>
                        <a:rPr b="1" i="1" lang="en-GB" sz="900">
                          <a:latin typeface="Century Gothic"/>
                          <a:ea typeface="Century Gothic"/>
                          <a:cs typeface="Century Gothic"/>
                          <a:sym typeface="Century Gothic"/>
                        </a:rPr>
                        <a:t>data</a:t>
                      </a:r>
                      <a:r>
                        <a:rPr b="1" i="1" lang="en-GB" sz="900">
                          <a:latin typeface="Century Gothic"/>
                          <a:ea typeface="Century Gothic"/>
                          <a:cs typeface="Century Gothic"/>
                          <a:sym typeface="Century Gothic"/>
                        </a:rPr>
                        <a:t> </a:t>
                      </a:r>
                      <a:r>
                        <a:rPr lang="en-GB" sz="900">
                          <a:latin typeface="Century Gothic"/>
                          <a:ea typeface="Century Gothic"/>
                          <a:cs typeface="Century Gothic"/>
                          <a:sym typeface="Century Gothic"/>
                        </a:rPr>
                        <a:t>from multiple channels to identify</a:t>
                      </a:r>
                      <a:r>
                        <a:rPr lang="en-GB" sz="900">
                          <a:latin typeface="Century Gothic"/>
                          <a:ea typeface="Century Gothic"/>
                          <a:cs typeface="Century Gothic"/>
                          <a:sym typeface="Century Gothic"/>
                        </a:rPr>
                        <a:t> the relationship of customers</a:t>
                      </a:r>
                      <a:endParaRPr/>
                    </a:p>
                    <a:p>
                      <a:pPr indent="-179388" lvl="0" marL="179388"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Customer/household data </a:t>
                      </a:r>
                      <a:r>
                        <a:rPr b="0" i="0" lang="en-GB" sz="900">
                          <a:latin typeface="Century Gothic"/>
                          <a:ea typeface="Century Gothic"/>
                          <a:cs typeface="Century Gothic"/>
                          <a:sym typeface="Century Gothic"/>
                        </a:rPr>
                        <a:t>to identify similarity in last names, address, home phone number and company names</a:t>
                      </a:r>
                      <a:endParaRPr sz="900">
                        <a:latin typeface="Century Gothic"/>
                        <a:ea typeface="Century Gothic"/>
                        <a:cs typeface="Century Gothic"/>
                        <a:sym typeface="Century Gothic"/>
                      </a:endParaRPr>
                    </a:p>
                    <a:p>
                      <a:pPr indent="0" lvl="0" marL="0" marR="0" rtl="0" algn="l">
                        <a:spcBef>
                          <a:spcPts val="0"/>
                        </a:spcBef>
                        <a:spcAft>
                          <a:spcPts val="0"/>
                        </a:spcAft>
                        <a:buNone/>
                      </a:pPr>
                      <a:r>
                        <a:rPr b="1" lang="en-GB" sz="900">
                          <a:latin typeface="Century Gothic"/>
                          <a:ea typeface="Century Gothic"/>
                          <a:cs typeface="Century Gothic"/>
                          <a:sym typeface="Century Gothic"/>
                        </a:rPr>
                        <a:t>Analytics</a:t>
                      </a:r>
                      <a:endParaRPr b="0"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Identify the close relationship</a:t>
                      </a:r>
                      <a:r>
                        <a:rPr b="1" i="1" lang="en-GB" sz="900">
                          <a:latin typeface="Century Gothic"/>
                          <a:ea typeface="Century Gothic"/>
                          <a:cs typeface="Century Gothic"/>
                          <a:sym typeface="Century Gothic"/>
                        </a:rPr>
                        <a:t> using Graph Analytics </a:t>
                      </a:r>
                      <a:r>
                        <a:rPr lang="en-GB" sz="900">
                          <a:latin typeface="Century Gothic"/>
                          <a:ea typeface="Century Gothic"/>
                          <a:cs typeface="Century Gothic"/>
                          <a:sym typeface="Century Gothic"/>
                        </a:rPr>
                        <a:t>from i.e.</a:t>
                      </a:r>
                      <a:r>
                        <a:rPr lang="en-GB" sz="900">
                          <a:latin typeface="Century Gothic"/>
                          <a:ea typeface="Century Gothic"/>
                          <a:cs typeface="Century Gothic"/>
                          <a:sym typeface="Century Gothic"/>
                        </a:rPr>
                        <a:t> Triangle Finder, Degree, clustering</a:t>
                      </a:r>
                      <a:endParaRPr sz="900">
                        <a:latin typeface="Century Gothic"/>
                        <a:ea typeface="Century Gothic"/>
                        <a:cs typeface="Century Gothic"/>
                        <a:sym typeface="Century Gothic"/>
                      </a:endParaRPr>
                    </a:p>
                    <a:p>
                      <a:pPr indent="-285750" lvl="0" marL="285750" marR="0" rtl="0" algn="l">
                        <a:lnSpc>
                          <a:spcPct val="100000"/>
                        </a:lnSpc>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Text Analytics</a:t>
                      </a:r>
                      <a:r>
                        <a:rPr b="1" i="1" lang="en-GB" sz="900">
                          <a:latin typeface="Century Gothic"/>
                          <a:ea typeface="Century Gothic"/>
                          <a:cs typeface="Century Gothic"/>
                          <a:sym typeface="Century Gothic"/>
                        </a:rPr>
                        <a:t> </a:t>
                      </a:r>
                      <a:r>
                        <a:rPr lang="en-GB" sz="900">
                          <a:latin typeface="Century Gothic"/>
                          <a:ea typeface="Century Gothic"/>
                          <a:cs typeface="Century Gothic"/>
                          <a:sym typeface="Century Gothic"/>
                        </a:rPr>
                        <a:t>to create</a:t>
                      </a:r>
                      <a:r>
                        <a:rPr lang="en-GB" sz="900">
                          <a:latin typeface="Century Gothic"/>
                          <a:ea typeface="Century Gothic"/>
                          <a:cs typeface="Century Gothic"/>
                          <a:sym typeface="Century Gothic"/>
                        </a:rPr>
                        <a:t> scoring in similarity of customer information using Identity Matching Fuzzy Algorithm </a:t>
                      </a:r>
                      <a:endParaRPr b="1" i="1"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Identify Type of Relationship </a:t>
                      </a:r>
                      <a:r>
                        <a:rPr b="0" i="0" lang="en-GB" sz="900">
                          <a:latin typeface="Century Gothic"/>
                          <a:ea typeface="Century Gothic"/>
                          <a:cs typeface="Century Gothic"/>
                          <a:sym typeface="Century Gothic"/>
                        </a:rPr>
                        <a:t>such as family, friends or business by </a:t>
                      </a:r>
                      <a:r>
                        <a:rPr lang="en-GB" sz="900">
                          <a:latin typeface="Century Gothic"/>
                          <a:ea typeface="Century Gothic"/>
                          <a:cs typeface="Century Gothic"/>
                          <a:sym typeface="Century Gothic"/>
                        </a:rPr>
                        <a:t>using e.g. Naïve Bayes Classifier</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chemeClr val="dk1"/>
                        </a:buClr>
                        <a:buSzPts val="900"/>
                        <a:buFont typeface="Arial"/>
                        <a:buNone/>
                      </a:pPr>
                      <a:r>
                        <a:rPr b="1" i="1" lang="en-GB" sz="900">
                          <a:latin typeface="Century Gothic"/>
                          <a:ea typeface="Century Gothic"/>
                          <a:cs typeface="Century Gothic"/>
                          <a:sym typeface="Century Gothic"/>
                        </a:rPr>
                        <a:t>Expect an improvement in retention,</a:t>
                      </a:r>
                      <a:r>
                        <a:rPr b="1" i="1" lang="en-GB" sz="900">
                          <a:latin typeface="Century Gothic"/>
                          <a:ea typeface="Century Gothic"/>
                          <a:cs typeface="Century Gothic"/>
                          <a:sym typeface="Century Gothic"/>
                        </a:rPr>
                        <a:t> p</a:t>
                      </a:r>
                      <a:r>
                        <a:rPr b="1" i="1" lang="en-GB" sz="900">
                          <a:latin typeface="Century Gothic"/>
                          <a:ea typeface="Century Gothic"/>
                          <a:cs typeface="Century Gothic"/>
                          <a:sym typeface="Century Gothic"/>
                        </a:rPr>
                        <a:t>roduct offering and cross-sell activities based on network information</a:t>
                      </a:r>
                      <a:r>
                        <a:rPr b="0" i="0" lang="en-GB" sz="900">
                          <a:latin typeface="Century Gothic"/>
                          <a:ea typeface="Century Gothic"/>
                          <a:cs typeface="Century Gothic"/>
                          <a:sym typeface="Century Gothic"/>
                        </a:rPr>
                        <a:t> </a:t>
                      </a:r>
                      <a:endParaRPr/>
                    </a:p>
                    <a:p>
                      <a:pPr indent="-171450" lvl="0" marL="1714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Uncover “New” potential within existing customers i.e. a customer who used to be identified as Mass Segment is actually closely related to another customer in Affluent Segment.</a:t>
                      </a:r>
                      <a:endParaRPr/>
                    </a:p>
                    <a:p>
                      <a:pPr indent="-171450" lvl="0" marL="1714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Optimize media and reach through better utilization of influencers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Optimizing and embed social/network analytics into existing models like churn and campaign events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290" name="Google Shape;1290;p8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Connection Analytics </a:t>
            </a:r>
            <a:endParaRPr sz="1600"/>
          </a:p>
        </p:txBody>
      </p:sp>
      <p:grpSp>
        <p:nvGrpSpPr>
          <p:cNvPr id="1291" name="Google Shape;1291;p88"/>
          <p:cNvGrpSpPr/>
          <p:nvPr/>
        </p:nvGrpSpPr>
        <p:grpSpPr>
          <a:xfrm>
            <a:off x="6681181" y="227746"/>
            <a:ext cx="2432605" cy="1508418"/>
            <a:chOff x="3241483" y="678377"/>
            <a:chExt cx="2432605" cy="1508418"/>
          </a:xfrm>
        </p:grpSpPr>
        <p:sp>
          <p:nvSpPr>
            <p:cNvPr id="1292" name="Google Shape;1292;p8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293" name="Google Shape;1293;p88"/>
            <p:cNvGrpSpPr/>
            <p:nvPr/>
          </p:nvGrpSpPr>
          <p:grpSpPr>
            <a:xfrm>
              <a:off x="3430680" y="814892"/>
              <a:ext cx="2230757" cy="1257815"/>
              <a:chOff x="6269745" y="1818918"/>
              <a:chExt cx="2825275" cy="1593033"/>
            </a:xfrm>
          </p:grpSpPr>
          <p:grpSp>
            <p:nvGrpSpPr>
              <p:cNvPr id="1294" name="Google Shape;1294;p88"/>
              <p:cNvGrpSpPr/>
              <p:nvPr/>
            </p:nvGrpSpPr>
            <p:grpSpPr>
              <a:xfrm>
                <a:off x="7216189" y="1999143"/>
                <a:ext cx="992955" cy="399680"/>
                <a:chOff x="1795630" y="3780481"/>
                <a:chExt cx="992955" cy="399680"/>
              </a:xfrm>
            </p:grpSpPr>
            <p:sp>
              <p:nvSpPr>
                <p:cNvPr id="1295" name="Google Shape;1295;p8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96" name="Google Shape;1296;p8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297" name="Google Shape;1297;p88"/>
              <p:cNvGrpSpPr/>
              <p:nvPr/>
            </p:nvGrpSpPr>
            <p:grpSpPr>
              <a:xfrm>
                <a:off x="8395782" y="1818918"/>
                <a:ext cx="582035" cy="745654"/>
                <a:chOff x="6632575" y="6389688"/>
                <a:chExt cx="739775" cy="947737"/>
              </a:xfrm>
            </p:grpSpPr>
            <p:sp>
              <p:nvSpPr>
                <p:cNvPr id="1298" name="Google Shape;1298;p8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99" name="Google Shape;1299;p8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300" name="Google Shape;1300;p8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01" name="Google Shape;1301;p8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02" name="Google Shape;1302;p8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03" name="Google Shape;1303;p8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304" name="Google Shape;1304;p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305" name="Google Shape;1305;p88"/>
          <p:cNvGrpSpPr/>
          <p:nvPr/>
        </p:nvGrpSpPr>
        <p:grpSpPr>
          <a:xfrm>
            <a:off x="7717533" y="4360377"/>
            <a:ext cx="1058348" cy="347375"/>
            <a:chOff x="7651698" y="4287227"/>
            <a:chExt cx="1058348" cy="347375"/>
          </a:xfrm>
        </p:grpSpPr>
        <p:grpSp>
          <p:nvGrpSpPr>
            <p:cNvPr id="1306" name="Google Shape;1306;p88"/>
            <p:cNvGrpSpPr/>
            <p:nvPr/>
          </p:nvGrpSpPr>
          <p:grpSpPr>
            <a:xfrm>
              <a:off x="7714163" y="4337598"/>
              <a:ext cx="995883" cy="297004"/>
              <a:chOff x="7711013" y="3986494"/>
              <a:chExt cx="995883" cy="297004"/>
            </a:xfrm>
          </p:grpSpPr>
          <p:sp>
            <p:nvSpPr>
              <p:cNvPr id="1307" name="Google Shape;1307;p8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308" name="Google Shape;1308;p88"/>
              <p:cNvGrpSpPr/>
              <p:nvPr/>
            </p:nvGrpSpPr>
            <p:grpSpPr>
              <a:xfrm>
                <a:off x="7711013" y="4002615"/>
                <a:ext cx="281520" cy="241973"/>
                <a:chOff x="5652748" y="4066000"/>
                <a:chExt cx="906498" cy="747974"/>
              </a:xfrm>
            </p:grpSpPr>
            <p:sp>
              <p:nvSpPr>
                <p:cNvPr id="1309" name="Google Shape;1309;p8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310" name="Google Shape;1310;p8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311" name="Google Shape;1311;p8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312" name="Google Shape;1312;p8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31" name="Shape 1331"/>
        <p:cNvGrpSpPr/>
        <p:nvPr/>
      </p:nvGrpSpPr>
      <p:grpSpPr>
        <a:xfrm>
          <a:off x="0" y="0"/>
          <a:ext cx="0" cy="0"/>
          <a:chOff x="0" y="0"/>
          <a:chExt cx="0" cy="0"/>
        </a:xfrm>
      </p:grpSpPr>
      <p:graphicFrame>
        <p:nvGraphicFramePr>
          <p:cNvPr id="1332" name="Google Shape;1332;p90"/>
          <p:cNvGraphicFramePr/>
          <p:nvPr/>
        </p:nvGraphicFramePr>
        <p:xfrm>
          <a:off x="414866" y="6667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Translating observable customer interactions into actionable</a:t>
                      </a:r>
                      <a:r>
                        <a:rPr b="1" lang="en-GB" sz="900">
                          <a:solidFill>
                            <a:schemeClr val="dk1"/>
                          </a:solidFill>
                        </a:rPr>
                        <a:t> insights around their overall behaviour and product/service preferences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a:t>
                      </a:r>
                      <a:r>
                        <a:rPr b="0" lang="en-GB" sz="900">
                          <a:solidFill>
                            <a:schemeClr val="dk1"/>
                          </a:solidFill>
                        </a:rPr>
                        <a:t> how customers behave over time, across channels and across products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current customer preferences &amp; priorities for products and services, channels, pricing, frequence of contact, etc. – as well as any opportunity to influence those preferences and priorities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customer behavioral personas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offer and track improved products and interaction approaches – resulting in greater revenue and/or a reduced cost-to-serve.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Deliver</a:t>
                      </a:r>
                      <a:r>
                        <a:rPr b="0" lang="en-GB" sz="900">
                          <a:solidFill>
                            <a:schemeClr val="dk1"/>
                          </a:solidFill>
                        </a:rPr>
                        <a:t> a process that is able to identify and act upon relevant signals that a customer’s preferences &amp; priorities are likely to change soon.</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Financial and non-financial transactions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Online and offline interactions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Customer demographics and segmentation</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Customer/product /services/usage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Portfolio and segmentation data</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Variety of traditional (e.g. profiling, regression, clustering) to identify how the customer currently interacts with the service provider.</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Identification of appropriate cohort groups for each customer</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Variety of multi genre analytical techniques (e.g. pathing, graphing) to understand how a customer’s preferences might change based on where they are in their journey, who they are connected with and how behaviors and preferences have developed in similar customers.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more targeted discussions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upsell and cross sell opportunities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from more relevant approaches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staff engagement from better customer conversations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costs due to elimination  or improvement  of ineffective approaches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1333" name="Google Shape;1333;p9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334" name="Google Shape;1334;p9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Behavioral/Preference Analytics</a:t>
            </a:r>
            <a:endParaRPr/>
          </a:p>
        </p:txBody>
      </p:sp>
      <p:grpSp>
        <p:nvGrpSpPr>
          <p:cNvPr id="1335" name="Google Shape;1335;p90"/>
          <p:cNvGrpSpPr/>
          <p:nvPr/>
        </p:nvGrpSpPr>
        <p:grpSpPr>
          <a:xfrm>
            <a:off x="6681181" y="227746"/>
            <a:ext cx="2432605" cy="1508418"/>
            <a:chOff x="3241483" y="678377"/>
            <a:chExt cx="2432605" cy="1508418"/>
          </a:xfrm>
        </p:grpSpPr>
        <p:sp>
          <p:nvSpPr>
            <p:cNvPr id="1336" name="Google Shape;1336;p90"/>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337" name="Google Shape;1337;p90"/>
            <p:cNvGrpSpPr/>
            <p:nvPr/>
          </p:nvGrpSpPr>
          <p:grpSpPr>
            <a:xfrm>
              <a:off x="3430680" y="814892"/>
              <a:ext cx="2230757" cy="1257815"/>
              <a:chOff x="6269745" y="1818918"/>
              <a:chExt cx="2825275" cy="1593033"/>
            </a:xfrm>
          </p:grpSpPr>
          <p:grpSp>
            <p:nvGrpSpPr>
              <p:cNvPr id="1338" name="Google Shape;1338;p90"/>
              <p:cNvGrpSpPr/>
              <p:nvPr/>
            </p:nvGrpSpPr>
            <p:grpSpPr>
              <a:xfrm>
                <a:off x="7216189" y="1999143"/>
                <a:ext cx="992955" cy="399680"/>
                <a:chOff x="1795630" y="3780481"/>
                <a:chExt cx="992955" cy="399680"/>
              </a:xfrm>
            </p:grpSpPr>
            <p:sp>
              <p:nvSpPr>
                <p:cNvPr id="1339" name="Google Shape;1339;p90"/>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0" name="Google Shape;1340;p90"/>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341" name="Google Shape;1341;p90"/>
              <p:cNvGrpSpPr/>
              <p:nvPr/>
            </p:nvGrpSpPr>
            <p:grpSpPr>
              <a:xfrm>
                <a:off x="8395782" y="1818918"/>
                <a:ext cx="582035" cy="745654"/>
                <a:chOff x="6632575" y="6389688"/>
                <a:chExt cx="739775" cy="947737"/>
              </a:xfrm>
            </p:grpSpPr>
            <p:sp>
              <p:nvSpPr>
                <p:cNvPr id="1342" name="Google Shape;1342;p90"/>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3" name="Google Shape;1343;p90"/>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344" name="Google Shape;1344;p90"/>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5" name="Google Shape;1345;p90"/>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6" name="Google Shape;1346;p90"/>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7" name="Google Shape;1347;p90"/>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348" name="Google Shape;1348;p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349" name="Google Shape;1349;p90"/>
          <p:cNvGrpSpPr/>
          <p:nvPr/>
        </p:nvGrpSpPr>
        <p:grpSpPr>
          <a:xfrm>
            <a:off x="7717533" y="4360377"/>
            <a:ext cx="1058348" cy="347375"/>
            <a:chOff x="7651698" y="4287227"/>
            <a:chExt cx="1058348" cy="347375"/>
          </a:xfrm>
        </p:grpSpPr>
        <p:grpSp>
          <p:nvGrpSpPr>
            <p:cNvPr id="1350" name="Google Shape;1350;p90"/>
            <p:cNvGrpSpPr/>
            <p:nvPr/>
          </p:nvGrpSpPr>
          <p:grpSpPr>
            <a:xfrm>
              <a:off x="7714163" y="4337598"/>
              <a:ext cx="995883" cy="297004"/>
              <a:chOff x="7711013" y="3986494"/>
              <a:chExt cx="995883" cy="297004"/>
            </a:xfrm>
          </p:grpSpPr>
          <p:sp>
            <p:nvSpPr>
              <p:cNvPr id="1351" name="Google Shape;1351;p9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352" name="Google Shape;1352;p90"/>
              <p:cNvGrpSpPr/>
              <p:nvPr/>
            </p:nvGrpSpPr>
            <p:grpSpPr>
              <a:xfrm>
                <a:off x="7711013" y="4002615"/>
                <a:ext cx="281520" cy="241973"/>
                <a:chOff x="5652748" y="4066000"/>
                <a:chExt cx="906498" cy="747974"/>
              </a:xfrm>
            </p:grpSpPr>
            <p:sp>
              <p:nvSpPr>
                <p:cNvPr id="1353" name="Google Shape;1353;p9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354" name="Google Shape;1354;p9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355" name="Google Shape;1355;p9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356" name="Google Shape;1356;p9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75" name="Shape 1375"/>
        <p:cNvGrpSpPr/>
        <p:nvPr/>
      </p:nvGrpSpPr>
      <p:grpSpPr>
        <a:xfrm>
          <a:off x="0" y="0"/>
          <a:ext cx="0" cy="0"/>
          <a:chOff x="0" y="0"/>
          <a:chExt cx="0" cy="0"/>
        </a:xfrm>
      </p:grpSpPr>
      <p:cxnSp>
        <p:nvCxnSpPr>
          <p:cNvPr id="1376" name="Google Shape;1376;p9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377" name="Google Shape;1377;p92"/>
          <p:cNvGraphicFramePr/>
          <p:nvPr/>
        </p:nvGraphicFramePr>
        <p:xfrm>
          <a:off x="381000"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Utilize</a:t>
                      </a:r>
                      <a:r>
                        <a:rPr b="1" lang="en-GB" sz="900">
                          <a:solidFill>
                            <a:schemeClr val="dk1"/>
                          </a:solidFill>
                        </a:rPr>
                        <a:t> customer transactions, interactions and self-reported information to develop a full understanding of where they are in their relevant lifestages (e.g., starting out, married with small children, empty nesters, retired, etc.) to:</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Customer Life Stages. Design customer strategy and plan</a:t>
                      </a:r>
                      <a:r>
                        <a:rPr b="0" lang="en-GB" sz="900">
                          <a:solidFill>
                            <a:schemeClr val="dk1"/>
                          </a:solidFill>
                        </a:rPr>
                        <a:t> </a:t>
                      </a:r>
                      <a:r>
                        <a:rPr b="0" lang="en-GB" sz="900">
                          <a:solidFill>
                            <a:schemeClr val="dk1"/>
                          </a:solidFill>
                        </a:rPr>
                        <a:t>actions based</a:t>
                      </a:r>
                      <a:r>
                        <a:rPr b="0" lang="en-GB" sz="900">
                          <a:solidFill>
                            <a:schemeClr val="dk1"/>
                          </a:solidFill>
                        </a:rPr>
                        <a:t> in changes </a:t>
                      </a:r>
                      <a:r>
                        <a:rPr b="0" lang="en-GB" sz="900">
                          <a:solidFill>
                            <a:schemeClr val="dk1"/>
                          </a:solidFill>
                        </a:rPr>
                        <a:t>in customer life-cycle</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customer behaviours based on life stages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the impact of outside forces (e.g., marriage, retirement, etc.) on customer purchases, attrition and  usage, allowing the organization to focus on those actionable items that could impact the customer relationship, profitability,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transaction and 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Self-reported changes in customer profile (e.g., newly married/ divorced, new address, etc.)and inferred stages based on consumption patterns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Third-party demographics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Pathing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have relevant, meaningful, mutually beneficial conversations with customers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cross-sales and retention due to relevant offerings and messaging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analytics due to elimination of “noise” in customer analytics created by events and situations that are beyond the influence of the organization (e.g., increasing/decreasing balances due to marriage/divorce, closing a landline due to a move,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strategy planning and segmentation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378" name="Google Shape;1378;p9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Life Stage</a:t>
            </a:r>
            <a:endParaRPr sz="1600"/>
          </a:p>
        </p:txBody>
      </p:sp>
      <p:grpSp>
        <p:nvGrpSpPr>
          <p:cNvPr id="1379" name="Google Shape;1379;p92"/>
          <p:cNvGrpSpPr/>
          <p:nvPr/>
        </p:nvGrpSpPr>
        <p:grpSpPr>
          <a:xfrm>
            <a:off x="6681181" y="227746"/>
            <a:ext cx="2432605" cy="1508418"/>
            <a:chOff x="3241483" y="678377"/>
            <a:chExt cx="2432605" cy="1508418"/>
          </a:xfrm>
        </p:grpSpPr>
        <p:sp>
          <p:nvSpPr>
            <p:cNvPr id="1380" name="Google Shape;1380;p92"/>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381" name="Google Shape;1381;p92"/>
            <p:cNvGrpSpPr/>
            <p:nvPr/>
          </p:nvGrpSpPr>
          <p:grpSpPr>
            <a:xfrm>
              <a:off x="3430680" y="814892"/>
              <a:ext cx="2230757" cy="1257815"/>
              <a:chOff x="6269745" y="1818918"/>
              <a:chExt cx="2825275" cy="1593033"/>
            </a:xfrm>
          </p:grpSpPr>
          <p:grpSp>
            <p:nvGrpSpPr>
              <p:cNvPr id="1382" name="Google Shape;1382;p92"/>
              <p:cNvGrpSpPr/>
              <p:nvPr/>
            </p:nvGrpSpPr>
            <p:grpSpPr>
              <a:xfrm>
                <a:off x="7216189" y="1999143"/>
                <a:ext cx="992955" cy="399680"/>
                <a:chOff x="1795630" y="3780481"/>
                <a:chExt cx="992955" cy="399680"/>
              </a:xfrm>
            </p:grpSpPr>
            <p:sp>
              <p:nvSpPr>
                <p:cNvPr id="1383" name="Google Shape;1383;p92"/>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84" name="Google Shape;1384;p92"/>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385" name="Google Shape;1385;p92"/>
              <p:cNvGrpSpPr/>
              <p:nvPr/>
            </p:nvGrpSpPr>
            <p:grpSpPr>
              <a:xfrm>
                <a:off x="8395782" y="1818918"/>
                <a:ext cx="582035" cy="745654"/>
                <a:chOff x="6632575" y="6389688"/>
                <a:chExt cx="739775" cy="947737"/>
              </a:xfrm>
            </p:grpSpPr>
            <p:sp>
              <p:nvSpPr>
                <p:cNvPr id="1386" name="Google Shape;1386;p92"/>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87" name="Google Shape;1387;p92"/>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388" name="Google Shape;1388;p92"/>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89" name="Google Shape;1389;p92"/>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90" name="Google Shape;1390;p92"/>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91" name="Google Shape;1391;p92"/>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392" name="Google Shape;1392;p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393" name="Google Shape;1393;p92"/>
          <p:cNvGrpSpPr/>
          <p:nvPr/>
        </p:nvGrpSpPr>
        <p:grpSpPr>
          <a:xfrm>
            <a:off x="7717533" y="4360377"/>
            <a:ext cx="1058348" cy="347375"/>
            <a:chOff x="7651698" y="4287227"/>
            <a:chExt cx="1058348" cy="347375"/>
          </a:xfrm>
        </p:grpSpPr>
        <p:grpSp>
          <p:nvGrpSpPr>
            <p:cNvPr id="1394" name="Google Shape;1394;p92"/>
            <p:cNvGrpSpPr/>
            <p:nvPr/>
          </p:nvGrpSpPr>
          <p:grpSpPr>
            <a:xfrm>
              <a:off x="7714163" y="4337598"/>
              <a:ext cx="995883" cy="297004"/>
              <a:chOff x="7711013" y="3986494"/>
              <a:chExt cx="995883" cy="297004"/>
            </a:xfrm>
          </p:grpSpPr>
          <p:sp>
            <p:nvSpPr>
              <p:cNvPr id="1395" name="Google Shape;1395;p9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396" name="Google Shape;1396;p92"/>
              <p:cNvGrpSpPr/>
              <p:nvPr/>
            </p:nvGrpSpPr>
            <p:grpSpPr>
              <a:xfrm>
                <a:off x="7711013" y="4002615"/>
                <a:ext cx="281520" cy="241973"/>
                <a:chOff x="5652748" y="4066000"/>
                <a:chExt cx="906498" cy="747974"/>
              </a:xfrm>
            </p:grpSpPr>
            <p:sp>
              <p:nvSpPr>
                <p:cNvPr id="1397" name="Google Shape;1397;p9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398" name="Google Shape;1398;p9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399" name="Google Shape;1399;p9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400" name="Google Shape;1400;p9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18" name="Shape 1418"/>
        <p:cNvGrpSpPr/>
        <p:nvPr/>
      </p:nvGrpSpPr>
      <p:grpSpPr>
        <a:xfrm>
          <a:off x="0" y="0"/>
          <a:ext cx="0" cy="0"/>
          <a:chOff x="0" y="0"/>
          <a:chExt cx="0" cy="0"/>
        </a:xfrm>
      </p:grpSpPr>
      <p:pic>
        <p:nvPicPr>
          <p:cNvPr descr="COM-1008-L.jpg" id="1419" name="Google Shape;1419;p94"/>
          <p:cNvPicPr preferRelativeResize="0"/>
          <p:nvPr/>
        </p:nvPicPr>
        <p:blipFill rotWithShape="1">
          <a:blip r:embed="rId3">
            <a:alphaModFix/>
          </a:blip>
          <a:srcRect b="11622" l="57468" r="7520" t="12931"/>
          <a:stretch/>
        </p:blipFill>
        <p:spPr>
          <a:xfrm>
            <a:off x="5178010" y="670721"/>
            <a:ext cx="3600450" cy="4168233"/>
          </a:xfrm>
          <a:prstGeom prst="rect">
            <a:avLst/>
          </a:prstGeom>
          <a:noFill/>
          <a:ln>
            <a:noFill/>
          </a:ln>
        </p:spPr>
      </p:pic>
      <p:sp>
        <p:nvSpPr>
          <p:cNvPr id="1420" name="Google Shape;1420;p94"/>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Lifecycle Management</a:t>
            </a:r>
            <a:br>
              <a:rPr lang="en-GB"/>
            </a:br>
            <a:endParaRPr/>
          </a:p>
        </p:txBody>
      </p:sp>
      <p:sp>
        <p:nvSpPr>
          <p:cNvPr id="1421" name="Google Shape;1421;p94"/>
          <p:cNvSpPr/>
          <p:nvPr/>
        </p:nvSpPr>
        <p:spPr>
          <a:xfrm>
            <a:off x="311934" y="2013639"/>
            <a:ext cx="4664217" cy="2580706"/>
          </a:xfrm>
          <a:prstGeom prst="rect">
            <a:avLst/>
          </a:prstGeom>
          <a:noFill/>
          <a:ln>
            <a:noFill/>
          </a:ln>
        </p:spPr>
        <p:txBody>
          <a:bodyPr anchorCtr="0" anchor="t" bIns="45700" lIns="91425" spcFirstLastPara="1" rIns="91425" wrap="square" tIns="45700">
            <a:noAutofit/>
          </a:bodyPr>
          <a:lstStyle/>
          <a:p>
            <a:pPr indent="0" lvl="0" marL="0" marR="0" rtl="0" algn="l">
              <a:lnSpc>
                <a:spcPct val="110000"/>
              </a:lnSpc>
              <a:spcBef>
                <a:spcPts val="0"/>
              </a:spcBef>
              <a:spcAft>
                <a:spcPts val="0"/>
              </a:spcAft>
              <a:buNone/>
            </a:pPr>
            <a:r>
              <a:rPr lang="en-GB" sz="1800">
                <a:solidFill>
                  <a:schemeClr val="dk2"/>
                </a:solidFill>
                <a:latin typeface="Century Gothic"/>
                <a:ea typeface="Century Gothic"/>
                <a:cs typeface="Century Gothic"/>
                <a:sym typeface="Century Gothic"/>
              </a:rPr>
              <a:t>Why is it important</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Recognize best customers and retain/up sell</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Recognize behaviors to move less loyal customers to higher value (migration)</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Reduce churn and declining spending behaviors</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Identify best acquisition channels for high value customers</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Provide insights to drive strategies for stages of the customer life cycle of engagement with the company</a:t>
            </a:r>
            <a:endParaRPr/>
          </a:p>
          <a:p>
            <a:pPr indent="0" lvl="0" marL="0" marR="0" rtl="0" algn="l">
              <a:lnSpc>
                <a:spcPct val="110000"/>
              </a:lnSpc>
              <a:spcBef>
                <a:spcPts val="0"/>
              </a:spcBef>
              <a:spcAft>
                <a:spcPts val="0"/>
              </a:spcAft>
              <a:buNone/>
            </a:pPr>
            <a:r>
              <a:t/>
            </a:r>
            <a:endParaRPr sz="1200">
              <a:solidFill>
                <a:schemeClr val="dk1"/>
              </a:solidFill>
              <a:latin typeface="Century Gothic"/>
              <a:ea typeface="Century Gothic"/>
              <a:cs typeface="Century Gothic"/>
              <a:sym typeface="Century Gothic"/>
            </a:endParaRPr>
          </a:p>
        </p:txBody>
      </p:sp>
      <p:sp>
        <p:nvSpPr>
          <p:cNvPr id="1422" name="Google Shape;1422;p94"/>
          <p:cNvSpPr/>
          <p:nvPr/>
        </p:nvSpPr>
        <p:spPr>
          <a:xfrm>
            <a:off x="0" y="764641"/>
            <a:ext cx="7205662" cy="1088639"/>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0" marL="0" marR="0" rtl="0" algn="l">
              <a:lnSpc>
                <a:spcPct val="110000"/>
              </a:lnSpc>
              <a:spcBef>
                <a:spcPts val="0"/>
              </a:spcBef>
              <a:spcAft>
                <a:spcPts val="0"/>
              </a:spcAft>
              <a:buNone/>
            </a:pPr>
            <a:r>
              <a:rPr lang="en-GB" sz="1800">
                <a:solidFill>
                  <a:srgbClr val="FFFFFF"/>
                </a:solidFill>
                <a:latin typeface="Century Gothic"/>
                <a:ea typeface="Century Gothic"/>
                <a:cs typeface="Century Gothic"/>
                <a:sym typeface="Century Gothic"/>
              </a:rPr>
              <a:t>Develop and execute strategies, supported by customer insights, to acquire new customers and then manage and grow profitable relationships over time</a:t>
            </a:r>
            <a:endParaRPr sz="1800">
              <a:solidFill>
                <a:srgbClr val="FFFFFF"/>
              </a:solidFill>
              <a:latin typeface="Century Gothic"/>
              <a:ea typeface="Century Gothic"/>
              <a:cs typeface="Century Gothic"/>
              <a:sym typeface="Century Gothic"/>
            </a:endParaRPr>
          </a:p>
        </p:txBody>
      </p:sp>
      <p:sp>
        <p:nvSpPr>
          <p:cNvPr id="1423" name="Google Shape;1423;p9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6" name="Shape 1436"/>
        <p:cNvGrpSpPr/>
        <p:nvPr/>
      </p:nvGrpSpPr>
      <p:grpSpPr>
        <a:xfrm>
          <a:off x="0" y="0"/>
          <a:ext cx="0" cy="0"/>
          <a:chOff x="0" y="0"/>
          <a:chExt cx="0" cy="0"/>
        </a:xfrm>
      </p:grpSpPr>
      <p:cxnSp>
        <p:nvCxnSpPr>
          <p:cNvPr id="1437" name="Google Shape;1437;p9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438" name="Google Shape;1438;p9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Acquisition</a:t>
            </a:r>
            <a:endParaRPr sz="1600"/>
          </a:p>
        </p:txBody>
      </p:sp>
      <p:sp>
        <p:nvSpPr>
          <p:cNvPr id="1439" name="Google Shape;1439;p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aphicFrame>
        <p:nvGraphicFramePr>
          <p:cNvPr id="1440" name="Google Shape;1440;p9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Increase the efficiency</a:t>
                      </a:r>
                      <a:r>
                        <a:rPr b="1" lang="en-GB" sz="900">
                          <a:solidFill>
                            <a:schemeClr val="dk1"/>
                          </a:solidFill>
                        </a:rPr>
                        <a:t> of the customer acquisition process to ensure cost effective recruitment of desired new customers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Recruitment of new customers can be a complex process and is often managed in multiple steps involving a two way exchange of information between the organisation and customer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Optimise targeting of prospective</a:t>
                      </a:r>
                      <a:r>
                        <a:rPr b="0" lang="en-GB" sz="900">
                          <a:solidFill>
                            <a:schemeClr val="dk1"/>
                          </a:solidFill>
                        </a:rPr>
                        <a:t> customers to reduce costs of acquisition</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Use advanced analytics to understand the reasons why acquisitio</a:t>
                      </a:r>
                      <a:r>
                        <a:rPr b="0" lang="en-GB" sz="900">
                          <a:solidFill>
                            <a:schemeClr val="dk1"/>
                          </a:solidFill>
                        </a:rPr>
                        <a:t>n</a:t>
                      </a:r>
                      <a:r>
                        <a:rPr b="0" lang="en-GB" sz="900">
                          <a:solidFill>
                            <a:schemeClr val="dk1"/>
                          </a:solidFill>
                        </a:rPr>
                        <a:t> processes get interrupted or fail and fix operational problems / drop-outs in the customer recruitment process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Actively manage the acquisition</a:t>
                      </a:r>
                      <a:r>
                        <a:rPr b="0" lang="en-GB" sz="900">
                          <a:solidFill>
                            <a:schemeClr val="dk1"/>
                          </a:solidFill>
                        </a:rPr>
                        <a:t> </a:t>
                      </a:r>
                      <a:r>
                        <a:rPr b="0" lang="en-GB" sz="900">
                          <a:solidFill>
                            <a:schemeClr val="dk1"/>
                          </a:solidFill>
                        </a:rPr>
                        <a:t>process through timely interventions in order to significantly increase the number and value of customers that are successfully recruited</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3</a:t>
                      </a:r>
                      <a:r>
                        <a:rPr baseline="30000" lang="en-GB" sz="900">
                          <a:solidFill>
                            <a:schemeClr val="dk1"/>
                          </a:solidFill>
                        </a:rPr>
                        <a:t>rd</a:t>
                      </a:r>
                      <a:r>
                        <a:rPr lang="en-GB" sz="900">
                          <a:solidFill>
                            <a:schemeClr val="dk1"/>
                          </a:solidFill>
                        </a:rPr>
                        <a:t> party prospect data used for acquisition targeting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Application data – integrated from multiple product sources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application attributes – channel / brand / agent / seller / accept-reject rates / application submission details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t>Standardised</a:t>
                      </a:r>
                      <a:r>
                        <a:rPr lang="en-GB" sz="900"/>
                        <a:t> </a:t>
                      </a:r>
                      <a:r>
                        <a:rPr lang="en-GB" sz="900"/>
                        <a:t>reporting of acquisition pipeline </a:t>
                      </a:r>
                      <a:endParaRPr/>
                    </a:p>
                    <a:p>
                      <a:pPr indent="-171450" lvl="0" marL="171450" marR="0" rtl="0" algn="l">
                        <a:lnSpc>
                          <a:spcPct val="100000"/>
                        </a:lnSpc>
                        <a:spcBef>
                          <a:spcPts val="0"/>
                        </a:spcBef>
                        <a:spcAft>
                          <a:spcPts val="0"/>
                        </a:spcAft>
                        <a:buClr>
                          <a:schemeClr val="dk1"/>
                        </a:buClr>
                        <a:buSzPts val="900"/>
                        <a:buFont typeface="Arial"/>
                        <a:buChar char="•"/>
                      </a:pPr>
                      <a:r>
                        <a:rPr lang="en-GB" sz="900"/>
                        <a:t>Analytics</a:t>
                      </a:r>
                      <a:r>
                        <a:rPr lang="en-GB" sz="900"/>
                        <a:t> to identify behaviors/interactions of new customers/prospects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Path analysis to identify opportunities to improve end to end acquisition process </a:t>
                      </a:r>
                      <a:endParaRPr/>
                    </a:p>
                    <a:p>
                      <a:pPr indent="-171450" lvl="0" marL="171450" marR="0" rtl="0" algn="l">
                        <a:lnSpc>
                          <a:spcPct val="100000"/>
                        </a:lnSpc>
                        <a:spcBef>
                          <a:spcPts val="0"/>
                        </a:spcBef>
                        <a:spcAft>
                          <a:spcPts val="0"/>
                        </a:spcAft>
                        <a:buClr>
                          <a:schemeClr val="dk1"/>
                        </a:buClr>
                        <a:buSzPts val="900"/>
                        <a:buFont typeface="Arial"/>
                        <a:buChar char="•"/>
                      </a:pPr>
                      <a:r>
                        <a:rPr lang="en-GB" sz="900"/>
                        <a:t>Analytics</a:t>
                      </a:r>
                      <a:r>
                        <a:rPr lang="en-GB" sz="900"/>
                        <a:t> to measure value of acquisition sources</a:t>
                      </a:r>
                      <a:endParaRPr sz="900"/>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t>Reduced</a:t>
                      </a:r>
                      <a:r>
                        <a:rPr lang="en-GB" sz="900"/>
                        <a:t> costs of new customer acquisition through improved targeting of prospects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Increased customer conversion through automated identification of potential intervention points – triggered by elapse times for each stage of the acquisition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t>Increased transparency of acquisition processes</a:t>
                      </a:r>
                      <a:r>
                        <a:rPr lang="en-GB" sz="900"/>
                        <a:t> allowing timely intervention to address issues or SLA breaches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Improved forecasting of outlook / product openings through the application process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441" name="Google Shape;1441;p96"/>
          <p:cNvGrpSpPr/>
          <p:nvPr/>
        </p:nvGrpSpPr>
        <p:grpSpPr>
          <a:xfrm>
            <a:off x="6681181" y="227746"/>
            <a:ext cx="2432605" cy="1508418"/>
            <a:chOff x="3241483" y="678377"/>
            <a:chExt cx="2432605" cy="1508418"/>
          </a:xfrm>
        </p:grpSpPr>
        <p:sp>
          <p:nvSpPr>
            <p:cNvPr id="1442" name="Google Shape;1442;p9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443" name="Google Shape;1443;p96"/>
            <p:cNvGrpSpPr/>
            <p:nvPr/>
          </p:nvGrpSpPr>
          <p:grpSpPr>
            <a:xfrm>
              <a:off x="3430680" y="814892"/>
              <a:ext cx="2230757" cy="1257815"/>
              <a:chOff x="6269745" y="1818918"/>
              <a:chExt cx="2825275" cy="1593033"/>
            </a:xfrm>
          </p:grpSpPr>
          <p:grpSp>
            <p:nvGrpSpPr>
              <p:cNvPr id="1444" name="Google Shape;1444;p96"/>
              <p:cNvGrpSpPr/>
              <p:nvPr/>
            </p:nvGrpSpPr>
            <p:grpSpPr>
              <a:xfrm>
                <a:off x="7216189" y="1999143"/>
                <a:ext cx="992955" cy="399680"/>
                <a:chOff x="1795630" y="3780481"/>
                <a:chExt cx="992955" cy="399680"/>
              </a:xfrm>
            </p:grpSpPr>
            <p:sp>
              <p:nvSpPr>
                <p:cNvPr id="1445" name="Google Shape;1445;p9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46" name="Google Shape;1446;p9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447" name="Google Shape;1447;p96"/>
              <p:cNvGrpSpPr/>
              <p:nvPr/>
            </p:nvGrpSpPr>
            <p:grpSpPr>
              <a:xfrm>
                <a:off x="8395782" y="1818918"/>
                <a:ext cx="582035" cy="745654"/>
                <a:chOff x="6632575" y="6389688"/>
                <a:chExt cx="739775" cy="947737"/>
              </a:xfrm>
            </p:grpSpPr>
            <p:sp>
              <p:nvSpPr>
                <p:cNvPr id="1448" name="Google Shape;1448;p9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49" name="Google Shape;1449;p9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450" name="Google Shape;1450;p9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51" name="Google Shape;1451;p9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52" name="Google Shape;1452;p9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53" name="Google Shape;1453;p9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grpSp>
        <p:nvGrpSpPr>
          <p:cNvPr id="1454" name="Google Shape;1454;p96"/>
          <p:cNvGrpSpPr/>
          <p:nvPr/>
        </p:nvGrpSpPr>
        <p:grpSpPr>
          <a:xfrm>
            <a:off x="7717533" y="4360377"/>
            <a:ext cx="1058348" cy="347375"/>
            <a:chOff x="7651698" y="4287227"/>
            <a:chExt cx="1058348" cy="347375"/>
          </a:xfrm>
        </p:grpSpPr>
        <p:grpSp>
          <p:nvGrpSpPr>
            <p:cNvPr id="1455" name="Google Shape;1455;p96"/>
            <p:cNvGrpSpPr/>
            <p:nvPr/>
          </p:nvGrpSpPr>
          <p:grpSpPr>
            <a:xfrm>
              <a:off x="7714163" y="4337598"/>
              <a:ext cx="995883" cy="297004"/>
              <a:chOff x="7711013" y="3986494"/>
              <a:chExt cx="995883" cy="297004"/>
            </a:xfrm>
          </p:grpSpPr>
          <p:sp>
            <p:nvSpPr>
              <p:cNvPr id="1456" name="Google Shape;1456;p9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457" name="Google Shape;1457;p96"/>
              <p:cNvGrpSpPr/>
              <p:nvPr/>
            </p:nvGrpSpPr>
            <p:grpSpPr>
              <a:xfrm>
                <a:off x="7711013" y="4002615"/>
                <a:ext cx="281520" cy="241973"/>
                <a:chOff x="5652748" y="4066000"/>
                <a:chExt cx="906498" cy="747974"/>
              </a:xfrm>
            </p:grpSpPr>
            <p:sp>
              <p:nvSpPr>
                <p:cNvPr id="1458" name="Google Shape;1458;p9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459" name="Google Shape;1459;p9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460" name="Google Shape;1460;p9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461" name="Google Shape;1461;p9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66" name="Shape 1466"/>
        <p:cNvGrpSpPr/>
        <p:nvPr/>
      </p:nvGrpSpPr>
      <p:grpSpPr>
        <a:xfrm>
          <a:off x="0" y="0"/>
          <a:ext cx="0" cy="0"/>
          <a:chOff x="0" y="0"/>
          <a:chExt cx="0" cy="0"/>
        </a:xfrm>
      </p:grpSpPr>
      <p:graphicFrame>
        <p:nvGraphicFramePr>
          <p:cNvPr id="1467" name="Google Shape;1467;p97"/>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Intraday load of all acquisition data at a summary and detail level for all in progress / completed acquisitions showing channel / progress steps / information collected / accept / reject reasons. Triggers defined for proactive follow up of incomplete applications.. Utilize attribution to measure impact of acquisition sources/channels and re-allocate marketing spend as needed..</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Detailed acquisition data (for in progress and completed cases) showing channel / progress steps / accept rejection reasons loaded for most products in a daily batch. Analysis of acquisition.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Detailed acquisition data at a customer level in a daily batch for key products. Begin to link acquisition sources to results.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Summary acquisition data loaded at a customer level for completed acquisitions in weekly batch for some processes</a:t>
                      </a:r>
                      <a:endParaRPr/>
                    </a:p>
                    <a:p>
                      <a:pPr indent="0" lvl="0" marL="0" marR="0" rtl="0" algn="l">
                        <a:lnSpc>
                          <a:spcPct val="100000"/>
                        </a:lnSpc>
                        <a:spcBef>
                          <a:spcPts val="0"/>
                        </a:spcBef>
                        <a:spcAft>
                          <a:spcPts val="0"/>
                        </a:spcAft>
                        <a:buClr>
                          <a:schemeClr val="dk1"/>
                        </a:buClr>
                        <a:buSzPts val="800"/>
                        <a:buFont typeface="Century Gothic"/>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Aggregate summary acquisition data available for reporting - not loaded at individual customer / applicant level for some processes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1468" name="Google Shape;1468;p97"/>
          <p:cNvGrpSpPr/>
          <p:nvPr/>
        </p:nvGrpSpPr>
        <p:grpSpPr>
          <a:xfrm>
            <a:off x="469900" y="3828862"/>
            <a:ext cx="8455025" cy="732866"/>
            <a:chOff x="211138" y="3972860"/>
            <a:chExt cx="8713787" cy="642437"/>
          </a:xfrm>
        </p:grpSpPr>
        <p:sp>
          <p:nvSpPr>
            <p:cNvPr id="1469" name="Google Shape;1469;p97"/>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470" name="Google Shape;1470;p97"/>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1471" name="Google Shape;1471;p97"/>
          <p:cNvGrpSpPr/>
          <p:nvPr/>
        </p:nvGrpSpPr>
        <p:grpSpPr>
          <a:xfrm>
            <a:off x="7971865" y="980278"/>
            <a:ext cx="949325" cy="2867825"/>
            <a:chOff x="7941888" y="1062037"/>
            <a:chExt cx="983037" cy="2695575"/>
          </a:xfrm>
        </p:grpSpPr>
        <p:sp>
          <p:nvSpPr>
            <p:cNvPr id="1472" name="Google Shape;1472;p97"/>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473" name="Google Shape;1473;p97"/>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1474" name="Google Shape;1474;p97"/>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Acquisition</a:t>
            </a:r>
            <a:endParaRPr>
              <a:solidFill>
                <a:schemeClr val="accent6"/>
              </a:solidFill>
            </a:endParaRPr>
          </a:p>
        </p:txBody>
      </p:sp>
      <p:sp>
        <p:nvSpPr>
          <p:cNvPr id="1475" name="Google Shape;1475;p9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80" name="Shape 1480"/>
        <p:cNvGrpSpPr/>
        <p:nvPr/>
      </p:nvGrpSpPr>
      <p:grpSpPr>
        <a:xfrm>
          <a:off x="0" y="0"/>
          <a:ext cx="0" cy="0"/>
          <a:chOff x="0" y="0"/>
          <a:chExt cx="0" cy="0"/>
        </a:xfrm>
      </p:grpSpPr>
      <p:cxnSp>
        <p:nvCxnSpPr>
          <p:cNvPr id="1481" name="Google Shape;1481;p9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482" name="Google Shape;1482;p9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On-Boarding and Development</a:t>
            </a:r>
            <a:endParaRPr sz="1600"/>
          </a:p>
        </p:txBody>
      </p:sp>
      <p:graphicFrame>
        <p:nvGraphicFramePr>
          <p:cNvPr id="1483" name="Google Shape;1483;p9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Onboard new customers to create profitable future relationships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Activities performed</a:t>
                      </a:r>
                      <a:r>
                        <a:rPr b="0" lang="en-GB" sz="900">
                          <a:solidFill>
                            <a:schemeClr val="dk1"/>
                          </a:solidFill>
                        </a:rPr>
                        <a:t> in the first 90 days are paramount to the success of the customer relationship.</a:t>
                      </a:r>
                      <a:r>
                        <a:rPr b="0" lang="en-GB" sz="900">
                          <a:solidFill>
                            <a:schemeClr val="dk1"/>
                          </a:solidFill>
                        </a:rPr>
                        <a: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Customers who are effectively onboarded have a substantially higher retention rate, lower cost to serve and higher cross sell rate than customers that are not.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Elements of customer onboarding include:</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Ensuring good data (identity and address)</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Successful account activation (financial services) and/or product purchase</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Customer interaction/engagement with the brand</a:t>
                      </a:r>
                      <a:endParaRPr b="0" sz="900" u="none" cap="none" strike="noStrike">
                        <a:solidFill>
                          <a:schemeClr val="dk1"/>
                        </a:solidFill>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rPr>
                        <a:t>Personalizing customer communications (channel &amp; content)</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Cross-sell leads management</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Payment automation optimization (financial Services)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Detailed customer data profiles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3</a:t>
                      </a:r>
                      <a:r>
                        <a:rPr baseline="30000" lang="en-GB" sz="850">
                          <a:solidFill>
                            <a:schemeClr val="dk1"/>
                          </a:solidFill>
                        </a:rPr>
                        <a:t>rd</a:t>
                      </a:r>
                      <a:r>
                        <a:rPr lang="en-GB" sz="850">
                          <a:solidFill>
                            <a:schemeClr val="dk1"/>
                          </a:solidFill>
                        </a:rPr>
                        <a:t> party identity and address databases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satisfaction metrics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Transactions      </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Online and offline interactions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95000"/>
                        </a:lnSpc>
                        <a:spcBef>
                          <a:spcPts val="0"/>
                        </a:spcBef>
                        <a:spcAft>
                          <a:spcPts val="0"/>
                        </a:spcAft>
                        <a:buClr>
                          <a:schemeClr val="dk1"/>
                        </a:buClr>
                        <a:buSzPts val="850"/>
                        <a:buFont typeface="Arial"/>
                        <a:buChar char="•"/>
                      </a:pPr>
                      <a:r>
                        <a:rPr lang="en-GB" sz="850">
                          <a:solidFill>
                            <a:schemeClr val="dk1"/>
                          </a:solidFill>
                        </a:rPr>
                        <a:t>Multiple BI KPI’s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Approximate string (fuzzy) matching algorithms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Variety of traditional ) analytics (e.g. profiling, clustering)</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Advanced analytical techniques (e.g. pathing, text analytics and natural language processing, graphing)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engagement earlier in the relationship with the brand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satisfaction and advocacy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and higher cross sell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retention, brand loyalty, and referrals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profitability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484" name="Google Shape;1484;p98"/>
          <p:cNvGrpSpPr/>
          <p:nvPr/>
        </p:nvGrpSpPr>
        <p:grpSpPr>
          <a:xfrm>
            <a:off x="6681181" y="227746"/>
            <a:ext cx="2432605" cy="1508418"/>
            <a:chOff x="3241483" y="678377"/>
            <a:chExt cx="2432605" cy="1508418"/>
          </a:xfrm>
        </p:grpSpPr>
        <p:sp>
          <p:nvSpPr>
            <p:cNvPr id="1485" name="Google Shape;1485;p9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486" name="Google Shape;1486;p98"/>
            <p:cNvGrpSpPr/>
            <p:nvPr/>
          </p:nvGrpSpPr>
          <p:grpSpPr>
            <a:xfrm>
              <a:off x="3430680" y="814892"/>
              <a:ext cx="2230757" cy="1257815"/>
              <a:chOff x="6269745" y="1818918"/>
              <a:chExt cx="2825275" cy="1593033"/>
            </a:xfrm>
          </p:grpSpPr>
          <p:grpSp>
            <p:nvGrpSpPr>
              <p:cNvPr id="1487" name="Google Shape;1487;p98"/>
              <p:cNvGrpSpPr/>
              <p:nvPr/>
            </p:nvGrpSpPr>
            <p:grpSpPr>
              <a:xfrm>
                <a:off x="7216189" y="1999143"/>
                <a:ext cx="992955" cy="399680"/>
                <a:chOff x="1795630" y="3780481"/>
                <a:chExt cx="992955" cy="399680"/>
              </a:xfrm>
            </p:grpSpPr>
            <p:sp>
              <p:nvSpPr>
                <p:cNvPr id="1488" name="Google Shape;1488;p9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89" name="Google Shape;1489;p9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490" name="Google Shape;1490;p98"/>
              <p:cNvGrpSpPr/>
              <p:nvPr/>
            </p:nvGrpSpPr>
            <p:grpSpPr>
              <a:xfrm>
                <a:off x="8395782" y="1818918"/>
                <a:ext cx="582035" cy="745654"/>
                <a:chOff x="6632575" y="6389688"/>
                <a:chExt cx="739775" cy="947737"/>
              </a:xfrm>
            </p:grpSpPr>
            <p:sp>
              <p:nvSpPr>
                <p:cNvPr id="1491" name="Google Shape;1491;p9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2" name="Google Shape;1492;p9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493" name="Google Shape;1493;p9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4" name="Google Shape;1494;p9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5" name="Google Shape;1495;p9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6" name="Google Shape;1496;p9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497" name="Google Shape;1497;p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498" name="Google Shape;1498;p98"/>
          <p:cNvGrpSpPr/>
          <p:nvPr/>
        </p:nvGrpSpPr>
        <p:grpSpPr>
          <a:xfrm>
            <a:off x="7717533" y="4360377"/>
            <a:ext cx="1058348" cy="347375"/>
            <a:chOff x="7651698" y="4287227"/>
            <a:chExt cx="1058348" cy="347375"/>
          </a:xfrm>
        </p:grpSpPr>
        <p:grpSp>
          <p:nvGrpSpPr>
            <p:cNvPr id="1499" name="Google Shape;1499;p98"/>
            <p:cNvGrpSpPr/>
            <p:nvPr/>
          </p:nvGrpSpPr>
          <p:grpSpPr>
            <a:xfrm>
              <a:off x="7714163" y="4337598"/>
              <a:ext cx="995883" cy="297004"/>
              <a:chOff x="7711013" y="3986494"/>
              <a:chExt cx="995883" cy="297004"/>
            </a:xfrm>
          </p:grpSpPr>
          <p:sp>
            <p:nvSpPr>
              <p:cNvPr id="1500" name="Google Shape;1500;p9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501" name="Google Shape;1501;p98"/>
              <p:cNvGrpSpPr/>
              <p:nvPr/>
            </p:nvGrpSpPr>
            <p:grpSpPr>
              <a:xfrm>
                <a:off x="7711013" y="4002615"/>
                <a:ext cx="281520" cy="241973"/>
                <a:chOff x="5652748" y="4066000"/>
                <a:chExt cx="906498" cy="747974"/>
              </a:xfrm>
            </p:grpSpPr>
            <p:sp>
              <p:nvSpPr>
                <p:cNvPr id="1502" name="Google Shape;1502;p9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503" name="Google Shape;1503;p9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504" name="Google Shape;1504;p9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505" name="Google Shape;1505;p9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10" name="Shape 1510"/>
        <p:cNvGrpSpPr/>
        <p:nvPr/>
      </p:nvGrpSpPr>
      <p:grpSpPr>
        <a:xfrm>
          <a:off x="0" y="0"/>
          <a:ext cx="0" cy="0"/>
          <a:chOff x="0" y="0"/>
          <a:chExt cx="0" cy="0"/>
        </a:xfrm>
      </p:grpSpPr>
      <p:graphicFrame>
        <p:nvGraphicFramePr>
          <p:cNvPr id="1511" name="Google Shape;1511;p99"/>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700"/>
                        <a:buFont typeface="Century Gothic"/>
                        <a:buNone/>
                      </a:pPr>
                      <a:r>
                        <a:rPr b="0" lang="en-GB" sz="700">
                          <a:solidFill>
                            <a:schemeClr val="dk1"/>
                          </a:solidFill>
                          <a:latin typeface="Century Gothic"/>
                          <a:ea typeface="Century Gothic"/>
                          <a:cs typeface="Century Gothic"/>
                          <a:sym typeface="Century Gothic"/>
                        </a:rPr>
                        <a:t>Personalized, multi-step on-boarding program where content, delivery channel and  cadence of messaging are based on customer actions. Large portfolio of events (500+) detected on a real-time / intraday / daily basis from a rich variety of data sources including transactions, interactions and external data. Advanced event detection routines such as machine learning finds unusual patterns of behaviour and detects changes in behaviour over time.  Active test and  learn methodology continuously trials new event types.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700"/>
                        <a:buFont typeface="Century Gothic"/>
                        <a:buNone/>
                      </a:pPr>
                      <a:r>
                        <a:rPr b="0" lang="en-GB" sz="700">
                          <a:solidFill>
                            <a:schemeClr val="dk1"/>
                          </a:solidFill>
                          <a:latin typeface="Century Gothic"/>
                          <a:ea typeface="Century Gothic"/>
                          <a:cs typeface="Century Gothic"/>
                          <a:sym typeface="Century Gothic"/>
                        </a:rPr>
                        <a:t>Personalized, multi-step on-boarding program. Content and delivery channel are personalized to customer. Closed loop reporting to measure results . Testing of new and adjust go forward interactions. Medium to large portfolio (200-500) of events, mostly detected on daily basis from an expanding range of data sources including transactions and interactions. (Including online). Some intra-day event detection performed, particularly for digital channels. Established set of event detection methodologies are utilised depending on timeliness and complexity of data.</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Multi-step on-boarding program however, content and cadence is customized by customer segment. Beginning to measure results and incremental revenue or engagement. Medium portfolio of events (50-200) covering a wider range of business objectives /  data sources incl. history and using more sophisticated transactional event detection routines. Data latency constraints have been addressed and most are now executed on a daily basis.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On-boarding strategy and program exists. Focus is on most popular products or offers.  Expanding portfolio of events /interactions. covering a limited range of business objectives /  data sources incl. history and using more sophisticated transactional event detection routines. Data latency constraints being addressed to improve performance of events – daily / weekly</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Limited strategy for  on-boarding program ((may be limited to Welcome Email or direct mail) with basic reporting/analytics. Small portfolio of events  and interactions captured and stored. Interactions are primarily transactional using static traditional data sources. Events detected on weekly / monthly basis with dependency on load of core data feeds.</a:t>
                      </a:r>
                      <a:endParaRPr/>
                    </a:p>
                    <a:p>
                      <a:pPr indent="0" lvl="0" marL="0" marR="0" rtl="0" algn="l">
                        <a:lnSpc>
                          <a:spcPct val="100000"/>
                        </a:lnSpc>
                        <a:spcBef>
                          <a:spcPts val="0"/>
                        </a:spcBef>
                        <a:spcAft>
                          <a:spcPts val="0"/>
                        </a:spcAft>
                        <a:buClr>
                          <a:schemeClr val="dk1"/>
                        </a:buClr>
                        <a:buSzPts val="800"/>
                        <a:buFont typeface="Century Gothic"/>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1512" name="Google Shape;1512;p99"/>
          <p:cNvGrpSpPr/>
          <p:nvPr/>
        </p:nvGrpSpPr>
        <p:grpSpPr>
          <a:xfrm>
            <a:off x="469900" y="3880232"/>
            <a:ext cx="8455025" cy="732866"/>
            <a:chOff x="211138" y="3972860"/>
            <a:chExt cx="8713787" cy="642437"/>
          </a:xfrm>
        </p:grpSpPr>
        <p:sp>
          <p:nvSpPr>
            <p:cNvPr id="1513" name="Google Shape;1513;p99"/>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514" name="Google Shape;1514;p99"/>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1515" name="Google Shape;1515;p99"/>
          <p:cNvGrpSpPr/>
          <p:nvPr/>
        </p:nvGrpSpPr>
        <p:grpSpPr>
          <a:xfrm>
            <a:off x="7971865" y="980278"/>
            <a:ext cx="949325" cy="2867825"/>
            <a:chOff x="7941888" y="1062037"/>
            <a:chExt cx="983037" cy="2695575"/>
          </a:xfrm>
        </p:grpSpPr>
        <p:sp>
          <p:nvSpPr>
            <p:cNvPr id="1516" name="Google Shape;1516;p99"/>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517" name="Google Shape;1517;p99"/>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1518" name="Google Shape;1518;p99"/>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Onboarding and Development</a:t>
            </a:r>
            <a:endParaRPr>
              <a:solidFill>
                <a:schemeClr val="accent6"/>
              </a:solidFill>
            </a:endParaRPr>
          </a:p>
        </p:txBody>
      </p:sp>
      <p:sp>
        <p:nvSpPr>
          <p:cNvPr id="1519" name="Google Shape;1519;p9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4" name="Shape 1524"/>
        <p:cNvGrpSpPr/>
        <p:nvPr/>
      </p:nvGrpSpPr>
      <p:grpSpPr>
        <a:xfrm>
          <a:off x="0" y="0"/>
          <a:ext cx="0" cy="0"/>
          <a:chOff x="0" y="0"/>
          <a:chExt cx="0" cy="0"/>
        </a:xfrm>
      </p:grpSpPr>
      <p:cxnSp>
        <p:nvCxnSpPr>
          <p:cNvPr id="1525" name="Google Shape;1525;p10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526" name="Google Shape;1526;p10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Retention</a:t>
            </a:r>
            <a:endParaRPr sz="1600"/>
          </a:p>
        </p:txBody>
      </p:sp>
      <p:graphicFrame>
        <p:nvGraphicFramePr>
          <p:cNvPr id="1527" name="Google Shape;1527;p100"/>
          <p:cNvGraphicFramePr/>
          <p:nvPr/>
        </p:nvGraphicFramePr>
        <p:xfrm>
          <a:off x="381000" y="83846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p>
                      <a:pPr indent="0" lvl="0" marL="0" marR="0" rtl="0" algn="l">
                        <a:spcBef>
                          <a:spcPts val="0"/>
                        </a:spcBef>
                        <a:spcAft>
                          <a:spcPts val="0"/>
                        </a:spcAft>
                        <a:buNone/>
                      </a:pPr>
                      <a:r>
                        <a:rPr b="1" lang="en-GB" sz="900">
                          <a:solidFill>
                            <a:schemeClr val="dk1"/>
                          </a:solidFill>
                        </a:rPr>
                        <a:t>Develop strategies to retain declining customers</a:t>
                      </a:r>
                      <a:endParaRPr b="1" sz="900">
                        <a:solidFill>
                          <a:schemeClr val="dk1"/>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19063" lvl="0" marL="119063" marR="0" rtl="0" algn="l">
                        <a:spcBef>
                          <a:spcPts val="0"/>
                        </a:spcBef>
                        <a:spcAft>
                          <a:spcPts val="0"/>
                        </a:spcAft>
                        <a:buClr>
                          <a:srgbClr val="3C3C3B"/>
                        </a:buClr>
                        <a:buSzPts val="900"/>
                        <a:buFont typeface="Arial"/>
                        <a:buChar char="•"/>
                      </a:pPr>
                      <a:r>
                        <a:rPr lang="en-GB" sz="900">
                          <a:solidFill>
                            <a:srgbClr val="3C3C3B"/>
                          </a:solidFill>
                        </a:rPr>
                        <a:t>Improve revenue &amp; earnings through enhanced customer retention &amp; loyalty</a:t>
                      </a:r>
                      <a:r>
                        <a:rPr lang="en-GB" sz="900">
                          <a:solidFill>
                            <a:srgbClr val="3C3C3B"/>
                          </a:solidFill>
                        </a:rPr>
                        <a:t> offers</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Extend</a:t>
                      </a:r>
                      <a:r>
                        <a:rPr lang="en-GB" sz="900">
                          <a:solidFill>
                            <a:srgbClr val="3C3C3B"/>
                          </a:solidFill>
                        </a:rPr>
                        <a:t> customer and product lifespan and increase lifetime value.</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Understand the lifecycle of the customer relationship (RFV) to define appropriate actions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Develop retention triggers to prompt proactive customer contact by understanding how</a:t>
                      </a:r>
                      <a:r>
                        <a:rPr lang="en-GB" sz="900">
                          <a:solidFill>
                            <a:srgbClr val="3C3C3B"/>
                          </a:solidFill>
                        </a:rPr>
                        <a:t> to identify indicators of a declining relationship </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Build data-driven, value-based retention strategies for different segments – such as churners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product holdings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lifetime value and profitability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Service and product usage incl. transactions / activity / balances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Lifecycle events and triggers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Regression analysis to build churn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analysis to determine paths to churn / loss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Segmentation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9063" lvl="0" marL="119063" marR="0" rtl="0" algn="l">
                        <a:spcBef>
                          <a:spcPts val="0"/>
                        </a:spcBef>
                        <a:spcAft>
                          <a:spcPts val="0"/>
                        </a:spcAft>
                        <a:buClr>
                          <a:srgbClr val="3C3C3B"/>
                        </a:buClr>
                        <a:buSzPts val="900"/>
                        <a:buFont typeface="Arial"/>
                        <a:buChar char="•"/>
                      </a:pPr>
                      <a:r>
                        <a:rPr lang="en-GB" sz="900">
                          <a:solidFill>
                            <a:srgbClr val="3C3C3B"/>
                          </a:solidFill>
                        </a:rPr>
                        <a:t>Increased customer loyalty and reduced churn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More relevant campaign/treatment based on customer lifecycle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Improved retention campaign ROI from using more sophisticated</a:t>
                      </a:r>
                      <a:r>
                        <a:rPr lang="en-GB" sz="900">
                          <a:solidFill>
                            <a:srgbClr val="3C3C3B"/>
                          </a:solidFill>
                        </a:rPr>
                        <a:t> targeting and more timely events and triggers</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Minimized profit erosion, including reduced costs on win back or reactivation activity</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528" name="Google Shape;1528;p100"/>
          <p:cNvGrpSpPr/>
          <p:nvPr/>
        </p:nvGrpSpPr>
        <p:grpSpPr>
          <a:xfrm>
            <a:off x="6681181" y="227746"/>
            <a:ext cx="2432605" cy="1508418"/>
            <a:chOff x="3241483" y="678377"/>
            <a:chExt cx="2432605" cy="1508418"/>
          </a:xfrm>
        </p:grpSpPr>
        <p:sp>
          <p:nvSpPr>
            <p:cNvPr id="1529" name="Google Shape;1529;p100"/>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530" name="Google Shape;1530;p100"/>
            <p:cNvGrpSpPr/>
            <p:nvPr/>
          </p:nvGrpSpPr>
          <p:grpSpPr>
            <a:xfrm>
              <a:off x="3430680" y="814892"/>
              <a:ext cx="2230757" cy="1257815"/>
              <a:chOff x="6269745" y="1818918"/>
              <a:chExt cx="2825275" cy="1593033"/>
            </a:xfrm>
          </p:grpSpPr>
          <p:grpSp>
            <p:nvGrpSpPr>
              <p:cNvPr id="1531" name="Google Shape;1531;p100"/>
              <p:cNvGrpSpPr/>
              <p:nvPr/>
            </p:nvGrpSpPr>
            <p:grpSpPr>
              <a:xfrm>
                <a:off x="7216189" y="1999143"/>
                <a:ext cx="992955" cy="399680"/>
                <a:chOff x="1795630" y="3780481"/>
                <a:chExt cx="992955" cy="399680"/>
              </a:xfrm>
            </p:grpSpPr>
            <p:sp>
              <p:nvSpPr>
                <p:cNvPr id="1532" name="Google Shape;1532;p100"/>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3" name="Google Shape;1533;p100"/>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534" name="Google Shape;1534;p100"/>
              <p:cNvGrpSpPr/>
              <p:nvPr/>
            </p:nvGrpSpPr>
            <p:grpSpPr>
              <a:xfrm>
                <a:off x="8395782" y="1818918"/>
                <a:ext cx="582035" cy="745654"/>
                <a:chOff x="6632575" y="6389688"/>
                <a:chExt cx="739775" cy="947737"/>
              </a:xfrm>
            </p:grpSpPr>
            <p:sp>
              <p:nvSpPr>
                <p:cNvPr id="1535" name="Google Shape;1535;p100"/>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6" name="Google Shape;1536;p100"/>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537" name="Google Shape;1537;p100"/>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8" name="Google Shape;1538;p100"/>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9" name="Google Shape;1539;p100"/>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40" name="Google Shape;1540;p100"/>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541" name="Google Shape;1541;p1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542" name="Google Shape;1542;p100"/>
          <p:cNvGrpSpPr/>
          <p:nvPr/>
        </p:nvGrpSpPr>
        <p:grpSpPr>
          <a:xfrm>
            <a:off x="7717533" y="4360377"/>
            <a:ext cx="1058348" cy="347375"/>
            <a:chOff x="7651698" y="4287227"/>
            <a:chExt cx="1058348" cy="347375"/>
          </a:xfrm>
        </p:grpSpPr>
        <p:grpSp>
          <p:nvGrpSpPr>
            <p:cNvPr id="1543" name="Google Shape;1543;p100"/>
            <p:cNvGrpSpPr/>
            <p:nvPr/>
          </p:nvGrpSpPr>
          <p:grpSpPr>
            <a:xfrm>
              <a:off x="7714163" y="4337598"/>
              <a:ext cx="995883" cy="297004"/>
              <a:chOff x="7711013" y="3986494"/>
              <a:chExt cx="995883" cy="297004"/>
            </a:xfrm>
          </p:grpSpPr>
          <p:sp>
            <p:nvSpPr>
              <p:cNvPr id="1544" name="Google Shape;1544;p10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545" name="Google Shape;1545;p100"/>
              <p:cNvGrpSpPr/>
              <p:nvPr/>
            </p:nvGrpSpPr>
            <p:grpSpPr>
              <a:xfrm>
                <a:off x="7711013" y="4002615"/>
                <a:ext cx="281520" cy="241973"/>
                <a:chOff x="5652748" y="4066000"/>
                <a:chExt cx="906498" cy="747974"/>
              </a:xfrm>
            </p:grpSpPr>
            <p:sp>
              <p:nvSpPr>
                <p:cNvPr id="1546" name="Google Shape;1546;p10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547" name="Google Shape;1547;p10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548" name="Google Shape;1548;p10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549" name="Google Shape;1549;p10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54" name="Shape 1554"/>
        <p:cNvGrpSpPr/>
        <p:nvPr/>
      </p:nvGrpSpPr>
      <p:grpSpPr>
        <a:xfrm>
          <a:off x="0" y="0"/>
          <a:ext cx="0" cy="0"/>
          <a:chOff x="0" y="0"/>
          <a:chExt cx="0" cy="0"/>
        </a:xfrm>
      </p:grpSpPr>
      <p:graphicFrame>
        <p:nvGraphicFramePr>
          <p:cNvPr id="1555" name="Google Shape;1555;p101"/>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Cross channel Next Best Action (NBA) based on complex churn-value analytics running automatically driven by context and real-time triggers. Defined retention strategies that are continually tested, analysed and assessed for effectiveness.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Customer, product or revenue retention campaigns executed on a daily basis using lifecycle knowledge including decline in usage, decline in product holding or reduced activity. Closed loop analysis of retention campaigns for effectiveness.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Retention platform calculates customer segmentation which is used for weekly proactive retention campaigns - based on churn scores and understanding of simple churn related events. Test and measure retention offers, treatments..</a:t>
                      </a:r>
                      <a:endParaRPr/>
                    </a:p>
                    <a:p>
                      <a:pPr indent="0" lvl="0" marL="0" marR="0" rtl="0" algn="l">
                        <a:lnSpc>
                          <a:spcPct val="100000"/>
                        </a:lnSpc>
                        <a:spcBef>
                          <a:spcPts val="0"/>
                        </a:spcBef>
                        <a:spcAft>
                          <a:spcPts val="0"/>
                        </a:spcAft>
                        <a:buClr>
                          <a:schemeClr val="dk1"/>
                        </a:buClr>
                        <a:buSzPts val="800"/>
                        <a:buFont typeface="Century Gothic"/>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Analytics used to drive the development of treatment strategies to address retention issues. Small number of retention campaigns run on monthly batch cycle.</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Basic events and measures calculated for use in ad-hoc customer retention activity.</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1556" name="Google Shape;1556;p101"/>
          <p:cNvGrpSpPr/>
          <p:nvPr/>
        </p:nvGrpSpPr>
        <p:grpSpPr>
          <a:xfrm>
            <a:off x="469900" y="3828862"/>
            <a:ext cx="8455025" cy="732866"/>
            <a:chOff x="211138" y="3972860"/>
            <a:chExt cx="8713787" cy="642437"/>
          </a:xfrm>
        </p:grpSpPr>
        <p:sp>
          <p:nvSpPr>
            <p:cNvPr id="1557" name="Google Shape;1557;p101"/>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558" name="Google Shape;1558;p101"/>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1559" name="Google Shape;1559;p101"/>
          <p:cNvGrpSpPr/>
          <p:nvPr/>
        </p:nvGrpSpPr>
        <p:grpSpPr>
          <a:xfrm>
            <a:off x="7971865" y="980278"/>
            <a:ext cx="949325" cy="2867825"/>
            <a:chOff x="7941888" y="1062037"/>
            <a:chExt cx="983037" cy="2695575"/>
          </a:xfrm>
        </p:grpSpPr>
        <p:sp>
          <p:nvSpPr>
            <p:cNvPr id="1560" name="Google Shape;1560;p101"/>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561" name="Google Shape;1561;p101"/>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1562" name="Google Shape;1562;p101"/>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Retention</a:t>
            </a:r>
            <a:endParaRPr>
              <a:solidFill>
                <a:schemeClr val="accent6"/>
              </a:solidFill>
            </a:endParaRPr>
          </a:p>
        </p:txBody>
      </p:sp>
      <p:sp>
        <p:nvSpPr>
          <p:cNvPr id="1563" name="Google Shape;1563;p10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68" name="Shape 1568"/>
        <p:cNvGrpSpPr/>
        <p:nvPr/>
      </p:nvGrpSpPr>
      <p:grpSpPr>
        <a:xfrm>
          <a:off x="0" y="0"/>
          <a:ext cx="0" cy="0"/>
          <a:chOff x="0" y="0"/>
          <a:chExt cx="0" cy="0"/>
        </a:xfrm>
      </p:grpSpPr>
      <p:cxnSp>
        <p:nvCxnSpPr>
          <p:cNvPr id="1569" name="Google Shape;1569;p10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570" name="Google Shape;1570;p10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Churn</a:t>
            </a:r>
            <a:endParaRPr sz="1600"/>
          </a:p>
        </p:txBody>
      </p:sp>
      <p:graphicFrame>
        <p:nvGraphicFramePr>
          <p:cNvPr id="1571" name="Google Shape;1571;p102"/>
          <p:cNvGraphicFramePr/>
          <p:nvPr/>
        </p:nvGraphicFramePr>
        <p:xfrm>
          <a:off x="483329" y="8953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rgbClr val="3C3C3B"/>
                        </a:buClr>
                        <a:buSzPts val="900"/>
                        <a:buFont typeface="Arial"/>
                        <a:buNone/>
                      </a:pPr>
                      <a:r>
                        <a:rPr b="1" lang="en-GB" sz="900">
                          <a:solidFill>
                            <a:schemeClr val="dk1"/>
                          </a:solidFill>
                        </a:rPr>
                        <a:t>Predict customers</a:t>
                      </a:r>
                      <a:r>
                        <a:rPr b="1" lang="en-GB" sz="900">
                          <a:solidFill>
                            <a:schemeClr val="dk1"/>
                          </a:solidFill>
                        </a:rPr>
                        <a:t> who are likely to churn and react to potential churn events</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Leverage data and analytics to differentiate and model different kinds of customer,</a:t>
                      </a:r>
                      <a:r>
                        <a:rPr lang="en-GB" sz="900">
                          <a:solidFill>
                            <a:srgbClr val="3C3C3B"/>
                          </a:solidFill>
                        </a:rPr>
                        <a:t> product or usage attrition / churn.</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Integrating customer interaction and behaviour data across different channels</a:t>
                      </a:r>
                      <a:r>
                        <a:rPr lang="en-GB" sz="900">
                          <a:solidFill>
                            <a:srgbClr val="3C3C3B"/>
                          </a:solidFill>
                        </a:rPr>
                        <a:t> and contact points along the different journeys ending in a churn event plus customer profile, to build insights into customer churn causes and predict individual events based on historic data and contextual triggers.</a:t>
                      </a:r>
                      <a:endParaRPr sz="10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profile, customer value, package subscription and usage, billing and payment records, detailed product usage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Call center data - call center logs and IVR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Complaints records and customer experience indexes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SNA input and contextual events form external sources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Classification and clustering, regression-based prediction, path analysis on customer journeys, root-cause analysis for different churn or attrition outcomes.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rgbClr val="3C3C3B"/>
                        </a:buClr>
                        <a:buSzPts val="900"/>
                        <a:buFont typeface="Arial"/>
                        <a:buNone/>
                      </a:pPr>
                      <a:r>
                        <a:rPr lang="en-GB" sz="900">
                          <a:solidFill>
                            <a:srgbClr val="3C3C3B"/>
                          </a:solidFill>
                        </a:rPr>
                        <a:t>Reduced customer attrition – delivered through</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Improve churn model accuracy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Better prioritization</a:t>
                      </a:r>
                      <a:r>
                        <a:rPr lang="en-GB" sz="900">
                          <a:solidFill>
                            <a:srgbClr val="3C3C3B"/>
                          </a:solidFill>
                        </a:rPr>
                        <a:t> of</a:t>
                      </a:r>
                      <a:r>
                        <a:rPr lang="en-GB" sz="900">
                          <a:solidFill>
                            <a:srgbClr val="3C3C3B"/>
                          </a:solidFill>
                        </a:rPr>
                        <a:t> churn actions for highest value customers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Identifying</a:t>
                      </a:r>
                      <a:r>
                        <a:rPr lang="en-GB" sz="900">
                          <a:solidFill>
                            <a:srgbClr val="3C3C3B"/>
                          </a:solidFill>
                        </a:rPr>
                        <a:t> and reacting to churn events faster</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Identification</a:t>
                      </a:r>
                      <a:r>
                        <a:rPr lang="en-GB" sz="900">
                          <a:solidFill>
                            <a:srgbClr val="3C3C3B"/>
                          </a:solidFill>
                        </a:rPr>
                        <a:t> and remediation of churn root causes – redesign of poor customer experience or high friction </a:t>
                      </a:r>
                      <a:r>
                        <a:rPr lang="en-GB" sz="900">
                          <a:solidFill>
                            <a:srgbClr val="3C3C3B"/>
                          </a:solidFill>
                        </a:rPr>
                        <a:t>business</a:t>
                      </a:r>
                      <a:r>
                        <a:rPr lang="en-GB" sz="900">
                          <a:solidFill>
                            <a:srgbClr val="3C3C3B"/>
                          </a:solidFill>
                        </a:rPr>
                        <a:t> processes</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572" name="Google Shape;1572;p102"/>
          <p:cNvGrpSpPr/>
          <p:nvPr/>
        </p:nvGrpSpPr>
        <p:grpSpPr>
          <a:xfrm>
            <a:off x="6681181" y="227746"/>
            <a:ext cx="2432605" cy="1508418"/>
            <a:chOff x="3241483" y="678377"/>
            <a:chExt cx="2432605" cy="1508418"/>
          </a:xfrm>
        </p:grpSpPr>
        <p:sp>
          <p:nvSpPr>
            <p:cNvPr id="1573" name="Google Shape;1573;p102"/>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574" name="Google Shape;1574;p102"/>
            <p:cNvGrpSpPr/>
            <p:nvPr/>
          </p:nvGrpSpPr>
          <p:grpSpPr>
            <a:xfrm>
              <a:off x="3430680" y="814892"/>
              <a:ext cx="2230757" cy="1257815"/>
              <a:chOff x="6269745" y="1818918"/>
              <a:chExt cx="2825275" cy="1593033"/>
            </a:xfrm>
          </p:grpSpPr>
          <p:grpSp>
            <p:nvGrpSpPr>
              <p:cNvPr id="1575" name="Google Shape;1575;p102"/>
              <p:cNvGrpSpPr/>
              <p:nvPr/>
            </p:nvGrpSpPr>
            <p:grpSpPr>
              <a:xfrm>
                <a:off x="7216189" y="1999143"/>
                <a:ext cx="992955" cy="399680"/>
                <a:chOff x="1795630" y="3780481"/>
                <a:chExt cx="992955" cy="399680"/>
              </a:xfrm>
            </p:grpSpPr>
            <p:sp>
              <p:nvSpPr>
                <p:cNvPr id="1576" name="Google Shape;1576;p102"/>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77" name="Google Shape;1577;p102"/>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578" name="Google Shape;1578;p102"/>
              <p:cNvGrpSpPr/>
              <p:nvPr/>
            </p:nvGrpSpPr>
            <p:grpSpPr>
              <a:xfrm>
                <a:off x="8395782" y="1818918"/>
                <a:ext cx="582035" cy="745654"/>
                <a:chOff x="6632575" y="6389688"/>
                <a:chExt cx="739775" cy="947737"/>
              </a:xfrm>
            </p:grpSpPr>
            <p:sp>
              <p:nvSpPr>
                <p:cNvPr id="1579" name="Google Shape;1579;p102"/>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0" name="Google Shape;1580;p102"/>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581" name="Google Shape;1581;p102"/>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2" name="Google Shape;1582;p102"/>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3" name="Google Shape;1583;p102"/>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4" name="Google Shape;1584;p102"/>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585" name="Google Shape;1585;p1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586" name="Google Shape;1586;p102"/>
          <p:cNvGrpSpPr/>
          <p:nvPr/>
        </p:nvGrpSpPr>
        <p:grpSpPr>
          <a:xfrm>
            <a:off x="7717533" y="4360377"/>
            <a:ext cx="1058348" cy="347375"/>
            <a:chOff x="7651698" y="4287227"/>
            <a:chExt cx="1058348" cy="347375"/>
          </a:xfrm>
        </p:grpSpPr>
        <p:grpSp>
          <p:nvGrpSpPr>
            <p:cNvPr id="1587" name="Google Shape;1587;p102"/>
            <p:cNvGrpSpPr/>
            <p:nvPr/>
          </p:nvGrpSpPr>
          <p:grpSpPr>
            <a:xfrm>
              <a:off x="7714163" y="4337598"/>
              <a:ext cx="995883" cy="297004"/>
              <a:chOff x="7711013" y="3986494"/>
              <a:chExt cx="995883" cy="297004"/>
            </a:xfrm>
          </p:grpSpPr>
          <p:sp>
            <p:nvSpPr>
              <p:cNvPr id="1588" name="Google Shape;1588;p10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589" name="Google Shape;1589;p102"/>
              <p:cNvGrpSpPr/>
              <p:nvPr/>
            </p:nvGrpSpPr>
            <p:grpSpPr>
              <a:xfrm>
                <a:off x="7711013" y="4002615"/>
                <a:ext cx="281520" cy="241973"/>
                <a:chOff x="5652748" y="4066000"/>
                <a:chExt cx="906498" cy="747974"/>
              </a:xfrm>
            </p:grpSpPr>
            <p:sp>
              <p:nvSpPr>
                <p:cNvPr id="1590" name="Google Shape;1590;p10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591" name="Google Shape;1591;p10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592" name="Google Shape;1592;p10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593" name="Google Shape;1593;p10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98" name="Shape 1598"/>
        <p:cNvGrpSpPr/>
        <p:nvPr/>
      </p:nvGrpSpPr>
      <p:grpSpPr>
        <a:xfrm>
          <a:off x="0" y="0"/>
          <a:ext cx="0" cy="0"/>
          <a:chOff x="0" y="0"/>
          <a:chExt cx="0" cy="0"/>
        </a:xfrm>
      </p:grpSpPr>
      <p:graphicFrame>
        <p:nvGraphicFramePr>
          <p:cNvPr id="1599" name="Google Shape;1599;p103"/>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Streamline results into company strategy and processes automatically or make decisions to change business process based on insights. Permanent multi-dimensional, behaviour based churn models, including contextual data and social influence analytics to predict and explain churn and its causes. Single company understanding on churn level definitions across departments.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Multi-dimensional, behaviour based churn models, including contextual data and social influence analytics to predict and explain churn and its causes.</a:t>
                      </a:r>
                      <a:endParaRPr/>
                    </a:p>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Single company understanding on churn level definitions across departments.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Systematic use of correlation models to build permanent churn models based on internal transactional data and some external data to produce churn scores. Systematic use of churn scores across multiple functional areas. Single company understanding of churn level definitions.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Identification of different churn scenarios and key data correlating to produce churn segments per customer and apply to carry out proactive churn retention campaigns based on these indicators.</a:t>
                      </a:r>
                      <a:endParaRPr/>
                    </a:p>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Aggregate churn indicators and some rules based estimation of churn probability with irregular use in business processes.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1600" name="Google Shape;1600;p103"/>
          <p:cNvGrpSpPr/>
          <p:nvPr/>
        </p:nvGrpSpPr>
        <p:grpSpPr>
          <a:xfrm>
            <a:off x="469900" y="3828862"/>
            <a:ext cx="8455025" cy="732866"/>
            <a:chOff x="211138" y="3972860"/>
            <a:chExt cx="8713787" cy="642437"/>
          </a:xfrm>
        </p:grpSpPr>
        <p:sp>
          <p:nvSpPr>
            <p:cNvPr id="1601" name="Google Shape;1601;p103"/>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602" name="Google Shape;1602;p103"/>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1603" name="Google Shape;1603;p103"/>
          <p:cNvGrpSpPr/>
          <p:nvPr/>
        </p:nvGrpSpPr>
        <p:grpSpPr>
          <a:xfrm>
            <a:off x="7971865" y="980278"/>
            <a:ext cx="949325" cy="2867825"/>
            <a:chOff x="7941888" y="1062037"/>
            <a:chExt cx="983037" cy="2695575"/>
          </a:xfrm>
        </p:grpSpPr>
        <p:sp>
          <p:nvSpPr>
            <p:cNvPr id="1604" name="Google Shape;1604;p103"/>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605" name="Google Shape;1605;p103"/>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1606" name="Google Shape;1606;p103"/>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Churn</a:t>
            </a:r>
            <a:endParaRPr>
              <a:solidFill>
                <a:schemeClr val="accent6"/>
              </a:solidFill>
            </a:endParaRPr>
          </a:p>
        </p:txBody>
      </p:sp>
      <p:sp>
        <p:nvSpPr>
          <p:cNvPr id="1607" name="Google Shape;1607;p1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12" name="Shape 1612"/>
        <p:cNvGrpSpPr/>
        <p:nvPr/>
      </p:nvGrpSpPr>
      <p:grpSpPr>
        <a:xfrm>
          <a:off x="0" y="0"/>
          <a:ext cx="0" cy="0"/>
          <a:chOff x="0" y="0"/>
          <a:chExt cx="0" cy="0"/>
        </a:xfrm>
      </p:grpSpPr>
      <p:cxnSp>
        <p:nvCxnSpPr>
          <p:cNvPr id="1613" name="Google Shape;1613;p10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614" name="Google Shape;1614;p10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Re-engagement</a:t>
            </a:r>
            <a:endParaRPr sz="1600"/>
          </a:p>
        </p:txBody>
      </p:sp>
      <p:graphicFrame>
        <p:nvGraphicFramePr>
          <p:cNvPr id="1615" name="Google Shape;1615;p10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Respond to early</a:t>
                      </a:r>
                      <a:r>
                        <a:rPr b="1" lang="en-GB" sz="900">
                          <a:solidFill>
                            <a:schemeClr val="dk1"/>
                          </a:solidFill>
                        </a:rPr>
                        <a:t> warning signs of reduced customer activity and enact strategies to r</a:t>
                      </a:r>
                      <a:r>
                        <a:rPr b="1" lang="en-GB" sz="900">
                          <a:solidFill>
                            <a:schemeClr val="dk1"/>
                          </a:solidFill>
                        </a:rPr>
                        <a:t>e-engage customer relationships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a:t>
                      </a:r>
                      <a:r>
                        <a:rPr b="0" lang="en-GB" sz="900">
                          <a:solidFill>
                            <a:schemeClr val="dk1"/>
                          </a:solidFill>
                        </a:rPr>
                        <a:t> customer behaviour to identify early warning signs of reduced customer utilization and engagement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measures of quality of product / service usage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triggers / events that signal declining or non-profitable usage of channels / products or services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Segment the customer base in order to understand the amount of investment appropriate to re-engage the customer relationship (E.g. offers / discounts / promotions)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Proactively</a:t>
                      </a:r>
                      <a:r>
                        <a:rPr b="0" lang="en-GB" sz="900">
                          <a:solidFill>
                            <a:schemeClr val="dk1"/>
                          </a:solidFill>
                        </a:rPr>
                        <a:t> intervene in customer relationships in order to maintain active and valuable customer relationships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Product Holdings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Product</a:t>
                      </a:r>
                      <a:r>
                        <a:rPr b="0" lang="en-GB" sz="900">
                          <a:solidFill>
                            <a:schemeClr val="dk1"/>
                          </a:solidFill>
                        </a:rPr>
                        <a:t> </a:t>
                      </a:r>
                      <a:r>
                        <a:rPr b="0" lang="en-GB" sz="900">
                          <a:solidFill>
                            <a:schemeClr val="dk1"/>
                          </a:solidFill>
                        </a:rPr>
                        <a:t>&amp; Service Usage</a:t>
                      </a:r>
                      <a:r>
                        <a:rPr b="0" lang="en-GB" sz="900">
                          <a:solidFill>
                            <a:schemeClr val="dk1"/>
                          </a:solidFill>
                        </a:rPr>
                        <a:t> Data – over time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Balances &amp; Transactions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satisfaction &amp; complaint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Profitability – Current, Remaining &amp; Future Measures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interaction data – across all channels</a:t>
                      </a:r>
                      <a:endParaRPr b="0"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Exploratory analytics</a:t>
                      </a:r>
                      <a:r>
                        <a:rPr b="0" lang="en-GB" sz="900">
                          <a:solidFill>
                            <a:schemeClr val="dk1"/>
                          </a:solidFill>
                        </a:rPr>
                        <a:t> to define appropriate activity thresholds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Time series analysis looking</a:t>
                      </a:r>
                      <a:r>
                        <a:rPr b="0" lang="en-GB" sz="900">
                          <a:solidFill>
                            <a:schemeClr val="dk1"/>
                          </a:solidFill>
                        </a:rPr>
                        <a:t> for significant changes in Recency, Frequency &amp; Value of sales or service / product usage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Path analysis to define events leading to reduced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Network analysis to identify  influence customer of relationships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Higher proportion of active and profitable customer relationships across customer base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effective targeting of loyalty and promotional offers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 of managing inactive or dormant customer relationship</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 of activating dormant customer relationships or engaging in customer win-back activity</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616" name="Google Shape;1616;p104"/>
          <p:cNvGrpSpPr/>
          <p:nvPr/>
        </p:nvGrpSpPr>
        <p:grpSpPr>
          <a:xfrm>
            <a:off x="6681181" y="227746"/>
            <a:ext cx="2432605" cy="1508418"/>
            <a:chOff x="3241483" y="678377"/>
            <a:chExt cx="2432605" cy="1508418"/>
          </a:xfrm>
        </p:grpSpPr>
        <p:sp>
          <p:nvSpPr>
            <p:cNvPr id="1617" name="Google Shape;1617;p104"/>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618" name="Google Shape;1618;p104"/>
            <p:cNvGrpSpPr/>
            <p:nvPr/>
          </p:nvGrpSpPr>
          <p:grpSpPr>
            <a:xfrm>
              <a:off x="3430680" y="814892"/>
              <a:ext cx="2230757" cy="1257815"/>
              <a:chOff x="6269745" y="1818918"/>
              <a:chExt cx="2825275" cy="1593033"/>
            </a:xfrm>
          </p:grpSpPr>
          <p:grpSp>
            <p:nvGrpSpPr>
              <p:cNvPr id="1619" name="Google Shape;1619;p104"/>
              <p:cNvGrpSpPr/>
              <p:nvPr/>
            </p:nvGrpSpPr>
            <p:grpSpPr>
              <a:xfrm>
                <a:off x="7216189" y="1999143"/>
                <a:ext cx="992955" cy="399680"/>
                <a:chOff x="1795630" y="3780481"/>
                <a:chExt cx="992955" cy="399680"/>
              </a:xfrm>
            </p:grpSpPr>
            <p:sp>
              <p:nvSpPr>
                <p:cNvPr id="1620" name="Google Shape;1620;p104"/>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1" name="Google Shape;1621;p104"/>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622" name="Google Shape;1622;p104"/>
              <p:cNvGrpSpPr/>
              <p:nvPr/>
            </p:nvGrpSpPr>
            <p:grpSpPr>
              <a:xfrm>
                <a:off x="8395782" y="1818918"/>
                <a:ext cx="582035" cy="745654"/>
                <a:chOff x="6632575" y="6389688"/>
                <a:chExt cx="739775" cy="947737"/>
              </a:xfrm>
            </p:grpSpPr>
            <p:sp>
              <p:nvSpPr>
                <p:cNvPr id="1623" name="Google Shape;1623;p104"/>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4" name="Google Shape;1624;p104"/>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625" name="Google Shape;1625;p104"/>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6" name="Google Shape;1626;p104"/>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7" name="Google Shape;1627;p104"/>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8" name="Google Shape;1628;p104"/>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629" name="Google Shape;1629;p1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630" name="Google Shape;1630;p104"/>
          <p:cNvGrpSpPr/>
          <p:nvPr/>
        </p:nvGrpSpPr>
        <p:grpSpPr>
          <a:xfrm>
            <a:off x="7717533" y="4360377"/>
            <a:ext cx="1058348" cy="347375"/>
            <a:chOff x="7651698" y="4287227"/>
            <a:chExt cx="1058348" cy="347375"/>
          </a:xfrm>
        </p:grpSpPr>
        <p:grpSp>
          <p:nvGrpSpPr>
            <p:cNvPr id="1631" name="Google Shape;1631;p104"/>
            <p:cNvGrpSpPr/>
            <p:nvPr/>
          </p:nvGrpSpPr>
          <p:grpSpPr>
            <a:xfrm>
              <a:off x="7714163" y="4337598"/>
              <a:ext cx="995883" cy="297004"/>
              <a:chOff x="7711013" y="3986494"/>
              <a:chExt cx="995883" cy="297004"/>
            </a:xfrm>
          </p:grpSpPr>
          <p:sp>
            <p:nvSpPr>
              <p:cNvPr id="1632" name="Google Shape;1632;p10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633" name="Google Shape;1633;p104"/>
              <p:cNvGrpSpPr/>
              <p:nvPr/>
            </p:nvGrpSpPr>
            <p:grpSpPr>
              <a:xfrm>
                <a:off x="7711013" y="4002615"/>
                <a:ext cx="281520" cy="241973"/>
                <a:chOff x="5652748" y="4066000"/>
                <a:chExt cx="906498" cy="747974"/>
              </a:xfrm>
            </p:grpSpPr>
            <p:sp>
              <p:nvSpPr>
                <p:cNvPr id="1634" name="Google Shape;1634;p10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635" name="Google Shape;1635;p10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636" name="Google Shape;1636;p10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637" name="Google Shape;1637;p10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42" name="Shape 1642"/>
        <p:cNvGrpSpPr/>
        <p:nvPr/>
      </p:nvGrpSpPr>
      <p:grpSpPr>
        <a:xfrm>
          <a:off x="0" y="0"/>
          <a:ext cx="0" cy="0"/>
          <a:chOff x="0" y="0"/>
          <a:chExt cx="0" cy="0"/>
        </a:xfrm>
      </p:grpSpPr>
      <p:graphicFrame>
        <p:nvGraphicFramePr>
          <p:cNvPr id="1643" name="Google Shape;1643;p105"/>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Detailed understanding of early warning signs of dormancy from a diverse range of data sources and large range of strategies operationally deployed to re-engage declining customer relationships. Appreciation of customer value used to determine amount invested in re-engaging the relationship. Test and learn activity refines successful treatment strategies and continuously ROI in this activity</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Detailed understanding of early warning signs of dormancy from a diverse range of data sources and growing range of strategies operationally deployed to re-engage declining customer relationships. Appreciation of customer value used to determine amount invested in re-engaging the relationship.</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Good understanding of early warning signs of dormancy from a diverse range of data sources and small range of strategies operationally deployed to re-engage declining customer relationships </a:t>
                      </a:r>
                      <a:endParaRPr/>
                    </a:p>
                    <a:p>
                      <a:pPr indent="0" lvl="0" marL="0" marR="0" rtl="0" algn="l">
                        <a:lnSpc>
                          <a:spcPct val="100000"/>
                        </a:lnSpc>
                        <a:spcBef>
                          <a:spcPts val="0"/>
                        </a:spcBef>
                        <a:spcAft>
                          <a:spcPts val="0"/>
                        </a:spcAft>
                        <a:buClr>
                          <a:schemeClr val="dk1"/>
                        </a:buClr>
                        <a:buSzPts val="800"/>
                        <a:buFont typeface="Century Gothic"/>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Rudimentary understanding of early warning signs of dormancy from a limited range of data sources but no operational deployment specify strategies deployed to re-engage declining customer relationships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No specific targeted customer re-engagement activities performed</a:t>
                      </a:r>
                      <a:endParaRPr/>
                    </a:p>
                    <a:p>
                      <a:pPr indent="0" lvl="0" marL="0" marR="0" rtl="0" algn="l">
                        <a:lnSpc>
                          <a:spcPct val="100000"/>
                        </a:lnSpc>
                        <a:spcBef>
                          <a:spcPts val="0"/>
                        </a:spcBef>
                        <a:spcAft>
                          <a:spcPts val="0"/>
                        </a:spcAft>
                        <a:buClr>
                          <a:schemeClr val="dk1"/>
                        </a:buClr>
                        <a:buSzPts val="800"/>
                        <a:buFont typeface="Century Gothic"/>
                        <a:buNone/>
                      </a:pPr>
                      <a:r>
                        <a:t/>
                      </a:r>
                      <a:endParaRPr b="0" sz="8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800"/>
                        <a:buFont typeface="Century Gothic"/>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1644" name="Google Shape;1644;p105"/>
          <p:cNvGrpSpPr/>
          <p:nvPr/>
        </p:nvGrpSpPr>
        <p:grpSpPr>
          <a:xfrm>
            <a:off x="469900" y="3839136"/>
            <a:ext cx="8455025" cy="732866"/>
            <a:chOff x="211138" y="3972860"/>
            <a:chExt cx="8713787" cy="642437"/>
          </a:xfrm>
        </p:grpSpPr>
        <p:sp>
          <p:nvSpPr>
            <p:cNvPr id="1645" name="Google Shape;1645;p105"/>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646" name="Google Shape;1646;p105"/>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1647" name="Google Shape;1647;p105"/>
          <p:cNvGrpSpPr/>
          <p:nvPr/>
        </p:nvGrpSpPr>
        <p:grpSpPr>
          <a:xfrm>
            <a:off x="7971865" y="980278"/>
            <a:ext cx="949325" cy="2867825"/>
            <a:chOff x="7941888" y="1062037"/>
            <a:chExt cx="983037" cy="2695575"/>
          </a:xfrm>
        </p:grpSpPr>
        <p:sp>
          <p:nvSpPr>
            <p:cNvPr id="1648" name="Google Shape;1648;p105"/>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649" name="Google Shape;1649;p105"/>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1650" name="Google Shape;1650;p105"/>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Re-engagement</a:t>
            </a:r>
            <a:endParaRPr>
              <a:solidFill>
                <a:schemeClr val="accent6"/>
              </a:solidFill>
            </a:endParaRPr>
          </a:p>
        </p:txBody>
      </p:sp>
      <p:sp>
        <p:nvSpPr>
          <p:cNvPr id="1651" name="Google Shape;1651;p10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56" name="Shape 1656"/>
        <p:cNvGrpSpPr/>
        <p:nvPr/>
      </p:nvGrpSpPr>
      <p:grpSpPr>
        <a:xfrm>
          <a:off x="0" y="0"/>
          <a:ext cx="0" cy="0"/>
          <a:chOff x="0" y="0"/>
          <a:chExt cx="0" cy="0"/>
        </a:xfrm>
      </p:grpSpPr>
      <p:cxnSp>
        <p:nvCxnSpPr>
          <p:cNvPr id="1657" name="Google Shape;1657;p10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658" name="Google Shape;1658;p106"/>
          <p:cNvGraphicFramePr/>
          <p:nvPr/>
        </p:nvGraphicFramePr>
        <p:xfrm>
          <a:off x="330929"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Attract profitable members and create long term brand engagement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Loyalty programs </a:t>
                      </a:r>
                      <a:r>
                        <a:rPr b="0" lang="en-GB" sz="900">
                          <a:solidFill>
                            <a:schemeClr val="dk1"/>
                          </a:solidFill>
                        </a:rPr>
                        <a:t> are focused on </a:t>
                      </a:r>
                      <a:r>
                        <a:rPr b="0" lang="en-GB" sz="900">
                          <a:solidFill>
                            <a:schemeClr val="dk1"/>
                          </a:solidFill>
                        </a:rPr>
                        <a:t>achieving</a:t>
                      </a:r>
                      <a:r>
                        <a:rPr b="0" lang="en-GB" sz="900">
                          <a:solidFill>
                            <a:schemeClr val="dk1"/>
                          </a:solidFill>
                        </a:rPr>
                        <a:t> </a:t>
                      </a:r>
                      <a:r>
                        <a:rPr b="0" lang="en-GB" sz="900">
                          <a:solidFill>
                            <a:schemeClr val="dk1"/>
                          </a:solidFill>
                        </a:rPr>
                        <a:t>the ideal balance</a:t>
                      </a:r>
                      <a:r>
                        <a:rPr b="0" lang="en-GB" sz="900">
                          <a:solidFill>
                            <a:schemeClr val="dk1"/>
                          </a:solidFill>
                        </a:rPr>
                        <a:t> </a:t>
                      </a:r>
                      <a:r>
                        <a:rPr b="0" lang="en-GB" sz="900">
                          <a:solidFill>
                            <a:schemeClr val="dk1"/>
                          </a:solidFill>
                        </a:rPr>
                        <a:t>between incremental earnings (revenues) and</a:t>
                      </a:r>
                      <a:r>
                        <a:rPr b="0" lang="en-GB" sz="900">
                          <a:solidFill>
                            <a:schemeClr val="dk1"/>
                          </a:solidFill>
                        </a:rPr>
                        <a:t> </a:t>
                      </a:r>
                      <a:r>
                        <a:rPr b="0" lang="en-GB" sz="900">
                          <a:solidFill>
                            <a:schemeClr val="dk1"/>
                          </a:solidFill>
                        </a:rPr>
                        <a:t>incremental redemptions (costs)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Influence customer interactions and purchasing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Drive higher customer brand engagement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Generate maximum</a:t>
                      </a:r>
                      <a:r>
                        <a:rPr b="0" lang="en-GB" sz="900">
                          <a:solidFill>
                            <a:schemeClr val="dk1"/>
                          </a:solidFill>
                        </a:rPr>
                        <a:t> </a:t>
                      </a:r>
                      <a:r>
                        <a:rPr b="0" lang="en-GB" sz="900">
                          <a:solidFill>
                            <a:schemeClr val="dk1"/>
                          </a:solidFill>
                        </a:rPr>
                        <a:t>incremental profits </a:t>
                      </a:r>
                      <a:endParaRPr/>
                    </a:p>
                    <a:p>
                      <a:pPr indent="0" lvl="0" marL="0" marR="0" rtl="0" algn="l">
                        <a:spcBef>
                          <a:spcPts val="0"/>
                        </a:spcBef>
                        <a:spcAft>
                          <a:spcPts val="0"/>
                        </a:spcAft>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profile, demographics, transactions, events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Type/level of membership</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Enrolment date/tenure in program</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Amount/timing of points earned and redeemed</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data profiles and transaction history</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Marketing programs, costs and response</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Statistical methods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Behavioral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Path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Expanded acquisition of profitable customers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spending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Incremental cross sales of additional products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pricing models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engagement and satisfaction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Maximized customer lifetime value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659" name="Google Shape;1659;p10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Loyalty</a:t>
            </a:r>
            <a:endParaRPr sz="1600"/>
          </a:p>
        </p:txBody>
      </p:sp>
      <p:grpSp>
        <p:nvGrpSpPr>
          <p:cNvPr id="1660" name="Google Shape;1660;p106"/>
          <p:cNvGrpSpPr/>
          <p:nvPr/>
        </p:nvGrpSpPr>
        <p:grpSpPr>
          <a:xfrm>
            <a:off x="6681181" y="227746"/>
            <a:ext cx="2432605" cy="1508418"/>
            <a:chOff x="3241483" y="678377"/>
            <a:chExt cx="2432605" cy="1508418"/>
          </a:xfrm>
        </p:grpSpPr>
        <p:sp>
          <p:nvSpPr>
            <p:cNvPr id="1661" name="Google Shape;1661;p10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662" name="Google Shape;1662;p106"/>
            <p:cNvGrpSpPr/>
            <p:nvPr/>
          </p:nvGrpSpPr>
          <p:grpSpPr>
            <a:xfrm>
              <a:off x="3430680" y="814892"/>
              <a:ext cx="2230757" cy="1257815"/>
              <a:chOff x="6269745" y="1818918"/>
              <a:chExt cx="2825275" cy="1593033"/>
            </a:xfrm>
          </p:grpSpPr>
          <p:grpSp>
            <p:nvGrpSpPr>
              <p:cNvPr id="1663" name="Google Shape;1663;p106"/>
              <p:cNvGrpSpPr/>
              <p:nvPr/>
            </p:nvGrpSpPr>
            <p:grpSpPr>
              <a:xfrm>
                <a:off x="7216189" y="1999143"/>
                <a:ext cx="992955" cy="399680"/>
                <a:chOff x="1795630" y="3780481"/>
                <a:chExt cx="992955" cy="399680"/>
              </a:xfrm>
            </p:grpSpPr>
            <p:sp>
              <p:nvSpPr>
                <p:cNvPr id="1664" name="Google Shape;1664;p10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65" name="Google Shape;1665;p10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666" name="Google Shape;1666;p106"/>
              <p:cNvGrpSpPr/>
              <p:nvPr/>
            </p:nvGrpSpPr>
            <p:grpSpPr>
              <a:xfrm>
                <a:off x="8395782" y="1818918"/>
                <a:ext cx="582035" cy="745654"/>
                <a:chOff x="6632575" y="6389688"/>
                <a:chExt cx="739775" cy="947737"/>
              </a:xfrm>
            </p:grpSpPr>
            <p:sp>
              <p:nvSpPr>
                <p:cNvPr id="1667" name="Google Shape;1667;p10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68" name="Google Shape;1668;p10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669" name="Google Shape;1669;p10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70" name="Google Shape;1670;p10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71" name="Google Shape;1671;p10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72" name="Google Shape;1672;p10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673" name="Google Shape;1673;p10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674" name="Google Shape;1674;p106"/>
          <p:cNvGrpSpPr/>
          <p:nvPr/>
        </p:nvGrpSpPr>
        <p:grpSpPr>
          <a:xfrm>
            <a:off x="7717533" y="4360377"/>
            <a:ext cx="1058348" cy="347375"/>
            <a:chOff x="7651698" y="4287227"/>
            <a:chExt cx="1058348" cy="347375"/>
          </a:xfrm>
        </p:grpSpPr>
        <p:grpSp>
          <p:nvGrpSpPr>
            <p:cNvPr id="1675" name="Google Shape;1675;p106"/>
            <p:cNvGrpSpPr/>
            <p:nvPr/>
          </p:nvGrpSpPr>
          <p:grpSpPr>
            <a:xfrm>
              <a:off x="7714163" y="4337598"/>
              <a:ext cx="995883" cy="297004"/>
              <a:chOff x="7711013" y="3986494"/>
              <a:chExt cx="995883" cy="297004"/>
            </a:xfrm>
          </p:grpSpPr>
          <p:sp>
            <p:nvSpPr>
              <p:cNvPr id="1676" name="Google Shape;1676;p10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677" name="Google Shape;1677;p106"/>
              <p:cNvGrpSpPr/>
              <p:nvPr/>
            </p:nvGrpSpPr>
            <p:grpSpPr>
              <a:xfrm>
                <a:off x="7711013" y="4002615"/>
                <a:ext cx="281520" cy="241973"/>
                <a:chOff x="5652748" y="4066000"/>
                <a:chExt cx="906498" cy="747974"/>
              </a:xfrm>
            </p:grpSpPr>
            <p:sp>
              <p:nvSpPr>
                <p:cNvPr id="1678" name="Google Shape;1678;p10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679" name="Google Shape;1679;p10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680" name="Google Shape;1680;p10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681" name="Google Shape;1681;p10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86" name="Shape 1686"/>
        <p:cNvGrpSpPr/>
        <p:nvPr/>
      </p:nvGrpSpPr>
      <p:grpSpPr>
        <a:xfrm>
          <a:off x="0" y="0"/>
          <a:ext cx="0" cy="0"/>
          <a:chOff x="0" y="0"/>
          <a:chExt cx="0" cy="0"/>
        </a:xfrm>
      </p:grpSpPr>
      <p:graphicFrame>
        <p:nvGraphicFramePr>
          <p:cNvPr id="1687" name="Google Shape;1687;p107"/>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Program benefits include experiential rewards such ass special member events, and rewards may include partner companies . Member interactions and events are collected real time for mobile, website and point of sale real time personalization and offers. Metrics are robust and include member profitability, program profitability, and multi genre analytics are leveraged for robust customer satisfaction scores. Text analytics are used for insights into voice of the member regarding the program, value to the members and overall brand  experience.</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4601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Program begins to include personalization of benefits./rewards. Program metrics expand to include survey based measurements of success.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4869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Fully integrated program across channels with mobile as a key component.  Member interactions and events are captured and processed to the loyalty system intraday. Program metrics include member profitability /cost to serve.</a:t>
                      </a:r>
                      <a:endParaRPr/>
                    </a:p>
                    <a:p>
                      <a:pPr indent="0" lvl="0" marL="0" marR="0" rtl="0" algn="l">
                        <a:lnSpc>
                          <a:spcPct val="100000"/>
                        </a:lnSpc>
                        <a:spcBef>
                          <a:spcPts val="0"/>
                        </a:spcBef>
                        <a:spcAft>
                          <a:spcPts val="0"/>
                        </a:spcAft>
                        <a:buClr>
                          <a:schemeClr val="dk1"/>
                        </a:buClr>
                        <a:buSzPts val="800"/>
                        <a:buFont typeface="Century Gothic"/>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Program evolves to have reward levels based on member revenue. Improved cross channel integration of program, rewards, redemptions and program data. Program success metrics are  expanded to include redemption metrics, analysis of  rewards redemption by customer segments,,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Program with basic benefits based on visits, products purchased or dollars spent. Program may not be well integrated across channels. Program is measured on metrics such as: total number of members, percent of total customers TY/LY, new members, spending per member as compared to LY and non-members..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1688" name="Google Shape;1688;p107"/>
          <p:cNvGrpSpPr/>
          <p:nvPr/>
        </p:nvGrpSpPr>
        <p:grpSpPr>
          <a:xfrm>
            <a:off x="469900" y="3839136"/>
            <a:ext cx="8455025" cy="732866"/>
            <a:chOff x="211138" y="3972860"/>
            <a:chExt cx="8713787" cy="642437"/>
          </a:xfrm>
        </p:grpSpPr>
        <p:sp>
          <p:nvSpPr>
            <p:cNvPr id="1689" name="Google Shape;1689;p107"/>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690" name="Google Shape;1690;p107"/>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1691" name="Google Shape;1691;p107"/>
          <p:cNvGrpSpPr/>
          <p:nvPr/>
        </p:nvGrpSpPr>
        <p:grpSpPr>
          <a:xfrm>
            <a:off x="7971865" y="980278"/>
            <a:ext cx="949325" cy="2867825"/>
            <a:chOff x="7941888" y="1062037"/>
            <a:chExt cx="983037" cy="2695575"/>
          </a:xfrm>
        </p:grpSpPr>
        <p:sp>
          <p:nvSpPr>
            <p:cNvPr id="1692" name="Google Shape;1692;p107"/>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693" name="Google Shape;1693;p107"/>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1694" name="Google Shape;1694;p107"/>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Loyalty </a:t>
            </a:r>
            <a:endParaRPr>
              <a:solidFill>
                <a:schemeClr val="accent6"/>
              </a:solidFill>
            </a:endParaRPr>
          </a:p>
        </p:txBody>
      </p:sp>
      <p:sp>
        <p:nvSpPr>
          <p:cNvPr id="1695" name="Google Shape;1695;p10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00" name="Shape 1700"/>
        <p:cNvGrpSpPr/>
        <p:nvPr/>
      </p:nvGrpSpPr>
      <p:grpSpPr>
        <a:xfrm>
          <a:off x="0" y="0"/>
          <a:ext cx="0" cy="0"/>
          <a:chOff x="0" y="0"/>
          <a:chExt cx="0" cy="0"/>
        </a:xfrm>
      </p:grpSpPr>
      <p:cxnSp>
        <p:nvCxnSpPr>
          <p:cNvPr id="1701" name="Google Shape;1701;p10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702" name="Google Shape;1702;p10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Cross Sell/Up-Sell</a:t>
            </a:r>
            <a:endParaRPr/>
          </a:p>
        </p:txBody>
      </p:sp>
      <p:graphicFrame>
        <p:nvGraphicFramePr>
          <p:cNvPr id="1703" name="Google Shape;1703;p108"/>
          <p:cNvGraphicFramePr/>
          <p:nvPr/>
        </p:nvGraphicFramePr>
        <p:xfrm>
          <a:off x="228600" y="733246"/>
          <a:ext cx="3000000" cy="3000000"/>
        </p:xfrm>
        <a:graphic>
          <a:graphicData uri="http://schemas.openxmlformats.org/drawingml/2006/table">
            <a:tbl>
              <a:tblPr bandRow="1" firstRow="1">
                <a:noFill/>
                <a:tableStyleId>{D098BFCB-6916-41F2-A2A5-0DF0D5139B6F}</a:tableStyleId>
              </a:tblPr>
              <a:tblGrid>
                <a:gridCol w="4257450"/>
                <a:gridCol w="179650"/>
                <a:gridCol w="4257450"/>
              </a:tblGrid>
              <a:tr h="2085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548950">
                <a:tc>
                  <a:txBody>
                    <a:bodyPr/>
                    <a:lstStyle/>
                    <a:p>
                      <a:pPr indent="0" lvl="0" marL="0" marR="0" rtl="0" algn="l">
                        <a:spcBef>
                          <a:spcPts val="0"/>
                        </a:spcBef>
                        <a:spcAft>
                          <a:spcPts val="0"/>
                        </a:spcAft>
                        <a:buNone/>
                      </a:pPr>
                      <a:r>
                        <a:rPr b="1" lang="en-GB" sz="900">
                          <a:solidFill>
                            <a:schemeClr val="dk1"/>
                          </a:solidFill>
                        </a:rPr>
                        <a:t>Identify and execute  the best opportunities of upselling  and cross</a:t>
                      </a:r>
                      <a:r>
                        <a:rPr b="1" lang="en-GB" sz="900">
                          <a:solidFill>
                            <a:schemeClr val="dk1"/>
                          </a:solidFill>
                        </a:rPr>
                        <a:t> selling  to increase organisation profit and individual customer value</a:t>
                      </a:r>
                      <a:endParaRPr/>
                    </a:p>
                    <a:p>
                      <a:pPr indent="0" lvl="0" marL="0" marR="0" rtl="0" algn="l">
                        <a:spcBef>
                          <a:spcPts val="0"/>
                        </a:spcBef>
                        <a:spcAft>
                          <a:spcPts val="0"/>
                        </a:spcAft>
                        <a:buNone/>
                      </a:pPr>
                      <a:r>
                        <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Generate more revenue out of the existing customer portfolio</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Define targeted customer growth strategies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 product activation &amp; usage paths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Accelerate customer on-boarding and path to value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Deliver more leads to frontline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t>Design and deploy more sophisticated lead types with higher response rates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85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538200">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demographics, product holdings and behavioural data </a:t>
                      </a:r>
                      <a:endParaRPr/>
                    </a:p>
                    <a:p>
                      <a:pPr indent="-171450" lvl="0" marL="171450" marR="0" rtl="0" algn="l">
                        <a:spcBef>
                          <a:spcPts val="0"/>
                        </a:spcBef>
                        <a:spcAft>
                          <a:spcPts val="0"/>
                        </a:spcAft>
                        <a:buClr>
                          <a:schemeClr val="dk1"/>
                        </a:buClr>
                        <a:buSzPts val="900"/>
                        <a:buFont typeface="Arial"/>
                        <a:buChar char="•"/>
                      </a:pPr>
                      <a:r>
                        <a:rPr lang="en-GB" sz="900"/>
                        <a:t>Weblog data from public and customer website</a:t>
                      </a:r>
                      <a:endParaRPr/>
                    </a:p>
                    <a:p>
                      <a:pPr indent="-171450" lvl="0" marL="171450" marR="0" rtl="0" algn="l">
                        <a:spcBef>
                          <a:spcPts val="0"/>
                        </a:spcBef>
                        <a:spcAft>
                          <a:spcPts val="0"/>
                        </a:spcAft>
                        <a:buClr>
                          <a:schemeClr val="dk1"/>
                        </a:buClr>
                        <a:buSzPts val="900"/>
                        <a:buFont typeface="Arial"/>
                        <a:buChar char="•"/>
                      </a:pPr>
                      <a:r>
                        <a:rPr lang="en-GB" sz="900"/>
                        <a:t>Mobile banking data  (mobile banking and payment)</a:t>
                      </a:r>
                      <a:r>
                        <a:rPr lang="en-GB" sz="900"/>
                        <a:t>. </a:t>
                      </a:r>
                      <a:endParaRPr sz="900"/>
                    </a:p>
                    <a:p>
                      <a:pPr indent="-171450" lvl="0" marL="171450" marR="0" rtl="0" algn="l">
                        <a:spcBef>
                          <a:spcPts val="0"/>
                        </a:spcBef>
                        <a:spcAft>
                          <a:spcPts val="0"/>
                        </a:spcAft>
                        <a:buClr>
                          <a:schemeClr val="dk1"/>
                        </a:buClr>
                        <a:buSzPts val="900"/>
                        <a:buFont typeface="Arial"/>
                        <a:buChar char="•"/>
                      </a:pPr>
                      <a:r>
                        <a:rPr lang="en-GB" sz="900"/>
                        <a:t>Channels interaction data to identify events in customer service conversations, emails, phone banking.</a:t>
                      </a:r>
                      <a:endParaRPr/>
                    </a:p>
                    <a:p>
                      <a:pPr indent="-171450" lvl="0" marL="171450" marR="0" rtl="0" algn="l">
                        <a:spcBef>
                          <a:spcPts val="0"/>
                        </a:spcBef>
                        <a:spcAft>
                          <a:spcPts val="0"/>
                        </a:spcAft>
                        <a:buClr>
                          <a:schemeClr val="dk1"/>
                        </a:buClr>
                        <a:buSzPts val="900"/>
                        <a:buFont typeface="Arial"/>
                        <a:buChar char="•"/>
                      </a:pPr>
                      <a:r>
                        <a:rPr lang="en-GB" sz="900"/>
                        <a:t>Banking transaction data for e.g. significant money flow, large ticket credit card purchases, dividend/stock income etc.</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Analytics: Customer Life Events &amp; Product Lifecycle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Analytics- Transactional event / trigger detection</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affinity analysis </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service activation and usage analysis over time</a:t>
                      </a:r>
                      <a:endParaRPr/>
                    </a:p>
                    <a:p>
                      <a:pPr indent="-179388" lvl="0" marL="179388" marR="0" rtl="0" algn="l">
                        <a:lnSpc>
                          <a:spcPct val="100000"/>
                        </a:lnSpc>
                        <a:spcBef>
                          <a:spcPts val="0"/>
                        </a:spcBef>
                        <a:spcAft>
                          <a:spcPts val="0"/>
                        </a:spcAft>
                        <a:buClr>
                          <a:schemeClr val="dk1"/>
                        </a:buClr>
                        <a:buSzPts val="900"/>
                        <a:buFont typeface="Arial"/>
                        <a:buChar char="•"/>
                      </a:pPr>
                      <a:r>
                        <a:rPr lang="en-GB" sz="900"/>
                        <a:t>Identify paths and sequences of product purchases</a:t>
                      </a:r>
                      <a:r>
                        <a:rPr lang="en-GB" sz="900"/>
                        <a:t> / upgrades</a:t>
                      </a:r>
                      <a:endParaRPr sz="900"/>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Increase</a:t>
                      </a:r>
                      <a:r>
                        <a:rPr b="0" lang="en-GB" sz="900">
                          <a:solidFill>
                            <a:schemeClr val="dk1"/>
                          </a:solidFill>
                        </a:rPr>
                        <a:t> customer value</a:t>
                      </a:r>
                      <a:r>
                        <a:rPr lang="en-GB" sz="900"/>
                        <a:t> with higher average product holdings / usage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Capitalize</a:t>
                      </a:r>
                      <a:r>
                        <a:rPr b="0" lang="en-GB" sz="900">
                          <a:solidFill>
                            <a:schemeClr val="dk1"/>
                          </a:solidFill>
                        </a:rPr>
                        <a:t> on product / service wallet to speed up new market deployment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Increase customer loyalty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customer attrition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Increase overall organisation profitability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customer replacement cost </a:t>
                      </a:r>
                      <a:endParaRPr b="0"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704" name="Google Shape;1704;p108"/>
          <p:cNvGrpSpPr/>
          <p:nvPr/>
        </p:nvGrpSpPr>
        <p:grpSpPr>
          <a:xfrm>
            <a:off x="6681181" y="227746"/>
            <a:ext cx="2432605" cy="1508418"/>
            <a:chOff x="3241483" y="678377"/>
            <a:chExt cx="2432605" cy="1508418"/>
          </a:xfrm>
        </p:grpSpPr>
        <p:sp>
          <p:nvSpPr>
            <p:cNvPr id="1705" name="Google Shape;1705;p10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706" name="Google Shape;1706;p108"/>
            <p:cNvGrpSpPr/>
            <p:nvPr/>
          </p:nvGrpSpPr>
          <p:grpSpPr>
            <a:xfrm>
              <a:off x="3430680" y="814892"/>
              <a:ext cx="2230757" cy="1257815"/>
              <a:chOff x="6269745" y="1818918"/>
              <a:chExt cx="2825275" cy="1593033"/>
            </a:xfrm>
          </p:grpSpPr>
          <p:grpSp>
            <p:nvGrpSpPr>
              <p:cNvPr id="1707" name="Google Shape;1707;p108"/>
              <p:cNvGrpSpPr/>
              <p:nvPr/>
            </p:nvGrpSpPr>
            <p:grpSpPr>
              <a:xfrm>
                <a:off x="7216189" y="1999143"/>
                <a:ext cx="992955" cy="399680"/>
                <a:chOff x="1795630" y="3780481"/>
                <a:chExt cx="992955" cy="399680"/>
              </a:xfrm>
            </p:grpSpPr>
            <p:sp>
              <p:nvSpPr>
                <p:cNvPr id="1708" name="Google Shape;1708;p10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09" name="Google Shape;1709;p10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710" name="Google Shape;1710;p108"/>
              <p:cNvGrpSpPr/>
              <p:nvPr/>
            </p:nvGrpSpPr>
            <p:grpSpPr>
              <a:xfrm>
                <a:off x="8395782" y="1818918"/>
                <a:ext cx="582035" cy="745654"/>
                <a:chOff x="6632575" y="6389688"/>
                <a:chExt cx="739775" cy="947737"/>
              </a:xfrm>
            </p:grpSpPr>
            <p:sp>
              <p:nvSpPr>
                <p:cNvPr id="1711" name="Google Shape;1711;p10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2" name="Google Shape;1712;p10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713" name="Google Shape;1713;p10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4" name="Google Shape;1714;p10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5" name="Google Shape;1715;p10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6" name="Google Shape;1716;p10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717" name="Google Shape;1717;p10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718" name="Google Shape;1718;p108"/>
          <p:cNvGrpSpPr/>
          <p:nvPr/>
        </p:nvGrpSpPr>
        <p:grpSpPr>
          <a:xfrm>
            <a:off x="7717533" y="4360377"/>
            <a:ext cx="1058348" cy="347375"/>
            <a:chOff x="7651698" y="4287227"/>
            <a:chExt cx="1058348" cy="347375"/>
          </a:xfrm>
        </p:grpSpPr>
        <p:grpSp>
          <p:nvGrpSpPr>
            <p:cNvPr id="1719" name="Google Shape;1719;p108"/>
            <p:cNvGrpSpPr/>
            <p:nvPr/>
          </p:nvGrpSpPr>
          <p:grpSpPr>
            <a:xfrm>
              <a:off x="7714163" y="4337598"/>
              <a:ext cx="995883" cy="297004"/>
              <a:chOff x="7711013" y="3986494"/>
              <a:chExt cx="995883" cy="297004"/>
            </a:xfrm>
          </p:grpSpPr>
          <p:sp>
            <p:nvSpPr>
              <p:cNvPr id="1720" name="Google Shape;1720;p10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721" name="Google Shape;1721;p108"/>
              <p:cNvGrpSpPr/>
              <p:nvPr/>
            </p:nvGrpSpPr>
            <p:grpSpPr>
              <a:xfrm>
                <a:off x="7711013" y="4002615"/>
                <a:ext cx="281520" cy="241973"/>
                <a:chOff x="5652748" y="4066000"/>
                <a:chExt cx="906498" cy="747974"/>
              </a:xfrm>
            </p:grpSpPr>
            <p:sp>
              <p:nvSpPr>
                <p:cNvPr id="1722" name="Google Shape;1722;p10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723" name="Google Shape;1723;p10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724" name="Google Shape;1724;p10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725" name="Google Shape;1725;p10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30" name="Shape 1730"/>
        <p:cNvGrpSpPr/>
        <p:nvPr/>
      </p:nvGrpSpPr>
      <p:grpSpPr>
        <a:xfrm>
          <a:off x="0" y="0"/>
          <a:ext cx="0" cy="0"/>
          <a:chOff x="0" y="0"/>
          <a:chExt cx="0" cy="0"/>
        </a:xfrm>
      </p:grpSpPr>
      <p:graphicFrame>
        <p:nvGraphicFramePr>
          <p:cNvPr id="1731" name="Google Shape;1731;p109"/>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spcBef>
                          <a:spcPts val="0"/>
                        </a:spcBef>
                        <a:spcAft>
                          <a:spcPts val="0"/>
                        </a:spcAft>
                        <a:buNone/>
                      </a:pPr>
                      <a:r>
                        <a:rPr b="0" lang="en-GB" sz="800">
                          <a:solidFill>
                            <a:schemeClr val="dk1"/>
                          </a:solidFill>
                          <a:latin typeface="Century Gothic"/>
                          <a:ea typeface="Century Gothic"/>
                          <a:cs typeface="Century Gothic"/>
                          <a:sym typeface="Century Gothic"/>
                        </a:rPr>
                        <a:t>Large portfolio of cross sell / up-sell events detected on a real-time / intraday / daily basis from a rich variety of data sources including transactions, interactions and external data. Advanced event detection routines such as machine learning finds unusual patterns of behaviour and detects changes in behaviour over time. Events are combined to specialise customer treatment and increase response. Next Best Offer framework used to prioritise offers based on value and channel context.</a:t>
                      </a:r>
                      <a:endParaRPr b="0" sz="800">
                        <a:solidFill>
                          <a:schemeClr val="dk1"/>
                        </a:solidFill>
                        <a:latin typeface="Century Gothic"/>
                        <a:ea typeface="Century Gothic"/>
                        <a:cs typeface="Century Gothic"/>
                        <a:sym typeface="Century Gothic"/>
                      </a:endParaRPr>
                    </a:p>
                  </a:txBody>
                  <a:tcPr marT="46875" marB="46875" marR="46875" marL="46875">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spcBef>
                          <a:spcPts val="0"/>
                        </a:spcBef>
                        <a:spcAft>
                          <a:spcPts val="0"/>
                        </a:spcAft>
                        <a:buNone/>
                      </a:pPr>
                      <a:r>
                        <a:rPr b="0" lang="en-GB" sz="800">
                          <a:solidFill>
                            <a:schemeClr val="dk1"/>
                          </a:solidFill>
                          <a:latin typeface="Century Gothic"/>
                          <a:ea typeface="Century Gothic"/>
                          <a:cs typeface="Century Gothic"/>
                          <a:sym typeface="Century Gothic"/>
                        </a:rPr>
                        <a:t>Medium to large portfolio of cross sell / up-sell events detected on daily basis from an expanding range of data sources including transactions and interactions. (including online) Established set of event detection methodologies are utilised depending on timeliness and complexity of data. Batch prioritisation process used to identify most appropriate customer offers.</a:t>
                      </a:r>
                      <a:endParaRPr b="0" sz="800">
                        <a:solidFill>
                          <a:schemeClr val="dk1"/>
                        </a:solidFill>
                        <a:latin typeface="Century Gothic"/>
                        <a:ea typeface="Century Gothic"/>
                        <a:cs typeface="Century Gothic"/>
                        <a:sym typeface="Century Gothic"/>
                      </a:endParaRPr>
                    </a:p>
                  </a:txBody>
                  <a:tcPr marT="46875" marB="46875" marR="46875" marL="46875">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spcBef>
                          <a:spcPts val="0"/>
                        </a:spcBef>
                        <a:spcAft>
                          <a:spcPts val="0"/>
                        </a:spcAft>
                        <a:buNone/>
                      </a:pPr>
                      <a:r>
                        <a:rPr b="0" lang="en-GB" sz="800">
                          <a:solidFill>
                            <a:schemeClr val="dk1"/>
                          </a:solidFill>
                          <a:latin typeface="Century Gothic"/>
                          <a:ea typeface="Century Gothic"/>
                          <a:cs typeface="Century Gothic"/>
                          <a:sym typeface="Century Gothic"/>
                        </a:rPr>
                        <a:t>Expanding portfolio of cross sell / up-sell events covering a limited range of product &amp; service areas / data sources including history and using more sophisticated transactional event detection routines. Data latency constraints being addressed to improve performance of events – daily / weekly</a:t>
                      </a:r>
                      <a:endParaRPr/>
                    </a:p>
                  </a:txBody>
                  <a:tcPr marT="46875" marB="46875" marR="46875" marL="46875">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Small portfolio of cross-sell / up-sell events detected using static traditional data sources. E.g. Key Birthdays  Events detected on weekly / monthly basis with dependency on load of core data feeds.</a:t>
                      </a:r>
                      <a:endParaRPr/>
                    </a:p>
                  </a:txBody>
                  <a:tcPr marT="46875" marB="46875" marR="46875" marL="46875">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Outbound push based campaigns generated on a monthly basis according to marketing calendar rather than customer need. Loosely targeted offers based on simple business rules and products previously purchased.</a:t>
                      </a:r>
                      <a:endParaRPr/>
                    </a:p>
                    <a:p>
                      <a:pPr indent="0" lvl="0" marL="0" marR="0" rtl="0" algn="l">
                        <a:spcBef>
                          <a:spcPts val="0"/>
                        </a:spcBef>
                        <a:spcAft>
                          <a:spcPts val="0"/>
                        </a:spcAft>
                        <a:buNone/>
                      </a:pPr>
                      <a:r>
                        <a:t/>
                      </a:r>
                      <a:endParaRPr b="0" sz="800">
                        <a:solidFill>
                          <a:schemeClr val="dk1"/>
                        </a:solidFill>
                        <a:latin typeface="Century Gothic"/>
                        <a:ea typeface="Century Gothic"/>
                        <a:cs typeface="Century Gothic"/>
                        <a:sym typeface="Century Gothic"/>
                      </a:endParaRPr>
                    </a:p>
                  </a:txBody>
                  <a:tcPr marT="46875" marB="46875" marR="46875" marL="46875">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1732" name="Google Shape;1732;p109"/>
          <p:cNvGrpSpPr/>
          <p:nvPr/>
        </p:nvGrpSpPr>
        <p:grpSpPr>
          <a:xfrm>
            <a:off x="469900" y="3839136"/>
            <a:ext cx="8455025" cy="732866"/>
            <a:chOff x="211138" y="3972860"/>
            <a:chExt cx="8713787" cy="642437"/>
          </a:xfrm>
        </p:grpSpPr>
        <p:sp>
          <p:nvSpPr>
            <p:cNvPr id="1733" name="Google Shape;1733;p109"/>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734" name="Google Shape;1734;p109"/>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1735" name="Google Shape;1735;p109"/>
          <p:cNvGrpSpPr/>
          <p:nvPr/>
        </p:nvGrpSpPr>
        <p:grpSpPr>
          <a:xfrm>
            <a:off x="7971865" y="980278"/>
            <a:ext cx="949325" cy="2867825"/>
            <a:chOff x="7941888" y="1062037"/>
            <a:chExt cx="983037" cy="2695575"/>
          </a:xfrm>
        </p:grpSpPr>
        <p:sp>
          <p:nvSpPr>
            <p:cNvPr id="1736" name="Google Shape;1736;p109"/>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737" name="Google Shape;1737;p109"/>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1738" name="Google Shape;1738;p109"/>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Cross Sell/Up- Sell </a:t>
            </a:r>
            <a:endParaRPr>
              <a:solidFill>
                <a:schemeClr val="accent6"/>
              </a:solidFill>
            </a:endParaRPr>
          </a:p>
        </p:txBody>
      </p:sp>
      <p:sp>
        <p:nvSpPr>
          <p:cNvPr id="1739" name="Google Shape;1739;p10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43" name="Shape 1743"/>
        <p:cNvGrpSpPr/>
        <p:nvPr/>
      </p:nvGrpSpPr>
      <p:grpSpPr>
        <a:xfrm>
          <a:off x="0" y="0"/>
          <a:ext cx="0" cy="0"/>
          <a:chOff x="0" y="0"/>
          <a:chExt cx="0" cy="0"/>
        </a:xfrm>
      </p:grpSpPr>
      <p:pic>
        <p:nvPicPr>
          <p:cNvPr descr="CustomerEngagement.jpg" id="1744" name="Google Shape;1744;p110"/>
          <p:cNvPicPr preferRelativeResize="0"/>
          <p:nvPr/>
        </p:nvPicPr>
        <p:blipFill rotWithShape="1">
          <a:blip r:embed="rId3">
            <a:alphaModFix/>
          </a:blip>
          <a:srcRect b="36445" l="29559" r="39324" t="9151"/>
          <a:stretch/>
        </p:blipFill>
        <p:spPr>
          <a:xfrm>
            <a:off x="5281159" y="768932"/>
            <a:ext cx="3381153" cy="3944645"/>
          </a:xfrm>
          <a:prstGeom prst="rect">
            <a:avLst/>
          </a:prstGeom>
          <a:noFill/>
          <a:ln>
            <a:noFill/>
          </a:ln>
          <a:effectLst>
            <a:outerShdw blurRad="292100" rotWithShape="0" algn="tl" dir="2700000" dist="139700">
              <a:srgbClr val="333333">
                <a:alpha val="64705"/>
              </a:srgbClr>
            </a:outerShdw>
          </a:effectLst>
        </p:spPr>
      </p:pic>
      <p:sp>
        <p:nvSpPr>
          <p:cNvPr id="1745" name="Google Shape;1745;p110"/>
          <p:cNvSpPr txBox="1"/>
          <p:nvPr>
            <p:ph type="title"/>
          </p:nvPr>
        </p:nvSpPr>
        <p:spPr>
          <a:xfrm>
            <a:off x="236897" y="173736"/>
            <a:ext cx="822960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Interaction Management</a:t>
            </a:r>
            <a:br>
              <a:rPr lang="en-GB"/>
            </a:br>
            <a:endParaRPr/>
          </a:p>
        </p:txBody>
      </p:sp>
      <p:sp>
        <p:nvSpPr>
          <p:cNvPr id="1746" name="Google Shape;1746;p110"/>
          <p:cNvSpPr/>
          <p:nvPr/>
        </p:nvSpPr>
        <p:spPr>
          <a:xfrm>
            <a:off x="286016" y="2246919"/>
            <a:ext cx="4664217" cy="2597634"/>
          </a:xfrm>
          <a:prstGeom prst="rect">
            <a:avLst/>
          </a:prstGeom>
          <a:noFill/>
          <a:ln>
            <a:noFill/>
          </a:ln>
        </p:spPr>
        <p:txBody>
          <a:bodyPr anchorCtr="0" anchor="t" bIns="45700" lIns="91425" spcFirstLastPara="1" rIns="91425" wrap="square" tIns="45700">
            <a:noAutofit/>
          </a:bodyPr>
          <a:lstStyle/>
          <a:p>
            <a:pPr indent="0" lvl="0" marL="0" marR="0" rtl="0" algn="l">
              <a:lnSpc>
                <a:spcPct val="110000"/>
              </a:lnSpc>
              <a:spcBef>
                <a:spcPts val="0"/>
              </a:spcBef>
              <a:spcAft>
                <a:spcPts val="0"/>
              </a:spcAft>
              <a:buNone/>
            </a:pPr>
            <a:r>
              <a:rPr lang="en-GB" sz="1800">
                <a:solidFill>
                  <a:schemeClr val="dk2"/>
                </a:solidFill>
                <a:latin typeface="Century Gothic"/>
                <a:ea typeface="Century Gothic"/>
                <a:cs typeface="Century Gothic"/>
                <a:sym typeface="Century Gothic"/>
              </a:rPr>
              <a:t>Why is it important</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Customers expect a relevant, seamless experience and that companies will know them wherever they engage.</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An efficient marketing process is required to drive sales, to optimize customer experience, reduce effort, and improve customer loyalty</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Companies need to reduce the time from idea, to strategy to insights, and to execution. </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Companies need to coordinate and  automate customer contacts and messaging across channels </a:t>
            </a:r>
            <a:endParaRPr sz="1300">
              <a:solidFill>
                <a:schemeClr val="dk1"/>
              </a:solidFill>
              <a:latin typeface="Century Gothic"/>
              <a:ea typeface="Century Gothic"/>
              <a:cs typeface="Century Gothic"/>
              <a:sym typeface="Century Gothic"/>
            </a:endParaRPr>
          </a:p>
        </p:txBody>
      </p:sp>
      <p:sp>
        <p:nvSpPr>
          <p:cNvPr id="1747" name="Google Shape;1747;p110"/>
          <p:cNvSpPr/>
          <p:nvPr/>
        </p:nvSpPr>
        <p:spPr>
          <a:xfrm>
            <a:off x="0" y="764641"/>
            <a:ext cx="7205662" cy="1223647"/>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lang="en-GB" sz="1500">
                <a:solidFill>
                  <a:srgbClr val="FFFFFF"/>
                </a:solidFill>
                <a:latin typeface="Century Gothic"/>
                <a:ea typeface="Century Gothic"/>
                <a:cs typeface="Century Gothic"/>
                <a:sym typeface="Century Gothic"/>
              </a:rPr>
              <a:t>Customer Interaction Management delivers revenue and business efficiency by providing </a:t>
            </a:r>
            <a:r>
              <a:rPr lang="en-GB" sz="1500">
                <a:solidFill>
                  <a:schemeClr val="lt1"/>
                </a:solidFill>
                <a:latin typeface="Century Gothic"/>
                <a:ea typeface="Century Gothic"/>
                <a:cs typeface="Century Gothic"/>
                <a:sym typeface="Century Gothic"/>
              </a:rPr>
              <a:t>consistent, engaging and relevant experiences for customers.</a:t>
            </a:r>
            <a:endParaRPr sz="1500">
              <a:solidFill>
                <a:schemeClr val="lt1"/>
              </a:solidFill>
              <a:latin typeface="Century Gothic"/>
              <a:ea typeface="Century Gothic"/>
              <a:cs typeface="Century Gothic"/>
              <a:sym typeface="Century Gothic"/>
            </a:endParaRPr>
          </a:p>
        </p:txBody>
      </p:sp>
      <p:sp>
        <p:nvSpPr>
          <p:cNvPr id="1748" name="Google Shape;1748;p110">
            <a:hlinkClick action="ppaction://hlinksldjump" r:id="rId4"/>
          </p:cNvPr>
          <p:cNvSpPr/>
          <p:nvPr/>
        </p:nvSpPr>
        <p:spPr>
          <a:xfrm>
            <a:off x="6515100"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52" name="Shape 1752"/>
        <p:cNvGrpSpPr/>
        <p:nvPr/>
      </p:nvGrpSpPr>
      <p:grpSpPr>
        <a:xfrm>
          <a:off x="0" y="0"/>
          <a:ext cx="0" cy="0"/>
          <a:chOff x="0" y="0"/>
          <a:chExt cx="0" cy="0"/>
        </a:xfrm>
      </p:grpSpPr>
      <p:sp>
        <p:nvSpPr>
          <p:cNvPr id="1753" name="Google Shape;1753;p111"/>
          <p:cNvSpPr txBox="1"/>
          <p:nvPr>
            <p:ph idx="1" type="body"/>
          </p:nvPr>
        </p:nvSpPr>
        <p:spPr>
          <a:xfrm>
            <a:off x="467360" y="852530"/>
            <a:ext cx="4710650" cy="3986424"/>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How – Capability Areas</a:t>
            </a:r>
            <a:endParaRPr/>
          </a:p>
          <a:p>
            <a:pPr indent="0" lvl="0" marL="0" rtl="0" algn="l">
              <a:lnSpc>
                <a:spcPct val="95000"/>
              </a:lnSpc>
              <a:spcBef>
                <a:spcPts val="800"/>
              </a:spcBef>
              <a:spcAft>
                <a:spcPts val="0"/>
              </a:spcAft>
              <a:buClr>
                <a:schemeClr val="dk1"/>
              </a:buClr>
              <a:buSzPts val="1200"/>
              <a:buNone/>
            </a:pPr>
            <a:r>
              <a:rPr b="1" lang="en-GB" sz="1200"/>
              <a:t>Communication Targeting </a:t>
            </a:r>
            <a:r>
              <a:rPr lang="en-GB" sz="1100"/>
              <a:t>creating a best practice framework for targeting customer communications</a:t>
            </a:r>
            <a:endParaRPr sz="1100"/>
          </a:p>
          <a:p>
            <a:pPr indent="0" lvl="0" marL="0" rtl="0" algn="l">
              <a:lnSpc>
                <a:spcPct val="95000"/>
              </a:lnSpc>
              <a:spcBef>
                <a:spcPts val="800"/>
              </a:spcBef>
              <a:spcAft>
                <a:spcPts val="0"/>
              </a:spcAft>
              <a:buClr>
                <a:schemeClr val="dk1"/>
              </a:buClr>
              <a:buSzPts val="1200"/>
              <a:buNone/>
            </a:pPr>
            <a:r>
              <a:rPr b="1" lang="en-GB" sz="1200"/>
              <a:t>Contact Optimization </a:t>
            </a:r>
            <a:r>
              <a:rPr lang="en-GB" sz="1100"/>
              <a:t>creating a contact policy framework to regulate the interactions and contacts to customers </a:t>
            </a:r>
            <a:endParaRPr b="1" sz="1200"/>
          </a:p>
          <a:p>
            <a:pPr indent="0" lvl="0" marL="0" rtl="0" algn="l">
              <a:lnSpc>
                <a:spcPct val="95000"/>
              </a:lnSpc>
              <a:spcBef>
                <a:spcPts val="800"/>
              </a:spcBef>
              <a:spcAft>
                <a:spcPts val="0"/>
              </a:spcAft>
              <a:buClr>
                <a:schemeClr val="dk1"/>
              </a:buClr>
              <a:buSzPts val="1200"/>
              <a:buNone/>
            </a:pPr>
            <a:r>
              <a:rPr b="1" lang="en-GB" sz="1200"/>
              <a:t>Response Optimization </a:t>
            </a:r>
            <a:r>
              <a:rPr lang="en-GB" sz="1100"/>
              <a:t>optimizing marketing campaigns to achieve the highest response and conversion rates</a:t>
            </a:r>
            <a:endParaRPr/>
          </a:p>
          <a:p>
            <a:pPr indent="0" lvl="0" marL="0" rtl="0" algn="l">
              <a:lnSpc>
                <a:spcPct val="95000"/>
              </a:lnSpc>
              <a:spcBef>
                <a:spcPts val="800"/>
              </a:spcBef>
              <a:spcAft>
                <a:spcPts val="0"/>
              </a:spcAft>
              <a:buClr>
                <a:schemeClr val="dk1"/>
              </a:buClr>
              <a:buSzPts val="1200"/>
              <a:buNone/>
            </a:pPr>
            <a:r>
              <a:rPr b="1" lang="en-GB" sz="1200"/>
              <a:t>Cross Channel Customer Experience </a:t>
            </a:r>
            <a:r>
              <a:rPr lang="en-GB" sz="1100"/>
              <a:t>developing appropriate and cost effective cross channel communication and interactions </a:t>
            </a:r>
            <a:endParaRPr/>
          </a:p>
          <a:p>
            <a:pPr indent="0" lvl="0" marL="0" rtl="0" algn="l">
              <a:lnSpc>
                <a:spcPct val="95000"/>
              </a:lnSpc>
              <a:spcBef>
                <a:spcPts val="800"/>
              </a:spcBef>
              <a:spcAft>
                <a:spcPts val="0"/>
              </a:spcAft>
              <a:buClr>
                <a:schemeClr val="dk1"/>
              </a:buClr>
              <a:buSzPts val="1200"/>
              <a:buNone/>
            </a:pPr>
            <a:r>
              <a:rPr b="1" lang="en-GB" sz="1200"/>
              <a:t>Contextual Decisioning </a:t>
            </a:r>
            <a:r>
              <a:rPr lang="en-GB" sz="1100"/>
              <a:t>making interactions more relevant by considering other events over space and time as context of the customer interaction</a:t>
            </a:r>
            <a:endParaRPr/>
          </a:p>
          <a:p>
            <a:pPr indent="0" lvl="0" marL="0" rtl="0" algn="l">
              <a:lnSpc>
                <a:spcPct val="95000"/>
              </a:lnSpc>
              <a:spcBef>
                <a:spcPts val="800"/>
              </a:spcBef>
              <a:spcAft>
                <a:spcPts val="0"/>
              </a:spcAft>
              <a:buClr>
                <a:schemeClr val="dk1"/>
              </a:buClr>
              <a:buSzPts val="1200"/>
              <a:buNone/>
            </a:pPr>
            <a:r>
              <a:rPr b="1" lang="en-GB" sz="1200"/>
              <a:t>Call/Contact Center </a:t>
            </a:r>
            <a:r>
              <a:rPr lang="en-GB" sz="1200"/>
              <a:t>optimizationing </a:t>
            </a:r>
            <a:r>
              <a:rPr lang="en-GB" sz="1100"/>
              <a:t>Increase the first call resolution and reduce customers returning calls on same topic</a:t>
            </a:r>
            <a:endParaRPr/>
          </a:p>
          <a:p>
            <a:pPr indent="0" lvl="0" marL="0" rtl="0" algn="l">
              <a:lnSpc>
                <a:spcPct val="95000"/>
              </a:lnSpc>
              <a:spcBef>
                <a:spcPts val="800"/>
              </a:spcBef>
              <a:spcAft>
                <a:spcPts val="0"/>
              </a:spcAft>
              <a:buClr>
                <a:schemeClr val="dk1"/>
              </a:buClr>
              <a:buSzPts val="1200"/>
              <a:buNone/>
            </a:pPr>
            <a:r>
              <a:rPr b="1" lang="en-GB" sz="1200"/>
              <a:t>Digital Optimization </a:t>
            </a:r>
            <a:r>
              <a:rPr lang="en-GB" sz="1100"/>
              <a:t>Using customers’ on-line journey’s and browsing behaviors to streamline website and mobile app navigation </a:t>
            </a:r>
            <a:endParaRPr/>
          </a:p>
          <a:p>
            <a:pPr indent="0" lvl="0" marL="0" rtl="0" algn="l">
              <a:lnSpc>
                <a:spcPct val="110000"/>
              </a:lnSpc>
              <a:spcBef>
                <a:spcPts val="800"/>
              </a:spcBef>
              <a:spcAft>
                <a:spcPts val="0"/>
              </a:spcAft>
              <a:buClr>
                <a:schemeClr val="dk1"/>
              </a:buClr>
              <a:buSzPts val="1100"/>
              <a:buNone/>
            </a:pPr>
            <a:r>
              <a:t/>
            </a:r>
            <a:endParaRPr sz="1100"/>
          </a:p>
          <a:p>
            <a:pPr indent="0" lvl="0" marL="0" rtl="0" algn="l">
              <a:lnSpc>
                <a:spcPct val="110000"/>
              </a:lnSpc>
              <a:spcBef>
                <a:spcPts val="800"/>
              </a:spcBef>
              <a:spcAft>
                <a:spcPts val="0"/>
              </a:spcAft>
              <a:buClr>
                <a:schemeClr val="dk1"/>
              </a:buClr>
              <a:buSzPts val="1100"/>
              <a:buNone/>
            </a:pPr>
            <a:r>
              <a:t/>
            </a:r>
            <a:endParaRPr sz="1100"/>
          </a:p>
          <a:p>
            <a:pPr indent="-153987" lvl="1" marL="515938" rtl="0" algn="l">
              <a:lnSpc>
                <a:spcPct val="110000"/>
              </a:lnSpc>
              <a:spcBef>
                <a:spcPts val="400"/>
              </a:spcBef>
              <a:spcAft>
                <a:spcPts val="0"/>
              </a:spcAft>
              <a:buClr>
                <a:schemeClr val="dk1"/>
              </a:buClr>
              <a:buSzPts val="1200"/>
              <a:buNone/>
            </a:pPr>
            <a:r>
              <a:t/>
            </a:r>
            <a:endParaRPr sz="1200"/>
          </a:p>
          <a:p>
            <a:pPr indent="-153987" lvl="1" marL="515938" rtl="0" algn="l">
              <a:lnSpc>
                <a:spcPct val="110000"/>
              </a:lnSpc>
              <a:spcBef>
                <a:spcPts val="400"/>
              </a:spcBef>
              <a:spcAft>
                <a:spcPts val="0"/>
              </a:spcAft>
              <a:buClr>
                <a:schemeClr val="dk1"/>
              </a:buClr>
              <a:buSzPts val="1200"/>
              <a:buNone/>
            </a:pPr>
            <a:r>
              <a:t/>
            </a:r>
            <a:endParaRPr sz="1200"/>
          </a:p>
        </p:txBody>
      </p:sp>
      <p:sp>
        <p:nvSpPr>
          <p:cNvPr id="1754" name="Google Shape;1754;p111"/>
          <p:cNvSpPr txBox="1"/>
          <p:nvPr>
            <p:ph type="title"/>
          </p:nvPr>
        </p:nvSpPr>
        <p:spPr>
          <a:xfrm>
            <a:off x="477880" y="174273"/>
            <a:ext cx="5435240" cy="704088"/>
          </a:xfrm>
          <a:prstGeom prst="rect">
            <a:avLst/>
          </a:prstGeom>
          <a:noFill/>
          <a:ln>
            <a:noFill/>
          </a:ln>
        </p:spPr>
        <p:txBody>
          <a:bodyPr anchorCtr="0" anchor="ctr"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Interaction Management</a:t>
            </a:r>
            <a:endParaRPr/>
          </a:p>
        </p:txBody>
      </p:sp>
      <p:pic>
        <p:nvPicPr>
          <p:cNvPr descr="CustomerEngagement.jpg" id="1755" name="Google Shape;1755;p111"/>
          <p:cNvPicPr preferRelativeResize="0"/>
          <p:nvPr/>
        </p:nvPicPr>
        <p:blipFill rotWithShape="1">
          <a:blip r:embed="rId3">
            <a:alphaModFix/>
          </a:blip>
          <a:srcRect b="36445" l="29559" r="39324" t="9151"/>
          <a:stretch/>
        </p:blipFill>
        <p:spPr>
          <a:xfrm>
            <a:off x="5281159" y="768932"/>
            <a:ext cx="3381153" cy="3944645"/>
          </a:xfrm>
          <a:prstGeom prst="rect">
            <a:avLst/>
          </a:prstGeom>
          <a:noFill/>
          <a:ln>
            <a:noFill/>
          </a:ln>
          <a:effectLst>
            <a:outerShdw blurRad="292100" rotWithShape="0" algn="tl" dir="2700000" dist="139700">
              <a:srgbClr val="333333">
                <a:alpha val="64705"/>
              </a:srgbClr>
            </a:outerShdw>
          </a:effectLst>
        </p:spPr>
      </p:pic>
      <p:sp>
        <p:nvSpPr>
          <p:cNvPr id="1756" name="Google Shape;1756;p111">
            <a:hlinkClick action="ppaction://hlinksldjump" r:id="rId4"/>
          </p:cNvPr>
          <p:cNvSpPr/>
          <p:nvPr/>
        </p:nvSpPr>
        <p:spPr>
          <a:xfrm>
            <a:off x="6515100"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60" name="Shape 1760"/>
        <p:cNvGrpSpPr/>
        <p:nvPr/>
      </p:nvGrpSpPr>
      <p:grpSpPr>
        <a:xfrm>
          <a:off x="0" y="0"/>
          <a:ext cx="0" cy="0"/>
          <a:chOff x="0" y="0"/>
          <a:chExt cx="0" cy="0"/>
        </a:xfrm>
      </p:grpSpPr>
      <p:sp>
        <p:nvSpPr>
          <p:cNvPr id="1761" name="Google Shape;1761;p112"/>
          <p:cNvSpPr txBox="1"/>
          <p:nvPr>
            <p:ph idx="1" type="body"/>
          </p:nvPr>
        </p:nvSpPr>
        <p:spPr>
          <a:xfrm>
            <a:off x="467360" y="852530"/>
            <a:ext cx="4710650" cy="3986424"/>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How – Capability Areas</a:t>
            </a:r>
            <a:endParaRPr/>
          </a:p>
          <a:p>
            <a:pPr indent="0" lvl="0" marL="0" rtl="0" algn="l">
              <a:lnSpc>
                <a:spcPct val="95000"/>
              </a:lnSpc>
              <a:spcBef>
                <a:spcPts val="800"/>
              </a:spcBef>
              <a:spcAft>
                <a:spcPts val="0"/>
              </a:spcAft>
              <a:buClr>
                <a:schemeClr val="dk1"/>
              </a:buClr>
              <a:buSzPts val="1200"/>
              <a:buNone/>
            </a:pPr>
            <a:r>
              <a:rPr b="1" lang="en-GB" sz="1200"/>
              <a:t>Search Engine Optimization </a:t>
            </a:r>
            <a:r>
              <a:rPr lang="en-GB" sz="1200"/>
              <a:t>i</a:t>
            </a:r>
            <a:r>
              <a:rPr lang="en-GB" sz="1100"/>
              <a:t>mproving  relevancy of web site search results to drive higher conversion</a:t>
            </a:r>
            <a:endParaRPr sz="1200"/>
          </a:p>
          <a:p>
            <a:pPr indent="0" lvl="0" marL="0" rtl="0" algn="l">
              <a:lnSpc>
                <a:spcPct val="95000"/>
              </a:lnSpc>
              <a:spcBef>
                <a:spcPts val="800"/>
              </a:spcBef>
              <a:spcAft>
                <a:spcPts val="0"/>
              </a:spcAft>
              <a:buClr>
                <a:schemeClr val="dk1"/>
              </a:buClr>
              <a:buSzPts val="1200"/>
              <a:buNone/>
            </a:pPr>
            <a:r>
              <a:rPr b="1" lang="en-GB" sz="1200"/>
              <a:t>Personalization </a:t>
            </a:r>
            <a:r>
              <a:rPr lang="en-GB" sz="1100"/>
              <a:t>Move from mass customisation of communication (based on broad segments)  to 1to 1 personalisation of customer communications using individual customer data</a:t>
            </a:r>
            <a:endParaRPr i="1" sz="1100">
              <a:solidFill>
                <a:schemeClr val="accent1"/>
              </a:solidFill>
            </a:endParaRPr>
          </a:p>
          <a:p>
            <a:pPr indent="0" lvl="0" marL="0" rtl="0" algn="l">
              <a:lnSpc>
                <a:spcPct val="95000"/>
              </a:lnSpc>
              <a:spcBef>
                <a:spcPts val="800"/>
              </a:spcBef>
              <a:spcAft>
                <a:spcPts val="0"/>
              </a:spcAft>
              <a:buClr>
                <a:schemeClr val="dk1"/>
              </a:buClr>
              <a:buSzPts val="1200"/>
              <a:buNone/>
            </a:pPr>
            <a:r>
              <a:rPr b="1" lang="en-GB" sz="1200"/>
              <a:t>Next Best Action Arbitration </a:t>
            </a:r>
            <a:r>
              <a:rPr lang="en-GB" sz="1100"/>
              <a:t>determining the next best action for a customer when they interact with the company</a:t>
            </a:r>
            <a:endParaRPr/>
          </a:p>
          <a:p>
            <a:pPr indent="0" lvl="0" marL="0" rtl="0" algn="l">
              <a:lnSpc>
                <a:spcPct val="95000"/>
              </a:lnSpc>
              <a:spcBef>
                <a:spcPts val="800"/>
              </a:spcBef>
              <a:spcAft>
                <a:spcPts val="0"/>
              </a:spcAft>
              <a:buClr>
                <a:schemeClr val="dk1"/>
              </a:buClr>
              <a:buSzPts val="1200"/>
              <a:buNone/>
            </a:pPr>
            <a:r>
              <a:rPr b="1" lang="en-GB" sz="1200"/>
              <a:t>Product Recommendations </a:t>
            </a:r>
            <a:r>
              <a:rPr lang="en-GB" sz="1100"/>
              <a:t>presenting the most relevant product recommendation(s) based upon a customer/prospects interactions and previous behaviour</a:t>
            </a:r>
            <a:endParaRPr/>
          </a:p>
          <a:p>
            <a:pPr indent="0" lvl="0" marL="0" rtl="0" algn="l">
              <a:lnSpc>
                <a:spcPct val="95000"/>
              </a:lnSpc>
              <a:spcBef>
                <a:spcPts val="800"/>
              </a:spcBef>
              <a:spcAft>
                <a:spcPts val="0"/>
              </a:spcAft>
              <a:buClr>
                <a:schemeClr val="dk1"/>
              </a:buClr>
              <a:buSzPts val="1200"/>
              <a:buNone/>
            </a:pPr>
            <a:r>
              <a:rPr b="1" lang="en-GB" sz="1200"/>
              <a:t>Multi Step Campaign </a:t>
            </a:r>
            <a:r>
              <a:rPr lang="en-GB" sz="1100"/>
              <a:t>creating relevant 2-way dialogues  with customers by determining next interaction based on outcome of previous  interactions</a:t>
            </a:r>
            <a:endParaRPr/>
          </a:p>
          <a:p>
            <a:pPr indent="0" lvl="0" marL="0" rtl="0" algn="l">
              <a:lnSpc>
                <a:spcPct val="95000"/>
              </a:lnSpc>
              <a:spcBef>
                <a:spcPts val="800"/>
              </a:spcBef>
              <a:spcAft>
                <a:spcPts val="0"/>
              </a:spcAft>
              <a:buClr>
                <a:schemeClr val="dk1"/>
              </a:buClr>
              <a:buSzPts val="1200"/>
              <a:buNone/>
            </a:pPr>
            <a:r>
              <a:rPr b="1" lang="en-GB" sz="1200"/>
              <a:t>Marketing Effectiveness </a:t>
            </a:r>
            <a:r>
              <a:rPr lang="en-GB" sz="1200"/>
              <a:t>analyzing the impact a specific campaign  or groups of campaigns against the goal for the campaign and utilize that information to improve the results of future campaigns</a:t>
            </a:r>
            <a:endParaRPr sz="1200"/>
          </a:p>
          <a:p>
            <a:pPr indent="-153987" lvl="1" marL="515938" rtl="0" algn="l">
              <a:lnSpc>
                <a:spcPct val="110000"/>
              </a:lnSpc>
              <a:spcBef>
                <a:spcPts val="400"/>
              </a:spcBef>
              <a:spcAft>
                <a:spcPts val="0"/>
              </a:spcAft>
              <a:buClr>
                <a:schemeClr val="dk1"/>
              </a:buClr>
              <a:buSzPts val="1200"/>
              <a:buNone/>
            </a:pPr>
            <a:r>
              <a:t/>
            </a:r>
            <a:endParaRPr sz="1200"/>
          </a:p>
        </p:txBody>
      </p:sp>
      <p:sp>
        <p:nvSpPr>
          <p:cNvPr id="1762" name="Google Shape;1762;p112"/>
          <p:cNvSpPr txBox="1"/>
          <p:nvPr>
            <p:ph type="title"/>
          </p:nvPr>
        </p:nvSpPr>
        <p:spPr>
          <a:xfrm>
            <a:off x="477880" y="174273"/>
            <a:ext cx="5435240" cy="704088"/>
          </a:xfrm>
          <a:prstGeom prst="rect">
            <a:avLst/>
          </a:prstGeom>
          <a:noFill/>
          <a:ln>
            <a:noFill/>
          </a:ln>
        </p:spPr>
        <p:txBody>
          <a:bodyPr anchorCtr="0" anchor="ctr"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Interaction Management</a:t>
            </a:r>
            <a:endParaRPr/>
          </a:p>
        </p:txBody>
      </p:sp>
      <p:pic>
        <p:nvPicPr>
          <p:cNvPr descr="CustomerEngagement.jpg" id="1763" name="Google Shape;1763;p112"/>
          <p:cNvPicPr preferRelativeResize="0"/>
          <p:nvPr/>
        </p:nvPicPr>
        <p:blipFill rotWithShape="1">
          <a:blip r:embed="rId3">
            <a:alphaModFix/>
          </a:blip>
          <a:srcRect b="36445" l="29559" r="39324" t="9151"/>
          <a:stretch/>
        </p:blipFill>
        <p:spPr>
          <a:xfrm>
            <a:off x="5281159" y="768932"/>
            <a:ext cx="3381153" cy="3944645"/>
          </a:xfrm>
          <a:prstGeom prst="rect">
            <a:avLst/>
          </a:prstGeom>
          <a:noFill/>
          <a:ln>
            <a:noFill/>
          </a:ln>
          <a:effectLst>
            <a:outerShdw blurRad="292100" rotWithShape="0" algn="tl" dir="2700000" dist="139700">
              <a:srgbClr val="333333">
                <a:alpha val="64705"/>
              </a:srgbClr>
            </a:outerShdw>
          </a:effectLst>
        </p:spPr>
      </p:pic>
      <p:sp>
        <p:nvSpPr>
          <p:cNvPr id="1764" name="Google Shape;1764;p112">
            <a:hlinkClick action="ppaction://hlinksldjump" r:id="rId4"/>
          </p:cNvPr>
          <p:cNvSpPr/>
          <p:nvPr/>
        </p:nvSpPr>
        <p:spPr>
          <a:xfrm>
            <a:off x="6515100"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68" name="Shape 1768"/>
        <p:cNvGrpSpPr/>
        <p:nvPr/>
      </p:nvGrpSpPr>
      <p:grpSpPr>
        <a:xfrm>
          <a:off x="0" y="0"/>
          <a:ext cx="0" cy="0"/>
          <a:chOff x="0" y="0"/>
          <a:chExt cx="0" cy="0"/>
        </a:xfrm>
      </p:grpSpPr>
      <p:sp>
        <p:nvSpPr>
          <p:cNvPr id="1769" name="Google Shape;1769;p113"/>
          <p:cNvSpPr txBox="1"/>
          <p:nvPr>
            <p:ph idx="1" type="body"/>
          </p:nvPr>
        </p:nvSpPr>
        <p:spPr>
          <a:xfrm>
            <a:off x="467360" y="852530"/>
            <a:ext cx="4710650" cy="3986424"/>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How – Capability Areas</a:t>
            </a:r>
            <a:endParaRPr/>
          </a:p>
          <a:p>
            <a:pPr indent="0" lvl="0" marL="0" rtl="0" algn="l">
              <a:lnSpc>
                <a:spcPct val="95000"/>
              </a:lnSpc>
              <a:spcBef>
                <a:spcPts val="800"/>
              </a:spcBef>
              <a:spcAft>
                <a:spcPts val="0"/>
              </a:spcAft>
              <a:buClr>
                <a:schemeClr val="dk1"/>
              </a:buClr>
              <a:buSzPts val="1200"/>
              <a:buNone/>
            </a:pPr>
            <a:r>
              <a:rPr b="1" lang="en-GB" sz="1200"/>
              <a:t>Marketing Attribution </a:t>
            </a:r>
            <a:r>
              <a:rPr lang="en-GB" sz="1100"/>
              <a:t>Analyze  customer path to conversion  to determine the impact  of interactions  on conversion and  attribute the value of each interaction to sales, or some other specific conversion type</a:t>
            </a:r>
            <a:endParaRPr sz="1100"/>
          </a:p>
          <a:p>
            <a:pPr indent="0" lvl="0" marL="0" rtl="0" algn="l">
              <a:lnSpc>
                <a:spcPct val="95000"/>
              </a:lnSpc>
              <a:spcBef>
                <a:spcPts val="800"/>
              </a:spcBef>
              <a:spcAft>
                <a:spcPts val="0"/>
              </a:spcAft>
              <a:buClr>
                <a:schemeClr val="dk1"/>
              </a:buClr>
              <a:buSzPts val="1200"/>
              <a:buNone/>
            </a:pPr>
            <a:r>
              <a:rPr b="1" lang="en-GB" sz="1200"/>
              <a:t>Brand Analytics </a:t>
            </a:r>
            <a:r>
              <a:rPr lang="en-GB" sz="1100"/>
              <a:t>Quantify the impact of a company’s brand on marketing and company performance</a:t>
            </a:r>
            <a:endParaRPr/>
          </a:p>
          <a:p>
            <a:pPr indent="0" lvl="0" marL="0" rtl="0" algn="l">
              <a:lnSpc>
                <a:spcPct val="95000"/>
              </a:lnSpc>
              <a:spcBef>
                <a:spcPts val="800"/>
              </a:spcBef>
              <a:spcAft>
                <a:spcPts val="0"/>
              </a:spcAft>
              <a:buClr>
                <a:schemeClr val="dk1"/>
              </a:buClr>
              <a:buSzPts val="1100"/>
              <a:buNone/>
            </a:pPr>
            <a:r>
              <a:t/>
            </a:r>
            <a:endParaRPr i="1" sz="1100">
              <a:solidFill>
                <a:schemeClr val="accent1"/>
              </a:solidFill>
            </a:endParaRPr>
          </a:p>
          <a:p>
            <a:pPr indent="0" lvl="0" marL="0" rtl="0" algn="l">
              <a:lnSpc>
                <a:spcPct val="110000"/>
              </a:lnSpc>
              <a:spcBef>
                <a:spcPts val="800"/>
              </a:spcBef>
              <a:spcAft>
                <a:spcPts val="0"/>
              </a:spcAft>
              <a:buClr>
                <a:schemeClr val="dk1"/>
              </a:buClr>
              <a:buSzPts val="1100"/>
              <a:buNone/>
            </a:pPr>
            <a:r>
              <a:t/>
            </a:r>
            <a:endParaRPr sz="1100"/>
          </a:p>
          <a:p>
            <a:pPr indent="0" lvl="0" marL="0" rtl="0" algn="l">
              <a:lnSpc>
                <a:spcPct val="110000"/>
              </a:lnSpc>
              <a:spcBef>
                <a:spcPts val="800"/>
              </a:spcBef>
              <a:spcAft>
                <a:spcPts val="0"/>
              </a:spcAft>
              <a:buClr>
                <a:schemeClr val="dk1"/>
              </a:buClr>
              <a:buSzPts val="1100"/>
              <a:buNone/>
            </a:pPr>
            <a:r>
              <a:t/>
            </a:r>
            <a:endParaRPr sz="1100"/>
          </a:p>
          <a:p>
            <a:pPr indent="-153987" lvl="1" marL="515938" rtl="0" algn="l">
              <a:lnSpc>
                <a:spcPct val="110000"/>
              </a:lnSpc>
              <a:spcBef>
                <a:spcPts val="400"/>
              </a:spcBef>
              <a:spcAft>
                <a:spcPts val="0"/>
              </a:spcAft>
              <a:buClr>
                <a:schemeClr val="dk1"/>
              </a:buClr>
              <a:buSzPts val="1200"/>
              <a:buNone/>
            </a:pPr>
            <a:r>
              <a:t/>
            </a:r>
            <a:endParaRPr sz="1200"/>
          </a:p>
          <a:p>
            <a:pPr indent="-153987" lvl="1" marL="515938" rtl="0" algn="l">
              <a:lnSpc>
                <a:spcPct val="110000"/>
              </a:lnSpc>
              <a:spcBef>
                <a:spcPts val="400"/>
              </a:spcBef>
              <a:spcAft>
                <a:spcPts val="0"/>
              </a:spcAft>
              <a:buClr>
                <a:schemeClr val="dk1"/>
              </a:buClr>
              <a:buSzPts val="1200"/>
              <a:buNone/>
            </a:pPr>
            <a:r>
              <a:t/>
            </a:r>
            <a:endParaRPr sz="1200"/>
          </a:p>
        </p:txBody>
      </p:sp>
      <p:sp>
        <p:nvSpPr>
          <p:cNvPr id="1770" name="Google Shape;1770;p113"/>
          <p:cNvSpPr txBox="1"/>
          <p:nvPr>
            <p:ph type="title"/>
          </p:nvPr>
        </p:nvSpPr>
        <p:spPr>
          <a:xfrm>
            <a:off x="477880" y="174273"/>
            <a:ext cx="5435240" cy="704088"/>
          </a:xfrm>
          <a:prstGeom prst="rect">
            <a:avLst/>
          </a:prstGeom>
          <a:noFill/>
          <a:ln>
            <a:noFill/>
          </a:ln>
        </p:spPr>
        <p:txBody>
          <a:bodyPr anchorCtr="0" anchor="ctr"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Interaction Management</a:t>
            </a:r>
            <a:endParaRPr/>
          </a:p>
        </p:txBody>
      </p:sp>
      <p:pic>
        <p:nvPicPr>
          <p:cNvPr descr="CustomerEngagement.jpg" id="1771" name="Google Shape;1771;p113"/>
          <p:cNvPicPr preferRelativeResize="0"/>
          <p:nvPr/>
        </p:nvPicPr>
        <p:blipFill rotWithShape="1">
          <a:blip r:embed="rId3">
            <a:alphaModFix/>
          </a:blip>
          <a:srcRect b="36445" l="29559" r="39324" t="9151"/>
          <a:stretch/>
        </p:blipFill>
        <p:spPr>
          <a:xfrm>
            <a:off x="5281159" y="768932"/>
            <a:ext cx="3381153" cy="3944645"/>
          </a:xfrm>
          <a:prstGeom prst="rect">
            <a:avLst/>
          </a:prstGeom>
          <a:noFill/>
          <a:ln>
            <a:noFill/>
          </a:ln>
          <a:effectLst>
            <a:outerShdw blurRad="292100" rotWithShape="0" algn="tl" dir="2700000" dist="139700">
              <a:srgbClr val="333333">
                <a:alpha val="64705"/>
              </a:srgbClr>
            </a:outerShdw>
          </a:effectLst>
        </p:spPr>
      </p:pic>
      <p:sp>
        <p:nvSpPr>
          <p:cNvPr id="1772" name="Google Shape;1772;p113">
            <a:hlinkClick action="ppaction://hlinksldjump" r:id="rId4"/>
          </p:cNvPr>
          <p:cNvSpPr/>
          <p:nvPr/>
        </p:nvSpPr>
        <p:spPr>
          <a:xfrm>
            <a:off x="6515100"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77" name="Shape 1777"/>
        <p:cNvGrpSpPr/>
        <p:nvPr/>
      </p:nvGrpSpPr>
      <p:grpSpPr>
        <a:xfrm>
          <a:off x="0" y="0"/>
          <a:ext cx="0" cy="0"/>
          <a:chOff x="0" y="0"/>
          <a:chExt cx="0" cy="0"/>
        </a:xfrm>
      </p:grpSpPr>
      <p:cxnSp>
        <p:nvCxnSpPr>
          <p:cNvPr id="1778" name="Google Shape;1778;p11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779" name="Google Shape;1779;p11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
        <p:nvSpPr>
          <p:cNvPr id="1780" name="Google Shape;1780;p11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Communication Targeting</a:t>
            </a:r>
            <a:endParaRPr/>
          </a:p>
        </p:txBody>
      </p:sp>
      <p:graphicFrame>
        <p:nvGraphicFramePr>
          <p:cNvPr id="1781" name="Google Shape;1781;p11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Create a best practice framework</a:t>
                      </a:r>
                      <a:r>
                        <a:rPr b="1" lang="en-GB" sz="900">
                          <a:solidFill>
                            <a:schemeClr val="dk1"/>
                          </a:solidFill>
                        </a:rPr>
                        <a:t> for targeting customer communications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a standard </a:t>
                      </a:r>
                      <a:r>
                        <a:rPr b="0" lang="en-GB" sz="900">
                          <a:solidFill>
                            <a:schemeClr val="dk1"/>
                          </a:solidFill>
                        </a:rPr>
                        <a:t>definition of eligibility for channels, products and offers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Codify events, triggers and predictive selections based on insight and 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flexible, targeted audiences that can be used in campaigns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Ensure consistency is applied in the targeting of customer groups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the efficiency of campaign design, build and execution</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Detailed customer, product,</a:t>
                      </a:r>
                      <a:r>
                        <a:rPr b="0" lang="en-GB" sz="900">
                          <a:solidFill>
                            <a:schemeClr val="dk1"/>
                          </a:solidFill>
                        </a:rPr>
                        <a:t> service, contact, opt in &amp;</a:t>
                      </a:r>
                      <a:r>
                        <a:rPr b="0" lang="en-GB" sz="900">
                          <a:solidFill>
                            <a:schemeClr val="dk1"/>
                          </a:solidFill>
                        </a:rPr>
                        <a:t> channel data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Standard derived data attributes that can be used to build segments – for</a:t>
                      </a:r>
                      <a:r>
                        <a:rPr b="0" lang="en-GB" sz="900">
                          <a:solidFill>
                            <a:schemeClr val="dk1"/>
                          </a:solidFill>
                        </a:rPr>
                        <a:t> use in audience selection and application of standard exclusions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Events and triggers formatted and optimized for easy selection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Predictive model outputs formatted and optimized for easy selection </a:t>
                      </a:r>
                      <a:endParaRPr b="1" sz="900">
                        <a:solidFill>
                          <a:schemeClr val="dk1"/>
                        </a:solidFill>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Response</a:t>
                      </a:r>
                      <a:r>
                        <a:rPr b="0" lang="en-GB" sz="900">
                          <a:solidFill>
                            <a:schemeClr val="dk1"/>
                          </a:solidFill>
                        </a:rPr>
                        <a:t> analysis and attribute profiling to define optimum target segments, including time and channel type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Campaign ROI reporting to select optimum cut-offs to apply to model scores / balance thresholds etc.</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Self learning analytics to automatically optimise targeting criteria</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campaign design, build and execution from reuse of pre-built target segments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consistency of customer selection and targeting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maintenance overhead of managing existing communication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response from use of optimised target segments – refined through continuous test and learn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Savings in contact costs  driven by more precise combination of message, offer, channel and time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782" name="Google Shape;1782;p114"/>
          <p:cNvGrpSpPr/>
          <p:nvPr/>
        </p:nvGrpSpPr>
        <p:grpSpPr>
          <a:xfrm>
            <a:off x="6659508" y="225152"/>
            <a:ext cx="2432605" cy="1508418"/>
            <a:chOff x="6030133" y="723902"/>
            <a:chExt cx="2432605" cy="1508418"/>
          </a:xfrm>
        </p:grpSpPr>
        <p:sp>
          <p:nvSpPr>
            <p:cNvPr id="1783" name="Google Shape;1783;p114"/>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784" name="Google Shape;1784;p114"/>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85" name="Google Shape;1785;p114"/>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86" name="Google Shape;1786;p114"/>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87" name="Google Shape;1787;p114"/>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788" name="Google Shape;1788;p114"/>
            <p:cNvGrpSpPr/>
            <p:nvPr/>
          </p:nvGrpSpPr>
          <p:grpSpPr>
            <a:xfrm>
              <a:off x="8107751" y="1342792"/>
              <a:ext cx="276507" cy="393460"/>
              <a:chOff x="6954288" y="1678075"/>
              <a:chExt cx="679456" cy="947737"/>
            </a:xfrm>
          </p:grpSpPr>
          <p:sp>
            <p:nvSpPr>
              <p:cNvPr id="1789" name="Google Shape;1789;p114"/>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0" name="Google Shape;1790;p114"/>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1" name="Google Shape;1791;p114"/>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2" name="Google Shape;1792;p114"/>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3" name="Google Shape;1793;p114"/>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794" name="Google Shape;1794;p114"/>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95" name="Google Shape;1795;p114"/>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96" name="Google Shape;1796;p114"/>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797" name="Google Shape;1797;p114"/>
            <p:cNvGrpSpPr/>
            <p:nvPr/>
          </p:nvGrpSpPr>
          <p:grpSpPr>
            <a:xfrm>
              <a:off x="6671216" y="765814"/>
              <a:ext cx="308250" cy="494711"/>
              <a:chOff x="2125012" y="-1063625"/>
              <a:chExt cx="1420813" cy="2235201"/>
            </a:xfrm>
          </p:grpSpPr>
          <p:sp>
            <p:nvSpPr>
              <p:cNvPr id="1798" name="Google Shape;1798;p114"/>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99" name="Google Shape;1799;p114"/>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800" name="Google Shape;1800;p114"/>
            <p:cNvGrpSpPr/>
            <p:nvPr/>
          </p:nvGrpSpPr>
          <p:grpSpPr>
            <a:xfrm>
              <a:off x="7987780" y="1794063"/>
              <a:ext cx="243489" cy="387124"/>
              <a:chOff x="6417856" y="340853"/>
              <a:chExt cx="217304" cy="589385"/>
            </a:xfrm>
          </p:grpSpPr>
          <p:sp>
            <p:nvSpPr>
              <p:cNvPr id="1801" name="Google Shape;1801;p114"/>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02" name="Google Shape;1802;p114"/>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803" name="Google Shape;1803;p114"/>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804" name="Google Shape;1804;p114"/>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805" name="Google Shape;1805;p114"/>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06" name="Google Shape;1806;p114"/>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807" name="Google Shape;1807;p114"/>
          <p:cNvGrpSpPr/>
          <p:nvPr/>
        </p:nvGrpSpPr>
        <p:grpSpPr>
          <a:xfrm>
            <a:off x="7717533" y="4360377"/>
            <a:ext cx="1058348" cy="347375"/>
            <a:chOff x="7651698" y="4287227"/>
            <a:chExt cx="1058348" cy="347375"/>
          </a:xfrm>
        </p:grpSpPr>
        <p:grpSp>
          <p:nvGrpSpPr>
            <p:cNvPr id="1808" name="Google Shape;1808;p114"/>
            <p:cNvGrpSpPr/>
            <p:nvPr/>
          </p:nvGrpSpPr>
          <p:grpSpPr>
            <a:xfrm>
              <a:off x="7714163" y="4337598"/>
              <a:ext cx="995883" cy="297004"/>
              <a:chOff x="7711013" y="3986494"/>
              <a:chExt cx="995883" cy="297004"/>
            </a:xfrm>
          </p:grpSpPr>
          <p:sp>
            <p:nvSpPr>
              <p:cNvPr id="1809" name="Google Shape;1809;p11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810" name="Google Shape;1810;p114"/>
              <p:cNvGrpSpPr/>
              <p:nvPr/>
            </p:nvGrpSpPr>
            <p:grpSpPr>
              <a:xfrm>
                <a:off x="7711013" y="4002615"/>
                <a:ext cx="281520" cy="241973"/>
                <a:chOff x="5652748" y="4066000"/>
                <a:chExt cx="906498" cy="747974"/>
              </a:xfrm>
            </p:grpSpPr>
            <p:sp>
              <p:nvSpPr>
                <p:cNvPr id="1811" name="Google Shape;1811;p11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812" name="Google Shape;1812;p11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813" name="Google Shape;1813;p11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814" name="Google Shape;1814;p11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33" name="Shape 1833"/>
        <p:cNvGrpSpPr/>
        <p:nvPr/>
      </p:nvGrpSpPr>
      <p:grpSpPr>
        <a:xfrm>
          <a:off x="0" y="0"/>
          <a:ext cx="0" cy="0"/>
          <a:chOff x="0" y="0"/>
          <a:chExt cx="0" cy="0"/>
        </a:xfrm>
      </p:grpSpPr>
      <p:cxnSp>
        <p:nvCxnSpPr>
          <p:cNvPr id="1834" name="Google Shape;1834;p11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835" name="Google Shape;1835;p11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Contact Optimization</a:t>
            </a:r>
            <a:endParaRPr/>
          </a:p>
        </p:txBody>
      </p:sp>
      <p:graphicFrame>
        <p:nvGraphicFramePr>
          <p:cNvPr id="1836" name="Google Shape;1836;p116"/>
          <p:cNvGraphicFramePr/>
          <p:nvPr/>
        </p:nvGraphicFramePr>
        <p:xfrm>
          <a:off x="414866" y="98151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536600">
                <a:tc>
                  <a:txBody>
                    <a:bodyPr/>
                    <a:lstStyle/>
                    <a:p>
                      <a:pPr indent="0" lvl="0" marL="0" marR="0" rtl="0" algn="l">
                        <a:spcBef>
                          <a:spcPts val="0"/>
                        </a:spcBef>
                        <a:spcAft>
                          <a:spcPts val="0"/>
                        </a:spcAft>
                        <a:buNone/>
                      </a:pPr>
                      <a:r>
                        <a:rPr b="1" lang="en-GB" sz="900">
                          <a:solidFill>
                            <a:schemeClr val="dk1"/>
                          </a:solidFill>
                        </a:rPr>
                        <a:t>Create a contact policy framework to regulate the interactions and</a:t>
                      </a:r>
                      <a:r>
                        <a:rPr b="1" lang="en-GB" sz="900">
                          <a:solidFill>
                            <a:schemeClr val="dk1"/>
                          </a:solidFill>
                        </a:rPr>
                        <a:t> </a:t>
                      </a:r>
                      <a:r>
                        <a:rPr b="1" lang="en-GB" sz="900">
                          <a:solidFill>
                            <a:schemeClr val="dk1"/>
                          </a:solidFill>
                        </a:rPr>
                        <a:t>contacts</a:t>
                      </a:r>
                      <a:r>
                        <a:rPr b="1" lang="en-GB" sz="900">
                          <a:solidFill>
                            <a:schemeClr val="dk1"/>
                          </a:solidFill>
                        </a:rPr>
                        <a:t> </a:t>
                      </a:r>
                      <a:r>
                        <a:rPr b="1" lang="en-GB" sz="900">
                          <a:solidFill>
                            <a:schemeClr val="dk1"/>
                          </a:solidFill>
                        </a:rPr>
                        <a:t> to customers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Traditional marketing activity was</a:t>
                      </a:r>
                      <a:r>
                        <a:rPr b="0" lang="en-GB" sz="900">
                          <a:solidFill>
                            <a:schemeClr val="dk1"/>
                          </a:solidFill>
                        </a:rPr>
                        <a:t> </a:t>
                      </a:r>
                      <a:r>
                        <a:rPr b="0" lang="en-GB" sz="900">
                          <a:solidFill>
                            <a:schemeClr val="dk1"/>
                          </a:solidFill>
                        </a:rPr>
                        <a:t>product based mass market outbound contacts executed according to pre-planned and initiated agenda. In today’s customer centric world, frequency</a:t>
                      </a:r>
                      <a:r>
                        <a:rPr b="0" lang="en-GB" sz="900">
                          <a:solidFill>
                            <a:schemeClr val="dk1"/>
                          </a:solidFill>
                        </a:rPr>
                        <a:t> and recency of contacts need to match customer needs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Employ a contact policy framework to prevent re-solicitation of the same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Optimise contact based on business objectives</a:t>
                      </a:r>
                      <a:r>
                        <a:rPr b="0" lang="en-GB" sz="900">
                          <a:solidFill>
                            <a:schemeClr val="dk1"/>
                          </a:solidFill>
                        </a:rPr>
                        <a:t>, constraints and customer response</a:t>
                      </a:r>
                      <a:endParaRPr b="0" sz="900">
                        <a:solidFill>
                          <a:schemeClr val="dk1"/>
                        </a:solidFill>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Single interaction view of the customer –consolidated view of inbound and outbound contacts by channel, customer opt-in/out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Lead / offer metadata detailing timestamp of contact, product / area / activity promoted and feedback data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Customer segment / profile data used o differentiate contact rules application</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Operational process to apply contact rules based on content, channel, timeliness of offer and previous contact recency / frequency</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Ability to apply contact limiting at both a customer / subject matter level – differentiated by channel</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Ability to model the impact of applying different rule sets on activity volumes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timely customer interactions and messaging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Recency rules prevent the Customers from receiving too much activity within a short period of time – across the full range of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Frequency rules prevents the same activities being continuously solicited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Contact rules can apply longer suppression periods when customers are dis-satisfied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Contact rules applied through inbound less intrusive channels can be differentiated from outbound contacts – with shorter blackout periods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Timestamps allow determination of success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rate vs time of contact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837" name="Google Shape;1837;p116"/>
          <p:cNvGrpSpPr/>
          <p:nvPr/>
        </p:nvGrpSpPr>
        <p:grpSpPr>
          <a:xfrm>
            <a:off x="6659508" y="225152"/>
            <a:ext cx="2432605" cy="1508418"/>
            <a:chOff x="6030133" y="723902"/>
            <a:chExt cx="2432605" cy="1508418"/>
          </a:xfrm>
        </p:grpSpPr>
        <p:sp>
          <p:nvSpPr>
            <p:cNvPr id="1838" name="Google Shape;1838;p116"/>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839" name="Google Shape;1839;p116"/>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40" name="Google Shape;1840;p116"/>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41" name="Google Shape;1841;p116"/>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42" name="Google Shape;1842;p116"/>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843" name="Google Shape;1843;p116"/>
            <p:cNvGrpSpPr/>
            <p:nvPr/>
          </p:nvGrpSpPr>
          <p:grpSpPr>
            <a:xfrm>
              <a:off x="8107751" y="1342792"/>
              <a:ext cx="276507" cy="393460"/>
              <a:chOff x="6954288" y="1678075"/>
              <a:chExt cx="679456" cy="947737"/>
            </a:xfrm>
          </p:grpSpPr>
          <p:sp>
            <p:nvSpPr>
              <p:cNvPr id="1844" name="Google Shape;1844;p116"/>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5" name="Google Shape;1845;p116"/>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6" name="Google Shape;1846;p116"/>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7" name="Google Shape;1847;p116"/>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8" name="Google Shape;1848;p116"/>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849" name="Google Shape;1849;p116"/>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0" name="Google Shape;1850;p116"/>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1" name="Google Shape;1851;p116"/>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852" name="Google Shape;1852;p116"/>
            <p:cNvGrpSpPr/>
            <p:nvPr/>
          </p:nvGrpSpPr>
          <p:grpSpPr>
            <a:xfrm>
              <a:off x="6671216" y="765814"/>
              <a:ext cx="308250" cy="494711"/>
              <a:chOff x="2125012" y="-1063625"/>
              <a:chExt cx="1420813" cy="2235201"/>
            </a:xfrm>
          </p:grpSpPr>
          <p:sp>
            <p:nvSpPr>
              <p:cNvPr id="1853" name="Google Shape;1853;p116"/>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4" name="Google Shape;1854;p116"/>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855" name="Google Shape;1855;p116"/>
            <p:cNvGrpSpPr/>
            <p:nvPr/>
          </p:nvGrpSpPr>
          <p:grpSpPr>
            <a:xfrm>
              <a:off x="7987780" y="1794063"/>
              <a:ext cx="243489" cy="387124"/>
              <a:chOff x="6417856" y="340853"/>
              <a:chExt cx="217304" cy="589385"/>
            </a:xfrm>
          </p:grpSpPr>
          <p:sp>
            <p:nvSpPr>
              <p:cNvPr id="1856" name="Google Shape;1856;p116"/>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7" name="Google Shape;1857;p116"/>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858" name="Google Shape;1858;p116"/>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859" name="Google Shape;1859;p116"/>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860" name="Google Shape;1860;p116"/>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61" name="Google Shape;1861;p116"/>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862" name="Google Shape;1862;p11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1863" name="Google Shape;1863;p116"/>
          <p:cNvGrpSpPr/>
          <p:nvPr/>
        </p:nvGrpSpPr>
        <p:grpSpPr>
          <a:xfrm>
            <a:off x="7717533" y="4360377"/>
            <a:ext cx="1058348" cy="347375"/>
            <a:chOff x="7651698" y="4287227"/>
            <a:chExt cx="1058348" cy="347375"/>
          </a:xfrm>
        </p:grpSpPr>
        <p:grpSp>
          <p:nvGrpSpPr>
            <p:cNvPr id="1864" name="Google Shape;1864;p116"/>
            <p:cNvGrpSpPr/>
            <p:nvPr/>
          </p:nvGrpSpPr>
          <p:grpSpPr>
            <a:xfrm>
              <a:off x="7714163" y="4337598"/>
              <a:ext cx="995883" cy="297004"/>
              <a:chOff x="7711013" y="3986494"/>
              <a:chExt cx="995883" cy="297004"/>
            </a:xfrm>
          </p:grpSpPr>
          <p:sp>
            <p:nvSpPr>
              <p:cNvPr id="1865" name="Google Shape;1865;p11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866" name="Google Shape;1866;p116"/>
              <p:cNvGrpSpPr/>
              <p:nvPr/>
            </p:nvGrpSpPr>
            <p:grpSpPr>
              <a:xfrm>
                <a:off x="7711013" y="4002615"/>
                <a:ext cx="281520" cy="241973"/>
                <a:chOff x="5652748" y="4066000"/>
                <a:chExt cx="906498" cy="747974"/>
              </a:xfrm>
            </p:grpSpPr>
            <p:sp>
              <p:nvSpPr>
                <p:cNvPr id="1867" name="Google Shape;1867;p11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868" name="Google Shape;1868;p11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869" name="Google Shape;1869;p11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870" name="Google Shape;1870;p11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89" name="Shape 1889"/>
        <p:cNvGrpSpPr/>
        <p:nvPr/>
      </p:nvGrpSpPr>
      <p:grpSpPr>
        <a:xfrm>
          <a:off x="0" y="0"/>
          <a:ext cx="0" cy="0"/>
          <a:chOff x="0" y="0"/>
          <a:chExt cx="0" cy="0"/>
        </a:xfrm>
      </p:grpSpPr>
      <p:cxnSp>
        <p:nvCxnSpPr>
          <p:cNvPr id="1890" name="Google Shape;1890;p11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891" name="Google Shape;1891;p11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Response Optimization</a:t>
            </a:r>
            <a:endParaRPr sz="1600"/>
          </a:p>
        </p:txBody>
      </p:sp>
      <p:graphicFrame>
        <p:nvGraphicFramePr>
          <p:cNvPr id="1892" name="Google Shape;1892;p11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200">
                          <a:solidFill>
                            <a:schemeClr val="dk2"/>
                          </a:solidFill>
                          <a:latin typeface="Century Gothic"/>
                          <a:ea typeface="Century Gothic"/>
                          <a:cs typeface="Century Gothic"/>
                          <a:sym typeface="Century Gothic"/>
                        </a:rPr>
                        <a:t>Business Objectives</a:t>
                      </a:r>
                      <a:endParaRPr b="1" sz="12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i="0" lang="en-GB" sz="900" u="none" cap="none" strike="noStrike">
                          <a:solidFill>
                            <a:schemeClr val="dk1"/>
                          </a:solidFill>
                          <a:latin typeface="Century Gothic"/>
                          <a:ea typeface="Century Gothic"/>
                          <a:cs typeface="Century Gothic"/>
                          <a:sym typeface="Century Gothic"/>
                        </a:rPr>
                        <a:t>Optimize marketing campaigns to achieve the highest response and conversion rates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Optimize the response including multiple marketing levers like channel, timing, promotion, message, layout, pricing structures etc. </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Conduct a deep analytical driven A/B testing of marketing messages incl. a solid and segmented target group and a test group</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Collect  and consolidate the responses to enable tracking of the result with deep insights to customer initial and long term response to marketing campaigns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Feedback  results into subsequent campaigns and build an infinity loop of testing and tracking responses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latin typeface="Century Gothic"/>
                          <a:ea typeface="Century Gothic"/>
                          <a:cs typeface="Century Gothic"/>
                          <a:sym typeface="Century Gothic"/>
                        </a:rPr>
                        <a:t>Data:</a:t>
                      </a:r>
                      <a:endParaRPr/>
                    </a:p>
                    <a:p>
                      <a:pPr indent="-179388" lvl="0" marL="179388" marR="0" rtl="0" algn="l">
                        <a:spcBef>
                          <a:spcPts val="0"/>
                        </a:spcBef>
                        <a:spcAft>
                          <a:spcPts val="0"/>
                        </a:spcAft>
                        <a:buClr>
                          <a:schemeClr val="dk1"/>
                        </a:buClr>
                        <a:buSzPts val="900"/>
                        <a:buFont typeface="Arial"/>
                        <a:buChar char="•"/>
                      </a:pPr>
                      <a:r>
                        <a:rPr b="1" i="0" lang="en-GB" sz="900">
                          <a:latin typeface="Century Gothic"/>
                          <a:ea typeface="Century Gothic"/>
                          <a:cs typeface="Century Gothic"/>
                          <a:sym typeface="Century Gothic"/>
                        </a:rPr>
                        <a:t>Campaign data</a:t>
                      </a:r>
                      <a:r>
                        <a:rPr b="1" i="0" lang="en-GB" sz="900">
                          <a:latin typeface="Century Gothic"/>
                          <a:ea typeface="Century Gothic"/>
                          <a:cs typeface="Century Gothic"/>
                          <a:sym typeface="Century Gothic"/>
                        </a:rPr>
                        <a:t> </a:t>
                      </a:r>
                      <a:r>
                        <a:rPr b="0" i="0" lang="en-GB" sz="900">
                          <a:latin typeface="Century Gothic"/>
                          <a:ea typeface="Century Gothic"/>
                          <a:cs typeface="Century Gothic"/>
                          <a:sym typeface="Century Gothic"/>
                        </a:rPr>
                        <a:t>incl. channel, device, sent, read, open, etc.</a:t>
                      </a:r>
                      <a:endParaRPr/>
                    </a:p>
                    <a:p>
                      <a:pPr indent="-179388" lvl="0" marL="179388" marR="0" rtl="0" algn="l">
                        <a:spcBef>
                          <a:spcPts val="0"/>
                        </a:spcBef>
                        <a:spcAft>
                          <a:spcPts val="0"/>
                        </a:spcAft>
                        <a:buClr>
                          <a:schemeClr val="dk1"/>
                        </a:buClr>
                        <a:buSzPts val="900"/>
                        <a:buFont typeface="Arial"/>
                        <a:buChar char="•"/>
                      </a:pPr>
                      <a:r>
                        <a:rPr b="1" i="0" lang="en-GB" sz="900">
                          <a:latin typeface="Century Gothic"/>
                          <a:ea typeface="Century Gothic"/>
                          <a:cs typeface="Century Gothic"/>
                          <a:sym typeface="Century Gothic"/>
                        </a:rPr>
                        <a:t>Transaction data </a:t>
                      </a:r>
                      <a:r>
                        <a:rPr b="0" i="0" lang="en-GB" sz="900">
                          <a:latin typeface="Century Gothic"/>
                          <a:ea typeface="Century Gothic"/>
                          <a:cs typeface="Century Gothic"/>
                          <a:sym typeface="Century Gothic"/>
                        </a:rPr>
                        <a:t>incl. time, product, sales/revenue, profit</a:t>
                      </a:r>
                      <a:endParaRPr/>
                    </a:p>
                    <a:p>
                      <a:pPr indent="-179388" lvl="0" marL="179388" marR="0" rtl="0" algn="l">
                        <a:spcBef>
                          <a:spcPts val="0"/>
                        </a:spcBef>
                        <a:spcAft>
                          <a:spcPts val="0"/>
                        </a:spcAft>
                        <a:buClr>
                          <a:schemeClr val="dk1"/>
                        </a:buClr>
                        <a:buSzPts val="900"/>
                        <a:buFont typeface="Arial"/>
                        <a:buChar char="•"/>
                      </a:pPr>
                      <a:r>
                        <a:rPr b="1" i="0" lang="en-GB" sz="900">
                          <a:latin typeface="Century Gothic"/>
                          <a:ea typeface="Century Gothic"/>
                          <a:cs typeface="Century Gothic"/>
                          <a:sym typeface="Century Gothic"/>
                        </a:rPr>
                        <a:t>Customer contact history </a:t>
                      </a:r>
                      <a:r>
                        <a:rPr b="0" i="0" lang="en-GB" sz="900">
                          <a:latin typeface="Century Gothic"/>
                          <a:ea typeface="Century Gothic"/>
                          <a:cs typeface="Century Gothic"/>
                          <a:sym typeface="Century Gothic"/>
                        </a:rPr>
                        <a:t>incl. control groups</a:t>
                      </a:r>
                      <a:endParaRPr sz="900">
                        <a:latin typeface="Century Gothic"/>
                        <a:ea typeface="Century Gothic"/>
                        <a:cs typeface="Century Gothic"/>
                        <a:sym typeface="Century Gothic"/>
                      </a:endParaRPr>
                    </a:p>
                    <a:p>
                      <a:pPr indent="0" lvl="0" marL="0" marR="0" rtl="0" algn="l">
                        <a:spcBef>
                          <a:spcPts val="0"/>
                        </a:spcBef>
                        <a:spcAft>
                          <a:spcPts val="0"/>
                        </a:spcAft>
                        <a:buNone/>
                      </a:pPr>
                      <a:r>
                        <a:t/>
                      </a:r>
                      <a:endParaRPr b="1" sz="900">
                        <a:latin typeface="Century Gothic"/>
                        <a:ea typeface="Century Gothic"/>
                        <a:cs typeface="Century Gothic"/>
                        <a:sym typeface="Century Gothic"/>
                      </a:endParaRPr>
                    </a:p>
                    <a:p>
                      <a:pPr indent="0" lvl="0" marL="0" marR="0" rtl="0" algn="l">
                        <a:spcBef>
                          <a:spcPts val="0"/>
                        </a:spcBef>
                        <a:spcAft>
                          <a:spcPts val="0"/>
                        </a:spcAft>
                        <a:buNone/>
                      </a:pPr>
                      <a:r>
                        <a:rPr b="1" lang="en-GB" sz="900">
                          <a:latin typeface="Century Gothic"/>
                          <a:ea typeface="Century Gothic"/>
                          <a:cs typeface="Century Gothic"/>
                          <a:sym typeface="Century Gothic"/>
                        </a:rPr>
                        <a:t>Analytics</a:t>
                      </a:r>
                      <a:endParaRPr b="0" sz="900">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Create standard set of  marketing KPI’s  including  response rate, conversion rate , ROI trends over time</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Track  and analyze A/B testing response and utilize root cause analysis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Measure incremental value added by campaign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Dashboard presentation of results with ability to drill into detail and ‘slice n dice’ activity by a number of dimensions including channel</a:t>
                      </a:r>
                      <a:endParaRPr b="0" i="0" sz="900">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chemeClr val="dk1"/>
                        </a:buClr>
                        <a:buSzPts val="900"/>
                        <a:buFont typeface="Arial"/>
                        <a:buNone/>
                      </a:pPr>
                      <a:r>
                        <a:rPr b="1" i="0" lang="en-GB" sz="900">
                          <a:latin typeface="Century Gothic"/>
                          <a:ea typeface="Century Gothic"/>
                          <a:cs typeface="Century Gothic"/>
                          <a:sym typeface="Century Gothic"/>
                        </a:rPr>
                        <a:t>Drive revenue with more effective and efficient marketing campaigns </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Increase response and conversion rates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Understand key drivers and levers of  marketing performance to optimize design and personal marketing</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Re-allocate budgets to higher performing activities</a:t>
                      </a:r>
                      <a:endParaRPr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b="1"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Reduce costs by:</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Removing campaigns that don’t meet minimum performance thresholds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Faster identification of poor performing campaigns requiring remedial action</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893" name="Google Shape;1893;p118"/>
          <p:cNvGrpSpPr/>
          <p:nvPr/>
        </p:nvGrpSpPr>
        <p:grpSpPr>
          <a:xfrm>
            <a:off x="6659508" y="225152"/>
            <a:ext cx="2432605" cy="1508418"/>
            <a:chOff x="6030133" y="723902"/>
            <a:chExt cx="2432605" cy="1508418"/>
          </a:xfrm>
        </p:grpSpPr>
        <p:sp>
          <p:nvSpPr>
            <p:cNvPr id="1894" name="Google Shape;1894;p118"/>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895" name="Google Shape;1895;p118"/>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96" name="Google Shape;1896;p118"/>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97" name="Google Shape;1897;p118"/>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98" name="Google Shape;1898;p118"/>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899" name="Google Shape;1899;p118"/>
            <p:cNvGrpSpPr/>
            <p:nvPr/>
          </p:nvGrpSpPr>
          <p:grpSpPr>
            <a:xfrm>
              <a:off x="8107751" y="1342792"/>
              <a:ext cx="276507" cy="393460"/>
              <a:chOff x="6954288" y="1678075"/>
              <a:chExt cx="679456" cy="947737"/>
            </a:xfrm>
          </p:grpSpPr>
          <p:sp>
            <p:nvSpPr>
              <p:cNvPr id="1900" name="Google Shape;1900;p118"/>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1" name="Google Shape;1901;p118"/>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2" name="Google Shape;1902;p118"/>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3" name="Google Shape;1903;p118"/>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4" name="Google Shape;1904;p118"/>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905" name="Google Shape;1905;p118"/>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06" name="Google Shape;1906;p118"/>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07" name="Google Shape;1907;p118"/>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908" name="Google Shape;1908;p118"/>
            <p:cNvGrpSpPr/>
            <p:nvPr/>
          </p:nvGrpSpPr>
          <p:grpSpPr>
            <a:xfrm>
              <a:off x="6671216" y="765814"/>
              <a:ext cx="308250" cy="494711"/>
              <a:chOff x="2125012" y="-1063625"/>
              <a:chExt cx="1420813" cy="2235201"/>
            </a:xfrm>
          </p:grpSpPr>
          <p:sp>
            <p:nvSpPr>
              <p:cNvPr id="1909" name="Google Shape;1909;p118"/>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10" name="Google Shape;1910;p118"/>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911" name="Google Shape;1911;p118"/>
            <p:cNvGrpSpPr/>
            <p:nvPr/>
          </p:nvGrpSpPr>
          <p:grpSpPr>
            <a:xfrm>
              <a:off x="7987780" y="1794063"/>
              <a:ext cx="243489" cy="387124"/>
              <a:chOff x="6417856" y="340853"/>
              <a:chExt cx="217304" cy="589385"/>
            </a:xfrm>
          </p:grpSpPr>
          <p:sp>
            <p:nvSpPr>
              <p:cNvPr id="1912" name="Google Shape;1912;p118"/>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13" name="Google Shape;1913;p118"/>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914" name="Google Shape;1914;p118"/>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915" name="Google Shape;1915;p118"/>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916" name="Google Shape;1916;p118"/>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17" name="Google Shape;1917;p118"/>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918" name="Google Shape;1918;p11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1919" name="Google Shape;1919;p118"/>
          <p:cNvGrpSpPr/>
          <p:nvPr/>
        </p:nvGrpSpPr>
        <p:grpSpPr>
          <a:xfrm>
            <a:off x="7717533" y="4360377"/>
            <a:ext cx="1058348" cy="347375"/>
            <a:chOff x="7651698" y="4287227"/>
            <a:chExt cx="1058348" cy="347375"/>
          </a:xfrm>
        </p:grpSpPr>
        <p:grpSp>
          <p:nvGrpSpPr>
            <p:cNvPr id="1920" name="Google Shape;1920;p118"/>
            <p:cNvGrpSpPr/>
            <p:nvPr/>
          </p:nvGrpSpPr>
          <p:grpSpPr>
            <a:xfrm>
              <a:off x="7714163" y="4337598"/>
              <a:ext cx="995883" cy="297004"/>
              <a:chOff x="7711013" y="3986494"/>
              <a:chExt cx="995883" cy="297004"/>
            </a:xfrm>
          </p:grpSpPr>
          <p:sp>
            <p:nvSpPr>
              <p:cNvPr id="1921" name="Google Shape;1921;p11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922" name="Google Shape;1922;p118"/>
              <p:cNvGrpSpPr/>
              <p:nvPr/>
            </p:nvGrpSpPr>
            <p:grpSpPr>
              <a:xfrm>
                <a:off x="7711013" y="4002615"/>
                <a:ext cx="281520" cy="241973"/>
                <a:chOff x="5652748" y="4066000"/>
                <a:chExt cx="906498" cy="747974"/>
              </a:xfrm>
            </p:grpSpPr>
            <p:sp>
              <p:nvSpPr>
                <p:cNvPr id="1923" name="Google Shape;1923;p11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924" name="Google Shape;1924;p11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925" name="Google Shape;1925;p11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926" name="Google Shape;1926;p11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45" name="Shape 1945"/>
        <p:cNvGrpSpPr/>
        <p:nvPr/>
      </p:nvGrpSpPr>
      <p:grpSpPr>
        <a:xfrm>
          <a:off x="0" y="0"/>
          <a:ext cx="0" cy="0"/>
          <a:chOff x="0" y="0"/>
          <a:chExt cx="0" cy="0"/>
        </a:xfrm>
      </p:grpSpPr>
      <p:cxnSp>
        <p:nvCxnSpPr>
          <p:cNvPr id="1946" name="Google Shape;1946;p12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947" name="Google Shape;1947;p12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Cross Channel Customer Experience</a:t>
            </a:r>
            <a:endParaRPr/>
          </a:p>
        </p:txBody>
      </p:sp>
      <p:graphicFrame>
        <p:nvGraphicFramePr>
          <p:cNvPr id="1948" name="Google Shape;1948;p12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Develop appropriate and cost effective cross</a:t>
                      </a:r>
                      <a:r>
                        <a:rPr b="1" lang="en-GB" sz="900">
                          <a:solidFill>
                            <a:schemeClr val="dk1"/>
                          </a:solidFill>
                        </a:rPr>
                        <a:t> channel communication and interactions</a:t>
                      </a:r>
                      <a:r>
                        <a:rPr b="1" lang="en-GB" sz="900">
                          <a:solidFill>
                            <a:schemeClr val="dk1"/>
                          </a:solidFill>
                        </a:rPr>
                        <a: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Allow customers to connect and interact with a wide range of channels to receive a seamless anywhere, anytime experience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Choose the right mix of channels to engage customers in meaningful two-way dialogues across sales, service and brand building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the characteristics of each channel in deciding its appropriateness to enact customer communications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a channel integration strategy to ensure successful execution of communication programs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t>Core customer data including contact details and preferences</a:t>
                      </a:r>
                      <a:endParaRPr/>
                    </a:p>
                    <a:p>
                      <a:pPr indent="-179388" lvl="0" marL="179388" marR="0" rtl="0" algn="l">
                        <a:spcBef>
                          <a:spcPts val="0"/>
                        </a:spcBef>
                        <a:spcAft>
                          <a:spcPts val="0"/>
                        </a:spcAft>
                        <a:buClr>
                          <a:schemeClr val="dk1"/>
                        </a:buClr>
                        <a:buSzPts val="900"/>
                        <a:buFont typeface="Arial"/>
                        <a:buChar char="•"/>
                      </a:pPr>
                      <a:r>
                        <a:rPr lang="en-GB" sz="900"/>
                        <a:t>Channel / service registrations</a:t>
                      </a:r>
                      <a:endParaRPr/>
                    </a:p>
                    <a:p>
                      <a:pPr indent="-179388" lvl="0" marL="179388" marR="0" rtl="0" algn="l">
                        <a:spcBef>
                          <a:spcPts val="0"/>
                        </a:spcBef>
                        <a:spcAft>
                          <a:spcPts val="0"/>
                        </a:spcAft>
                        <a:buClr>
                          <a:schemeClr val="dk1"/>
                        </a:buClr>
                        <a:buSzPts val="900"/>
                        <a:buFont typeface="Arial"/>
                        <a:buChar char="•"/>
                      </a:pPr>
                      <a:r>
                        <a:rPr lang="en-GB" sz="900"/>
                        <a:t>Collection of social media memberships</a:t>
                      </a:r>
                      <a:endParaRPr/>
                    </a:p>
                    <a:p>
                      <a:pPr indent="-179388" lvl="0" marL="179388" marR="0" rtl="0" algn="l">
                        <a:spcBef>
                          <a:spcPts val="0"/>
                        </a:spcBef>
                        <a:spcAft>
                          <a:spcPts val="0"/>
                        </a:spcAft>
                        <a:buClr>
                          <a:schemeClr val="dk1"/>
                        </a:buClr>
                        <a:buSzPts val="900"/>
                        <a:buFont typeface="Arial"/>
                        <a:buChar char="•"/>
                      </a:pPr>
                      <a:r>
                        <a:rPr lang="en-GB" sz="900"/>
                        <a:t>Customer channel usage data  over time</a:t>
                      </a:r>
                      <a:endParaRPr/>
                    </a:p>
                    <a:p>
                      <a:pPr indent="-179388" lvl="0" marL="179388" marR="0" rtl="0" algn="l">
                        <a:spcBef>
                          <a:spcPts val="0"/>
                        </a:spcBef>
                        <a:spcAft>
                          <a:spcPts val="0"/>
                        </a:spcAft>
                        <a:buClr>
                          <a:schemeClr val="dk1"/>
                        </a:buClr>
                        <a:buSzPts val="900"/>
                        <a:buFont typeface="Arial"/>
                        <a:buChar char="•"/>
                      </a:pPr>
                      <a:r>
                        <a:rPr lang="en-GB" sz="900"/>
                        <a:t>Customer  interactions and communication history </a:t>
                      </a:r>
                      <a:endParaRPr/>
                    </a:p>
                    <a:p>
                      <a:pPr indent="0" lvl="0" marL="0" marR="0" rtl="0" algn="l">
                        <a:spcBef>
                          <a:spcPts val="0"/>
                        </a:spcBef>
                        <a:spcAft>
                          <a:spcPts val="0"/>
                        </a:spcAft>
                        <a:buClr>
                          <a:schemeClr val="dk1"/>
                        </a:buClr>
                        <a:buSzPts val="900"/>
                        <a:buFont typeface="Arial"/>
                        <a:buNone/>
                      </a:pPr>
                      <a:r>
                        <a:rPr b="1" lang="en-GB" sz="900"/>
                        <a:t>Analytics</a:t>
                      </a:r>
                      <a:endParaRPr/>
                    </a:p>
                    <a:p>
                      <a:pPr indent="-179388" lvl="0" marL="179388" marR="0" rtl="0" algn="l">
                        <a:spcBef>
                          <a:spcPts val="0"/>
                        </a:spcBef>
                        <a:spcAft>
                          <a:spcPts val="0"/>
                        </a:spcAft>
                        <a:buClr>
                          <a:schemeClr val="dk1"/>
                        </a:buClr>
                        <a:buSzPts val="900"/>
                        <a:buFont typeface="Arial"/>
                        <a:buChar char="•"/>
                      </a:pPr>
                      <a:r>
                        <a:rPr lang="en-GB" sz="900"/>
                        <a:t>Customer pathing</a:t>
                      </a:r>
                      <a:r>
                        <a:rPr lang="en-GB" sz="900"/>
                        <a:t> and pattern</a:t>
                      </a:r>
                      <a:r>
                        <a:rPr lang="en-GB" sz="900"/>
                        <a:t> analytics to understand customer interactions</a:t>
                      </a:r>
                      <a:r>
                        <a:rPr lang="en-GB" sz="900"/>
                        <a:t> across channels and over time</a:t>
                      </a:r>
                      <a:endParaRPr sz="900"/>
                    </a:p>
                    <a:p>
                      <a:pPr indent="-179388" lvl="0" marL="179388" marR="0" rtl="0" algn="l">
                        <a:spcBef>
                          <a:spcPts val="0"/>
                        </a:spcBef>
                        <a:spcAft>
                          <a:spcPts val="0"/>
                        </a:spcAft>
                        <a:buClr>
                          <a:schemeClr val="dk1"/>
                        </a:buClr>
                        <a:buSzPts val="900"/>
                        <a:buFont typeface="Arial"/>
                        <a:buChar char="•"/>
                      </a:pPr>
                      <a:r>
                        <a:rPr lang="en-GB" sz="900"/>
                        <a:t>Recency / frequency data to understand customer channel preference</a:t>
                      </a:r>
                      <a:endParaRPr/>
                    </a:p>
                    <a:p>
                      <a:pPr indent="-179388" lvl="0" marL="179388" marR="0" rtl="0" algn="l">
                        <a:spcBef>
                          <a:spcPts val="0"/>
                        </a:spcBef>
                        <a:spcAft>
                          <a:spcPts val="0"/>
                        </a:spcAft>
                        <a:buClr>
                          <a:schemeClr val="dk1"/>
                        </a:buClr>
                        <a:buSzPts val="900"/>
                        <a:buFont typeface="Arial"/>
                        <a:buChar char="•"/>
                      </a:pPr>
                      <a:r>
                        <a:rPr lang="en-GB" sz="900"/>
                        <a:t>Channel substitution analysis to understand benefits and costs of changing customer behaviour or migrating channel usage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 communication reach into your prospect and customer  base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customer experience by more seamless cross channel interactions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Optimise marketing effectiveness through use of more cost effective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costs by encouraging customers to  self serve through  new convenient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Create clear development roadmap and secure budget to invest in new channels or advance the capabilities of existing channels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949" name="Google Shape;1949;p120"/>
          <p:cNvGrpSpPr/>
          <p:nvPr/>
        </p:nvGrpSpPr>
        <p:grpSpPr>
          <a:xfrm>
            <a:off x="6659508" y="225152"/>
            <a:ext cx="2432605" cy="1508418"/>
            <a:chOff x="6030133" y="723902"/>
            <a:chExt cx="2432605" cy="1508418"/>
          </a:xfrm>
        </p:grpSpPr>
        <p:sp>
          <p:nvSpPr>
            <p:cNvPr id="1950" name="Google Shape;1950;p120"/>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951" name="Google Shape;1951;p120"/>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52" name="Google Shape;1952;p120"/>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53" name="Google Shape;1953;p120"/>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54" name="Google Shape;1954;p120"/>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955" name="Google Shape;1955;p120"/>
            <p:cNvGrpSpPr/>
            <p:nvPr/>
          </p:nvGrpSpPr>
          <p:grpSpPr>
            <a:xfrm>
              <a:off x="8107751" y="1342792"/>
              <a:ext cx="276507" cy="393460"/>
              <a:chOff x="6954288" y="1678075"/>
              <a:chExt cx="679456" cy="947737"/>
            </a:xfrm>
          </p:grpSpPr>
          <p:sp>
            <p:nvSpPr>
              <p:cNvPr id="1956" name="Google Shape;1956;p120"/>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57" name="Google Shape;1957;p120"/>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58" name="Google Shape;1958;p120"/>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59" name="Google Shape;1959;p120"/>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60" name="Google Shape;1960;p120"/>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961" name="Google Shape;1961;p120"/>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2" name="Google Shape;1962;p120"/>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3" name="Google Shape;1963;p120"/>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964" name="Google Shape;1964;p120"/>
            <p:cNvGrpSpPr/>
            <p:nvPr/>
          </p:nvGrpSpPr>
          <p:grpSpPr>
            <a:xfrm>
              <a:off x="6671216" y="765814"/>
              <a:ext cx="308250" cy="494711"/>
              <a:chOff x="2125012" y="-1063625"/>
              <a:chExt cx="1420813" cy="2235201"/>
            </a:xfrm>
          </p:grpSpPr>
          <p:sp>
            <p:nvSpPr>
              <p:cNvPr id="1965" name="Google Shape;1965;p120"/>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6" name="Google Shape;1966;p120"/>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967" name="Google Shape;1967;p120"/>
            <p:cNvGrpSpPr/>
            <p:nvPr/>
          </p:nvGrpSpPr>
          <p:grpSpPr>
            <a:xfrm>
              <a:off x="7987780" y="1794063"/>
              <a:ext cx="243489" cy="387124"/>
              <a:chOff x="6417856" y="340853"/>
              <a:chExt cx="217304" cy="589385"/>
            </a:xfrm>
          </p:grpSpPr>
          <p:sp>
            <p:nvSpPr>
              <p:cNvPr id="1968" name="Google Shape;1968;p120"/>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9" name="Google Shape;1969;p120"/>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970" name="Google Shape;1970;p120"/>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971" name="Google Shape;1971;p120"/>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972" name="Google Shape;1972;p120"/>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73" name="Google Shape;1973;p120"/>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974" name="Google Shape;1974;p12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1975" name="Google Shape;1975;p120"/>
          <p:cNvGrpSpPr/>
          <p:nvPr/>
        </p:nvGrpSpPr>
        <p:grpSpPr>
          <a:xfrm>
            <a:off x="7717533" y="4360377"/>
            <a:ext cx="1058348" cy="347375"/>
            <a:chOff x="7651698" y="4287227"/>
            <a:chExt cx="1058348" cy="347375"/>
          </a:xfrm>
        </p:grpSpPr>
        <p:grpSp>
          <p:nvGrpSpPr>
            <p:cNvPr id="1976" name="Google Shape;1976;p120"/>
            <p:cNvGrpSpPr/>
            <p:nvPr/>
          </p:nvGrpSpPr>
          <p:grpSpPr>
            <a:xfrm>
              <a:off x="7714163" y="4337598"/>
              <a:ext cx="995883" cy="297004"/>
              <a:chOff x="7711013" y="3986494"/>
              <a:chExt cx="995883" cy="297004"/>
            </a:xfrm>
          </p:grpSpPr>
          <p:sp>
            <p:nvSpPr>
              <p:cNvPr id="1977" name="Google Shape;1977;p12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978" name="Google Shape;1978;p120"/>
              <p:cNvGrpSpPr/>
              <p:nvPr/>
            </p:nvGrpSpPr>
            <p:grpSpPr>
              <a:xfrm>
                <a:off x="7711013" y="4002615"/>
                <a:ext cx="281520" cy="241973"/>
                <a:chOff x="5652748" y="4066000"/>
                <a:chExt cx="906498" cy="747974"/>
              </a:xfrm>
            </p:grpSpPr>
            <p:sp>
              <p:nvSpPr>
                <p:cNvPr id="1979" name="Google Shape;1979;p1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980" name="Google Shape;1980;p1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981" name="Google Shape;1981;p1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982" name="Google Shape;1982;p12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01" name="Shape 2001"/>
        <p:cNvGrpSpPr/>
        <p:nvPr/>
      </p:nvGrpSpPr>
      <p:grpSpPr>
        <a:xfrm>
          <a:off x="0" y="0"/>
          <a:ext cx="0" cy="0"/>
          <a:chOff x="0" y="0"/>
          <a:chExt cx="0" cy="0"/>
        </a:xfrm>
      </p:grpSpPr>
      <p:cxnSp>
        <p:nvCxnSpPr>
          <p:cNvPr id="2002" name="Google Shape;2002;p12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003" name="Google Shape;2003;p12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Contextual Decisioning</a:t>
            </a:r>
            <a:endParaRPr sz="1600"/>
          </a:p>
        </p:txBody>
      </p:sp>
      <p:graphicFrame>
        <p:nvGraphicFramePr>
          <p:cNvPr id="2004" name="Google Shape;2004;p122"/>
          <p:cNvGraphicFramePr/>
          <p:nvPr/>
        </p:nvGraphicFramePr>
        <p:xfrm>
          <a:off x="457200" y="7013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Make interactions more relevant by considering other events over space and time as context of the customer interaction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There is an increasing number of opportunities to interact with customers through an expanding number of channels and devices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As the duration of interaction cycles reduces and the frequency of interactions increase customer dialogues need to be orchestrated in real time considering short term context in order that the communication remains meaningful and relevant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and consider the detailed context of the current interaction</a:t>
                      </a:r>
                      <a:r>
                        <a:rPr b="0" lang="en-GB" sz="900">
                          <a:solidFill>
                            <a:schemeClr val="dk1"/>
                          </a:solidFill>
                        </a:rPr>
                        <a:t> </a:t>
                      </a:r>
                      <a:r>
                        <a:rPr b="0" lang="en-GB" sz="900">
                          <a:solidFill>
                            <a:schemeClr val="dk1"/>
                          </a:solidFill>
                        </a:rPr>
                        <a:t> as </a:t>
                      </a:r>
                      <a:r>
                        <a:rPr b="0" lang="en-GB" sz="900">
                          <a:solidFill>
                            <a:schemeClr val="dk1"/>
                          </a:solidFill>
                        </a:rPr>
                        <a:t> well as past events to deliver more relevant message or offer</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Context</a:t>
                      </a:r>
                      <a:r>
                        <a:rPr b="0" lang="en-GB" sz="900">
                          <a:solidFill>
                            <a:schemeClr val="dk1"/>
                          </a:solidFill>
                        </a:rPr>
                        <a:t> of the current customer online or offline process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Time sensitive detail</a:t>
                      </a:r>
                      <a:r>
                        <a:rPr b="0" lang="en-GB" sz="900">
                          <a:solidFill>
                            <a:schemeClr val="dk1"/>
                          </a:solidFill>
                        </a:rPr>
                        <a:t> context </a:t>
                      </a:r>
                      <a:r>
                        <a:rPr b="0" lang="en-GB" sz="900">
                          <a:solidFill>
                            <a:schemeClr val="dk1"/>
                          </a:solidFill>
                        </a:rPr>
                        <a:t>such as device / location / time spent on page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Summarised customer profile to be used in the decisioning logic</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Pre scored models and customer segmentations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Single Interaction history in order to apply contact rules </a:t>
                      </a:r>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Real-time arbitration of customer offers and treatments to deliver the next best action based on the current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Self learning algorithms able to optimize response as data profiles change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Complex, time based event processing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relevance and response to offers/messaging through</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Ability to respond to current actions and behaviour of the customer in the channel rather than based on a previous day</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Ability to orchestrate interactions occurring across different channels within a business day – to reinforce or prevent the presentation of a product, service or offer</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Creating true omni-channel customer treatments - such as promotion of location based offers</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Enrich existing recommendation with a specific event or series of combined relevant events as a trigger that raises the need for the action</a:t>
                      </a:r>
                      <a:endParaRPr sz="900" u="none" cap="none" strike="noStrike">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005" name="Google Shape;2005;p122"/>
          <p:cNvGrpSpPr/>
          <p:nvPr/>
        </p:nvGrpSpPr>
        <p:grpSpPr>
          <a:xfrm>
            <a:off x="6659508" y="225152"/>
            <a:ext cx="2432605" cy="1508418"/>
            <a:chOff x="6030133" y="723902"/>
            <a:chExt cx="2432605" cy="1508418"/>
          </a:xfrm>
        </p:grpSpPr>
        <p:sp>
          <p:nvSpPr>
            <p:cNvPr id="2006" name="Google Shape;2006;p122"/>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007" name="Google Shape;2007;p122"/>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08" name="Google Shape;2008;p122"/>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09" name="Google Shape;2009;p122"/>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10" name="Google Shape;2010;p122"/>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11" name="Google Shape;2011;p122"/>
            <p:cNvGrpSpPr/>
            <p:nvPr/>
          </p:nvGrpSpPr>
          <p:grpSpPr>
            <a:xfrm>
              <a:off x="8107751" y="1342792"/>
              <a:ext cx="276507" cy="393460"/>
              <a:chOff x="6954288" y="1678075"/>
              <a:chExt cx="679456" cy="947737"/>
            </a:xfrm>
          </p:grpSpPr>
          <p:sp>
            <p:nvSpPr>
              <p:cNvPr id="2012" name="Google Shape;2012;p122"/>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3" name="Google Shape;2013;p122"/>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4" name="Google Shape;2014;p122"/>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5" name="Google Shape;2015;p122"/>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6" name="Google Shape;2016;p122"/>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017" name="Google Shape;2017;p122"/>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18" name="Google Shape;2018;p122"/>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19" name="Google Shape;2019;p122"/>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20" name="Google Shape;2020;p122"/>
            <p:cNvGrpSpPr/>
            <p:nvPr/>
          </p:nvGrpSpPr>
          <p:grpSpPr>
            <a:xfrm>
              <a:off x="6671216" y="765814"/>
              <a:ext cx="308250" cy="494711"/>
              <a:chOff x="2125012" y="-1063625"/>
              <a:chExt cx="1420813" cy="2235201"/>
            </a:xfrm>
          </p:grpSpPr>
          <p:sp>
            <p:nvSpPr>
              <p:cNvPr id="2021" name="Google Shape;2021;p122"/>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22" name="Google Shape;2022;p122"/>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023" name="Google Shape;2023;p122"/>
            <p:cNvGrpSpPr/>
            <p:nvPr/>
          </p:nvGrpSpPr>
          <p:grpSpPr>
            <a:xfrm>
              <a:off x="7987780" y="1794063"/>
              <a:ext cx="243489" cy="387124"/>
              <a:chOff x="6417856" y="340853"/>
              <a:chExt cx="217304" cy="589385"/>
            </a:xfrm>
          </p:grpSpPr>
          <p:sp>
            <p:nvSpPr>
              <p:cNvPr id="2024" name="Google Shape;2024;p122"/>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25" name="Google Shape;2025;p122"/>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026" name="Google Shape;2026;p122"/>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027" name="Google Shape;2027;p122"/>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028" name="Google Shape;2028;p122"/>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29" name="Google Shape;2029;p122"/>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030" name="Google Shape;2030;p12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031" name="Google Shape;2031;p122"/>
          <p:cNvGrpSpPr/>
          <p:nvPr/>
        </p:nvGrpSpPr>
        <p:grpSpPr>
          <a:xfrm>
            <a:off x="7717533" y="4360377"/>
            <a:ext cx="1058348" cy="347375"/>
            <a:chOff x="7651698" y="4287227"/>
            <a:chExt cx="1058348" cy="347375"/>
          </a:xfrm>
        </p:grpSpPr>
        <p:grpSp>
          <p:nvGrpSpPr>
            <p:cNvPr id="2032" name="Google Shape;2032;p122"/>
            <p:cNvGrpSpPr/>
            <p:nvPr/>
          </p:nvGrpSpPr>
          <p:grpSpPr>
            <a:xfrm>
              <a:off x="7714163" y="4337598"/>
              <a:ext cx="995883" cy="297004"/>
              <a:chOff x="7711013" y="3986494"/>
              <a:chExt cx="995883" cy="297004"/>
            </a:xfrm>
          </p:grpSpPr>
          <p:sp>
            <p:nvSpPr>
              <p:cNvPr id="2033" name="Google Shape;2033;p12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034" name="Google Shape;2034;p122"/>
              <p:cNvGrpSpPr/>
              <p:nvPr/>
            </p:nvGrpSpPr>
            <p:grpSpPr>
              <a:xfrm>
                <a:off x="7711013" y="4002615"/>
                <a:ext cx="281520" cy="241973"/>
                <a:chOff x="5652748" y="4066000"/>
                <a:chExt cx="906498" cy="747974"/>
              </a:xfrm>
            </p:grpSpPr>
            <p:sp>
              <p:nvSpPr>
                <p:cNvPr id="2035" name="Google Shape;2035;p12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036" name="Google Shape;2036;p12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037" name="Google Shape;2037;p12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038" name="Google Shape;2038;p12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57" name="Shape 2057"/>
        <p:cNvGrpSpPr/>
        <p:nvPr/>
      </p:nvGrpSpPr>
      <p:grpSpPr>
        <a:xfrm>
          <a:off x="0" y="0"/>
          <a:ext cx="0" cy="0"/>
          <a:chOff x="0" y="0"/>
          <a:chExt cx="0" cy="0"/>
        </a:xfrm>
      </p:grpSpPr>
      <p:cxnSp>
        <p:nvCxnSpPr>
          <p:cNvPr id="2058" name="Google Shape;2058;p12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059" name="Google Shape;2059;p12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Call/Contact Center Optimization</a:t>
            </a:r>
            <a:endParaRPr sz="1600"/>
          </a:p>
        </p:txBody>
      </p:sp>
      <p:graphicFrame>
        <p:nvGraphicFramePr>
          <p:cNvPr id="2060" name="Google Shape;2060;p12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200">
                          <a:solidFill>
                            <a:schemeClr val="dk2"/>
                          </a:solidFill>
                          <a:latin typeface="Century Gothic"/>
                          <a:ea typeface="Century Gothic"/>
                          <a:cs typeface="Century Gothic"/>
                          <a:sym typeface="Century Gothic"/>
                        </a:rPr>
                        <a:t>Business Objectives</a:t>
                      </a:r>
                      <a:endParaRPr b="1" sz="12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i="0" lang="en-GB" sz="900" u="none" cap="none" strike="noStrike">
                          <a:solidFill>
                            <a:schemeClr val="dk1"/>
                          </a:solidFill>
                          <a:latin typeface="Century Gothic"/>
                          <a:ea typeface="Century Gothic"/>
                          <a:cs typeface="Century Gothic"/>
                          <a:sym typeface="Century Gothic"/>
                        </a:rPr>
                        <a:t>Increase the first call resolution and reduce customers returning calls on same topic</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Capture the contact with customers across channels like IVR, call center, chat, social media etc. to build a comprehensive view and actionable insights on how to interact with customers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Improve interactions with customers by utilizing techniques such as topic and sentiment analysis for call classification,  prediction of customers who may be about to complain, prediction of call volumes based on “hot topics” from other channels.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Increase the up-selling and cross-selling capabilities of additional products and services by CSRs at the moment of interaction.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latin typeface="Century Gothic"/>
                          <a:ea typeface="Century Gothic"/>
                          <a:cs typeface="Century Gothic"/>
                          <a:sym typeface="Century Gothic"/>
                        </a:rPr>
                        <a:t>Data:</a:t>
                      </a:r>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Interaction</a:t>
                      </a:r>
                      <a:r>
                        <a:rPr b="0" i="0" lang="en-GB" sz="900">
                          <a:latin typeface="Century Gothic"/>
                          <a:ea typeface="Century Gothic"/>
                          <a:cs typeface="Century Gothic"/>
                          <a:sym typeface="Century Gothic"/>
                        </a:rPr>
                        <a:t> </a:t>
                      </a:r>
                      <a:r>
                        <a:rPr b="0" i="0" lang="en-GB" sz="900">
                          <a:latin typeface="Century Gothic"/>
                          <a:ea typeface="Century Gothic"/>
                          <a:cs typeface="Century Gothic"/>
                          <a:sym typeface="Century Gothic"/>
                        </a:rPr>
                        <a:t>data</a:t>
                      </a:r>
                      <a:r>
                        <a:rPr b="0" i="0" lang="en-GB" sz="900">
                          <a:latin typeface="Century Gothic"/>
                          <a:ea typeface="Century Gothic"/>
                          <a:cs typeface="Century Gothic"/>
                          <a:sym typeface="Century Gothic"/>
                        </a:rPr>
                        <a:t> </a:t>
                      </a:r>
                      <a:r>
                        <a:rPr b="0" lang="en-GB" sz="900">
                          <a:latin typeface="Century Gothic"/>
                          <a:ea typeface="Century Gothic"/>
                          <a:cs typeface="Century Gothic"/>
                          <a:sym typeface="Century Gothic"/>
                        </a:rPr>
                        <a:t>from multiple contact channels like IVR, Call center, CRM systems, email, chat functions, social media,</a:t>
                      </a:r>
                      <a:r>
                        <a:rPr b="0" lang="en-GB" sz="900">
                          <a:latin typeface="Century Gothic"/>
                          <a:ea typeface="Century Gothic"/>
                          <a:cs typeface="Century Gothic"/>
                          <a:sym typeface="Century Gothic"/>
                        </a:rPr>
                        <a:t> social </a:t>
                      </a:r>
                      <a:r>
                        <a:rPr b="0" lang="en-GB" sz="900">
                          <a:latin typeface="Century Gothic"/>
                          <a:ea typeface="Century Gothic"/>
                          <a:cs typeface="Century Gothic"/>
                          <a:sym typeface="Century Gothic"/>
                        </a:rPr>
                        <a:t>chat etc.</a:t>
                      </a:r>
                      <a:endParaRPr b="0" sz="900">
                        <a:latin typeface="Century Gothic"/>
                        <a:ea typeface="Century Gothic"/>
                        <a:cs typeface="Century Gothic"/>
                        <a:sym typeface="Century Gothic"/>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Data </a:t>
                      </a:r>
                      <a:r>
                        <a:rPr b="0" i="0" lang="en-GB" sz="900" u="none">
                          <a:latin typeface="Century Gothic"/>
                          <a:ea typeface="Century Gothic"/>
                          <a:cs typeface="Century Gothic"/>
                          <a:sym typeface="Century Gothic"/>
                        </a:rPr>
                        <a:t>format </a:t>
                      </a:r>
                      <a:r>
                        <a:rPr b="0" i="0" lang="en-GB" sz="900">
                          <a:latin typeface="Century Gothic"/>
                          <a:ea typeface="Century Gothic"/>
                          <a:cs typeface="Century Gothic"/>
                          <a:sym typeface="Century Gothic"/>
                        </a:rPr>
                        <a:t>can be text, voice, forms etc. </a:t>
                      </a:r>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Customer events</a:t>
                      </a:r>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Customer profile and 360 view</a:t>
                      </a:r>
                      <a:endParaRPr/>
                    </a:p>
                    <a:p>
                      <a:pPr indent="0" lvl="0" marL="0" marR="0" rtl="0" algn="l">
                        <a:spcBef>
                          <a:spcPts val="0"/>
                        </a:spcBef>
                        <a:spcAft>
                          <a:spcPts val="0"/>
                        </a:spcAft>
                        <a:buNone/>
                      </a:pPr>
                      <a:r>
                        <a:rPr b="1" lang="en-GB" sz="900">
                          <a:latin typeface="Century Gothic"/>
                          <a:ea typeface="Century Gothic"/>
                          <a:cs typeface="Century Gothic"/>
                          <a:sym typeface="Century Gothic"/>
                        </a:rPr>
                        <a:t>Analytics</a:t>
                      </a:r>
                      <a:endParaRPr b="0"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Create sentiment and key words from text analytics</a:t>
                      </a:r>
                      <a:endParaRPr/>
                    </a:p>
                    <a:p>
                      <a:pPr indent="-285750" lvl="0" marL="285750" marR="0" rtl="0" algn="l">
                        <a:lnSpc>
                          <a:spcPct val="100000"/>
                        </a:lnSpc>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Enhance customer (prediction) models</a:t>
                      </a:r>
                      <a:r>
                        <a:rPr b="0" i="0" lang="en-GB" sz="900">
                          <a:latin typeface="Century Gothic"/>
                          <a:ea typeface="Century Gothic"/>
                          <a:cs typeface="Century Gothic"/>
                          <a:sym typeface="Century Gothic"/>
                        </a:rPr>
                        <a:t> and scoring </a:t>
                      </a:r>
                      <a:r>
                        <a:rPr b="0" i="0" lang="en-GB" sz="900">
                          <a:latin typeface="Century Gothic"/>
                          <a:ea typeface="Century Gothic"/>
                          <a:cs typeface="Century Gothic"/>
                          <a:sym typeface="Century Gothic"/>
                        </a:rPr>
                        <a:t>like churn, propensity to buy, customer experience index etc</a:t>
                      </a:r>
                      <a:endParaRPr b="0" i="0"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Identify path/customer journey </a:t>
                      </a:r>
                      <a:r>
                        <a:rPr b="0" i="0" lang="en-GB" sz="900">
                          <a:latin typeface="Century Gothic"/>
                          <a:ea typeface="Century Gothic"/>
                          <a:cs typeface="Century Gothic"/>
                          <a:sym typeface="Century Gothic"/>
                        </a:rPr>
                        <a:t>for process optimization, call center agent resolution, broken processes etc.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chemeClr val="dk1"/>
                        </a:buClr>
                        <a:buSzPts val="900"/>
                        <a:buFont typeface="Arial"/>
                        <a:buNone/>
                      </a:pPr>
                      <a:r>
                        <a:rPr b="1" i="0" lang="en-GB" sz="900">
                          <a:latin typeface="Century Gothic"/>
                          <a:ea typeface="Century Gothic"/>
                          <a:cs typeface="Century Gothic"/>
                          <a:sym typeface="Century Gothic"/>
                        </a:rPr>
                        <a:t>Improve custoemr experience with call center and optimize call center staff operations</a:t>
                      </a:r>
                      <a:endParaRPr b="1" i="0" sz="900">
                        <a:latin typeface="Century Gothic"/>
                        <a:ea typeface="Century Gothic"/>
                        <a:cs typeface="Century Gothic"/>
                        <a:sym typeface="Century Gothic"/>
                      </a:endParaRPr>
                    </a:p>
                    <a:p>
                      <a:pPr indent="0" lvl="0" marL="0" marR="0" rtl="0" algn="l">
                        <a:spcBef>
                          <a:spcPts val="0"/>
                        </a:spcBef>
                        <a:spcAft>
                          <a:spcPts val="0"/>
                        </a:spcAft>
                        <a:buClr>
                          <a:schemeClr val="dk1"/>
                        </a:buClr>
                        <a:buSzPts val="900"/>
                        <a:buFont typeface="Arial"/>
                        <a:buNone/>
                      </a:pPr>
                      <a:r>
                        <a:rPr b="1" i="1" lang="en-GB" sz="900">
                          <a:latin typeface="Century Gothic"/>
                          <a:ea typeface="Century Gothic"/>
                          <a:cs typeface="Century Gothic"/>
                          <a:sym typeface="Century Gothic"/>
                        </a:rPr>
                        <a:t> </a:t>
                      </a:r>
                      <a:r>
                        <a:rPr b="0" i="0" lang="en-GB" sz="900">
                          <a:latin typeface="Century Gothic"/>
                          <a:ea typeface="Century Gothic"/>
                          <a:cs typeface="Century Gothic"/>
                          <a:sym typeface="Century Gothic"/>
                        </a:rPr>
                        <a:t>- higher degree of customer satisfaction</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faster resolution</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optimization and simplification of processes </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Upsell and resell</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Customer interaction and adaptation of multiple channels</a:t>
                      </a:r>
                      <a:endParaRPr b="0" i="0" sz="900">
                        <a:latin typeface="Century Gothic"/>
                        <a:ea typeface="Century Gothic"/>
                        <a:cs typeface="Century Gothic"/>
                        <a:sym typeface="Century Gothic"/>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Automation of some processes , e.g. automated routing of insurance claims based on claim form contents and complexity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061" name="Google Shape;2061;p124"/>
          <p:cNvGrpSpPr/>
          <p:nvPr/>
        </p:nvGrpSpPr>
        <p:grpSpPr>
          <a:xfrm>
            <a:off x="6659508" y="225152"/>
            <a:ext cx="2432605" cy="1508418"/>
            <a:chOff x="6030133" y="723902"/>
            <a:chExt cx="2432605" cy="1508418"/>
          </a:xfrm>
        </p:grpSpPr>
        <p:sp>
          <p:nvSpPr>
            <p:cNvPr id="2062" name="Google Shape;2062;p124"/>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063" name="Google Shape;2063;p124"/>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64" name="Google Shape;2064;p124"/>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65" name="Google Shape;2065;p124"/>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66" name="Google Shape;2066;p124"/>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67" name="Google Shape;2067;p124"/>
            <p:cNvGrpSpPr/>
            <p:nvPr/>
          </p:nvGrpSpPr>
          <p:grpSpPr>
            <a:xfrm>
              <a:off x="8107751" y="1342792"/>
              <a:ext cx="276507" cy="393460"/>
              <a:chOff x="6954288" y="1678075"/>
              <a:chExt cx="679456" cy="947737"/>
            </a:xfrm>
          </p:grpSpPr>
          <p:sp>
            <p:nvSpPr>
              <p:cNvPr id="2068" name="Google Shape;2068;p124"/>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69" name="Google Shape;2069;p124"/>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70" name="Google Shape;2070;p124"/>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71" name="Google Shape;2071;p124"/>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72" name="Google Shape;2072;p124"/>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073" name="Google Shape;2073;p124"/>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74" name="Google Shape;2074;p124"/>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75" name="Google Shape;2075;p124"/>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76" name="Google Shape;2076;p124"/>
            <p:cNvGrpSpPr/>
            <p:nvPr/>
          </p:nvGrpSpPr>
          <p:grpSpPr>
            <a:xfrm>
              <a:off x="6671216" y="765814"/>
              <a:ext cx="308250" cy="494711"/>
              <a:chOff x="2125012" y="-1063625"/>
              <a:chExt cx="1420813" cy="2235201"/>
            </a:xfrm>
          </p:grpSpPr>
          <p:sp>
            <p:nvSpPr>
              <p:cNvPr id="2077" name="Google Shape;2077;p124"/>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78" name="Google Shape;2078;p124"/>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079" name="Google Shape;2079;p124"/>
            <p:cNvGrpSpPr/>
            <p:nvPr/>
          </p:nvGrpSpPr>
          <p:grpSpPr>
            <a:xfrm>
              <a:off x="7987780" y="1794063"/>
              <a:ext cx="243489" cy="387124"/>
              <a:chOff x="6417856" y="340853"/>
              <a:chExt cx="217304" cy="589385"/>
            </a:xfrm>
          </p:grpSpPr>
          <p:sp>
            <p:nvSpPr>
              <p:cNvPr id="2080" name="Google Shape;2080;p124"/>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81" name="Google Shape;2081;p124"/>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082" name="Google Shape;2082;p124"/>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083" name="Google Shape;2083;p124"/>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084" name="Google Shape;2084;p124"/>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85" name="Google Shape;2085;p124"/>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086" name="Google Shape;2086;p12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087" name="Google Shape;2087;p124"/>
          <p:cNvGrpSpPr/>
          <p:nvPr/>
        </p:nvGrpSpPr>
        <p:grpSpPr>
          <a:xfrm>
            <a:off x="7717533" y="4360377"/>
            <a:ext cx="1058348" cy="347375"/>
            <a:chOff x="7651698" y="4287227"/>
            <a:chExt cx="1058348" cy="347375"/>
          </a:xfrm>
        </p:grpSpPr>
        <p:grpSp>
          <p:nvGrpSpPr>
            <p:cNvPr id="2088" name="Google Shape;2088;p124"/>
            <p:cNvGrpSpPr/>
            <p:nvPr/>
          </p:nvGrpSpPr>
          <p:grpSpPr>
            <a:xfrm>
              <a:off x="7714163" y="4337598"/>
              <a:ext cx="995883" cy="297004"/>
              <a:chOff x="7711013" y="3986494"/>
              <a:chExt cx="995883" cy="297004"/>
            </a:xfrm>
          </p:grpSpPr>
          <p:sp>
            <p:nvSpPr>
              <p:cNvPr id="2089" name="Google Shape;2089;p12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090" name="Google Shape;2090;p124"/>
              <p:cNvGrpSpPr/>
              <p:nvPr/>
            </p:nvGrpSpPr>
            <p:grpSpPr>
              <a:xfrm>
                <a:off x="7711013" y="4002615"/>
                <a:ext cx="281520" cy="241973"/>
                <a:chOff x="5652748" y="4066000"/>
                <a:chExt cx="906498" cy="747974"/>
              </a:xfrm>
            </p:grpSpPr>
            <p:sp>
              <p:nvSpPr>
                <p:cNvPr id="2091" name="Google Shape;2091;p12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092" name="Google Shape;2092;p12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093" name="Google Shape;2093;p12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094" name="Google Shape;2094;p12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13" name="Shape 2113"/>
        <p:cNvGrpSpPr/>
        <p:nvPr/>
      </p:nvGrpSpPr>
      <p:grpSpPr>
        <a:xfrm>
          <a:off x="0" y="0"/>
          <a:ext cx="0" cy="0"/>
          <a:chOff x="0" y="0"/>
          <a:chExt cx="0" cy="0"/>
        </a:xfrm>
      </p:grpSpPr>
      <p:cxnSp>
        <p:nvCxnSpPr>
          <p:cNvPr id="2114" name="Google Shape;2114;p12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115" name="Google Shape;2115;p12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Digital Optimization</a:t>
            </a:r>
            <a:endParaRPr sz="1600"/>
          </a:p>
        </p:txBody>
      </p:sp>
      <p:graphicFrame>
        <p:nvGraphicFramePr>
          <p:cNvPr id="2116" name="Google Shape;2116;p12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rPr>
                        <a:t>Use customers’ on-line journey’s and browsing behaviors to streamline website and mobile app navigation </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rPr>
                        <a:t>Customers can quickly become frustrated with the time taken to access information or complete a transaction within</a:t>
                      </a:r>
                      <a:r>
                        <a:rPr b="0" lang="en-GB" sz="900">
                          <a:solidFill>
                            <a:schemeClr val="dk1"/>
                          </a:solidFill>
                        </a:rPr>
                        <a:t> a web or mobile application. </a:t>
                      </a:r>
                      <a:r>
                        <a:rPr b="0" lang="en-GB" sz="900">
                          <a:solidFill>
                            <a:schemeClr val="dk1"/>
                          </a:solidFill>
                        </a:rPr>
                        <a:t>It is difficult for organizations to fully understand this issue that leads to abandonment</a:t>
                      </a:r>
                      <a:r>
                        <a:rPr b="0" lang="en-GB" sz="900">
                          <a:solidFill>
                            <a:schemeClr val="dk1"/>
                          </a:solidFill>
                        </a:rPr>
                        <a:t> and </a:t>
                      </a:r>
                      <a:r>
                        <a:rPr b="0" lang="en-GB" sz="900">
                          <a:solidFill>
                            <a:schemeClr val="dk1"/>
                          </a:solidFill>
                        </a:rPr>
                        <a:t>channel switching behavior.</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endParaRPr>
                    </a:p>
                    <a:p>
                      <a:pPr indent="0" lvl="0" marL="0" marR="0" rtl="0" algn="l">
                        <a:spcBef>
                          <a:spcPts val="0"/>
                        </a:spcBef>
                        <a:spcAft>
                          <a:spcPts val="0"/>
                        </a:spcAft>
                        <a:buNone/>
                      </a:pPr>
                      <a:r>
                        <a:rPr b="0" lang="en-GB" sz="900">
                          <a:solidFill>
                            <a:schemeClr val="dk1"/>
                          </a:solidFill>
                        </a:rPr>
                        <a:t>Companies can use customers on-line journey’s and browsing behaviors to streamline website and mobile app navigation and correct technical, content, </a:t>
                      </a:r>
                      <a:r>
                        <a:rPr b="0" lang="en-GB" sz="900">
                          <a:solidFill>
                            <a:schemeClr val="dk1"/>
                          </a:solidFill>
                        </a:rPr>
                        <a:t>and user interface </a:t>
                      </a:r>
                      <a:r>
                        <a:rPr b="0" lang="en-GB" sz="900">
                          <a:solidFill>
                            <a:schemeClr val="dk1"/>
                          </a:solidFill>
                        </a:rPr>
                        <a:t>issues, optimizing the on-line Customer experience and driving higher sales conversion.</a:t>
                      </a:r>
                      <a:endParaRPr/>
                    </a:p>
                    <a:p>
                      <a:pPr indent="0" lvl="0" marL="0" marR="0" rtl="0" algn="l">
                        <a:spcBef>
                          <a:spcPts val="0"/>
                        </a:spcBef>
                        <a:spcAft>
                          <a:spcPts val="0"/>
                        </a:spcAft>
                        <a:buNone/>
                      </a:pPr>
                      <a:r>
                        <a:t/>
                      </a:r>
                      <a:endParaRPr b="0" sz="900">
                        <a:solidFill>
                          <a:schemeClr val="dk1"/>
                        </a:solidFill>
                      </a:endParaRPr>
                    </a:p>
                    <a:p>
                      <a:pPr indent="0" lvl="0" marL="0" marR="0" rtl="0" algn="l">
                        <a:spcBef>
                          <a:spcPts val="0"/>
                        </a:spcBef>
                        <a:spcAft>
                          <a:spcPts val="0"/>
                        </a:spcAft>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Weblog data from website using tools such as Celebrus</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Mobile app usage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profiles, event and transaction history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Filtering and segmentation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Sessionization of data to identify the whole interaction within and across all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Path analysis to identify all Customer journeys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Visualization to display results in a sankey chart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opportunities to improve  website and mobile app navigation/pathing such as: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Site landing/departure pages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Error pages and page before/after</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Effectiveness of landing pages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Checkout </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Product affinity based on page views</a:t>
                      </a:r>
                      <a:endParaRPr sz="900" u="none" cap="none" strike="noStrike">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and higher cross sell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profitability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117" name="Google Shape;2117;p126"/>
          <p:cNvGrpSpPr/>
          <p:nvPr/>
        </p:nvGrpSpPr>
        <p:grpSpPr>
          <a:xfrm>
            <a:off x="6659508" y="225152"/>
            <a:ext cx="2432605" cy="1508418"/>
            <a:chOff x="6030133" y="723902"/>
            <a:chExt cx="2432605" cy="1508418"/>
          </a:xfrm>
        </p:grpSpPr>
        <p:sp>
          <p:nvSpPr>
            <p:cNvPr id="2118" name="Google Shape;2118;p126"/>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119" name="Google Shape;2119;p126"/>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20" name="Google Shape;2120;p126"/>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21" name="Google Shape;2121;p126"/>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22" name="Google Shape;2122;p126"/>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23" name="Google Shape;2123;p126"/>
            <p:cNvGrpSpPr/>
            <p:nvPr/>
          </p:nvGrpSpPr>
          <p:grpSpPr>
            <a:xfrm>
              <a:off x="8107751" y="1342792"/>
              <a:ext cx="276507" cy="393460"/>
              <a:chOff x="6954288" y="1678075"/>
              <a:chExt cx="679456" cy="947737"/>
            </a:xfrm>
          </p:grpSpPr>
          <p:sp>
            <p:nvSpPr>
              <p:cNvPr id="2124" name="Google Shape;2124;p126"/>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5" name="Google Shape;2125;p126"/>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6" name="Google Shape;2126;p126"/>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7" name="Google Shape;2127;p126"/>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8" name="Google Shape;2128;p126"/>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129" name="Google Shape;2129;p126"/>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0" name="Google Shape;2130;p126"/>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1" name="Google Shape;2131;p126"/>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32" name="Google Shape;2132;p126"/>
            <p:cNvGrpSpPr/>
            <p:nvPr/>
          </p:nvGrpSpPr>
          <p:grpSpPr>
            <a:xfrm>
              <a:off x="6671216" y="765814"/>
              <a:ext cx="308250" cy="494711"/>
              <a:chOff x="2125012" y="-1063625"/>
              <a:chExt cx="1420813" cy="2235201"/>
            </a:xfrm>
          </p:grpSpPr>
          <p:sp>
            <p:nvSpPr>
              <p:cNvPr id="2133" name="Google Shape;2133;p126"/>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4" name="Google Shape;2134;p126"/>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135" name="Google Shape;2135;p126"/>
            <p:cNvGrpSpPr/>
            <p:nvPr/>
          </p:nvGrpSpPr>
          <p:grpSpPr>
            <a:xfrm>
              <a:off x="7987780" y="1794063"/>
              <a:ext cx="243489" cy="387124"/>
              <a:chOff x="6417856" y="340853"/>
              <a:chExt cx="217304" cy="589385"/>
            </a:xfrm>
          </p:grpSpPr>
          <p:sp>
            <p:nvSpPr>
              <p:cNvPr id="2136" name="Google Shape;2136;p126"/>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7" name="Google Shape;2137;p126"/>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138" name="Google Shape;2138;p126"/>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139" name="Google Shape;2139;p126"/>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140" name="Google Shape;2140;p126"/>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41" name="Google Shape;2141;p126"/>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142" name="Google Shape;2142;p12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143" name="Google Shape;2143;p126"/>
          <p:cNvGrpSpPr/>
          <p:nvPr/>
        </p:nvGrpSpPr>
        <p:grpSpPr>
          <a:xfrm>
            <a:off x="7717533" y="4360377"/>
            <a:ext cx="1058348" cy="347375"/>
            <a:chOff x="7651698" y="4287227"/>
            <a:chExt cx="1058348" cy="347375"/>
          </a:xfrm>
        </p:grpSpPr>
        <p:grpSp>
          <p:nvGrpSpPr>
            <p:cNvPr id="2144" name="Google Shape;2144;p126"/>
            <p:cNvGrpSpPr/>
            <p:nvPr/>
          </p:nvGrpSpPr>
          <p:grpSpPr>
            <a:xfrm>
              <a:off x="7714163" y="4337598"/>
              <a:ext cx="995883" cy="297004"/>
              <a:chOff x="7711013" y="3986494"/>
              <a:chExt cx="995883" cy="297004"/>
            </a:xfrm>
          </p:grpSpPr>
          <p:sp>
            <p:nvSpPr>
              <p:cNvPr id="2145" name="Google Shape;2145;p12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146" name="Google Shape;2146;p126"/>
              <p:cNvGrpSpPr/>
              <p:nvPr/>
            </p:nvGrpSpPr>
            <p:grpSpPr>
              <a:xfrm>
                <a:off x="7711013" y="4002615"/>
                <a:ext cx="281520" cy="241973"/>
                <a:chOff x="5652748" y="4066000"/>
                <a:chExt cx="906498" cy="747974"/>
              </a:xfrm>
            </p:grpSpPr>
            <p:sp>
              <p:nvSpPr>
                <p:cNvPr id="2147" name="Google Shape;2147;p12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148" name="Google Shape;2148;p12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149" name="Google Shape;2149;p12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150" name="Google Shape;2150;p12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69" name="Shape 2169"/>
        <p:cNvGrpSpPr/>
        <p:nvPr/>
      </p:nvGrpSpPr>
      <p:grpSpPr>
        <a:xfrm>
          <a:off x="0" y="0"/>
          <a:ext cx="0" cy="0"/>
          <a:chOff x="0" y="0"/>
          <a:chExt cx="0" cy="0"/>
        </a:xfrm>
      </p:grpSpPr>
      <p:cxnSp>
        <p:nvCxnSpPr>
          <p:cNvPr id="2170" name="Google Shape;2170;p12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171" name="Google Shape;2171;p12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Search Engine Optimization</a:t>
            </a:r>
            <a:endParaRPr sz="1600"/>
          </a:p>
        </p:txBody>
      </p:sp>
      <p:graphicFrame>
        <p:nvGraphicFramePr>
          <p:cNvPr id="2172" name="Google Shape;2172;p12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Improve relevancy of web site search results to</a:t>
                      </a:r>
                      <a:r>
                        <a:rPr b="1" lang="en-GB" sz="900">
                          <a:solidFill>
                            <a:schemeClr val="dk1"/>
                          </a:solidFill>
                        </a:rPr>
                        <a:t> drive higher conversion</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number of zero result </a:t>
                      </a:r>
                      <a:r>
                        <a:rPr b="0" lang="en-GB" sz="900">
                          <a:solidFill>
                            <a:schemeClr val="dk1"/>
                          </a:solidFill>
                        </a:rPr>
                        <a:t> and underperforming search </a:t>
                      </a:r>
                      <a:r>
                        <a:rPr b="0" lang="en-GB" sz="900">
                          <a:solidFill>
                            <a:schemeClr val="dk1"/>
                          </a:solidFill>
                        </a:rPr>
                        <a:t>queries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breadth</a:t>
                      </a:r>
                      <a:r>
                        <a:rPr b="0" lang="en-GB" sz="900">
                          <a:solidFill>
                            <a:schemeClr val="dk1"/>
                          </a:solidFill>
                        </a:rPr>
                        <a:t> of keywords  most  closely associated with products  by utilizing customer search behaviour</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Enable search queries to return more products associated with the search words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product ranking algorithms to present most relevant products  first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nuances of language, alternative terms and factor in popularity and “related search” terms.</a:t>
                      </a:r>
                      <a:endParaRPr/>
                    </a:p>
                    <a:p>
                      <a:pPr indent="0" lvl="0" marL="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Web/mobile sales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Web/mobile browsing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taxonomy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Search tool thesaurus and dictionary</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TF-IDF, Cosine similarity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Naïve Bayes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Pathing</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Collaborative filtering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Support vector machines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manual maintenance and intervention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items returned per searched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relevancy of products returned and in order presented ion the web page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conversion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zero and underperforming queries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customer drop-out/abandonment.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173" name="Google Shape;2173;p128"/>
          <p:cNvGrpSpPr/>
          <p:nvPr/>
        </p:nvGrpSpPr>
        <p:grpSpPr>
          <a:xfrm>
            <a:off x="6659508" y="225152"/>
            <a:ext cx="2432605" cy="1508418"/>
            <a:chOff x="6030133" y="723902"/>
            <a:chExt cx="2432605" cy="1508418"/>
          </a:xfrm>
        </p:grpSpPr>
        <p:sp>
          <p:nvSpPr>
            <p:cNvPr id="2174" name="Google Shape;2174;p128"/>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175" name="Google Shape;2175;p128"/>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76" name="Google Shape;2176;p128"/>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77" name="Google Shape;2177;p128"/>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78" name="Google Shape;2178;p128"/>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79" name="Google Shape;2179;p128"/>
            <p:cNvGrpSpPr/>
            <p:nvPr/>
          </p:nvGrpSpPr>
          <p:grpSpPr>
            <a:xfrm>
              <a:off x="8107751" y="1342792"/>
              <a:ext cx="276507" cy="393460"/>
              <a:chOff x="6954288" y="1678075"/>
              <a:chExt cx="679456" cy="947737"/>
            </a:xfrm>
          </p:grpSpPr>
          <p:sp>
            <p:nvSpPr>
              <p:cNvPr id="2180" name="Google Shape;2180;p128"/>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1" name="Google Shape;2181;p128"/>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2" name="Google Shape;2182;p128"/>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3" name="Google Shape;2183;p128"/>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4" name="Google Shape;2184;p128"/>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185" name="Google Shape;2185;p128"/>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86" name="Google Shape;2186;p128"/>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87" name="Google Shape;2187;p128"/>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88" name="Google Shape;2188;p128"/>
            <p:cNvGrpSpPr/>
            <p:nvPr/>
          </p:nvGrpSpPr>
          <p:grpSpPr>
            <a:xfrm>
              <a:off x="6671216" y="765814"/>
              <a:ext cx="308250" cy="494711"/>
              <a:chOff x="2125012" y="-1063625"/>
              <a:chExt cx="1420813" cy="2235201"/>
            </a:xfrm>
          </p:grpSpPr>
          <p:sp>
            <p:nvSpPr>
              <p:cNvPr id="2189" name="Google Shape;2189;p128"/>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90" name="Google Shape;2190;p128"/>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191" name="Google Shape;2191;p128"/>
            <p:cNvGrpSpPr/>
            <p:nvPr/>
          </p:nvGrpSpPr>
          <p:grpSpPr>
            <a:xfrm>
              <a:off x="7987780" y="1794063"/>
              <a:ext cx="243489" cy="387124"/>
              <a:chOff x="6417856" y="340853"/>
              <a:chExt cx="217304" cy="589385"/>
            </a:xfrm>
          </p:grpSpPr>
          <p:sp>
            <p:nvSpPr>
              <p:cNvPr id="2192" name="Google Shape;2192;p128"/>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93" name="Google Shape;2193;p128"/>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194" name="Google Shape;2194;p128"/>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195" name="Google Shape;2195;p128"/>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196" name="Google Shape;2196;p128"/>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97" name="Google Shape;2197;p128"/>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198" name="Google Shape;2198;p12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199" name="Google Shape;2199;p128"/>
          <p:cNvGrpSpPr/>
          <p:nvPr/>
        </p:nvGrpSpPr>
        <p:grpSpPr>
          <a:xfrm>
            <a:off x="7717533" y="4360377"/>
            <a:ext cx="1058348" cy="347375"/>
            <a:chOff x="7651698" y="4287227"/>
            <a:chExt cx="1058348" cy="347375"/>
          </a:xfrm>
        </p:grpSpPr>
        <p:grpSp>
          <p:nvGrpSpPr>
            <p:cNvPr id="2200" name="Google Shape;2200;p128"/>
            <p:cNvGrpSpPr/>
            <p:nvPr/>
          </p:nvGrpSpPr>
          <p:grpSpPr>
            <a:xfrm>
              <a:off x="7714163" y="4337598"/>
              <a:ext cx="995883" cy="297004"/>
              <a:chOff x="7711013" y="3986494"/>
              <a:chExt cx="995883" cy="297004"/>
            </a:xfrm>
          </p:grpSpPr>
          <p:sp>
            <p:nvSpPr>
              <p:cNvPr id="2201" name="Google Shape;2201;p12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202" name="Google Shape;2202;p128"/>
              <p:cNvGrpSpPr/>
              <p:nvPr/>
            </p:nvGrpSpPr>
            <p:grpSpPr>
              <a:xfrm>
                <a:off x="7711013" y="4002615"/>
                <a:ext cx="281520" cy="241973"/>
                <a:chOff x="5652748" y="4066000"/>
                <a:chExt cx="906498" cy="747974"/>
              </a:xfrm>
            </p:grpSpPr>
            <p:sp>
              <p:nvSpPr>
                <p:cNvPr id="2203" name="Google Shape;2203;p12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204" name="Google Shape;2204;p12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205" name="Google Shape;2205;p12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206" name="Google Shape;2206;p12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25" name="Shape 2225"/>
        <p:cNvGrpSpPr/>
        <p:nvPr/>
      </p:nvGrpSpPr>
      <p:grpSpPr>
        <a:xfrm>
          <a:off x="0" y="0"/>
          <a:ext cx="0" cy="0"/>
          <a:chOff x="0" y="0"/>
          <a:chExt cx="0" cy="0"/>
        </a:xfrm>
      </p:grpSpPr>
      <p:cxnSp>
        <p:nvCxnSpPr>
          <p:cNvPr id="2226" name="Google Shape;2226;p13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227" name="Google Shape;2227;p13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Personalization</a:t>
            </a:r>
            <a:endParaRPr sz="1600"/>
          </a:p>
        </p:txBody>
      </p:sp>
      <p:graphicFrame>
        <p:nvGraphicFramePr>
          <p:cNvPr id="2228" name="Google Shape;2228;p13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Century Gothic"/>
                        <a:buNone/>
                      </a:pPr>
                      <a:r>
                        <a:rPr b="1" lang="en-GB" sz="900">
                          <a:solidFill>
                            <a:schemeClr val="dk1"/>
                          </a:solidFill>
                        </a:rPr>
                        <a:t>Move from mass customisation of offers (based on broad segments)</a:t>
                      </a:r>
                      <a:r>
                        <a:rPr b="1" lang="en-GB" sz="900">
                          <a:solidFill>
                            <a:schemeClr val="dk1"/>
                          </a:solidFill>
                        </a:rPr>
                        <a:t> </a:t>
                      </a:r>
                      <a:r>
                        <a:rPr b="1" lang="en-GB" sz="900">
                          <a:solidFill>
                            <a:schemeClr val="dk1"/>
                          </a:solidFill>
                        </a:rPr>
                        <a:t> to 1to</a:t>
                      </a:r>
                      <a:r>
                        <a:rPr b="1" lang="en-GB" sz="900">
                          <a:solidFill>
                            <a:schemeClr val="dk1"/>
                          </a:solidFill>
                        </a:rPr>
                        <a:t> 1</a:t>
                      </a:r>
                      <a:r>
                        <a:rPr b="1" lang="en-GB" sz="900">
                          <a:solidFill>
                            <a:schemeClr val="dk1"/>
                          </a:solidFill>
                        </a:rPr>
                        <a:t> personalisation of customer communications using individual customer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the level of ‘broadcast’ communication and engage with customers on a one to one basis.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Establish a more engaging dialogue with customers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the perception of the brand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Increase the relevance of each communication to improve response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Optimize marketing spend ROI by increasing leads effectiveness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Demographic, geo-demographic, behavioral or attitudinal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Data from 1st party sources such as financial transactions, balances, account demographics, spending, attitudes or browsing behavior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Data from 3rd party sources such as social media including hobbies, interests or brand affinities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Individually personalized quotes or illustrations based on customer circumstances, feedback or enquiries</a:t>
                      </a:r>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Analysis of individual personalized elements of an offer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Affinities, behavioral</a:t>
                      </a:r>
                      <a:r>
                        <a:rPr b="0" lang="en-GB" sz="900">
                          <a:solidFill>
                            <a:schemeClr val="dk1"/>
                          </a:solidFill>
                        </a:rPr>
                        <a:t> segmentation</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response from content that customers find more relevant to their individual circumstances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Dynamical adaptation of customer interface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conversion through more specific explanation of benefits / features or products and services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Higher levels of engagement and satisfaction with a companies’ brand due to more accurate messaging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streamline creative production processes as result of move from segment based composition to individual construction of media using technologies like inline digital print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229" name="Google Shape;2229;p130"/>
          <p:cNvGrpSpPr/>
          <p:nvPr/>
        </p:nvGrpSpPr>
        <p:grpSpPr>
          <a:xfrm>
            <a:off x="6659508" y="225152"/>
            <a:ext cx="2432605" cy="1508418"/>
            <a:chOff x="6030133" y="723902"/>
            <a:chExt cx="2432605" cy="1508418"/>
          </a:xfrm>
        </p:grpSpPr>
        <p:sp>
          <p:nvSpPr>
            <p:cNvPr id="2230" name="Google Shape;2230;p130"/>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231" name="Google Shape;2231;p130"/>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32" name="Google Shape;2232;p130"/>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33" name="Google Shape;2233;p130"/>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34" name="Google Shape;2234;p130"/>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235" name="Google Shape;2235;p130"/>
            <p:cNvGrpSpPr/>
            <p:nvPr/>
          </p:nvGrpSpPr>
          <p:grpSpPr>
            <a:xfrm>
              <a:off x="8107751" y="1342792"/>
              <a:ext cx="276507" cy="393460"/>
              <a:chOff x="6954288" y="1678075"/>
              <a:chExt cx="679456" cy="947737"/>
            </a:xfrm>
          </p:grpSpPr>
          <p:sp>
            <p:nvSpPr>
              <p:cNvPr id="2236" name="Google Shape;2236;p130"/>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37" name="Google Shape;2237;p130"/>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38" name="Google Shape;2238;p130"/>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39" name="Google Shape;2239;p130"/>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40" name="Google Shape;2240;p130"/>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241" name="Google Shape;2241;p130"/>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2" name="Google Shape;2242;p130"/>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3" name="Google Shape;2243;p130"/>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244" name="Google Shape;2244;p130"/>
            <p:cNvGrpSpPr/>
            <p:nvPr/>
          </p:nvGrpSpPr>
          <p:grpSpPr>
            <a:xfrm>
              <a:off x="6671216" y="765814"/>
              <a:ext cx="308250" cy="494711"/>
              <a:chOff x="2125012" y="-1063625"/>
              <a:chExt cx="1420813" cy="2235201"/>
            </a:xfrm>
          </p:grpSpPr>
          <p:sp>
            <p:nvSpPr>
              <p:cNvPr id="2245" name="Google Shape;2245;p130"/>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6" name="Google Shape;2246;p130"/>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247" name="Google Shape;2247;p130"/>
            <p:cNvGrpSpPr/>
            <p:nvPr/>
          </p:nvGrpSpPr>
          <p:grpSpPr>
            <a:xfrm>
              <a:off x="7987780" y="1794063"/>
              <a:ext cx="243489" cy="387124"/>
              <a:chOff x="6417856" y="340853"/>
              <a:chExt cx="217304" cy="589385"/>
            </a:xfrm>
          </p:grpSpPr>
          <p:sp>
            <p:nvSpPr>
              <p:cNvPr id="2248" name="Google Shape;2248;p130"/>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9" name="Google Shape;2249;p130"/>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250" name="Google Shape;2250;p130"/>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251" name="Google Shape;2251;p130"/>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252" name="Google Shape;2252;p130"/>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53" name="Google Shape;2253;p130"/>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254" name="Google Shape;2254;p13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255" name="Google Shape;2255;p130"/>
          <p:cNvGrpSpPr/>
          <p:nvPr/>
        </p:nvGrpSpPr>
        <p:grpSpPr>
          <a:xfrm>
            <a:off x="7717533" y="4360377"/>
            <a:ext cx="1058348" cy="347375"/>
            <a:chOff x="7651698" y="4287227"/>
            <a:chExt cx="1058348" cy="347375"/>
          </a:xfrm>
        </p:grpSpPr>
        <p:grpSp>
          <p:nvGrpSpPr>
            <p:cNvPr id="2256" name="Google Shape;2256;p130"/>
            <p:cNvGrpSpPr/>
            <p:nvPr/>
          </p:nvGrpSpPr>
          <p:grpSpPr>
            <a:xfrm>
              <a:off x="7714163" y="4337598"/>
              <a:ext cx="995883" cy="297004"/>
              <a:chOff x="7711013" y="3986494"/>
              <a:chExt cx="995883" cy="297004"/>
            </a:xfrm>
          </p:grpSpPr>
          <p:sp>
            <p:nvSpPr>
              <p:cNvPr id="2257" name="Google Shape;2257;p13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258" name="Google Shape;2258;p130"/>
              <p:cNvGrpSpPr/>
              <p:nvPr/>
            </p:nvGrpSpPr>
            <p:grpSpPr>
              <a:xfrm>
                <a:off x="7711013" y="4002615"/>
                <a:ext cx="281520" cy="241973"/>
                <a:chOff x="5652748" y="4066000"/>
                <a:chExt cx="906498" cy="747974"/>
              </a:xfrm>
            </p:grpSpPr>
            <p:sp>
              <p:nvSpPr>
                <p:cNvPr id="2259" name="Google Shape;2259;p13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260" name="Google Shape;2260;p13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261" name="Google Shape;2261;p13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262" name="Google Shape;2262;p13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81" name="Shape 2281"/>
        <p:cNvGrpSpPr/>
        <p:nvPr/>
      </p:nvGrpSpPr>
      <p:grpSpPr>
        <a:xfrm>
          <a:off x="0" y="0"/>
          <a:ext cx="0" cy="0"/>
          <a:chOff x="0" y="0"/>
          <a:chExt cx="0" cy="0"/>
        </a:xfrm>
      </p:grpSpPr>
      <p:cxnSp>
        <p:nvCxnSpPr>
          <p:cNvPr id="2282" name="Google Shape;2282;p13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283" name="Google Shape;2283;p13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Next Best Action Arbitration </a:t>
            </a:r>
            <a:endParaRPr/>
          </a:p>
        </p:txBody>
      </p:sp>
      <p:graphicFrame>
        <p:nvGraphicFramePr>
          <p:cNvPr id="2284" name="Google Shape;2284;p13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Determining the next best action for a customer when they interact with the company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Calculate the next best action for a customer by arbitrating across the possible customer treatments that could be presented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Prioritise possible customer treatments using models and segmentation based on the current value, potential value, propensity and status of the customer relationship</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customer treatment strategies based on strategic objectives such as retain, cross sell, reduce risk, reduce cost or exit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customer differentiated actions relevant to the status of the customer relationship and the recommendation – i.e. preferential service / pricing / relationship offer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Value – current, potential and remaining</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segmentation, satisfaction scores, complaints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Propensity Models for a number of outcomes including leave, cross-sell, up-sell, use service,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context when interacting in channel &amp; contact history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Development of arbitration algorithms / decisioning to prioritize Next Best Action recommendation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Tracking of recommendation uptake – including product purchase / service usage / channel usage / product usage behavior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Longer term tracking of strategic customer measures such as profitability / satisfaction / average product holdings / channel usage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appropriate customer  messaging (not just cross sales or offers) based on depth and nature of customer relationship</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focus on retention of profitable customer relationships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Better alignment between strategy and execution of activity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balanced offer solicitation across both sales and service – with the objective of deepening customer relationships and improving customer satisfaction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customer perception of company communications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Lower marketing opt out rates caused by over solicitation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285" name="Google Shape;2285;p132"/>
          <p:cNvGrpSpPr/>
          <p:nvPr/>
        </p:nvGrpSpPr>
        <p:grpSpPr>
          <a:xfrm>
            <a:off x="6659508" y="225152"/>
            <a:ext cx="2432605" cy="1508418"/>
            <a:chOff x="6030133" y="723902"/>
            <a:chExt cx="2432605" cy="1508418"/>
          </a:xfrm>
        </p:grpSpPr>
        <p:sp>
          <p:nvSpPr>
            <p:cNvPr id="2286" name="Google Shape;2286;p132"/>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287" name="Google Shape;2287;p132"/>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88" name="Google Shape;2288;p132"/>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89" name="Google Shape;2289;p132"/>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90" name="Google Shape;2290;p132"/>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291" name="Google Shape;2291;p132"/>
            <p:cNvGrpSpPr/>
            <p:nvPr/>
          </p:nvGrpSpPr>
          <p:grpSpPr>
            <a:xfrm>
              <a:off x="8107751" y="1342792"/>
              <a:ext cx="276507" cy="393460"/>
              <a:chOff x="6954288" y="1678075"/>
              <a:chExt cx="679456" cy="947737"/>
            </a:xfrm>
          </p:grpSpPr>
          <p:sp>
            <p:nvSpPr>
              <p:cNvPr id="2292" name="Google Shape;2292;p132"/>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3" name="Google Shape;2293;p132"/>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4" name="Google Shape;2294;p132"/>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5" name="Google Shape;2295;p132"/>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6" name="Google Shape;2296;p132"/>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297" name="Google Shape;2297;p132"/>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98" name="Google Shape;2298;p132"/>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99" name="Google Shape;2299;p132"/>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300" name="Google Shape;2300;p132"/>
            <p:cNvGrpSpPr/>
            <p:nvPr/>
          </p:nvGrpSpPr>
          <p:grpSpPr>
            <a:xfrm>
              <a:off x="6671216" y="765814"/>
              <a:ext cx="308250" cy="494711"/>
              <a:chOff x="2125012" y="-1063625"/>
              <a:chExt cx="1420813" cy="2235201"/>
            </a:xfrm>
          </p:grpSpPr>
          <p:sp>
            <p:nvSpPr>
              <p:cNvPr id="2301" name="Google Shape;2301;p132"/>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02" name="Google Shape;2302;p132"/>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303" name="Google Shape;2303;p132"/>
            <p:cNvGrpSpPr/>
            <p:nvPr/>
          </p:nvGrpSpPr>
          <p:grpSpPr>
            <a:xfrm>
              <a:off x="7987780" y="1794063"/>
              <a:ext cx="243489" cy="387124"/>
              <a:chOff x="6417856" y="340853"/>
              <a:chExt cx="217304" cy="589385"/>
            </a:xfrm>
          </p:grpSpPr>
          <p:sp>
            <p:nvSpPr>
              <p:cNvPr id="2304" name="Google Shape;2304;p132"/>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05" name="Google Shape;2305;p132"/>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306" name="Google Shape;2306;p132"/>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307" name="Google Shape;2307;p132"/>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308" name="Google Shape;2308;p132"/>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09" name="Google Shape;2309;p132"/>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310" name="Google Shape;2310;p13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311" name="Google Shape;2311;p132"/>
          <p:cNvGrpSpPr/>
          <p:nvPr/>
        </p:nvGrpSpPr>
        <p:grpSpPr>
          <a:xfrm>
            <a:off x="7717533" y="4360377"/>
            <a:ext cx="1058348" cy="347375"/>
            <a:chOff x="7651698" y="4287227"/>
            <a:chExt cx="1058348" cy="347375"/>
          </a:xfrm>
        </p:grpSpPr>
        <p:grpSp>
          <p:nvGrpSpPr>
            <p:cNvPr id="2312" name="Google Shape;2312;p132"/>
            <p:cNvGrpSpPr/>
            <p:nvPr/>
          </p:nvGrpSpPr>
          <p:grpSpPr>
            <a:xfrm>
              <a:off x="7714163" y="4337598"/>
              <a:ext cx="995883" cy="297004"/>
              <a:chOff x="7711013" y="3986494"/>
              <a:chExt cx="995883" cy="297004"/>
            </a:xfrm>
          </p:grpSpPr>
          <p:sp>
            <p:nvSpPr>
              <p:cNvPr id="2313" name="Google Shape;2313;p13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314" name="Google Shape;2314;p132"/>
              <p:cNvGrpSpPr/>
              <p:nvPr/>
            </p:nvGrpSpPr>
            <p:grpSpPr>
              <a:xfrm>
                <a:off x="7711013" y="4002615"/>
                <a:ext cx="281520" cy="241973"/>
                <a:chOff x="5652748" y="4066000"/>
                <a:chExt cx="906498" cy="747974"/>
              </a:xfrm>
            </p:grpSpPr>
            <p:sp>
              <p:nvSpPr>
                <p:cNvPr id="2315" name="Google Shape;2315;p13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316" name="Google Shape;2316;p13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317" name="Google Shape;2317;p13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318" name="Google Shape;2318;p13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37" name="Shape 2337"/>
        <p:cNvGrpSpPr/>
        <p:nvPr/>
      </p:nvGrpSpPr>
      <p:grpSpPr>
        <a:xfrm>
          <a:off x="0" y="0"/>
          <a:ext cx="0" cy="0"/>
          <a:chOff x="0" y="0"/>
          <a:chExt cx="0" cy="0"/>
        </a:xfrm>
      </p:grpSpPr>
      <p:cxnSp>
        <p:nvCxnSpPr>
          <p:cNvPr id="2338" name="Google Shape;2338;p13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339" name="Google Shape;2339;p13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Recommendation</a:t>
            </a:r>
            <a:endParaRPr sz="1600"/>
          </a:p>
        </p:txBody>
      </p:sp>
      <p:grpSp>
        <p:nvGrpSpPr>
          <p:cNvPr id="2340" name="Google Shape;2340;p134"/>
          <p:cNvGrpSpPr/>
          <p:nvPr/>
        </p:nvGrpSpPr>
        <p:grpSpPr>
          <a:xfrm>
            <a:off x="6659508" y="225152"/>
            <a:ext cx="2432605" cy="1508418"/>
            <a:chOff x="6030133" y="723902"/>
            <a:chExt cx="2432605" cy="1508418"/>
          </a:xfrm>
        </p:grpSpPr>
        <p:sp>
          <p:nvSpPr>
            <p:cNvPr id="2341" name="Google Shape;2341;p134"/>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342" name="Google Shape;2342;p134"/>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43" name="Google Shape;2343;p134"/>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44" name="Google Shape;2344;p134"/>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45" name="Google Shape;2345;p134"/>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346" name="Google Shape;2346;p134"/>
            <p:cNvGrpSpPr/>
            <p:nvPr/>
          </p:nvGrpSpPr>
          <p:grpSpPr>
            <a:xfrm>
              <a:off x="8107751" y="1342792"/>
              <a:ext cx="276507" cy="393460"/>
              <a:chOff x="6954288" y="1678075"/>
              <a:chExt cx="679456" cy="947737"/>
            </a:xfrm>
          </p:grpSpPr>
          <p:sp>
            <p:nvSpPr>
              <p:cNvPr id="2347" name="Google Shape;2347;p134"/>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48" name="Google Shape;2348;p134"/>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49" name="Google Shape;2349;p134"/>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50" name="Google Shape;2350;p134"/>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51" name="Google Shape;2351;p134"/>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352" name="Google Shape;2352;p134"/>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53" name="Google Shape;2353;p134"/>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54" name="Google Shape;2354;p134"/>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355" name="Google Shape;2355;p134"/>
            <p:cNvGrpSpPr/>
            <p:nvPr/>
          </p:nvGrpSpPr>
          <p:grpSpPr>
            <a:xfrm>
              <a:off x="6671216" y="765814"/>
              <a:ext cx="308250" cy="494711"/>
              <a:chOff x="2125012" y="-1063625"/>
              <a:chExt cx="1420813" cy="2235201"/>
            </a:xfrm>
          </p:grpSpPr>
          <p:sp>
            <p:nvSpPr>
              <p:cNvPr id="2356" name="Google Shape;2356;p134"/>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57" name="Google Shape;2357;p134"/>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358" name="Google Shape;2358;p134"/>
            <p:cNvGrpSpPr/>
            <p:nvPr/>
          </p:nvGrpSpPr>
          <p:grpSpPr>
            <a:xfrm>
              <a:off x="7987780" y="1794063"/>
              <a:ext cx="243489" cy="387124"/>
              <a:chOff x="6417856" y="340853"/>
              <a:chExt cx="217304" cy="589385"/>
            </a:xfrm>
          </p:grpSpPr>
          <p:sp>
            <p:nvSpPr>
              <p:cNvPr id="2359" name="Google Shape;2359;p134"/>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60" name="Google Shape;2360;p134"/>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361" name="Google Shape;2361;p134"/>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362" name="Google Shape;2362;p134"/>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363" name="Google Shape;2363;p134"/>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64" name="Google Shape;2364;p134"/>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aphicFrame>
        <p:nvGraphicFramePr>
          <p:cNvPr id="2365" name="Google Shape;2365;p134"/>
          <p:cNvGraphicFramePr/>
          <p:nvPr/>
        </p:nvGraphicFramePr>
        <p:xfrm>
          <a:off x="382967" y="70719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Present the most relevant product</a:t>
                      </a:r>
                      <a:r>
                        <a:rPr b="1" lang="en-GB" sz="900">
                          <a:solidFill>
                            <a:schemeClr val="dk1"/>
                          </a:solidFill>
                        </a:rPr>
                        <a:t> recommendation(s) based upon a customer/prospects interactions and previous behaviour</a:t>
                      </a:r>
                      <a:endParaRPr b="1" sz="900">
                        <a:solidFill>
                          <a:schemeClr val="dk1"/>
                        </a:solidFill>
                      </a:endParaRPr>
                    </a:p>
                    <a:p>
                      <a:pPr indent="0" lvl="0" marL="0" marR="0" rtl="0" algn="l">
                        <a:spcBef>
                          <a:spcPts val="0"/>
                        </a:spcBef>
                        <a:spcAft>
                          <a:spcPts val="0"/>
                        </a:spcAft>
                        <a:buNone/>
                      </a:pPr>
                      <a:r>
                        <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Drive</a:t>
                      </a:r>
                      <a:r>
                        <a:rPr b="0" lang="en-GB" sz="900">
                          <a:solidFill>
                            <a:schemeClr val="dk1"/>
                          </a:solidFill>
                        </a:rPr>
                        <a:t> increased transaction or basket size through product recommendations</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Extensive past</a:t>
                      </a:r>
                      <a:r>
                        <a:rPr b="0" lang="en-GB" sz="900">
                          <a:solidFill>
                            <a:schemeClr val="dk1"/>
                          </a:solidFill>
                        </a:rPr>
                        <a:t> customer purchasing histories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demographics &amp; segmentation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context when interacting in channel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contact history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Multiple affinity analysis techniques – EG C Filter, Graph</a:t>
                      </a:r>
                      <a:r>
                        <a:rPr b="0" lang="en-GB" sz="900">
                          <a:solidFill>
                            <a:schemeClr val="dk1"/>
                          </a:solidFill>
                        </a:rPr>
                        <a:t> Analysis, Propensity Modelling</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Development of arbitration algorithms / decisioning to prioritise product recommendation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Tracking of recommendation uptake – including product purchase / service usage / channel usage / product usage behavior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Longer term tracking of strategic customer measures such as profitability / satisfaction / average product holdings / channel usa</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product sales and margin driven from improved recommendations and better targeted offers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Customer Satisfaction &amp; Engagement</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2366" name="Google Shape;2366;p13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367" name="Google Shape;2367;p134"/>
          <p:cNvGrpSpPr/>
          <p:nvPr/>
        </p:nvGrpSpPr>
        <p:grpSpPr>
          <a:xfrm>
            <a:off x="7717533" y="4360377"/>
            <a:ext cx="1058348" cy="347375"/>
            <a:chOff x="7651698" y="4287227"/>
            <a:chExt cx="1058348" cy="347375"/>
          </a:xfrm>
        </p:grpSpPr>
        <p:grpSp>
          <p:nvGrpSpPr>
            <p:cNvPr id="2368" name="Google Shape;2368;p134"/>
            <p:cNvGrpSpPr/>
            <p:nvPr/>
          </p:nvGrpSpPr>
          <p:grpSpPr>
            <a:xfrm>
              <a:off x="7714163" y="4337598"/>
              <a:ext cx="995883" cy="297004"/>
              <a:chOff x="7711013" y="3986494"/>
              <a:chExt cx="995883" cy="297004"/>
            </a:xfrm>
          </p:grpSpPr>
          <p:sp>
            <p:nvSpPr>
              <p:cNvPr id="2369" name="Google Shape;2369;p13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370" name="Google Shape;2370;p134"/>
              <p:cNvGrpSpPr/>
              <p:nvPr/>
            </p:nvGrpSpPr>
            <p:grpSpPr>
              <a:xfrm>
                <a:off x="7711013" y="4002615"/>
                <a:ext cx="281520" cy="241973"/>
                <a:chOff x="5652748" y="4066000"/>
                <a:chExt cx="906498" cy="747974"/>
              </a:xfrm>
            </p:grpSpPr>
            <p:sp>
              <p:nvSpPr>
                <p:cNvPr id="2371" name="Google Shape;2371;p13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372" name="Google Shape;2372;p13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373" name="Google Shape;2373;p13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374" name="Google Shape;2374;p13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93" name="Shape 2393"/>
        <p:cNvGrpSpPr/>
        <p:nvPr/>
      </p:nvGrpSpPr>
      <p:grpSpPr>
        <a:xfrm>
          <a:off x="0" y="0"/>
          <a:ext cx="0" cy="0"/>
          <a:chOff x="0" y="0"/>
          <a:chExt cx="0" cy="0"/>
        </a:xfrm>
      </p:grpSpPr>
      <p:cxnSp>
        <p:nvCxnSpPr>
          <p:cNvPr id="2394" name="Google Shape;2394;p13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395" name="Google Shape;2395;p13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Multi-step Campaigns</a:t>
            </a:r>
            <a:endParaRPr/>
          </a:p>
        </p:txBody>
      </p:sp>
      <p:graphicFrame>
        <p:nvGraphicFramePr>
          <p:cNvPr id="2396" name="Google Shape;2396;p13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Create relevant 2-way dialogue </a:t>
                      </a:r>
                      <a:r>
                        <a:rPr b="1" lang="en-GB" sz="900">
                          <a:solidFill>
                            <a:schemeClr val="dk1"/>
                          </a:solidFill>
                        </a:rPr>
                        <a:t> with customers by determining next interaction based on outcome of previous  interactions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Traditional directly marketing activity employed single step episodic approaches when communicating with customers – largely ignoring any feedback received  from the customer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Use multi-step dialogues to improve the relevance of customer communications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Tailor the content of each step based on the outcomes (or lack of outcome) received from the previous step of a campaign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Orchestrate complex customer journeys - as the detail of outcomes / feedback captured improves and channel coverage expands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Dynamically react to customer journeys at a micro level as the interaction progresses E.g. online customer journey click by click</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Event triggers and customer listening agents to trigger contact opportunities / measure success</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Detailed closed loop outcomes from channels to trigger stepping of campaign activity</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Campaign management functionality to orchestrate customer journey steps and automate campaign execution</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Contact policy framework to control solicitation</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Detailed campaign analysis – show proportion of customers being stepped through campaign communications and measurement of success criteria at each stage</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Test &amp; learn analytics to optimise content / targeting within and across campaign steps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response to campaigns as a result of relevant and linked communication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 of activity through qualified follow-ups and channel optimisation for follow-up messaging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customer perception of relevance of communications with reduction in the number of marketing opt outs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Efficiency improvements from ability to automate activity using campaign management tools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397" name="Google Shape;2397;p136"/>
          <p:cNvGrpSpPr/>
          <p:nvPr/>
        </p:nvGrpSpPr>
        <p:grpSpPr>
          <a:xfrm>
            <a:off x="6659508" y="225152"/>
            <a:ext cx="2432605" cy="1508418"/>
            <a:chOff x="6030133" y="723902"/>
            <a:chExt cx="2432605" cy="1508418"/>
          </a:xfrm>
        </p:grpSpPr>
        <p:sp>
          <p:nvSpPr>
            <p:cNvPr id="2398" name="Google Shape;2398;p136"/>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399" name="Google Shape;2399;p136"/>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00" name="Google Shape;2400;p136"/>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01" name="Google Shape;2401;p136"/>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02" name="Google Shape;2402;p136"/>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03" name="Google Shape;2403;p136"/>
            <p:cNvGrpSpPr/>
            <p:nvPr/>
          </p:nvGrpSpPr>
          <p:grpSpPr>
            <a:xfrm>
              <a:off x="8107751" y="1342792"/>
              <a:ext cx="276507" cy="393460"/>
              <a:chOff x="6954288" y="1678075"/>
              <a:chExt cx="679456" cy="947737"/>
            </a:xfrm>
          </p:grpSpPr>
          <p:sp>
            <p:nvSpPr>
              <p:cNvPr id="2404" name="Google Shape;2404;p136"/>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5" name="Google Shape;2405;p136"/>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6" name="Google Shape;2406;p136"/>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7" name="Google Shape;2407;p136"/>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8" name="Google Shape;2408;p136"/>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409" name="Google Shape;2409;p136"/>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0" name="Google Shape;2410;p136"/>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1" name="Google Shape;2411;p136"/>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12" name="Google Shape;2412;p136"/>
            <p:cNvGrpSpPr/>
            <p:nvPr/>
          </p:nvGrpSpPr>
          <p:grpSpPr>
            <a:xfrm>
              <a:off x="6671216" y="765814"/>
              <a:ext cx="308250" cy="494711"/>
              <a:chOff x="2125012" y="-1063625"/>
              <a:chExt cx="1420813" cy="2235201"/>
            </a:xfrm>
          </p:grpSpPr>
          <p:sp>
            <p:nvSpPr>
              <p:cNvPr id="2413" name="Google Shape;2413;p136"/>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4" name="Google Shape;2414;p136"/>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415" name="Google Shape;2415;p136"/>
            <p:cNvGrpSpPr/>
            <p:nvPr/>
          </p:nvGrpSpPr>
          <p:grpSpPr>
            <a:xfrm>
              <a:off x="7987780" y="1794063"/>
              <a:ext cx="243489" cy="387124"/>
              <a:chOff x="6417856" y="340853"/>
              <a:chExt cx="217304" cy="589385"/>
            </a:xfrm>
          </p:grpSpPr>
          <p:sp>
            <p:nvSpPr>
              <p:cNvPr id="2416" name="Google Shape;2416;p136"/>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7" name="Google Shape;2417;p136"/>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418" name="Google Shape;2418;p136"/>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419" name="Google Shape;2419;p136"/>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420" name="Google Shape;2420;p136"/>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21" name="Google Shape;2421;p136"/>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422" name="Google Shape;2422;p1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423" name="Google Shape;2423;p136"/>
          <p:cNvGrpSpPr/>
          <p:nvPr/>
        </p:nvGrpSpPr>
        <p:grpSpPr>
          <a:xfrm>
            <a:off x="7717533" y="4360377"/>
            <a:ext cx="1058348" cy="347375"/>
            <a:chOff x="7651698" y="4287227"/>
            <a:chExt cx="1058348" cy="347375"/>
          </a:xfrm>
        </p:grpSpPr>
        <p:grpSp>
          <p:nvGrpSpPr>
            <p:cNvPr id="2424" name="Google Shape;2424;p136"/>
            <p:cNvGrpSpPr/>
            <p:nvPr/>
          </p:nvGrpSpPr>
          <p:grpSpPr>
            <a:xfrm>
              <a:off x="7714163" y="4337598"/>
              <a:ext cx="995883" cy="297004"/>
              <a:chOff x="7711013" y="3986494"/>
              <a:chExt cx="995883" cy="297004"/>
            </a:xfrm>
          </p:grpSpPr>
          <p:sp>
            <p:nvSpPr>
              <p:cNvPr id="2425" name="Google Shape;2425;p13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426" name="Google Shape;2426;p136"/>
              <p:cNvGrpSpPr/>
              <p:nvPr/>
            </p:nvGrpSpPr>
            <p:grpSpPr>
              <a:xfrm>
                <a:off x="7711013" y="4002615"/>
                <a:ext cx="281520" cy="241973"/>
                <a:chOff x="5652748" y="4066000"/>
                <a:chExt cx="906498" cy="747974"/>
              </a:xfrm>
            </p:grpSpPr>
            <p:sp>
              <p:nvSpPr>
                <p:cNvPr id="2427" name="Google Shape;2427;p13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428" name="Google Shape;2428;p13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429" name="Google Shape;2429;p13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430" name="Google Shape;2430;p13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49" name="Shape 2449"/>
        <p:cNvGrpSpPr/>
        <p:nvPr/>
      </p:nvGrpSpPr>
      <p:grpSpPr>
        <a:xfrm>
          <a:off x="0" y="0"/>
          <a:ext cx="0" cy="0"/>
          <a:chOff x="0" y="0"/>
          <a:chExt cx="0" cy="0"/>
        </a:xfrm>
      </p:grpSpPr>
      <p:graphicFrame>
        <p:nvGraphicFramePr>
          <p:cNvPr id="2450" name="Google Shape;2450;p13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Century Gothic"/>
                        <a:buNone/>
                      </a:pPr>
                      <a:r>
                        <a:rPr lang="en-GB" sz="900"/>
                        <a:t>Analyzing the impact a specific campaign  or groups of campaigns against the goal for the campaign and</a:t>
                      </a:r>
                      <a:r>
                        <a:rPr lang="en-GB" sz="900"/>
                        <a:t> utilize that information to improve the results of future campaigns</a:t>
                      </a:r>
                      <a:endParaRPr sz="900"/>
                    </a:p>
                    <a:p>
                      <a:pPr indent="0" lvl="0" marL="0" marR="0" rtl="0" algn="l">
                        <a:spcBef>
                          <a:spcPts val="0"/>
                        </a:spcBef>
                        <a:spcAft>
                          <a:spcPts val="0"/>
                        </a:spcAft>
                        <a:buNone/>
                      </a:pPr>
                      <a:r>
                        <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Measure how</a:t>
                      </a:r>
                      <a:r>
                        <a:rPr b="0" lang="en-GB" sz="900">
                          <a:solidFill>
                            <a:schemeClr val="dk1"/>
                          </a:solidFill>
                        </a:rPr>
                        <a:t> well each campaign is achieving its state goal – e.g., sales,  retention, upgrades, channel migration, etc. – across products, regions, demographics and other relevant segmentation criteria.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Utilize Right-Time analytics to transform those results into  potentially enhanced messaging, targeting and offering for subsequent iterations of that same campaign.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 select KPIs beyond the stated objectives to understand any significant “unintended consequences” of the campaign.</a:t>
                      </a:r>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Campaign Targeting and Control Group Information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Pre-campaign, current  and post-campaign data for relevant metrics (e.g., sales, retention, upgrades,  channel usage,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Pre-campaign, current and post-campaign data on other KPIs, not a point of focus for the particular campaign</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Champion-challenger (A/B) testing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Analytics for multi-touch campaigns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Profitability and Life-Time Value (LTV) analysis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Sophisticated response measurement based on actual and inferred response metrics.</a:t>
                      </a:r>
                      <a:endParaRPr/>
                    </a:p>
                    <a:p>
                      <a:pPr indent="0" lvl="0" marL="0" marR="0" rtl="0" algn="l">
                        <a:spcBef>
                          <a:spcPts val="0"/>
                        </a:spcBef>
                        <a:spcAft>
                          <a:spcPts val="0"/>
                        </a:spcAft>
                        <a:buClr>
                          <a:schemeClr val="dk1"/>
                        </a:buClr>
                        <a:buSzPts val="900"/>
                        <a:buFont typeface="Arial"/>
                        <a:buNone/>
                      </a:pPr>
                      <a:r>
                        <a:rPr lang="en-GB" sz="900">
                          <a:solidFill>
                            <a:schemeClr val="dk1"/>
                          </a:solidFill>
                        </a:rPr>
                        <a: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performance (sales, retention, channel migration, etc.) from campaigns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process in which campaigns can be modified in-flight based on quantitative results relative to control groups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create subsequent campaigns based on relevant learnings from previous campaigns.</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2451" name="Google Shape;2451;p13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452" name="Google Shape;2452;p1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
        <p:nvSpPr>
          <p:cNvPr id="2453" name="Google Shape;2453;p13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Effectiveness</a:t>
            </a:r>
            <a:endParaRPr/>
          </a:p>
        </p:txBody>
      </p:sp>
      <p:grpSp>
        <p:nvGrpSpPr>
          <p:cNvPr id="2454" name="Google Shape;2454;p138"/>
          <p:cNvGrpSpPr/>
          <p:nvPr/>
        </p:nvGrpSpPr>
        <p:grpSpPr>
          <a:xfrm>
            <a:off x="6659508" y="225152"/>
            <a:ext cx="2432605" cy="1508418"/>
            <a:chOff x="6030133" y="723902"/>
            <a:chExt cx="2432605" cy="1508418"/>
          </a:xfrm>
        </p:grpSpPr>
        <p:sp>
          <p:nvSpPr>
            <p:cNvPr id="2455" name="Google Shape;2455;p138"/>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456" name="Google Shape;2456;p138"/>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57" name="Google Shape;2457;p138"/>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58" name="Google Shape;2458;p138"/>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59" name="Google Shape;2459;p138"/>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60" name="Google Shape;2460;p138"/>
            <p:cNvGrpSpPr/>
            <p:nvPr/>
          </p:nvGrpSpPr>
          <p:grpSpPr>
            <a:xfrm>
              <a:off x="8107751" y="1342792"/>
              <a:ext cx="276507" cy="393460"/>
              <a:chOff x="6954288" y="1678075"/>
              <a:chExt cx="679456" cy="947737"/>
            </a:xfrm>
          </p:grpSpPr>
          <p:sp>
            <p:nvSpPr>
              <p:cNvPr id="2461" name="Google Shape;2461;p138"/>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2" name="Google Shape;2462;p138"/>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3" name="Google Shape;2463;p138"/>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4" name="Google Shape;2464;p138"/>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5" name="Google Shape;2465;p138"/>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466" name="Google Shape;2466;p138"/>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67" name="Google Shape;2467;p138"/>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68" name="Google Shape;2468;p138"/>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69" name="Google Shape;2469;p138"/>
            <p:cNvGrpSpPr/>
            <p:nvPr/>
          </p:nvGrpSpPr>
          <p:grpSpPr>
            <a:xfrm>
              <a:off x="6671216" y="765814"/>
              <a:ext cx="308250" cy="494711"/>
              <a:chOff x="2125012" y="-1063625"/>
              <a:chExt cx="1420813" cy="2235201"/>
            </a:xfrm>
          </p:grpSpPr>
          <p:sp>
            <p:nvSpPr>
              <p:cNvPr id="2470" name="Google Shape;2470;p138"/>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71" name="Google Shape;2471;p138"/>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472" name="Google Shape;2472;p138"/>
            <p:cNvGrpSpPr/>
            <p:nvPr/>
          </p:nvGrpSpPr>
          <p:grpSpPr>
            <a:xfrm>
              <a:off x="7987780" y="1794063"/>
              <a:ext cx="243489" cy="387124"/>
              <a:chOff x="6417856" y="340853"/>
              <a:chExt cx="217304" cy="589385"/>
            </a:xfrm>
          </p:grpSpPr>
          <p:sp>
            <p:nvSpPr>
              <p:cNvPr id="2473" name="Google Shape;2473;p138"/>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74" name="Google Shape;2474;p138"/>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475" name="Google Shape;2475;p138"/>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476" name="Google Shape;2476;p138"/>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477" name="Google Shape;2477;p138"/>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78" name="Google Shape;2478;p138"/>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479" name="Google Shape;2479;p138"/>
          <p:cNvGrpSpPr/>
          <p:nvPr/>
        </p:nvGrpSpPr>
        <p:grpSpPr>
          <a:xfrm>
            <a:off x="7717533" y="4360377"/>
            <a:ext cx="1058348" cy="347375"/>
            <a:chOff x="7651698" y="4287227"/>
            <a:chExt cx="1058348" cy="347375"/>
          </a:xfrm>
        </p:grpSpPr>
        <p:grpSp>
          <p:nvGrpSpPr>
            <p:cNvPr id="2480" name="Google Shape;2480;p138"/>
            <p:cNvGrpSpPr/>
            <p:nvPr/>
          </p:nvGrpSpPr>
          <p:grpSpPr>
            <a:xfrm>
              <a:off x="7714163" y="4337598"/>
              <a:ext cx="995883" cy="297004"/>
              <a:chOff x="7711013" y="3986494"/>
              <a:chExt cx="995883" cy="297004"/>
            </a:xfrm>
          </p:grpSpPr>
          <p:sp>
            <p:nvSpPr>
              <p:cNvPr id="2481" name="Google Shape;2481;p13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482" name="Google Shape;2482;p138"/>
              <p:cNvGrpSpPr/>
              <p:nvPr/>
            </p:nvGrpSpPr>
            <p:grpSpPr>
              <a:xfrm>
                <a:off x="7711013" y="4002615"/>
                <a:ext cx="281520" cy="241973"/>
                <a:chOff x="5652748" y="4066000"/>
                <a:chExt cx="906498" cy="747974"/>
              </a:xfrm>
            </p:grpSpPr>
            <p:sp>
              <p:nvSpPr>
                <p:cNvPr id="2483" name="Google Shape;2483;p13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484" name="Google Shape;2484;p13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485" name="Google Shape;2485;p13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486" name="Google Shape;2486;p13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05" name="Shape 2505"/>
        <p:cNvGrpSpPr/>
        <p:nvPr/>
      </p:nvGrpSpPr>
      <p:grpSpPr>
        <a:xfrm>
          <a:off x="0" y="0"/>
          <a:ext cx="0" cy="0"/>
          <a:chOff x="0" y="0"/>
          <a:chExt cx="0" cy="0"/>
        </a:xfrm>
      </p:grpSpPr>
      <p:cxnSp>
        <p:nvCxnSpPr>
          <p:cNvPr id="2506" name="Google Shape;2506;p14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507" name="Google Shape;2507;p14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Attribution</a:t>
            </a:r>
            <a:endParaRPr sz="1600"/>
          </a:p>
        </p:txBody>
      </p:sp>
      <p:graphicFrame>
        <p:nvGraphicFramePr>
          <p:cNvPr id="2508" name="Google Shape;2508;p14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Century Gothic"/>
                        <a:buNone/>
                      </a:pPr>
                      <a:r>
                        <a:rPr b="1" lang="en-GB" sz="900"/>
                        <a:t>Analyze  customer path to conversion  to determine the impact  of interactions  on conversion and  attribute the value of each interaction to sales, or some other specific conversion type</a:t>
                      </a:r>
                      <a:endParaRPr b="1" sz="900"/>
                    </a:p>
                    <a:p>
                      <a:pPr indent="-171450" lvl="0" marL="171450" marR="0" rtl="0" algn="l">
                        <a:spcBef>
                          <a:spcPts val="0"/>
                        </a:spcBef>
                        <a:spcAft>
                          <a:spcPts val="0"/>
                        </a:spcAft>
                        <a:buClr>
                          <a:schemeClr val="dk1"/>
                        </a:buClr>
                        <a:buSzPts val="900"/>
                        <a:buFont typeface="Arial"/>
                        <a:buChar char="•"/>
                      </a:pPr>
                      <a:r>
                        <a:rPr b="0" lang="en-GB" sz="900">
                          <a:solidFill>
                            <a:schemeClr val="dk1"/>
                          </a:solidFill>
                        </a:rPr>
                        <a:t>Investigate and develop alternative attribution methodologies to define an</a:t>
                      </a:r>
                      <a:r>
                        <a:rPr b="0" lang="en-GB" sz="900">
                          <a:solidFill>
                            <a:schemeClr val="dk1"/>
                          </a:solidFill>
                        </a:rPr>
                        <a:t> agreed measurement process for Marketing spend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Integrate</a:t>
                      </a:r>
                      <a:r>
                        <a:rPr b="0" lang="en-GB" sz="900">
                          <a:solidFill>
                            <a:schemeClr val="dk1"/>
                          </a:solidFill>
                        </a:rPr>
                        <a:t> all customer interactions into a customer journey path to enable full understanding of customer behaviour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media channels and channel mix that generates highest ROI</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Optimise  an increasingly full mix of marketing activity </a:t>
                      </a:r>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Marketing spend by marketing vehicle/channel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Communication history data for all channels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Response data from channel systems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Outcome data from sales / service processes / appointment booking systems to measure success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Development of attribution logic using statistical techniques and rule sets  such as survival analysis or path analysis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Methodology to create a weighted attribution of the contribution of channels involved in a particular sales or service outcome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Creation of dashboards and reporting by aggregate  product / channel / media level as well as individual campaign reporting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better targeted Marketing investment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Marketing efficiency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utilization of marketing budget from more accurate reporting of marketing effectiveness  and contribution by channel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accurate reporting on campaign ROI by avoiding double counting of sales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transparency of channel contribution across the organisation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Efficient use of analyst time – able to automate attribution process and create lights out reporting</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509" name="Google Shape;2509;p140"/>
          <p:cNvGrpSpPr/>
          <p:nvPr/>
        </p:nvGrpSpPr>
        <p:grpSpPr>
          <a:xfrm>
            <a:off x="6659508" y="225152"/>
            <a:ext cx="2432605" cy="1508418"/>
            <a:chOff x="6030133" y="723902"/>
            <a:chExt cx="2432605" cy="1508418"/>
          </a:xfrm>
        </p:grpSpPr>
        <p:sp>
          <p:nvSpPr>
            <p:cNvPr id="2510" name="Google Shape;2510;p140"/>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511" name="Google Shape;2511;p140"/>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12" name="Google Shape;2512;p140"/>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13" name="Google Shape;2513;p140"/>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14" name="Google Shape;2514;p140"/>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15" name="Google Shape;2515;p140"/>
            <p:cNvGrpSpPr/>
            <p:nvPr/>
          </p:nvGrpSpPr>
          <p:grpSpPr>
            <a:xfrm>
              <a:off x="8107751" y="1342792"/>
              <a:ext cx="276507" cy="393460"/>
              <a:chOff x="6954288" y="1678075"/>
              <a:chExt cx="679456" cy="947737"/>
            </a:xfrm>
          </p:grpSpPr>
          <p:sp>
            <p:nvSpPr>
              <p:cNvPr id="2516" name="Google Shape;2516;p140"/>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17" name="Google Shape;2517;p140"/>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18" name="Google Shape;2518;p140"/>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19" name="Google Shape;2519;p140"/>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20" name="Google Shape;2520;p140"/>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521" name="Google Shape;2521;p140"/>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2" name="Google Shape;2522;p140"/>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3" name="Google Shape;2523;p140"/>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24" name="Google Shape;2524;p140"/>
            <p:cNvGrpSpPr/>
            <p:nvPr/>
          </p:nvGrpSpPr>
          <p:grpSpPr>
            <a:xfrm>
              <a:off x="6671216" y="765814"/>
              <a:ext cx="308250" cy="494711"/>
              <a:chOff x="2125012" y="-1063625"/>
              <a:chExt cx="1420813" cy="2235201"/>
            </a:xfrm>
          </p:grpSpPr>
          <p:sp>
            <p:nvSpPr>
              <p:cNvPr id="2525" name="Google Shape;2525;p140"/>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6" name="Google Shape;2526;p140"/>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527" name="Google Shape;2527;p140"/>
            <p:cNvGrpSpPr/>
            <p:nvPr/>
          </p:nvGrpSpPr>
          <p:grpSpPr>
            <a:xfrm>
              <a:off x="7987780" y="1794063"/>
              <a:ext cx="243489" cy="387124"/>
              <a:chOff x="6417856" y="340853"/>
              <a:chExt cx="217304" cy="589385"/>
            </a:xfrm>
          </p:grpSpPr>
          <p:sp>
            <p:nvSpPr>
              <p:cNvPr id="2528" name="Google Shape;2528;p140"/>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9" name="Google Shape;2529;p140"/>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530" name="Google Shape;2530;p140"/>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531" name="Google Shape;2531;p140"/>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532" name="Google Shape;2532;p140"/>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33" name="Google Shape;2533;p140"/>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534" name="Google Shape;2534;p1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535" name="Google Shape;2535;p140"/>
          <p:cNvGrpSpPr/>
          <p:nvPr/>
        </p:nvGrpSpPr>
        <p:grpSpPr>
          <a:xfrm>
            <a:off x="7717533" y="4360377"/>
            <a:ext cx="1058348" cy="347375"/>
            <a:chOff x="7651698" y="4287227"/>
            <a:chExt cx="1058348" cy="347375"/>
          </a:xfrm>
        </p:grpSpPr>
        <p:grpSp>
          <p:nvGrpSpPr>
            <p:cNvPr id="2536" name="Google Shape;2536;p140"/>
            <p:cNvGrpSpPr/>
            <p:nvPr/>
          </p:nvGrpSpPr>
          <p:grpSpPr>
            <a:xfrm>
              <a:off x="7714163" y="4337598"/>
              <a:ext cx="995883" cy="297004"/>
              <a:chOff x="7711013" y="3986494"/>
              <a:chExt cx="995883" cy="297004"/>
            </a:xfrm>
          </p:grpSpPr>
          <p:sp>
            <p:nvSpPr>
              <p:cNvPr id="2537" name="Google Shape;2537;p14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538" name="Google Shape;2538;p140"/>
              <p:cNvGrpSpPr/>
              <p:nvPr/>
            </p:nvGrpSpPr>
            <p:grpSpPr>
              <a:xfrm>
                <a:off x="7711013" y="4002615"/>
                <a:ext cx="281520" cy="241973"/>
                <a:chOff x="5652748" y="4066000"/>
                <a:chExt cx="906498" cy="747974"/>
              </a:xfrm>
            </p:grpSpPr>
            <p:sp>
              <p:nvSpPr>
                <p:cNvPr id="2539" name="Google Shape;2539;p14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540" name="Google Shape;2540;p14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541" name="Google Shape;2541;p14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542" name="Google Shape;2542;p14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61" name="Shape 2561"/>
        <p:cNvGrpSpPr/>
        <p:nvPr/>
      </p:nvGrpSpPr>
      <p:grpSpPr>
        <a:xfrm>
          <a:off x="0" y="0"/>
          <a:ext cx="0" cy="0"/>
          <a:chOff x="0" y="0"/>
          <a:chExt cx="0" cy="0"/>
        </a:xfrm>
      </p:grpSpPr>
      <p:cxnSp>
        <p:nvCxnSpPr>
          <p:cNvPr id="2562" name="Google Shape;2562;p14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563" name="Google Shape;2563;p14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Brand Analytics</a:t>
            </a:r>
            <a:endParaRPr sz="1600"/>
          </a:p>
        </p:txBody>
      </p:sp>
      <p:graphicFrame>
        <p:nvGraphicFramePr>
          <p:cNvPr id="2564" name="Google Shape;2564;p14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Quantify the impa</a:t>
                      </a:r>
                      <a:r>
                        <a:rPr b="1" lang="en-GB" sz="900">
                          <a:solidFill>
                            <a:schemeClr val="dk1"/>
                          </a:solidFill>
                        </a:rPr>
                        <a:t>ct of a company’s brand on marketing and company performance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Optimise brand positioning for target markets and key consumer groups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brand equity to establish the value of a brand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consumers awareness of brand features and associations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Establish ROI from brand investment and determine optimum levels of media spend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consumer brand perceptions and points of differentiation from competitors, including sentiment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Forecast and simulate branding strategies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Aggregated macro level time series data such as quantitative &amp; qualitative brand related primary and secondary research</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Brand and advertising tracker data – indicating metrics such as spontaneous awareness and consideration</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Response data from application &amp; sales </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Advertising &amp; marketing activity</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Social Media data</a:t>
                      </a:r>
                      <a:endParaRPr/>
                    </a:p>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Econometric modelling utilising various regression and Bayesian analytical techniques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Marketing attribution modelling to understand impact of advertising and brand building marketing activity</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Conjoint analysis to identify impact of brand on consumer preference</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Sentiment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leverage brand for competitive advantage</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Ability to charge price premiums as a result of higher brand esteem</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Higher consumer brand trust (durability) leading to increased customer retention and loyalty</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Increased market share from higher levels of brand consideration</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Higher ROI from marketing spend as a result of optimising the media mix</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Improved brand consistency to maintain the strength and favourability of the brand</a:t>
                      </a:r>
                      <a:endParaRPr b="0" sz="900" u="none" cap="none" strike="noStrike">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565" name="Google Shape;2565;p142"/>
          <p:cNvGrpSpPr/>
          <p:nvPr/>
        </p:nvGrpSpPr>
        <p:grpSpPr>
          <a:xfrm>
            <a:off x="6659508" y="225152"/>
            <a:ext cx="2432605" cy="1508418"/>
            <a:chOff x="6030133" y="723902"/>
            <a:chExt cx="2432605" cy="1508418"/>
          </a:xfrm>
        </p:grpSpPr>
        <p:sp>
          <p:nvSpPr>
            <p:cNvPr id="2566" name="Google Shape;2566;p142"/>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567" name="Google Shape;2567;p142"/>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68" name="Google Shape;2568;p142"/>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69" name="Google Shape;2569;p142"/>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70" name="Google Shape;2570;p142"/>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71" name="Google Shape;2571;p142"/>
            <p:cNvGrpSpPr/>
            <p:nvPr/>
          </p:nvGrpSpPr>
          <p:grpSpPr>
            <a:xfrm>
              <a:off x="8107751" y="1342792"/>
              <a:ext cx="276507" cy="393460"/>
              <a:chOff x="6954288" y="1678075"/>
              <a:chExt cx="679456" cy="947737"/>
            </a:xfrm>
          </p:grpSpPr>
          <p:sp>
            <p:nvSpPr>
              <p:cNvPr id="2572" name="Google Shape;2572;p142"/>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3" name="Google Shape;2573;p142"/>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4" name="Google Shape;2574;p142"/>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5" name="Google Shape;2575;p142"/>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6" name="Google Shape;2576;p142"/>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577" name="Google Shape;2577;p142"/>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78" name="Google Shape;2578;p142"/>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79" name="Google Shape;2579;p142"/>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80" name="Google Shape;2580;p142"/>
            <p:cNvGrpSpPr/>
            <p:nvPr/>
          </p:nvGrpSpPr>
          <p:grpSpPr>
            <a:xfrm>
              <a:off x="6671216" y="765814"/>
              <a:ext cx="308250" cy="494711"/>
              <a:chOff x="2125012" y="-1063625"/>
              <a:chExt cx="1420813" cy="2235201"/>
            </a:xfrm>
          </p:grpSpPr>
          <p:sp>
            <p:nvSpPr>
              <p:cNvPr id="2581" name="Google Shape;2581;p142"/>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82" name="Google Shape;2582;p142"/>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583" name="Google Shape;2583;p142"/>
            <p:cNvGrpSpPr/>
            <p:nvPr/>
          </p:nvGrpSpPr>
          <p:grpSpPr>
            <a:xfrm>
              <a:off x="7987780" y="1794063"/>
              <a:ext cx="243489" cy="387124"/>
              <a:chOff x="6417856" y="340853"/>
              <a:chExt cx="217304" cy="589385"/>
            </a:xfrm>
          </p:grpSpPr>
          <p:sp>
            <p:nvSpPr>
              <p:cNvPr id="2584" name="Google Shape;2584;p142"/>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85" name="Google Shape;2585;p142"/>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586" name="Google Shape;2586;p142"/>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587" name="Google Shape;2587;p142"/>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588" name="Google Shape;2588;p142"/>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89" name="Google Shape;2589;p142"/>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590" name="Google Shape;2590;p14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591" name="Google Shape;2591;p142"/>
          <p:cNvGrpSpPr/>
          <p:nvPr/>
        </p:nvGrpSpPr>
        <p:grpSpPr>
          <a:xfrm>
            <a:off x="7717533" y="4360377"/>
            <a:ext cx="1058348" cy="347375"/>
            <a:chOff x="7651698" y="4287227"/>
            <a:chExt cx="1058348" cy="347375"/>
          </a:xfrm>
        </p:grpSpPr>
        <p:grpSp>
          <p:nvGrpSpPr>
            <p:cNvPr id="2592" name="Google Shape;2592;p142"/>
            <p:cNvGrpSpPr/>
            <p:nvPr/>
          </p:nvGrpSpPr>
          <p:grpSpPr>
            <a:xfrm>
              <a:off x="7714163" y="4337598"/>
              <a:ext cx="995883" cy="297004"/>
              <a:chOff x="7711013" y="3986494"/>
              <a:chExt cx="995883" cy="297004"/>
            </a:xfrm>
          </p:grpSpPr>
          <p:sp>
            <p:nvSpPr>
              <p:cNvPr id="2593" name="Google Shape;2593;p14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594" name="Google Shape;2594;p142"/>
              <p:cNvGrpSpPr/>
              <p:nvPr/>
            </p:nvGrpSpPr>
            <p:grpSpPr>
              <a:xfrm>
                <a:off x="7711013" y="4002615"/>
                <a:ext cx="281520" cy="241973"/>
                <a:chOff x="5652748" y="4066000"/>
                <a:chExt cx="906498" cy="747974"/>
              </a:xfrm>
            </p:grpSpPr>
            <p:sp>
              <p:nvSpPr>
                <p:cNvPr id="2595" name="Google Shape;2595;p14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596" name="Google Shape;2596;p14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597" name="Google Shape;2597;p14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598" name="Google Shape;2598;p14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23" name="Shape 2623"/>
        <p:cNvGrpSpPr/>
        <p:nvPr/>
      </p:nvGrpSpPr>
      <p:grpSpPr>
        <a:xfrm>
          <a:off x="0" y="0"/>
          <a:ext cx="0" cy="0"/>
          <a:chOff x="0" y="0"/>
          <a:chExt cx="0" cy="0"/>
        </a:xfrm>
      </p:grpSpPr>
      <p:cxnSp>
        <p:nvCxnSpPr>
          <p:cNvPr id="2624" name="Google Shape;2624;p14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25" name="Google Shape;2625;p14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26" name="Google Shape;2626;p14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27" name="Google Shape;2627;p14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28" name="Google Shape;2628;p14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29" name="Google Shape;2629;p14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Expanded customer data set showing online and offline behaviour allowing Improved identification of cross-sell &amp; up-sell opportunities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informed &amp; prepared relationship managers.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Re-use for audit, risk &amp; fraud (e.g. who has got access to money moving applications, do we have protections in place?)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0" name="Google Shape;2630;p14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Exploratory analysis into value of potential value of integrating new data sources – through pilot activity or desktop analysis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Expanded customer data delivers uplift in performance of key analytical processes such as event detection, customer targeting, contact strategy, predictive models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31" name="Google Shape;2631;p14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analytics, Customer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segmentation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Interactive self service dashboard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2" name="Google Shape;2632;p14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external and social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3" name="Google Shape;2633;p14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product, account,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interaction: Sessionized access channel data for all channels including web, mobile, tablet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conversations: Voice and text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feedback,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4" name="Google Shape;2634;p14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products and services are becoming increasingly commoditised, and banks needs to provide value-added services to differentiate and retain customers.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interactions occur in a large number of both digital and offline channels, in different countries, for multiple products &amp; services. Increasingly banks are not only interested in understanding what customers buy, all events and interactions across channels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Existing 360° customer views need to be extended by new data types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635" name="Google Shape;2635;p14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636" name="Google Shape;2636;p14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Information Management</a:t>
            </a:r>
            <a:endParaRPr sz="750">
              <a:solidFill>
                <a:srgbClr val="FFFFFF"/>
              </a:solidFill>
              <a:latin typeface="Century Gothic"/>
              <a:ea typeface="Century Gothic"/>
              <a:cs typeface="Century Gothic"/>
              <a:sym typeface="Century Gothic"/>
            </a:endParaRPr>
          </a:p>
        </p:txBody>
      </p:sp>
      <p:sp>
        <p:nvSpPr>
          <p:cNvPr id="2637" name="Google Shape;2637;p145"/>
          <p:cNvSpPr txBox="1"/>
          <p:nvPr>
            <p:ph type="title"/>
          </p:nvPr>
        </p:nvSpPr>
        <p:spPr>
          <a:xfrm>
            <a:off x="423864" y="164592"/>
            <a:ext cx="6900861"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Multi-Dimensional Customer View</a:t>
            </a:r>
            <a:endParaRPr/>
          </a:p>
        </p:txBody>
      </p:sp>
      <p:sp>
        <p:nvSpPr>
          <p:cNvPr id="2638" name="Google Shape;2638;p14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Tree>
  </p:cSld>
  <p:clrMapOvr>
    <a:masterClrMapping/>
  </p:clrMapOvr>
</p:sld>
</file>

<file path=ppt/slides/slide1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49" name="Shape 2649"/>
        <p:cNvGrpSpPr/>
        <p:nvPr/>
      </p:nvGrpSpPr>
      <p:grpSpPr>
        <a:xfrm>
          <a:off x="0" y="0"/>
          <a:ext cx="0" cy="0"/>
          <a:chOff x="0" y="0"/>
          <a:chExt cx="0" cy="0"/>
        </a:xfrm>
      </p:grpSpPr>
      <p:cxnSp>
        <p:nvCxnSpPr>
          <p:cNvPr id="2650" name="Google Shape;2650;p14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51" name="Google Shape;2651;p14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52" name="Google Shape;2652;p14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53" name="Google Shape;2653;p14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54" name="Google Shape;2654;p14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path to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customers to adopt profitable behaviour</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55" name="Google Shape;2655;p14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and modify bad ( unprofitable ) customer’s behaviour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good customers’ process when, where, who and how to  market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new customers standard service plan, outcomes are lower more revenue from future sales and recover customer acquisition costs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56" name="Google Shape;2656;p14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incorporated into an on boarding programme to accelerate the path to profitability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used as intervention points to prevent unprofitable behaviour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profit drivers to enable optimisation of product and service propositions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57" name="Google Shape;2657;p14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 Path to identify most journeys that lead to bad/good customers (including most common journeys)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58" name="Google Shape;2658;p14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Many paths to profitability and some may not be able to be directly influenced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59" name="Google Shape;2659;p14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Motivation data that shows the reason why the customers come into the bank</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that identifies normal v abnormal behaviour suggesting customers towards bad or good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Other data including customer basic data, channel data,  product hold data, customer value data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60" name="Google Shape;2660;p14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Being able to understand which new customers are likely to bring low/high value to the bank means the bank can proactively make standard service plans for all new customers and re-pricing/growth plans for low value new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661" name="Google Shape;2661;p14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662" name="Google Shape;2662;p14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
        <p:nvSpPr>
          <p:cNvPr id="2663" name="Google Shape;2663;p14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Path to Profitable/Unprofitable Customers </a:t>
            </a:r>
            <a:endParaRPr sz="2000"/>
          </a:p>
        </p:txBody>
      </p:sp>
      <p:sp>
        <p:nvSpPr>
          <p:cNvPr id="2664" name="Google Shape;2664;p14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Tree>
  </p:cSld>
  <p:clrMapOvr>
    <a:masterClrMapping/>
  </p:clrMapOvr>
</p:sld>
</file>

<file path=ppt/slides/slide1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69" name="Shape 2669"/>
        <p:cNvGrpSpPr/>
        <p:nvPr/>
      </p:nvGrpSpPr>
      <p:grpSpPr>
        <a:xfrm>
          <a:off x="0" y="0"/>
          <a:ext cx="0" cy="0"/>
          <a:chOff x="0" y="0"/>
          <a:chExt cx="0" cy="0"/>
        </a:xfrm>
      </p:grpSpPr>
      <p:cxnSp>
        <p:nvCxnSpPr>
          <p:cNvPr id="2670" name="Google Shape;2670;p14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71" name="Google Shape;2671;p14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72" name="Google Shape;2672;p14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73" name="Google Shape;2673;p14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74" name="Google Shape;2674;p14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insight</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management</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75" name="Google Shape;2675;p14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make product recommendations quickly and easily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profit per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more revenue from sales, at a lower cost per sale because re-work is reduced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customer satisfaction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76" name="Google Shape;2676;p14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targeting of potentially profitable customer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77" name="Google Shape;2677;p14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NPV models for cash flow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Propensity to buy model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People like me affinity approach, segmentation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78" name="Google Shape;2678;p14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development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maintenance</a:t>
            </a:r>
            <a:endParaRPr/>
          </a:p>
        </p:txBody>
      </p:sp>
      <p:sp>
        <p:nvSpPr>
          <p:cNvPr id="2679" name="Google Shape;2679;p14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From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Products and transaction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Cash flows, operating costs, income, fees,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80" name="Google Shape;2680;p14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Lifetime Value (CLTV) as the sum of 3 components: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profitability - historic profitability of the customer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Residual Value – value remaining in existing product holdings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Future Value – value of expected future purchases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goal is to increase CLTV by Identification potential products to reach the maximum value of expected future purchases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681" name="Google Shape;2681;p14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682" name="Google Shape;2682;p14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Life Time Value</a:t>
            </a:r>
            <a:endParaRPr sz="2400"/>
          </a:p>
        </p:txBody>
      </p:sp>
      <p:sp>
        <p:nvSpPr>
          <p:cNvPr id="2683" name="Google Shape;2683;p14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684" name="Google Shape;2684;p1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89" name="Shape 2689"/>
        <p:cNvGrpSpPr/>
        <p:nvPr/>
      </p:nvGrpSpPr>
      <p:grpSpPr>
        <a:xfrm>
          <a:off x="0" y="0"/>
          <a:ext cx="0" cy="0"/>
          <a:chOff x="0" y="0"/>
          <a:chExt cx="0" cy="0"/>
        </a:xfrm>
      </p:grpSpPr>
      <p:cxnSp>
        <p:nvCxnSpPr>
          <p:cNvPr id="2690" name="Google Shape;2690;p14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91" name="Google Shape;2691;p14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92" name="Google Shape;2692;p14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93" name="Google Shape;2693;p14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94" name="Google Shape;2694;p14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focus (investment and oversight) on most important processes impacting customer satisfaction (E.g. On boarding)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 from reengineering processes with low existing satisfaction scores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95" name="Google Shape;2695;p14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Able to prioritise the services issues to resolve, that will improve NPS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 process improvements to drive up NPS score (+16 for one banking client)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churn and improved cross sales from customers that are more willing to do more business with the bank</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96" name="Google Shape;2696;p14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key processes negatively impacting customer satisfaction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potential root causes within sub optimal processes that require improvement</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97" name="Google Shape;2697;p14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(Text Tagging, TextChunking+nPath)to understand classify key issues &amp; sentiment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critical interactions &amp; transactions leading to a positive or negative NPS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(TFIDF &amp; LDA) to identify topics that are trending in terms of frequency, or sentiment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98" name="Google Shape;2698;p14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Desirable if can link individual customer satisfaction data (E.g. NPS survey results and driver questions) with customer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99" name="Google Shape;2699;p14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Online Interactions from all online browsing &amp; areas Offline Interactions with branches and call centres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Satisfaction/NPS survey data including scores given and verbatim comments relating to scores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00" name="Google Shape;2700;p14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identify the root cause of low customer satisfaction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From survey data, understand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What the experiences/issues create drive down satisfaction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strongly customers feel about these issues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Highest priority services issues to resolve (i.e., those that have the biggest impact)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What new/emerging trending issues exist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01" name="Google Shape;2701;p14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702" name="Google Shape;2702;p14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Customer Satisfaction/(NPS) </a:t>
            </a:r>
            <a:endParaRPr sz="2000"/>
          </a:p>
        </p:txBody>
      </p:sp>
      <p:sp>
        <p:nvSpPr>
          <p:cNvPr id="2703" name="Google Shape;2703;p14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04" name="Google Shape;2704;p14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09" name="Shape 2709"/>
        <p:cNvGrpSpPr/>
        <p:nvPr/>
      </p:nvGrpSpPr>
      <p:grpSpPr>
        <a:xfrm>
          <a:off x="0" y="0"/>
          <a:ext cx="0" cy="0"/>
          <a:chOff x="0" y="0"/>
          <a:chExt cx="0" cy="0"/>
        </a:xfrm>
      </p:grpSpPr>
      <p:cxnSp>
        <p:nvCxnSpPr>
          <p:cNvPr id="2710" name="Google Shape;2710;p15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11" name="Google Shape;2711;p15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12" name="Google Shape;2712;p15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13" name="Google Shape;2713;p15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14" name="Google Shape;2714;p15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Operational view of customer experience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of customer effort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incorporate multiple customer contacts and journeys </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15" name="Google Shape;2715;p15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customer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satisfaction and loyalty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“Companion” program of trigger programs for customer contact</a:t>
            </a:r>
            <a:endParaRPr sz="800">
              <a:solidFill>
                <a:srgbClr val="3C3C3B"/>
              </a:solidFill>
              <a:latin typeface="Century Gothic"/>
              <a:ea typeface="Century Gothic"/>
              <a:cs typeface="Century Gothic"/>
              <a:sym typeface="Century Gothic"/>
            </a:endParaRPr>
          </a:p>
        </p:txBody>
      </p:sp>
      <p:sp>
        <p:nvSpPr>
          <p:cNvPr id="2716" name="Google Shape;2716;p15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operational improvements  which are outlined by various events within CSI</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overall CSI metrics – driving into various events and customer contacts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other customer satisfaction metrics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17" name="Google Shape;2717;p15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science approach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Correlation matrix of contacts and events to current customer sat metric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Employ PCA to reduce co-linear metrics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modelling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18" name="Google Shape;2718;p15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Current NPS is usually tracked to either a product, an event, or a representative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It is one moment of time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Supplemental analysis must be conducted  to define the drivers </a:t>
            </a:r>
            <a:endParaRPr/>
          </a:p>
        </p:txBody>
      </p:sp>
      <p:sp>
        <p:nvSpPr>
          <p:cNvPr id="2719" name="Google Shape;2719;p15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Transactional 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Profile / segmentation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 click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Retail visits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CARE notes, text, issue resolution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metrics / Network metrics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2720" name="Google Shape;2720;p15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a more dynamic measure of customer experience, which goes beyond traditional survey data for customer satisfaction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Comprehensive view of customer journey, including multiple customer contacts and channels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customer effort by creating a measure for customer operational improvements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21" name="Google Shape;2721;p15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Charles Fournier</a:t>
            </a:r>
            <a:endParaRPr sz="900">
              <a:solidFill>
                <a:schemeClr val="accent6"/>
              </a:solidFill>
              <a:latin typeface="Century Gothic"/>
              <a:ea typeface="Century Gothic"/>
              <a:cs typeface="Century Gothic"/>
              <a:sym typeface="Century Gothic"/>
            </a:endParaRPr>
          </a:p>
        </p:txBody>
      </p:sp>
      <p:sp>
        <p:nvSpPr>
          <p:cNvPr id="2722" name="Google Shape;2722;p15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Satisfaction Index</a:t>
            </a:r>
            <a:endParaRPr sz="2400"/>
          </a:p>
        </p:txBody>
      </p:sp>
      <p:sp>
        <p:nvSpPr>
          <p:cNvPr id="2723" name="Google Shape;2723;p15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24" name="Google Shape;2724;p15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29" name="Shape 2729"/>
        <p:cNvGrpSpPr/>
        <p:nvPr/>
      </p:nvGrpSpPr>
      <p:grpSpPr>
        <a:xfrm>
          <a:off x="0" y="0"/>
          <a:ext cx="0" cy="0"/>
          <a:chOff x="0" y="0"/>
          <a:chExt cx="0" cy="0"/>
        </a:xfrm>
      </p:grpSpPr>
      <p:cxnSp>
        <p:nvCxnSpPr>
          <p:cNvPr id="2730" name="Google Shape;2730;p15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31" name="Google Shape;2731;p15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32" name="Google Shape;2732;p15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33" name="Google Shape;2733;p15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34" name="Google Shape;2734;p15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Actively reduce the complaint rate among the customer base or key customer segments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 the cost of processing and rectifying complaints by proactively addressing customer service issues early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customer satisfaction / NPS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35" name="Google Shape;2735;p15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Tactically reduce the number of complaints actually made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Training to address the common issues leading to a complaint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 levels reduced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compliance…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Identifying Process &amp; Service Failures, quantify the impact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36" name="Google Shape;2736;p15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predict a complaint (with a success rate &gt; x %) and create an event trigger before a complaint is made by the customer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37" name="Google Shape;2737;p15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Sessionize interaction data identify unique complaint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nGram, Naïve Bayes Text Classifier to identify the nature of the conversation, sentiment and risk of complaint being made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N-Path/Graph to identify interactions &amp; transactions leading to a complaint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38" name="Google Shape;2738;p15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Maintaining and updating models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39" name="Google Shape;2739;p15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Complaint Commentary between the bank and customer, regardless of channel (to validate)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 Status and Update information, complainant, times, agents handling complaint (Cust First, Excel, Complaints System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Online Interactions, including page refresh speed, online abandonment</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40" name="Google Shape;2740;p15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the root cause of complaints?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customers at risk of complaining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proactively avoid customers reaching the point where they complain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Minimise the impact of complaints such as cost of resolution or complaint driven churn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customer satisfaction and NPS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41" name="Google Shape;2741;p15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sz="900">
              <a:solidFill>
                <a:srgbClr val="5F6062"/>
              </a:solidFill>
              <a:latin typeface="Century Gothic"/>
              <a:ea typeface="Century Gothic"/>
              <a:cs typeface="Century Gothic"/>
              <a:sym typeface="Century Gothic"/>
            </a:endParaRPr>
          </a:p>
        </p:txBody>
      </p:sp>
      <p:sp>
        <p:nvSpPr>
          <p:cNvPr id="2742" name="Google Shape;2742;p15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43" name="Google Shape;2743;p15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Predict Complaint </a:t>
            </a:r>
            <a:endParaRPr sz="2400"/>
          </a:p>
        </p:txBody>
      </p:sp>
      <p:sp>
        <p:nvSpPr>
          <p:cNvPr id="2744" name="Google Shape;2744;p15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49" name="Shape 2749"/>
        <p:cNvGrpSpPr/>
        <p:nvPr/>
      </p:nvGrpSpPr>
      <p:grpSpPr>
        <a:xfrm>
          <a:off x="0" y="0"/>
          <a:ext cx="0" cy="0"/>
          <a:chOff x="0" y="0"/>
          <a:chExt cx="0" cy="0"/>
        </a:xfrm>
      </p:grpSpPr>
      <p:cxnSp>
        <p:nvCxnSpPr>
          <p:cNvPr id="2750" name="Google Shape;2750;p15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51" name="Google Shape;2751;p15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52" name="Google Shape;2752;p15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53" name="Google Shape;2753;p15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54" name="Google Shape;2754;p15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 of enacting processes – greater automation, less manual intervention, errors and rework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from slicker processes with less errors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55" name="Google Shape;2755;p15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Quickly visualise and identify opportunities to improve complex or costly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Allocate costs to each step of a process to identify potential business value, improved speed &amp; efficiency &amp; better client outcomes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56" name="Google Shape;2756;p15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highlight most inefficient processes or customer impacting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and reengineer sub optimal processes and process steps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57" name="Google Shape;2757;p15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npath and graphing identify the actual steps for all customers passing through the process &amp; the outcomes, including key delays and rework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Allocate costs to each step of the process to identifying potential value in improving or eliminating a particular step</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58" name="Google Shape;2758;p15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understand processes from system log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Manual steps in the process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59" name="Google Shape;2759;p15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Client and workflow data associated with each process / case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 data as a result of each activity – complaint, rework, attrition/dormancy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Cost data for each step of the process (E.g. from Activity Based Costing)</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60" name="Google Shape;2760;p15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Broken or inefficient processes create significant inefficiencies, additional costs &amp; typically take longer to achieve the desired outcome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Inefficient processes often create rework driven from client complaints around how long a process takes or the quality of outcome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Quickly identifying areas of process failure or opportunities to enhance important processes can deliver significant operational improvement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61" name="Google Shape;2761;p15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Large European Bank</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Tony Brown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762" name="Google Shape;2762;p15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63" name="Google Shape;2763;p15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Identify Broken/Sub Optimal Processes </a:t>
            </a:r>
            <a:endParaRPr sz="2400"/>
          </a:p>
        </p:txBody>
      </p:sp>
      <p:sp>
        <p:nvSpPr>
          <p:cNvPr id="2764" name="Google Shape;2764;p15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69" name="Shape 2769"/>
        <p:cNvGrpSpPr/>
        <p:nvPr/>
      </p:nvGrpSpPr>
      <p:grpSpPr>
        <a:xfrm>
          <a:off x="0" y="0"/>
          <a:ext cx="0" cy="0"/>
          <a:chOff x="0" y="0"/>
          <a:chExt cx="0" cy="0"/>
        </a:xfrm>
      </p:grpSpPr>
      <p:cxnSp>
        <p:nvCxnSpPr>
          <p:cNvPr id="2770" name="Google Shape;2770;p15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71" name="Google Shape;2771;p15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72" name="Google Shape;2772;p15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73" name="Google Shape;2773;p15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74" name="Google Shape;2774;p15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proactively follow up certain calls that may be a marketing opportunity, customer service issue or churn risk</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Coaching aid to improve skills of call centre agents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75" name="Google Shape;2775;p15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Fact based data to enhance the organisations understanding of the clients attitude or opportunities to deepen or protect the relationship: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Marketing opportunities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Retention opportunities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Agent training opportunities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76" name="Google Shape;2776;p15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overall sentiment of conversation and extract keywords indicating possible root causes </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77" name="Google Shape;2777;p15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the total conversation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Natural language text analysis of transcribed contact centre calls to classify the purpose of call &amp; call sentiment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data within decisioning processes to drive appropriate actions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78" name="Google Shape;2778;p15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79" name="Google Shape;2779;p15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voice records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loaded into the Operational CRM and product systems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80" name="Google Shape;2780;p15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client is talking to a call centre agent a lot of information is provided during the conversation. This could be their overall sentiment (happy/unhappy) or other information including marketing opportunities, service issues, creditworthiness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It is not possible or feasible to ask agents to manually record this so this data is lost to the organisation – finding a way to capture this can deliver a range of positive outcomes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81" name="Google Shape;2781;p15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782" name="Google Shape;2782;p15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83" name="Google Shape;2783;p15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Call Centre Sentiment </a:t>
            </a:r>
            <a:endParaRPr sz="2400"/>
          </a:p>
        </p:txBody>
      </p:sp>
      <p:sp>
        <p:nvSpPr>
          <p:cNvPr id="2784" name="Google Shape;2784;p15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89" name="Shape 2789"/>
        <p:cNvGrpSpPr/>
        <p:nvPr/>
      </p:nvGrpSpPr>
      <p:grpSpPr>
        <a:xfrm>
          <a:off x="0" y="0"/>
          <a:ext cx="0" cy="0"/>
          <a:chOff x="0" y="0"/>
          <a:chExt cx="0" cy="0"/>
        </a:xfrm>
      </p:grpSpPr>
      <p:cxnSp>
        <p:nvCxnSpPr>
          <p:cNvPr id="2790" name="Google Shape;2790;p15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91" name="Google Shape;2791;p15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92" name="Google Shape;2792;p15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93" name="Google Shape;2793;p15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94" name="Google Shape;2794;p15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71450" lvl="0" marL="171450" marR="0" rtl="0" algn="l">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response from personalisation of offers – reflecting customers interests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market share / average product holdings by targeting customers who have expensive products with competitors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Offer additional value to customers by offering discounted 3rd party offers</a:t>
            </a:r>
            <a:endParaRPr sz="900">
              <a:solidFill>
                <a:schemeClr val="dk1"/>
              </a:solidFill>
              <a:latin typeface="Century Gothic"/>
              <a:ea typeface="Century Gothic"/>
              <a:cs typeface="Century Gothic"/>
              <a:sym typeface="Century Gothic"/>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loyalty from customers using online budgeting tools – transact with one provider to provide complete picture of spend</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95" name="Google Shape;2795;p15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classify most financial transactions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a:t>
            </a:r>
            <a:r>
              <a:rPr lang="en-GB" sz="800">
                <a:solidFill>
                  <a:schemeClr val="dk1"/>
                </a:solidFill>
                <a:latin typeface="Century Gothic"/>
                <a:ea typeface="Century Gothic"/>
                <a:cs typeface="Century Gothic"/>
                <a:sym typeface="Century Gothic"/>
              </a:rPr>
              <a:t> of transaction reference library </a:t>
            </a:r>
            <a:endParaRPr sz="800">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New derived data source to create new customer insights and feed into campaign activity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96" name="Google Shape;2796;p15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Comprehensive categorisation of financial transactions -  both spending (debits) and income (credits)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classification used by many downstream analytical applications such as Personal Finance Management (PFM) tools</a:t>
            </a:r>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97" name="Google Shape;2797;p15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create and maintain transactional classification library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level spending summaries by category or merchants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Event detection routines based on changes to  spending patterns</a:t>
            </a:r>
            <a:endParaRPr/>
          </a:p>
        </p:txBody>
      </p:sp>
      <p:sp>
        <p:nvSpPr>
          <p:cNvPr id="2798" name="Google Shape;2798;p15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Maintenance of reference library when new merchants and beneficiaries are created</a:t>
            </a:r>
            <a:endParaRPr/>
          </a:p>
        </p:txBody>
      </p:sp>
      <p:sp>
        <p:nvSpPr>
          <p:cNvPr id="2799" name="Google Shape;2799;p15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detailed payment records including payment type, beneficiary account details, beneficiary names, payment reference details, merchant codes, location, currency, Date, Time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Full debit and credit transactional history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Comprehensive transaction reference library with business focused taxonomy and automated monitoring of coverage</a:t>
            </a:r>
            <a:endParaRPr/>
          </a:p>
        </p:txBody>
      </p:sp>
      <p:sp>
        <p:nvSpPr>
          <p:cNvPr id="2800" name="Google Shape;2800;p15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71450" lvl="0" marL="171450" marR="0" rtl="0" algn="l">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Classify account transactions to understand customer behaviour Provide spending summaries to help customers  budget more effectively</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life events that indicate a customer need</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the customer better through the creation attitudinal and behavioural segmentations based on their spending behaviour (Loyalty, ethics, Brand Cachet)</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Offer value to customer through creation of relevant 3rd party offers</a:t>
            </a:r>
            <a:endParaRPr/>
          </a:p>
          <a:p>
            <a:pPr indent="-123825" lvl="0" marL="180975" marR="0" rtl="0" algn="l">
              <a:lnSpc>
                <a:spcPct val="90000"/>
              </a:lnSpc>
              <a:spcBef>
                <a:spcPts val="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01" name="Google Shape;2801;p15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Andrew Johnston</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2802" name="Google Shape;2802;p15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2803" name="Google Shape;2803;p15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Transactional Classification</a:t>
            </a:r>
            <a:endParaRPr sz="2400"/>
          </a:p>
        </p:txBody>
      </p:sp>
      <p:sp>
        <p:nvSpPr>
          <p:cNvPr id="2804" name="Google Shape;2804;p15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27" name="Shape 2827"/>
        <p:cNvGrpSpPr/>
        <p:nvPr/>
      </p:nvGrpSpPr>
      <p:grpSpPr>
        <a:xfrm>
          <a:off x="0" y="0"/>
          <a:ext cx="0" cy="0"/>
          <a:chOff x="0" y="0"/>
          <a:chExt cx="0" cy="0"/>
        </a:xfrm>
      </p:grpSpPr>
      <p:cxnSp>
        <p:nvCxnSpPr>
          <p:cNvPr id="2828" name="Google Shape;2828;p15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29" name="Google Shape;2829;p15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30" name="Google Shape;2830;p15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831" name="Google Shape;2831;p15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832" name="Google Shape;2832;p15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sales abandonment leading to higher conversion rates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 of manual intervention and rework</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833" name="Google Shape;2833;p15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broken processes where customers exit, get stuck or cycle 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and fix broken processes by analysing individual customer experiences and identifying root cause for failures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increased revenue from completes sales and at a lower cost per sale because re-work is reduced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4" name="Google Shape;2834;p15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Generation of actionable insight to proactively improve the sales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sales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835" name="Google Shape;2835;p15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the unique sales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&amp; Graph analysis to understand how each customer progresses to sale, or not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6" name="Google Shape;2836;p15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Integrating and standardising data from different channels and systems to create an end to end  multi-channel sales process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Identifying manual interventions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7" name="Google Shape;2837;p15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Application data from online and offline sales processes (weblogs, sales application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history (leads generated and responses)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decisioning (e.g., accept, decline or referral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8" name="Google Shape;2838;p15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Sales processes for each product and channel contain a number of steps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experience problems when individual steps are broken, they find it difficult to answer certain questions, or where they have to go back through the process and repeat steps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goal is to understand in detail how customers progress through the sales process, then identity opportunities improve success and conversion and efficiency at each step</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39" name="Google Shape;2839;p15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sz="900">
              <a:solidFill>
                <a:srgbClr val="5F6062"/>
              </a:solidFill>
              <a:latin typeface="Century Gothic"/>
              <a:ea typeface="Century Gothic"/>
              <a:cs typeface="Century Gothic"/>
              <a:sym typeface="Century Gothic"/>
            </a:endParaRPr>
          </a:p>
        </p:txBody>
      </p:sp>
      <p:sp>
        <p:nvSpPr>
          <p:cNvPr id="2840" name="Google Shape;2840;p15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841" name="Google Shape;2841;p15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Sales Process Improvement </a:t>
            </a:r>
            <a:endParaRPr sz="2400"/>
          </a:p>
        </p:txBody>
      </p:sp>
      <p:sp>
        <p:nvSpPr>
          <p:cNvPr id="2842" name="Google Shape;2842;p15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47" name="Shape 2847"/>
        <p:cNvGrpSpPr/>
        <p:nvPr/>
      </p:nvGrpSpPr>
      <p:grpSpPr>
        <a:xfrm>
          <a:off x="0" y="0"/>
          <a:ext cx="0" cy="0"/>
          <a:chOff x="0" y="0"/>
          <a:chExt cx="0" cy="0"/>
        </a:xfrm>
      </p:grpSpPr>
      <p:cxnSp>
        <p:nvCxnSpPr>
          <p:cNvPr id="2848" name="Google Shape;2848;p15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49" name="Google Shape;2849;p15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50" name="Google Shape;2850;p15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851" name="Google Shape;2851;p15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852" name="Google Shape;2852;p15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relevance of content, contacts and offers through orchestration of customer journeys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853" name="Google Shape;2853;p15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sales leads that are triggered by the most powerful sequences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scripts that reflect the sequence: ‘We saw you did x then y and wondered if we could help…’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fewer, more sophisticated leads – fewer outbound calls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4" name="Google Shape;2854;p15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new events and sequence of events to use for multi-step lead approaches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855" name="Google Shape;2855;p15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leading to a product purchase (or not)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to understand which paths are more likely to lead to a sale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6" name="Google Shape;2856;p15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Client/ Bank  maturity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7" name="Google Shape;2857;p15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in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history for all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Interaction Data cross channel (Branch, ATM, Call Centre, Online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data</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8" name="Google Shape;2858;p15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Event Based Marketing is proven to generate superior response and sales conversion rates.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But banks running Event Based Marketing typically use single events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Hypothesis: There exist patterns or sequences of events that are even more predictive of customer need, that will deliver higher response rates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 How to systematically identify the most powerful sequences of events to use in EBM?</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59" name="Google Shape;2859;p15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860" name="Google Shape;2860;p15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861" name="Google Shape;2861;p15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Path to Purchase – Event Based Marketing </a:t>
            </a:r>
            <a:endParaRPr sz="1800"/>
          </a:p>
        </p:txBody>
      </p:sp>
      <p:sp>
        <p:nvSpPr>
          <p:cNvPr id="2862" name="Google Shape;2862;p15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67" name="Shape 2867"/>
        <p:cNvGrpSpPr/>
        <p:nvPr/>
      </p:nvGrpSpPr>
      <p:grpSpPr>
        <a:xfrm>
          <a:off x="0" y="0"/>
          <a:ext cx="0" cy="0"/>
          <a:chOff x="0" y="0"/>
          <a:chExt cx="0" cy="0"/>
        </a:xfrm>
      </p:grpSpPr>
      <p:cxnSp>
        <p:nvCxnSpPr>
          <p:cNvPr id="2868" name="Google Shape;2868;p15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69" name="Google Shape;2869;p15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70" name="Google Shape;2870;p15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871" name="Google Shape;2871;p15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872" name="Google Shape;2872;p15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Better see appropriate product mix to improve product recommendation strategy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Verify business assumption for better marketing strategy e.g. identify opportunity to boost more international spending through appropriate triggers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873" name="Google Shape;2873;p15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provide a visualization of the customer journey and product adoption’s sequence by utilize Path Analytics (Time Sequential ) technique and Collaborative Filter technique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is the commonly followed patterns of behaviour which happened before and after customer’s trip overseas?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potential products should bank offers to those customers to satisfy personal financial need at the right timing?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74" name="Google Shape;2874;p15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insight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acceptance of new offers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875" name="Google Shape;2875;p15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analytics to understand customer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to understand consumer behavior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Aster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76" name="Google Shape;2876;p158"/>
          <p:cNvSpPr/>
          <p:nvPr/>
        </p:nvSpPr>
        <p:spPr>
          <a:xfrm>
            <a:off x="423863" y="385476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details</a:t>
            </a:r>
            <a:endParaRPr/>
          </a:p>
        </p:txBody>
      </p:sp>
      <p:sp>
        <p:nvSpPr>
          <p:cNvPr id="2877" name="Google Shape;2877;p15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Currently have limited visibility of the customer journey and sequence of activities, e.g. Credit card spending journey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determine the right timing of product adoption in order to increase effectiveness of campaign and product offering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provide new insight to banking with ability to handle new types of data and generate business value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78" name="Google Shape;2878;p15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EMEA Bank</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K. Rungruang Sukkirdkijpiboon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K. Suporn Sunthornrohit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 </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879" name="Google Shape;2879;p15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880" name="Google Shape;2880;p15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Journey Analytics </a:t>
            </a:r>
            <a:endParaRPr sz="2400"/>
          </a:p>
        </p:txBody>
      </p:sp>
      <p:sp>
        <p:nvSpPr>
          <p:cNvPr id="2881" name="Google Shape;2881;p15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transaction (e.g. customer ID, spending category code, merchant code,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Insurance account information (Product name, customer ID, account status, account balance,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 account information (e.g. product type, customer ID, account balance, opened data,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account information (e.g. credit line, last billing amount, payment date, cycle cut,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82" name="Google Shape;2882;p15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03" name="Shape 2903"/>
        <p:cNvGrpSpPr/>
        <p:nvPr/>
      </p:nvGrpSpPr>
      <p:grpSpPr>
        <a:xfrm>
          <a:off x="0" y="0"/>
          <a:ext cx="0" cy="0"/>
          <a:chOff x="0" y="0"/>
          <a:chExt cx="0" cy="0"/>
        </a:xfrm>
      </p:grpSpPr>
      <p:cxnSp>
        <p:nvCxnSpPr>
          <p:cNvPr id="2904" name="Google Shape;2904;p16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05" name="Google Shape;2905;p16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06" name="Google Shape;2906;p16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07" name="Google Shape;2907;p16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08" name="Google Shape;2908;p16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conversion and show rates form better targeted activities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over solicitation to certain segments of customers (E.g. regular visitors, located close to branch etc.)</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09" name="Google Shape;2909;p16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sales leads to accept appointment that are triggered by the most powerful sequences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scripts that reflect the sequence: ‘We saw you did x then y and wondered if we could help…’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Avoid useless invitations to customers – fewer mailing, contact cost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0" name="Google Shape;2910;p16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New insight generated feeds into creation of optimised contact strategy for proactive branch appointment activity – includes predictive models for selection and contact rules to control frequency of interactions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11" name="Google Shape;2911;p16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leading to a product purchase (or not)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to understand which paths are more likely to lead to a sale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Model for propensity to accept appointment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2" name="Google Shape;2912;p16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3" name="Google Shape;2913;p16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history for all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Interaction Data cross channel (Branch, ATM, Call Centre, Online etc)  Customer Journey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Clickstream data  - tbd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data (e.g. appointment behavior including no shows)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4" name="Google Shape;2914;p16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the reason and effectiveness of steps why customer accepts an appointment with bank advisor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Allow more efficient selection of customers based on events to stimulate customer to accept appointment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Analyse patterns or sequences of events that are even more predictive of customer to meet with bank or vice verse reduces likelihood to accept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15" name="Google Shape;2915;p16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16" name="Google Shape;2916;p16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17" name="Google Shape;2917;p16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Path to Appointment </a:t>
            </a:r>
            <a:endParaRPr sz="2400"/>
          </a:p>
        </p:txBody>
      </p:sp>
      <p:sp>
        <p:nvSpPr>
          <p:cNvPr id="2918" name="Google Shape;2918;p16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23" name="Shape 2923"/>
        <p:cNvGrpSpPr/>
        <p:nvPr/>
      </p:nvGrpSpPr>
      <p:grpSpPr>
        <a:xfrm>
          <a:off x="0" y="0"/>
          <a:ext cx="0" cy="0"/>
          <a:chOff x="0" y="0"/>
          <a:chExt cx="0" cy="0"/>
        </a:xfrm>
      </p:grpSpPr>
      <p:cxnSp>
        <p:nvCxnSpPr>
          <p:cNvPr id="2924" name="Google Shape;2924;p16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25" name="Google Shape;2925;p16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26" name="Google Shape;2926;p16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27" name="Google Shape;2927;p16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28" name="Google Shape;2928;p16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path to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customers to adopt profitable behaviour</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29" name="Google Shape;2929;p16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path to value, e.g., what needs to happen with the customer in year 1 to grow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Re-engineer customer onboarding processes to ensure customers activate the right services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average profit per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30" name="Google Shape;2930;p16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incorporated into a onboarding program to accelerate the path to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Optimization of existing onboarding program with regard to timing and sequence of activity</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31" name="Google Shape;2931;p16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sales and service events in the first year of joining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sequences that lead to a minimum level of income at month 12, and those that don’t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 to look for affinities with products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32" name="Google Shape;2932;p16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Many paths to customer value and some may not be able to be directly influenced</a:t>
            </a:r>
            <a:endParaRPr sz="800">
              <a:solidFill>
                <a:srgbClr val="3C3C3B"/>
              </a:solidFill>
              <a:latin typeface="Century Gothic"/>
              <a:ea typeface="Century Gothic"/>
              <a:cs typeface="Century Gothic"/>
              <a:sym typeface="Century Gothic"/>
            </a:endParaRPr>
          </a:p>
        </p:txBody>
      </p:sp>
      <p:sp>
        <p:nvSpPr>
          <p:cNvPr id="2933" name="Google Shape;2933;p16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and Service event data describing when products features an services are activated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data or at least revenue data (net interest margin plus fee incomes)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34" name="Google Shape;2934;p16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financial services, acquiring a new customer or making a sale does not always generate profit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For current accounts, deposit accounts and credit cards profitability is only delivered is the account is activated and/or cross sales are delivered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how to identify the path to value, and proactively manage this on a customer by customer basis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35" name="Google Shape;2935;p16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36" name="Google Shape;2936;p16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37" name="Google Shape;2937;p16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Sequence: Path to Value </a:t>
            </a:r>
            <a:endParaRPr sz="2400"/>
          </a:p>
        </p:txBody>
      </p:sp>
      <p:sp>
        <p:nvSpPr>
          <p:cNvPr id="2938" name="Google Shape;2938;p16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43" name="Shape 2943"/>
        <p:cNvGrpSpPr/>
        <p:nvPr/>
      </p:nvGrpSpPr>
      <p:grpSpPr>
        <a:xfrm>
          <a:off x="0" y="0"/>
          <a:ext cx="0" cy="0"/>
          <a:chOff x="0" y="0"/>
          <a:chExt cx="0" cy="0"/>
        </a:xfrm>
      </p:grpSpPr>
      <p:cxnSp>
        <p:nvCxnSpPr>
          <p:cNvPr id="2944" name="Google Shape;2944;p16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45" name="Google Shape;2945;p16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46" name="Google Shape;2946;p16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47" name="Google Shape;2947;p16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48" name="Google Shape;2948;p16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see appropriate product mix to improve product recommendation strategy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Verify business assumption for better marketing strategy e.g. identify opportunity to boost more international spending through appropriate triggers</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49" name="Google Shape;2949;p16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provide a visualization of the customer journey and product adoption’s sequence by utilize Path Analytics (Time Sequential ) technique and Collaborative Filter technique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is the commonly followed patterns of behaviour which happened before and after customer’s trip overseas?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potential products should bank offers to those customers to satisfy personal financial need at the right timing?</a:t>
            </a:r>
            <a:endParaRPr sz="800">
              <a:solidFill>
                <a:srgbClr val="3C3C3B"/>
              </a:solidFill>
              <a:latin typeface="Century Gothic"/>
              <a:ea typeface="Century Gothic"/>
              <a:cs typeface="Century Gothic"/>
              <a:sym typeface="Century Gothic"/>
            </a:endParaRPr>
          </a:p>
        </p:txBody>
      </p:sp>
      <p:sp>
        <p:nvSpPr>
          <p:cNvPr id="2950" name="Google Shape;2950;p16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insight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acceptance of new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51" name="Google Shape;2951;p16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analytics to understand customer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to understand consumer behavior</a:t>
            </a:r>
            <a:endParaRPr sz="800">
              <a:solidFill>
                <a:srgbClr val="3C3C3B"/>
              </a:solidFill>
              <a:latin typeface="Century Gothic"/>
              <a:ea typeface="Century Gothic"/>
              <a:cs typeface="Century Gothic"/>
              <a:sym typeface="Century Gothic"/>
            </a:endParaRPr>
          </a:p>
        </p:txBody>
      </p:sp>
      <p:sp>
        <p:nvSpPr>
          <p:cNvPr id="2952" name="Google Shape;2952;p16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details</a:t>
            </a:r>
            <a:endParaRPr sz="800">
              <a:solidFill>
                <a:srgbClr val="3C3C3B"/>
              </a:solidFill>
              <a:latin typeface="Century Gothic"/>
              <a:ea typeface="Century Gothic"/>
              <a:cs typeface="Century Gothic"/>
              <a:sym typeface="Century Gothic"/>
            </a:endParaRPr>
          </a:p>
        </p:txBody>
      </p:sp>
      <p:sp>
        <p:nvSpPr>
          <p:cNvPr id="2953" name="Google Shape;2953;p16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card transaction (e.g. customer ID, spending category code, merchant code,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Insurance account information (Product name, customer ID, account status, account balance,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Loan account information (e.g. product type, customer ID, account balance, opened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card account information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2954" name="Google Shape;2954;p16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Currently have limited visibility of the customer journey and sequence of activities, e.g. Credit card spending journey</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To determine the right timing of product adoption in order to increase effectiveness of campaign and product offering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To provide new insight to banking with ability to handle new types of data and generate business value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55" name="Google Shape;2955;p16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EMEA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Owners: K. Rungruang Sukkirdkijpiboon  </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K. Suporn Sunthornrohit </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2956" name="Google Shape;2956;p16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2957" name="Google Shape;2957;p16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Spending Journey</a:t>
            </a:r>
            <a:endParaRPr sz="2400"/>
          </a:p>
        </p:txBody>
      </p:sp>
      <p:sp>
        <p:nvSpPr>
          <p:cNvPr id="2958" name="Google Shape;2958;p16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63" name="Shape 2963"/>
        <p:cNvGrpSpPr/>
        <p:nvPr/>
      </p:nvGrpSpPr>
      <p:grpSpPr>
        <a:xfrm>
          <a:off x="0" y="0"/>
          <a:ext cx="0" cy="0"/>
          <a:chOff x="0" y="0"/>
          <a:chExt cx="0" cy="0"/>
        </a:xfrm>
      </p:grpSpPr>
      <p:cxnSp>
        <p:nvCxnSpPr>
          <p:cNvPr id="2964" name="Google Shape;2964;p16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65" name="Google Shape;2965;p16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66" name="Google Shape;2966;p16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67" name="Google Shape;2967;p16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68" name="Google Shape;2968;p16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conversion through more customers successfully completing the online process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of key reasons for dropout from the subsequent manual fulfilment process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69" name="Google Shape;2969;p16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visualisation of the customer journey and events throughout the online application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visualisation of the elapse times from the point of application to account  opening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key points of dropout during the application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of reject ratios and reasons for application rejection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set of potential intervention points for making proactive contact with the customer to successfully complete the application process.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0" name="Google Shape;2970;p16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a set of actionable recommendations to improve the current application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Prioritisation of developments to automate the application process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71" name="Google Shape;2971;p16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2" name="Google Shape;2972;p16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Detailed web click stream data is not available but it is believed that sufficient detail can be extracted from internet banking transaction logs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3" name="Google Shape;2973;p16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Internet Banking transaction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Activity Based Costing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Cash Loan application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Risk Data - shadow limits / risk score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Risk decisions – Accept / Decline Reasons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 product detail</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4" name="Google Shape;2974;p16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Approximately 500,000 customers per annum apply online for cash loans from the Bank. This accounts for less than 20% of cash loan sales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percentage of customers that successfully complete this process online is relatively low by best practice benchmarks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process is currently being improved with further automated which increases the importance of the online application experience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75" name="Google Shape;2975;p16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76" name="Google Shape;2976;p16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77" name="Google Shape;2977;p16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Abandoned Online Purchase </a:t>
            </a:r>
            <a:endParaRPr sz="2400"/>
          </a:p>
        </p:txBody>
      </p:sp>
      <p:sp>
        <p:nvSpPr>
          <p:cNvPr id="2978" name="Google Shape;2978;p16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83" name="Shape 2983"/>
        <p:cNvGrpSpPr/>
        <p:nvPr/>
      </p:nvGrpSpPr>
      <p:grpSpPr>
        <a:xfrm>
          <a:off x="0" y="0"/>
          <a:ext cx="0" cy="0"/>
          <a:chOff x="0" y="0"/>
          <a:chExt cx="0" cy="0"/>
        </a:xfrm>
      </p:grpSpPr>
      <p:cxnSp>
        <p:nvCxnSpPr>
          <p:cNvPr id="2984" name="Google Shape;2984;p16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85" name="Google Shape;2985;p16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86" name="Google Shape;2986;p16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87" name="Google Shape;2987;p16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88" name="Google Shape;2988;p16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Focus advisor time on best opportunities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relevance of customer contact – around specific events and triggers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investor activity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churn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89" name="Google Shape;2989;p16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customers who are investing in underperforming funds, or holding funds whose performance has declined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Proactively offer alternatives based on customer risk appetite and market expectations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fund performance, customer satisfaction, commission through advice and AUM</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90" name="Google Shape;2990;p164"/>
          <p:cNvSpPr/>
          <p:nvPr/>
        </p:nvSpPr>
        <p:spPr>
          <a:xfrm>
            <a:off x="3271845" y="385316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new events to trigger proactive contact advice based on existing portfolio composition, peer audience behavior and investment goals </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91" name="Google Shape;2991;p16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of investors to identify those with most effective strategies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Analytics/Ngram for key trigger phrases from text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Basket analysis/CFilter to make ‘people like me’ recommendations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Sentiment Analysis using market data to provide alerts when mark sentiment changes towards certain investments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92" name="Google Shape;2992;p16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Real time 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Challenging to infer some attributes such as attitudinal preferences (risk etc.)</a:t>
            </a:r>
            <a:endParaRPr sz="800">
              <a:solidFill>
                <a:srgbClr val="3C3C3B"/>
              </a:solidFill>
              <a:latin typeface="Century Gothic"/>
              <a:ea typeface="Century Gothic"/>
              <a:cs typeface="Century Gothic"/>
              <a:sym typeface="Century Gothic"/>
            </a:endParaRPr>
          </a:p>
        </p:txBody>
      </p:sp>
      <p:sp>
        <p:nvSpPr>
          <p:cNvPr id="2993" name="Google Shape;2993;p16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Portfolio data showing investments and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Trading data buy and sell transactions for each 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 data: Research and analysis of different equities, funds, bonds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94" name="Google Shape;2994;p16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pressure is on for Wealth Advisors to do more with less, bigger portfolios mean less time with each customer and higher targets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expect proactive advice and value add, and are only willing to pay for high quality insight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how to focus on the right customers at the right time with the right advice, but spend less time researching and preparing advice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95" name="Google Shape;2995;p16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96" name="Google Shape;2996;p16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97" name="Google Shape;2997;p16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Wealth Management – Proactive Advice </a:t>
            </a:r>
            <a:endParaRPr sz="2400"/>
          </a:p>
        </p:txBody>
      </p:sp>
      <p:sp>
        <p:nvSpPr>
          <p:cNvPr id="2998" name="Google Shape;2998;p16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03" name="Shape 3003"/>
        <p:cNvGrpSpPr/>
        <p:nvPr/>
      </p:nvGrpSpPr>
      <p:grpSpPr>
        <a:xfrm>
          <a:off x="0" y="0"/>
          <a:ext cx="0" cy="0"/>
          <a:chOff x="0" y="0"/>
          <a:chExt cx="0" cy="0"/>
        </a:xfrm>
      </p:grpSpPr>
      <p:cxnSp>
        <p:nvCxnSpPr>
          <p:cNvPr id="3004" name="Google Shape;3004;p16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05" name="Google Shape;3005;p16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06" name="Google Shape;3006;p16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07" name="Google Shape;3007;p16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08" name="Google Shape;3008;p16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focus of relationship manager time on highest potential clients – using timely and relevant events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targeting and conversion of potential wealth clients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09" name="Google Shape;3009;p165"/>
          <p:cNvSpPr/>
          <p:nvPr/>
        </p:nvSpPr>
        <p:spPr>
          <a:xfrm>
            <a:off x="6148806" y="251512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sequence of events leading to increased on-us AUM to improve the timing of the contact or offer to win-over or increase wallet share.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estimation of the “off-us” wealth / AUM of customers leading to improved targeting of potential HNW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RM empowered with better customer insights to plan and strategize customer engagements and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10" name="Google Shape;3010;p165"/>
          <p:cNvSpPr/>
          <p:nvPr/>
        </p:nvSpPr>
        <p:spPr>
          <a:xfrm>
            <a:off x="3271845" y="375791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a candidate set of events and triggers (or sequence of events) to prompt customer contact from a relationship manager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potential customers that have are likely to have significant wealth elsewhere</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11" name="Google Shape;3011;p165"/>
          <p:cNvSpPr/>
          <p:nvPr/>
        </p:nvSpPr>
        <p:spPr>
          <a:xfrm>
            <a:off x="3271845" y="251512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all paths and sequences of product acquisitions and activities that leads to increased AUM for targeting potential customers to win-over.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association analysis to estimate the total wealth / AUM of a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Overlay with existing traditional model / business rule for potential uplift.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12" name="Google Shape;3012;p165"/>
          <p:cNvSpPr/>
          <p:nvPr/>
        </p:nvSpPr>
        <p:spPr>
          <a:xfrm>
            <a:off x="423863" y="4281790"/>
            <a:ext cx="2714400" cy="661685"/>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external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p:txBody>
      </p:sp>
      <p:sp>
        <p:nvSpPr>
          <p:cNvPr id="3013" name="Google Shape;3013;p165"/>
          <p:cNvSpPr/>
          <p:nvPr/>
        </p:nvSpPr>
        <p:spPr>
          <a:xfrm>
            <a:off x="423863" y="251512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and customer website, including if possible real-time interactions as well as associations with other known HNW individuals.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data from customers’ usage of mobile apps particularly mobile ibanking and mobile payment.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 traditional channels interaction data to identify events in customer service conversations, emails, phone banking, ATMs and branches leading to increased “on-us” AUM.</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Banking transaction data for e.g. significant money flow, large ticket credit card purchases, dividend/stock income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800">
              <a:solidFill>
                <a:srgbClr val="3C3C3B"/>
              </a:solidFill>
              <a:latin typeface="Century Gothic"/>
              <a:ea typeface="Century Gothic"/>
              <a:cs typeface="Century Gothic"/>
              <a:sym typeface="Century Gothic"/>
            </a:endParaRPr>
          </a:p>
        </p:txBody>
      </p:sp>
      <p:sp>
        <p:nvSpPr>
          <p:cNvPr id="3014" name="Google Shape;3014;p16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wealth, deposits and investments (AUM) in other banks are not readily understandable unlike their liabilities which are readily available via credit bureaus.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Traditional analytics / business rules are limited to customer’s “on-us” transactions in their product holdings and the conversion rate is very low (e.g. less than 0.5%), as a result relationship managers (RM) are reluctant to work on leads (hunt) as their time is better spent farming existing customers.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Bank loses out in competing for new high net worth customers, critical to expanding their HNW banking segment.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15" name="Google Shape;3015;p16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16" name="Google Shape;3016;p16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17" name="Google Shape;3017;p16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Portfolio Increase and New “Win-Over” </a:t>
            </a:r>
            <a:endParaRPr sz="2000"/>
          </a:p>
        </p:txBody>
      </p:sp>
      <p:sp>
        <p:nvSpPr>
          <p:cNvPr id="3018" name="Google Shape;3018;p16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23" name="Shape 3023"/>
        <p:cNvGrpSpPr/>
        <p:nvPr/>
      </p:nvGrpSpPr>
      <p:grpSpPr>
        <a:xfrm>
          <a:off x="0" y="0"/>
          <a:ext cx="0" cy="0"/>
          <a:chOff x="0" y="0"/>
          <a:chExt cx="0" cy="0"/>
        </a:xfrm>
      </p:grpSpPr>
      <p:cxnSp>
        <p:nvCxnSpPr>
          <p:cNvPr id="3024" name="Google Shape;3024;p16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25" name="Google Shape;3025;p16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26" name="Google Shape;3026;p16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27" name="Google Shape;3027;p16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28" name="Google Shape;3028;p16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cross sales of products and services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relevance of customer contact – driven by customer elicited information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29" name="Google Shape;3029;p16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leads for products such as car insurance, mortgage with competitor, maternity leave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Usage of these leads to drive cross sell and up sell marketing communications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30" name="Google Shape;3030;p16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new suite of events and triggers generated from analysing the free format text in branch notes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31" name="Google Shape;3031;p16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in the Teradata Aster system to create structure to the text in CRM notes and to identify product interests, competition bank product holdings and important life stages. Cross verification of this information with information in transactions.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32" name="Google Shape;3032;p16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Quality of notes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sz="800">
              <a:solidFill>
                <a:srgbClr val="3C3C3B"/>
              </a:solidFill>
              <a:latin typeface="Century Gothic"/>
              <a:ea typeface="Century Gothic"/>
              <a:cs typeface="Century Gothic"/>
              <a:sym typeface="Century Gothic"/>
            </a:endParaRPr>
          </a:p>
        </p:txBody>
      </p:sp>
      <p:sp>
        <p:nvSpPr>
          <p:cNvPr id="3033" name="Google Shape;3033;p16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Customers demographics and product holdings data from banks EDW to identify current 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CRM notes inputted into the system by finance advisors after meetings with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to identify outgoing payments to cover products with competitor banks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34" name="Google Shape;3034;p16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Bank gathers notes on discussions with customers conducted by branch personnell/ finance advisors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These notes are currently not analyzed due to the lack off tools capable working with unstructured text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Banked wanted to generate leads based on topics discussed with clients and based on competition products mentioned</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35" name="Google Shape;3035;p16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36" name="Google Shape;3036;p16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37" name="Google Shape;3037;p16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Lead Generation From Branch Notes </a:t>
            </a:r>
            <a:endParaRPr sz="2400"/>
          </a:p>
        </p:txBody>
      </p:sp>
      <p:sp>
        <p:nvSpPr>
          <p:cNvPr id="3038" name="Google Shape;3038;p16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43" name="Shape 3043"/>
        <p:cNvGrpSpPr/>
        <p:nvPr/>
      </p:nvGrpSpPr>
      <p:grpSpPr>
        <a:xfrm>
          <a:off x="0" y="0"/>
          <a:ext cx="0" cy="0"/>
          <a:chOff x="0" y="0"/>
          <a:chExt cx="0" cy="0"/>
        </a:xfrm>
      </p:grpSpPr>
      <p:cxnSp>
        <p:nvCxnSpPr>
          <p:cNvPr id="3044" name="Google Shape;3044;p16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45" name="Google Shape;3045;p16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46" name="Google Shape;3046;p16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47" name="Google Shape;3047;p16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48" name="Google Shape;3048;p16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funds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transactional costs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influencer networks based on payment behavior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49" name="Google Shape;3049;p16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 analysis to help monitor the flow of funds/ transactions daily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potential accounts / funds where there is an opportunity to retain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50" name="Google Shape;3050;p16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payment networks and use knowledge of the network to retain funds within the organization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regular and ad-hoc payments behavior to determine the treatment strategy of transactional events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51" name="Google Shape;3051;p16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to generate the fund flow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Network Graph Analysis to find the relationship of corporate accounts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Find the potential retainable customers’ money flow, such as massive funds flow out of the bank and then flow into another customer of the bank</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52" name="Google Shape;3052;p16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track and link inward and outwards payments / fund transfers can be challenging</a:t>
            </a:r>
            <a:endParaRPr sz="800">
              <a:solidFill>
                <a:srgbClr val="3C3C3B"/>
              </a:solidFill>
              <a:latin typeface="Century Gothic"/>
              <a:ea typeface="Century Gothic"/>
              <a:cs typeface="Century Gothic"/>
              <a:sym typeface="Century Gothic"/>
            </a:endParaRPr>
          </a:p>
        </p:txBody>
      </p:sp>
      <p:sp>
        <p:nvSpPr>
          <p:cNvPr id="3053" name="Google Shape;3053;p16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the transaction of corporate, business  retail accounts, including Accounts of transfer from  and transfer to , amount ,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Relationship data , such as customer/corporate group hierarchy data, cross stream guarantees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54" name="Google Shape;3054;p16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There’s lot’s of money movement between accounts and loss of funds to other banks.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This means reduced liquidity and profit.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business departments want to know how and why money attrition occurs &amp; to identify ways of retaining those funds.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It becomes possible to identify regular financial relationships between accounts within the bank or outside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55" name="Google Shape;3055;p16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56" name="Google Shape;3056;p16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57" name="Google Shape;3057;p16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Identify Potential Money Flow to Retain </a:t>
            </a:r>
            <a:endParaRPr sz="2400"/>
          </a:p>
        </p:txBody>
      </p:sp>
      <p:sp>
        <p:nvSpPr>
          <p:cNvPr id="3058" name="Google Shape;3058;p16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63" name="Shape 3063"/>
        <p:cNvGrpSpPr/>
        <p:nvPr/>
      </p:nvGrpSpPr>
      <p:grpSpPr>
        <a:xfrm>
          <a:off x="0" y="0"/>
          <a:ext cx="0" cy="0"/>
          <a:chOff x="0" y="0"/>
          <a:chExt cx="0" cy="0"/>
        </a:xfrm>
      </p:grpSpPr>
      <p:cxnSp>
        <p:nvCxnSpPr>
          <p:cNvPr id="3064" name="Google Shape;3064;p16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65" name="Google Shape;3065;p16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66" name="Google Shape;3066;p16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67" name="Google Shape;3067;p16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68" name="Google Shape;3068;p16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relevance of customer contact around specific events and triggers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investor activity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churn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69" name="Google Shape;3069;p16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different investor types and their attitude to risk, income and short vs. long term outlook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Offer services or targeted advice to each segment based on their particular needs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the productivity of Wealth Advisors and improve the customer experience to grow revenue from advice and services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0" name="Google Shape;3070;p16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Utilize the investor segmentation to improve the relevance of content presented to customers based on existing portfolio composition, peer audience behavior and investment goals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Utilize the segmentation to create new tailored product propositions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71" name="Google Shape;3071;p16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Factor Analysis of trading and portfolio data to identify the key behaviors of investors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Analysis to identify key investor types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Profiling (nPath &amp; clustering)  to describe the Investor Segments ((Risky vs. Safe, Growth vs. Income, Day Traders vs. Long Term etc.)</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2" name="Google Shape;3072;p16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Challenging to infer some attributes such as attitudinal preferences (risk etc.)</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3" name="Google Shape;3073;p16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Portfolio data showing investments and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Trading data buy and sell transactions for each 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 data: Research and analysis of different equities, funds, bonds etc.</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4" name="Google Shape;3074;p16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identify the types of investor you have?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Should you be giving advice to a customer or simply providing them with the products and services so they can self serve?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successful are your active investors, and can you help them become more successful?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75" name="Google Shape;3075;p16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76" name="Google Shape;3076;p16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77" name="Google Shape;3077;p16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Investor Segmentation</a:t>
            </a:r>
            <a:endParaRPr sz="2400"/>
          </a:p>
        </p:txBody>
      </p:sp>
      <p:sp>
        <p:nvSpPr>
          <p:cNvPr id="3078" name="Google Shape;3078;p1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83" name="Shape 3083"/>
        <p:cNvGrpSpPr/>
        <p:nvPr/>
      </p:nvGrpSpPr>
      <p:grpSpPr>
        <a:xfrm>
          <a:off x="0" y="0"/>
          <a:ext cx="0" cy="0"/>
          <a:chOff x="0" y="0"/>
          <a:chExt cx="0" cy="0"/>
        </a:xfrm>
      </p:grpSpPr>
      <p:cxnSp>
        <p:nvCxnSpPr>
          <p:cNvPr id="3084" name="Google Shape;3084;p16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85" name="Google Shape;3085;p16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86" name="Google Shape;3086;p16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87" name="Google Shape;3087;p16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88" name="Google Shape;3088;p16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 of business related products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Higher cross sales rates for business products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Ensure customer pays appropriate fees for business services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89" name="Google Shape;3089;p16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Expected Discovery: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Identified business owners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potential business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product penetration by providing relevant products to business owners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0" name="Google Shape;3090;p16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suitable triggers and behaviour to indicate a customer is  running small businesses from personal accounts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91" name="Google Shape;3091;p16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Graphs to map transactions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to identify transaction purpose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Statistical analysis &amp; Predictive model to further predict which customers are not the same as known regular customers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2" name="Google Shape;3092;p16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3" name="Google Shape;3093;p16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transfer news) to identify whom, when, frequency and purpose of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demography to identify known salaried customers/regular individual customer and others </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4" name="Google Shape;3094;p16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Many individual customers are also running small business. However, most of them are not known by the bank.</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They are potential customers that banks can cross sell or upsell more business related products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 is how to identify these individual customers without information stated to the bank on their profile?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95" name="Google Shape;3095;p16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96" name="Google Shape;3096;p16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97" name="Google Shape;3097;p16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Identify ‘Hidden’ Individual Business Owners </a:t>
            </a:r>
            <a:endParaRPr sz="2000"/>
          </a:p>
        </p:txBody>
      </p:sp>
      <p:sp>
        <p:nvSpPr>
          <p:cNvPr id="3098" name="Google Shape;3098;p16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23" name="Shape 3123"/>
        <p:cNvGrpSpPr/>
        <p:nvPr/>
      </p:nvGrpSpPr>
      <p:grpSpPr>
        <a:xfrm>
          <a:off x="0" y="0"/>
          <a:ext cx="0" cy="0"/>
          <a:chOff x="0" y="0"/>
          <a:chExt cx="0" cy="0"/>
        </a:xfrm>
      </p:grpSpPr>
      <p:cxnSp>
        <p:nvCxnSpPr>
          <p:cNvPr id="3124" name="Google Shape;3124;p17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25" name="Google Shape;3125;p17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26" name="Google Shape;3126;p17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27" name="Google Shape;3127;p17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28" name="Google Shape;3128;p17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usage of internet and mobile banking sites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loyalty from differentiated online proposition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Capture needs and future purchase intentions through customer goals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29" name="Google Shape;3129;p171"/>
          <p:cNvSpPr/>
          <p:nvPr/>
        </p:nvSpPr>
        <p:spPr>
          <a:xfrm>
            <a:off x="6148806" y="20674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collaborative filtering to create common peer groups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Visualisation of peer groups to show common characteristics grouping customers together and the differences between different groups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recommend a set of candidate variables to be basis for creating peer groups in the the Bank customer base to drive Personal Finance Management (PFM)aggregated profiles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insight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0" name="Google Shape;3130;p171"/>
          <p:cNvSpPr/>
          <p:nvPr/>
        </p:nvSpPr>
        <p:spPr>
          <a:xfrm>
            <a:off x="3271845" y="385316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representative peer audiences to be used by personal finance management (PFM) tools for comparison purposes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31" name="Google Shape;3131;p171"/>
          <p:cNvSpPr/>
          <p:nvPr/>
        </p:nvSpPr>
        <p:spPr>
          <a:xfrm>
            <a:off x="3271845" y="20674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2" name="Google Shape;3132;p171"/>
          <p:cNvSpPr/>
          <p:nvPr/>
        </p:nvSpPr>
        <p:spPr>
          <a:xfrm>
            <a:off x="423863" y="385316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readily available to create this type of functionality. The dimensions used to create peer groups will particularly important. Peer group identification may be more difficult in some countries due to diverse nature of the population.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3" name="Google Shape;3133;p171"/>
          <p:cNvSpPr/>
          <p:nvPr/>
        </p:nvSpPr>
        <p:spPr>
          <a:xfrm>
            <a:off x="423863" y="20674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residential address and geo-demographics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lifestyle indicators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Derived income from credit turnover / salary credits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Derived customer spend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Usage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Product Holdings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4" name="Google Shape;3134;p17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Engage with customers banking online, to improve the experience.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Help customers using insight that they ‘just get’ - don’t blind with science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Leverage the familiarity that people have with retailers like Amazon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will would rather take advice from their peers than the bank.</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35" name="Google Shape;3135;p17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136" name="Google Shape;3136;p17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137" name="Google Shape;3137;p17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People Like Me </a:t>
            </a:r>
            <a:endParaRPr sz="2400"/>
          </a:p>
        </p:txBody>
      </p:sp>
      <p:sp>
        <p:nvSpPr>
          <p:cNvPr id="3138" name="Google Shape;3138;p17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43" name="Shape 3143"/>
        <p:cNvGrpSpPr/>
        <p:nvPr/>
      </p:nvGrpSpPr>
      <p:grpSpPr>
        <a:xfrm>
          <a:off x="0" y="0"/>
          <a:ext cx="0" cy="0"/>
          <a:chOff x="0" y="0"/>
          <a:chExt cx="0" cy="0"/>
        </a:xfrm>
      </p:grpSpPr>
      <p:cxnSp>
        <p:nvCxnSpPr>
          <p:cNvPr id="3144" name="Google Shape;3144;p17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45" name="Google Shape;3145;p17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46" name="Google Shape;3146;p17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47" name="Google Shape;3147;p17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48" name="Google Shape;3148;p17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to marketing offers that have been personalised using the attitudinal segmentation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49" name="Google Shape;3149;p17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Each customer will be assigned one of the attitudinal group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This outcome can be used together with other attributes to enhance the channel, product and offer we assigned to the target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 to increase the response rate of the campaign and enhance the customer satisfaction score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50" name="Google Shape;3150;p17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and validation of new attitudinal customer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Validation of segmentation accuracy  – using third    party sources such customer research - accuracy of prediction &gt; x%</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51" name="Google Shape;3151;p17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key variables using all available data and build the model using either multiple logistic regression, clustering or classification tree from structured/semi structured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52" name="Google Shape;3152;p17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Accurately modelling customer attitudes using behavioural data can be difficult</a:t>
            </a:r>
            <a:endParaRPr sz="800">
              <a:solidFill>
                <a:srgbClr val="3C3C3B"/>
              </a:solidFill>
              <a:latin typeface="Century Gothic"/>
              <a:ea typeface="Century Gothic"/>
              <a:cs typeface="Century Gothic"/>
              <a:sym typeface="Century Gothic"/>
            </a:endParaRPr>
          </a:p>
        </p:txBody>
      </p:sp>
      <p:sp>
        <p:nvSpPr>
          <p:cNvPr id="3153" name="Google Shape;3153;p17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360 Single View (Segmentation, customer demographic, product usage and transaction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Response (Like, Dislike, Hobby, Interest, Political view, Personal preference etc.) from facebook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Research Data (Attitudinal type questions – text &amp; structured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54" name="Google Shape;3154;p17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enable the identification of customer’s attitudes.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enhance the targeting capability and effectiveness of marketing with targeted propositions, offers, incentives, and communications the right tone &amp; manner should be used, empathising with the needs and expectations of different Attitudinal segments.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Potential Attitudinal segments are : (Basic Traditionalists, Confident Achievers, Optimists, Anonymous Controllers, Vulnerable Poser)</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55" name="Google Shape;3155;p17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156" name="Google Shape;3156;p17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157" name="Google Shape;3157;p17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Attitudinal Segmentation</a:t>
            </a:r>
            <a:endParaRPr sz="2400"/>
          </a:p>
        </p:txBody>
      </p:sp>
      <p:sp>
        <p:nvSpPr>
          <p:cNvPr id="3158" name="Google Shape;3158;p17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63" name="Shape 3163"/>
        <p:cNvGrpSpPr/>
        <p:nvPr/>
      </p:nvGrpSpPr>
      <p:grpSpPr>
        <a:xfrm>
          <a:off x="0" y="0"/>
          <a:ext cx="0" cy="0"/>
          <a:chOff x="0" y="0"/>
          <a:chExt cx="0" cy="0"/>
        </a:xfrm>
      </p:grpSpPr>
      <p:cxnSp>
        <p:nvCxnSpPr>
          <p:cNvPr id="3164" name="Google Shape;3164;p17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65" name="Google Shape;3165;p17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66" name="Google Shape;3166;p17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67" name="Google Shape;3167;p17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68" name="Google Shape;3168;p17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focus and investment on customers with a higher potential value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69" name="Google Shape;3169;p17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product penetration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‘stickiness’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in product revenue from interest and fee based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0" name="Google Shape;3170;p17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 segment of customers who behave or have similar profiles to a preferred group (E.g. High Value, High Net Worth) of customers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71" name="Google Shape;3171;p17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analysis or Profiling to identify other customers with similar profiles (e.g. age, education, location, employment, income)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network analysis from known preferred customers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2" name="Google Shape;3172;p17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social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3" name="Google Shape;3173;p17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spending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Transacting account and debit card spending behavior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4" name="Google Shape;3174;p17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This use case sought to identify customers not classified as ‘Preferred’ segment customers, who exhibited behavioral patterns and profile similar to that of known ‘Preferred’ customers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proactive marketing offers to increase product penetration and ‘stickiness’ of these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75" name="Google Shape;3175;p17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sz="900">
              <a:solidFill>
                <a:srgbClr val="5F6062"/>
              </a:solidFill>
              <a:latin typeface="Century Gothic"/>
              <a:ea typeface="Century Gothic"/>
              <a:cs typeface="Century Gothic"/>
              <a:sym typeface="Century Gothic"/>
            </a:endParaRPr>
          </a:p>
        </p:txBody>
      </p:sp>
      <p:sp>
        <p:nvSpPr>
          <p:cNvPr id="3176" name="Google Shape;3176;p17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177" name="Google Shape;3177;p17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Hidden ‘Preferred’ Customers </a:t>
            </a:r>
            <a:endParaRPr sz="2400"/>
          </a:p>
        </p:txBody>
      </p:sp>
      <p:sp>
        <p:nvSpPr>
          <p:cNvPr id="3178" name="Google Shape;3178;p17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83" name="Shape 3183"/>
        <p:cNvGrpSpPr/>
        <p:nvPr/>
      </p:nvGrpSpPr>
      <p:grpSpPr>
        <a:xfrm>
          <a:off x="0" y="0"/>
          <a:ext cx="0" cy="0"/>
          <a:chOff x="0" y="0"/>
          <a:chExt cx="0" cy="0"/>
        </a:xfrm>
      </p:grpSpPr>
      <p:cxnSp>
        <p:nvCxnSpPr>
          <p:cNvPr id="3184" name="Google Shape;3184;p17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85" name="Google Shape;3185;p17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86" name="Google Shape;3186;p17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87" name="Google Shape;3187;p17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88" name="Google Shape;3188;p17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engagement.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customer churn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upsell / cross sell capabilities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Marketing ROI and spend decisions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satisfaction</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89" name="Google Shape;3189;p17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Defined scoring capabilities to be utilized in marketing, sales, or product experience.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segmentation and core attribute identification.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integrate scoring into automated communication solutions.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90" name="Google Shape;3190;p17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Propensity Model delivery and capabilities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Improved understanding of customer drivers and 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Reduced efforts to analyse marketing spend</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91" name="Google Shape;3191;p17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Propensity scoring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Affinity scoring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Linear and Logistic regression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92" name="Google Shape;3192;p174"/>
          <p:cNvSpPr/>
          <p:nvPr/>
        </p:nvSpPr>
        <p:spPr>
          <a:xfrm>
            <a:off x="423863" y="369062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freshness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Situational awareness of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details</a:t>
            </a:r>
            <a:endParaRPr sz="800">
              <a:solidFill>
                <a:srgbClr val="3C3C3B"/>
              </a:solidFill>
              <a:latin typeface="Century Gothic"/>
              <a:ea typeface="Century Gothic"/>
              <a:cs typeface="Century Gothic"/>
              <a:sym typeface="Century Gothic"/>
            </a:endParaRPr>
          </a:p>
        </p:txBody>
      </p:sp>
      <p:sp>
        <p:nvSpPr>
          <p:cNvPr id="3193" name="Google Shape;3193;p17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Event / Clickstream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User / 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and Marketing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Campaign and contentment management system</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Calendar of events / External events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Voice of customer / feedback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3</a:t>
            </a:r>
            <a:r>
              <a:rPr baseline="30000" lang="en-GB" sz="800">
                <a:solidFill>
                  <a:schemeClr val="dk1"/>
                </a:solidFill>
                <a:latin typeface="Century Gothic"/>
                <a:ea typeface="Century Gothic"/>
                <a:cs typeface="Century Gothic"/>
                <a:sym typeface="Century Gothic"/>
              </a:rPr>
              <a:t>rd</a:t>
            </a:r>
            <a:r>
              <a:rPr lang="en-GB" sz="800">
                <a:solidFill>
                  <a:schemeClr val="dk1"/>
                </a:solidFill>
                <a:latin typeface="Century Gothic"/>
                <a:ea typeface="Century Gothic"/>
                <a:cs typeface="Century Gothic"/>
                <a:sym typeface="Century Gothic"/>
              </a:rPr>
              <a:t> Party audience / demographic overlay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194" name="Google Shape;3194;p17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Create a predictive score and model of a customer’s likelihood to perform an action such as purchase a product, respond to a marketing message, or utilize an incentive offer.</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Drive customer experience and personalization based on attribution and scoring.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Execute messaging and follow up touch points based on likelihood to perform action.</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95" name="Google Shape;3195;p17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Eric Gookins</a:t>
            </a:r>
            <a:endParaRPr/>
          </a:p>
        </p:txBody>
      </p:sp>
      <p:sp>
        <p:nvSpPr>
          <p:cNvPr id="3196" name="Google Shape;3196;p17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197" name="Google Shape;3197;p17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Propensity Modeling </a:t>
            </a:r>
            <a:endParaRPr sz="2400"/>
          </a:p>
        </p:txBody>
      </p:sp>
      <p:sp>
        <p:nvSpPr>
          <p:cNvPr id="3198" name="Google Shape;3198;p1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03" name="Shape 3203"/>
        <p:cNvGrpSpPr/>
        <p:nvPr/>
      </p:nvGrpSpPr>
      <p:grpSpPr>
        <a:xfrm>
          <a:off x="0" y="0"/>
          <a:ext cx="0" cy="0"/>
          <a:chOff x="0" y="0"/>
          <a:chExt cx="0" cy="0"/>
        </a:xfrm>
      </p:grpSpPr>
      <p:cxnSp>
        <p:nvCxnSpPr>
          <p:cNvPr id="3204" name="Google Shape;3204;p17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05" name="Google Shape;3205;p17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06" name="Google Shape;3206;p17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07" name="Google Shape;3207;p17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08" name="Google Shape;3208;p17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rates to promotions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effective digital media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new customer acquisition costs from targeted member get member promotions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09" name="Google Shape;3209;p17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social media to improve your understanding of customer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product holdings and revenue by focusing on customers that have highest ‘potential wallet’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customers with highest value networks for ‘member get member’ acquisition program</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10" name="Google Shape;3210;p17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better understand customer needs from integrating social media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targeting of content and offers based on augmented customer profile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accurate prediction of potential value – using data such as education and career history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and target influencers – with large network of contacts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11" name="Google Shape;3211;p17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Fuzzy matching to link social network data to existing customers (via email address or other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identifies the  social network of customers for whom you only have the partial banking relationship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Basket Analysis to compare the product holdings of known associates and identify ‘potential wallet’ for the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12" name="Google Shape;3212;p17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Securing sufficient customer opt in to rates to share data in order to justify data integration costs</a:t>
            </a:r>
            <a:endParaRPr sz="800">
              <a:solidFill>
                <a:srgbClr val="3C3C3B"/>
              </a:solidFill>
              <a:latin typeface="Century Gothic"/>
              <a:ea typeface="Century Gothic"/>
              <a:cs typeface="Century Gothic"/>
              <a:sym typeface="Century Gothic"/>
            </a:endParaRPr>
          </a:p>
        </p:txBody>
      </p:sp>
      <p:sp>
        <p:nvSpPr>
          <p:cNvPr id="3213" name="Google Shape;3213;p17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including profitability or 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data from networking sites such as Facebook, Linked-In, Twitter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14" name="Google Shape;3214;p17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Typically many customers only have part of their banking relationship with you.</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you identify those that are of high potential value, so you can decide whether to invest in them.</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out your understanding of the customer based on Social media data to understand those that are higher potential</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15" name="Google Shape;3215;p17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16" name="Google Shape;3216;p17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17" name="Google Shape;3217;p17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Social Network Driven Potential Value </a:t>
            </a:r>
            <a:endParaRPr sz="2400"/>
          </a:p>
        </p:txBody>
      </p:sp>
      <p:sp>
        <p:nvSpPr>
          <p:cNvPr id="3218" name="Google Shape;3218;p17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23" name="Shape 3223"/>
        <p:cNvGrpSpPr/>
        <p:nvPr/>
      </p:nvGrpSpPr>
      <p:grpSpPr>
        <a:xfrm>
          <a:off x="0" y="0"/>
          <a:ext cx="0" cy="0"/>
          <a:chOff x="0" y="0"/>
          <a:chExt cx="0" cy="0"/>
        </a:xfrm>
      </p:grpSpPr>
      <p:cxnSp>
        <p:nvCxnSpPr>
          <p:cNvPr id="3224" name="Google Shape;3224;p17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25" name="Google Shape;3225;p17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26" name="Google Shape;3226;p17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27" name="Google Shape;3227;p17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28" name="Google Shape;3228;p17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Segment customers based affinity to other customer segments / groups to provide targeted or differentiated service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new customer acquisition costs from targeted member get member promotions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29" name="Google Shape;3229;p17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 an improvement in Product Offering and Cross-sell activities based on network information by uncovering “New” potential within existing customers i.e. a customer who used to be identified as Mass Segment is actually closely related to another customer in Affluent Segment within the bank. Therefore, bank can utilize this new insight to improve their relevancy in product offering to match with customer’s real potential.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30" name="Google Shape;3230;p17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influencers from expanded network analysis and compare profiles by customers in the network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31" name="Google Shape;3231;p17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close relationship using Graph Analytics from Fund Transfer data i.e. Triangle Finder, Degree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create scoring in similarity of customer information using Identity Matching Fuzzy Algorithm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Type of Relationship such as family, friends or business by using Naïve Bayes Classifier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32" name="Google Shape;3232;p17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sz="800">
              <a:solidFill>
                <a:srgbClr val="3C3C3B"/>
              </a:solidFill>
              <a:latin typeface="Century Gothic"/>
              <a:ea typeface="Century Gothic"/>
              <a:cs typeface="Century Gothic"/>
              <a:sym typeface="Century Gothic"/>
            </a:endParaRPr>
          </a:p>
        </p:txBody>
      </p:sp>
      <p:sp>
        <p:nvSpPr>
          <p:cNvPr id="3233" name="Google Shape;3233;p17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Fund Transfer data from ATM and Online channel to identify the relationship of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similarity in last names, address, home phone number and company names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Account Information utilized information i.e. Credit Card’s Primary-Supplementary relationship and Joint Accounts to identify relationship</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34" name="Google Shape;3234;p17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are among your most-valued assets. To understand the single customer individually is no longer enough, as banks want to understand their network to gain insight of who they are, who they interact with, what culture they are in, how influenced they are compared to others, who their friends are or members of the family that they transact with.</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challenges for banks is to identify customer networks that can lead to a improved sales activity</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35" name="Google Shape;3235;p17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36" name="Google Shape;3236;p17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37" name="Google Shape;3237;p17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Network Analysis </a:t>
            </a:r>
            <a:endParaRPr sz="2400"/>
          </a:p>
        </p:txBody>
      </p:sp>
      <p:sp>
        <p:nvSpPr>
          <p:cNvPr id="3238" name="Google Shape;3238;p17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43" name="Shape 3243"/>
        <p:cNvGrpSpPr/>
        <p:nvPr/>
      </p:nvGrpSpPr>
      <p:grpSpPr>
        <a:xfrm>
          <a:off x="0" y="0"/>
          <a:ext cx="0" cy="0"/>
          <a:chOff x="0" y="0"/>
          <a:chExt cx="0" cy="0"/>
        </a:xfrm>
      </p:grpSpPr>
      <p:cxnSp>
        <p:nvCxnSpPr>
          <p:cNvPr id="3244" name="Google Shape;3244;p17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45" name="Google Shape;3245;p17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46" name="Google Shape;3246;p17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47" name="Google Shape;3247;p17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48" name="Google Shape;3248;p17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Differentiates business account offering from competition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Potential new income stream from charging referral fees for successful recommendations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Potential to discount costs of ‘business customer provided services’ to existing personal customers – offering added value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49" name="Google Shape;3249;p17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Value-added service which improves customer satisfaction and retention.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Potential for fee revenue.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Drives greater business to commercial customers of the bank, improving business performance and reducing risk.</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0" name="Google Shape;3250;p17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customer networks to allow targeted offering of products / services based on a number of derived data attributes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51" name="Google Shape;3251;p17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B2B / C2B Web-based application which enables customers to search for business services or contacts which are also customers of their bank.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Affinity Analysis to identify connections based on Txn linkage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link networks &amp; determine strength of relationships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2" name="Google Shape;3252;p17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Initiative could be costly to set-up and manage on an ongoing basis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3" name="Google Shape;3253;p17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related to commercial customers, their line of business, and previous introduced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Recommendation data collected within web-based application (or sourced from web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4" name="Google Shape;3254;p17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products and services are becoming increasingly commoditised, and banks needs to provide value-added services to differentiate and retain customers.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 large bank could use its customer base to deliver recommendations for business services on a B2B or C2B basis.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55" name="Google Shape;3255;p17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56" name="Google Shape;3256;p17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57" name="Google Shape;3257;p17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Client Connections </a:t>
            </a:r>
            <a:endParaRPr sz="2400"/>
          </a:p>
        </p:txBody>
      </p:sp>
      <p:sp>
        <p:nvSpPr>
          <p:cNvPr id="3258" name="Google Shape;3258;p1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63" name="Shape 3263"/>
        <p:cNvGrpSpPr/>
        <p:nvPr/>
      </p:nvGrpSpPr>
      <p:grpSpPr>
        <a:xfrm>
          <a:off x="0" y="0"/>
          <a:ext cx="0" cy="0"/>
          <a:chOff x="0" y="0"/>
          <a:chExt cx="0" cy="0"/>
        </a:xfrm>
      </p:grpSpPr>
      <p:cxnSp>
        <p:nvCxnSpPr>
          <p:cNvPr id="3264" name="Google Shape;3264;p17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65" name="Google Shape;3265;p17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66" name="Google Shape;3266;p17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67" name="Google Shape;3267;p17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68" name="Google Shape;3268;p17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the card holders’ behavior and needs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customer value via successful events based marketing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69" name="Google Shape;3269;p17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the events library for credit card marketing and risk managements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typical path for different segment of card holders to help business team build relative campaigns to enhance holder’s value and reduce the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key scenarios /events for marketing trigger  and risk prediction</a:t>
            </a:r>
            <a:endParaRPr sz="800">
              <a:solidFill>
                <a:srgbClr val="3C3C3B"/>
              </a:solidFill>
              <a:latin typeface="Century Gothic"/>
              <a:ea typeface="Century Gothic"/>
              <a:cs typeface="Century Gothic"/>
              <a:sym typeface="Century Gothic"/>
            </a:endParaRPr>
          </a:p>
        </p:txBody>
      </p:sp>
      <p:sp>
        <p:nvSpPr>
          <p:cNvPr id="3270" name="Google Shape;3270;p17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Generation of actionable insight( e.g. valuable marketing events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conversion rate via target the right customer at the right time</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71" name="Google Shape;3271;p17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analysis：Identify the golden path for each value group holders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SAX analysis: predict the customer behaviour based on customer transaction amount and credit card statement</a:t>
            </a:r>
            <a:endParaRPr sz="800">
              <a:solidFill>
                <a:srgbClr val="3C3C3B"/>
              </a:solidFill>
              <a:latin typeface="Century Gothic"/>
              <a:ea typeface="Century Gothic"/>
              <a:cs typeface="Century Gothic"/>
              <a:sym typeface="Century Gothic"/>
            </a:endParaRPr>
          </a:p>
        </p:txBody>
      </p:sp>
      <p:sp>
        <p:nvSpPr>
          <p:cNvPr id="3272" name="Google Shape;3272;p17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events library from a variety of customer’s transaction , statements and other relative credit card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key conversion path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Huge data volumes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73" name="Google Shape;3273;p17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holders’ profile data;</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cards info</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transaction data, including Merchant, time, amount</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cards events ，including open, activate, adjusting credit line, statement</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Holders’ asset in bank, including deposit account, loan account </a:t>
            </a:r>
            <a:endParaRPr/>
          </a:p>
          <a:p>
            <a:pPr indent="-57199" lvl="0" marL="108000" marR="0" rtl="0" algn="l">
              <a:lnSpc>
                <a:spcPct val="90000"/>
              </a:lnSpc>
              <a:spcBef>
                <a:spcPts val="2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74" name="Google Shape;3274;p17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Segment credit card customer based on life time value.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Explore all the customer events, conversion path from card open to churn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the key events and scenarios leading to a customer developing into high value segmentation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visualized behaviour path for each segment（ by locations，card brands，customer groups）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75" name="Google Shape;3275;p17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Major state-owned bank in China</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Jay Zhang</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76" name="Google Shape;3276;p17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77" name="Google Shape;3277;p17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Holder Behavior Analysis</a:t>
            </a:r>
            <a:endParaRPr sz="2400"/>
          </a:p>
        </p:txBody>
      </p:sp>
      <p:sp>
        <p:nvSpPr>
          <p:cNvPr id="3278" name="Google Shape;3278;p1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99" name="Shape 3299"/>
        <p:cNvGrpSpPr/>
        <p:nvPr/>
      </p:nvGrpSpPr>
      <p:grpSpPr>
        <a:xfrm>
          <a:off x="0" y="0"/>
          <a:ext cx="0" cy="0"/>
          <a:chOff x="0" y="0"/>
          <a:chExt cx="0" cy="0"/>
        </a:xfrm>
      </p:grpSpPr>
      <p:cxnSp>
        <p:nvCxnSpPr>
          <p:cNvPr id="3300" name="Google Shape;3300;p18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01" name="Google Shape;3301;p18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02" name="Google Shape;3302;p18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03" name="Google Shape;3303;p18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04" name="Google Shape;3304;p18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deeper customer relationships between the customer and their favoured branch – E.g. Personalise customer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Better understanding of branch footfall – allowing refining of branch space, staffing levels, target setting etc.</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05" name="Google Shape;3305;p18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 customer assignment to branch advisors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Change client advisor assignments and campaign communication channels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Avoid useless invitations of customers to branches he is not visiting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06" name="Google Shape;3306;p18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new insights to enable development of a more sophisticated customer to branch allocation model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07" name="Google Shape;3307;p18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 with branches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done at which branch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understand network of customer with preferred branches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08" name="Google Shape;3308;p18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Identify all customer interactions in branches if no transactions (financial and non-financial) are made</a:t>
            </a:r>
            <a:endParaRPr sz="800">
              <a:solidFill>
                <a:srgbClr val="3C3C3B"/>
              </a:solidFill>
              <a:latin typeface="Century Gothic"/>
              <a:ea typeface="Century Gothic"/>
              <a:cs typeface="Century Gothic"/>
              <a:sym typeface="Century Gothic"/>
            </a:endParaRPr>
          </a:p>
        </p:txBody>
      </p:sp>
      <p:sp>
        <p:nvSpPr>
          <p:cNvPr id="3309" name="Google Shape;3309;p18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history for all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Interaction Data cross channel (Branch, ATM, Call Centre, Online etc.) – Customer Journey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data (e.g. appointment behavior)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Geospatial data to understand location of customer and branches visited</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10" name="Google Shape;3310;p18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the behavior of clients when visiting branches by reason and preference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Allow banks to identify if customer is visiting the branch he is assigned by the bank or if he prefers different branches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Analyze patterns or sequences of events that influence branch visit behavior incl. online behavior of customer</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11" name="Google Shape;3311;p18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12" name="Google Shape;3312;p18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13" name="Google Shape;3313;p18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Client Branch Visit Preference Behavior </a:t>
            </a:r>
            <a:endParaRPr sz="2400"/>
          </a:p>
        </p:txBody>
      </p:sp>
      <p:sp>
        <p:nvSpPr>
          <p:cNvPr id="3314" name="Google Shape;3314;p18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19" name="Shape 3319"/>
        <p:cNvGrpSpPr/>
        <p:nvPr/>
      </p:nvGrpSpPr>
      <p:grpSpPr>
        <a:xfrm>
          <a:off x="0" y="0"/>
          <a:ext cx="0" cy="0"/>
          <a:chOff x="0" y="0"/>
          <a:chExt cx="0" cy="0"/>
        </a:xfrm>
      </p:grpSpPr>
      <p:cxnSp>
        <p:nvCxnSpPr>
          <p:cNvPr id="3320" name="Google Shape;3320;p18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21" name="Google Shape;3321;p18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22" name="Google Shape;3322;p18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23" name="Google Shape;3323;p18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24" name="Google Shape;3324;p18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from more relevant contacts made around customer needs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products holding – as multiple financial purchases more likely to occur as a result of customer life events</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25" name="Google Shape;3325;p18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insights on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targeting of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offers to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26" name="Google Shape;3326;p18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set of new candidate life events that can be productionised and added to campaign and lead systems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27" name="Google Shape;3327;p18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Affinity analysis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28" name="Google Shape;3328;p18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life events can be challenging to accurately identify from underlying data sources such as transactional. Events may need to be qualified by person to person contact.</a:t>
            </a:r>
            <a:endParaRPr sz="800">
              <a:solidFill>
                <a:srgbClr val="3C3C3B"/>
              </a:solidFill>
              <a:latin typeface="Century Gothic"/>
              <a:ea typeface="Century Gothic"/>
              <a:cs typeface="Century Gothic"/>
              <a:sym typeface="Century Gothic"/>
            </a:endParaRPr>
          </a:p>
        </p:txBody>
      </p:sp>
      <p:sp>
        <p:nvSpPr>
          <p:cNvPr id="3329" name="Google Shape;3329;p18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Historical transaction data from all channels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interaction data (call center, email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360 Single view data</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30" name="Google Shape;3330;p18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Personal customers purchases of financial services are strongly linked to life stage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significant life-events of customers, e.g. graduation, home purchase, getting married and job change etc’s.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31" name="Google Shape;3331;p18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32" name="Google Shape;3332;p18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33" name="Google Shape;3333;p18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Life-Based Events </a:t>
            </a:r>
            <a:endParaRPr sz="2400"/>
          </a:p>
        </p:txBody>
      </p:sp>
      <p:sp>
        <p:nvSpPr>
          <p:cNvPr id="3334" name="Google Shape;3334;p18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45" name="Shape 3345"/>
        <p:cNvGrpSpPr/>
        <p:nvPr/>
      </p:nvGrpSpPr>
      <p:grpSpPr>
        <a:xfrm>
          <a:off x="0" y="0"/>
          <a:ext cx="0" cy="0"/>
          <a:chOff x="0" y="0"/>
          <a:chExt cx="0" cy="0"/>
        </a:xfrm>
      </p:grpSpPr>
      <p:cxnSp>
        <p:nvCxnSpPr>
          <p:cNvPr id="3346" name="Google Shape;3346;p18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47" name="Google Shape;3347;p18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48" name="Google Shape;3348;p18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49" name="Google Shape;3349;p18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50" name="Google Shape;3350;p18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acquisition from targeting lunch network influencers for member get member customer acquisition campaigns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Target card spend offers at selected merchants to encourage card usage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51" name="Google Shape;3351;p18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acquisition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profitability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2" name="Google Shape;3352;p18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create a network of customers / prospects based on lunch transaction spending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and target network influencers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potential merchants to take part in card based spend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53" name="Google Shape;3353;p18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Value-Based Segmentation to identify customers value. Analysis on merchants transactions data to identify connected lunch buddies by identifying split bill. Graphing analysis to link individuals often transacting in similar places, at similar times for similar amounts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4" name="Google Shape;3354;p18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Requires high proportion of lunch payments to be made using cards rather than cash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5" name="Google Shape;3355;p18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at merchants  (restaurants/cafes)to identify connected people when having lunch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target segment and their behavior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6" name="Google Shape;3356;p18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Many working people tend to have lunch together, either with friends, business contacts or relatives.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By being able to identify lunch buddies, we could identify prospect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57" name="Google Shape;3357;p18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58" name="Google Shape;3358;p18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59" name="Google Shape;3359;p18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Lunch Buddy Analysis </a:t>
            </a:r>
            <a:endParaRPr sz="2400"/>
          </a:p>
        </p:txBody>
      </p:sp>
      <p:sp>
        <p:nvSpPr>
          <p:cNvPr id="3360" name="Google Shape;3360;p18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65" name="Shape 3365"/>
        <p:cNvGrpSpPr/>
        <p:nvPr/>
      </p:nvGrpSpPr>
      <p:grpSpPr>
        <a:xfrm>
          <a:off x="0" y="0"/>
          <a:ext cx="0" cy="0"/>
          <a:chOff x="0" y="0"/>
          <a:chExt cx="0" cy="0"/>
        </a:xfrm>
      </p:grpSpPr>
      <p:cxnSp>
        <p:nvCxnSpPr>
          <p:cNvPr id="3366" name="Google Shape;3366;p18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3367" name="Google Shape;3367;p18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3368" name="Google Shape;3368;p18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69" name="Google Shape;3369;p184"/>
          <p:cNvSpPr/>
          <p:nvPr/>
        </p:nvSpPr>
        <p:spPr>
          <a:xfrm rot="5400000">
            <a:off x="-86832" y="2518302"/>
            <a:ext cx="299641" cy="130284"/>
          </a:xfrm>
          <a:prstGeom prst="triangle">
            <a:avLst>
              <a:gd fmla="val 50000" name="adj"/>
            </a:avLst>
          </a:prstGeom>
          <a:solidFill>
            <a:srgbClr val="FF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70" name="Google Shape;3370;p18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cost-of-sales for investment banking resulting from faster identification of qualified target prospects.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sales cycle –time through faster prospect qualification.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Established a centralized research repository</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71" name="Google Shape;3371;p18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Reverse the “80/20 rule”  so that investment bankers and research analysts now spend 80% of their time doing analytics and only 20% manually screening potential portfolio securities.</a:t>
            </a:r>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Faster identification of prospect companies, prioritized by match to qualification criteria.</a:t>
            </a:r>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Repository of reusable research on previously qualified prospects, eliminating re-work.</a:t>
            </a:r>
            <a:endParaRPr/>
          </a:p>
        </p:txBody>
      </p:sp>
      <p:sp>
        <p:nvSpPr>
          <p:cNvPr id="3372" name="Google Shape;3372;p18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Acceleration of the identification of candidate securities at the required level of accuracy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Re-usable analytic tool, e.g. the model which was deployed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Acceptance of new methodology and tool by und-users</a:t>
            </a:r>
            <a:endParaRPr/>
          </a:p>
        </p:txBody>
      </p:sp>
      <p:sp>
        <p:nvSpPr>
          <p:cNvPr id="3373" name="Google Shape;3373;p184"/>
          <p:cNvSpPr/>
          <p:nvPr/>
        </p:nvSpPr>
        <p:spPr>
          <a:xfrm>
            <a:off x="3271845" y="2334154"/>
            <a:ext cx="2714400" cy="1223736"/>
          </a:xfrm>
          <a:prstGeom prst="rect">
            <a:avLst/>
          </a:prstGeom>
          <a:noFill/>
          <a:ln>
            <a:noFill/>
          </a:ln>
        </p:spPr>
        <p:txBody>
          <a:bodyPr anchorCtr="0" anchor="t" bIns="46800" lIns="46800" spcFirstLastPara="1" rIns="46800" wrap="square" tIns="46800">
            <a:noAutofit/>
          </a:bodyPr>
          <a:lstStyle/>
          <a:p>
            <a:pPr indent="-180000" lvl="0" marL="180000" marR="0" rtl="0" algn="l">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11125" lvl="0" marL="11112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Baseline current productivity measures</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target data sources</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Prepare ‘ground truth’ from previous manual screenings</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Prepare analytic and training data sets  </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Text analytics and clustering</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Evaluate accuracy versus ground-truth</a:t>
            </a:r>
            <a:endParaRPr/>
          </a:p>
        </p:txBody>
      </p:sp>
      <p:sp>
        <p:nvSpPr>
          <p:cNvPr id="3374" name="Google Shape;3374;p18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Subject-matter experts (portfolio analysts) time in preparation of the ‘ground-truth’</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Multiple external sources of unstructured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User sensitivity to ‘productivity measurement’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 and availability (sourcing)</a:t>
            </a:r>
            <a:endParaRPr/>
          </a:p>
        </p:txBody>
      </p:sp>
      <p:sp>
        <p:nvSpPr>
          <p:cNvPr id="3375" name="Google Shape;3375;p18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Vendor data (e.g. FACTSET, D&amp;B, Hoovers, Thomson/Reuters, Bloomberg et al)</a:t>
            </a:r>
            <a:endParaRPr/>
          </a:p>
          <a:p>
            <a:pPr indent="-171450" lvl="0" marL="171450" marR="0" rtl="0" algn="l">
              <a:spcBef>
                <a:spcPts val="3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Industry/Trade publications</a:t>
            </a:r>
            <a:endParaRPr/>
          </a:p>
          <a:p>
            <a:pPr indent="-171450" lvl="0" marL="171450" marR="0" rtl="0" algn="l">
              <a:spcBef>
                <a:spcPts val="3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Regulatory filings</a:t>
            </a:r>
            <a:endParaRPr/>
          </a:p>
          <a:p>
            <a:pPr indent="-171450" lvl="0" marL="171450" marR="0" rtl="0" algn="l">
              <a:spcBef>
                <a:spcPts val="3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Web Searches</a:t>
            </a:r>
            <a:endParaRPr/>
          </a:p>
        </p:txBody>
      </p:sp>
      <p:sp>
        <p:nvSpPr>
          <p:cNvPr id="3376" name="Google Shape;3376;p184"/>
          <p:cNvSpPr/>
          <p:nvPr/>
        </p:nvSpPr>
        <p:spPr>
          <a:xfrm>
            <a:off x="423876"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0" lvl="0" marL="0" marR="0" rtl="0" algn="l">
              <a:spcBef>
                <a:spcPts val="500"/>
              </a:spcBef>
              <a:spcAft>
                <a:spcPts val="0"/>
              </a:spcAft>
              <a:buNone/>
            </a:pPr>
            <a:r>
              <a:rPr lang="en-GB" sz="900">
                <a:solidFill>
                  <a:srgbClr val="3C3C3B"/>
                </a:solidFill>
                <a:latin typeface="Century Gothic"/>
                <a:ea typeface="Century Gothic"/>
                <a:cs typeface="Century Gothic"/>
                <a:sym typeface="Century Gothic"/>
              </a:rPr>
              <a:t>Reduce effort (cost of sales) for Investment Bankers pitching to mid-cap non-public companies resulting from:</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Information on target companies (typically non-listed companies of $50million to $1 billion)  unstructured/text based and not conducive to traditional search tools.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Current research practices are often not centralized resulting in significant redundancy and rework when a target company is to be re-visited</a:t>
            </a:r>
            <a:endParaRPr sz="900">
              <a:solidFill>
                <a:srgbClr val="3C3C3B"/>
              </a:solidFill>
              <a:latin typeface="Century Gothic"/>
              <a:ea typeface="Century Gothic"/>
              <a:cs typeface="Century Gothic"/>
              <a:sym typeface="Century Gothic"/>
            </a:endParaRPr>
          </a:p>
        </p:txBody>
      </p:sp>
      <p:sp>
        <p:nvSpPr>
          <p:cNvPr id="3377" name="Google Shape;3377;p184"/>
          <p:cNvSpPr/>
          <p:nvPr/>
        </p:nvSpPr>
        <p:spPr>
          <a:xfrm>
            <a:off x="6545103" y="290514"/>
            <a:ext cx="2598899" cy="524226"/>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Adrian Sharp</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78" name="Google Shape;3378;p184"/>
          <p:cNvSpPr/>
          <p:nvPr/>
        </p:nvSpPr>
        <p:spPr>
          <a:xfrm>
            <a:off x="355609" y="594287"/>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 Capital Markets, Investing &amp; Trading</a:t>
            </a:r>
            <a:endParaRPr/>
          </a:p>
        </p:txBody>
      </p:sp>
      <p:sp>
        <p:nvSpPr>
          <p:cNvPr id="3379" name="Google Shape;3379;p18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Prospect Screener</a:t>
            </a:r>
            <a:endParaRPr sz="2400"/>
          </a:p>
        </p:txBody>
      </p:sp>
      <p:sp>
        <p:nvSpPr>
          <p:cNvPr id="3380" name="Google Shape;3380;p1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85" name="Shape 3385"/>
        <p:cNvGrpSpPr/>
        <p:nvPr/>
      </p:nvGrpSpPr>
      <p:grpSpPr>
        <a:xfrm>
          <a:off x="0" y="0"/>
          <a:ext cx="0" cy="0"/>
          <a:chOff x="0" y="0"/>
          <a:chExt cx="0" cy="0"/>
        </a:xfrm>
      </p:grpSpPr>
      <p:cxnSp>
        <p:nvCxnSpPr>
          <p:cNvPr id="3386" name="Google Shape;3386;p18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87" name="Google Shape;3387;p18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88" name="Google Shape;3388;p18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89" name="Google Shape;3389;p18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90" name="Google Shape;3390;p18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path to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customers to adopt profitable behaviour</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91" name="Google Shape;3391;p18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path to value, e.g., what needs to happen with the customer in year 1 to grow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Re-engineer customer onboarding processes to ensure customers activate the right services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average profit per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92" name="Google Shape;3392;p18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incorporated into a onboarding program to accelerate the path to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Optimization of existing onboarding program with regard to timing and sequence of activity</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93" name="Google Shape;3393;p18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sales and service events in the first year of joining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sequences that lead to a minimum level of income at month 12, and those that don’t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 to look for affinities with products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94" name="Google Shape;3394;p18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Many paths to customer value and some may not be able to be directly influenced</a:t>
            </a:r>
            <a:endParaRPr sz="800">
              <a:solidFill>
                <a:srgbClr val="3C3C3B"/>
              </a:solidFill>
              <a:latin typeface="Century Gothic"/>
              <a:ea typeface="Century Gothic"/>
              <a:cs typeface="Century Gothic"/>
              <a:sym typeface="Century Gothic"/>
            </a:endParaRPr>
          </a:p>
        </p:txBody>
      </p:sp>
      <p:sp>
        <p:nvSpPr>
          <p:cNvPr id="3395" name="Google Shape;3395;p18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and Service event data describing when products features an services are activated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data or at least revenue data (net interest margin plus fee incomes)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96" name="Google Shape;3396;p18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financial services, acquiring a new customer or making a sale does not always generate profit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For current accounts, deposit accounts and credit cards profitability is only delivered is the account is activated and/or cross sales are delivered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how to identify the path to value, and proactively manage this on a customer by customer basis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97" name="Google Shape;3397;p18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98" name="Google Shape;3398;p18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99" name="Google Shape;3399;p18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Sequence: Path to Value </a:t>
            </a:r>
            <a:endParaRPr sz="2400"/>
          </a:p>
        </p:txBody>
      </p:sp>
      <p:sp>
        <p:nvSpPr>
          <p:cNvPr id="3400" name="Google Shape;3400;p18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05" name="Shape 3405"/>
        <p:cNvGrpSpPr/>
        <p:nvPr/>
      </p:nvGrpSpPr>
      <p:grpSpPr>
        <a:xfrm>
          <a:off x="0" y="0"/>
          <a:ext cx="0" cy="0"/>
          <a:chOff x="0" y="0"/>
          <a:chExt cx="0" cy="0"/>
        </a:xfrm>
      </p:grpSpPr>
      <p:cxnSp>
        <p:nvCxnSpPr>
          <p:cNvPr id="3406" name="Google Shape;3406;p18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07" name="Google Shape;3407;p18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08" name="Google Shape;3408;p18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09" name="Google Shape;3409;p18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10" name="Google Shape;3410;p18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attrition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dormancy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insight on key drivers contributing to customer churn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11" name="Google Shape;3411;p186"/>
          <p:cNvSpPr/>
          <p:nvPr/>
        </p:nvSpPr>
        <p:spPr>
          <a:xfrm>
            <a:off x="6148806" y="2142760"/>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broken processes where customers exit, get stuck or cycle 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and fix broken processes, service failures by analysing individual customer experiences and identifying root cause for failures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lower attrition (up to 10%) more revenue from future sales, and avoided customer acquisition costs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2" name="Google Shape;3412;p186"/>
          <p:cNvSpPr/>
          <p:nvPr/>
        </p:nvSpPr>
        <p:spPr>
          <a:xfrm>
            <a:off x="3271845" y="3813082"/>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quantify root cause events or combinations of events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Uplift in performance of existing models or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leading rather than lagging churn events to create more timely interventions earlier in the path to churn</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13" name="Google Shape;3413;p186"/>
          <p:cNvSpPr/>
          <p:nvPr/>
        </p:nvSpPr>
        <p:spPr>
          <a:xfrm>
            <a:off x="3271845" y="214276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(optional)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4" name="Google Shape;3414;p186"/>
          <p:cNvSpPr/>
          <p:nvPr/>
        </p:nvSpPr>
        <p:spPr>
          <a:xfrm>
            <a:off x="423863" y="381308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 of this technique is dependent on the predictively of candidate churn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Candidate churn events  need to be coded from many different data sources which can lead to extended data preparation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5" name="Google Shape;3415;p186"/>
          <p:cNvSpPr/>
          <p:nvPr/>
        </p:nvSpPr>
        <p:spPr>
          <a:xfrm>
            <a:off x="423863" y="2142760"/>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Standardised list of candidate churn events such as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Charges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 / Credit Turnover Trend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Account Behaviour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Change of Address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Cancellation of Salary Mandate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browsing history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6" name="Google Shape;3416;p18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Being able to understand which customers are likely to close their account means the Bank can proactively try and avoid this (if client profitable)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 may be no current systematic way of identifying why attrition occurs, or how to prevent it through removing the causes of attrition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maintain market share its necessary to replace lost customers - average costs approximately $100/account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17" name="Google Shape;3417;p18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18" name="Google Shape;3418;p18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19" name="Google Shape;3419;p18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Path to Churn </a:t>
            </a:r>
            <a:endParaRPr sz="2400"/>
          </a:p>
        </p:txBody>
      </p:sp>
      <p:sp>
        <p:nvSpPr>
          <p:cNvPr id="3420" name="Google Shape;3420;p1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25" name="Shape 3425"/>
        <p:cNvGrpSpPr/>
        <p:nvPr/>
      </p:nvGrpSpPr>
      <p:grpSpPr>
        <a:xfrm>
          <a:off x="0" y="0"/>
          <a:ext cx="0" cy="0"/>
          <a:chOff x="0" y="0"/>
          <a:chExt cx="0" cy="0"/>
        </a:xfrm>
      </p:grpSpPr>
      <p:cxnSp>
        <p:nvCxnSpPr>
          <p:cNvPr id="3426" name="Google Shape;3426;p18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27" name="Google Shape;3427;p18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28" name="Google Shape;3428;p18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29" name="Google Shape;3429;p18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30" name="Google Shape;3430;p18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balance attrition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dormancy</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31" name="Google Shape;3431;p18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make product recommendations quickly and easily for a wider range of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Re-engineer customer onboarding processes to ensure customers activate the right services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average profit per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more revenue from sales, at a lower cost per sale because re-work is reduced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2" name="Google Shape;3432;p18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new insights to identify and understand the behaviour / reasons for regular balance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the insight generated to recommend more appropriate product propositions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33" name="Google Shape;3433;p18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prior to churn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People like me approach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4" name="Google Shape;3434;p18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identify reasons for balance churn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5" name="Google Shape;3435;p18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From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Current account  transaction data with descriptions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history (leads generated and responses)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decisioning (e.q., accept, decline or refer etc.)</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6" name="Google Shape;3436;p18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has incoming transfer for fixed amount each month and  after a few days withdraws all the funds and balance is around zero for the rest of the period. (Cash loving customer).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Such situation has negative impact on the revenue and liquidity ratio of the banks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goal is to understand customer behavior resulting in a product proposal tailored to their needs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37" name="Google Shape;3437;p18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38" name="Google Shape;3438;p18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39" name="Google Shape;3439;p18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Identify ‘Balance’ Churners </a:t>
            </a:r>
            <a:endParaRPr sz="2400"/>
          </a:p>
        </p:txBody>
      </p:sp>
      <p:sp>
        <p:nvSpPr>
          <p:cNvPr id="3440" name="Google Shape;3440;p1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45" name="Shape 3445"/>
        <p:cNvGrpSpPr/>
        <p:nvPr/>
      </p:nvGrpSpPr>
      <p:grpSpPr>
        <a:xfrm>
          <a:off x="0" y="0"/>
          <a:ext cx="0" cy="0"/>
          <a:chOff x="0" y="0"/>
          <a:chExt cx="0" cy="0"/>
        </a:xfrm>
      </p:grpSpPr>
      <p:cxnSp>
        <p:nvCxnSpPr>
          <p:cNvPr id="3446" name="Google Shape;3446;p18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47" name="Google Shape;3447;p18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48" name="Google Shape;3448;p18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49" name="Google Shape;3449;p18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50" name="Google Shape;3450;p18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card balance attrition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dormancy</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51" name="Google Shape;3451;p188"/>
          <p:cNvSpPr/>
          <p:nvPr/>
        </p:nvSpPr>
        <p:spPr>
          <a:xfrm>
            <a:off x="6148806" y="2078962"/>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Graphically represent the events leading to silent balance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customers at risk of silent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various triggers that lead to customers silently churning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for PoC: identify events that trigger up to 20% of the silent churn in balance.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2" name="Google Shape;3452;p18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insight on key drivers contributing to balance churn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Uplift in performance of existing models or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leading rather than lagging churn events to create more timely interventions earlier in the path to churn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53" name="Google Shape;3453;p188"/>
          <p:cNvSpPr/>
          <p:nvPr/>
        </p:nvSpPr>
        <p:spPr>
          <a:xfrm>
            <a:off x="3271845" y="207896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journeys that lead to silent churn(including most common journeys)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4" name="Google Shape;3454;p18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 of this technique is dependent on the predictivity of candidate churn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Candidate churn events  need to be coded from many different data sources which can lead to extended data preparation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5" name="Google Shape;3455;p188"/>
          <p:cNvSpPr/>
          <p:nvPr/>
        </p:nvSpPr>
        <p:spPr>
          <a:xfrm>
            <a:off x="423863" y="2078962"/>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that identifies normal v abnormal behavior suggesting a move towards silent churn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Channel/Interaction data that shows abnormal customer experience or potential triggers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 data from available text captured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Balances, AUM and Liabilities data to identify leading trends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Personal data to identify any status changes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6" name="Google Shape;3456;p18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Minimize credit card balance churn of top tier clients when they spend less on their credit card with the bank.</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potential churners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57" name="Google Shape;3457;p18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58" name="Google Shape;3458;p18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59" name="Google Shape;3459;p18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Balance Churn </a:t>
            </a:r>
            <a:endParaRPr sz="2400"/>
          </a:p>
        </p:txBody>
      </p:sp>
      <p:sp>
        <p:nvSpPr>
          <p:cNvPr id="3460" name="Google Shape;3460;p1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65" name="Shape 3465"/>
        <p:cNvGrpSpPr/>
        <p:nvPr/>
      </p:nvGrpSpPr>
      <p:grpSpPr>
        <a:xfrm>
          <a:off x="0" y="0"/>
          <a:ext cx="0" cy="0"/>
          <a:chOff x="0" y="0"/>
          <a:chExt cx="0" cy="0"/>
        </a:xfrm>
      </p:grpSpPr>
      <p:cxnSp>
        <p:nvCxnSpPr>
          <p:cNvPr id="3466" name="Google Shape;3466;p18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67" name="Google Shape;3467;p18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68" name="Google Shape;3468;p18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69" name="Google Shape;3469;p18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70" name="Google Shape;3470;p18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Qualitative-increased customer AUM retention as well as fee income from cross-selling of fund management products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71" name="Google Shape;3471;p189"/>
          <p:cNvSpPr/>
          <p:nvPr/>
        </p:nvSpPr>
        <p:spPr>
          <a:xfrm>
            <a:off x="6148806" y="2004531"/>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Graphically represent the events leading to silent CASA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customers at risk of silent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various triggers that lead to customers silently churning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for PoC: identify events that trigger up to 20% of the silent Churn in CASA.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2" name="Google Shape;3472;p18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Analytics is able to identify up to 20% of CASA silent churn customers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73" name="Google Shape;3473;p189"/>
          <p:cNvSpPr/>
          <p:nvPr/>
        </p:nvSpPr>
        <p:spPr>
          <a:xfrm>
            <a:off x="3271845" y="2004531"/>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journeys that lead to silent churn(including most common journeys)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4" name="Google Shape;3474;p18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Getting customer/business to agree to the definition of silent churn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5" name="Google Shape;3475;p189"/>
          <p:cNvSpPr/>
          <p:nvPr/>
        </p:nvSpPr>
        <p:spPr>
          <a:xfrm>
            <a:off x="423863" y="2004531"/>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that identifies normal v abnormal behaviour suggesting a move towards silent churn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Channel/Interaction data that shows abnormal customer experience or potential triggers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 data from available text captured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Balances, AUM and Liabilities data to identify leading trends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Personal data to identify any status changes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6" name="Google Shape;3476;p18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Minimize CASA silent churn of top tier clients when they move funds out of the bank without replacing them in a timely manner.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potential churners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77" name="Google Shape;3477;p18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Large Bank</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 CK Loy</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78" name="Google Shape;3478;p18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79" name="Google Shape;3479;p18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CASA Silent Churn </a:t>
            </a:r>
            <a:endParaRPr sz="2400"/>
          </a:p>
        </p:txBody>
      </p:sp>
      <p:sp>
        <p:nvSpPr>
          <p:cNvPr id="3480" name="Google Shape;3480;p1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85" name="Shape 3485"/>
        <p:cNvGrpSpPr/>
        <p:nvPr/>
      </p:nvGrpSpPr>
      <p:grpSpPr>
        <a:xfrm>
          <a:off x="0" y="0"/>
          <a:ext cx="0" cy="0"/>
          <a:chOff x="0" y="0"/>
          <a:chExt cx="0" cy="0"/>
        </a:xfrm>
      </p:grpSpPr>
      <p:cxnSp>
        <p:nvCxnSpPr>
          <p:cNvPr id="3486" name="Google Shape;3486;p19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87" name="Google Shape;3487;p19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88" name="Google Shape;3488;p19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89" name="Google Shape;3489;p19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90" name="Google Shape;3490;p19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MUSD$727 in additional income from customers retained.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MUSD$795 in savings from customer acquisition costs.</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91" name="Google Shape;3491;p190"/>
          <p:cNvSpPr/>
          <p:nvPr/>
        </p:nvSpPr>
        <p:spPr>
          <a:xfrm>
            <a:off x="6148806" y="206832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develop a model to predict customer churn with a window of one month based on his transactions and multi-channel behavior.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 behavior multi-channel patterns and root causes that lead to checking account churn. </a:t>
            </a:r>
            <a:endParaRPr sz="800">
              <a:solidFill>
                <a:srgbClr val="3C3C3B"/>
              </a:solidFill>
              <a:latin typeface="Century Gothic"/>
              <a:ea typeface="Century Gothic"/>
              <a:cs typeface="Century Gothic"/>
              <a:sym typeface="Century Gothic"/>
            </a:endParaRPr>
          </a:p>
        </p:txBody>
      </p:sp>
      <p:sp>
        <p:nvSpPr>
          <p:cNvPr id="3492" name="Google Shape;3492;p19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an analytical model to correctly identify and predict potential checking account churns with a time window frame of 1 month.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93" name="Google Shape;3493;p190"/>
          <p:cNvSpPr/>
          <p:nvPr/>
        </p:nvSpPr>
        <p:spPr>
          <a:xfrm>
            <a:off x="3271845" y="206832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a single table using SQL including all customer events - +3 Billions.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 pattern visualization using ‘nPath’ for exploratory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‘Naive-Bayes’ to develop model and assign a probability score to each step.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Sessionize, Sample, SVM, PCA, Naïve Bayes, Kmeans. GraphGen, Confusion Matrix, Collaborative Filter, Machine Learning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94" name="Google Shape;3494;p19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in silos.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Multi-structured data integration.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Capability to analyze billions of events simultaneously.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Valuable data sources previously identified were not available (e.g. weblogs, call center logs).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95" name="Google Shape;3495;p190"/>
          <p:cNvSpPr/>
          <p:nvPr/>
        </p:nvSpPr>
        <p:spPr>
          <a:xfrm>
            <a:off x="423863" y="206832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and product data from DW.</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experience surveys, NPS metrics.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geo codes.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complaints database.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Emails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Events &amp; Transactions (Journal).</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&amp; ATM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Center and  IVR calls.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96" name="Google Shape;3496;p19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Bank has an strategic and corporate goal to have a better understanding of their actual customer multi-channel behavior.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 process and steps behind ‘customer experience journey’ that lead to a customer complaint and potential churn, and the valued loss related to these actions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97" name="Google Shape;3497;p19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Large Retail Bank in C&amp;LA</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SA: Guilherme Fernandes,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Ignacio Silva</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98" name="Google Shape;3498;p19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99" name="Google Shape;3499;p19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Churn Model in Retail Banking</a:t>
            </a:r>
            <a:endParaRPr sz="2400"/>
          </a:p>
        </p:txBody>
      </p:sp>
      <p:sp>
        <p:nvSpPr>
          <p:cNvPr id="3500" name="Google Shape;3500;p1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05" name="Shape 3505"/>
        <p:cNvGrpSpPr/>
        <p:nvPr/>
      </p:nvGrpSpPr>
      <p:grpSpPr>
        <a:xfrm>
          <a:off x="0" y="0"/>
          <a:ext cx="0" cy="0"/>
          <a:chOff x="0" y="0"/>
          <a:chExt cx="0" cy="0"/>
        </a:xfrm>
      </p:grpSpPr>
      <p:cxnSp>
        <p:nvCxnSpPr>
          <p:cNvPr id="3506" name="Google Shape;3506;p19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07" name="Google Shape;3507;p19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08" name="Google Shape;3508;p19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09" name="Google Shape;3509;p19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10" name="Google Shape;3510;p19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broker business written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quality of broker written business  (E.g. claims / lapse rates etc.)</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and incentivize retention of broker written business at maturity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11" name="Google Shape;3511;p19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broker behavior can improve the way in which business deals with brokers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product offerings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Provision of appropriate knowledge and training for brokers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 the business moves to diversify from the broker-customer relationship to engaging customers directly, this analysis may provide insight on how to create and develop successful customer relationships.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2" name="Google Shape;3512;p191"/>
          <p:cNvSpPr/>
          <p:nvPr/>
        </p:nvSpPr>
        <p:spPr>
          <a:xfrm>
            <a:off x="3271845" y="3802449"/>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understand and influence broker behavior from analysis of key measures of broker written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segment brokers based on number of performance dimensions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segments to drive contact strategy, offers and content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13" name="Google Shape;3513;p19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Broker performance – link behavior to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behaviors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4" name="Google Shape;3514;p191"/>
          <p:cNvSpPr/>
          <p:nvPr/>
        </p:nvSpPr>
        <p:spPr>
          <a:xfrm>
            <a:off x="423863" y="402574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external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5" name="Google Shape;3515;p191"/>
          <p:cNvSpPr/>
          <p:nvPr/>
        </p:nvSpPr>
        <p:spPr>
          <a:xfrm>
            <a:off x="423863" y="238731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log of Broker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Dataset capturing all broker interactions, including Transactions, Quotes and Management of Contracts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Additional Sources to Integrate with the Broker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Transactions performed on contracts taken from the DWH</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Logs &amp; supporting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Quote Information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Website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6" name="Google Shape;3516;p191"/>
          <p:cNvSpPr/>
          <p:nvPr/>
        </p:nvSpPr>
        <p:spPr>
          <a:xfrm>
            <a:off x="423863" y="807897"/>
            <a:ext cx="4052444"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Insurance business – External Broker led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 to understand Broker Interactions as the business does not own the relationship with the policy holder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brokers interact using business systems?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brokers make decisions on products and offerings?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What offers/advice do brokers provide customers and what is the influence on customers?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most successful brokers and the differences in how they interact with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17" name="Google Shape;3517;p19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518" name="Google Shape;3518;p19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519" name="Google Shape;3519;p19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Broker Introduced Insurance – Path to Churn </a:t>
            </a:r>
            <a:endParaRPr sz="2000"/>
          </a:p>
        </p:txBody>
      </p:sp>
      <p:sp>
        <p:nvSpPr>
          <p:cNvPr id="3520" name="Google Shape;3520;p19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25" name="Shape 3525"/>
        <p:cNvGrpSpPr/>
        <p:nvPr/>
      </p:nvGrpSpPr>
      <p:grpSpPr>
        <a:xfrm>
          <a:off x="0" y="0"/>
          <a:ext cx="0" cy="0"/>
          <a:chOff x="0" y="0"/>
          <a:chExt cx="0" cy="0"/>
        </a:xfrm>
      </p:grpSpPr>
      <p:cxnSp>
        <p:nvCxnSpPr>
          <p:cNvPr id="3526" name="Google Shape;3526;p19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27" name="Google Shape;3527;p19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28" name="Google Shape;3528;p19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29" name="Google Shape;3529;p19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30" name="Google Shape;3530;p19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product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profitable customers with higher average product holdings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loyal customers with lower dormancy and churn rates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31" name="Google Shape;3531;p19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Higher model lift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target and response rate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product cross-sold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revenue as well as customer loyalty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32" name="Google Shape;3532;p19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increase cross sales rates to existing customers through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Additional leads from new triggers and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sophisticated lead types with higher response rates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responsive predictive models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33" name="Google Shape;3533;p19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paths and sequences of product acquisitions and activities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Association analysis to estimate the total wallet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Overlay with existing traditional model / business rule for potential uplift.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34" name="Google Shape;3534;p192"/>
          <p:cNvSpPr/>
          <p:nvPr/>
        </p:nvSpPr>
        <p:spPr>
          <a:xfrm>
            <a:off x="423863" y="3993843"/>
            <a:ext cx="2714400" cy="66323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p:txBody>
      </p:sp>
      <p:sp>
        <p:nvSpPr>
          <p:cNvPr id="3535" name="Google Shape;3535;p192"/>
          <p:cNvSpPr/>
          <p:nvPr/>
        </p:nvSpPr>
        <p:spPr>
          <a:xfrm>
            <a:off x="370698"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and customer website, if possible real-time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data from customers’ usage of mobile apps particularly mobile ibanking and payment.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 traditional channels interaction data to identify events in customer service conversations, emails, phone banking.</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Banking transaction data for e.g. significant money flow, large ticket credit card purchases, dividend/stock income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36" name="Google Shape;3536;p19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Cross-selling is an important aspect of banking, customers with high product holdings not only generate more revenue they are also more loyal.</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Traditional cross-sell model are business rule-based or / and derived from are logistic regression on structured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Additional insights from unstructured or new data  can life the existing business rule or model’s performance.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37" name="Google Shape;3537;p19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538" name="Google Shape;3538;p19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539" name="Google Shape;3539;p19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Improving Cross-Sell Targeting </a:t>
            </a:r>
            <a:endParaRPr sz="2400"/>
          </a:p>
        </p:txBody>
      </p:sp>
      <p:sp>
        <p:nvSpPr>
          <p:cNvPr id="3540" name="Google Shape;3540;p1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51" name="Shape 3551"/>
        <p:cNvGrpSpPr/>
        <p:nvPr/>
      </p:nvGrpSpPr>
      <p:grpSpPr>
        <a:xfrm>
          <a:off x="0" y="0"/>
          <a:ext cx="0" cy="0"/>
          <a:chOff x="0" y="0"/>
          <a:chExt cx="0" cy="0"/>
        </a:xfrm>
      </p:grpSpPr>
      <p:cxnSp>
        <p:nvCxnSpPr>
          <p:cNvPr id="3552" name="Google Shape;3552;p19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53" name="Google Shape;3553;p19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54" name="Google Shape;3554;p19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55" name="Google Shape;3555;p19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56" name="Google Shape;3556;p19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to campaigns from more accurate targeting of leads and increased personalisation of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Identification of influencers / peer groups to target for member get member acquisition campaigns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57" name="Google Shape;3557;p19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These 3 segments were matched with a customer database of one of the largest Russian retail banks. Average Hit Rata for 3 segments is about 14.5%.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 the moment, these 3 segments are transmitted to CRM division of the bank to drive targeted  X-sell campaigns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Total volume of the 3 segments approximately 340,000 customers.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58" name="Google Shape;3558;p19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append customer data from 3rd party social media sites to create targeted segments for marketing purposes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create networks of people based on social media data such likes, hobbies and interests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59" name="Google Shape;3559;p19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Analyze social network user’s profiles and identify the following segments: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Travelers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Restaurant’s frequent visitors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 fans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60" name="Google Shape;3560;p19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permissions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external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61" name="Google Shape;3561;p19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6 mln. profiles of users from Vkontakte.com (internal Russian social network of Facebook.com).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Whole capacity of Vkontakte.con is about 50m users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62" name="Google Shape;3562;p19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evaluate the feasibility and effectiveness of using data from 3rd party social network providers such as Vkontakte.com  for more precise  target marketing and campaign execution.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63" name="Google Shape;3563;p19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564" name="Google Shape;3564;p1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
        <p:nvSpPr>
          <p:cNvPr id="3565" name="Google Shape;3565;p19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566" name="Google Shape;3566;p19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Social Networks Data for Marketing Campaigns </a:t>
            </a:r>
            <a:endParaRPr sz="2000"/>
          </a:p>
        </p:txBody>
      </p:sp>
    </p:spTree>
  </p:cSld>
  <p:clrMapOvr>
    <a:masterClrMapping/>
  </p:clrMapOvr>
</p:sld>
</file>

<file path=ppt/slides/slide1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71" name="Shape 3571"/>
        <p:cNvGrpSpPr/>
        <p:nvPr/>
      </p:nvGrpSpPr>
      <p:grpSpPr>
        <a:xfrm>
          <a:off x="0" y="0"/>
          <a:ext cx="0" cy="0"/>
          <a:chOff x="0" y="0"/>
          <a:chExt cx="0" cy="0"/>
        </a:xfrm>
      </p:grpSpPr>
      <p:cxnSp>
        <p:nvCxnSpPr>
          <p:cNvPr id="3572" name="Google Shape;3572;p19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73" name="Google Shape;3573;p19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74" name="Google Shape;3574;p19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75" name="Google Shape;3575;p19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76" name="Google Shape;3576;p19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response to messages and offers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conversion and revenue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opt outs</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77" name="Google Shape;3577;p19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rules and models to optimize messages/offers by customer.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alignment of messages to channel capacity (sales agents) ability to deliver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 of results</a:t>
            </a:r>
            <a:endParaRPr sz="800">
              <a:solidFill>
                <a:srgbClr val="3C3C3B"/>
              </a:solidFill>
              <a:latin typeface="Century Gothic"/>
              <a:ea typeface="Century Gothic"/>
              <a:cs typeface="Century Gothic"/>
              <a:sym typeface="Century Gothic"/>
            </a:endParaRPr>
          </a:p>
        </p:txBody>
      </p:sp>
      <p:sp>
        <p:nvSpPr>
          <p:cNvPr id="3578" name="Google Shape;3578;p19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best contacts/messages by customer and channel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conflicting messages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Eliminate unnecessary or unproductive messages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79" name="Google Shape;3579;p19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 the optimization rules for contacts, priorities, and constraints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Utilize attributes, scoring models, etc to select customers to be included in the segment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80" name="Google Shape;3580;p19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Balancing number of contacts with sales potential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Prioritizing “best” contacts or messages for customer s</a:t>
            </a:r>
            <a:endParaRPr/>
          </a:p>
        </p:txBody>
      </p:sp>
      <p:sp>
        <p:nvSpPr>
          <p:cNvPr id="3581" name="Google Shape;3581;p19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channel data (e.g., agent, CSR, digital, mobile, telematics, claims,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customer interactions including transactions, marketing contacts and response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Product information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Offers, messages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582" name="Google Shape;3582;p19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There are multiple potential sales leads or messages, driven by event triggers, that can be sent to customers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Contacts need to be coordinated across channels to ensure that the customer is not contacted too frequently .and that  the channels like sales agents or call centers  can manage the number of contacts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Contacts need to  be evaluated to ensure that they don’t conflict with other contacts or messages </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83" name="Google Shape;3583;p19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1000">
                <a:solidFill>
                  <a:schemeClr val="accent6"/>
                </a:solidFill>
                <a:latin typeface="Century Gothic"/>
                <a:ea typeface="Century Gothic"/>
                <a:cs typeface="Century Gothic"/>
                <a:sym typeface="Century Gothic"/>
              </a:rPr>
              <a:t> Large Bank</a:t>
            </a:r>
            <a:endParaRPr/>
          </a:p>
          <a:p>
            <a:pPr indent="0" lvl="0" marL="0" marR="0" rtl="0" algn="l">
              <a:spcBef>
                <a:spcPts val="0"/>
              </a:spcBef>
              <a:spcAft>
                <a:spcPts val="0"/>
              </a:spcAft>
              <a:buNone/>
            </a:pPr>
            <a:r>
              <a:t/>
            </a:r>
            <a:endParaRPr b="1" sz="10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Leslie Dinham</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3584" name="Google Shape;3584;p19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585" name="Google Shape;3585;p19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Contact Management</a:t>
            </a:r>
            <a:endParaRPr sz="2400"/>
          </a:p>
        </p:txBody>
      </p:sp>
      <p:sp>
        <p:nvSpPr>
          <p:cNvPr id="3586" name="Google Shape;3586;p19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91" name="Shape 3591"/>
        <p:cNvGrpSpPr/>
        <p:nvPr/>
      </p:nvGrpSpPr>
      <p:grpSpPr>
        <a:xfrm>
          <a:off x="0" y="0"/>
          <a:ext cx="0" cy="0"/>
          <a:chOff x="0" y="0"/>
          <a:chExt cx="0" cy="0"/>
        </a:xfrm>
      </p:grpSpPr>
      <p:cxnSp>
        <p:nvCxnSpPr>
          <p:cNvPr id="3592" name="Google Shape;3592;p19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93" name="Google Shape;3593;p19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94" name="Google Shape;3594;p19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95" name="Google Shape;3595;p19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96" name="Google Shape;3596;p19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costs through greater proportion of customers able to self serve without the need to breakout to costly channels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 through higher conversion from application to sale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97" name="Google Shape;3597;p196"/>
          <p:cNvSpPr/>
          <p:nvPr/>
        </p:nvSpPr>
        <p:spPr>
          <a:xfrm>
            <a:off x="6148806" y="2504282"/>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Customer Satisfaction &amp; loyalty by enabling them to resolve queries more quickly through any channel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Costs and Improve Sales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By routing queries to the right agents on first touch (using intelligent call routing)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By re-engineering processes that are systematically broken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98" name="Google Shape;3598;p196"/>
          <p:cNvSpPr/>
          <p:nvPr/>
        </p:nvSpPr>
        <p:spPr>
          <a:xfrm>
            <a:off x="3271845" y="4015109"/>
            <a:ext cx="2715336" cy="818741"/>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New insights generated to allow optimisation (redesign, automate, multi-channel enablement, fix broken steps) of omni-channel sales and service processes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99" name="Google Shape;3599;p196"/>
          <p:cNvSpPr/>
          <p:nvPr/>
        </p:nvSpPr>
        <p:spPr>
          <a:xfrm>
            <a:off x="3271845" y="250428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and Attribution analysis in Aster to:, Understand the most common complex queries Identify the root cause of complex queries queries, Understand the cost (resourcing, customer time and NPS) of these, Rules deployed into Real Time Interaction Manager. Identify customers having problems resolving an issue as they interact Automatically route the customer to the right information on the website or call centre agent as they interact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00" name="Google Shape;3600;p196"/>
          <p:cNvSpPr/>
          <p:nvPr/>
        </p:nvSpPr>
        <p:spPr>
          <a:xfrm>
            <a:off x="423863" y="4047008"/>
            <a:ext cx="2714400" cy="585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integrate process data from different channels and systems</a:t>
            </a:r>
            <a:endParaRPr/>
          </a:p>
        </p:txBody>
      </p:sp>
      <p:sp>
        <p:nvSpPr>
          <p:cNvPr id="3601" name="Google Shape;3601;p196"/>
          <p:cNvSpPr/>
          <p:nvPr/>
        </p:nvSpPr>
        <p:spPr>
          <a:xfrm>
            <a:off x="423863" y="2504282"/>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Call Centre and IVR - collected using Celebrus in real time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understand customer demographics, product holdings, transactions and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Query outcomes data collected from the above</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02" name="Google Shape;3602;p19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can interact with their FIs through multiple channels, even during a single conversation (eg, a sales or service query, complaint or claim)</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Most FIs are unable to understand the customer experience then exploit analytics in real time to smarten up these conversations, resulting in multiple inefficient handoffs and between agents and channels as the nature of the query is understood.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to understand the most common conversation types, then optimize the real time contact strategy to deliver a better CEX</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03" name="Google Shape;3603;p19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604" name="Google Shape;3604;p19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05" name="Google Shape;3605;p19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Omni-Channel Customer Experience Optimization </a:t>
            </a:r>
            <a:endParaRPr sz="1800"/>
          </a:p>
        </p:txBody>
      </p:sp>
      <p:sp>
        <p:nvSpPr>
          <p:cNvPr id="3606" name="Google Shape;3606;p1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11" name="Shape 3611"/>
        <p:cNvGrpSpPr/>
        <p:nvPr/>
      </p:nvGrpSpPr>
      <p:grpSpPr>
        <a:xfrm>
          <a:off x="0" y="0"/>
          <a:ext cx="0" cy="0"/>
          <a:chOff x="0" y="0"/>
          <a:chExt cx="0" cy="0"/>
        </a:xfrm>
      </p:grpSpPr>
      <p:cxnSp>
        <p:nvCxnSpPr>
          <p:cNvPr id="3612" name="Google Shape;3612;p19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13" name="Google Shape;3613;p19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14" name="Google Shape;3614;p19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15" name="Google Shape;3615;p19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16" name="Google Shape;3616;p19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Insight led strategy to optimise channels to better meet customer needs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user experience for key processes and customer segments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17" name="Google Shape;3617;p197"/>
          <p:cNvSpPr/>
          <p:nvPr/>
        </p:nvSpPr>
        <p:spPr>
          <a:xfrm>
            <a:off x="6148806" y="2047063"/>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key channel behaviour micro-segmentation to drive the analysis project based 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usage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value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usage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value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development of propensity models to  predict channel churn and recommend alternative channel / feature usage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18" name="Google Shape;3618;p197"/>
          <p:cNvSpPr/>
          <p:nvPr/>
        </p:nvSpPr>
        <p:spPr>
          <a:xfrm>
            <a:off x="3271845" y="4036375"/>
            <a:ext cx="2715336" cy="861393"/>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use channel behavioural micro segmentation to optimise omni-channel service offering to key customer segments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19" name="Google Shape;3619;p197"/>
          <p:cNvSpPr/>
          <p:nvPr/>
        </p:nvSpPr>
        <p:spPr>
          <a:xfrm>
            <a:off x="3271845" y="2047063"/>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Optimisation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20" name="Google Shape;3620;p197"/>
          <p:cNvSpPr/>
          <p:nvPr/>
        </p:nvSpPr>
        <p:spPr>
          <a:xfrm>
            <a:off x="423863" y="4036375"/>
            <a:ext cx="2714400" cy="70576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integrate process data from different channels and systems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21" name="Google Shape;3621;p197"/>
          <p:cNvSpPr/>
          <p:nvPr/>
        </p:nvSpPr>
        <p:spPr>
          <a:xfrm>
            <a:off x="423863" y="2047063"/>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usage summary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Internet Banking transaction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App  logs including geo-location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usage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Telephony usage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 cross channel</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Activity Based Costing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Holdings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Geo-demographics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Profitability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22" name="Google Shape;3622;p19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Multi-lines insurer/bank with multiple distribution channels needs to know which channels, its customers, agents and brokers prefer to communicate and transact business through.</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23" name="Google Shape;3623;p19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624" name="Google Shape;3624;p19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25" name="Google Shape;3625;p19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Omni-Channel Customer Engagement</a:t>
            </a:r>
            <a:endParaRPr sz="2400"/>
          </a:p>
        </p:txBody>
      </p:sp>
      <p:sp>
        <p:nvSpPr>
          <p:cNvPr id="3626" name="Google Shape;3626;p19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31" name="Shape 3631"/>
        <p:cNvGrpSpPr/>
        <p:nvPr/>
      </p:nvGrpSpPr>
      <p:grpSpPr>
        <a:xfrm>
          <a:off x="0" y="0"/>
          <a:ext cx="0" cy="0"/>
          <a:chOff x="0" y="0"/>
          <a:chExt cx="0" cy="0"/>
        </a:xfrm>
      </p:grpSpPr>
      <p:cxnSp>
        <p:nvCxnSpPr>
          <p:cNvPr id="3632" name="Google Shape;3632;p19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33" name="Google Shape;3633;p19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34" name="Google Shape;3634;p19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35" name="Google Shape;3635;p19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36" name="Google Shape;3636;p19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activity and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loyalty from usage based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 account features and benefits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37" name="Google Shape;3637;p19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Drive new strategic partnerships to increase both issuing and acquiring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customer loyalty by providing usage based offers for Credit and Debit Cards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revenue from Merchant acquiring and Issuer interchange fee income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38" name="Google Shape;3638;p198"/>
          <p:cNvSpPr/>
          <p:nvPr/>
        </p:nvSpPr>
        <p:spPr>
          <a:xfrm>
            <a:off x="3271845" y="37483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insight to create new product propositions and partnerships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prioritise most appropriate locations to pilot and roll-out location based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39" name="Google Shape;3639;p19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Geo-location Visualisation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40" name="Google Shape;3640;p198"/>
          <p:cNvSpPr/>
          <p:nvPr/>
        </p:nvSpPr>
        <p:spPr>
          <a:xfrm>
            <a:off x="423863" y="375791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external geo-location data needs to be sourced to enable this analysis to be conducted – already available but has to be taken from BKM – POS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geo-location data from mobile banking side needs development activity on this app – with Pozitron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41" name="Google Shape;3641;p19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transactional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profitability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Current account transactional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application data including geo-location data at time of 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usage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residential address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 – hobbies / interests / likes / following</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42" name="Google Shape;3642;p19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Challenges include: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drive Credit and Debit card usage?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select Merchants to partner with for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based offers?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Which customers would suit which location based offers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Opportunity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activity and profitability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loyalty customers that are multi-banked</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43" name="Google Shape;3643;p19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sz="900">
              <a:solidFill>
                <a:srgbClr val="5F6062"/>
              </a:solidFill>
              <a:latin typeface="Century Gothic"/>
              <a:ea typeface="Century Gothic"/>
              <a:cs typeface="Century Gothic"/>
              <a:sym typeface="Century Gothic"/>
            </a:endParaRPr>
          </a:p>
        </p:txBody>
      </p:sp>
      <p:sp>
        <p:nvSpPr>
          <p:cNvPr id="3644" name="Google Shape;3644;p19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45" name="Google Shape;3645;p19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Location Based Offers </a:t>
            </a:r>
            <a:endParaRPr sz="2400"/>
          </a:p>
        </p:txBody>
      </p:sp>
      <p:sp>
        <p:nvSpPr>
          <p:cNvPr id="3646" name="Google Shape;3646;p198"/>
          <p:cNvSpPr txBox="1"/>
          <p:nvPr/>
        </p:nvSpPr>
        <p:spPr>
          <a:xfrm>
            <a:off x="7125882" y="-999594"/>
            <a:ext cx="184666" cy="35779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t/>
            </a:r>
            <a:endParaRPr sz="1800">
              <a:solidFill>
                <a:srgbClr val="231F20"/>
              </a:solidFill>
              <a:latin typeface="Century Gothic"/>
              <a:ea typeface="Century Gothic"/>
              <a:cs typeface="Century Gothic"/>
              <a:sym typeface="Century Gothic"/>
            </a:endParaRPr>
          </a:p>
        </p:txBody>
      </p:sp>
      <p:sp>
        <p:nvSpPr>
          <p:cNvPr id="3647" name="Google Shape;3647;p1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52" name="Shape 3652"/>
        <p:cNvGrpSpPr/>
        <p:nvPr/>
      </p:nvGrpSpPr>
      <p:grpSpPr>
        <a:xfrm>
          <a:off x="0" y="0"/>
          <a:ext cx="0" cy="0"/>
          <a:chOff x="0" y="0"/>
          <a:chExt cx="0" cy="0"/>
        </a:xfrm>
      </p:grpSpPr>
      <p:cxnSp>
        <p:nvCxnSpPr>
          <p:cNvPr id="3653" name="Google Shape;3653;p19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54" name="Google Shape;3654;p19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55" name="Google Shape;3655;p19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56" name="Google Shape;3656;p19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57" name="Google Shape;3657;p19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activity and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loyalty from location based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Differentiates account features and benefits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58" name="Google Shape;3658;p19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Enabling new classes of opportunities to be addressed, therefore new revenue from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Response rates improvement thanks to the highly relevant offers based on venue/location context, in conjunction with EDW customer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satisfaction &amp; loyalty improvements, by enhancing the image of the Bank to one that provides innovative care and advice.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59" name="Google Shape;3659;p19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insight to create new product propositions and partnerships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prioritise most appropriate locations to pilot and roll-out location based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60" name="Google Shape;3660;p19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offers/advice for relevant goods &amp; services around them or invitation to enter nearby branch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Analyze results and trends for refining future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61" name="Google Shape;3661;p19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deploy and execute in real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62" name="Google Shape;3662;p19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GIS location data from Telcos, mapped to nearby “spend” areas e.g. Theme Parks, Malls, Cinemas, shops, Banks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who the applicants are in terms of profitability, propensities, behavior, life-stage and demographics, and the best means of re-contacting them (mobile phone apps, call, email,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63" name="Google Shape;3663;p19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collaboration with Telcos, GIS location data coming from mobiles is seen as something to take advantage of by progressive Organisations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Enables cross-selling / up-selling / retention and acquisition opportunities to make relevant offers triggered by the location of customers/prospects.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Allows joint promotion of services provided by corporate, business/SME clients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64" name="Google Shape;3664;p19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665" name="Google Shape;3665;p19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66" name="Google Shape;3666;p19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Real-time Customer GIS location </a:t>
            </a:r>
            <a:br>
              <a:rPr lang="en-GB" sz="1800"/>
            </a:br>
            <a:r>
              <a:rPr lang="en-GB" sz="1800"/>
              <a:t>in Collaboration with Telcos </a:t>
            </a:r>
            <a:endParaRPr sz="1800"/>
          </a:p>
        </p:txBody>
      </p:sp>
      <p:sp>
        <p:nvSpPr>
          <p:cNvPr id="3667" name="Google Shape;3667;p19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72" name="Shape 3672"/>
        <p:cNvGrpSpPr/>
        <p:nvPr/>
      </p:nvGrpSpPr>
      <p:grpSpPr>
        <a:xfrm>
          <a:off x="0" y="0"/>
          <a:ext cx="0" cy="0"/>
          <a:chOff x="0" y="0"/>
          <a:chExt cx="0" cy="0"/>
        </a:xfrm>
      </p:grpSpPr>
      <p:cxnSp>
        <p:nvCxnSpPr>
          <p:cNvPr id="3673" name="Google Shape;3673;p20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74" name="Google Shape;3674;p20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75" name="Google Shape;3675;p20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76" name="Google Shape;3676;p20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77" name="Google Shape;3677;p20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cross sell rates/metrics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Synchronization of online ads with traditional campaign management processes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 business users to maintain offers and not spend too much time performing technical tasks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78" name="Google Shape;3678;p20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Customers are presented with personalized, pre-qualified offers from outbound, which are re-prioritized in session as the customer navigates the pages.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events are captured in session and notified to other channels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79" name="Google Shape;3679;p20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Leverage self-learning in improving results and the customer experience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Manage messages through an easy to use interface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an expandable infrastructure for messaging to all channels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80" name="Google Shape;3680;p20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“Next best offer” - Cross-sell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“Retention” – Attrition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to determine events preceding and following customer attrition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81" name="Google Shape;3681;p20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Need to leveraging all customer data not just a selected number of contextual or visitor attributes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Consensus on attributes captured and qualified messaging across business units/brands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82" name="Google Shape;3682;p20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Initially deployed Celebrus to collect web data at customer level in real time which is used for analytics on the Teradata platform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Next, deployed RTIM and integrated it with Celebrus to personalize web content in session based on individual customer attributes and past behavior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683" name="Google Shape;3683;p20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Establish a multi-year Multi Channel Contextual Marketing (MCM) program to increase sales by targeting customers as individuals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Start with the web channel and will expand to other channels (mobile/call center/branches/ATMs)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84" name="Google Shape;3684;p20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Global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Joy King</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3685" name="Google Shape;3685;p20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686" name="Google Shape;3686;p20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RTIM and Real-Time</a:t>
            </a:r>
            <a:endParaRPr sz="2400"/>
          </a:p>
        </p:txBody>
      </p:sp>
      <p:sp>
        <p:nvSpPr>
          <p:cNvPr id="3687" name="Google Shape;3687;p2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92" name="Shape 3692"/>
        <p:cNvGrpSpPr/>
        <p:nvPr/>
      </p:nvGrpSpPr>
      <p:grpSpPr>
        <a:xfrm>
          <a:off x="0" y="0"/>
          <a:ext cx="0" cy="0"/>
          <a:chOff x="0" y="0"/>
          <a:chExt cx="0" cy="0"/>
        </a:xfrm>
      </p:grpSpPr>
      <p:cxnSp>
        <p:nvCxnSpPr>
          <p:cNvPr id="3693" name="Google Shape;3693;p20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94" name="Google Shape;3694;p20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95" name="Google Shape;3695;p20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96" name="Google Shape;3696;p20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97" name="Google Shape;3697;p20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inbound call volumes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break-outs from IVR to a call centre agent</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experience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98" name="Google Shape;3698;p20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text analytics to identify the reason for the call once it has broken out from the automated IVR service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Visualisation of call reasons to allow logical grouping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use of nPath to show the common sequences of break outs – from IVR menu options to a call centre agent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99" name="Google Shape;3699;p201"/>
          <p:cNvSpPr/>
          <p:nvPr/>
        </p:nvSpPr>
        <p:spPr>
          <a:xfrm>
            <a:off x="3271845" y="4163971"/>
            <a:ext cx="2715336" cy="875887"/>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use new insights generated to redesign processes in order to proactively reduce inbound call volumes routed to an agent by x,000 calls a year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00" name="Google Shape;3700;p20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01" name="Google Shape;3701;p201"/>
          <p:cNvSpPr/>
          <p:nvPr/>
        </p:nvSpPr>
        <p:spPr>
          <a:xfrm>
            <a:off x="423863" y="4163971"/>
            <a:ext cx="2714400" cy="79082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Quality of text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02" name="Google Shape;3702;p201"/>
          <p:cNvSpPr/>
          <p:nvPr/>
        </p:nvSpPr>
        <p:spPr>
          <a:xfrm>
            <a:off x="445129"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IVR call centre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Inbound call centre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memo logs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Contact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Interaction Data incl</a:t>
            </a:r>
            <a:endParaRPr sz="800">
              <a:solidFill>
                <a:srgbClr val="3C3C3B"/>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 / Mobile Clicks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Visits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Calls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 membership</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Profitability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03" name="Google Shape;3703;p20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a multi channel environment clients use a range of channels, switching between the web, mobile as a source of info &amp; the call centre/branch if they want to talk with a person to meet their need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addition they can quickly become dissatisfied with the time taken to do something within a channel, or apparent complexity of the web or IVR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It is difficult for organizations to fully understand this abandonment/channel switching behavior &amp; improve processes to address the issues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04" name="Google Shape;3704;p20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05" name="Google Shape;3705;p20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06" name="Google Shape;3706;p20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Web/IVR Breakout </a:t>
            </a:r>
            <a:endParaRPr sz="2400"/>
          </a:p>
        </p:txBody>
      </p:sp>
      <p:sp>
        <p:nvSpPr>
          <p:cNvPr id="3707" name="Google Shape;3707;p20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12" name="Shape 3712"/>
        <p:cNvGrpSpPr/>
        <p:nvPr/>
      </p:nvGrpSpPr>
      <p:grpSpPr>
        <a:xfrm>
          <a:off x="0" y="0"/>
          <a:ext cx="0" cy="0"/>
          <a:chOff x="0" y="0"/>
          <a:chExt cx="0" cy="0"/>
        </a:xfrm>
      </p:grpSpPr>
      <p:cxnSp>
        <p:nvCxnSpPr>
          <p:cNvPr id="3713" name="Google Shape;3713;p20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14" name="Google Shape;3714;p20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15" name="Google Shape;3715;p20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16" name="Google Shape;3716;p20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17" name="Google Shape;3717;p20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 and time of resolving complaint cases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Prioritization of expert resource on most important cases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from ability to highlight emerging service issues and take action before they become systemic problems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18" name="Google Shape;3718;p20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how to address complaints, which to focus on first.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 categorization of inbound email complaints would enable complaints to be streamed to SME's to improve efficiency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true cost of complaint handling and rework by complaint type Use to justify right level of resources to remove original cause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individual complaint handler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19" name="Google Shape;3719;p20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successfully auto categorize complaint cases (accuracy &gt; 70 %) for a number of operational purposes  such as reporting, routing or prioritization</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20" name="Google Shape;3720;p20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the initial and subsequent complaint resolution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&amp; graphing to identify all steps in the resolution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uncover the sentiment within client and agent notes/conversations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21" name="Google Shape;3721;p20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Quality of text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22" name="Google Shape;3722;p20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and voice data from all complaints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Agent data on which agent(s) are dealing with the complaint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 data such further complaint, client attrition, poor NPS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23" name="Google Shape;3723;p20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client complains it may have a significant impact on the relationship and the issue needs to be resolved quickly and efficiently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Analyse and systematically understand what customers are complaining about, how strongly they feel about different topics, whether there are trends in sentiment and topics.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 whether some agents consistently handle complaints better than others - do they resolve complaints more quickly &amp; are there fewer follow on complaints, how and why?</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24" name="Google Shape;3724;p20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25" name="Google Shape;3725;p20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26" name="Google Shape;3726;p20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Complaints Process Optimisation </a:t>
            </a:r>
            <a:endParaRPr sz="2400"/>
          </a:p>
        </p:txBody>
      </p:sp>
      <p:sp>
        <p:nvSpPr>
          <p:cNvPr id="3727" name="Google Shape;3727;p2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32" name="Shape 3732"/>
        <p:cNvGrpSpPr/>
        <p:nvPr/>
      </p:nvGrpSpPr>
      <p:grpSpPr>
        <a:xfrm>
          <a:off x="0" y="0"/>
          <a:ext cx="0" cy="0"/>
          <a:chOff x="0" y="0"/>
          <a:chExt cx="0" cy="0"/>
        </a:xfrm>
      </p:grpSpPr>
      <p:cxnSp>
        <p:nvCxnSpPr>
          <p:cNvPr id="3733" name="Google Shape;3733;p20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34" name="Google Shape;3734;p20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35" name="Google Shape;3735;p20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36" name="Google Shape;3736;p20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37" name="Google Shape;3737;p20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satisfaction and Loyalty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Revenue and Financial goals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Site conversion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and site insights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Operational excellence in site controls</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38" name="Google Shape;3738;p20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content / keyword performance visibility and recommendations based on text mining methods collaborated with past sales and goal attainment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39" name="Google Shape;3739;p20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Recommendation of content changes and keywords to improve search results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Process definition for continued improvement to drive site conversions.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40" name="Google Shape;3740;p20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Digital event Path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Liner regression and cluster analysis for user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sentiment analysis.</a:t>
            </a:r>
            <a:endParaRPr sz="800">
              <a:solidFill>
                <a:srgbClr val="3C3C3B"/>
              </a:solidFill>
              <a:latin typeface="Century Gothic"/>
              <a:ea typeface="Century Gothic"/>
              <a:cs typeface="Century Gothic"/>
              <a:sym typeface="Century Gothic"/>
            </a:endParaRPr>
          </a:p>
        </p:txBody>
      </p:sp>
      <p:sp>
        <p:nvSpPr>
          <p:cNvPr id="3741" name="Google Shape;3741;p203"/>
          <p:cNvSpPr/>
          <p:nvPr/>
        </p:nvSpPr>
        <p:spPr>
          <a:xfrm>
            <a:off x="411714" y="3771741"/>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volumes (too much or not enough)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Frequency of changes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Technology change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Tracking data fidelity and comprehensiveness.</a:t>
            </a:r>
            <a:endParaRPr/>
          </a:p>
        </p:txBody>
      </p:sp>
      <p:sp>
        <p:nvSpPr>
          <p:cNvPr id="3742" name="Google Shape;3742;p203"/>
          <p:cNvSpPr/>
          <p:nvPr/>
        </p:nvSpPr>
        <p:spPr>
          <a:xfrm>
            <a:off x="423863" y="2378398"/>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Website structure and content.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Search engine metadata &amp; scoring model.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Click stream and digital event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and marketing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benchmarks (if available).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A/B Testing results.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Voice of customer data / feedback.</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Content &amp; Feature Release schedule.</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743" name="Google Shape;3743;p20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Optimizing search functionality and results to achieve a site’s performance goals, drive revenue, and improve customer satisfaction.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understanding of content change impacts to metric performance.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Drive improvements in site structure and technology decisions based on user behaviour.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Eliminate content and keyword “trial and error” and guess approaches.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44" name="Google Shape;3744;p20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Eric Gookins</a:t>
            </a:r>
            <a:endParaRPr sz="900">
              <a:solidFill>
                <a:schemeClr val="accent6"/>
              </a:solidFill>
              <a:latin typeface="Century Gothic"/>
              <a:ea typeface="Century Gothic"/>
              <a:cs typeface="Century Gothic"/>
              <a:sym typeface="Century Gothic"/>
            </a:endParaRPr>
          </a:p>
        </p:txBody>
      </p:sp>
      <p:sp>
        <p:nvSpPr>
          <p:cNvPr id="3745" name="Google Shape;3745;p20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746" name="Google Shape;3746;p20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Onsite Search Engine Optimization</a:t>
            </a:r>
            <a:endParaRPr sz="2400"/>
          </a:p>
        </p:txBody>
      </p:sp>
      <p:sp>
        <p:nvSpPr>
          <p:cNvPr id="3747" name="Google Shape;3747;p2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52" name="Shape 3752"/>
        <p:cNvGrpSpPr/>
        <p:nvPr/>
      </p:nvGrpSpPr>
      <p:grpSpPr>
        <a:xfrm>
          <a:off x="0" y="0"/>
          <a:ext cx="0" cy="0"/>
          <a:chOff x="0" y="0"/>
          <a:chExt cx="0" cy="0"/>
        </a:xfrm>
      </p:grpSpPr>
      <p:cxnSp>
        <p:nvCxnSpPr>
          <p:cNvPr id="3753" name="Google Shape;3753;p20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54" name="Google Shape;3754;p20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55" name="Google Shape;3755;p20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56" name="Google Shape;3756;p20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57" name="Google Shape;3757;p20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transaction time at ATM’s – leading to reduced queue times at busy ATM’s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relevance of interaction – improving customer satisfaction of ATM service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58" name="Google Shape;3758;p20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Expected to shorten average usage time for each ATM withdrawal transaction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Enhanced customer satisfaction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59" name="Google Shape;3759;p20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set of rules / pattern behavior to create algorithm to populate customized amount button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Analyze accuracy of amount recommendation accepted in &gt; 75% of all withdrawal / transfer requests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60" name="Google Shape;3760;p20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path and key characteristics of the withdrawal/transfer transaction for each targeted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Assign the 5 most customized buttons (withdrawal/transfer amount) to each targeted customer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Enable ATM, Internet banking and Mobile Apps can use these customized attributes to replace the current one.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61" name="Google Shape;3761;p20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Amount can sometimes be specific to date / time or location – these dimensions make model more complex to build and execute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62" name="Google Shape;3762;p20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Historical transaction data from all channels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360 Single view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63" name="Google Shape;3763;p20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customer starts a withdrawal/transfer at either ATM, Internet Banking or Mobile Apps, we can customize the amount button according to customer historic transaction behavior.</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64" name="Google Shape;3764;p20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65" name="Google Shape;3765;p20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66" name="Google Shape;3766;p20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Customized “Amount” Button </a:t>
            </a:r>
            <a:endParaRPr sz="2400"/>
          </a:p>
        </p:txBody>
      </p:sp>
      <p:sp>
        <p:nvSpPr>
          <p:cNvPr id="3767" name="Google Shape;3767;p2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72" name="Shape 3772"/>
        <p:cNvGrpSpPr/>
        <p:nvPr/>
      </p:nvGrpSpPr>
      <p:grpSpPr>
        <a:xfrm>
          <a:off x="0" y="0"/>
          <a:ext cx="0" cy="0"/>
          <a:chOff x="0" y="0"/>
          <a:chExt cx="0" cy="0"/>
        </a:xfrm>
      </p:grpSpPr>
      <p:cxnSp>
        <p:nvCxnSpPr>
          <p:cNvPr id="3773" name="Google Shape;3773;p20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74" name="Google Shape;3774;p20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75" name="Google Shape;3775;p20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76" name="Google Shape;3776;p20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77" name="Google Shape;3777;p20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relevance of content, contacts and offers through orchestration of customer journeys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78" name="Google Shape;3778;p20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sales and service strategies that based on the most powerful sequences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scripts that reflect the sequence: ‘We saw you did x then y and wondered if we could help…’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fewer, more sophisticated leads – fewer outbound calls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sz="800">
              <a:solidFill>
                <a:srgbClr val="3C3C3B"/>
              </a:solidFill>
              <a:latin typeface="Century Gothic"/>
              <a:ea typeface="Century Gothic"/>
              <a:cs typeface="Century Gothic"/>
              <a:sym typeface="Century Gothic"/>
            </a:endParaRPr>
          </a:p>
        </p:txBody>
      </p:sp>
      <p:sp>
        <p:nvSpPr>
          <p:cNvPr id="3779" name="Google Shape;3779;p20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key sequences of events to optimise NBA arbitration rules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80" name="Google Shape;3780;p20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leading to a product purchase (or not)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to understand which paths are more likely to lead to a desired service or sales outcome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81" name="Google Shape;3781;p20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implement logic – especially if NBA logic executed in real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82" name="Google Shape;3782;p20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Policy/Application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-Existing NBA Inputs (events, txns, scores)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Touchpoints Interaction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NBA Responses/Sales and Service Outcomes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NBA Text Responses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83" name="Google Shape;3783;p20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NBA is already proven to generate superior response and sales conversion rates.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 is an opportunity to enhance the existing lead types by identifying the time series of events leading to a NBA outcome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critical sequences of events leading to each NBA Outcome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84" name="Google Shape;3784;p20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85" name="Google Shape;3785;p20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86" name="Google Shape;3786;p20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Enhanced NBA Contact Strategy </a:t>
            </a:r>
            <a:endParaRPr sz="2400"/>
          </a:p>
        </p:txBody>
      </p:sp>
      <p:sp>
        <p:nvSpPr>
          <p:cNvPr id="3787" name="Google Shape;3787;p20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92" name="Shape 3792"/>
        <p:cNvGrpSpPr/>
        <p:nvPr/>
      </p:nvGrpSpPr>
      <p:grpSpPr>
        <a:xfrm>
          <a:off x="0" y="0"/>
          <a:ext cx="0" cy="0"/>
          <a:chOff x="0" y="0"/>
          <a:chExt cx="0" cy="0"/>
        </a:xfrm>
      </p:grpSpPr>
      <p:cxnSp>
        <p:nvCxnSpPr>
          <p:cNvPr id="3793" name="Google Shape;3793;p20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94" name="Google Shape;3794;p20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95" name="Google Shape;3795;p20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96" name="Google Shape;3796;p20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97" name="Google Shape;3797;p20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relevance of content, contacts and offers through orchestration of customer journeys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98" name="Google Shape;3798;p20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product penetration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‘stickiness’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in product revenue from interest and fee based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99" name="Google Shape;3799;p20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generate new insights including events, behaviour and triggers that can be used in a next best product offer arbitration process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00" name="Google Shape;3800;p20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analysis for product acquisition propensity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Pathing analysis to look at sequence and timeline of product take-up</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01" name="Google Shape;3801;p20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Maintaining models, updates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Real time capability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02" name="Google Shape;3802;p20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Derived data from models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Cards Account and Transaction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Transacting Account and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 Account and Transaction</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03" name="Google Shape;3803;p20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 the propensity of customers to buy additional products and services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Use customer demography, product holdings, and behavioral patterns to decide next best product to extend relationship</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product penetration and customer revenue through relevant and timely offers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04" name="Google Shape;3804;p20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05" name="Google Shape;3805;p20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06" name="Google Shape;3806;p20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Next Best Product Offer </a:t>
            </a:r>
            <a:endParaRPr sz="2400"/>
          </a:p>
        </p:txBody>
      </p:sp>
      <p:sp>
        <p:nvSpPr>
          <p:cNvPr id="3807" name="Google Shape;3807;p20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12" name="Shape 3812"/>
        <p:cNvGrpSpPr/>
        <p:nvPr/>
      </p:nvGrpSpPr>
      <p:grpSpPr>
        <a:xfrm>
          <a:off x="0" y="0"/>
          <a:ext cx="0" cy="0"/>
          <a:chOff x="0" y="0"/>
          <a:chExt cx="0" cy="0"/>
        </a:xfrm>
      </p:grpSpPr>
      <p:cxnSp>
        <p:nvCxnSpPr>
          <p:cNvPr id="3813" name="Google Shape;3813;p20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14" name="Google Shape;3814;p20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15" name="Google Shape;3815;p20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16" name="Google Shape;3816;p20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17" name="Google Shape;3817;p20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average product holdings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Move to customer centric needs based selling (conduct risk)</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18" name="Google Shape;3818;p20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clustering to create segments of customers holding particular product groups (or bundles)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Visualisation of the different clusters of grouped product holding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collaborative filtering to identify target customers who look similar to customer already holding product bundles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nPath to understand sequence and elapse time of products being opened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19" name="Google Shape;3819;p207"/>
          <p:cNvSpPr/>
          <p:nvPr/>
        </p:nvSpPr>
        <p:spPr>
          <a:xfrm>
            <a:off x="3271845" y="4025742"/>
            <a:ext cx="2715336" cy="758929"/>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insight to create new product propositions as bundles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Acceptance/take up of bundles by customers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20" name="Google Shape;3820;p20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(optional)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(optional)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21" name="Google Shape;3821;p207"/>
          <p:cNvSpPr/>
          <p:nvPr/>
        </p:nvSpPr>
        <p:spPr>
          <a:xfrm>
            <a:off x="423863" y="4025742"/>
            <a:ext cx="2714400" cy="918417"/>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bundling initiatives have not been successful in the Turkish financial services market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Need to understand what  product propositions could be form logical product bundles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22" name="Google Shape;3822;p20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Channel Usage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 membership</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Profitability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Inbound Campaign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Outbound Campaign History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23" name="Google Shape;3823;p20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Advanced techniques such as propensity modeling and event based marketing only work where you already have an active customer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you make product recommendations when you know very little about the customer (eg, customer is inactive or holds only 1 product)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Opportunity to make recommendations based on very little data and in a way customers will understand? (most people are familiar Amazon)</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24" name="Google Shape;3824;p20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25" name="Google Shape;3825;p20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26" name="Google Shape;3826;p20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Bundling </a:t>
            </a:r>
            <a:endParaRPr sz="2400"/>
          </a:p>
        </p:txBody>
      </p:sp>
      <p:sp>
        <p:nvSpPr>
          <p:cNvPr id="3827" name="Google Shape;3827;p20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32" name="Shape 3832"/>
        <p:cNvGrpSpPr/>
        <p:nvPr/>
      </p:nvGrpSpPr>
      <p:grpSpPr>
        <a:xfrm>
          <a:off x="0" y="0"/>
          <a:ext cx="0" cy="0"/>
          <a:chOff x="0" y="0"/>
          <a:chExt cx="0" cy="0"/>
        </a:xfrm>
      </p:grpSpPr>
      <p:cxnSp>
        <p:nvCxnSpPr>
          <p:cNvPr id="3833" name="Google Shape;3833;p20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34" name="Google Shape;3834;p20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35" name="Google Shape;3835;p20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36" name="Google Shape;3836;p20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37" name="Google Shape;3837;p20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card activity and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share of customer’s credit card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card churn and dormancy</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38" name="Google Shape;3838;p20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linkage among merchants based on customers’ card usage pattern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Verify the original purpose of credit card products and develop new products fitting for customer preference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Individualized Merchants Recommendation Index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39" name="Google Shape;3839;p20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new credit card propositions and offers based on patterns of merchant spend behavior (E.g. cashback)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analytical framework to calculate and deploy individual merchant recommendation offers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40" name="Google Shape;3840;p20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C-Filters &amp; Basket Gen to understand the linkage among merchants based on credit card usage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visualize interaction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41" name="Google Shape;3841;p20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Collaborating with merchants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Developing new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42" name="Google Shape;3842;p20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TX data to understand customers’ individual buying behaviors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merchants Data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43" name="Google Shape;3843;p20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highly competitive Credit Card markets, more personalized services based on customers’ credit card usage are required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But, it was not easy to recommend to each individual the most appropriate merchants.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Also, marketers need to verify whether credit cards were properly used for original product purpose.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44" name="Google Shape;3844;p20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45" name="Google Shape;3845;p20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46" name="Google Shape;3846;p20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Individualized Merchants Recommendation  </a:t>
            </a:r>
            <a:endParaRPr sz="2000"/>
          </a:p>
        </p:txBody>
      </p:sp>
      <p:sp>
        <p:nvSpPr>
          <p:cNvPr id="3847" name="Google Shape;3847;p20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52" name="Shape 3852"/>
        <p:cNvGrpSpPr/>
        <p:nvPr/>
      </p:nvGrpSpPr>
      <p:grpSpPr>
        <a:xfrm>
          <a:off x="0" y="0"/>
          <a:ext cx="0" cy="0"/>
          <a:chOff x="0" y="0"/>
          <a:chExt cx="0" cy="0"/>
        </a:xfrm>
      </p:grpSpPr>
      <p:cxnSp>
        <p:nvCxnSpPr>
          <p:cNvPr id="3853" name="Google Shape;3853;p20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54" name="Google Shape;3854;p20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55" name="Google Shape;3855;p20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56" name="Google Shape;3856;p20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57" name="Google Shape;3857;p20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efficient marketing creative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Manage ROI in the use of creative elements; illustration, photography, geographic location, actor, voiceover</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greater brand awareness through more relevant messaging</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58" name="Google Shape;3858;p20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Measuring ad effectiveness through test- separating the effects of the ad creative from that of the time, placement, repetition or age of the ad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pattern matching and/or path analysis to track consumer behaviours associated with specific creative treatments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59" name="Google Shape;3859;p20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 Model Run Book:  Analysis Guide, Code &amp;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Creative Optimization Model Run Book: Analysis Guide, Code &amp; Results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AppCenter Apps or other Visual Results deliverables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evaluate the effect of advertising creative on sales by increased engagement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60" name="Google Shape;3860;p20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Computational Optimization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Segmentation; demographic, geographic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Pattern matching, path analysis, cluster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Temporal response analysis (wear out/survival analysis)</a:t>
            </a:r>
            <a:endParaRPr sz="800">
              <a:solidFill>
                <a:srgbClr val="3C3C3B"/>
              </a:solidFill>
              <a:latin typeface="Century Gothic"/>
              <a:ea typeface="Century Gothic"/>
              <a:cs typeface="Century Gothic"/>
              <a:sym typeface="Century Gothic"/>
            </a:endParaRPr>
          </a:p>
        </p:txBody>
      </p:sp>
      <p:sp>
        <p:nvSpPr>
          <p:cNvPr id="3861" name="Google Shape;3861;p20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Creative optimization occurs before a campaign begins and  during campaign  flight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analytics process needs to be timely, scalable, efficient and accurate due to the pace of change and number of creative treatments being executed (particularly in digital/mobile display)</a:t>
            </a:r>
            <a:endParaRPr sz="800">
              <a:solidFill>
                <a:srgbClr val="3C3C3B"/>
              </a:solidFill>
              <a:latin typeface="Century Gothic"/>
              <a:ea typeface="Century Gothic"/>
              <a:cs typeface="Century Gothic"/>
              <a:sym typeface="Century Gothic"/>
            </a:endParaRPr>
          </a:p>
        </p:txBody>
      </p:sp>
      <p:sp>
        <p:nvSpPr>
          <p:cNvPr id="3862" name="Google Shape;3862;p20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Creative metadata; art, tags, Ad ID</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Creative response history; clicks, views, downloads, sales, registrations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Channel interaction data; web/mobile clicks, physical location visits, call center activity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Brand engagement history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loyalty programs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Survey and transactional data</a:t>
            </a:r>
            <a:endParaRPr sz="800">
              <a:solidFill>
                <a:schemeClr val="dk1"/>
              </a:solidFill>
              <a:latin typeface="Century Gothic"/>
              <a:ea typeface="Century Gothic"/>
              <a:cs typeface="Century Gothic"/>
              <a:sym typeface="Century Gothic"/>
            </a:endParaRPr>
          </a:p>
        </p:txBody>
      </p:sp>
      <p:sp>
        <p:nvSpPr>
          <p:cNvPr id="3863" name="Google Shape;3863;p20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Close to 60% of marketers expect to include creative optimization as a standard component of display ad plans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Marketers need to understand which creative elements, changes or length of exposure is driving greater response to their message or awareness of their brands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Marketers want to predict response to specific creative treatments by geographic or demographic target segments</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64" name="Google Shape;3864;p20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Judy Lee</a:t>
            </a:r>
            <a:endParaRPr sz="900">
              <a:solidFill>
                <a:schemeClr val="accent6"/>
              </a:solidFill>
              <a:latin typeface="Century Gothic"/>
              <a:ea typeface="Century Gothic"/>
              <a:cs typeface="Century Gothic"/>
              <a:sym typeface="Century Gothic"/>
            </a:endParaRPr>
          </a:p>
        </p:txBody>
      </p:sp>
      <p:sp>
        <p:nvSpPr>
          <p:cNvPr id="3865" name="Google Shape;3865;p20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866" name="Google Shape;3866;p20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Advertising Creative Optimization</a:t>
            </a:r>
            <a:endParaRPr sz="2400"/>
          </a:p>
        </p:txBody>
      </p:sp>
      <p:sp>
        <p:nvSpPr>
          <p:cNvPr id="3867" name="Google Shape;3867;p20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72" name="Shape 3872"/>
        <p:cNvGrpSpPr/>
        <p:nvPr/>
      </p:nvGrpSpPr>
      <p:grpSpPr>
        <a:xfrm>
          <a:off x="0" y="0"/>
          <a:ext cx="0" cy="0"/>
          <a:chOff x="0" y="0"/>
          <a:chExt cx="0" cy="0"/>
        </a:xfrm>
      </p:grpSpPr>
      <p:cxnSp>
        <p:nvCxnSpPr>
          <p:cNvPr id="3873" name="Google Shape;3873;p21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74" name="Google Shape;3874;p21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75" name="Google Shape;3875;p21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76" name="Google Shape;3876;p21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77" name="Google Shape;3877;p21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breadth and depth of competitor intelligence improves quality of internal decision making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Automated collection and identification of competitor activity allows internal decisions to be made faster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78" name="Google Shape;3878;p21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market acceptance and market share by becoming more competitive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Optimized marketing budget by understanding which area to focus on and how much budget to allocate based on the competitions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79" name="Google Shape;3879;p21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automate the collection and identification of key competitor market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integrate data from different sources to create a more comprehensive view of competitor activity and trends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80" name="Google Shape;3880;p21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Behavior-based segmentation to segment customers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mining to identify certain key words of competitors and their current marketing programs (e.g. Bank x and travel category). Text mining to identify market sentiment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81" name="Google Shape;3881;p21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match different sources of 3rd party data without hard match keys. Text analytics can be utilised to perform fuzzy match on different data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82" name="Google Shape;3882;p21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Competitors products, pricings, marketing program data from competitors websites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target segment and their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website (e.g. online news) on current marketing plan of the competitors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 to identify market sentiment</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83" name="Google Shape;3883;p21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creating marketing plans, limited information about competitors can be taken into account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inability to have integrated, up-to-date information about competitors and their marketing programs means lack of insight &amp; analysis to protect/increase market share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capturing competitors data including their activities which are mainly available from the web</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84" name="Google Shape;3884;p21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85" name="Google Shape;3885;p21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86" name="Google Shape;3886;p21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Competitor Analysis </a:t>
            </a:r>
            <a:endParaRPr sz="2400"/>
          </a:p>
        </p:txBody>
      </p:sp>
      <p:sp>
        <p:nvSpPr>
          <p:cNvPr id="3887" name="Google Shape;3887;p21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92" name="Shape 3892"/>
        <p:cNvGrpSpPr/>
        <p:nvPr/>
      </p:nvGrpSpPr>
      <p:grpSpPr>
        <a:xfrm>
          <a:off x="0" y="0"/>
          <a:ext cx="0" cy="0"/>
          <a:chOff x="0" y="0"/>
          <a:chExt cx="0" cy="0"/>
        </a:xfrm>
      </p:grpSpPr>
      <p:cxnSp>
        <p:nvCxnSpPr>
          <p:cNvPr id="3893" name="Google Shape;3893;p21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94" name="Google Shape;3894;p21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95" name="Google Shape;3895;p21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96" name="Google Shape;3896;p21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97" name="Google Shape;3897;p21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ROI  from more efficient allocation of marketing budgets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metrics to optimise campaigns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relevant marketing approaches through customers channels of choice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98" name="Google Shape;3898;p21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path analysis to analyse the sequence of events (marketing activity and interactions) leading to an outcome such as a sale of a product or service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attribution and weighting of events leading to the desired outcome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Potential use of collaborative filtering to group similar types of media together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99" name="Google Shape;3899;p211"/>
          <p:cNvSpPr/>
          <p:nvPr/>
        </p:nvSpPr>
        <p:spPr>
          <a:xfrm>
            <a:off x="3271845" y="4068274"/>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accuracy of attribution of activity to outcomes – especially for multi-channel / multi-step based campaigns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900" name="Google Shape;3900;p21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Regression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01" name="Google Shape;3901;p211"/>
          <p:cNvSpPr/>
          <p:nvPr/>
        </p:nvSpPr>
        <p:spPr>
          <a:xfrm>
            <a:off x="423863" y="4068274"/>
            <a:ext cx="2714400" cy="854622"/>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case complicated to execute due to volume of data and number of diverse sources that require combining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hard and soft response are currently inferred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02" name="Google Shape;3902;p211"/>
          <p:cNvSpPr/>
          <p:nvPr/>
        </p:nvSpPr>
        <p:spPr>
          <a:xfrm>
            <a:off x="402597"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Events to which attribution will be applied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Outbound Campaign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Inbound Campaign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Campaign Responses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Interaction Data incl</a:t>
            </a:r>
            <a:endParaRPr sz="800">
              <a:solidFill>
                <a:srgbClr val="3C3C3B"/>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 / Mobile Clicks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Visits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Calls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Marketing Preferences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03" name="Google Shape;3903;p21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receive/gather lots of different marketing content to consider when purchasing a product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Online… such as search results, Display ads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Offline… such as emails, TV ads, calls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customer responds, how do you attribute the value of the sale to all the different media?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Most companies attribute the value to the last touch, but this the other media in the process. We need to understand the contribution of all media</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904" name="Google Shape;3904;p21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905" name="Google Shape;3905;p21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906" name="Google Shape;3906;p21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Attribution </a:t>
            </a:r>
            <a:endParaRPr sz="2400"/>
          </a:p>
        </p:txBody>
      </p:sp>
      <p:sp>
        <p:nvSpPr>
          <p:cNvPr id="3907" name="Google Shape;3907;p21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12" name="Shape 3912"/>
        <p:cNvGrpSpPr/>
        <p:nvPr/>
      </p:nvGrpSpPr>
      <p:grpSpPr>
        <a:xfrm>
          <a:off x="0" y="0"/>
          <a:ext cx="0" cy="0"/>
          <a:chOff x="0" y="0"/>
          <a:chExt cx="0" cy="0"/>
        </a:xfrm>
      </p:grpSpPr>
      <p:cxnSp>
        <p:nvCxnSpPr>
          <p:cNvPr id="3913" name="Google Shape;3913;p21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914" name="Google Shape;3914;p21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915" name="Google Shape;3915;p21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916" name="Google Shape;3916;p21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17" name="Google Shape;3917;p21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non-productive spend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Shift budget to higher return on investment (ROI) opportunities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 the impact of multi-channel campaigns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the impact of social interactions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Drive cross channel sales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918" name="Google Shape;3918;p21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understand every interaction customers have with a company regardless of channel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most profitable multi-channel campaigns to maximize effectiveness and conversions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personalized and engaging experiences for customers across all channels improving loyalty</a:t>
            </a:r>
            <a:endParaRPr sz="800">
              <a:solidFill>
                <a:srgbClr val="3C3C3B"/>
              </a:solidFill>
              <a:latin typeface="Century Gothic"/>
              <a:ea typeface="Century Gothic"/>
              <a:cs typeface="Century Gothic"/>
              <a:sym typeface="Century Gothic"/>
            </a:endParaRPr>
          </a:p>
        </p:txBody>
      </p:sp>
      <p:sp>
        <p:nvSpPr>
          <p:cNvPr id="3919" name="Google Shape;3919;p21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 become the foundation for optimized marketing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Plan future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Company understands which channels and promotions are contributing to success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920" name="Google Shape;3920;p21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Marketing Attribution Analysis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 Social Network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Analytics to identify next best offer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21" name="Google Shape;3921;p21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Channels are monitored and managed independently making it difficult to determine multi-touch 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from channels, customers and transactions is not integrated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often lacks unique identifiers </a:t>
            </a:r>
            <a:endParaRPr/>
          </a:p>
        </p:txBody>
      </p:sp>
      <p:sp>
        <p:nvSpPr>
          <p:cNvPr id="3922" name="Google Shape;3922;p21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interaction data from each channel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data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Marketing activities by channel</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923" name="Google Shape;3923;p21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Companies have virtually unlimited choices for advertising placement and greater access to customers through a variety of channels. As a result, many businesses are actively shifting the balance of their marketing initiatives from outbound channels to inbound, interactive campaigns such as search, mobile apps and social media.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This shift has created the need to understand the complete customer journey across owned, earned and paid interactions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924" name="Google Shape;3924;p21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Large US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Jack McCush</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Sub-Cat Owner: John Carlile</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3925" name="Google Shape;3925;p21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926" name="Google Shape;3926;p21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Attribution</a:t>
            </a:r>
            <a:endParaRPr sz="2400"/>
          </a:p>
        </p:txBody>
      </p:sp>
      <p:sp>
        <p:nvSpPr>
          <p:cNvPr id="3927" name="Google Shape;3927;p21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32" name="Shape 3932"/>
        <p:cNvGrpSpPr/>
        <p:nvPr/>
      </p:nvGrpSpPr>
      <p:grpSpPr>
        <a:xfrm>
          <a:off x="0" y="0"/>
          <a:ext cx="0" cy="0"/>
          <a:chOff x="0" y="0"/>
          <a:chExt cx="0" cy="0"/>
        </a:xfrm>
      </p:grpSpPr>
      <p:sp>
        <p:nvSpPr>
          <p:cNvPr id="3933" name="Google Shape;3933;p213"/>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3934" name="Google Shape;3934;p213"/>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sp>
        <p:nvSpPr>
          <p:cNvPr id="3935" name="Google Shape;3935;p213"/>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36" name="Google Shape;3936;p213">
            <a:hlinkClick action="ppaction://hlinksldjump" r:id="rId3"/>
          </p:cNvPr>
          <p:cNvSpPr/>
          <p:nvPr/>
        </p:nvSpPr>
        <p:spPr>
          <a:xfrm>
            <a:off x="565151" y="1301750"/>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Finance &amp; Performance Management</a:t>
            </a:r>
            <a:endParaRPr sz="800">
              <a:solidFill>
                <a:srgbClr val="FFFFFF"/>
              </a:solidFill>
              <a:latin typeface="Century Gothic"/>
              <a:ea typeface="Century Gothic"/>
              <a:cs typeface="Century Gothic"/>
              <a:sym typeface="Century Gothic"/>
            </a:endParaRPr>
          </a:p>
        </p:txBody>
      </p:sp>
      <p:sp>
        <p:nvSpPr>
          <p:cNvPr id="3937" name="Google Shape;3937;p213">
            <a:hlinkClick action="ppaction://hlinksldjump" r:id="rId4"/>
          </p:cNvPr>
          <p:cNvSpPr/>
          <p:nvPr/>
        </p:nvSpPr>
        <p:spPr>
          <a:xfrm>
            <a:off x="209973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Accounting</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Operations</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and Close</a:t>
            </a:r>
            <a:endParaRPr sz="1100">
              <a:solidFill>
                <a:srgbClr val="FFFFFF"/>
              </a:solidFill>
              <a:latin typeface="Century Gothic"/>
              <a:ea typeface="Century Gothic"/>
              <a:cs typeface="Century Gothic"/>
              <a:sym typeface="Century Gothic"/>
            </a:endParaRPr>
          </a:p>
        </p:txBody>
      </p:sp>
      <p:sp>
        <p:nvSpPr>
          <p:cNvPr id="3938" name="Google Shape;3938;p213">
            <a:hlinkClick action="ppaction://hlinksldjump" r:id="rId5"/>
          </p:cNvPr>
          <p:cNvSpPr/>
          <p:nvPr/>
        </p:nvSpPr>
        <p:spPr>
          <a:xfrm>
            <a:off x="429169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Enterprise Performance Management</a:t>
            </a:r>
            <a:endParaRPr sz="1100">
              <a:solidFill>
                <a:srgbClr val="FFFFFF"/>
              </a:solidFill>
              <a:latin typeface="Century Gothic"/>
              <a:ea typeface="Century Gothic"/>
              <a:cs typeface="Century Gothic"/>
              <a:sym typeface="Century Gothic"/>
            </a:endParaRPr>
          </a:p>
        </p:txBody>
      </p:sp>
      <p:sp>
        <p:nvSpPr>
          <p:cNvPr id="3939" name="Google Shape;3939;p213">
            <a:hlinkClick action="ppaction://hlinksldjump" r:id="rId6"/>
          </p:cNvPr>
          <p:cNvSpPr/>
          <p:nvPr/>
        </p:nvSpPr>
        <p:spPr>
          <a:xfrm>
            <a:off x="647696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Treasury Insight &amp; Management</a:t>
            </a:r>
            <a:endParaRPr sz="1100">
              <a:solidFill>
                <a:srgbClr val="FFFFFF"/>
              </a:solidFill>
              <a:latin typeface="Century Gothic"/>
              <a:ea typeface="Century Gothic"/>
              <a:cs typeface="Century Gothic"/>
              <a:sym typeface="Century Gothic"/>
            </a:endParaRPr>
          </a:p>
        </p:txBody>
      </p:sp>
      <p:sp>
        <p:nvSpPr>
          <p:cNvPr id="3940" name="Google Shape;3940;p213">
            <a:hlinkClick action="ppaction://hlinksldjump" r:id="rId7"/>
          </p:cNvPr>
          <p:cNvSpPr/>
          <p:nvPr/>
        </p:nvSpPr>
        <p:spPr>
          <a:xfrm>
            <a:off x="2099735" y="2599351"/>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a:t>
            </a:r>
            <a:endParaRPr/>
          </a:p>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Reporting</a:t>
            </a:r>
            <a:endParaRPr sz="1100">
              <a:solidFill>
                <a:srgbClr val="FFFFFF"/>
              </a:solidFill>
              <a:latin typeface="Century Gothic"/>
              <a:ea typeface="Century Gothic"/>
              <a:cs typeface="Century Gothic"/>
              <a:sym typeface="Century Gothic"/>
            </a:endParaRPr>
          </a:p>
        </p:txBody>
      </p:sp>
      <p:sp>
        <p:nvSpPr>
          <p:cNvPr id="3941" name="Google Shape;3941;p213"/>
          <p:cNvSpPr/>
          <p:nvPr/>
        </p:nvSpPr>
        <p:spPr>
          <a:xfrm>
            <a:off x="2073748" y="12835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3942" name="Google Shape;3942;p213">
            <a:hlinkClick action="ppaction://hlinksldjump" r:id="rId8"/>
          </p:cNvPr>
          <p:cNvSpPr/>
          <p:nvPr/>
        </p:nvSpPr>
        <p:spPr>
          <a:xfrm>
            <a:off x="567549" y="39594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grpSp>
        <p:nvGrpSpPr>
          <p:cNvPr id="3943" name="Google Shape;3943;p213"/>
          <p:cNvGrpSpPr/>
          <p:nvPr/>
        </p:nvGrpSpPr>
        <p:grpSpPr>
          <a:xfrm>
            <a:off x="7717533" y="4360377"/>
            <a:ext cx="1058348" cy="347375"/>
            <a:chOff x="7651698" y="4287227"/>
            <a:chExt cx="1058348" cy="347375"/>
          </a:xfrm>
        </p:grpSpPr>
        <p:grpSp>
          <p:nvGrpSpPr>
            <p:cNvPr id="3944" name="Google Shape;3944;p213"/>
            <p:cNvGrpSpPr/>
            <p:nvPr/>
          </p:nvGrpSpPr>
          <p:grpSpPr>
            <a:xfrm>
              <a:off x="7714163" y="4337598"/>
              <a:ext cx="995883" cy="297004"/>
              <a:chOff x="7711013" y="3986494"/>
              <a:chExt cx="995883" cy="297004"/>
            </a:xfrm>
          </p:grpSpPr>
          <p:sp>
            <p:nvSpPr>
              <p:cNvPr id="3945" name="Google Shape;3945;p21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3946" name="Google Shape;3946;p213"/>
              <p:cNvGrpSpPr/>
              <p:nvPr/>
            </p:nvGrpSpPr>
            <p:grpSpPr>
              <a:xfrm>
                <a:off x="7711013" y="4002615"/>
                <a:ext cx="281520" cy="241973"/>
                <a:chOff x="5652748" y="4066000"/>
                <a:chExt cx="906498" cy="747974"/>
              </a:xfrm>
            </p:grpSpPr>
            <p:sp>
              <p:nvSpPr>
                <p:cNvPr id="3947" name="Google Shape;3947;p21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3948" name="Google Shape;3948;p21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49" name="Google Shape;3949;p21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3950" name="Google Shape;3950;p213">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3951" name="Google Shape;3951;p213">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56" name="Shape 3956"/>
        <p:cNvGrpSpPr/>
        <p:nvPr/>
      </p:nvGrpSpPr>
      <p:grpSpPr>
        <a:xfrm>
          <a:off x="0" y="0"/>
          <a:ext cx="0" cy="0"/>
          <a:chOff x="0" y="0"/>
          <a:chExt cx="0" cy="0"/>
        </a:xfrm>
      </p:grpSpPr>
      <p:sp>
        <p:nvSpPr>
          <p:cNvPr id="3957" name="Google Shape;3957;p214"/>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58" name="Google Shape;3958;p214">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Accounting</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Operations</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and Close</a:t>
            </a:r>
            <a:endParaRPr sz="1100">
              <a:solidFill>
                <a:srgbClr val="FFFFFF"/>
              </a:solidFill>
              <a:latin typeface="Century Gothic"/>
              <a:ea typeface="Century Gothic"/>
              <a:cs typeface="Century Gothic"/>
              <a:sym typeface="Century Gothic"/>
            </a:endParaRPr>
          </a:p>
        </p:txBody>
      </p:sp>
      <p:sp>
        <p:nvSpPr>
          <p:cNvPr id="3959" name="Google Shape;3959;p214"/>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3960" name="Google Shape;3960;p214">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3961" name="Google Shape;3961;p214">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Billing &amp; Collections</a:t>
            </a:r>
            <a:endParaRPr sz="1100">
              <a:solidFill>
                <a:schemeClr val="dk1"/>
              </a:solidFill>
              <a:latin typeface="Century Gothic"/>
              <a:ea typeface="Century Gothic"/>
              <a:cs typeface="Century Gothic"/>
              <a:sym typeface="Century Gothic"/>
            </a:endParaRPr>
          </a:p>
        </p:txBody>
      </p:sp>
      <p:sp>
        <p:nvSpPr>
          <p:cNvPr id="3962" name="Google Shape;3962;p214">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Procurement &amp;</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Payment</a:t>
            </a:r>
            <a:endParaRPr sz="1100">
              <a:solidFill>
                <a:schemeClr val="dk1"/>
              </a:solidFill>
              <a:latin typeface="Century Gothic"/>
              <a:ea typeface="Century Gothic"/>
              <a:cs typeface="Century Gothic"/>
              <a:sym typeface="Century Gothic"/>
            </a:endParaRPr>
          </a:p>
        </p:txBody>
      </p:sp>
      <p:sp>
        <p:nvSpPr>
          <p:cNvPr id="3963" name="Google Shape;3963;p214">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Sub-ledger Accounting</a:t>
            </a:r>
            <a:endParaRPr sz="1100">
              <a:solidFill>
                <a:schemeClr val="dk1"/>
              </a:solidFill>
              <a:latin typeface="Century Gothic"/>
              <a:ea typeface="Century Gothic"/>
              <a:cs typeface="Century Gothic"/>
              <a:sym typeface="Century Gothic"/>
            </a:endParaRPr>
          </a:p>
        </p:txBody>
      </p:sp>
      <p:sp>
        <p:nvSpPr>
          <p:cNvPr id="3964" name="Google Shape;3964;p214">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Fair Value &amp; Hedge Accounting</a:t>
            </a:r>
            <a:endParaRPr sz="1100">
              <a:solidFill>
                <a:schemeClr val="dk1"/>
              </a:solidFill>
              <a:latin typeface="Century Gothic"/>
              <a:ea typeface="Century Gothic"/>
              <a:cs typeface="Century Gothic"/>
              <a:sym typeface="Century Gothic"/>
            </a:endParaRPr>
          </a:p>
        </p:txBody>
      </p:sp>
      <p:sp>
        <p:nvSpPr>
          <p:cNvPr id="3965" name="Google Shape;3965;p214">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Asset Valuations</a:t>
            </a:r>
            <a:endParaRPr sz="1100">
              <a:solidFill>
                <a:schemeClr val="dk1"/>
              </a:solidFill>
              <a:latin typeface="Century Gothic"/>
              <a:ea typeface="Century Gothic"/>
              <a:cs typeface="Century Gothic"/>
              <a:sym typeface="Century Gothic"/>
            </a:endParaRPr>
          </a:p>
        </p:txBody>
      </p:sp>
      <p:sp>
        <p:nvSpPr>
          <p:cNvPr id="3966" name="Google Shape;3966;p214">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Reserve Analytics</a:t>
            </a:r>
            <a:endParaRPr sz="1100">
              <a:solidFill>
                <a:schemeClr val="dk1"/>
              </a:solidFill>
              <a:latin typeface="Century Gothic"/>
              <a:ea typeface="Century Gothic"/>
              <a:cs typeface="Century Gothic"/>
              <a:sym typeface="Century Gothic"/>
            </a:endParaRPr>
          </a:p>
        </p:txBody>
      </p:sp>
      <p:sp>
        <p:nvSpPr>
          <p:cNvPr id="3967" name="Google Shape;3967;p214">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Tax Management &amp; Optimisation</a:t>
            </a:r>
            <a:endParaRPr sz="1100">
              <a:solidFill>
                <a:schemeClr val="dk1"/>
              </a:solidFill>
              <a:latin typeface="Century Gothic"/>
              <a:ea typeface="Century Gothic"/>
              <a:cs typeface="Century Gothic"/>
              <a:sym typeface="Century Gothic"/>
            </a:endParaRPr>
          </a:p>
        </p:txBody>
      </p:sp>
      <p:sp>
        <p:nvSpPr>
          <p:cNvPr id="3968" name="Google Shape;3968;p214">
            <a:hlinkClick action="ppaction://hlinksldjump" r:id="rId12"/>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Reconciliation, Validation &amp; Adjustments</a:t>
            </a:r>
            <a:endParaRPr sz="1100">
              <a:solidFill>
                <a:schemeClr val="dk1"/>
              </a:solidFill>
              <a:latin typeface="Century Gothic"/>
              <a:ea typeface="Century Gothic"/>
              <a:cs typeface="Century Gothic"/>
              <a:sym typeface="Century Gothic"/>
            </a:endParaRPr>
          </a:p>
        </p:txBody>
      </p:sp>
      <p:sp>
        <p:nvSpPr>
          <p:cNvPr id="3969" name="Google Shape;3969;p214">
            <a:hlinkClick action="ppaction://hlinksldjump" r:id="rId13"/>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Financial Consolidation</a:t>
            </a:r>
            <a:endParaRPr sz="1100">
              <a:solidFill>
                <a:schemeClr val="dk1"/>
              </a:solidFill>
              <a:latin typeface="Century Gothic"/>
              <a:ea typeface="Century Gothic"/>
              <a:cs typeface="Century Gothic"/>
              <a:sym typeface="Century Gothic"/>
            </a:endParaRPr>
          </a:p>
        </p:txBody>
      </p:sp>
      <p:sp>
        <p:nvSpPr>
          <p:cNvPr id="3970" name="Google Shape;3970;p214">
            <a:hlinkClick action="ppaction://hlinksldjump" r:id="rId14"/>
          </p:cNvPr>
          <p:cNvSpPr/>
          <p:nvPr/>
        </p:nvSpPr>
        <p:spPr>
          <a:xfrm>
            <a:off x="2099732" y="364470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Functional Profit &amp; Loss Statement</a:t>
            </a:r>
            <a:endParaRPr/>
          </a:p>
        </p:txBody>
      </p:sp>
      <p:sp>
        <p:nvSpPr>
          <p:cNvPr id="3971" name="Google Shape;3971;p214"/>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Automated and efficient Accounting Operations, providing the detailed information required by a modern Finance function</a:t>
            </a:r>
            <a:endParaRPr sz="1600"/>
          </a:p>
        </p:txBody>
      </p:sp>
      <p:sp>
        <p:nvSpPr>
          <p:cNvPr id="3972" name="Google Shape;3972;p21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3973" name="Google Shape;3973;p214"/>
          <p:cNvGrpSpPr/>
          <p:nvPr/>
        </p:nvGrpSpPr>
        <p:grpSpPr>
          <a:xfrm>
            <a:off x="7717533" y="4360377"/>
            <a:ext cx="1058348" cy="347375"/>
            <a:chOff x="7651698" y="4287227"/>
            <a:chExt cx="1058348" cy="347375"/>
          </a:xfrm>
        </p:grpSpPr>
        <p:grpSp>
          <p:nvGrpSpPr>
            <p:cNvPr id="3974" name="Google Shape;3974;p214"/>
            <p:cNvGrpSpPr/>
            <p:nvPr/>
          </p:nvGrpSpPr>
          <p:grpSpPr>
            <a:xfrm>
              <a:off x="7714163" y="4337598"/>
              <a:ext cx="995883" cy="297004"/>
              <a:chOff x="7711013" y="3986494"/>
              <a:chExt cx="995883" cy="297004"/>
            </a:xfrm>
          </p:grpSpPr>
          <p:sp>
            <p:nvSpPr>
              <p:cNvPr id="3975" name="Google Shape;3975;p21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3976" name="Google Shape;3976;p214"/>
              <p:cNvGrpSpPr/>
              <p:nvPr/>
            </p:nvGrpSpPr>
            <p:grpSpPr>
              <a:xfrm>
                <a:off x="7711013" y="4002615"/>
                <a:ext cx="281520" cy="241973"/>
                <a:chOff x="5652748" y="4066000"/>
                <a:chExt cx="906498" cy="747974"/>
              </a:xfrm>
            </p:grpSpPr>
            <p:sp>
              <p:nvSpPr>
                <p:cNvPr id="3977" name="Google Shape;3977;p21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3978" name="Google Shape;3978;p21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79" name="Google Shape;3979;p21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3980" name="Google Shape;3980;p214">
              <a:hlinkClick action="ppaction://hlinksldjump" r:id="rId1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3981" name="Google Shape;3981;p214">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86" name="Shape 3986"/>
        <p:cNvGrpSpPr/>
        <p:nvPr/>
      </p:nvGrpSpPr>
      <p:grpSpPr>
        <a:xfrm>
          <a:off x="0" y="0"/>
          <a:ext cx="0" cy="0"/>
          <a:chOff x="0" y="0"/>
          <a:chExt cx="0" cy="0"/>
        </a:xfrm>
      </p:grpSpPr>
      <p:sp>
        <p:nvSpPr>
          <p:cNvPr id="3987" name="Google Shape;3987;p215"/>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88" name="Google Shape;3988;p215">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Enterprise Performance Management</a:t>
            </a:r>
            <a:endParaRPr sz="1100">
              <a:solidFill>
                <a:srgbClr val="FFFFFF"/>
              </a:solidFill>
              <a:latin typeface="Century Gothic"/>
              <a:ea typeface="Century Gothic"/>
              <a:cs typeface="Century Gothic"/>
              <a:sym typeface="Century Gothic"/>
            </a:endParaRPr>
          </a:p>
        </p:txBody>
      </p:sp>
      <p:sp>
        <p:nvSpPr>
          <p:cNvPr id="3989" name="Google Shape;3989;p215"/>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3990" name="Google Shape;3990;p215">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3991" name="Google Shape;3991;p215">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Revenue Analytics</a:t>
            </a:r>
            <a:endParaRPr sz="1100">
              <a:solidFill>
                <a:schemeClr val="dk1"/>
              </a:solidFill>
              <a:latin typeface="Century Gothic"/>
              <a:ea typeface="Century Gothic"/>
              <a:cs typeface="Century Gothic"/>
              <a:sym typeface="Century Gothic"/>
            </a:endParaRPr>
          </a:p>
        </p:txBody>
      </p:sp>
      <p:sp>
        <p:nvSpPr>
          <p:cNvPr id="3992" name="Google Shape;3992;p215">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GL, AP, HR, Expense</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Analytics &amp; Optimisation</a:t>
            </a:r>
            <a:endParaRPr sz="1100">
              <a:solidFill>
                <a:schemeClr val="dk1"/>
              </a:solidFill>
              <a:latin typeface="Century Gothic"/>
              <a:ea typeface="Century Gothic"/>
              <a:cs typeface="Century Gothic"/>
              <a:sym typeface="Century Gothic"/>
            </a:endParaRPr>
          </a:p>
        </p:txBody>
      </p:sp>
      <p:sp>
        <p:nvSpPr>
          <p:cNvPr id="3993" name="Google Shape;3993;p215">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Activity Based Costing</a:t>
            </a:r>
            <a:endParaRPr sz="1100">
              <a:solidFill>
                <a:schemeClr val="dk1"/>
              </a:solidFill>
              <a:latin typeface="Century Gothic"/>
              <a:ea typeface="Century Gothic"/>
              <a:cs typeface="Century Gothic"/>
              <a:sym typeface="Century Gothic"/>
            </a:endParaRPr>
          </a:p>
        </p:txBody>
      </p:sp>
      <p:sp>
        <p:nvSpPr>
          <p:cNvPr id="3994" name="Google Shape;3994;p215">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Profitability Modelling</a:t>
            </a:r>
            <a:endParaRPr sz="1100">
              <a:solidFill>
                <a:schemeClr val="dk1"/>
              </a:solidFill>
              <a:latin typeface="Century Gothic"/>
              <a:ea typeface="Century Gothic"/>
              <a:cs typeface="Century Gothic"/>
              <a:sym typeface="Century Gothic"/>
            </a:endParaRPr>
          </a:p>
        </p:txBody>
      </p:sp>
      <p:sp>
        <p:nvSpPr>
          <p:cNvPr id="3995" name="Google Shape;3995;p215">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Future / Lifetime Value</a:t>
            </a:r>
            <a:endParaRPr sz="1100">
              <a:solidFill>
                <a:schemeClr val="dk1"/>
              </a:solidFill>
              <a:latin typeface="Century Gothic"/>
              <a:ea typeface="Century Gothic"/>
              <a:cs typeface="Century Gothic"/>
              <a:sym typeface="Century Gothic"/>
            </a:endParaRPr>
          </a:p>
        </p:txBody>
      </p:sp>
      <p:sp>
        <p:nvSpPr>
          <p:cNvPr id="3996" name="Google Shape;3996;p215">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Profitability Analytics and Optimisation</a:t>
            </a:r>
            <a:endParaRPr sz="1100">
              <a:solidFill>
                <a:schemeClr val="dk1"/>
              </a:solidFill>
              <a:latin typeface="Century Gothic"/>
              <a:ea typeface="Century Gothic"/>
              <a:cs typeface="Century Gothic"/>
              <a:sym typeface="Century Gothic"/>
            </a:endParaRPr>
          </a:p>
        </p:txBody>
      </p:sp>
      <p:sp>
        <p:nvSpPr>
          <p:cNvPr id="3997" name="Google Shape;3997;p215">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Pricing Analysis &amp; Optimisation</a:t>
            </a:r>
            <a:endParaRPr sz="1100">
              <a:solidFill>
                <a:schemeClr val="dk1"/>
              </a:solidFill>
              <a:latin typeface="Century Gothic"/>
              <a:ea typeface="Century Gothic"/>
              <a:cs typeface="Century Gothic"/>
              <a:sym typeface="Century Gothic"/>
            </a:endParaRPr>
          </a:p>
        </p:txBody>
      </p:sp>
      <p:sp>
        <p:nvSpPr>
          <p:cNvPr id="3998" name="Google Shape;3998;p215">
            <a:hlinkClick action="ppaction://hlinksldjump" r:id="rId12"/>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Performance Management and KPIs</a:t>
            </a:r>
            <a:endParaRPr sz="1100">
              <a:solidFill>
                <a:schemeClr val="dk1"/>
              </a:solidFill>
              <a:latin typeface="Century Gothic"/>
              <a:ea typeface="Century Gothic"/>
              <a:cs typeface="Century Gothic"/>
              <a:sym typeface="Century Gothic"/>
            </a:endParaRPr>
          </a:p>
        </p:txBody>
      </p:sp>
      <p:sp>
        <p:nvSpPr>
          <p:cNvPr id="3999" name="Google Shape;3999;p215">
            <a:hlinkClick action="ppaction://hlinksldjump" r:id="rId13"/>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Inventory Analytics</a:t>
            </a:r>
            <a:endParaRPr sz="1100">
              <a:solidFill>
                <a:schemeClr val="dk1"/>
              </a:solidFill>
              <a:latin typeface="Century Gothic"/>
              <a:ea typeface="Century Gothic"/>
              <a:cs typeface="Century Gothic"/>
              <a:sym typeface="Century Gothic"/>
            </a:endParaRPr>
          </a:p>
        </p:txBody>
      </p:sp>
      <p:sp>
        <p:nvSpPr>
          <p:cNvPr id="4000" name="Google Shape;4000;p215">
            <a:hlinkClick action="ppaction://hlinksldjump" r:id="rId14"/>
          </p:cNvPr>
          <p:cNvSpPr/>
          <p:nvPr/>
        </p:nvSpPr>
        <p:spPr>
          <a:xfrm>
            <a:off x="2099732" y="364470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Financial Budgeting, Planning &amp; Forecasting</a:t>
            </a:r>
            <a:endParaRPr sz="1100">
              <a:solidFill>
                <a:schemeClr val="dk1"/>
              </a:solidFill>
              <a:latin typeface="Century Gothic"/>
              <a:ea typeface="Century Gothic"/>
              <a:cs typeface="Century Gothic"/>
              <a:sym typeface="Century Gothic"/>
            </a:endParaRPr>
          </a:p>
        </p:txBody>
      </p:sp>
      <p:sp>
        <p:nvSpPr>
          <p:cNvPr id="4001" name="Google Shape;4001;p215">
            <a:hlinkClick action="ppaction://hlinksldjump" r:id="rId15"/>
          </p:cNvPr>
          <p:cNvSpPr/>
          <p:nvPr/>
        </p:nvSpPr>
        <p:spPr>
          <a:xfrm>
            <a:off x="4290976" y="364470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Business Process Analytics &amp; Optimisation</a:t>
            </a:r>
            <a:endParaRPr sz="1100">
              <a:solidFill>
                <a:schemeClr val="dk1"/>
              </a:solidFill>
              <a:latin typeface="Century Gothic"/>
              <a:ea typeface="Century Gothic"/>
              <a:cs typeface="Century Gothic"/>
              <a:sym typeface="Century Gothic"/>
            </a:endParaRPr>
          </a:p>
        </p:txBody>
      </p:sp>
      <p:sp>
        <p:nvSpPr>
          <p:cNvPr id="4002" name="Google Shape;4002;p215"/>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Sophisticated modelling and analysis to measure, monitor and improve performance</a:t>
            </a:r>
            <a:endParaRPr sz="1600"/>
          </a:p>
        </p:txBody>
      </p:sp>
      <p:sp>
        <p:nvSpPr>
          <p:cNvPr id="4003" name="Google Shape;4003;p215"/>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4004" name="Google Shape;4004;p215"/>
          <p:cNvGrpSpPr/>
          <p:nvPr/>
        </p:nvGrpSpPr>
        <p:grpSpPr>
          <a:xfrm>
            <a:off x="7717533" y="4360377"/>
            <a:ext cx="1058348" cy="347375"/>
            <a:chOff x="7651698" y="4287227"/>
            <a:chExt cx="1058348" cy="347375"/>
          </a:xfrm>
        </p:grpSpPr>
        <p:grpSp>
          <p:nvGrpSpPr>
            <p:cNvPr id="4005" name="Google Shape;4005;p215"/>
            <p:cNvGrpSpPr/>
            <p:nvPr/>
          </p:nvGrpSpPr>
          <p:grpSpPr>
            <a:xfrm>
              <a:off x="7714163" y="4337598"/>
              <a:ext cx="995883" cy="297004"/>
              <a:chOff x="7711013" y="3986494"/>
              <a:chExt cx="995883" cy="297004"/>
            </a:xfrm>
          </p:grpSpPr>
          <p:sp>
            <p:nvSpPr>
              <p:cNvPr id="4006" name="Google Shape;4006;p21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07" name="Google Shape;4007;p215"/>
              <p:cNvGrpSpPr/>
              <p:nvPr/>
            </p:nvGrpSpPr>
            <p:grpSpPr>
              <a:xfrm>
                <a:off x="7711013" y="4002615"/>
                <a:ext cx="281520" cy="241973"/>
                <a:chOff x="5652748" y="4066000"/>
                <a:chExt cx="906498" cy="747974"/>
              </a:xfrm>
            </p:grpSpPr>
            <p:sp>
              <p:nvSpPr>
                <p:cNvPr id="4008" name="Google Shape;4008;p21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09" name="Google Shape;4009;p21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10" name="Google Shape;4010;p21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011" name="Google Shape;4011;p215">
              <a:hlinkClick action="ppaction://hlinksldjump" r:id="rId1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012" name="Google Shape;4012;p215">
            <a:hlinkClick action="ppaction://hlinksldjump" r:id="rId1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17" name="Shape 4017"/>
        <p:cNvGrpSpPr/>
        <p:nvPr/>
      </p:nvGrpSpPr>
      <p:grpSpPr>
        <a:xfrm>
          <a:off x="0" y="0"/>
          <a:ext cx="0" cy="0"/>
          <a:chOff x="0" y="0"/>
          <a:chExt cx="0" cy="0"/>
        </a:xfrm>
      </p:grpSpPr>
      <p:sp>
        <p:nvSpPr>
          <p:cNvPr id="4018" name="Google Shape;4018;p216"/>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19" name="Google Shape;4019;p216">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Treasury</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Insight &amp; Management</a:t>
            </a:r>
            <a:endParaRPr sz="1100">
              <a:solidFill>
                <a:srgbClr val="FFFFFF"/>
              </a:solidFill>
              <a:latin typeface="Century Gothic"/>
              <a:ea typeface="Century Gothic"/>
              <a:cs typeface="Century Gothic"/>
              <a:sym typeface="Century Gothic"/>
            </a:endParaRPr>
          </a:p>
        </p:txBody>
      </p:sp>
      <p:sp>
        <p:nvSpPr>
          <p:cNvPr id="4020" name="Google Shape;4020;p21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021" name="Google Shape;4021;p216">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022" name="Google Shape;4022;p21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Cashflow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Generation</a:t>
            </a:r>
            <a:endParaRPr sz="1100">
              <a:solidFill>
                <a:schemeClr val="dk1"/>
              </a:solidFill>
              <a:latin typeface="Century Gothic"/>
              <a:ea typeface="Century Gothic"/>
              <a:cs typeface="Century Gothic"/>
              <a:sym typeface="Century Gothic"/>
            </a:endParaRPr>
          </a:p>
        </p:txBody>
      </p:sp>
      <p:sp>
        <p:nvSpPr>
          <p:cNvPr id="4023" name="Google Shape;4023;p216">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Liquidity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Management</a:t>
            </a:r>
            <a:endParaRPr sz="1100">
              <a:solidFill>
                <a:schemeClr val="dk1"/>
              </a:solidFill>
              <a:latin typeface="Century Gothic"/>
              <a:ea typeface="Century Gothic"/>
              <a:cs typeface="Century Gothic"/>
              <a:sym typeface="Century Gothic"/>
            </a:endParaRPr>
          </a:p>
        </p:txBody>
      </p:sp>
      <p:sp>
        <p:nvSpPr>
          <p:cNvPr id="4024" name="Google Shape;4024;p216">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Capital Planning and Management</a:t>
            </a:r>
            <a:endParaRPr sz="1100">
              <a:solidFill>
                <a:schemeClr val="dk1"/>
              </a:solidFill>
              <a:latin typeface="Century Gothic"/>
              <a:ea typeface="Century Gothic"/>
              <a:cs typeface="Century Gothic"/>
              <a:sym typeface="Century Gothic"/>
            </a:endParaRPr>
          </a:p>
        </p:txBody>
      </p:sp>
      <p:sp>
        <p:nvSpPr>
          <p:cNvPr id="4025" name="Google Shape;4025;p216">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Asset &amp; Liability Management</a:t>
            </a:r>
            <a:endParaRPr sz="1100">
              <a:solidFill>
                <a:schemeClr val="dk1"/>
              </a:solidFill>
              <a:latin typeface="Century Gothic"/>
              <a:ea typeface="Century Gothic"/>
              <a:cs typeface="Century Gothic"/>
              <a:sym typeface="Century Gothic"/>
            </a:endParaRPr>
          </a:p>
        </p:txBody>
      </p:sp>
      <p:sp>
        <p:nvSpPr>
          <p:cNvPr id="4026" name="Google Shape;4026;p216">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Funds Transfer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Pricing</a:t>
            </a:r>
            <a:endParaRPr sz="1100">
              <a:solidFill>
                <a:schemeClr val="dk1"/>
              </a:solidFill>
              <a:latin typeface="Century Gothic"/>
              <a:ea typeface="Century Gothic"/>
              <a:cs typeface="Century Gothic"/>
              <a:sym typeface="Century Gothic"/>
            </a:endParaRPr>
          </a:p>
        </p:txBody>
      </p:sp>
      <p:sp>
        <p:nvSpPr>
          <p:cNvPr id="4027" name="Google Shape;4027;p216">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FX &amp; Trading Book Management</a:t>
            </a:r>
            <a:endParaRPr sz="1100">
              <a:solidFill>
                <a:schemeClr val="dk1"/>
              </a:solidFill>
              <a:latin typeface="Century Gothic"/>
              <a:ea typeface="Century Gothic"/>
              <a:cs typeface="Century Gothic"/>
              <a:sym typeface="Century Gothic"/>
            </a:endParaRPr>
          </a:p>
        </p:txBody>
      </p:sp>
      <p:sp>
        <p:nvSpPr>
          <p:cNvPr id="4028" name="Google Shape;4028;p216">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Interest Rate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Management </a:t>
            </a:r>
            <a:endParaRPr sz="1100">
              <a:solidFill>
                <a:schemeClr val="dk1"/>
              </a:solidFill>
              <a:latin typeface="Century Gothic"/>
              <a:ea typeface="Century Gothic"/>
              <a:cs typeface="Century Gothic"/>
              <a:sym typeface="Century Gothic"/>
            </a:endParaRPr>
          </a:p>
        </p:txBody>
      </p:sp>
      <p:sp>
        <p:nvSpPr>
          <p:cNvPr id="4029" name="Google Shape;4029;p216"/>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Efficient Treasury processes supported by integrated data &amp; analytical capabilities</a:t>
            </a:r>
            <a:endParaRPr sz="1600"/>
          </a:p>
        </p:txBody>
      </p:sp>
      <p:sp>
        <p:nvSpPr>
          <p:cNvPr id="4030" name="Google Shape;4030;p21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4031" name="Google Shape;4031;p216"/>
          <p:cNvGrpSpPr/>
          <p:nvPr/>
        </p:nvGrpSpPr>
        <p:grpSpPr>
          <a:xfrm>
            <a:off x="7717533" y="4360377"/>
            <a:ext cx="1058348" cy="347375"/>
            <a:chOff x="7651698" y="4287227"/>
            <a:chExt cx="1058348" cy="347375"/>
          </a:xfrm>
        </p:grpSpPr>
        <p:grpSp>
          <p:nvGrpSpPr>
            <p:cNvPr id="4032" name="Google Shape;4032;p216"/>
            <p:cNvGrpSpPr/>
            <p:nvPr/>
          </p:nvGrpSpPr>
          <p:grpSpPr>
            <a:xfrm>
              <a:off x="7714163" y="4337598"/>
              <a:ext cx="995883" cy="297004"/>
              <a:chOff x="7711013" y="3986494"/>
              <a:chExt cx="995883" cy="297004"/>
            </a:xfrm>
          </p:grpSpPr>
          <p:sp>
            <p:nvSpPr>
              <p:cNvPr id="4033" name="Google Shape;4033;p21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34" name="Google Shape;4034;p216"/>
              <p:cNvGrpSpPr/>
              <p:nvPr/>
            </p:nvGrpSpPr>
            <p:grpSpPr>
              <a:xfrm>
                <a:off x="7711013" y="4002615"/>
                <a:ext cx="281520" cy="241973"/>
                <a:chOff x="5652748" y="4066000"/>
                <a:chExt cx="906498" cy="747974"/>
              </a:xfrm>
            </p:grpSpPr>
            <p:sp>
              <p:nvSpPr>
                <p:cNvPr id="4035" name="Google Shape;4035;p21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36" name="Google Shape;4036;p21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37" name="Google Shape;4037;p21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038" name="Google Shape;4038;p216">
              <a:hlinkClick action="ppaction://hlinksldjump" r:id="rId12"/>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039" name="Google Shape;4039;p216">
            <a:hlinkClick action="ppaction://hlinksldjump" r:id="rId13"/>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44" name="Shape 4044"/>
        <p:cNvGrpSpPr/>
        <p:nvPr/>
      </p:nvGrpSpPr>
      <p:grpSpPr>
        <a:xfrm>
          <a:off x="0" y="0"/>
          <a:ext cx="0" cy="0"/>
          <a:chOff x="0" y="0"/>
          <a:chExt cx="0" cy="0"/>
        </a:xfrm>
      </p:grpSpPr>
      <p:sp>
        <p:nvSpPr>
          <p:cNvPr id="4045" name="Google Shape;4045;p217"/>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46" name="Google Shape;4046;p217">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Reporting</a:t>
            </a:r>
            <a:endParaRPr sz="1100">
              <a:solidFill>
                <a:srgbClr val="FFFFFF"/>
              </a:solidFill>
              <a:latin typeface="Century Gothic"/>
              <a:ea typeface="Century Gothic"/>
              <a:cs typeface="Century Gothic"/>
              <a:sym typeface="Century Gothic"/>
            </a:endParaRPr>
          </a:p>
        </p:txBody>
      </p:sp>
      <p:sp>
        <p:nvSpPr>
          <p:cNvPr id="4047" name="Google Shape;4047;p21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048" name="Google Shape;4048;p217">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049" name="Google Shape;4049;p217">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Statutory Financial</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Reporting</a:t>
            </a:r>
            <a:endParaRPr sz="1100">
              <a:solidFill>
                <a:schemeClr val="dk1"/>
              </a:solidFill>
              <a:latin typeface="Century Gothic"/>
              <a:ea typeface="Century Gothic"/>
              <a:cs typeface="Century Gothic"/>
              <a:sym typeface="Century Gothic"/>
            </a:endParaRPr>
          </a:p>
        </p:txBody>
      </p:sp>
      <p:sp>
        <p:nvSpPr>
          <p:cNvPr id="4050" name="Google Shape;4050;p217">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Regulatory &amp; Compliance Reporting</a:t>
            </a:r>
            <a:endParaRPr sz="1100">
              <a:solidFill>
                <a:schemeClr val="dk1"/>
              </a:solidFill>
              <a:latin typeface="Century Gothic"/>
              <a:ea typeface="Century Gothic"/>
              <a:cs typeface="Century Gothic"/>
              <a:sym typeface="Century Gothic"/>
            </a:endParaRPr>
          </a:p>
        </p:txBody>
      </p:sp>
      <p:sp>
        <p:nvSpPr>
          <p:cNvPr id="4051" name="Google Shape;4051;p217">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Sales Reporting</a:t>
            </a:r>
            <a:endParaRPr sz="1100">
              <a:solidFill>
                <a:schemeClr val="dk1"/>
              </a:solidFill>
              <a:latin typeface="Century Gothic"/>
              <a:ea typeface="Century Gothic"/>
              <a:cs typeface="Century Gothic"/>
              <a:sym typeface="Century Gothic"/>
            </a:endParaRPr>
          </a:p>
        </p:txBody>
      </p:sp>
      <p:sp>
        <p:nvSpPr>
          <p:cNvPr id="4052" name="Google Shape;4052;p217">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Performance Reporting</a:t>
            </a:r>
            <a:endParaRPr sz="1100">
              <a:solidFill>
                <a:schemeClr val="dk1"/>
              </a:solidFill>
              <a:latin typeface="Century Gothic"/>
              <a:ea typeface="Century Gothic"/>
              <a:cs typeface="Century Gothic"/>
              <a:sym typeface="Century Gothic"/>
            </a:endParaRPr>
          </a:p>
        </p:txBody>
      </p:sp>
      <p:sp>
        <p:nvSpPr>
          <p:cNvPr id="4053" name="Google Shape;4053;p217">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Exception Reporting</a:t>
            </a:r>
            <a:endParaRPr sz="1100">
              <a:solidFill>
                <a:schemeClr val="dk1"/>
              </a:solidFill>
              <a:latin typeface="Century Gothic"/>
              <a:ea typeface="Century Gothic"/>
              <a:cs typeface="Century Gothic"/>
              <a:sym typeface="Century Gothic"/>
            </a:endParaRPr>
          </a:p>
        </p:txBody>
      </p:sp>
      <p:sp>
        <p:nvSpPr>
          <p:cNvPr id="4054" name="Google Shape;4054;p217">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Executive Dashboards</a:t>
            </a:r>
            <a:endParaRPr sz="1100">
              <a:solidFill>
                <a:schemeClr val="dk1"/>
              </a:solidFill>
              <a:latin typeface="Century Gothic"/>
              <a:ea typeface="Century Gothic"/>
              <a:cs typeface="Century Gothic"/>
              <a:sym typeface="Century Gothic"/>
            </a:endParaRPr>
          </a:p>
        </p:txBody>
      </p:sp>
      <p:sp>
        <p:nvSpPr>
          <p:cNvPr id="4055" name="Google Shape;4055;p217"/>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Efficient financial and performance reporting processes based on granular and integrated data</a:t>
            </a:r>
            <a:endParaRPr sz="1600"/>
          </a:p>
        </p:txBody>
      </p:sp>
      <p:sp>
        <p:nvSpPr>
          <p:cNvPr id="4056" name="Google Shape;4056;p217"/>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4057" name="Google Shape;4057;p217"/>
          <p:cNvGrpSpPr/>
          <p:nvPr/>
        </p:nvGrpSpPr>
        <p:grpSpPr>
          <a:xfrm>
            <a:off x="7717533" y="4360377"/>
            <a:ext cx="1058348" cy="347375"/>
            <a:chOff x="7651698" y="4287227"/>
            <a:chExt cx="1058348" cy="347375"/>
          </a:xfrm>
        </p:grpSpPr>
        <p:grpSp>
          <p:nvGrpSpPr>
            <p:cNvPr id="4058" name="Google Shape;4058;p217"/>
            <p:cNvGrpSpPr/>
            <p:nvPr/>
          </p:nvGrpSpPr>
          <p:grpSpPr>
            <a:xfrm>
              <a:off x="7714163" y="4337598"/>
              <a:ext cx="995883" cy="297004"/>
              <a:chOff x="7711013" y="3986494"/>
              <a:chExt cx="995883" cy="297004"/>
            </a:xfrm>
          </p:grpSpPr>
          <p:sp>
            <p:nvSpPr>
              <p:cNvPr id="4059" name="Google Shape;4059;p21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60" name="Google Shape;4060;p217"/>
              <p:cNvGrpSpPr/>
              <p:nvPr/>
            </p:nvGrpSpPr>
            <p:grpSpPr>
              <a:xfrm>
                <a:off x="7711013" y="4002615"/>
                <a:ext cx="281520" cy="241973"/>
                <a:chOff x="5652748" y="4066000"/>
                <a:chExt cx="906498" cy="747974"/>
              </a:xfrm>
            </p:grpSpPr>
            <p:sp>
              <p:nvSpPr>
                <p:cNvPr id="4061" name="Google Shape;4061;p21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62" name="Google Shape;4062;p21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63" name="Google Shape;4063;p21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064" name="Google Shape;4064;p217">
              <a:hlinkClick action="ppaction://hlinksldjump" r:id="rId11"/>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065" name="Google Shape;4065;p217">
            <a:hlinkClick action="ppaction://hlinksldjump" r:id="rId1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70" name="Shape 4070"/>
        <p:cNvGrpSpPr/>
        <p:nvPr/>
      </p:nvGrpSpPr>
      <p:grpSpPr>
        <a:xfrm>
          <a:off x="0" y="0"/>
          <a:ext cx="0" cy="0"/>
          <a:chOff x="0" y="0"/>
          <a:chExt cx="0" cy="0"/>
        </a:xfrm>
      </p:grpSpPr>
      <p:sp>
        <p:nvSpPr>
          <p:cNvPr id="4071" name="Google Shape;4071;p218"/>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2" name="Google Shape;4072;p218">
            <a:hlinkClick action="ppaction://hlinksldjump" r:id="rId3"/>
          </p:cNvPr>
          <p:cNvSpPr/>
          <p:nvPr/>
        </p:nvSpPr>
        <p:spPr>
          <a:xfrm>
            <a:off x="565902" y="1692116"/>
            <a:ext cx="1395519" cy="2123476"/>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Accounting</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Operations</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and Close</a:t>
            </a:r>
            <a:endParaRPr sz="1100">
              <a:solidFill>
                <a:srgbClr val="FFFFFF"/>
              </a:solidFill>
              <a:latin typeface="Century Gothic"/>
              <a:ea typeface="Century Gothic"/>
              <a:cs typeface="Century Gothic"/>
              <a:sym typeface="Century Gothic"/>
            </a:endParaRPr>
          </a:p>
        </p:txBody>
      </p:sp>
      <p:sp>
        <p:nvSpPr>
          <p:cNvPr id="4073" name="Google Shape;4073;p218">
            <a:hlinkClick action="ppaction://hlinksldjump" r:id="rId4"/>
          </p:cNvPr>
          <p:cNvSpPr/>
          <p:nvPr/>
        </p:nvSpPr>
        <p:spPr>
          <a:xfrm>
            <a:off x="537828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Accelerated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Financial Data Acquisition</a:t>
            </a:r>
            <a:endParaRPr sz="700">
              <a:solidFill>
                <a:schemeClr val="dk1"/>
              </a:solidFill>
              <a:latin typeface="Century Gothic"/>
              <a:ea typeface="Century Gothic"/>
              <a:cs typeface="Century Gothic"/>
              <a:sym typeface="Century Gothic"/>
            </a:endParaRPr>
          </a:p>
        </p:txBody>
      </p:sp>
      <p:sp>
        <p:nvSpPr>
          <p:cNvPr id="4074" name="Google Shape;4074;p218"/>
          <p:cNvSpPr/>
          <p:nvPr/>
        </p:nvSpPr>
        <p:spPr>
          <a:xfrm rot="5400000">
            <a:off x="5365283" y="3450790"/>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5" name="Google Shape;4075;p218">
            <a:hlinkClick action="ppaction://hlinksldjump" r:id="rId5"/>
          </p:cNvPr>
          <p:cNvSpPr/>
          <p:nvPr/>
        </p:nvSpPr>
        <p:spPr>
          <a:xfrm>
            <a:off x="3738291"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Close Process Optimisation</a:t>
            </a:r>
            <a:endParaRPr sz="700">
              <a:solidFill>
                <a:schemeClr val="dk1"/>
              </a:solidFill>
              <a:latin typeface="Century Gothic"/>
              <a:ea typeface="Century Gothic"/>
              <a:cs typeface="Century Gothic"/>
              <a:sym typeface="Century Gothic"/>
            </a:endParaRPr>
          </a:p>
        </p:txBody>
      </p:sp>
      <p:sp>
        <p:nvSpPr>
          <p:cNvPr id="4076" name="Google Shape;4076;p218"/>
          <p:cNvSpPr/>
          <p:nvPr/>
        </p:nvSpPr>
        <p:spPr>
          <a:xfrm rot="5400000">
            <a:off x="3722749" y="3450790"/>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7" name="Google Shape;4077;p218">
            <a:hlinkClick action="ppaction://hlinksldjump" r:id="rId6"/>
          </p:cNvPr>
          <p:cNvSpPr/>
          <p:nvPr/>
        </p:nvSpPr>
        <p:spPr>
          <a:xfrm>
            <a:off x="2100620"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Consolidation Optimisation</a:t>
            </a:r>
            <a:endParaRPr sz="700">
              <a:solidFill>
                <a:schemeClr val="dk1"/>
              </a:solidFill>
              <a:latin typeface="Century Gothic"/>
              <a:ea typeface="Century Gothic"/>
              <a:cs typeface="Century Gothic"/>
              <a:sym typeface="Century Gothic"/>
            </a:endParaRPr>
          </a:p>
        </p:txBody>
      </p:sp>
      <p:sp>
        <p:nvSpPr>
          <p:cNvPr id="4078" name="Google Shape;4078;p218"/>
          <p:cNvSpPr/>
          <p:nvPr/>
        </p:nvSpPr>
        <p:spPr>
          <a:xfrm rot="5400000">
            <a:off x="2084235" y="3448052"/>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9" name="Google Shape;4079;p218">
            <a:hlinkClick action="ppaction://hlinksldjump" r:id="rId7"/>
          </p:cNvPr>
          <p:cNvSpPr/>
          <p:nvPr/>
        </p:nvSpPr>
        <p:spPr>
          <a:xfrm>
            <a:off x="7018020"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Reconciliation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Process</a:t>
            </a:r>
            <a:endParaRPr sz="700">
              <a:solidFill>
                <a:schemeClr val="dk1"/>
              </a:solidFill>
              <a:latin typeface="Century Gothic"/>
              <a:ea typeface="Century Gothic"/>
              <a:cs typeface="Century Gothic"/>
              <a:sym typeface="Century Gothic"/>
            </a:endParaRPr>
          </a:p>
        </p:txBody>
      </p:sp>
      <p:sp>
        <p:nvSpPr>
          <p:cNvPr id="4080" name="Google Shape;4080;p218"/>
          <p:cNvSpPr/>
          <p:nvPr/>
        </p:nvSpPr>
        <p:spPr>
          <a:xfrm rot="5400000">
            <a:off x="6999094" y="270572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1" name="Google Shape;4081;p218">
            <a:hlinkClick action="ppaction://hlinksldjump" r:id="rId8"/>
          </p:cNvPr>
          <p:cNvSpPr/>
          <p:nvPr/>
        </p:nvSpPr>
        <p:spPr>
          <a:xfrm>
            <a:off x="537210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Asset Backed Securitisation</a:t>
            </a:r>
            <a:endParaRPr sz="1000">
              <a:solidFill>
                <a:schemeClr val="dk1"/>
              </a:solidFill>
              <a:latin typeface="Century Gothic"/>
              <a:ea typeface="Century Gothic"/>
              <a:cs typeface="Century Gothic"/>
              <a:sym typeface="Century Gothic"/>
            </a:endParaRPr>
          </a:p>
        </p:txBody>
      </p:sp>
      <p:sp>
        <p:nvSpPr>
          <p:cNvPr id="4082" name="Google Shape;4082;p218"/>
          <p:cNvSpPr/>
          <p:nvPr/>
        </p:nvSpPr>
        <p:spPr>
          <a:xfrm rot="5400000">
            <a:off x="5356559" y="270572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3" name="Google Shape;4083;p218">
            <a:hlinkClick action="ppaction://hlinksldjump" r:id="rId9"/>
          </p:cNvPr>
          <p:cNvSpPr/>
          <p:nvPr/>
        </p:nvSpPr>
        <p:spPr>
          <a:xfrm>
            <a:off x="373829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Fixed Asset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Utilisation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Optimisation</a:t>
            </a:r>
            <a:endParaRPr sz="1000">
              <a:solidFill>
                <a:schemeClr val="dk1"/>
              </a:solidFill>
              <a:latin typeface="Century Gothic"/>
              <a:ea typeface="Century Gothic"/>
              <a:cs typeface="Century Gothic"/>
              <a:sym typeface="Century Gothic"/>
            </a:endParaRPr>
          </a:p>
        </p:txBody>
      </p:sp>
      <p:sp>
        <p:nvSpPr>
          <p:cNvPr id="4084" name="Google Shape;4084;p218"/>
          <p:cNvSpPr/>
          <p:nvPr/>
        </p:nvSpPr>
        <p:spPr>
          <a:xfrm rot="5400000">
            <a:off x="3721906"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5" name="Google Shape;4085;p218">
            <a:hlinkClick action="ppaction://hlinksldjump" r:id="rId10"/>
          </p:cNvPr>
          <p:cNvSpPr/>
          <p:nvPr/>
        </p:nvSpPr>
        <p:spPr>
          <a:xfrm>
            <a:off x="2098298"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Valuation of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Intangible Assets</a:t>
            </a:r>
            <a:endParaRPr sz="1000">
              <a:solidFill>
                <a:schemeClr val="dk1"/>
              </a:solidFill>
              <a:latin typeface="Century Gothic"/>
              <a:ea typeface="Century Gothic"/>
              <a:cs typeface="Century Gothic"/>
              <a:sym typeface="Century Gothic"/>
            </a:endParaRPr>
          </a:p>
        </p:txBody>
      </p:sp>
      <p:sp>
        <p:nvSpPr>
          <p:cNvPr id="4086" name="Google Shape;4086;p218"/>
          <p:cNvSpPr/>
          <p:nvPr/>
        </p:nvSpPr>
        <p:spPr>
          <a:xfrm rot="5400000">
            <a:off x="2079372"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7" name="Google Shape;4087;p218">
            <a:hlinkClick action="ppaction://hlinksldjump" r:id="rId11"/>
          </p:cNvPr>
          <p:cNvSpPr/>
          <p:nvPr/>
        </p:nvSpPr>
        <p:spPr>
          <a:xfrm>
            <a:off x="7012095"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Accounting Hub / Subledger</a:t>
            </a:r>
            <a:endParaRPr sz="1000">
              <a:solidFill>
                <a:schemeClr val="dk1"/>
              </a:solidFill>
              <a:latin typeface="Century Gothic"/>
              <a:ea typeface="Century Gothic"/>
              <a:cs typeface="Century Gothic"/>
              <a:sym typeface="Century Gothic"/>
            </a:endParaRPr>
          </a:p>
        </p:txBody>
      </p:sp>
      <p:sp>
        <p:nvSpPr>
          <p:cNvPr id="4088" name="Google Shape;4088;p218"/>
          <p:cNvSpPr/>
          <p:nvPr/>
        </p:nvSpPr>
        <p:spPr>
          <a:xfrm rot="5400000">
            <a:off x="6999094" y="1960303"/>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9" name="Google Shape;4089;p218">
            <a:hlinkClick action="ppaction://hlinksldjump" r:id="rId12"/>
          </p:cNvPr>
          <p:cNvSpPr/>
          <p:nvPr/>
        </p:nvSpPr>
        <p:spPr>
          <a:xfrm>
            <a:off x="537210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Procure to Pay Optimisation</a:t>
            </a:r>
            <a:endParaRPr sz="1000">
              <a:solidFill>
                <a:schemeClr val="dk1"/>
              </a:solidFill>
              <a:latin typeface="Century Gothic"/>
              <a:ea typeface="Century Gothic"/>
              <a:cs typeface="Century Gothic"/>
              <a:sym typeface="Century Gothic"/>
            </a:endParaRPr>
          </a:p>
        </p:txBody>
      </p:sp>
      <p:sp>
        <p:nvSpPr>
          <p:cNvPr id="4090" name="Google Shape;4090;p218"/>
          <p:cNvSpPr/>
          <p:nvPr/>
        </p:nvSpPr>
        <p:spPr>
          <a:xfrm rot="5400000">
            <a:off x="5356560" y="1960303"/>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91" name="Google Shape;4091;p218">
            <a:hlinkClick action="ppaction://hlinksldjump" r:id="rId13"/>
          </p:cNvPr>
          <p:cNvSpPr/>
          <p:nvPr/>
        </p:nvSpPr>
        <p:spPr>
          <a:xfrm>
            <a:off x="3734906"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Payables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Analytics</a:t>
            </a:r>
            <a:endParaRPr sz="1000">
              <a:solidFill>
                <a:schemeClr val="dk1"/>
              </a:solidFill>
              <a:latin typeface="Century Gothic"/>
              <a:ea typeface="Century Gothic"/>
              <a:cs typeface="Century Gothic"/>
              <a:sym typeface="Century Gothic"/>
            </a:endParaRPr>
          </a:p>
        </p:txBody>
      </p:sp>
      <p:sp>
        <p:nvSpPr>
          <p:cNvPr id="4092" name="Google Shape;4092;p218"/>
          <p:cNvSpPr/>
          <p:nvPr/>
        </p:nvSpPr>
        <p:spPr>
          <a:xfrm rot="5400000">
            <a:off x="3715980"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93" name="Google Shape;4093;p218">
            <a:hlinkClick action="ppaction://hlinksldjump" r:id="rId14"/>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Vendor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Analytics</a:t>
            </a:r>
            <a:endParaRPr sz="1000">
              <a:solidFill>
                <a:schemeClr val="dk1"/>
              </a:solidFill>
              <a:latin typeface="Century Gothic"/>
              <a:ea typeface="Century Gothic"/>
              <a:cs typeface="Century Gothic"/>
              <a:sym typeface="Century Gothic"/>
            </a:endParaRPr>
          </a:p>
        </p:txBody>
      </p:sp>
      <p:sp>
        <p:nvSpPr>
          <p:cNvPr id="4094" name="Google Shape;4094;p218"/>
          <p:cNvSpPr/>
          <p:nvPr/>
        </p:nvSpPr>
        <p:spPr>
          <a:xfrm rot="5400000">
            <a:off x="2081913"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95" name="Google Shape;4095;p218">
            <a:hlinkClick action="ppaction://hlinksldjump" r:id="rId15"/>
          </p:cNvPr>
          <p:cNvSpPr/>
          <p:nvPr/>
        </p:nvSpPr>
        <p:spPr>
          <a:xfrm rot="5400000">
            <a:off x="5217274"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218"/>
          <p:cNvSpPr txBox="1"/>
          <p:nvPr/>
        </p:nvSpPr>
        <p:spPr>
          <a:xfrm>
            <a:off x="5021592"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3</a:t>
            </a:r>
            <a:endParaRPr/>
          </a:p>
        </p:txBody>
      </p:sp>
      <p:sp>
        <p:nvSpPr>
          <p:cNvPr id="4097" name="Google Shape;4097;p21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grpSp>
        <p:nvGrpSpPr>
          <p:cNvPr id="4098" name="Google Shape;4098;p218"/>
          <p:cNvGrpSpPr/>
          <p:nvPr/>
        </p:nvGrpSpPr>
        <p:grpSpPr>
          <a:xfrm>
            <a:off x="2100364" y="1348315"/>
            <a:ext cx="281520" cy="241973"/>
            <a:chOff x="5652748" y="4066000"/>
            <a:chExt cx="906498" cy="747974"/>
          </a:xfrm>
        </p:grpSpPr>
        <p:sp>
          <p:nvSpPr>
            <p:cNvPr id="4099" name="Google Shape;4099;p21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100" name="Google Shape;4100;p21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01" name="Google Shape;4101;p21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4102" name="Google Shape;4102;p21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4103" name="Google Shape;4103;p218"/>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4104" name="Google Shape;4104;p218"/>
          <p:cNvSpPr/>
          <p:nvPr/>
        </p:nvSpPr>
        <p:spPr>
          <a:xfrm>
            <a:off x="2100364" y="-1058898"/>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05" name="Google Shape;4105;p218"/>
          <p:cNvSpPr/>
          <p:nvPr/>
        </p:nvSpPr>
        <p:spPr>
          <a:xfrm rot="5400000">
            <a:off x="4437614" y="-10712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06" name="Google Shape;4106;p218">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11" name="Shape 4111"/>
        <p:cNvGrpSpPr/>
        <p:nvPr/>
      </p:nvGrpSpPr>
      <p:grpSpPr>
        <a:xfrm>
          <a:off x="0" y="0"/>
          <a:ext cx="0" cy="0"/>
          <a:chOff x="0" y="0"/>
          <a:chExt cx="0" cy="0"/>
        </a:xfrm>
      </p:grpSpPr>
      <p:sp>
        <p:nvSpPr>
          <p:cNvPr id="4112" name="Google Shape;4112;p219"/>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3" name="Google Shape;4113;p219">
            <a:hlinkClick action="ppaction://hlinksldjump" r:id="rId3"/>
          </p:cNvPr>
          <p:cNvSpPr/>
          <p:nvPr/>
        </p:nvSpPr>
        <p:spPr>
          <a:xfrm>
            <a:off x="701489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Budget &amp;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Forecasting Process Improvement</a:t>
            </a:r>
            <a:endParaRPr/>
          </a:p>
        </p:txBody>
      </p:sp>
      <p:sp>
        <p:nvSpPr>
          <p:cNvPr id="4114" name="Google Shape;4114;p219"/>
          <p:cNvSpPr/>
          <p:nvPr/>
        </p:nvSpPr>
        <p:spPr>
          <a:xfrm rot="5400000">
            <a:off x="6998507"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5" name="Google Shape;4115;p219">
            <a:hlinkClick action="ppaction://hlinksldjump" r:id="rId4"/>
          </p:cNvPr>
          <p:cNvSpPr/>
          <p:nvPr/>
        </p:nvSpPr>
        <p:spPr>
          <a:xfrm>
            <a:off x="5374899"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Performance Management &amp; KPI Factory</a:t>
            </a:r>
            <a:endParaRPr/>
          </a:p>
        </p:txBody>
      </p:sp>
      <p:sp>
        <p:nvSpPr>
          <p:cNvPr id="4116" name="Google Shape;4116;p219"/>
          <p:cNvSpPr/>
          <p:nvPr/>
        </p:nvSpPr>
        <p:spPr>
          <a:xfrm rot="5400000">
            <a:off x="5355973"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7" name="Google Shape;4117;p219">
            <a:hlinkClick action="ppaction://hlinksldjump" r:id="rId5"/>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Individual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Loan Price Optimisation</a:t>
            </a:r>
            <a:endParaRPr/>
          </a:p>
        </p:txBody>
      </p:sp>
      <p:sp>
        <p:nvSpPr>
          <p:cNvPr id="4118" name="Google Shape;4118;p219"/>
          <p:cNvSpPr/>
          <p:nvPr/>
        </p:nvSpPr>
        <p:spPr>
          <a:xfrm rot="5400000">
            <a:off x="3721906"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9" name="Google Shape;4119;p219">
            <a:hlinkClick action="ppaction://hlinksldjump" r:id="rId6"/>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Profitability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Analytics</a:t>
            </a:r>
            <a:endParaRPr sz="1000">
              <a:solidFill>
                <a:schemeClr val="dk1"/>
              </a:solidFill>
              <a:latin typeface="Century Gothic"/>
              <a:ea typeface="Century Gothic"/>
              <a:cs typeface="Century Gothic"/>
              <a:sym typeface="Century Gothic"/>
            </a:endParaRPr>
          </a:p>
        </p:txBody>
      </p:sp>
      <p:sp>
        <p:nvSpPr>
          <p:cNvPr id="4120" name="Google Shape;4120;p219"/>
          <p:cNvSpPr/>
          <p:nvPr/>
        </p:nvSpPr>
        <p:spPr>
          <a:xfrm rot="5400000">
            <a:off x="2079372"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1" name="Google Shape;4121;p219">
            <a:hlinkClick action="ppaction://hlinksldjump" r:id="rId7"/>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Risk Adjusted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Return on Capital (RAROC)</a:t>
            </a:r>
            <a:endParaRPr/>
          </a:p>
        </p:txBody>
      </p:sp>
      <p:sp>
        <p:nvSpPr>
          <p:cNvPr id="4122" name="Google Shape;4122;p219"/>
          <p:cNvSpPr/>
          <p:nvPr/>
        </p:nvSpPr>
        <p:spPr>
          <a:xfrm rot="5400000">
            <a:off x="6998507"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3" name="Google Shape;4123;p219">
            <a:hlinkClick action="ppaction://hlinksldjump" r:id="rId8"/>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Activity Based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Costing</a:t>
            </a:r>
            <a:endParaRPr sz="1000">
              <a:solidFill>
                <a:schemeClr val="dk1"/>
              </a:solidFill>
              <a:latin typeface="Century Gothic"/>
              <a:ea typeface="Century Gothic"/>
              <a:cs typeface="Century Gothic"/>
              <a:sym typeface="Century Gothic"/>
            </a:endParaRPr>
          </a:p>
        </p:txBody>
      </p:sp>
      <p:sp>
        <p:nvSpPr>
          <p:cNvPr id="4124" name="Google Shape;4124;p219"/>
          <p:cNvSpPr/>
          <p:nvPr/>
        </p:nvSpPr>
        <p:spPr>
          <a:xfrm rot="5400000">
            <a:off x="5355973"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5" name="Google Shape;4125;p219">
            <a:hlinkClick action="ppaction://hlinksldjump" r:id="rId9"/>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HR Analytics Optimization</a:t>
            </a:r>
            <a:endParaRPr/>
          </a:p>
        </p:txBody>
      </p:sp>
      <p:sp>
        <p:nvSpPr>
          <p:cNvPr id="4126" name="Google Shape;4126;p219"/>
          <p:cNvSpPr/>
          <p:nvPr/>
        </p:nvSpPr>
        <p:spPr>
          <a:xfrm rot="5400000">
            <a:off x="3721906"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7" name="Google Shape;4127;p219">
            <a:hlinkClick action="ppaction://hlinksldjump" r:id="rId10"/>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Revenue Analytics Optimisation</a:t>
            </a:r>
            <a:endParaRPr/>
          </a:p>
        </p:txBody>
      </p:sp>
      <p:sp>
        <p:nvSpPr>
          <p:cNvPr id="4128" name="Google Shape;4128;p219"/>
          <p:cNvSpPr/>
          <p:nvPr/>
        </p:nvSpPr>
        <p:spPr>
          <a:xfrm rot="5400000">
            <a:off x="2079372"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9" name="Google Shape;4129;p219"/>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grpSp>
        <p:nvGrpSpPr>
          <p:cNvPr id="4130" name="Google Shape;4130;p219"/>
          <p:cNvGrpSpPr/>
          <p:nvPr/>
        </p:nvGrpSpPr>
        <p:grpSpPr>
          <a:xfrm>
            <a:off x="2100364" y="1348315"/>
            <a:ext cx="281520" cy="241973"/>
            <a:chOff x="5652748" y="4066000"/>
            <a:chExt cx="906498" cy="747974"/>
          </a:xfrm>
        </p:grpSpPr>
        <p:sp>
          <p:nvSpPr>
            <p:cNvPr id="4131" name="Google Shape;4131;p21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132" name="Google Shape;4132;p21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33" name="Google Shape;4133;p21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4134" name="Google Shape;4134;p219"/>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4135" name="Google Shape;4135;p219"/>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4136" name="Google Shape;4136;p219">
            <a:hlinkClick action="ppaction://hlinksldjump" r:id="rId11"/>
          </p:cNvPr>
          <p:cNvSpPr/>
          <p:nvPr/>
        </p:nvSpPr>
        <p:spPr>
          <a:xfrm flipH="1" rot="5400000">
            <a:off x="521795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219"/>
          <p:cNvSpPr txBox="1"/>
          <p:nvPr/>
        </p:nvSpPr>
        <p:spPr>
          <a:xfrm flipH="1">
            <a:off x="5022292"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3</a:t>
            </a:r>
            <a:endParaRPr/>
          </a:p>
        </p:txBody>
      </p:sp>
      <p:sp>
        <p:nvSpPr>
          <p:cNvPr id="4138" name="Google Shape;4138;p219">
            <a:hlinkClick action="ppaction://hlinksldjump" r:id="rId12"/>
          </p:cNvPr>
          <p:cNvSpPr/>
          <p:nvPr/>
        </p:nvSpPr>
        <p:spPr>
          <a:xfrm rot="5400000">
            <a:off x="521795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219"/>
          <p:cNvSpPr txBox="1"/>
          <p:nvPr/>
        </p:nvSpPr>
        <p:spPr>
          <a:xfrm>
            <a:off x="5022292"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3</a:t>
            </a:r>
            <a:endParaRPr/>
          </a:p>
        </p:txBody>
      </p:sp>
      <p:sp>
        <p:nvSpPr>
          <p:cNvPr id="4140" name="Google Shape;4140;p219">
            <a:hlinkClick action="ppaction://hlinksldjump" r:id="rId13"/>
          </p:cNvPr>
          <p:cNvSpPr/>
          <p:nvPr/>
        </p:nvSpPr>
        <p:spPr>
          <a:xfrm>
            <a:off x="565902" y="1692116"/>
            <a:ext cx="1395519" cy="138114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Enterprise Performance Management</a:t>
            </a:r>
            <a:endParaRPr sz="1100">
              <a:solidFill>
                <a:srgbClr val="FFFFFF"/>
              </a:solidFill>
              <a:latin typeface="Century Gothic"/>
              <a:ea typeface="Century Gothic"/>
              <a:cs typeface="Century Gothic"/>
              <a:sym typeface="Century Gothic"/>
            </a:endParaRPr>
          </a:p>
        </p:txBody>
      </p:sp>
      <p:sp>
        <p:nvSpPr>
          <p:cNvPr id="4141" name="Google Shape;4141;p219">
            <a:hlinkClick action="ppaction://hlinksldjump" r:id="rId14"/>
          </p:cNvPr>
          <p:cNvSpPr/>
          <p:nvPr/>
        </p:nvSpPr>
        <p:spPr>
          <a:xfrm>
            <a:off x="565902" y="3185592"/>
            <a:ext cx="1395519" cy="137232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Treasury</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Insight &amp; Management</a:t>
            </a:r>
            <a:endParaRPr sz="1100">
              <a:solidFill>
                <a:srgbClr val="FFFFFF"/>
              </a:solidFill>
              <a:latin typeface="Century Gothic"/>
              <a:ea typeface="Century Gothic"/>
              <a:cs typeface="Century Gothic"/>
              <a:sym typeface="Century Gothic"/>
            </a:endParaRPr>
          </a:p>
        </p:txBody>
      </p:sp>
      <p:sp>
        <p:nvSpPr>
          <p:cNvPr id="4142" name="Google Shape;4142;p219"/>
          <p:cNvSpPr/>
          <p:nvPr/>
        </p:nvSpPr>
        <p:spPr>
          <a:xfrm>
            <a:off x="1417678" y="-1111567"/>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43" name="Google Shape;4143;p219"/>
          <p:cNvSpPr/>
          <p:nvPr/>
        </p:nvSpPr>
        <p:spPr>
          <a:xfrm rot="5400000">
            <a:off x="4437614" y="-10712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44" name="Google Shape;4144;p219">
            <a:hlinkClick action="ppaction://hlinksldjump" r:id="rId15"/>
          </p:cNvPr>
          <p:cNvSpPr/>
          <p:nvPr/>
        </p:nvSpPr>
        <p:spPr>
          <a:xfrm>
            <a:off x="2100364" y="393674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Currency Hedge Analytics</a:t>
            </a:r>
            <a:endParaRPr/>
          </a:p>
        </p:txBody>
      </p:sp>
      <p:sp>
        <p:nvSpPr>
          <p:cNvPr id="4145" name="Google Shape;4145;p219"/>
          <p:cNvSpPr/>
          <p:nvPr/>
        </p:nvSpPr>
        <p:spPr>
          <a:xfrm rot="5400000">
            <a:off x="2087363" y="4204927"/>
            <a:ext cx="95758" cy="63500"/>
          </a:xfrm>
          <a:prstGeom prst="triangle">
            <a:avLst>
              <a:gd fmla="val 50000" name="adj"/>
            </a:avLst>
          </a:prstGeom>
          <a:solidFill>
            <a:schemeClr val="accent3"/>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46" name="Google Shape;4146;p219">
            <a:hlinkClick action="ppaction://hlinksldjump" r:id="rId16"/>
          </p:cNvPr>
          <p:cNvSpPr/>
          <p:nvPr/>
        </p:nvSpPr>
        <p:spPr>
          <a:xfrm>
            <a:off x="7014636"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Liquidity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Management</a:t>
            </a:r>
            <a:endParaRPr sz="1000">
              <a:solidFill>
                <a:schemeClr val="dk1"/>
              </a:solidFill>
              <a:latin typeface="Century Gothic"/>
              <a:ea typeface="Century Gothic"/>
              <a:cs typeface="Century Gothic"/>
              <a:sym typeface="Century Gothic"/>
            </a:endParaRPr>
          </a:p>
        </p:txBody>
      </p:sp>
      <p:sp>
        <p:nvSpPr>
          <p:cNvPr id="4147" name="Google Shape;4147;p219"/>
          <p:cNvSpPr/>
          <p:nvPr/>
        </p:nvSpPr>
        <p:spPr>
          <a:xfrm rot="5400000">
            <a:off x="6999094" y="3453779"/>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48" name="Google Shape;4148;p219">
            <a:hlinkClick action="ppaction://hlinksldjump" r:id="rId17"/>
          </p:cNvPr>
          <p:cNvSpPr/>
          <p:nvPr/>
        </p:nvSpPr>
        <p:spPr>
          <a:xfrm>
            <a:off x="5375486"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Asset Liability Management –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Treasury Ops</a:t>
            </a:r>
            <a:endParaRPr/>
          </a:p>
        </p:txBody>
      </p:sp>
      <p:sp>
        <p:nvSpPr>
          <p:cNvPr id="4149" name="Google Shape;4149;p219"/>
          <p:cNvSpPr/>
          <p:nvPr/>
        </p:nvSpPr>
        <p:spPr>
          <a:xfrm rot="5400000">
            <a:off x="5356560" y="345139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50" name="Google Shape;4150;p219">
            <a:hlinkClick action="ppaction://hlinksldjump" r:id="rId18"/>
          </p:cNvPr>
          <p:cNvSpPr/>
          <p:nvPr/>
        </p:nvSpPr>
        <p:spPr>
          <a:xfrm>
            <a:off x="373549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Reserve Portfolio Optimization</a:t>
            </a:r>
            <a:endParaRPr/>
          </a:p>
        </p:txBody>
      </p:sp>
      <p:sp>
        <p:nvSpPr>
          <p:cNvPr id="4151" name="Google Shape;4151;p219"/>
          <p:cNvSpPr/>
          <p:nvPr/>
        </p:nvSpPr>
        <p:spPr>
          <a:xfrm rot="5400000">
            <a:off x="3722493" y="3451394"/>
            <a:ext cx="95758" cy="63500"/>
          </a:xfrm>
          <a:prstGeom prst="triangle">
            <a:avLst>
              <a:gd fmla="val 50000" name="adj"/>
            </a:avLst>
          </a:prstGeom>
          <a:solidFill>
            <a:schemeClr val="accent3"/>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52" name="Google Shape;4152;p219">
            <a:hlinkClick action="ppaction://hlinksldjump" r:id="rId19"/>
          </p:cNvPr>
          <p:cNvSpPr/>
          <p:nvPr/>
        </p:nvSpPr>
        <p:spPr>
          <a:xfrm>
            <a:off x="2095501"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Cash Flow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Optimization</a:t>
            </a:r>
            <a:endParaRPr sz="1000">
              <a:solidFill>
                <a:schemeClr val="dk1"/>
              </a:solidFill>
              <a:latin typeface="Century Gothic"/>
              <a:ea typeface="Century Gothic"/>
              <a:cs typeface="Century Gothic"/>
              <a:sym typeface="Century Gothic"/>
            </a:endParaRPr>
          </a:p>
        </p:txBody>
      </p:sp>
      <p:sp>
        <p:nvSpPr>
          <p:cNvPr id="4153" name="Google Shape;4153;p219"/>
          <p:cNvSpPr/>
          <p:nvPr/>
        </p:nvSpPr>
        <p:spPr>
          <a:xfrm rot="5400000">
            <a:off x="2079959" y="345139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54" name="Google Shape;4154;p219">
            <a:hlinkClick action="ppaction://hlinksldjump" r:id="rId2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59" name="Shape 4159"/>
        <p:cNvGrpSpPr/>
        <p:nvPr/>
      </p:nvGrpSpPr>
      <p:grpSpPr>
        <a:xfrm>
          <a:off x="0" y="0"/>
          <a:ext cx="0" cy="0"/>
          <a:chOff x="0" y="0"/>
          <a:chExt cx="0" cy="0"/>
        </a:xfrm>
      </p:grpSpPr>
      <p:sp>
        <p:nvSpPr>
          <p:cNvPr id="4160" name="Google Shape;4160;p220"/>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1" name="Google Shape;4161;p220">
            <a:hlinkClick action="ppaction://hlinksldjump" r:id="rId3"/>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Internal - Exception Reporting</a:t>
            </a:r>
            <a:endParaRPr/>
          </a:p>
        </p:txBody>
      </p:sp>
      <p:sp>
        <p:nvSpPr>
          <p:cNvPr id="4162" name="Google Shape;4162;p220"/>
          <p:cNvSpPr/>
          <p:nvPr/>
        </p:nvSpPr>
        <p:spPr>
          <a:xfrm rot="5400000">
            <a:off x="3721906"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3" name="Google Shape;4163;p220">
            <a:hlinkClick action="ppaction://hlinksldjump" r:id="rId4"/>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Project Accounting – Cost Management</a:t>
            </a:r>
            <a:endParaRPr/>
          </a:p>
        </p:txBody>
      </p:sp>
      <p:sp>
        <p:nvSpPr>
          <p:cNvPr id="4164" name="Google Shape;4164;p220"/>
          <p:cNvSpPr/>
          <p:nvPr/>
        </p:nvSpPr>
        <p:spPr>
          <a:xfrm rot="5400000">
            <a:off x="2079372"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5" name="Google Shape;4165;p220">
            <a:hlinkClick action="ppaction://hlinksldjump" r:id="rId5"/>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Sales Reporting &amp; Analytics</a:t>
            </a:r>
            <a:endParaRPr/>
          </a:p>
        </p:txBody>
      </p:sp>
      <p:sp>
        <p:nvSpPr>
          <p:cNvPr id="4166" name="Google Shape;4166;p220"/>
          <p:cNvSpPr/>
          <p:nvPr/>
        </p:nvSpPr>
        <p:spPr>
          <a:xfrm rot="5400000">
            <a:off x="6998507"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7" name="Google Shape;4167;p220">
            <a:hlinkClick action="ppaction://hlinksldjump" r:id="rId6"/>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Integrated Regulatory &amp; Compliance Reporting</a:t>
            </a:r>
            <a:endParaRPr/>
          </a:p>
        </p:txBody>
      </p:sp>
      <p:sp>
        <p:nvSpPr>
          <p:cNvPr id="4168" name="Google Shape;4168;p220"/>
          <p:cNvSpPr/>
          <p:nvPr/>
        </p:nvSpPr>
        <p:spPr>
          <a:xfrm rot="5400000">
            <a:off x="5355973"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9" name="Google Shape;4169;p220">
            <a:hlinkClick action="ppaction://hlinksldjump" r:id="rId7"/>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Financial Reporting Efficiency &amp; Effectiveness</a:t>
            </a:r>
            <a:endParaRPr/>
          </a:p>
        </p:txBody>
      </p:sp>
      <p:sp>
        <p:nvSpPr>
          <p:cNvPr id="4170" name="Google Shape;4170;p220"/>
          <p:cNvSpPr/>
          <p:nvPr/>
        </p:nvSpPr>
        <p:spPr>
          <a:xfrm rot="5400000">
            <a:off x="3721906"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71" name="Google Shape;4171;p220">
            <a:hlinkClick action="ppaction://hlinksldjump" r:id="rId8"/>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External Reporting Support</a:t>
            </a:r>
            <a:endParaRPr/>
          </a:p>
        </p:txBody>
      </p:sp>
      <p:sp>
        <p:nvSpPr>
          <p:cNvPr id="4172" name="Google Shape;4172;p220"/>
          <p:cNvSpPr/>
          <p:nvPr/>
        </p:nvSpPr>
        <p:spPr>
          <a:xfrm rot="5400000">
            <a:off x="2079372"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73" name="Google Shape;4173;p220"/>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grpSp>
        <p:nvGrpSpPr>
          <p:cNvPr id="4174" name="Google Shape;4174;p220"/>
          <p:cNvGrpSpPr/>
          <p:nvPr/>
        </p:nvGrpSpPr>
        <p:grpSpPr>
          <a:xfrm>
            <a:off x="2100364" y="1348315"/>
            <a:ext cx="281520" cy="241973"/>
            <a:chOff x="5652748" y="4066000"/>
            <a:chExt cx="906498" cy="747974"/>
          </a:xfrm>
        </p:grpSpPr>
        <p:sp>
          <p:nvSpPr>
            <p:cNvPr id="4175" name="Google Shape;4175;p2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176" name="Google Shape;4176;p2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77" name="Google Shape;4177;p2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4178" name="Google Shape;4178;p22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4179" name="Google Shape;4179;p22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4180" name="Google Shape;4180;p220">
            <a:hlinkClick action="ppaction://hlinksldjump" r:id="rId9"/>
          </p:cNvPr>
          <p:cNvSpPr/>
          <p:nvPr/>
        </p:nvSpPr>
        <p:spPr>
          <a:xfrm flipH="1" rot="5400000">
            <a:off x="5221746"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220"/>
          <p:cNvSpPr txBox="1"/>
          <p:nvPr/>
        </p:nvSpPr>
        <p:spPr>
          <a:xfrm flipH="1">
            <a:off x="502606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3</a:t>
            </a:r>
            <a:endParaRPr sz="800">
              <a:solidFill>
                <a:srgbClr val="FFFFFF"/>
              </a:solidFill>
              <a:latin typeface="Century Gothic"/>
              <a:ea typeface="Century Gothic"/>
              <a:cs typeface="Century Gothic"/>
              <a:sym typeface="Century Gothic"/>
            </a:endParaRPr>
          </a:p>
        </p:txBody>
      </p:sp>
      <p:sp>
        <p:nvSpPr>
          <p:cNvPr id="4182" name="Google Shape;4182;p220">
            <a:hlinkClick action="ppaction://hlinksldjump" r:id="rId10"/>
          </p:cNvPr>
          <p:cNvSpPr/>
          <p:nvPr/>
        </p:nvSpPr>
        <p:spPr>
          <a:xfrm>
            <a:off x="565902" y="1692116"/>
            <a:ext cx="1395519" cy="138114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Reporting</a:t>
            </a:r>
            <a:endParaRPr/>
          </a:p>
        </p:txBody>
      </p:sp>
      <p:sp>
        <p:nvSpPr>
          <p:cNvPr id="4183" name="Google Shape;4183;p220">
            <a:hlinkClick action="ppaction://hlinksldjump" r:id="rId11"/>
          </p:cNvPr>
          <p:cNvSpPr/>
          <p:nvPr/>
        </p:nvSpPr>
        <p:spPr>
          <a:xfrm>
            <a:off x="5374899"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Executive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Information Hub</a:t>
            </a:r>
            <a:endParaRPr/>
          </a:p>
        </p:txBody>
      </p:sp>
      <p:sp>
        <p:nvSpPr>
          <p:cNvPr id="4184" name="Google Shape;4184;p220"/>
          <p:cNvSpPr/>
          <p:nvPr/>
        </p:nvSpPr>
        <p:spPr>
          <a:xfrm rot="5400000">
            <a:off x="5355973"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85" name="Google Shape;4185;p220">
            <a:hlinkClick action="ppaction://hlinksldjump" r:id="rId1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89" name="Shape 4189"/>
        <p:cNvGrpSpPr/>
        <p:nvPr/>
      </p:nvGrpSpPr>
      <p:grpSpPr>
        <a:xfrm>
          <a:off x="0" y="0"/>
          <a:ext cx="0" cy="0"/>
          <a:chOff x="0" y="0"/>
          <a:chExt cx="0" cy="0"/>
        </a:xfrm>
      </p:grpSpPr>
      <p:pic>
        <p:nvPicPr>
          <p:cNvPr id="4190" name="Google Shape;4190;p221"/>
          <p:cNvPicPr preferRelativeResize="0"/>
          <p:nvPr/>
        </p:nvPicPr>
        <p:blipFill rotWithShape="1">
          <a:blip r:embed="rId3">
            <a:alphaModFix/>
          </a:blip>
          <a:srcRect b="0" l="0" r="19512" t="0"/>
          <a:stretch/>
        </p:blipFill>
        <p:spPr>
          <a:xfrm>
            <a:off x="5378994" y="0"/>
            <a:ext cx="3765006" cy="5143500"/>
          </a:xfrm>
          <a:prstGeom prst="rect">
            <a:avLst/>
          </a:prstGeom>
          <a:noFill/>
          <a:ln>
            <a:noFill/>
          </a:ln>
        </p:spPr>
      </p:pic>
      <p:sp>
        <p:nvSpPr>
          <p:cNvPr id="4191" name="Google Shape;4191;p221"/>
          <p:cNvSpPr txBox="1"/>
          <p:nvPr>
            <p:ph idx="1" type="body"/>
          </p:nvPr>
        </p:nvSpPr>
        <p:spPr>
          <a:xfrm>
            <a:off x="350402" y="2257507"/>
            <a:ext cx="4600977"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Ensuring the financial stability of the organisation, and producing timely and accurate financial reporting for both external and internal stakeholders is still the primary responsibility of the Finance function.</a:t>
            </a:r>
            <a:endParaRPr/>
          </a:p>
          <a:p>
            <a:pPr indent="-169863" lvl="0" marL="169863" rtl="0" algn="l">
              <a:lnSpc>
                <a:spcPct val="110000"/>
              </a:lnSpc>
              <a:spcBef>
                <a:spcPts val="800"/>
              </a:spcBef>
              <a:spcAft>
                <a:spcPts val="0"/>
              </a:spcAft>
              <a:buClr>
                <a:schemeClr val="dk1"/>
              </a:buClr>
              <a:buSzPts val="1100"/>
              <a:buChar char="•"/>
            </a:pPr>
            <a:r>
              <a:rPr lang="en-GB" sz="1100"/>
              <a:t>However it also needs to deliver a wide range of other capabilities to drive business performance, including:</a:t>
            </a:r>
            <a:endParaRPr sz="1100"/>
          </a:p>
          <a:p>
            <a:pPr indent="-171450" lvl="2" marL="447675" rtl="0" algn="l">
              <a:lnSpc>
                <a:spcPct val="95000"/>
              </a:lnSpc>
              <a:spcBef>
                <a:spcPts val="200"/>
              </a:spcBef>
              <a:spcAft>
                <a:spcPts val="0"/>
              </a:spcAft>
              <a:buClr>
                <a:schemeClr val="dk1"/>
              </a:buClr>
              <a:buSzPts val="1000"/>
              <a:buChar char="-"/>
            </a:pPr>
            <a:r>
              <a:rPr lang="en-GB" sz="1000"/>
              <a:t>Ensure financial obligations are met when due</a:t>
            </a:r>
            <a:endParaRPr sz="1000"/>
          </a:p>
          <a:p>
            <a:pPr indent="-171450" lvl="2" marL="447675" rtl="0" algn="l">
              <a:lnSpc>
                <a:spcPct val="95000"/>
              </a:lnSpc>
              <a:spcBef>
                <a:spcPts val="0"/>
              </a:spcBef>
              <a:spcAft>
                <a:spcPts val="0"/>
              </a:spcAft>
              <a:buClr>
                <a:schemeClr val="dk1"/>
              </a:buClr>
              <a:buSzPts val="1000"/>
              <a:buChar char="-"/>
            </a:pPr>
            <a:r>
              <a:rPr lang="en-GB" sz="1000"/>
              <a:t>Manage and optimise purchasing and relationships with suppliers</a:t>
            </a:r>
            <a:endParaRPr/>
          </a:p>
          <a:p>
            <a:pPr indent="-171450" lvl="2" marL="447675" rtl="0" algn="l">
              <a:lnSpc>
                <a:spcPct val="95000"/>
              </a:lnSpc>
              <a:spcBef>
                <a:spcPts val="0"/>
              </a:spcBef>
              <a:spcAft>
                <a:spcPts val="0"/>
              </a:spcAft>
              <a:buClr>
                <a:schemeClr val="dk1"/>
              </a:buClr>
              <a:buSzPts val="1000"/>
              <a:buChar char="-"/>
            </a:pPr>
            <a:r>
              <a:rPr lang="en-GB" sz="1000"/>
              <a:t>Understand Revenue, Cost and overall profitability and its drivers at a detailed level</a:t>
            </a:r>
            <a:endParaRPr/>
          </a:p>
          <a:p>
            <a:pPr indent="-171450" lvl="2" marL="447675" rtl="0" algn="l">
              <a:lnSpc>
                <a:spcPct val="95000"/>
              </a:lnSpc>
              <a:spcBef>
                <a:spcPts val="0"/>
              </a:spcBef>
              <a:spcAft>
                <a:spcPts val="0"/>
              </a:spcAft>
              <a:buClr>
                <a:schemeClr val="dk1"/>
              </a:buClr>
              <a:buSzPts val="1000"/>
              <a:buChar char="-"/>
            </a:pPr>
            <a:r>
              <a:rPr lang="en-GB" sz="1000"/>
              <a:t>Drive performance throughout the organisation through effective performance measurement and management</a:t>
            </a:r>
            <a:endParaRPr/>
          </a:p>
        </p:txBody>
      </p:sp>
      <p:sp>
        <p:nvSpPr>
          <p:cNvPr id="4192" name="Google Shape;4192;p22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Finance &amp; Performance</a:t>
            </a:r>
            <a:br>
              <a:rPr lang="en-GB"/>
            </a:br>
            <a:r>
              <a:rPr lang="en-GB"/>
              <a:t>Management</a:t>
            </a:r>
            <a:endParaRPr/>
          </a:p>
        </p:txBody>
      </p:sp>
      <p:pic>
        <p:nvPicPr>
          <p:cNvPr descr="iStock_000055909600_Full.jpg" id="4193" name="Google Shape;4193;p221"/>
          <p:cNvPicPr preferRelativeResize="0"/>
          <p:nvPr/>
        </p:nvPicPr>
        <p:blipFill rotWithShape="1">
          <a:blip r:embed="rId4">
            <a:alphaModFix/>
          </a:blip>
          <a:srcRect b="0" l="56773" r="5009" t="0"/>
          <a:stretch/>
        </p:blipFill>
        <p:spPr>
          <a:xfrm>
            <a:off x="9366175" y="3357350"/>
            <a:ext cx="4146697" cy="5143500"/>
          </a:xfrm>
          <a:prstGeom prst="rect">
            <a:avLst/>
          </a:prstGeom>
          <a:noFill/>
          <a:ln>
            <a:noFill/>
          </a:ln>
          <a:effectLst>
            <a:outerShdw blurRad="292100" rotWithShape="0" algn="tl" dir="2700000" dist="139700">
              <a:srgbClr val="333333">
                <a:alpha val="64705"/>
              </a:srgbClr>
            </a:outerShdw>
          </a:effectLst>
        </p:spPr>
      </p:pic>
      <p:sp>
        <p:nvSpPr>
          <p:cNvPr id="4194" name="Google Shape;4194;p221"/>
          <p:cNvSpPr/>
          <p:nvPr/>
        </p:nvSpPr>
        <p:spPr>
          <a:xfrm>
            <a:off x="0" y="1007345"/>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lang="en-GB" sz="1600">
                <a:solidFill>
                  <a:schemeClr val="lt1"/>
                </a:solidFill>
                <a:latin typeface="Century Gothic"/>
                <a:ea typeface="Century Gothic"/>
                <a:cs typeface="Century Gothic"/>
                <a:sym typeface="Century Gothic"/>
              </a:rPr>
              <a:t>Closing the Books, Profitability analysis, Forecasting, Margin analysis, Budget and Planning, Financial reporting, Accounts Payable, Accounts Receivable, Treasury…</a:t>
            </a:r>
            <a:endParaRPr/>
          </a:p>
        </p:txBody>
      </p:sp>
      <p:sp>
        <p:nvSpPr>
          <p:cNvPr id="4195" name="Google Shape;4195;p221">
            <a:hlinkClick action="ppaction://hlinksldjump" r:id="rId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70" name="Shape 4270"/>
        <p:cNvGrpSpPr/>
        <p:nvPr/>
      </p:nvGrpSpPr>
      <p:grpSpPr>
        <a:xfrm>
          <a:off x="0" y="0"/>
          <a:ext cx="0" cy="0"/>
          <a:chOff x="0" y="0"/>
          <a:chExt cx="0" cy="0"/>
        </a:xfrm>
      </p:grpSpPr>
      <p:sp>
        <p:nvSpPr>
          <p:cNvPr id="4271" name="Google Shape;4271;p227"/>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pic>
        <p:nvPicPr>
          <p:cNvPr descr="BIZ-1062-L.jpg" id="4272" name="Google Shape;4272;p227"/>
          <p:cNvPicPr preferRelativeResize="0"/>
          <p:nvPr/>
        </p:nvPicPr>
        <p:blipFill rotWithShape="1">
          <a:blip r:embed="rId3">
            <a:alphaModFix/>
          </a:blip>
          <a:srcRect b="0" l="14523" r="10674" t="0"/>
          <a:stretch/>
        </p:blipFill>
        <p:spPr>
          <a:xfrm>
            <a:off x="5549900" y="957793"/>
            <a:ext cx="3594100" cy="2402415"/>
          </a:xfrm>
          <a:prstGeom prst="rect">
            <a:avLst/>
          </a:prstGeom>
          <a:noFill/>
          <a:ln>
            <a:noFill/>
          </a:ln>
        </p:spPr>
      </p:pic>
      <p:sp>
        <p:nvSpPr>
          <p:cNvPr id="4273" name="Google Shape;4273;p227"/>
          <p:cNvSpPr txBox="1"/>
          <p:nvPr>
            <p:ph idx="1" type="body"/>
          </p:nvPr>
        </p:nvSpPr>
        <p:spPr>
          <a:xfrm>
            <a:off x="467360" y="852530"/>
            <a:ext cx="4830354"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How – Capabilities</a:t>
            </a:r>
            <a:endParaRPr b="1">
              <a:solidFill>
                <a:schemeClr val="accent1"/>
              </a:solidFill>
            </a:endParaRPr>
          </a:p>
          <a:p>
            <a:pPr indent="-169863" lvl="0" marL="169863" rtl="0" algn="l">
              <a:lnSpc>
                <a:spcPct val="95000"/>
              </a:lnSpc>
              <a:spcBef>
                <a:spcPts val="800"/>
              </a:spcBef>
              <a:spcAft>
                <a:spcPts val="0"/>
              </a:spcAft>
              <a:buClr>
                <a:schemeClr val="dk1"/>
              </a:buClr>
              <a:buSzPts val="1400"/>
              <a:buChar char="•"/>
            </a:pPr>
            <a:r>
              <a:rPr lang="en-GB" sz="1400"/>
              <a:t>Integration of data from across the enterprise including financial data which is auditable, traceable and reconcilable to the financial and source systems.</a:t>
            </a:r>
            <a:endParaRPr/>
          </a:p>
          <a:p>
            <a:pPr indent="-169863" lvl="0" marL="169863" rtl="0" algn="l">
              <a:lnSpc>
                <a:spcPct val="95000"/>
              </a:lnSpc>
              <a:spcBef>
                <a:spcPts val="600"/>
              </a:spcBef>
              <a:spcAft>
                <a:spcPts val="0"/>
              </a:spcAft>
              <a:buClr>
                <a:schemeClr val="dk1"/>
              </a:buClr>
              <a:buSzPts val="1400"/>
              <a:buChar char="•"/>
            </a:pPr>
            <a:r>
              <a:rPr lang="en-GB" sz="1400"/>
              <a:t>Granular level data sets which enable a consistent, bottoms-up approach and can provide multi-dimensional views of the enterprise.</a:t>
            </a:r>
            <a:endParaRPr/>
          </a:p>
          <a:p>
            <a:pPr indent="-169863" lvl="0" marL="169863" rtl="0" algn="l">
              <a:lnSpc>
                <a:spcPct val="95000"/>
              </a:lnSpc>
              <a:spcBef>
                <a:spcPts val="600"/>
              </a:spcBef>
              <a:spcAft>
                <a:spcPts val="0"/>
              </a:spcAft>
              <a:buClr>
                <a:schemeClr val="dk1"/>
              </a:buClr>
              <a:buSzPts val="1400"/>
              <a:buChar char="•"/>
            </a:pPr>
            <a:r>
              <a:rPr lang="en-GB" sz="1400"/>
              <a:t>Development of calculations and business rules which can be leveraged in reporting, profitability modelling, statistical analysis and downstream applications such as pricing models.</a:t>
            </a:r>
            <a:endParaRPr/>
          </a:p>
          <a:p>
            <a:pPr indent="-169863" lvl="0" marL="169863" rtl="0" algn="l">
              <a:lnSpc>
                <a:spcPct val="95000"/>
              </a:lnSpc>
              <a:spcBef>
                <a:spcPts val="600"/>
              </a:spcBef>
              <a:spcAft>
                <a:spcPts val="0"/>
              </a:spcAft>
              <a:buClr>
                <a:schemeClr val="dk1"/>
              </a:buClr>
              <a:buSzPts val="1400"/>
              <a:buChar char="•"/>
            </a:pPr>
            <a:r>
              <a:rPr lang="en-GB" sz="1400"/>
              <a:t>Reporting, dashboards and scorecards which effectively measure and communicate performance.</a:t>
            </a:r>
            <a:endParaRPr/>
          </a:p>
          <a:p>
            <a:pPr indent="-169863" lvl="0" marL="169863" rtl="0" algn="l">
              <a:lnSpc>
                <a:spcPct val="95000"/>
              </a:lnSpc>
              <a:spcBef>
                <a:spcPts val="600"/>
              </a:spcBef>
              <a:spcAft>
                <a:spcPts val="0"/>
              </a:spcAft>
              <a:buClr>
                <a:schemeClr val="dk1"/>
              </a:buClr>
              <a:buSzPts val="1400"/>
              <a:buChar char="•"/>
            </a:pPr>
            <a:r>
              <a:rPr lang="en-GB" sz="1400"/>
              <a:t>High degrees of automation and efficiency to reduce cost to serve, and enable resources to be focused on value-added activities.</a:t>
            </a:r>
            <a:endParaRPr sz="1400"/>
          </a:p>
        </p:txBody>
      </p:sp>
      <p:sp>
        <p:nvSpPr>
          <p:cNvPr id="4274" name="Google Shape;4274;p227"/>
          <p:cNvSpPr txBox="1"/>
          <p:nvPr>
            <p:ph type="title"/>
          </p:nvPr>
        </p:nvSpPr>
        <p:spPr>
          <a:xfrm>
            <a:off x="477880" y="238539"/>
            <a:ext cx="5435240" cy="639821"/>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Finance &amp; Performance Management</a:t>
            </a:r>
            <a:endParaRPr sz="2000"/>
          </a:p>
        </p:txBody>
      </p:sp>
      <p:sp>
        <p:nvSpPr>
          <p:cNvPr id="4275" name="Google Shape;4275;p227">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84" name="Shape 4284"/>
        <p:cNvGrpSpPr/>
        <p:nvPr/>
      </p:nvGrpSpPr>
      <p:grpSpPr>
        <a:xfrm>
          <a:off x="0" y="0"/>
          <a:ext cx="0" cy="0"/>
          <a:chOff x="0" y="0"/>
          <a:chExt cx="0" cy="0"/>
        </a:xfrm>
      </p:grpSpPr>
      <p:pic>
        <p:nvPicPr>
          <p:cNvPr descr="RS920_BIZ-1070-H-2.jpg" id="4285" name="Google Shape;4285;p229"/>
          <p:cNvPicPr preferRelativeResize="0"/>
          <p:nvPr/>
        </p:nvPicPr>
        <p:blipFill rotWithShape="1">
          <a:blip r:embed="rId3">
            <a:alphaModFix/>
          </a:blip>
          <a:srcRect b="12714" l="45835" r="13504" t="0"/>
          <a:stretch/>
        </p:blipFill>
        <p:spPr>
          <a:xfrm>
            <a:off x="5549900" y="0"/>
            <a:ext cx="3594100" cy="5143500"/>
          </a:xfrm>
          <a:prstGeom prst="rect">
            <a:avLst/>
          </a:prstGeom>
          <a:noFill/>
          <a:ln>
            <a:noFill/>
          </a:ln>
        </p:spPr>
      </p:pic>
      <p:sp>
        <p:nvSpPr>
          <p:cNvPr id="4286" name="Google Shape;4286;p229"/>
          <p:cNvSpPr txBox="1"/>
          <p:nvPr>
            <p:ph idx="1" type="body"/>
          </p:nvPr>
        </p:nvSpPr>
        <p:spPr>
          <a:xfrm>
            <a:off x="455485" y="2100943"/>
            <a:ext cx="4662784" cy="2573768"/>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200"/>
              <a:buChar char="•"/>
            </a:pPr>
            <a:r>
              <a:rPr lang="en-GB" sz="1200"/>
              <a:t>Stakeholders are making decisions based on the quality of the financial information, whether internal or external</a:t>
            </a:r>
            <a:endParaRPr/>
          </a:p>
          <a:p>
            <a:pPr indent="-169863" lvl="0" marL="169863" rtl="0" algn="l">
              <a:lnSpc>
                <a:spcPct val="95000"/>
              </a:lnSpc>
              <a:spcBef>
                <a:spcPts val="600"/>
              </a:spcBef>
              <a:spcAft>
                <a:spcPts val="0"/>
              </a:spcAft>
              <a:buClr>
                <a:schemeClr val="dk1"/>
              </a:buClr>
              <a:buSzPts val="1200"/>
              <a:buChar char="•"/>
            </a:pPr>
            <a:r>
              <a:rPr lang="en-GB" sz="1200"/>
              <a:t>Management must respond quickly to changing market conditions</a:t>
            </a:r>
            <a:endParaRPr/>
          </a:p>
          <a:p>
            <a:pPr indent="-169863" lvl="0" marL="169863" rtl="0" algn="l">
              <a:lnSpc>
                <a:spcPct val="95000"/>
              </a:lnSpc>
              <a:spcBef>
                <a:spcPts val="600"/>
              </a:spcBef>
              <a:spcAft>
                <a:spcPts val="0"/>
              </a:spcAft>
              <a:buClr>
                <a:schemeClr val="dk1"/>
              </a:buClr>
              <a:buSzPts val="1200"/>
              <a:buChar char="•"/>
            </a:pPr>
            <a:r>
              <a:rPr lang="en-GB" sz="1200"/>
              <a:t>Improved timeliness of data, traceable  and auditable to the general ledger</a:t>
            </a:r>
            <a:endParaRPr/>
          </a:p>
          <a:p>
            <a:pPr indent="-169863" lvl="0" marL="169863" rtl="0" algn="l">
              <a:lnSpc>
                <a:spcPct val="95000"/>
              </a:lnSpc>
              <a:spcBef>
                <a:spcPts val="600"/>
              </a:spcBef>
              <a:spcAft>
                <a:spcPts val="0"/>
              </a:spcAft>
              <a:buClr>
                <a:schemeClr val="dk1"/>
              </a:buClr>
              <a:buSzPts val="1200"/>
              <a:buChar char="•"/>
            </a:pPr>
            <a:r>
              <a:rPr lang="en-GB" sz="1200"/>
              <a:t>Improved data governance and data quality will result in better transparency, reliability and credibility</a:t>
            </a:r>
            <a:endParaRPr/>
          </a:p>
          <a:p>
            <a:pPr indent="-169863" lvl="0" marL="169863" rtl="0" algn="l">
              <a:lnSpc>
                <a:spcPct val="95000"/>
              </a:lnSpc>
              <a:spcBef>
                <a:spcPts val="600"/>
              </a:spcBef>
              <a:spcAft>
                <a:spcPts val="0"/>
              </a:spcAft>
              <a:buClr>
                <a:schemeClr val="dk1"/>
              </a:buClr>
              <a:buSzPts val="1200"/>
              <a:buChar char="•"/>
            </a:pPr>
            <a:r>
              <a:rPr lang="en-GB" sz="1200"/>
              <a:t>Accounting operating costs are reduced</a:t>
            </a:r>
            <a:endParaRPr/>
          </a:p>
          <a:p>
            <a:pPr indent="-169863" lvl="0" marL="169863" rtl="0" algn="l">
              <a:lnSpc>
                <a:spcPct val="95000"/>
              </a:lnSpc>
              <a:spcBef>
                <a:spcPts val="600"/>
              </a:spcBef>
              <a:spcAft>
                <a:spcPts val="0"/>
              </a:spcAft>
              <a:buClr>
                <a:schemeClr val="dk1"/>
              </a:buClr>
              <a:buSzPts val="1200"/>
              <a:buChar char="•"/>
            </a:pPr>
            <a:r>
              <a:rPr lang="en-GB" sz="1200"/>
              <a:t>Spend more time analyzing versus acquiring and cleansing data</a:t>
            </a:r>
            <a:endParaRPr/>
          </a:p>
        </p:txBody>
      </p:sp>
      <p:sp>
        <p:nvSpPr>
          <p:cNvPr id="4287" name="Google Shape;4287;p229"/>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Accounting Operations and Close</a:t>
            </a:r>
            <a:br>
              <a:rPr lang="en-GB"/>
            </a:br>
            <a:endParaRPr/>
          </a:p>
        </p:txBody>
      </p:sp>
      <p:sp>
        <p:nvSpPr>
          <p:cNvPr id="4288" name="Google Shape;4288;p22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sp>
        <p:nvSpPr>
          <p:cNvPr id="4289" name="Google Shape;4289;p229"/>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In an economic environment characterized by uncertainty and volatility, </a:t>
            </a:r>
            <a:br>
              <a:rPr b="0" i="0" lang="en-GB" sz="1400" u="none" cap="none" strike="noStrike">
                <a:solidFill>
                  <a:schemeClr val="lt1"/>
                </a:solidFill>
                <a:latin typeface="Century Gothic"/>
                <a:ea typeface="Century Gothic"/>
                <a:cs typeface="Century Gothic"/>
                <a:sym typeface="Century Gothic"/>
              </a:rPr>
            </a:br>
            <a:r>
              <a:rPr b="0" i="0" lang="en-GB" sz="1400" u="none" cap="none" strike="noStrike">
                <a:solidFill>
                  <a:schemeClr val="lt1"/>
                </a:solidFill>
                <a:latin typeface="Century Gothic"/>
                <a:ea typeface="Century Gothic"/>
                <a:cs typeface="Century Gothic"/>
                <a:sym typeface="Century Gothic"/>
              </a:rPr>
              <a:t>the quality of the financial close assumes even greater importance as an indicator of a company's financial excellence.</a:t>
            </a:r>
            <a:endParaRPr b="0" i="0" sz="1400" u="none" cap="none" strike="noStrike">
              <a:solidFill>
                <a:schemeClr val="lt1"/>
              </a:solidFill>
              <a:latin typeface="Century Gothic"/>
              <a:ea typeface="Century Gothic"/>
              <a:cs typeface="Century Gothic"/>
              <a:sym typeface="Century Gothic"/>
            </a:endParaRPr>
          </a:p>
        </p:txBody>
      </p:sp>
    </p:spTree>
  </p:cSld>
  <p:clrMapOvr>
    <a:masterClrMapping/>
  </p:clrMapOvr>
</p:sld>
</file>

<file path=ppt/slides/slide2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52" name="Shape 4352"/>
        <p:cNvGrpSpPr/>
        <p:nvPr/>
      </p:nvGrpSpPr>
      <p:grpSpPr>
        <a:xfrm>
          <a:off x="0" y="0"/>
          <a:ext cx="0" cy="0"/>
          <a:chOff x="0" y="0"/>
          <a:chExt cx="0" cy="0"/>
        </a:xfrm>
      </p:grpSpPr>
      <p:pic>
        <p:nvPicPr>
          <p:cNvPr id="4353" name="Google Shape;4353;p234"/>
          <p:cNvPicPr preferRelativeResize="0"/>
          <p:nvPr/>
        </p:nvPicPr>
        <p:blipFill rotWithShape="1">
          <a:blip r:embed="rId3">
            <a:alphaModFix/>
          </a:blip>
          <a:srcRect b="0" l="0" r="0" t="0"/>
          <a:stretch/>
        </p:blipFill>
        <p:spPr>
          <a:xfrm>
            <a:off x="5648154" y="279312"/>
            <a:ext cx="3316459" cy="2210972"/>
          </a:xfrm>
          <a:prstGeom prst="rect">
            <a:avLst/>
          </a:prstGeom>
          <a:noFill/>
          <a:ln>
            <a:noFill/>
          </a:ln>
        </p:spPr>
      </p:pic>
      <p:cxnSp>
        <p:nvCxnSpPr>
          <p:cNvPr id="4354" name="Google Shape;4354;p23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355" name="Google Shape;4355;p23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Accelerate collections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days sales outstanding (DSO)</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cashflow</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Match AR collection period to AP payment period</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problem accounts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bad debts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Ensure that future purchase terms and prices reflect historic payment behaviour</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Invoice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records including payment history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Reporting Hierarchies – Business Units, Geography,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Sales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&amp; dashboards to monitor on-going credit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Scoring models to predict default probability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Segment /rank customers by payment behaviour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Advanced Analytics (e.g. N-Path) analysis leading to defaults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 reduced working capital yielding increased return on assets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total receivables, bad debt expense and past due accounts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productivity through reduction of time and effort spent on management review</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Streamlined credit approval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sales force whose accounts have poor payment behaviour.</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356" name="Google Shape;4356;p23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Billing &amp; Collections</a:t>
            </a:r>
            <a:endParaRPr sz="1600"/>
          </a:p>
        </p:txBody>
      </p:sp>
      <p:grpSp>
        <p:nvGrpSpPr>
          <p:cNvPr id="4357" name="Google Shape;4357;p234"/>
          <p:cNvGrpSpPr/>
          <p:nvPr/>
        </p:nvGrpSpPr>
        <p:grpSpPr>
          <a:xfrm>
            <a:off x="7717533" y="4360377"/>
            <a:ext cx="1058348" cy="347375"/>
            <a:chOff x="7651698" y="4287227"/>
            <a:chExt cx="1058348" cy="347375"/>
          </a:xfrm>
        </p:grpSpPr>
        <p:grpSp>
          <p:nvGrpSpPr>
            <p:cNvPr id="4358" name="Google Shape;4358;p234"/>
            <p:cNvGrpSpPr/>
            <p:nvPr/>
          </p:nvGrpSpPr>
          <p:grpSpPr>
            <a:xfrm>
              <a:off x="7714163" y="4337598"/>
              <a:ext cx="995883" cy="297004"/>
              <a:chOff x="7711013" y="3986494"/>
              <a:chExt cx="995883" cy="297004"/>
            </a:xfrm>
          </p:grpSpPr>
          <p:sp>
            <p:nvSpPr>
              <p:cNvPr id="4359" name="Google Shape;4359;p23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360" name="Google Shape;4360;p234"/>
              <p:cNvGrpSpPr/>
              <p:nvPr/>
            </p:nvGrpSpPr>
            <p:grpSpPr>
              <a:xfrm>
                <a:off x="7711013" y="4002615"/>
                <a:ext cx="281520" cy="241973"/>
                <a:chOff x="5652748" y="4066000"/>
                <a:chExt cx="906498" cy="747974"/>
              </a:xfrm>
            </p:grpSpPr>
            <p:sp>
              <p:nvSpPr>
                <p:cNvPr id="4361" name="Google Shape;4361;p23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362" name="Google Shape;4362;p23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363" name="Google Shape;4363;p23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364" name="Google Shape;4364;p23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365" name="Google Shape;4365;p234">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84" name="Shape 4384"/>
        <p:cNvGrpSpPr/>
        <p:nvPr/>
      </p:nvGrpSpPr>
      <p:grpSpPr>
        <a:xfrm>
          <a:off x="0" y="0"/>
          <a:ext cx="0" cy="0"/>
          <a:chOff x="0" y="0"/>
          <a:chExt cx="0" cy="0"/>
        </a:xfrm>
      </p:grpSpPr>
      <p:cxnSp>
        <p:nvCxnSpPr>
          <p:cNvPr id="4385" name="Google Shape;4385;p23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386" name="Google Shape;4386;p23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place a Purchase Order at a Supplier, which follows internal guidelines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Approve received goods/services and ensure alignment between PO and Invoice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Manage Suppliers efficiently from a global point of view</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Compliance</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Pricing</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Volumes</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Quality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Utilize credit/payment terms optimally</a:t>
                      </a:r>
                      <a:endParaRPr b="0"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TAX/VAT management</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Purchase Orders, Invoices (incl. line items), Suppliers, Quality, Commercial history (unit prices, products/services, volumes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General ledger(s) and relevant sub-ledger(s)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Join data at the most granular level (common denominator)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Supplier Dashboards (incl. – Actual Purchased, - PO’s, - Quality, - Price/Unit etc. Per Supplier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VAT per country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PO and Invoice matching analysis (finding duplicates)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Integrated view of Suppliers from received Invoices (products/services) to approved Sales Orders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internal compliance – have employees ordered/purchased within the range they are approved for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Optimized base of Suppliers (consolidation of the supplier base, moving away from “smaller” local suppliers to fewer “global” suppliers)</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prices per Unit per Supplier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quality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opportunities to evaluate Supplier</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performance</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accurate VAT/TAX payments per country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387" name="Google Shape;4387;p23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Procurement &amp; Payment</a:t>
            </a:r>
            <a:endParaRPr sz="1600"/>
          </a:p>
        </p:txBody>
      </p:sp>
      <p:sp>
        <p:nvSpPr>
          <p:cNvPr id="4388" name="Google Shape;4388;p2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389" name="Google Shape;4389;p236"/>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390" name="Google Shape;4390;p236"/>
          <p:cNvGrpSpPr/>
          <p:nvPr/>
        </p:nvGrpSpPr>
        <p:grpSpPr>
          <a:xfrm>
            <a:off x="7717533" y="4360377"/>
            <a:ext cx="1058348" cy="347375"/>
            <a:chOff x="7651698" y="4287227"/>
            <a:chExt cx="1058348" cy="347375"/>
          </a:xfrm>
        </p:grpSpPr>
        <p:grpSp>
          <p:nvGrpSpPr>
            <p:cNvPr id="4391" name="Google Shape;4391;p236"/>
            <p:cNvGrpSpPr/>
            <p:nvPr/>
          </p:nvGrpSpPr>
          <p:grpSpPr>
            <a:xfrm>
              <a:off x="7714163" y="4337598"/>
              <a:ext cx="995883" cy="297004"/>
              <a:chOff x="7711013" y="3986494"/>
              <a:chExt cx="995883" cy="297004"/>
            </a:xfrm>
          </p:grpSpPr>
          <p:sp>
            <p:nvSpPr>
              <p:cNvPr id="4392" name="Google Shape;4392;p23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393" name="Google Shape;4393;p236"/>
              <p:cNvGrpSpPr/>
              <p:nvPr/>
            </p:nvGrpSpPr>
            <p:grpSpPr>
              <a:xfrm>
                <a:off x="7711013" y="4002615"/>
                <a:ext cx="281520" cy="241973"/>
                <a:chOff x="5652748" y="4066000"/>
                <a:chExt cx="906498" cy="747974"/>
              </a:xfrm>
            </p:grpSpPr>
            <p:sp>
              <p:nvSpPr>
                <p:cNvPr id="4394" name="Google Shape;4394;p23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395" name="Google Shape;4395;p23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396" name="Google Shape;4396;p23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397" name="Google Shape;4397;p23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16" name="Shape 4416"/>
        <p:cNvGrpSpPr/>
        <p:nvPr/>
      </p:nvGrpSpPr>
      <p:grpSpPr>
        <a:xfrm>
          <a:off x="0" y="0"/>
          <a:ext cx="0" cy="0"/>
          <a:chOff x="0" y="0"/>
          <a:chExt cx="0" cy="0"/>
        </a:xfrm>
      </p:grpSpPr>
      <p:cxnSp>
        <p:nvCxnSpPr>
          <p:cNvPr id="4417" name="Google Shape;4417;p23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418" name="Google Shape;4418;p23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Generate accounting transactions from Operational transactions and establish data lineage between them.</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deliver changes in accounting rules and standards in quick, flexible and cost-effective way.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Consistent delivery of multi-GAAP accounting.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Automated reconciliation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seamless drill-down and drill across to granular account and transaction-level data</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Maintain</a:t>
                      </a:r>
                      <a:r>
                        <a:rPr b="0" lang="en-GB" sz="900">
                          <a:solidFill>
                            <a:schemeClr val="dk1"/>
                          </a:solidFill>
                        </a:rPr>
                        <a:t> a </a:t>
                      </a:r>
                      <a:r>
                        <a:rPr b="0" lang="en-GB" sz="900">
                          <a:solidFill>
                            <a:schemeClr val="dk1"/>
                          </a:solidFill>
                        </a:rPr>
                        <a:t>“Thin” General Ledger</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system  transactional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Accounting &amp; Other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 solution</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Centralised accounting processes which are easier and cheaper to maintain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Automated multi-GAAP accounting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Full control, audit and traceability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Seamless drill-down from summary level financial statements to transaction-level detail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reconciliation time and effort, freeing up time and resources for value-generating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Workflow approval process for manual adjustments</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at sub-ledger level of detail, resulting in</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improved data quality.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419" name="Google Shape;4419;p23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Sub-ledger Accounting</a:t>
            </a:r>
            <a:endParaRPr sz="1600"/>
          </a:p>
        </p:txBody>
      </p:sp>
      <p:sp>
        <p:nvSpPr>
          <p:cNvPr id="4420" name="Google Shape;4420;p2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421" name="Google Shape;4421;p23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422" name="Google Shape;4422;p238"/>
          <p:cNvGrpSpPr/>
          <p:nvPr/>
        </p:nvGrpSpPr>
        <p:grpSpPr>
          <a:xfrm>
            <a:off x="7717533" y="4360377"/>
            <a:ext cx="1058348" cy="347375"/>
            <a:chOff x="7651698" y="4287227"/>
            <a:chExt cx="1058348" cy="347375"/>
          </a:xfrm>
        </p:grpSpPr>
        <p:grpSp>
          <p:nvGrpSpPr>
            <p:cNvPr id="4423" name="Google Shape;4423;p238"/>
            <p:cNvGrpSpPr/>
            <p:nvPr/>
          </p:nvGrpSpPr>
          <p:grpSpPr>
            <a:xfrm>
              <a:off x="7714163" y="4337598"/>
              <a:ext cx="995883" cy="297004"/>
              <a:chOff x="7711013" y="3986494"/>
              <a:chExt cx="995883" cy="297004"/>
            </a:xfrm>
          </p:grpSpPr>
          <p:sp>
            <p:nvSpPr>
              <p:cNvPr id="4424" name="Google Shape;4424;p23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425" name="Google Shape;4425;p238"/>
              <p:cNvGrpSpPr/>
              <p:nvPr/>
            </p:nvGrpSpPr>
            <p:grpSpPr>
              <a:xfrm>
                <a:off x="7711013" y="4002615"/>
                <a:ext cx="281520" cy="241973"/>
                <a:chOff x="5652748" y="4066000"/>
                <a:chExt cx="906498" cy="747974"/>
              </a:xfrm>
            </p:grpSpPr>
            <p:sp>
              <p:nvSpPr>
                <p:cNvPr id="4426" name="Google Shape;4426;p23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27" name="Google Shape;4427;p23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28" name="Google Shape;4428;p23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29" name="Google Shape;4429;p23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48" name="Shape 4448"/>
        <p:cNvGrpSpPr/>
        <p:nvPr/>
      </p:nvGrpSpPr>
      <p:grpSpPr>
        <a:xfrm>
          <a:off x="0" y="0"/>
          <a:ext cx="0" cy="0"/>
          <a:chOff x="0" y="0"/>
          <a:chExt cx="0" cy="0"/>
        </a:xfrm>
      </p:grpSpPr>
      <p:cxnSp>
        <p:nvCxnSpPr>
          <p:cNvPr id="4449" name="Google Shape;4449;p24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450" name="Google Shape;4450;p24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Mitigate the impact of adverse movements in </a:t>
                      </a:r>
                      <a:r>
                        <a:rPr lang="en-GB" sz="900">
                          <a:solidFill>
                            <a:srgbClr val="3C3C3B"/>
                          </a:solidFill>
                        </a:rPr>
                        <a:t> volatile  assets and commodities (e.g. currency, interest rates, fuel,)</a:t>
                      </a:r>
                      <a:endParaRPr sz="900">
                        <a:solidFill>
                          <a:srgbClr val="3C3C3B"/>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implement accounting changes and perform Fair Value and Hedge Accounting in an efficient, flexible and cost-effective manner.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deliver Hedge Effectiveness tests using an integrated source of robust and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Availability of full drilldown and audit trail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 / remove manual processes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agreement/product data, e.g. balances, interest rates, fees, commissions, maturities, re-pricing and repayment schedule, counterparty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Asset, Commodity, F/X rates, internal deal or internal rates on transaction level,</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toolset supporting regression/other statistical techniques to support Prospective and Retrospective  assessments for Hedge Effectiveness tests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 solution running in-database on the data warehouse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earnings volatility.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 representation of the entity’s hedging strategy in the financial statements.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Clear and consistent lineage between financial statements and hedges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Simplified compliance with accounting and regulatory standards.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Removal of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time and cost due to greater automation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451" name="Google Shape;4451;p24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Fair Value &amp; Hedge Accounting</a:t>
            </a:r>
            <a:endParaRPr sz="1600"/>
          </a:p>
        </p:txBody>
      </p:sp>
      <p:sp>
        <p:nvSpPr>
          <p:cNvPr id="4452" name="Google Shape;4452;p2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453" name="Google Shape;4453;p240"/>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454" name="Google Shape;4454;p240"/>
          <p:cNvGrpSpPr/>
          <p:nvPr/>
        </p:nvGrpSpPr>
        <p:grpSpPr>
          <a:xfrm>
            <a:off x="7717533" y="4360377"/>
            <a:ext cx="1058348" cy="347375"/>
            <a:chOff x="7651698" y="4287227"/>
            <a:chExt cx="1058348" cy="347375"/>
          </a:xfrm>
        </p:grpSpPr>
        <p:grpSp>
          <p:nvGrpSpPr>
            <p:cNvPr id="4455" name="Google Shape;4455;p240"/>
            <p:cNvGrpSpPr/>
            <p:nvPr/>
          </p:nvGrpSpPr>
          <p:grpSpPr>
            <a:xfrm>
              <a:off x="7714163" y="4337598"/>
              <a:ext cx="995883" cy="297004"/>
              <a:chOff x="7711013" y="3986494"/>
              <a:chExt cx="995883" cy="297004"/>
            </a:xfrm>
          </p:grpSpPr>
          <p:sp>
            <p:nvSpPr>
              <p:cNvPr id="4456" name="Google Shape;4456;p24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457" name="Google Shape;4457;p240"/>
              <p:cNvGrpSpPr/>
              <p:nvPr/>
            </p:nvGrpSpPr>
            <p:grpSpPr>
              <a:xfrm>
                <a:off x="7711013" y="4002615"/>
                <a:ext cx="281520" cy="241973"/>
                <a:chOff x="5652748" y="4066000"/>
                <a:chExt cx="906498" cy="747974"/>
              </a:xfrm>
            </p:grpSpPr>
            <p:sp>
              <p:nvSpPr>
                <p:cNvPr id="4458" name="Google Shape;4458;p24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59" name="Google Shape;4459;p24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60" name="Google Shape;4460;p24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61" name="Google Shape;4461;p24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80" name="Shape 4480"/>
        <p:cNvGrpSpPr/>
        <p:nvPr/>
      </p:nvGrpSpPr>
      <p:grpSpPr>
        <a:xfrm>
          <a:off x="0" y="0"/>
          <a:ext cx="0" cy="0"/>
          <a:chOff x="0" y="0"/>
          <a:chExt cx="0" cy="0"/>
        </a:xfrm>
      </p:grpSpPr>
      <p:cxnSp>
        <p:nvCxnSpPr>
          <p:cNvPr id="4481" name="Google Shape;4481;p24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482" name="Google Shape;4482;p24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Comply with all relevant accounting standard for valuation of assets.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Ensure that all impairments are identified and recognised on a timely basis.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Ensure that all valuation rules are consistently applied.</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Manage changes to accounting standards and valuation rules efficiently and with minimal time and cost.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Support packaging and collateralisation of assets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system transactional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system transactional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Accounting &amp; Other Reference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Prices and valuations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Workflow engine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Full visibility and audit trail of:</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Accounting standards, methodologies and rules applied on original recording and all subsequent revaluations &amp; adjustments.</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Valuation and adjustment amounts, dates etc.</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Supporting documentation</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Approvals</a:t>
                      </a:r>
                      <a:endParaRPr/>
                    </a:p>
                    <a:p>
                      <a:pPr indent="-180975" lvl="0" marL="180975"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a:t>
                      </a:r>
                      <a:endParaRPr/>
                    </a:p>
                    <a:p>
                      <a:pPr indent="-169862" lvl="1" marL="3619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Decisions  on acquisitions and sales of assets</a:t>
                      </a:r>
                      <a:endParaRPr/>
                    </a:p>
                    <a:p>
                      <a:pPr indent="-169862" lvl="1" marL="3619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Management of assets</a:t>
                      </a:r>
                      <a:endParaRPr/>
                    </a:p>
                    <a:p>
                      <a:pPr indent="-180975" lvl="0" marL="180975"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adaptability to evolving valuation rules</a:t>
                      </a:r>
                      <a:endParaRPr/>
                    </a:p>
                    <a:p>
                      <a:pPr indent="-180975" lvl="0" marL="180975"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Recognition of undervalued assets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483" name="Google Shape;4483;p24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Asset Valuations</a:t>
            </a:r>
            <a:endParaRPr sz="1600"/>
          </a:p>
        </p:txBody>
      </p:sp>
      <p:sp>
        <p:nvSpPr>
          <p:cNvPr id="4484" name="Google Shape;4484;p24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485" name="Google Shape;4485;p242"/>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486" name="Google Shape;4486;p242"/>
          <p:cNvGrpSpPr/>
          <p:nvPr/>
        </p:nvGrpSpPr>
        <p:grpSpPr>
          <a:xfrm>
            <a:off x="7717533" y="4360377"/>
            <a:ext cx="1058348" cy="347375"/>
            <a:chOff x="7651698" y="4287227"/>
            <a:chExt cx="1058348" cy="347375"/>
          </a:xfrm>
        </p:grpSpPr>
        <p:grpSp>
          <p:nvGrpSpPr>
            <p:cNvPr id="4487" name="Google Shape;4487;p242"/>
            <p:cNvGrpSpPr/>
            <p:nvPr/>
          </p:nvGrpSpPr>
          <p:grpSpPr>
            <a:xfrm>
              <a:off x="7714163" y="4337598"/>
              <a:ext cx="995883" cy="297004"/>
              <a:chOff x="7711013" y="3986494"/>
              <a:chExt cx="995883" cy="297004"/>
            </a:xfrm>
          </p:grpSpPr>
          <p:sp>
            <p:nvSpPr>
              <p:cNvPr id="4488" name="Google Shape;4488;p24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489" name="Google Shape;4489;p242"/>
              <p:cNvGrpSpPr/>
              <p:nvPr/>
            </p:nvGrpSpPr>
            <p:grpSpPr>
              <a:xfrm>
                <a:off x="7711013" y="4002615"/>
                <a:ext cx="281520" cy="241973"/>
                <a:chOff x="5652748" y="4066000"/>
                <a:chExt cx="906498" cy="747974"/>
              </a:xfrm>
            </p:grpSpPr>
            <p:sp>
              <p:nvSpPr>
                <p:cNvPr id="4490" name="Google Shape;4490;p24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91" name="Google Shape;4491;p24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92" name="Google Shape;4492;p24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93" name="Google Shape;4493;p24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12" name="Shape 4512"/>
        <p:cNvGrpSpPr/>
        <p:nvPr/>
      </p:nvGrpSpPr>
      <p:grpSpPr>
        <a:xfrm>
          <a:off x="0" y="0"/>
          <a:ext cx="0" cy="0"/>
          <a:chOff x="0" y="0"/>
          <a:chExt cx="0" cy="0"/>
        </a:xfrm>
      </p:grpSpPr>
      <p:cxnSp>
        <p:nvCxnSpPr>
          <p:cNvPr id="4513" name="Google Shape;4513;p24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514" name="Google Shape;4514;p24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Accurately estimate and account for future losses and/or establish reserves in recognition of anticipated:</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Bad debts and other ‘Contra-Assets’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Asset impairments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Warranty costs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Gift cards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Loyalty programmes</a:t>
                      </a:r>
                      <a:endParaRPr b="0" sz="900">
                        <a:solidFill>
                          <a:schemeClr val="dk1"/>
                        </a:solidFill>
                      </a:endParaRPr>
                    </a:p>
                    <a:p>
                      <a:pPr indent="0" lvl="0" marL="192088" marR="0" rtl="0" algn="l">
                        <a:lnSpc>
                          <a:spcPct val="100000"/>
                        </a:lnSpc>
                        <a:spcBef>
                          <a:spcPts val="0"/>
                        </a:spcBef>
                        <a:spcAft>
                          <a:spcPts val="0"/>
                        </a:spcAft>
                        <a:buClr>
                          <a:schemeClr val="dk1"/>
                        </a:buClr>
                        <a:buSzPts val="900"/>
                        <a:buFont typeface="Century Gothic"/>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Historic losses, redemptions, warranty claims, recalls, product/component traceability etc. at a granular level</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Unstructured data (e.g. sensors, call centre logs, social media, supplier terms &amp; conditions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Reference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Statistical analytic toolset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Advanced analytic toolset</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The calculated reserves are sufficient to properly reflect and account for estimated future losses or liabilities.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Provisions or reserves are established at the required level of detail or granularity (e.g. by Contract, Product,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Over-provisioning is avoided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Reserves are calculated with minimal manual intervention based on up up-to-date and accurate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Net movements in provisions and reserves are calculated and accounted for on an automated basis.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515" name="Google Shape;4515;p24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Reserve Analytics</a:t>
            </a:r>
            <a:endParaRPr sz="1600"/>
          </a:p>
        </p:txBody>
      </p:sp>
      <p:sp>
        <p:nvSpPr>
          <p:cNvPr id="4516" name="Google Shape;4516;p24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517" name="Google Shape;4517;p244"/>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518" name="Google Shape;4518;p244"/>
          <p:cNvGrpSpPr/>
          <p:nvPr/>
        </p:nvGrpSpPr>
        <p:grpSpPr>
          <a:xfrm>
            <a:off x="7717533" y="4360377"/>
            <a:ext cx="1058348" cy="347375"/>
            <a:chOff x="7651698" y="4287227"/>
            <a:chExt cx="1058348" cy="347375"/>
          </a:xfrm>
        </p:grpSpPr>
        <p:grpSp>
          <p:nvGrpSpPr>
            <p:cNvPr id="4519" name="Google Shape;4519;p244"/>
            <p:cNvGrpSpPr/>
            <p:nvPr/>
          </p:nvGrpSpPr>
          <p:grpSpPr>
            <a:xfrm>
              <a:off x="7714163" y="4337598"/>
              <a:ext cx="995883" cy="297004"/>
              <a:chOff x="7711013" y="3986494"/>
              <a:chExt cx="995883" cy="297004"/>
            </a:xfrm>
          </p:grpSpPr>
          <p:sp>
            <p:nvSpPr>
              <p:cNvPr id="4520" name="Google Shape;4520;p24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521" name="Google Shape;4521;p244"/>
              <p:cNvGrpSpPr/>
              <p:nvPr/>
            </p:nvGrpSpPr>
            <p:grpSpPr>
              <a:xfrm>
                <a:off x="7711013" y="4002615"/>
                <a:ext cx="281520" cy="241973"/>
                <a:chOff x="5652748" y="4066000"/>
                <a:chExt cx="906498" cy="747974"/>
              </a:xfrm>
            </p:grpSpPr>
            <p:sp>
              <p:nvSpPr>
                <p:cNvPr id="4522" name="Google Shape;4522;p24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523" name="Google Shape;4523;p24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24" name="Google Shape;4524;p24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525" name="Google Shape;4525;p24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44" name="Shape 4544"/>
        <p:cNvGrpSpPr/>
        <p:nvPr/>
      </p:nvGrpSpPr>
      <p:grpSpPr>
        <a:xfrm>
          <a:off x="0" y="0"/>
          <a:ext cx="0" cy="0"/>
          <a:chOff x="0" y="0"/>
          <a:chExt cx="0" cy="0"/>
        </a:xfrm>
      </p:grpSpPr>
      <p:cxnSp>
        <p:nvCxnSpPr>
          <p:cNvPr id="4545" name="Google Shape;4545;p24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546" name="Google Shape;4546;p24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Efficient and automated tax calculation and reporting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accommodate changes in tax regulations quickly, and with minimal cost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drill-down from summary-level information to detailed tax calculations with full detail and audit trail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accurately and transparently reflect differences between financial accounting and tax accounting.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support multiple tax  treatments/views /reporting regimes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respond quickly to inquiries from tax authorities quickly, and with high-quality information.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Organisational reference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Tax rule and rate documentation</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Tax transaction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Financial transaction data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 robust enterprise data warehouse, with reconciliation tool which consolidates data across the enterprise, and acts as a central anchor point between sources, data warehouse and reports to enable traceability of tax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Harmonization of business definitions to establish a common language as basis for consistent true and fair tax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Rules-based calculation engine for granular tax calculations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Tax liability optimisation with direct impact on the net profit of the company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Tax law Compliance, with clear and consistent lineage between the original transaction and the final tax return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Operational risk reduction by accurate, on time tax calculation and tax process management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relationship with tax authorities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the credibility and reputation of the company</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547" name="Google Shape;4547;p24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Tax Management &amp; Optimisation</a:t>
            </a:r>
            <a:endParaRPr sz="1600"/>
          </a:p>
        </p:txBody>
      </p:sp>
      <p:sp>
        <p:nvSpPr>
          <p:cNvPr id="4548" name="Google Shape;4548;p24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549" name="Google Shape;4549;p246"/>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550" name="Google Shape;4550;p246"/>
          <p:cNvGrpSpPr/>
          <p:nvPr/>
        </p:nvGrpSpPr>
        <p:grpSpPr>
          <a:xfrm>
            <a:off x="7717533" y="4360377"/>
            <a:ext cx="1058348" cy="347375"/>
            <a:chOff x="7651698" y="4287227"/>
            <a:chExt cx="1058348" cy="347375"/>
          </a:xfrm>
        </p:grpSpPr>
        <p:grpSp>
          <p:nvGrpSpPr>
            <p:cNvPr id="4551" name="Google Shape;4551;p246"/>
            <p:cNvGrpSpPr/>
            <p:nvPr/>
          </p:nvGrpSpPr>
          <p:grpSpPr>
            <a:xfrm>
              <a:off x="7714163" y="4337598"/>
              <a:ext cx="995883" cy="297004"/>
              <a:chOff x="7711013" y="3986494"/>
              <a:chExt cx="995883" cy="297004"/>
            </a:xfrm>
          </p:grpSpPr>
          <p:sp>
            <p:nvSpPr>
              <p:cNvPr id="4552" name="Google Shape;4552;p24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553" name="Google Shape;4553;p246"/>
              <p:cNvGrpSpPr/>
              <p:nvPr/>
            </p:nvGrpSpPr>
            <p:grpSpPr>
              <a:xfrm>
                <a:off x="7711013" y="4002615"/>
                <a:ext cx="281520" cy="241973"/>
                <a:chOff x="5652748" y="4066000"/>
                <a:chExt cx="906498" cy="747974"/>
              </a:xfrm>
            </p:grpSpPr>
            <p:sp>
              <p:nvSpPr>
                <p:cNvPr id="4554" name="Google Shape;4554;p24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555" name="Google Shape;4555;p24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56" name="Google Shape;4556;p24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557" name="Google Shape;4557;p24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76" name="Shape 4576"/>
        <p:cNvGrpSpPr/>
        <p:nvPr/>
      </p:nvGrpSpPr>
      <p:grpSpPr>
        <a:xfrm>
          <a:off x="0" y="0"/>
          <a:ext cx="0" cy="0"/>
          <a:chOff x="0" y="0"/>
          <a:chExt cx="0" cy="0"/>
        </a:xfrm>
      </p:grpSpPr>
      <p:cxnSp>
        <p:nvCxnSpPr>
          <p:cNvPr id="4577" name="Google Shape;4577;p24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578" name="Google Shape;4578;p24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Ensure business users can confidently use data for decision making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Automate reconciliation, validation and adjustment processes as far as possible.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for different types of reconciliation and validation approaches (e.g. comparison between sources, outlier analysis vs. historic norms)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Ensure that users of data throughout the organisation understand the reconciliation and validation status of each data item, and whether it has been (or might be) subject to adjustment(s).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Transparency and drilldown from summary-level values to detail, including the impact of any adjustments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Audit trail of reconciliation, validation and adjustment sign-offs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GL balance and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system balance and detailed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Transaction, Reporting, Base currencies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F/X rates, internal deal or internal rates on transaction level.</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In-database reconciliation engine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Reference data management solution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 of choice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confident and trusted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time and effort related to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Enterprise wide data standards, governance and policy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Necessary adjustments reflected in data warehouse and/or pushed back to the source systems (depending on requirement).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579" name="Google Shape;4579;p24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Reconciliation, Validation &amp; Adjustments</a:t>
            </a:r>
            <a:endParaRPr sz="1600"/>
          </a:p>
        </p:txBody>
      </p:sp>
      <p:sp>
        <p:nvSpPr>
          <p:cNvPr id="4580" name="Google Shape;4580;p2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581" name="Google Shape;4581;p24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582" name="Google Shape;4582;p248"/>
          <p:cNvGrpSpPr/>
          <p:nvPr/>
        </p:nvGrpSpPr>
        <p:grpSpPr>
          <a:xfrm>
            <a:off x="7717533" y="4360377"/>
            <a:ext cx="1058348" cy="347375"/>
            <a:chOff x="7651698" y="4287227"/>
            <a:chExt cx="1058348" cy="347375"/>
          </a:xfrm>
        </p:grpSpPr>
        <p:grpSp>
          <p:nvGrpSpPr>
            <p:cNvPr id="4583" name="Google Shape;4583;p248"/>
            <p:cNvGrpSpPr/>
            <p:nvPr/>
          </p:nvGrpSpPr>
          <p:grpSpPr>
            <a:xfrm>
              <a:off x="7714163" y="4337598"/>
              <a:ext cx="995883" cy="297004"/>
              <a:chOff x="7711013" y="3986494"/>
              <a:chExt cx="995883" cy="297004"/>
            </a:xfrm>
          </p:grpSpPr>
          <p:sp>
            <p:nvSpPr>
              <p:cNvPr id="4584" name="Google Shape;4584;p24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585" name="Google Shape;4585;p248"/>
              <p:cNvGrpSpPr/>
              <p:nvPr/>
            </p:nvGrpSpPr>
            <p:grpSpPr>
              <a:xfrm>
                <a:off x="7711013" y="4002615"/>
                <a:ext cx="281520" cy="241973"/>
                <a:chOff x="5652748" y="4066000"/>
                <a:chExt cx="906498" cy="747974"/>
              </a:xfrm>
            </p:grpSpPr>
            <p:sp>
              <p:nvSpPr>
                <p:cNvPr id="4586" name="Google Shape;4586;p24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587" name="Google Shape;4587;p24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88" name="Google Shape;4588;p24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589" name="Google Shape;4589;p24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08" name="Shape 4608"/>
        <p:cNvGrpSpPr/>
        <p:nvPr/>
      </p:nvGrpSpPr>
      <p:grpSpPr>
        <a:xfrm>
          <a:off x="0" y="0"/>
          <a:ext cx="0" cy="0"/>
          <a:chOff x="0" y="0"/>
          <a:chExt cx="0" cy="0"/>
        </a:xfrm>
      </p:grpSpPr>
      <p:cxnSp>
        <p:nvCxnSpPr>
          <p:cNvPr id="4609" name="Google Shape;4609;p25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610" name="Google Shape;4610;p25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Timely, accurate and efficient reporting of consolidated financial information across multiple ERPs and legal entities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Consolidated financials as a basis for business and operational decision making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Minimise data movement, duplication and reconciliation.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data lineage and drilldown capabilities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Effectively and efficiently identify Intercompany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complexity and cost of consolidation process through:</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Standardisation of data, definitions, tools and processes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manual reconciliation and late adjustments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platform and data duplication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GL Balances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accounting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Organisational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In-database Consolidation Engine solution </a:t>
                      </a:r>
                      <a:r>
                        <a:rPr b="1" i="1" lang="en-GB" sz="900">
                          <a:solidFill>
                            <a:schemeClr val="dk1"/>
                          </a:solidFill>
                        </a:rPr>
                        <a:t>or </a:t>
                      </a:r>
                      <a:r>
                        <a:rPr b="0" i="0" lang="en-GB" sz="900">
                          <a:solidFill>
                            <a:schemeClr val="dk1"/>
                          </a:solidFill>
                        </a:rPr>
                        <a:t>B</a:t>
                      </a:r>
                      <a:r>
                        <a:rPr lang="en-GB" sz="900">
                          <a:solidFill>
                            <a:schemeClr val="dk1"/>
                          </a:solidFill>
                        </a:rPr>
                        <a:t>est-of-breed consolidation tool</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Close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Seamless drill-down from consolidated financial statements to individual sets of books</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Full control, audit and traceability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611" name="Google Shape;4611;p25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Consolidation</a:t>
            </a:r>
            <a:endParaRPr sz="1600"/>
          </a:p>
        </p:txBody>
      </p:sp>
      <p:sp>
        <p:nvSpPr>
          <p:cNvPr id="4612" name="Google Shape;4612;p25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613" name="Google Shape;4613;p250"/>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614" name="Google Shape;4614;p250"/>
          <p:cNvGrpSpPr/>
          <p:nvPr/>
        </p:nvGrpSpPr>
        <p:grpSpPr>
          <a:xfrm>
            <a:off x="7717533" y="4360377"/>
            <a:ext cx="1058348" cy="347375"/>
            <a:chOff x="7651698" y="4287227"/>
            <a:chExt cx="1058348" cy="347375"/>
          </a:xfrm>
        </p:grpSpPr>
        <p:grpSp>
          <p:nvGrpSpPr>
            <p:cNvPr id="4615" name="Google Shape;4615;p250"/>
            <p:cNvGrpSpPr/>
            <p:nvPr/>
          </p:nvGrpSpPr>
          <p:grpSpPr>
            <a:xfrm>
              <a:off x="7714163" y="4337598"/>
              <a:ext cx="995883" cy="297004"/>
              <a:chOff x="7711013" y="3986494"/>
              <a:chExt cx="995883" cy="297004"/>
            </a:xfrm>
          </p:grpSpPr>
          <p:sp>
            <p:nvSpPr>
              <p:cNvPr id="4616" name="Google Shape;4616;p25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617" name="Google Shape;4617;p250"/>
              <p:cNvGrpSpPr/>
              <p:nvPr/>
            </p:nvGrpSpPr>
            <p:grpSpPr>
              <a:xfrm>
                <a:off x="7711013" y="4002615"/>
                <a:ext cx="281520" cy="241973"/>
                <a:chOff x="5652748" y="4066000"/>
                <a:chExt cx="906498" cy="747974"/>
              </a:xfrm>
            </p:grpSpPr>
            <p:sp>
              <p:nvSpPr>
                <p:cNvPr id="4618" name="Google Shape;4618;p2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619" name="Google Shape;4619;p2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620" name="Google Shape;4620;p2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621" name="Google Shape;4621;p25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40" name="Shape 4640"/>
        <p:cNvGrpSpPr/>
        <p:nvPr/>
      </p:nvGrpSpPr>
      <p:grpSpPr>
        <a:xfrm>
          <a:off x="0" y="0"/>
          <a:ext cx="0" cy="0"/>
          <a:chOff x="0" y="0"/>
          <a:chExt cx="0" cy="0"/>
        </a:xfrm>
      </p:grpSpPr>
      <p:cxnSp>
        <p:nvCxnSpPr>
          <p:cNvPr id="4641" name="Google Shape;4641;p25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642" name="Google Shape;4642;p25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The ability to deliver functional P&amp;L statements for profit centres and segments, including those not directly supported by the GL/ERP/Consolidation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Reflect all revenues and related expenses generated by the reporting entity over the reporting period.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monitor and analyse which entities are the most and least profitable within an organization.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Minimise manual processes in the delivery of functional P&amp;Ls..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accounting  data, interest accruals, fees, commissions, maturities, repricing and repayment schedule, counterparty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F/X rates, internal deal or internal rates on transaction level,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Accounting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 solution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Allocation engine.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Data Management solution to manage reference data and maintain hierarchies and mappings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 of choice</a:t>
                      </a:r>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create Functional P&amp;L statements for any reporting entity from granular accounting detail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Seamless drill-down from summary level financial statements to transaction-level accounting and operational system detail.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delivery of internal financial reporting.</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643" name="Google Shape;4643;p25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Functional Profit &amp; Loss Statement</a:t>
            </a:r>
            <a:endParaRPr sz="1600"/>
          </a:p>
        </p:txBody>
      </p:sp>
      <p:sp>
        <p:nvSpPr>
          <p:cNvPr id="4644" name="Google Shape;4644;p25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645" name="Google Shape;4645;p252"/>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646" name="Google Shape;4646;p252"/>
          <p:cNvGrpSpPr/>
          <p:nvPr/>
        </p:nvGrpSpPr>
        <p:grpSpPr>
          <a:xfrm>
            <a:off x="7717533" y="4360377"/>
            <a:ext cx="1058348" cy="347375"/>
            <a:chOff x="7651698" y="4287227"/>
            <a:chExt cx="1058348" cy="347375"/>
          </a:xfrm>
        </p:grpSpPr>
        <p:grpSp>
          <p:nvGrpSpPr>
            <p:cNvPr id="4647" name="Google Shape;4647;p252"/>
            <p:cNvGrpSpPr/>
            <p:nvPr/>
          </p:nvGrpSpPr>
          <p:grpSpPr>
            <a:xfrm>
              <a:off x="7714163" y="4337598"/>
              <a:ext cx="995883" cy="297004"/>
              <a:chOff x="7711013" y="3986494"/>
              <a:chExt cx="995883" cy="297004"/>
            </a:xfrm>
          </p:grpSpPr>
          <p:sp>
            <p:nvSpPr>
              <p:cNvPr id="4648" name="Google Shape;4648;p25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649" name="Google Shape;4649;p252"/>
              <p:cNvGrpSpPr/>
              <p:nvPr/>
            </p:nvGrpSpPr>
            <p:grpSpPr>
              <a:xfrm>
                <a:off x="7711013" y="4002615"/>
                <a:ext cx="281520" cy="241973"/>
                <a:chOff x="5652748" y="4066000"/>
                <a:chExt cx="906498" cy="747974"/>
              </a:xfrm>
            </p:grpSpPr>
            <p:sp>
              <p:nvSpPr>
                <p:cNvPr id="4650" name="Google Shape;4650;p25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651" name="Google Shape;4651;p25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652" name="Google Shape;4652;p25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653" name="Google Shape;4653;p25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71" name="Shape 4671"/>
        <p:cNvGrpSpPr/>
        <p:nvPr/>
      </p:nvGrpSpPr>
      <p:grpSpPr>
        <a:xfrm>
          <a:off x="0" y="0"/>
          <a:ext cx="0" cy="0"/>
          <a:chOff x="0" y="0"/>
          <a:chExt cx="0" cy="0"/>
        </a:xfrm>
      </p:grpSpPr>
      <p:pic>
        <p:nvPicPr>
          <p:cNvPr id="4672" name="Google Shape;4672;p254"/>
          <p:cNvPicPr preferRelativeResize="0"/>
          <p:nvPr/>
        </p:nvPicPr>
        <p:blipFill rotWithShape="1">
          <a:blip r:embed="rId3">
            <a:alphaModFix/>
          </a:blip>
          <a:srcRect b="0" l="0" r="12622" t="0"/>
          <a:stretch/>
        </p:blipFill>
        <p:spPr>
          <a:xfrm>
            <a:off x="5561013" y="0"/>
            <a:ext cx="3582987" cy="5143500"/>
          </a:xfrm>
          <a:prstGeom prst="rect">
            <a:avLst/>
          </a:prstGeom>
          <a:noFill/>
          <a:ln>
            <a:noFill/>
          </a:ln>
        </p:spPr>
      </p:pic>
      <p:sp>
        <p:nvSpPr>
          <p:cNvPr id="4673" name="Google Shape;4673;p254"/>
          <p:cNvSpPr txBox="1"/>
          <p:nvPr>
            <p:ph idx="1" type="body"/>
          </p:nvPr>
        </p:nvSpPr>
        <p:spPr>
          <a:xfrm>
            <a:off x="455485" y="2431144"/>
            <a:ext cx="4662784" cy="229673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0" lvl="0" marL="0" rtl="0" algn="l">
              <a:lnSpc>
                <a:spcPct val="95000"/>
              </a:lnSpc>
              <a:spcBef>
                <a:spcPts val="200"/>
              </a:spcBef>
              <a:spcAft>
                <a:spcPts val="0"/>
              </a:spcAft>
              <a:buClr>
                <a:schemeClr val="dk1"/>
              </a:buClr>
              <a:buSzPts val="1200"/>
              <a:buNone/>
            </a:pPr>
            <a:r>
              <a:rPr lang="en-GB" sz="1200"/>
              <a:t>Enterprise Performance Management covers two main areas:</a:t>
            </a:r>
            <a:endParaRPr sz="1200"/>
          </a:p>
          <a:p>
            <a:pPr indent="-169863" lvl="0" marL="169863" rtl="0" algn="l">
              <a:lnSpc>
                <a:spcPct val="95000"/>
              </a:lnSpc>
              <a:spcBef>
                <a:spcPts val="600"/>
              </a:spcBef>
              <a:spcAft>
                <a:spcPts val="0"/>
              </a:spcAft>
              <a:buClr>
                <a:schemeClr val="dk1"/>
              </a:buClr>
              <a:buSzPts val="1200"/>
              <a:buChar char="•"/>
            </a:pPr>
            <a:r>
              <a:rPr lang="en-GB" sz="1200"/>
              <a:t>Driving more efficient financial processes, enable greater control and transparency, and promote regulatory compliance (e.g. minimizing reputational risk because of incorrect financial statements.)</a:t>
            </a:r>
            <a:endParaRPr sz="1200"/>
          </a:p>
          <a:p>
            <a:pPr indent="-169863" lvl="0" marL="169863" rtl="0" algn="l">
              <a:lnSpc>
                <a:spcPct val="95000"/>
              </a:lnSpc>
              <a:spcBef>
                <a:spcPts val="600"/>
              </a:spcBef>
              <a:spcAft>
                <a:spcPts val="0"/>
              </a:spcAft>
              <a:buClr>
                <a:schemeClr val="dk1"/>
              </a:buClr>
              <a:buSzPts val="1200"/>
              <a:buChar char="•"/>
            </a:pPr>
            <a:r>
              <a:rPr lang="en-GB" sz="1200"/>
              <a:t>Measuring, monitoring and improving performance across the organisation through better profitability analytics, internal management reporting, budget, planning and forecasting etc.</a:t>
            </a:r>
            <a:endParaRPr sz="1200"/>
          </a:p>
        </p:txBody>
      </p:sp>
      <p:sp>
        <p:nvSpPr>
          <p:cNvPr id="4674" name="Google Shape;4674;p254"/>
          <p:cNvSpPr txBox="1"/>
          <p:nvPr>
            <p:ph type="title"/>
          </p:nvPr>
        </p:nvSpPr>
        <p:spPr>
          <a:xfrm>
            <a:off x="433348"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Enterprise Performance </a:t>
            </a:r>
            <a:br>
              <a:rPr lang="en-GB"/>
            </a:br>
            <a:r>
              <a:rPr lang="en-GB"/>
              <a:t>Management</a:t>
            </a:r>
            <a:endParaRPr/>
          </a:p>
        </p:txBody>
      </p:sp>
      <p:sp>
        <p:nvSpPr>
          <p:cNvPr id="4675" name="Google Shape;4675;p254"/>
          <p:cNvSpPr/>
          <p:nvPr/>
        </p:nvSpPr>
        <p:spPr>
          <a:xfrm>
            <a:off x="-5255" y="1013819"/>
            <a:ext cx="7205662" cy="1281867"/>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90488" marR="0" rtl="0" algn="l">
              <a:spcBef>
                <a:spcPts val="0"/>
              </a:spcBef>
              <a:spcAft>
                <a:spcPts val="0"/>
              </a:spcAft>
              <a:buNone/>
            </a:pPr>
            <a:r>
              <a:rPr b="0" i="1" lang="en-GB" sz="1400" u="none" cap="none" strike="noStrike">
                <a:solidFill>
                  <a:schemeClr val="lt1"/>
                </a:solidFill>
                <a:latin typeface="Century Gothic"/>
                <a:ea typeface="Century Gothic"/>
                <a:cs typeface="Century Gothic"/>
                <a:sym typeface="Century Gothic"/>
              </a:rPr>
              <a:t>Enterprise Performance Management is a critical responsibility of the CFO department, focused on topics such as budget/planning, profitability analytics and calculation of KPIs and performance metrics. The objective is to deliver value-adding information to external and internal stakeholders in a fast and efficient manner.</a:t>
            </a:r>
            <a:endParaRPr/>
          </a:p>
        </p:txBody>
      </p:sp>
      <p:sp>
        <p:nvSpPr>
          <p:cNvPr id="4676" name="Google Shape;4676;p25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44" name="Shape 4744"/>
        <p:cNvGrpSpPr/>
        <p:nvPr/>
      </p:nvGrpSpPr>
      <p:grpSpPr>
        <a:xfrm>
          <a:off x="0" y="0"/>
          <a:ext cx="0" cy="0"/>
          <a:chOff x="0" y="0"/>
          <a:chExt cx="0" cy="0"/>
        </a:xfrm>
      </p:grpSpPr>
      <p:pic>
        <p:nvPicPr>
          <p:cNvPr descr="FIN-1012-L.jpg" id="4745" name="Google Shape;4745;p259"/>
          <p:cNvPicPr preferRelativeResize="0"/>
          <p:nvPr/>
        </p:nvPicPr>
        <p:blipFill rotWithShape="1">
          <a:blip r:embed="rId3">
            <a:alphaModFix/>
          </a:blip>
          <a:srcRect b="0" l="23003" r="86" t="0"/>
          <a:stretch/>
        </p:blipFill>
        <p:spPr>
          <a:xfrm>
            <a:off x="5648154" y="279312"/>
            <a:ext cx="3316459" cy="2210972"/>
          </a:xfrm>
          <a:prstGeom prst="rect">
            <a:avLst/>
          </a:prstGeom>
          <a:noFill/>
          <a:ln>
            <a:noFill/>
          </a:ln>
        </p:spPr>
      </p:pic>
      <p:cxnSp>
        <p:nvCxnSpPr>
          <p:cNvPr id="4746" name="Google Shape;4746;p25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747" name="Google Shape;4747;p25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Provide knowledge to the enterprise of the components of the mix of the revenue being generated and the margins associated with these products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The enterprise must be able to understand either how to maximize high margin products/services or clearly understand what happens if “lower margin” products/services are sold and the </a:t>
                      </a:r>
                      <a:r>
                        <a:rPr b="0" lang="en-GB" sz="900">
                          <a:solidFill>
                            <a:schemeClr val="dk1"/>
                          </a:solidFill>
                        </a:rPr>
                        <a:t> impact</a:t>
                      </a:r>
                      <a:r>
                        <a:rPr b="0" lang="en-GB" sz="900">
                          <a:solidFill>
                            <a:schemeClr val="dk1"/>
                          </a:solidFill>
                        </a:rPr>
                        <a:t> on the cash flow and income statement.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Maximization</a:t>
                      </a:r>
                      <a:r>
                        <a:rPr b="0" lang="en-GB" sz="900">
                          <a:solidFill>
                            <a:schemeClr val="dk1"/>
                          </a:solidFill>
                        </a:rPr>
                        <a:t> of ancillary revenue opportunities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sales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External influencer models (e.g. – web logs, social, weather,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 and buying patterns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delivering single source of integrated data for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Develop price optimisation methodologies to rapidly respond to the changing buying habits.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Use of unstructured</a:t>
                      </a:r>
                      <a:r>
                        <a:rPr b="0" lang="en-GB" sz="900">
                          <a:solidFill>
                            <a:schemeClr val="dk1"/>
                          </a:solidFill>
                        </a:rPr>
                        <a:t> data (social, web logs, weather, etc.) can be used to maximize sales opportunities</a:t>
                      </a:r>
                      <a:endParaRPr b="0"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analyze and understand in more detail the:</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Prices and margins which they are currently able to achieve for each product or service for different combinations of customer / segment / channel etc.</a:t>
                      </a:r>
                      <a:endParaRPr/>
                    </a:p>
                    <a:p>
                      <a:pPr indent="-114300" lvl="1" marL="628650" marR="0" rtl="0" algn="l">
                        <a:lnSpc>
                          <a:spcPct val="100000"/>
                        </a:lnSpc>
                        <a:spcBef>
                          <a:spcPts val="0"/>
                        </a:spcBef>
                        <a:spcAft>
                          <a:spcPts val="0"/>
                        </a:spcAft>
                        <a:buClr>
                          <a:schemeClr val="dk1"/>
                        </a:buClr>
                        <a:buSzPts val="900"/>
                        <a:buFont typeface="Arial"/>
                        <a:buNone/>
                      </a:pPr>
                      <a:r>
                        <a:t/>
                      </a:r>
                      <a:endParaRPr sz="900" u="none" cap="none" strike="noStrike">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Obtain insights to an organisation’s product pricing strategy</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Provide insight into the competitive landscape, pricing strategies of competitors, and changing customer demographics and buying patterns and channels.</a:t>
                      </a:r>
                      <a:endParaRPr/>
                    </a:p>
                    <a:p>
                      <a:pPr indent="-114300" lvl="1" marL="628650" marR="0" rtl="0" algn="l">
                        <a:lnSpc>
                          <a:spcPct val="100000"/>
                        </a:lnSpc>
                        <a:spcBef>
                          <a:spcPts val="0"/>
                        </a:spcBef>
                        <a:spcAft>
                          <a:spcPts val="0"/>
                        </a:spcAft>
                        <a:buClr>
                          <a:schemeClr val="dk1"/>
                        </a:buClr>
                        <a:buSzPts val="900"/>
                        <a:buFont typeface="Arial"/>
                        <a:buNone/>
                      </a:pPr>
                      <a:r>
                        <a:t/>
                      </a:r>
                      <a:endParaRPr sz="900" u="none" cap="none" strike="noStrike">
                        <a:solidFill>
                          <a:schemeClr val="dk1"/>
                        </a:solidFill>
                        <a:latin typeface="Century Gothic"/>
                        <a:ea typeface="Century Gothic"/>
                        <a:cs typeface="Century Gothic"/>
                        <a:sym typeface="Century Gothic"/>
                      </a:endParaRPr>
                    </a:p>
                    <a:p>
                      <a:pPr indent="-114300" lvl="1" marL="628650" marR="0" rtl="0" algn="l">
                        <a:lnSpc>
                          <a:spcPct val="100000"/>
                        </a:lnSpc>
                        <a:spcBef>
                          <a:spcPts val="0"/>
                        </a:spcBef>
                        <a:spcAft>
                          <a:spcPts val="0"/>
                        </a:spcAft>
                        <a:buClr>
                          <a:schemeClr val="dk1"/>
                        </a:buClr>
                        <a:buSzPts val="900"/>
                        <a:buFont typeface="Arial"/>
                        <a:buNone/>
                      </a:pPr>
                      <a:r>
                        <a:t/>
                      </a:r>
                      <a:endParaRPr sz="900" u="none" cap="none" strike="noStrike">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748" name="Google Shape;4748;p25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Revenue Analytics</a:t>
            </a:r>
            <a:endParaRPr sz="1600"/>
          </a:p>
        </p:txBody>
      </p:sp>
      <p:grpSp>
        <p:nvGrpSpPr>
          <p:cNvPr id="4749" name="Google Shape;4749;p259"/>
          <p:cNvGrpSpPr/>
          <p:nvPr/>
        </p:nvGrpSpPr>
        <p:grpSpPr>
          <a:xfrm>
            <a:off x="7717533" y="4360377"/>
            <a:ext cx="1058348" cy="347375"/>
            <a:chOff x="7651698" y="4287227"/>
            <a:chExt cx="1058348" cy="347375"/>
          </a:xfrm>
        </p:grpSpPr>
        <p:grpSp>
          <p:nvGrpSpPr>
            <p:cNvPr id="4750" name="Google Shape;4750;p259"/>
            <p:cNvGrpSpPr/>
            <p:nvPr/>
          </p:nvGrpSpPr>
          <p:grpSpPr>
            <a:xfrm>
              <a:off x="7714163" y="4337598"/>
              <a:ext cx="995883" cy="297004"/>
              <a:chOff x="7711013" y="3986494"/>
              <a:chExt cx="995883" cy="297004"/>
            </a:xfrm>
          </p:grpSpPr>
          <p:sp>
            <p:nvSpPr>
              <p:cNvPr id="4751" name="Google Shape;4751;p25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752" name="Google Shape;4752;p259"/>
              <p:cNvGrpSpPr/>
              <p:nvPr/>
            </p:nvGrpSpPr>
            <p:grpSpPr>
              <a:xfrm>
                <a:off x="7711013" y="4002615"/>
                <a:ext cx="281520" cy="241973"/>
                <a:chOff x="5652748" y="4066000"/>
                <a:chExt cx="906498" cy="747974"/>
              </a:xfrm>
            </p:grpSpPr>
            <p:sp>
              <p:nvSpPr>
                <p:cNvPr id="4753" name="Google Shape;4753;p25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754" name="Google Shape;4754;p25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755" name="Google Shape;4755;p25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756" name="Google Shape;4756;p259">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757" name="Google Shape;4757;p259">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76" name="Shape 4776"/>
        <p:cNvGrpSpPr/>
        <p:nvPr/>
      </p:nvGrpSpPr>
      <p:grpSpPr>
        <a:xfrm>
          <a:off x="0" y="0"/>
          <a:ext cx="0" cy="0"/>
          <a:chOff x="0" y="0"/>
          <a:chExt cx="0" cy="0"/>
        </a:xfrm>
      </p:grpSpPr>
      <p:cxnSp>
        <p:nvCxnSpPr>
          <p:cNvPr id="4777" name="Google Shape;4777;p26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778" name="Google Shape;4778;p261"/>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Large organisations face challenges in understanding and managing their costs, across a range of areas, including Human Resources, Suppliers and other Expenses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Data is often distributed across a fragmented landscape of ERP systems, HR systems, GL, payment systems and expenses systems.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Organisations want to be able to analyse, understand and optimise their costs across the entire enterprise and ensure maximum organisational efficiency.</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GL, AP, HR data; suppliers, orders, procurement process, supplier performance; plans / budgets / forecasts for prior periods, plus performance against those metrics; Profitability metrics.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delivering single source of integrated data for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Options for out-of-the-box data extraction/interface from common ERP solutions.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BI / OLAP tool of choice for reporting, drill-down, visualisation,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costs through:</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Better understanding and alignment of cross-organisation spend.</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Ability to demonstrate and measure relationships between cost/spend and profitable business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Better informed decisions on where to focus cost management activities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Improved organisational efficiency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ability to measure, monitor and track improvements to cost base over time in a systematic and automated way.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779" name="Google Shape;4779;p26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GL, AP, HR, Expense Analytics &amp;</a:t>
            </a:r>
            <a:br>
              <a:rPr lang="en-GB"/>
            </a:br>
            <a:r>
              <a:rPr lang="en-GB"/>
              <a:t>Optimisation</a:t>
            </a:r>
            <a:endParaRPr sz="1600"/>
          </a:p>
        </p:txBody>
      </p:sp>
      <p:sp>
        <p:nvSpPr>
          <p:cNvPr id="4780" name="Google Shape;4780;p26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781" name="Google Shape;4781;p261"/>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782" name="Google Shape;4782;p261"/>
          <p:cNvGrpSpPr/>
          <p:nvPr/>
        </p:nvGrpSpPr>
        <p:grpSpPr>
          <a:xfrm>
            <a:off x="7717533" y="4360377"/>
            <a:ext cx="1058348" cy="347375"/>
            <a:chOff x="7651698" y="4287227"/>
            <a:chExt cx="1058348" cy="347375"/>
          </a:xfrm>
        </p:grpSpPr>
        <p:grpSp>
          <p:nvGrpSpPr>
            <p:cNvPr id="4783" name="Google Shape;4783;p261"/>
            <p:cNvGrpSpPr/>
            <p:nvPr/>
          </p:nvGrpSpPr>
          <p:grpSpPr>
            <a:xfrm>
              <a:off x="7714163" y="4337598"/>
              <a:ext cx="995883" cy="297004"/>
              <a:chOff x="7711013" y="3986494"/>
              <a:chExt cx="995883" cy="297004"/>
            </a:xfrm>
          </p:grpSpPr>
          <p:sp>
            <p:nvSpPr>
              <p:cNvPr id="4784" name="Google Shape;4784;p26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785" name="Google Shape;4785;p261"/>
              <p:cNvGrpSpPr/>
              <p:nvPr/>
            </p:nvGrpSpPr>
            <p:grpSpPr>
              <a:xfrm>
                <a:off x="7711013" y="4002615"/>
                <a:ext cx="281520" cy="241973"/>
                <a:chOff x="5652748" y="4066000"/>
                <a:chExt cx="906498" cy="747974"/>
              </a:xfrm>
            </p:grpSpPr>
            <p:sp>
              <p:nvSpPr>
                <p:cNvPr id="4786" name="Google Shape;4786;p26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787" name="Google Shape;4787;p26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788" name="Google Shape;4788;p26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789" name="Google Shape;4789;p26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08" name="Shape 4808"/>
        <p:cNvGrpSpPr/>
        <p:nvPr/>
      </p:nvGrpSpPr>
      <p:grpSpPr>
        <a:xfrm>
          <a:off x="0" y="0"/>
          <a:ext cx="0" cy="0"/>
          <a:chOff x="0" y="0"/>
          <a:chExt cx="0" cy="0"/>
        </a:xfrm>
      </p:grpSpPr>
      <p:cxnSp>
        <p:nvCxnSpPr>
          <p:cNvPr id="4809" name="Google Shape;4809;p26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810" name="Google Shape;4810;p26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Develop more sophisticated and granular ABC models to support more accurate profitability analytics, and more detailed understanding of costs within the organisation.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Utilise comprehensive, validated financial and activity data, across all channels to develop ABC models.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Develop and update ABC models quickly and easily, and minimise the resource requirement / cost.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Refresh ABC models on a more frequent basis, and with minimal or no manual intervention.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data covering the  whole organisation, including:</a:t>
                      </a:r>
                      <a:endParaRPr/>
                    </a:p>
                    <a:p>
                      <a:pPr indent="0" lvl="0" marL="177800" marR="0" rtl="0" algn="l">
                        <a:spcBef>
                          <a:spcPts val="0"/>
                        </a:spcBef>
                        <a:spcAft>
                          <a:spcPts val="0"/>
                        </a:spcAft>
                        <a:buClr>
                          <a:schemeClr val="dk1"/>
                        </a:buClr>
                        <a:buSzPts val="900"/>
                        <a:buFont typeface="Century Gothic"/>
                        <a:buNone/>
                      </a:pPr>
                      <a:r>
                        <a:rPr lang="en-GB" sz="900">
                          <a:solidFill>
                            <a:schemeClr val="dk1"/>
                          </a:solidFill>
                        </a:rPr>
                        <a:t>Financial/GL; Customer; Product; Accounts; Services; other agreements; Transaction s and interactions;  Business Processes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Flexible functionality to define the ABC calculations</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ABC options, all using integrated data sourced from the data warehouse:</a:t>
                      </a:r>
                      <a:endParaRPr/>
                    </a:p>
                    <a:p>
                      <a:pPr indent="-171450" lvl="0" marL="355600"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Custom-development of in-database ABC models</a:t>
                      </a:r>
                      <a:endParaRPr/>
                    </a:p>
                    <a:p>
                      <a:pPr indent="-171450" lvl="0" marL="355600" marR="0" rtl="0" algn="l">
                        <a:lnSpc>
                          <a:spcPct val="100000"/>
                        </a:lnSpc>
                        <a:spcBef>
                          <a:spcPts val="0"/>
                        </a:spcBef>
                        <a:spcAft>
                          <a:spcPts val="0"/>
                        </a:spcAft>
                        <a:buClr>
                          <a:schemeClr val="dk1"/>
                        </a:buClr>
                        <a:buSzPts val="900"/>
                        <a:buFont typeface="Century Gothic"/>
                        <a:buChar char="−"/>
                      </a:pPr>
                      <a:r>
                        <a:rPr lang="en-GB" sz="900">
                          <a:solidFill>
                            <a:schemeClr val="dk1"/>
                          </a:solidFill>
                        </a:rPr>
                        <a:t>Industry-leading ABC solutions, either running in-database or as downstream application.</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 frequent and automated ABC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Single, consistent definition of cost allocation methodology across all business units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perform ABC calculations  at a highly detailed and granular level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use integrated, high quality data held in the Teradata Data Warehouse to drive the ABC process:</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Validated and reconciled cost data from the GL and other financial systems</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Full range of drivers, covering both transactions and other interactions, across all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Analytical data set which can feed downstream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applications and, models and analysis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811" name="Google Shape;4811;p26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Activity Based Costing</a:t>
            </a:r>
            <a:endParaRPr sz="1600"/>
          </a:p>
        </p:txBody>
      </p:sp>
      <p:sp>
        <p:nvSpPr>
          <p:cNvPr id="4812" name="Google Shape;4812;p26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813" name="Google Shape;4813;p263"/>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814" name="Google Shape;4814;p263"/>
          <p:cNvGrpSpPr/>
          <p:nvPr/>
        </p:nvGrpSpPr>
        <p:grpSpPr>
          <a:xfrm>
            <a:off x="7717533" y="4360377"/>
            <a:ext cx="1058348" cy="347375"/>
            <a:chOff x="7651698" y="4287227"/>
            <a:chExt cx="1058348" cy="347375"/>
          </a:xfrm>
        </p:grpSpPr>
        <p:grpSp>
          <p:nvGrpSpPr>
            <p:cNvPr id="4815" name="Google Shape;4815;p263"/>
            <p:cNvGrpSpPr/>
            <p:nvPr/>
          </p:nvGrpSpPr>
          <p:grpSpPr>
            <a:xfrm>
              <a:off x="7714163" y="4337598"/>
              <a:ext cx="995883" cy="297004"/>
              <a:chOff x="7711013" y="3986494"/>
              <a:chExt cx="995883" cy="297004"/>
            </a:xfrm>
          </p:grpSpPr>
          <p:sp>
            <p:nvSpPr>
              <p:cNvPr id="4816" name="Google Shape;4816;p26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817" name="Google Shape;4817;p263"/>
              <p:cNvGrpSpPr/>
              <p:nvPr/>
            </p:nvGrpSpPr>
            <p:grpSpPr>
              <a:xfrm>
                <a:off x="7711013" y="4002615"/>
                <a:ext cx="281520" cy="241973"/>
                <a:chOff x="5652748" y="4066000"/>
                <a:chExt cx="906498" cy="747974"/>
              </a:xfrm>
            </p:grpSpPr>
            <p:sp>
              <p:nvSpPr>
                <p:cNvPr id="4818" name="Google Shape;4818;p26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819" name="Google Shape;4819;p26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20" name="Google Shape;4820;p26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821" name="Google Shape;4821;p26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40" name="Shape 4840"/>
        <p:cNvGrpSpPr/>
        <p:nvPr/>
      </p:nvGrpSpPr>
      <p:grpSpPr>
        <a:xfrm>
          <a:off x="0" y="0"/>
          <a:ext cx="0" cy="0"/>
          <a:chOff x="0" y="0"/>
          <a:chExt cx="0" cy="0"/>
        </a:xfrm>
      </p:grpSpPr>
      <p:cxnSp>
        <p:nvCxnSpPr>
          <p:cNvPr id="4841" name="Google Shape;4841;p26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842" name="Google Shape;4842;p26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Comprehensive, detailed and granular profitability model(s) which reflect:</a:t>
                      </a:r>
                      <a:endParaRPr/>
                    </a:p>
                    <a:p>
                      <a:pPr indent="-171450" lvl="0" marL="355600" marR="0" rtl="0" algn="l">
                        <a:lnSpc>
                          <a:spcPct val="100000"/>
                        </a:lnSpc>
                        <a:spcBef>
                          <a:spcPts val="0"/>
                        </a:spcBef>
                        <a:spcAft>
                          <a:spcPts val="0"/>
                        </a:spcAft>
                        <a:buClr>
                          <a:schemeClr val="dk1"/>
                        </a:buClr>
                        <a:buSzPts val="900"/>
                        <a:buFont typeface="Century Gothic"/>
                        <a:buChar char="−"/>
                      </a:pPr>
                      <a:r>
                        <a:rPr b="0" lang="en-GB" sz="900">
                          <a:solidFill>
                            <a:schemeClr val="dk1"/>
                          </a:solidFill>
                          <a:latin typeface="Century Gothic"/>
                          <a:ea typeface="Century Gothic"/>
                          <a:cs typeface="Century Gothic"/>
                          <a:sym typeface="Century Gothic"/>
                        </a:rPr>
                        <a:t>Full P&amp;L (Revenue, Cost, Risk, Capital).</a:t>
                      </a:r>
                      <a:endParaRPr/>
                    </a:p>
                    <a:p>
                      <a:pPr indent="-171450" lvl="0" marL="355600" marR="0" rtl="0" algn="l">
                        <a:lnSpc>
                          <a:spcPct val="100000"/>
                        </a:lnSpc>
                        <a:spcBef>
                          <a:spcPts val="0"/>
                        </a:spcBef>
                        <a:spcAft>
                          <a:spcPts val="0"/>
                        </a:spcAft>
                        <a:buClr>
                          <a:schemeClr val="dk1"/>
                        </a:buClr>
                        <a:buSzPts val="900"/>
                        <a:buFont typeface="Century Gothic"/>
                        <a:buChar char="−"/>
                      </a:pPr>
                      <a:r>
                        <a:rPr b="0" lang="en-GB" sz="900">
                          <a:solidFill>
                            <a:schemeClr val="dk1"/>
                          </a:solidFill>
                          <a:latin typeface="Century Gothic"/>
                          <a:ea typeface="Century Gothic"/>
                          <a:cs typeface="Century Gothic"/>
                          <a:sym typeface="Century Gothic"/>
                        </a:rPr>
                        <a:t>Comprehensive coverage of products and services.</a:t>
                      </a:r>
                      <a:endParaRPr/>
                    </a:p>
                    <a:p>
                      <a:pPr indent="-171450" lvl="0" marL="355600" marR="0" rtl="0" algn="l">
                        <a:lnSpc>
                          <a:spcPct val="100000"/>
                        </a:lnSpc>
                        <a:spcBef>
                          <a:spcPts val="0"/>
                        </a:spcBef>
                        <a:spcAft>
                          <a:spcPts val="0"/>
                        </a:spcAft>
                        <a:buClr>
                          <a:schemeClr val="dk1"/>
                        </a:buClr>
                        <a:buSzPts val="900"/>
                        <a:buFont typeface="Century Gothic"/>
                        <a:buChar char="−"/>
                      </a:pPr>
                      <a:r>
                        <a:rPr b="0" lang="en-GB" sz="900">
                          <a:solidFill>
                            <a:schemeClr val="dk1"/>
                          </a:solidFill>
                          <a:latin typeface="Century Gothic"/>
                          <a:ea typeface="Century Gothic"/>
                          <a:cs typeface="Century Gothic"/>
                          <a:sym typeface="Century Gothic"/>
                        </a:rPr>
                        <a:t>Detailed driven , bottom up approach.  Allocations at the transaction level based on activities , events and behaviours.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Profitability models which are flexible, and easy to maintain – preferably by business users and requiring limited IT involvement.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support multi-dimensional views of profitability (Customer, Product, Organisational, Channel) from a single set of calculation rules/results.</a:t>
                      </a:r>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data covering the  whole organisation, including:</a:t>
                      </a:r>
                      <a:endParaRPr/>
                    </a:p>
                    <a:p>
                      <a:pPr indent="0" lvl="0" marL="177800" marR="0" rtl="0" algn="l">
                        <a:spcBef>
                          <a:spcPts val="0"/>
                        </a:spcBef>
                        <a:spcAft>
                          <a:spcPts val="0"/>
                        </a:spcAft>
                        <a:buClr>
                          <a:schemeClr val="dk1"/>
                        </a:buClr>
                        <a:buSzPts val="900"/>
                        <a:buFont typeface="Century Gothic"/>
                        <a:buNone/>
                      </a:pPr>
                      <a:r>
                        <a:rPr lang="en-GB" sz="900">
                          <a:solidFill>
                            <a:schemeClr val="dk1"/>
                          </a:solidFill>
                        </a:rPr>
                        <a:t>financial/GL; customer; product; accounts, services, other agreements; balances, interest and FTP rates; transactions and interactions.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Data warehouse to hold integrated set of granular data to support detailed behavioural profitability calculations (as well as a broad range of other reporting and analytics across the business)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Range of calculation engines running in-database or downstream of the data warehouse.</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Ability to feed downstream analytics such as customer segmentation, product analytics, pricing models, sales force performance,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Profitability results in hours, not days by utilising the power and scalability of the Teradata database platform.</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Comprehensive results, delivering a full P&amp;L for each dimensional view</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and granular profitability results which utilise transaction detail for each customer to deliver behavioural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Flexible, rules-based development and maintenance of profitability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Automated and robust solution which requires minimal manual intervention.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843" name="Google Shape;4843;p26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Profitability Modelling</a:t>
            </a:r>
            <a:endParaRPr sz="1600"/>
          </a:p>
        </p:txBody>
      </p:sp>
      <p:sp>
        <p:nvSpPr>
          <p:cNvPr id="4844" name="Google Shape;4844;p26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845" name="Google Shape;4845;p265"/>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846" name="Google Shape;4846;p265"/>
          <p:cNvGrpSpPr/>
          <p:nvPr/>
        </p:nvGrpSpPr>
        <p:grpSpPr>
          <a:xfrm>
            <a:off x="7717533" y="4360377"/>
            <a:ext cx="1058348" cy="347375"/>
            <a:chOff x="7651698" y="4287227"/>
            <a:chExt cx="1058348" cy="347375"/>
          </a:xfrm>
        </p:grpSpPr>
        <p:grpSp>
          <p:nvGrpSpPr>
            <p:cNvPr id="4847" name="Google Shape;4847;p265"/>
            <p:cNvGrpSpPr/>
            <p:nvPr/>
          </p:nvGrpSpPr>
          <p:grpSpPr>
            <a:xfrm>
              <a:off x="7714163" y="4337598"/>
              <a:ext cx="995883" cy="297004"/>
              <a:chOff x="7711013" y="3986494"/>
              <a:chExt cx="995883" cy="297004"/>
            </a:xfrm>
          </p:grpSpPr>
          <p:sp>
            <p:nvSpPr>
              <p:cNvPr id="4848" name="Google Shape;4848;p26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849" name="Google Shape;4849;p265"/>
              <p:cNvGrpSpPr/>
              <p:nvPr/>
            </p:nvGrpSpPr>
            <p:grpSpPr>
              <a:xfrm>
                <a:off x="7711013" y="4002615"/>
                <a:ext cx="281520" cy="241973"/>
                <a:chOff x="5652748" y="4066000"/>
                <a:chExt cx="906498" cy="747974"/>
              </a:xfrm>
            </p:grpSpPr>
            <p:sp>
              <p:nvSpPr>
                <p:cNvPr id="4850" name="Google Shape;4850;p26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851" name="Google Shape;4851;p26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52" name="Google Shape;4852;p26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853" name="Google Shape;4853;p26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72" name="Shape 4872"/>
        <p:cNvGrpSpPr/>
        <p:nvPr/>
      </p:nvGrpSpPr>
      <p:grpSpPr>
        <a:xfrm>
          <a:off x="0" y="0"/>
          <a:ext cx="0" cy="0"/>
          <a:chOff x="0" y="0"/>
          <a:chExt cx="0" cy="0"/>
        </a:xfrm>
      </p:grpSpPr>
      <p:cxnSp>
        <p:nvCxnSpPr>
          <p:cNvPr id="4873" name="Google Shape;4873;p26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874" name="Google Shape;4874;p26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Target new prospects, and manage existing customers based on their future value potential.</a:t>
                      </a:r>
                      <a:endParaRPr/>
                    </a:p>
                    <a:p>
                      <a:pPr indent="-171450" lvl="0" marL="171450" marR="0" rtl="0" algn="l">
                        <a:lnSpc>
                          <a:spcPct val="100000"/>
                        </a:lnSpc>
                        <a:spcBef>
                          <a:spcPts val="0"/>
                        </a:spcBef>
                        <a:spcAft>
                          <a:spcPts val="0"/>
                        </a:spcAft>
                        <a:buClr>
                          <a:schemeClr val="dk1"/>
                        </a:buClr>
                        <a:buSzPts val="900"/>
                        <a:buFont typeface="Arial"/>
                        <a:buChar char="•"/>
                      </a:pPr>
                      <a:r>
                        <a:rPr lang="en-GB" sz="900" strike="noStrike">
                          <a:solidFill>
                            <a:schemeClr val="dk1"/>
                          </a:solidFill>
                          <a:latin typeface="Century Gothic"/>
                          <a:ea typeface="Century Gothic"/>
                          <a:cs typeface="Century Gothic"/>
                          <a:sym typeface="Century Gothic"/>
                        </a:rPr>
                        <a:t>Calculate Product / Segment Net Present Value (NPV)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Calculate individual Customer / Prospect Future value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Future Value models which are flexible and easy to maintain – preferably by business users and requiring limited IT involvement.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Robust &amp; automated execution process which produces results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Track and monitor improvements in current profitability and future profitability projections, and incrementally improve models.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output from current/historic profitability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 and behavioural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Propensity models (propensity to buy, attrition, price elasticity)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Economic projections (e.g. inflation, tax rates, cost of capital etc.)</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Range of options depending on level of sophistication and detail required, including:</a:t>
                      </a:r>
                      <a:endParaRPr/>
                    </a:p>
                    <a:p>
                      <a:pPr indent="-171450" lvl="0" marL="355600" marR="0" rtl="0" algn="l">
                        <a:lnSpc>
                          <a:spcPct val="90000"/>
                        </a:lnSpc>
                        <a:spcBef>
                          <a:spcPts val="0"/>
                        </a:spcBef>
                        <a:spcAft>
                          <a:spcPts val="0"/>
                        </a:spcAft>
                        <a:buClr>
                          <a:schemeClr val="dk1"/>
                        </a:buClr>
                        <a:buSzPts val="900"/>
                        <a:buFont typeface="Century Gothic"/>
                        <a:buChar char="−"/>
                      </a:pPr>
                      <a:r>
                        <a:rPr lang="en-GB" sz="900">
                          <a:solidFill>
                            <a:schemeClr val="dk1"/>
                          </a:solidFill>
                        </a:rPr>
                        <a:t>BI and Excel-based models to deliver product/segment NPVs.</a:t>
                      </a:r>
                      <a:endParaRPr/>
                    </a:p>
                    <a:p>
                      <a:pPr indent="-171450" lvl="0" marL="355600" marR="0" rtl="0" algn="l">
                        <a:lnSpc>
                          <a:spcPct val="90000"/>
                        </a:lnSpc>
                        <a:spcBef>
                          <a:spcPts val="0"/>
                        </a:spcBef>
                        <a:spcAft>
                          <a:spcPts val="0"/>
                        </a:spcAft>
                        <a:buClr>
                          <a:schemeClr val="dk1"/>
                        </a:buClr>
                        <a:buSzPts val="900"/>
                        <a:buFont typeface="Century Gothic"/>
                        <a:buChar char="−"/>
                      </a:pPr>
                      <a:r>
                        <a:rPr lang="en-GB" sz="900">
                          <a:solidFill>
                            <a:schemeClr val="dk1"/>
                          </a:solidFill>
                        </a:rPr>
                        <a:t>Analytical discovery to identify specific segments / prospects with high future value/profitability potential.</a:t>
                      </a:r>
                      <a:endParaRPr/>
                    </a:p>
                    <a:p>
                      <a:pPr indent="-171450" lvl="0" marL="355600" marR="0" rtl="0" algn="l">
                        <a:lnSpc>
                          <a:spcPct val="90000"/>
                        </a:lnSpc>
                        <a:spcBef>
                          <a:spcPts val="0"/>
                        </a:spcBef>
                        <a:spcAft>
                          <a:spcPts val="0"/>
                        </a:spcAft>
                        <a:buClr>
                          <a:schemeClr val="dk1"/>
                        </a:buClr>
                        <a:buSzPts val="900"/>
                        <a:buFont typeface="Century Gothic"/>
                        <a:buChar char="−"/>
                      </a:pPr>
                      <a:r>
                        <a:rPr lang="en-GB" sz="900">
                          <a:solidFill>
                            <a:schemeClr val="dk1"/>
                          </a:solidFill>
                        </a:rPr>
                        <a:t>Custom built solution delivering full Future Value model for individual customers, incorporating projections of cashflows for current and future products using propensity and attrition models.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Future Value measure(s) calculated on a robust and automated basis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the customers and prospects with the greatest potential for profitable future business.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and make profitable product recommendations quickly and easily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effectively target retention spend and activities</a:t>
                      </a:r>
                      <a:endParaRPr/>
                    </a:p>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Overall, increased profit per customer.</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875" name="Google Shape;4875;p26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Future / Lifetime Value</a:t>
            </a:r>
            <a:endParaRPr sz="1600"/>
          </a:p>
        </p:txBody>
      </p:sp>
      <p:sp>
        <p:nvSpPr>
          <p:cNvPr id="4876" name="Google Shape;4876;p26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877" name="Google Shape;4877;p267"/>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878" name="Google Shape;4878;p267"/>
          <p:cNvGrpSpPr/>
          <p:nvPr/>
        </p:nvGrpSpPr>
        <p:grpSpPr>
          <a:xfrm>
            <a:off x="7717533" y="4360377"/>
            <a:ext cx="1058348" cy="347375"/>
            <a:chOff x="7651698" y="4287227"/>
            <a:chExt cx="1058348" cy="347375"/>
          </a:xfrm>
        </p:grpSpPr>
        <p:grpSp>
          <p:nvGrpSpPr>
            <p:cNvPr id="4879" name="Google Shape;4879;p267"/>
            <p:cNvGrpSpPr/>
            <p:nvPr/>
          </p:nvGrpSpPr>
          <p:grpSpPr>
            <a:xfrm>
              <a:off x="7714163" y="4337598"/>
              <a:ext cx="995883" cy="297004"/>
              <a:chOff x="7711013" y="3986494"/>
              <a:chExt cx="995883" cy="297004"/>
            </a:xfrm>
          </p:grpSpPr>
          <p:sp>
            <p:nvSpPr>
              <p:cNvPr id="4880" name="Google Shape;4880;p26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881" name="Google Shape;4881;p267"/>
              <p:cNvGrpSpPr/>
              <p:nvPr/>
            </p:nvGrpSpPr>
            <p:grpSpPr>
              <a:xfrm>
                <a:off x="7711013" y="4002615"/>
                <a:ext cx="281520" cy="241973"/>
                <a:chOff x="5652748" y="4066000"/>
                <a:chExt cx="906498" cy="747974"/>
              </a:xfrm>
            </p:grpSpPr>
            <p:sp>
              <p:nvSpPr>
                <p:cNvPr id="4882" name="Google Shape;4882;p26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883" name="Google Shape;4883;p26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84" name="Google Shape;4884;p26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885" name="Google Shape;4885;p26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04" name="Shape 4904"/>
        <p:cNvGrpSpPr/>
        <p:nvPr/>
      </p:nvGrpSpPr>
      <p:grpSpPr>
        <a:xfrm>
          <a:off x="0" y="0"/>
          <a:ext cx="0" cy="0"/>
          <a:chOff x="0" y="0"/>
          <a:chExt cx="0" cy="0"/>
        </a:xfrm>
      </p:grpSpPr>
      <p:cxnSp>
        <p:nvCxnSpPr>
          <p:cNvPr id="4905" name="Google Shape;4905;p26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906" name="Google Shape;4906;p26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Maximise the business value achieved through use of Profitability and Future Value models</a:t>
                      </a:r>
                      <a:endParaRPr/>
                    </a:p>
                    <a:p>
                      <a:pPr indent="-171450" lvl="0" marL="358775"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Even where detailed profitability / future value models have been implemented, the results are often underutilised.</a:t>
                      </a:r>
                      <a:endParaRPr/>
                    </a:p>
                    <a:p>
                      <a:pPr indent="-171450" lvl="0" marL="358775"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The real value to be obtained from detailed profitability information comes from analysis and decision-making in areas such as:</a:t>
                      </a:r>
                      <a:endParaRPr/>
                    </a:p>
                    <a:p>
                      <a:pPr indent="-171450" lvl="1" marL="8128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Organisational efficiency</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Customer acquisition &amp; retention</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Channel Management</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Operational decisioning</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Staff Incentivisation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current/historic profitability results, detailed future value projections, customer demographic data,  customer event/behavioural data, organisational structure/hierarchy, product and channel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BI / OLAP tool of choice for reporting, drill-down, slice/dice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Discovery Platform / solution to support deep analysis (e.g. path, pattern)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Ability to perform root cause analysis on the underlying drivers of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Value-driven decision making across a broad range of business functions, driving:</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Increased Revenue</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Reduced Costs</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Improved customer retention for targeted high-value segments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ability to measure, monitor and track profitability improvements over time in a systematic and automated way, and link to key business decisions.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907" name="Google Shape;4907;p26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Profitability Analytics and </a:t>
            </a:r>
            <a:br>
              <a:rPr lang="en-GB"/>
            </a:br>
            <a:r>
              <a:rPr lang="en-GB"/>
              <a:t>Optimisation</a:t>
            </a:r>
            <a:endParaRPr sz="1600"/>
          </a:p>
        </p:txBody>
      </p:sp>
      <p:sp>
        <p:nvSpPr>
          <p:cNvPr id="4908" name="Google Shape;4908;p26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909" name="Google Shape;4909;p269"/>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910" name="Google Shape;4910;p269"/>
          <p:cNvGrpSpPr/>
          <p:nvPr/>
        </p:nvGrpSpPr>
        <p:grpSpPr>
          <a:xfrm>
            <a:off x="7717533" y="4360377"/>
            <a:ext cx="1058348" cy="347375"/>
            <a:chOff x="7651698" y="4287227"/>
            <a:chExt cx="1058348" cy="347375"/>
          </a:xfrm>
        </p:grpSpPr>
        <p:grpSp>
          <p:nvGrpSpPr>
            <p:cNvPr id="4911" name="Google Shape;4911;p269"/>
            <p:cNvGrpSpPr/>
            <p:nvPr/>
          </p:nvGrpSpPr>
          <p:grpSpPr>
            <a:xfrm>
              <a:off x="7714163" y="4337598"/>
              <a:ext cx="995883" cy="297004"/>
              <a:chOff x="7711013" y="3986494"/>
              <a:chExt cx="995883" cy="297004"/>
            </a:xfrm>
          </p:grpSpPr>
          <p:sp>
            <p:nvSpPr>
              <p:cNvPr id="4912" name="Google Shape;4912;p26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913" name="Google Shape;4913;p269"/>
              <p:cNvGrpSpPr/>
              <p:nvPr/>
            </p:nvGrpSpPr>
            <p:grpSpPr>
              <a:xfrm>
                <a:off x="7711013" y="4002615"/>
                <a:ext cx="281520" cy="241973"/>
                <a:chOff x="5652748" y="4066000"/>
                <a:chExt cx="906498" cy="747974"/>
              </a:xfrm>
            </p:grpSpPr>
            <p:sp>
              <p:nvSpPr>
                <p:cNvPr id="4914" name="Google Shape;4914;p26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915" name="Google Shape;4915;p26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916" name="Google Shape;4916;p26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917" name="Google Shape;4917;p26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36" name="Shape 4936"/>
        <p:cNvGrpSpPr/>
        <p:nvPr/>
      </p:nvGrpSpPr>
      <p:grpSpPr>
        <a:xfrm>
          <a:off x="0" y="0"/>
          <a:ext cx="0" cy="0"/>
          <a:chOff x="0" y="0"/>
          <a:chExt cx="0" cy="0"/>
        </a:xfrm>
      </p:grpSpPr>
      <p:cxnSp>
        <p:nvCxnSpPr>
          <p:cNvPr id="4937" name="Google Shape;4937;p27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938" name="Google Shape;4938;p271"/>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Products and services  are becoming increasingly commoditised and pressure on price and margins is increasing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Organisations want to be able to analyse and understand in more detail the:</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Prices and margins which they are currently able to achieve for each product or service for different combinations of customer / segment / channel etc.</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Key attributes of the client which influence price elasticity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 order to optimise the pricing of products and services, and potentially to offer individual pricing to customers and prospects.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data on price, cost and margin structures, competitor price information, deal-level price / margin data,  customer demographic data, organisational structure/hierarchy, product and channel data. Detailed current/historic profitability results.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Choice of Reporting / BI tool(s)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Modelling tool(s) such as SAS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Discovery platform/solution to support deep analysis (e.g. path, pattern)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Option for bespoke full individual price optimisation solution</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Consistent and transparent comparison between  the organisation’s own and competitor’s pricing.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understanding of price drivers, price elasticity and product cannibalisation.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understanding of price and margin as components of full product P&amp;L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Revenue through:</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Agile optimisation of prices &amp; margins for products, channels and customer segments selectively, with rapid monitoring and feedback</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optimise and customise the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individual price which is offered to customers</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and prospects to maximise NPV at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portfolio/segment level</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939" name="Google Shape;4939;p27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Pricing Analysis &amp; Optimisation</a:t>
            </a:r>
            <a:endParaRPr sz="1600"/>
          </a:p>
        </p:txBody>
      </p:sp>
      <p:sp>
        <p:nvSpPr>
          <p:cNvPr id="4940" name="Google Shape;4940;p27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941" name="Google Shape;4941;p271"/>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942" name="Google Shape;4942;p271"/>
          <p:cNvGrpSpPr/>
          <p:nvPr/>
        </p:nvGrpSpPr>
        <p:grpSpPr>
          <a:xfrm>
            <a:off x="7717533" y="4360377"/>
            <a:ext cx="1058348" cy="347375"/>
            <a:chOff x="7651698" y="4287227"/>
            <a:chExt cx="1058348" cy="347375"/>
          </a:xfrm>
        </p:grpSpPr>
        <p:grpSp>
          <p:nvGrpSpPr>
            <p:cNvPr id="4943" name="Google Shape;4943;p271"/>
            <p:cNvGrpSpPr/>
            <p:nvPr/>
          </p:nvGrpSpPr>
          <p:grpSpPr>
            <a:xfrm>
              <a:off x="7714163" y="4337598"/>
              <a:ext cx="995883" cy="297004"/>
              <a:chOff x="7711013" y="3986494"/>
              <a:chExt cx="995883" cy="297004"/>
            </a:xfrm>
          </p:grpSpPr>
          <p:sp>
            <p:nvSpPr>
              <p:cNvPr id="4944" name="Google Shape;4944;p27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945" name="Google Shape;4945;p271"/>
              <p:cNvGrpSpPr/>
              <p:nvPr/>
            </p:nvGrpSpPr>
            <p:grpSpPr>
              <a:xfrm>
                <a:off x="7711013" y="4002615"/>
                <a:ext cx="281520" cy="241973"/>
                <a:chOff x="5652748" y="4066000"/>
                <a:chExt cx="906498" cy="747974"/>
              </a:xfrm>
            </p:grpSpPr>
            <p:sp>
              <p:nvSpPr>
                <p:cNvPr id="4946" name="Google Shape;4946;p27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947" name="Google Shape;4947;p27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948" name="Google Shape;4948;p27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949" name="Google Shape;4949;p27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68" name="Shape 4968"/>
        <p:cNvGrpSpPr/>
        <p:nvPr/>
      </p:nvGrpSpPr>
      <p:grpSpPr>
        <a:xfrm>
          <a:off x="0" y="0"/>
          <a:ext cx="0" cy="0"/>
          <a:chOff x="0" y="0"/>
          <a:chExt cx="0" cy="0"/>
        </a:xfrm>
      </p:grpSpPr>
      <p:cxnSp>
        <p:nvCxnSpPr>
          <p:cNvPr id="4969" name="Google Shape;4969;p27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970" name="Google Shape;4970;p27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Organisations want to:</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Improve consistency and quality in how performance is measured and managed</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Reduce cost of production for performance management and KPIs through centralisation and simplification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organisational, customer, account/agreement, transaction/interaction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containing high-quality, consistent,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Enterprise data model providing flexible and well-structured storage for both source and results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Rule engine software or flexible/visual development tool for high volume in-database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Choice of Reporting / BI tools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timeliness, quality and consistency of performance management and KPIs through:</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Use of high quality, validated data</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Use of standard tool for calculation / derivation of performance metrics</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Removal of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through:</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number of platforms and tools</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maintenance of ETL scripts</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duplication of data</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Removal of manual processes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971" name="Google Shape;4971;p27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Performance Management and KPIs</a:t>
            </a:r>
            <a:endParaRPr sz="1600"/>
          </a:p>
        </p:txBody>
      </p:sp>
      <p:sp>
        <p:nvSpPr>
          <p:cNvPr id="4972" name="Google Shape;4972;p27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973" name="Google Shape;4973;p273"/>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974" name="Google Shape;4974;p273"/>
          <p:cNvGrpSpPr/>
          <p:nvPr/>
        </p:nvGrpSpPr>
        <p:grpSpPr>
          <a:xfrm>
            <a:off x="7717533" y="4360377"/>
            <a:ext cx="1058348" cy="347375"/>
            <a:chOff x="7651698" y="4287227"/>
            <a:chExt cx="1058348" cy="347375"/>
          </a:xfrm>
        </p:grpSpPr>
        <p:grpSp>
          <p:nvGrpSpPr>
            <p:cNvPr id="4975" name="Google Shape;4975;p273"/>
            <p:cNvGrpSpPr/>
            <p:nvPr/>
          </p:nvGrpSpPr>
          <p:grpSpPr>
            <a:xfrm>
              <a:off x="7714163" y="4337598"/>
              <a:ext cx="995883" cy="297004"/>
              <a:chOff x="7711013" y="3986494"/>
              <a:chExt cx="995883" cy="297004"/>
            </a:xfrm>
          </p:grpSpPr>
          <p:sp>
            <p:nvSpPr>
              <p:cNvPr id="4976" name="Google Shape;4976;p27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977" name="Google Shape;4977;p273"/>
              <p:cNvGrpSpPr/>
              <p:nvPr/>
            </p:nvGrpSpPr>
            <p:grpSpPr>
              <a:xfrm>
                <a:off x="7711013" y="4002615"/>
                <a:ext cx="281520" cy="241973"/>
                <a:chOff x="5652748" y="4066000"/>
                <a:chExt cx="906498" cy="747974"/>
              </a:xfrm>
            </p:grpSpPr>
            <p:sp>
              <p:nvSpPr>
                <p:cNvPr id="4978" name="Google Shape;4978;p27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979" name="Google Shape;4979;p27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980" name="Google Shape;4980;p27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981" name="Google Shape;4981;p27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00" name="Shape 5000"/>
        <p:cNvGrpSpPr/>
        <p:nvPr/>
      </p:nvGrpSpPr>
      <p:grpSpPr>
        <a:xfrm>
          <a:off x="0" y="0"/>
          <a:ext cx="0" cy="0"/>
          <a:chOff x="0" y="0"/>
          <a:chExt cx="0" cy="0"/>
        </a:xfrm>
      </p:grpSpPr>
      <p:cxnSp>
        <p:nvCxnSpPr>
          <p:cNvPr id="5001" name="Google Shape;5001;p27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002" name="Google Shape;5002;p27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spcBef>
                          <a:spcPts val="0"/>
                        </a:spcBef>
                        <a:spcAft>
                          <a:spcPts val="0"/>
                        </a:spcAft>
                        <a:buClr>
                          <a:srgbClr val="3C3C3B"/>
                        </a:buClr>
                        <a:buSzPts val="900"/>
                        <a:buFont typeface="Arial"/>
                        <a:buChar char="•"/>
                      </a:pPr>
                      <a:r>
                        <a:rPr lang="en-GB" sz="900">
                          <a:solidFill>
                            <a:srgbClr val="3C3C3B"/>
                          </a:solidFill>
                        </a:rPr>
                        <a:t>Ability</a:t>
                      </a:r>
                      <a:r>
                        <a:rPr lang="en-GB" sz="900">
                          <a:solidFill>
                            <a:srgbClr val="3C3C3B"/>
                          </a:solidFill>
                        </a:rPr>
                        <a:t> to define the optimal inventory levels which will enable companies to minimize out of stock  and overstock opportunities, meet anticipated customer demand while also managing cash flow</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rPr>
                        <a:t>Optimise inventory  to ensure  the right inventory at the right place and at the right location to meet the anticipated demand of parts and materials in the enterprise .</a:t>
                      </a:r>
                      <a:endParaRPr sz="900">
                        <a:solidFill>
                          <a:srgbClr val="3C3C3B"/>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Inventory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Sales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Purchasing trends and forecasts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Price sensitivity models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Analysis of inventory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Trends in inventory use and customer behaviour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Forecasting demand and planning supply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Predictive modelling to anticipate  inventory requirements at the location level (SKU rationalisation, demand forecasting, optimal inventory replenishment, etc.)</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Organisations can optimize inventory by reducing inventory items and stock levels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Reducing carrying costs and write downs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flag obsolete items, ensure efficient item distribution and identify critical spare parts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Maximisation of cash flow through proper inventory management techniques.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003" name="Google Shape;5003;p27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Inventory Analytics</a:t>
            </a:r>
            <a:endParaRPr sz="1600"/>
          </a:p>
        </p:txBody>
      </p:sp>
      <p:sp>
        <p:nvSpPr>
          <p:cNvPr id="5004" name="Google Shape;5004;p27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5005" name="Google Shape;5005;p275"/>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5006" name="Google Shape;5006;p275"/>
          <p:cNvGrpSpPr/>
          <p:nvPr/>
        </p:nvGrpSpPr>
        <p:grpSpPr>
          <a:xfrm>
            <a:off x="7717533" y="4360377"/>
            <a:ext cx="1058348" cy="347375"/>
            <a:chOff x="7651698" y="4287227"/>
            <a:chExt cx="1058348" cy="347375"/>
          </a:xfrm>
        </p:grpSpPr>
        <p:grpSp>
          <p:nvGrpSpPr>
            <p:cNvPr id="5007" name="Google Shape;5007;p275"/>
            <p:cNvGrpSpPr/>
            <p:nvPr/>
          </p:nvGrpSpPr>
          <p:grpSpPr>
            <a:xfrm>
              <a:off x="7714163" y="4337598"/>
              <a:ext cx="995883" cy="297004"/>
              <a:chOff x="7711013" y="3986494"/>
              <a:chExt cx="995883" cy="297004"/>
            </a:xfrm>
          </p:grpSpPr>
          <p:sp>
            <p:nvSpPr>
              <p:cNvPr id="5008" name="Google Shape;5008;p27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09" name="Google Shape;5009;p275"/>
              <p:cNvGrpSpPr/>
              <p:nvPr/>
            </p:nvGrpSpPr>
            <p:grpSpPr>
              <a:xfrm>
                <a:off x="7711013" y="4002615"/>
                <a:ext cx="281520" cy="241973"/>
                <a:chOff x="5652748" y="4066000"/>
                <a:chExt cx="906498" cy="747974"/>
              </a:xfrm>
            </p:grpSpPr>
            <p:sp>
              <p:nvSpPr>
                <p:cNvPr id="5010" name="Google Shape;5010;p27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11" name="Google Shape;5011;p27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12" name="Google Shape;5012;p27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13" name="Google Shape;5013;p27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32" name="Shape 5032"/>
        <p:cNvGrpSpPr/>
        <p:nvPr/>
      </p:nvGrpSpPr>
      <p:grpSpPr>
        <a:xfrm>
          <a:off x="0" y="0"/>
          <a:ext cx="0" cy="0"/>
          <a:chOff x="0" y="0"/>
          <a:chExt cx="0" cy="0"/>
        </a:xfrm>
      </p:grpSpPr>
      <p:cxnSp>
        <p:nvCxnSpPr>
          <p:cNvPr id="5033" name="Google Shape;5033;p27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034" name="Google Shape;5034;p27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Simplify and automate  the budgeting, planning and forecast process through the usage of high quality, consistent data  in order to drive improvements in speed, efficiency and costs.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level of detail available in budgets and forecasts to facilitate more specifically actionable budget vs actual variance analysis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budgeting and planning cycle time to allow more frequent revisions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 GL; plans / budgets / forecasts for prior periods, plus performance against those metrics;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contract data (account/agreement, balances, limits, transactions/interaction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Business sales and operational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Budgeting, Planning &amp; Forecasting solution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BI / OLAP solution to drive automated monitoring of performance against budgets &amp; forecasts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The Finance function is able to focus on the business process instead of data collection, integration and quality issues, leading to Budgeting, Planning &amp; Forecasting which:</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Utilises high quality, integrated data</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Is more automated</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Is less resource-intensive</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Is faster and cheaper</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Is more reliable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035" name="Google Shape;5035;p27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Budgeting, Planning &amp; </a:t>
            </a:r>
            <a:br>
              <a:rPr lang="en-GB"/>
            </a:br>
            <a:r>
              <a:rPr lang="en-GB"/>
              <a:t>Forecasting</a:t>
            </a:r>
            <a:endParaRPr sz="1600"/>
          </a:p>
        </p:txBody>
      </p:sp>
      <p:sp>
        <p:nvSpPr>
          <p:cNvPr id="5036" name="Google Shape;5036;p2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5037" name="Google Shape;5037;p277"/>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5038" name="Google Shape;5038;p277"/>
          <p:cNvGrpSpPr/>
          <p:nvPr/>
        </p:nvGrpSpPr>
        <p:grpSpPr>
          <a:xfrm>
            <a:off x="7717533" y="4360377"/>
            <a:ext cx="1058348" cy="347375"/>
            <a:chOff x="7651698" y="4287227"/>
            <a:chExt cx="1058348" cy="347375"/>
          </a:xfrm>
        </p:grpSpPr>
        <p:grpSp>
          <p:nvGrpSpPr>
            <p:cNvPr id="5039" name="Google Shape;5039;p277"/>
            <p:cNvGrpSpPr/>
            <p:nvPr/>
          </p:nvGrpSpPr>
          <p:grpSpPr>
            <a:xfrm>
              <a:off x="7714163" y="4337598"/>
              <a:ext cx="995883" cy="297004"/>
              <a:chOff x="7711013" y="3986494"/>
              <a:chExt cx="995883" cy="297004"/>
            </a:xfrm>
          </p:grpSpPr>
          <p:sp>
            <p:nvSpPr>
              <p:cNvPr id="5040" name="Google Shape;5040;p27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41" name="Google Shape;5041;p277"/>
              <p:cNvGrpSpPr/>
              <p:nvPr/>
            </p:nvGrpSpPr>
            <p:grpSpPr>
              <a:xfrm>
                <a:off x="7711013" y="4002615"/>
                <a:ext cx="281520" cy="241973"/>
                <a:chOff x="5652748" y="4066000"/>
                <a:chExt cx="906498" cy="747974"/>
              </a:xfrm>
            </p:grpSpPr>
            <p:sp>
              <p:nvSpPr>
                <p:cNvPr id="5042" name="Google Shape;5042;p27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43" name="Google Shape;5043;p27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44" name="Google Shape;5044;p27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45" name="Google Shape;5045;p27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64" name="Shape 5064"/>
        <p:cNvGrpSpPr/>
        <p:nvPr/>
      </p:nvGrpSpPr>
      <p:grpSpPr>
        <a:xfrm>
          <a:off x="0" y="0"/>
          <a:ext cx="0" cy="0"/>
          <a:chOff x="0" y="0"/>
          <a:chExt cx="0" cy="0"/>
        </a:xfrm>
      </p:grpSpPr>
      <p:cxnSp>
        <p:nvCxnSpPr>
          <p:cNvPr id="5065" name="Google Shape;5065;p27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066" name="Google Shape;5066;p27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Analyse, understand and optimise business processes in order to improve efficiency, reduce cost and increase customer satisfaction.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Take a data-driven, analytical approach to process monitoring and re-design which:</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Reflects reality, rather than traditional ‘time &amp; motion’ studies, which can be resource-intensive, costly, and disruptive to the business.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Is more agile and flexible.</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Supports all channels.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transaction and contact data across all channels.</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Other process steps (Event) data – e.g. internal staff processes.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data (e.g. staffing levels, wait times)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Results from ABC and/or Profitability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Intranet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storage and analytics platform supporting both structured &amp; multi-structured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Discovery analysis of processes, together with associated operational and customer contact data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analyse and optimise processes based on up-to-date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Identify:</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Process steps which generate complaints (particularly for high-value customers)</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Process steps with a high drop-out rate</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Process steps which are first to fail in times of stress</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Bottlenecks in processes – particularly those which are not dependent on staffing levels</a:t>
                      </a:r>
                      <a:endParaRPr sz="900" u="none" cap="none" strike="noStrike">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and react to process failures more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satisfaction / Lower levels of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complaints.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risk.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067" name="Google Shape;5067;p27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Business Process Analytics &amp; </a:t>
            </a:r>
            <a:br>
              <a:rPr lang="en-GB"/>
            </a:br>
            <a:r>
              <a:rPr lang="en-GB"/>
              <a:t>Optimisation</a:t>
            </a:r>
            <a:endParaRPr sz="1600"/>
          </a:p>
        </p:txBody>
      </p:sp>
      <p:sp>
        <p:nvSpPr>
          <p:cNvPr id="5068" name="Google Shape;5068;p27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5069" name="Google Shape;5069;p279"/>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5070" name="Google Shape;5070;p279"/>
          <p:cNvGrpSpPr/>
          <p:nvPr/>
        </p:nvGrpSpPr>
        <p:grpSpPr>
          <a:xfrm>
            <a:off x="7717533" y="4360377"/>
            <a:ext cx="1058348" cy="347375"/>
            <a:chOff x="7651698" y="4287227"/>
            <a:chExt cx="1058348" cy="347375"/>
          </a:xfrm>
        </p:grpSpPr>
        <p:grpSp>
          <p:nvGrpSpPr>
            <p:cNvPr id="5071" name="Google Shape;5071;p279"/>
            <p:cNvGrpSpPr/>
            <p:nvPr/>
          </p:nvGrpSpPr>
          <p:grpSpPr>
            <a:xfrm>
              <a:off x="7714163" y="4337598"/>
              <a:ext cx="995883" cy="297004"/>
              <a:chOff x="7711013" y="3986494"/>
              <a:chExt cx="995883" cy="297004"/>
            </a:xfrm>
          </p:grpSpPr>
          <p:sp>
            <p:nvSpPr>
              <p:cNvPr id="5072" name="Google Shape;5072;p27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73" name="Google Shape;5073;p279"/>
              <p:cNvGrpSpPr/>
              <p:nvPr/>
            </p:nvGrpSpPr>
            <p:grpSpPr>
              <a:xfrm>
                <a:off x="7711013" y="4002615"/>
                <a:ext cx="281520" cy="241973"/>
                <a:chOff x="5652748" y="4066000"/>
                <a:chExt cx="906498" cy="747974"/>
              </a:xfrm>
            </p:grpSpPr>
            <p:sp>
              <p:nvSpPr>
                <p:cNvPr id="5074" name="Google Shape;5074;p27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75" name="Google Shape;5075;p27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76" name="Google Shape;5076;p27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77" name="Google Shape;5077;p27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95" name="Shape 5095"/>
        <p:cNvGrpSpPr/>
        <p:nvPr/>
      </p:nvGrpSpPr>
      <p:grpSpPr>
        <a:xfrm>
          <a:off x="0" y="0"/>
          <a:ext cx="0" cy="0"/>
          <a:chOff x="0" y="0"/>
          <a:chExt cx="0" cy="0"/>
        </a:xfrm>
      </p:grpSpPr>
      <p:pic>
        <p:nvPicPr>
          <p:cNvPr id="5096" name="Google Shape;5096;p281"/>
          <p:cNvPicPr preferRelativeResize="0"/>
          <p:nvPr/>
        </p:nvPicPr>
        <p:blipFill rotWithShape="1">
          <a:blip r:embed="rId3">
            <a:alphaModFix/>
          </a:blip>
          <a:srcRect b="0" l="11849" r="9782" t="0"/>
          <a:stretch/>
        </p:blipFill>
        <p:spPr>
          <a:xfrm>
            <a:off x="5561012" y="0"/>
            <a:ext cx="3582987" cy="5143500"/>
          </a:xfrm>
          <a:prstGeom prst="rect">
            <a:avLst/>
          </a:prstGeom>
          <a:noFill/>
          <a:ln>
            <a:noFill/>
          </a:ln>
        </p:spPr>
      </p:pic>
      <p:sp>
        <p:nvSpPr>
          <p:cNvPr id="5097" name="Google Shape;5097;p281"/>
          <p:cNvSpPr txBox="1"/>
          <p:nvPr>
            <p:ph idx="1" type="body"/>
          </p:nvPr>
        </p:nvSpPr>
        <p:spPr>
          <a:xfrm>
            <a:off x="455485" y="2431144"/>
            <a:ext cx="4662784" cy="229673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600"/>
              </a:spcBef>
              <a:spcAft>
                <a:spcPts val="0"/>
              </a:spcAft>
              <a:buClr>
                <a:schemeClr val="dk1"/>
              </a:buClr>
              <a:buSzPts val="1200"/>
              <a:buChar char="•"/>
            </a:pPr>
            <a:r>
              <a:rPr lang="en-GB" sz="1200"/>
              <a:t>Manage short-term funding including intra-day liquidity management and cash clearing, crisis liquidity monitoring.</a:t>
            </a:r>
            <a:endParaRPr/>
          </a:p>
          <a:p>
            <a:pPr indent="-169863" lvl="0" marL="169863" rtl="0" algn="l">
              <a:lnSpc>
                <a:spcPct val="95000"/>
              </a:lnSpc>
              <a:spcBef>
                <a:spcPts val="200"/>
              </a:spcBef>
              <a:spcAft>
                <a:spcPts val="0"/>
              </a:spcAft>
              <a:buClr>
                <a:schemeClr val="dk1"/>
              </a:buClr>
              <a:buSzPts val="1200"/>
              <a:buChar char="•"/>
            </a:pPr>
            <a:r>
              <a:rPr lang="en-GB" sz="1200"/>
              <a:t>Involves selecting appropriate short &amp; medium-term investment vehicles, ensuring cash is available to pay liabilities timely, and increasing days cash on hand all in order to improve a company's overall financial profitability.</a:t>
            </a:r>
            <a:endParaRPr/>
          </a:p>
          <a:p>
            <a:pPr indent="-169863" lvl="0" marL="169863" rtl="0" algn="l">
              <a:lnSpc>
                <a:spcPct val="95000"/>
              </a:lnSpc>
              <a:spcBef>
                <a:spcPts val="600"/>
              </a:spcBef>
              <a:spcAft>
                <a:spcPts val="0"/>
              </a:spcAft>
              <a:buClr>
                <a:schemeClr val="dk1"/>
              </a:buClr>
              <a:buSzPts val="1200"/>
              <a:buChar char="•"/>
            </a:pPr>
            <a:r>
              <a:rPr lang="en-GB" sz="1200"/>
              <a:t>Liquidity management addresses managing cash flows, short and medium term debt financing,  to ensure the firm has sufficient cash at all times to run its business.</a:t>
            </a:r>
            <a:endParaRPr sz="1200"/>
          </a:p>
          <a:p>
            <a:pPr indent="-93663" lvl="0" marL="169863" rtl="0" algn="l">
              <a:lnSpc>
                <a:spcPct val="95000"/>
              </a:lnSpc>
              <a:spcBef>
                <a:spcPts val="600"/>
              </a:spcBef>
              <a:spcAft>
                <a:spcPts val="0"/>
              </a:spcAft>
              <a:buClr>
                <a:schemeClr val="dk1"/>
              </a:buClr>
              <a:buSzPts val="1200"/>
              <a:buNone/>
            </a:pPr>
            <a:r>
              <a:t/>
            </a:r>
            <a:endParaRPr sz="1200"/>
          </a:p>
        </p:txBody>
      </p:sp>
      <p:sp>
        <p:nvSpPr>
          <p:cNvPr id="5098" name="Google Shape;5098;p28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TREASURY MANAGEMENT</a:t>
            </a:r>
            <a:endParaRPr/>
          </a:p>
        </p:txBody>
      </p:sp>
      <p:sp>
        <p:nvSpPr>
          <p:cNvPr id="5099" name="Google Shape;5099;p281"/>
          <p:cNvSpPr/>
          <p:nvPr/>
        </p:nvSpPr>
        <p:spPr>
          <a:xfrm>
            <a:off x="1" y="1141414"/>
            <a:ext cx="7205662" cy="128972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0" marL="0" marR="0" rtl="0" algn="l">
              <a:spcBef>
                <a:spcPts val="0"/>
              </a:spcBef>
              <a:spcAft>
                <a:spcPts val="0"/>
              </a:spcAft>
              <a:buNone/>
            </a:pPr>
            <a:r>
              <a:rPr lang="en-GB" sz="1500">
                <a:solidFill>
                  <a:schemeClr val="lt1"/>
                </a:solidFill>
                <a:latin typeface="Century Gothic"/>
                <a:ea typeface="Century Gothic"/>
                <a:cs typeface="Century Gothic"/>
                <a:sym typeface="Century Gothic"/>
              </a:rPr>
              <a:t>Treasury management focuses on Cash and Liquidity Management looking at the management of liquidity, funding, and other financial risks. Effective Treasury Management is a key component of ensuring a company's financial stability and solvency. </a:t>
            </a:r>
            <a:endParaRPr/>
          </a:p>
        </p:txBody>
      </p:sp>
      <p:sp>
        <p:nvSpPr>
          <p:cNvPr id="5100" name="Google Shape;5100;p28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63" name="Shape 5163"/>
        <p:cNvGrpSpPr/>
        <p:nvPr/>
      </p:nvGrpSpPr>
      <p:grpSpPr>
        <a:xfrm>
          <a:off x="0" y="0"/>
          <a:ext cx="0" cy="0"/>
          <a:chOff x="0" y="0"/>
          <a:chExt cx="0" cy="0"/>
        </a:xfrm>
      </p:grpSpPr>
      <p:pic>
        <p:nvPicPr>
          <p:cNvPr descr="FIN-1011-L.jpg" id="5164" name="Google Shape;5164;p286"/>
          <p:cNvPicPr preferRelativeResize="0"/>
          <p:nvPr/>
        </p:nvPicPr>
        <p:blipFill rotWithShape="1">
          <a:blip r:embed="rId3">
            <a:alphaModFix/>
          </a:blip>
          <a:srcRect b="881" l="12473" r="15517" t="3131"/>
          <a:stretch/>
        </p:blipFill>
        <p:spPr>
          <a:xfrm>
            <a:off x="5648154" y="274638"/>
            <a:ext cx="3324396" cy="2215646"/>
          </a:xfrm>
          <a:prstGeom prst="rect">
            <a:avLst/>
          </a:prstGeom>
          <a:noFill/>
          <a:ln>
            <a:noFill/>
          </a:ln>
        </p:spPr>
      </p:pic>
      <p:cxnSp>
        <p:nvCxnSpPr>
          <p:cNvPr id="5165" name="Google Shape;5165;p28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166" name="Google Shape;5166;p28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Generate detailed , accurate and granular cashflow data to support a range of activities across Treasury and beyond (including ALM, Liquidity Management, Future Value calculations etc.)</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Ability to generate cashflows at individual agreement/contract level to support more detailed analysis and reporting.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Fast generation times to support more frequent update/refresh.</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Flexible functionality enabling cashflow rules to be established and maintained without hard-coding and with minimal IT requirement.</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Support for contractual and non-contractual cashflows.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data including customer, product, agreement (including contractual terms), balances (assets), limits and transaction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Discovery Platform / Solution for deep analysis and modelling of non-contractual cashflow behaviour</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granularity of Cashflow generation results in  enhanced ALM and Liquidity Management capabilities.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Complete coverage &amp; detail of data required to generate contractual and non-contractual (behavioural) cashflows available from a single, integrated source.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integrate at detailed transactional and granular data level with full range of other application options.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Cash flow return on investment  (CFROI) per Asset</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167" name="Google Shape;5167;p28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Cashflow Generation</a:t>
            </a:r>
            <a:endParaRPr sz="1600"/>
          </a:p>
        </p:txBody>
      </p:sp>
      <p:grpSp>
        <p:nvGrpSpPr>
          <p:cNvPr id="5168" name="Google Shape;5168;p286"/>
          <p:cNvGrpSpPr/>
          <p:nvPr/>
        </p:nvGrpSpPr>
        <p:grpSpPr>
          <a:xfrm>
            <a:off x="7717533" y="4360377"/>
            <a:ext cx="1058348" cy="347375"/>
            <a:chOff x="7651698" y="4287227"/>
            <a:chExt cx="1058348" cy="347375"/>
          </a:xfrm>
        </p:grpSpPr>
        <p:grpSp>
          <p:nvGrpSpPr>
            <p:cNvPr id="5169" name="Google Shape;5169;p286"/>
            <p:cNvGrpSpPr/>
            <p:nvPr/>
          </p:nvGrpSpPr>
          <p:grpSpPr>
            <a:xfrm>
              <a:off x="7714163" y="4337598"/>
              <a:ext cx="995883" cy="297004"/>
              <a:chOff x="7711013" y="3986494"/>
              <a:chExt cx="995883" cy="297004"/>
            </a:xfrm>
          </p:grpSpPr>
          <p:sp>
            <p:nvSpPr>
              <p:cNvPr id="5170" name="Google Shape;5170;p28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171" name="Google Shape;5171;p286"/>
              <p:cNvGrpSpPr/>
              <p:nvPr/>
            </p:nvGrpSpPr>
            <p:grpSpPr>
              <a:xfrm>
                <a:off x="7711013" y="4002615"/>
                <a:ext cx="281520" cy="241973"/>
                <a:chOff x="5652748" y="4066000"/>
                <a:chExt cx="906498" cy="747974"/>
              </a:xfrm>
            </p:grpSpPr>
            <p:sp>
              <p:nvSpPr>
                <p:cNvPr id="5172" name="Google Shape;5172;p28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173" name="Google Shape;5173;p28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174" name="Google Shape;5174;p28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175" name="Google Shape;5175;p28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176" name="Google Shape;5176;p286">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95" name="Shape 5195"/>
        <p:cNvGrpSpPr/>
        <p:nvPr/>
      </p:nvGrpSpPr>
      <p:grpSpPr>
        <a:xfrm>
          <a:off x="0" y="0"/>
          <a:ext cx="0" cy="0"/>
          <a:chOff x="0" y="0"/>
          <a:chExt cx="0" cy="0"/>
        </a:xfrm>
      </p:grpSpPr>
      <p:cxnSp>
        <p:nvCxnSpPr>
          <p:cNvPr id="5196" name="Google Shape;5196;p28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197" name="Google Shape;5197;p28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Manage short and long-term positions, including intraday liquidity and risk to meet payment and settlement obligations on a timely basis, under both normal and stressed conditions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and accurate regulatory reporting (e.g. LCR, NSFR) using comprehensive,  integrated, high-quality and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for Intra-day liquidity monitoring (i.e. Early Warning Indicators)</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 comprehensive stress testing.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 Liquidity information at multiple levels (legal entity, business line, product, customer, transaction)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Access to real-time, relevant detailed  balance and transaction data </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management and monitoring of intra-day, short- and long-term liquidity, resulting in:</a:t>
                      </a:r>
                      <a:endParaRPr/>
                    </a:p>
                    <a:p>
                      <a:pPr indent="-171450" lvl="0" marL="35401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Reduction in the need for intraday credit lines.</a:t>
                      </a:r>
                      <a:endParaRPr/>
                    </a:p>
                    <a:p>
                      <a:pPr indent="-171450" lvl="0" marL="35401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Minimising impact of liquidity buffers on funding &amp; capital costs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Meet current regulatory reporting requirements on a timely basis.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Adapt to future regulatory changes more quickly and cheaply.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perform comprehensive and detailed stress-testing, using single-source,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time to deliver Output and with less manual effort</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198" name="Google Shape;5198;p28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Liquidity Management</a:t>
            </a:r>
            <a:endParaRPr sz="1600"/>
          </a:p>
        </p:txBody>
      </p:sp>
      <p:sp>
        <p:nvSpPr>
          <p:cNvPr id="5199" name="Google Shape;5199;p2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00" name="Google Shape;5200;p288"/>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01" name="Google Shape;5201;p288"/>
          <p:cNvGrpSpPr/>
          <p:nvPr/>
        </p:nvGrpSpPr>
        <p:grpSpPr>
          <a:xfrm>
            <a:off x="7717533" y="4360377"/>
            <a:ext cx="1058348" cy="347375"/>
            <a:chOff x="7651698" y="4287227"/>
            <a:chExt cx="1058348" cy="347375"/>
          </a:xfrm>
        </p:grpSpPr>
        <p:grpSp>
          <p:nvGrpSpPr>
            <p:cNvPr id="5202" name="Google Shape;5202;p288"/>
            <p:cNvGrpSpPr/>
            <p:nvPr/>
          </p:nvGrpSpPr>
          <p:grpSpPr>
            <a:xfrm>
              <a:off x="7714163" y="4337598"/>
              <a:ext cx="995883" cy="297004"/>
              <a:chOff x="7711013" y="3986494"/>
              <a:chExt cx="995883" cy="297004"/>
            </a:xfrm>
          </p:grpSpPr>
          <p:sp>
            <p:nvSpPr>
              <p:cNvPr id="5203" name="Google Shape;5203;p28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204" name="Google Shape;5204;p288"/>
              <p:cNvGrpSpPr/>
              <p:nvPr/>
            </p:nvGrpSpPr>
            <p:grpSpPr>
              <a:xfrm>
                <a:off x="7711013" y="4002615"/>
                <a:ext cx="281520" cy="241973"/>
                <a:chOff x="5652748" y="4066000"/>
                <a:chExt cx="906498" cy="747974"/>
              </a:xfrm>
            </p:grpSpPr>
            <p:sp>
              <p:nvSpPr>
                <p:cNvPr id="5205" name="Google Shape;5205;p28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206" name="Google Shape;5206;p28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207" name="Google Shape;5207;p28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208" name="Google Shape;5208;p28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27" name="Shape 5227"/>
        <p:cNvGrpSpPr/>
        <p:nvPr/>
      </p:nvGrpSpPr>
      <p:grpSpPr>
        <a:xfrm>
          <a:off x="0" y="0"/>
          <a:ext cx="0" cy="0"/>
          <a:chOff x="0" y="0"/>
          <a:chExt cx="0" cy="0"/>
        </a:xfrm>
      </p:grpSpPr>
      <p:cxnSp>
        <p:nvCxnSpPr>
          <p:cNvPr id="5228" name="Google Shape;5228;p29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229" name="Google Shape;5229;p29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Plan capital need, allocate capital within the organization, and set cost of capital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Calculate (risk-adjusted) return on capital  and economic capital.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RWA calculation and capital adequacy / regulatory reporting.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 comprehensive stress testing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Ensure that accurate cost of capital is reflected in product development and pricing, customer profitability calculations etc.</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Agreement, customer, and collateral data; rating and market data for VaR calculation and stress scenarios; internal organization data (business units, profit centres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to hold integrated set of granular data covering all capital adequacy and regulatory reporting requirements, to continuously determine market-based pricing for assets and liabilities based on defined market curves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3rd party calculation engines or custom-built developments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analyse / evaluate the organisation’s long-term viability under different forward-looking strategies, including stress scenarios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Efficient capital planning process taking into account projected balance sheets, income statements and risk-weighted assets on group level enabled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fulfilment of regulatory stress testing requirements (e.g. CCAR, EBA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Significantly enhanced, consistent, and reliable data across all regulatory and capital adequacy needs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230" name="Google Shape;5230;p29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Capital Planning and Management</a:t>
            </a:r>
            <a:endParaRPr sz="1600"/>
          </a:p>
        </p:txBody>
      </p:sp>
      <p:sp>
        <p:nvSpPr>
          <p:cNvPr id="5231" name="Google Shape;5231;p2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32" name="Google Shape;5232;p290"/>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33" name="Google Shape;5233;p290"/>
          <p:cNvGrpSpPr/>
          <p:nvPr/>
        </p:nvGrpSpPr>
        <p:grpSpPr>
          <a:xfrm>
            <a:off x="7717533" y="4360377"/>
            <a:ext cx="1058348" cy="347375"/>
            <a:chOff x="7651698" y="4287227"/>
            <a:chExt cx="1058348" cy="347375"/>
          </a:xfrm>
        </p:grpSpPr>
        <p:grpSp>
          <p:nvGrpSpPr>
            <p:cNvPr id="5234" name="Google Shape;5234;p290"/>
            <p:cNvGrpSpPr/>
            <p:nvPr/>
          </p:nvGrpSpPr>
          <p:grpSpPr>
            <a:xfrm>
              <a:off x="7714163" y="4337598"/>
              <a:ext cx="995883" cy="297004"/>
              <a:chOff x="7711013" y="3986494"/>
              <a:chExt cx="995883" cy="297004"/>
            </a:xfrm>
          </p:grpSpPr>
          <p:sp>
            <p:nvSpPr>
              <p:cNvPr id="5235" name="Google Shape;5235;p29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236" name="Google Shape;5236;p290"/>
              <p:cNvGrpSpPr/>
              <p:nvPr/>
            </p:nvGrpSpPr>
            <p:grpSpPr>
              <a:xfrm>
                <a:off x="7711013" y="4002615"/>
                <a:ext cx="281520" cy="241973"/>
                <a:chOff x="5652748" y="4066000"/>
                <a:chExt cx="906498" cy="747974"/>
              </a:xfrm>
            </p:grpSpPr>
            <p:sp>
              <p:nvSpPr>
                <p:cNvPr id="5237" name="Google Shape;5237;p29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238" name="Google Shape;5238;p29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239" name="Google Shape;5239;p29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240" name="Google Shape;5240;p29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59" name="Shape 5259"/>
        <p:cNvGrpSpPr/>
        <p:nvPr/>
      </p:nvGrpSpPr>
      <p:grpSpPr>
        <a:xfrm>
          <a:off x="0" y="0"/>
          <a:ext cx="0" cy="0"/>
          <a:chOff x="0" y="0"/>
          <a:chExt cx="0" cy="0"/>
        </a:xfrm>
      </p:grpSpPr>
      <p:cxnSp>
        <p:nvCxnSpPr>
          <p:cNvPr id="5260" name="Google Shape;5260;p29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261" name="Google Shape;5261;p29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Effective management of interest rate and liquidity risks.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granular, accurate  and timely analysis to support ALM forecasting and decisions.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robust and comprehensive balance sheet management solution utilising timely and validated data </a:t>
                      </a:r>
                      <a:r>
                        <a:rPr lang="en-GB" sz="900">
                          <a:solidFill>
                            <a:schemeClr val="dk1"/>
                          </a:solidFill>
                        </a:rPr>
                        <a:t>for all legal entities and business units</a:t>
                      </a:r>
                      <a:r>
                        <a:rPr lang="en-GB" sz="900">
                          <a:solidFill>
                            <a:schemeClr val="dk1"/>
                          </a:solidFill>
                          <a:latin typeface="Century Gothic"/>
                          <a:ea typeface="Century Gothic"/>
                          <a:cs typeface="Century Gothic"/>
                          <a:sym typeface="Century Gothic"/>
                        </a:rPr>
                        <a:t>, and providing comprehensive functionality for analysis, simulation and reporting.</a:t>
                      </a:r>
                      <a:endParaRPr/>
                    </a:p>
                    <a:p>
                      <a:pPr indent="-114300" lvl="0" marL="171450" marR="0" rtl="0" algn="l">
                        <a:lnSpc>
                          <a:spcPct val="100000"/>
                        </a:lnSpc>
                        <a:spcBef>
                          <a:spcPts val="0"/>
                        </a:spcBef>
                        <a:spcAft>
                          <a:spcPts val="0"/>
                        </a:spcAft>
                        <a:buClr>
                          <a:schemeClr val="dk1"/>
                        </a:buClr>
                        <a:buSzPts val="900"/>
                        <a:buFont typeface="Arial"/>
                        <a:buNone/>
                      </a:pPr>
                      <a:r>
                        <a:t/>
                      </a:r>
                      <a:endParaRPr b="1"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product, agreement (including contractual terms),  balances, limits and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Cashflow projections from Cashflow generation engine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data (e.g. FX rates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 robust integrated data warehouse, incorporating risk, financial, customer and other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3</a:t>
                      </a:r>
                      <a:r>
                        <a:rPr baseline="30000" lang="en-GB" sz="900">
                          <a:solidFill>
                            <a:schemeClr val="dk1"/>
                          </a:solidFill>
                        </a:rPr>
                        <a:t>rd</a:t>
                      </a:r>
                      <a:r>
                        <a:rPr lang="en-GB" sz="900">
                          <a:solidFill>
                            <a:schemeClr val="dk1"/>
                          </a:solidFill>
                        </a:rPr>
                        <a:t>-party, or custom-developed  applications / calculation engines to support analysis, simulation and reporting</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Comprehensive and sustainable balance sheet risk management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Regulatory Compliance, meeting local liquidity and interest rate regulatory requirements with clear data lineage and a complete audit trail from the original exposures to the final regulatory reports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The output supports analysis of the risk exposure of user-defined portfolios or position sets segmented by product, business line, region or risk factor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 measurement and management of  the entire spectrum of risk types related to asset and liability management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infrastructure</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262" name="Google Shape;5262;p29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Asset &amp; Liability Management</a:t>
            </a:r>
            <a:endParaRPr sz="1600"/>
          </a:p>
        </p:txBody>
      </p:sp>
      <p:sp>
        <p:nvSpPr>
          <p:cNvPr id="5263" name="Google Shape;5263;p2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64" name="Google Shape;5264;p292"/>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65" name="Google Shape;5265;p292"/>
          <p:cNvGrpSpPr/>
          <p:nvPr/>
        </p:nvGrpSpPr>
        <p:grpSpPr>
          <a:xfrm>
            <a:off x="7717533" y="4360377"/>
            <a:ext cx="1058348" cy="347375"/>
            <a:chOff x="7651698" y="4287227"/>
            <a:chExt cx="1058348" cy="347375"/>
          </a:xfrm>
        </p:grpSpPr>
        <p:grpSp>
          <p:nvGrpSpPr>
            <p:cNvPr id="5266" name="Google Shape;5266;p292"/>
            <p:cNvGrpSpPr/>
            <p:nvPr/>
          </p:nvGrpSpPr>
          <p:grpSpPr>
            <a:xfrm>
              <a:off x="7714163" y="4337598"/>
              <a:ext cx="995883" cy="297004"/>
              <a:chOff x="7711013" y="3986494"/>
              <a:chExt cx="995883" cy="297004"/>
            </a:xfrm>
          </p:grpSpPr>
          <p:sp>
            <p:nvSpPr>
              <p:cNvPr id="5267" name="Google Shape;5267;p29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268" name="Google Shape;5268;p292"/>
              <p:cNvGrpSpPr/>
              <p:nvPr/>
            </p:nvGrpSpPr>
            <p:grpSpPr>
              <a:xfrm>
                <a:off x="7711013" y="4002615"/>
                <a:ext cx="281520" cy="241973"/>
                <a:chOff x="5652748" y="4066000"/>
                <a:chExt cx="906498" cy="747974"/>
              </a:xfrm>
            </p:grpSpPr>
            <p:sp>
              <p:nvSpPr>
                <p:cNvPr id="5269" name="Google Shape;5269;p29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270" name="Google Shape;5270;p29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271" name="Google Shape;5271;p29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272" name="Google Shape;5272;p29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91" name="Shape 5291"/>
        <p:cNvGrpSpPr/>
        <p:nvPr/>
      </p:nvGrpSpPr>
      <p:grpSpPr>
        <a:xfrm>
          <a:off x="0" y="0"/>
          <a:ext cx="0" cy="0"/>
          <a:chOff x="0" y="0"/>
          <a:chExt cx="0" cy="0"/>
        </a:xfrm>
      </p:grpSpPr>
      <p:cxnSp>
        <p:nvCxnSpPr>
          <p:cNvPr id="5292" name="Google Shape;5292;p29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293" name="Google Shape;5293;p29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Transfer management of interest rate and liquidity risk to a central unit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centrally manage Net Interest Margin and Cost of Funds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Fairly and reasonable price the Cost/value of funds attributable to each customer contract to  contribute to customer contract level profitability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Drive/motivate the banks sales staff towards focusing sales effort on those product sets that support the banks strategic direction</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Avoid inappropriate business decisions with significant impact on the bank‘s profitability (e.g. underestimated funding costs resulting in loans offered too cheaply or undervalue of deposits)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agreement/position data, in particular balances, rates, maturities, re-pricing/repayment frequencies; customer demographic, segmentation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rates/curves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3rd party calculation engines or custom built developments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Continuous availability of appropriate transfer prices, reflecting the current market and funding situation, to avoid wrong incentives and consequent costly decisions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Significant contribution towards Customer contract profitability model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and fund liquidity mismatches at an optimal cost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Centralize deployment of surplus liquidity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Set targets for interest income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294" name="Google Shape;5294;p29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Funds Transfer Pricing</a:t>
            </a:r>
            <a:endParaRPr sz="1600"/>
          </a:p>
        </p:txBody>
      </p:sp>
      <p:sp>
        <p:nvSpPr>
          <p:cNvPr id="5295" name="Google Shape;5295;p2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96" name="Google Shape;5296;p294"/>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97" name="Google Shape;5297;p294"/>
          <p:cNvGrpSpPr/>
          <p:nvPr/>
        </p:nvGrpSpPr>
        <p:grpSpPr>
          <a:xfrm>
            <a:off x="7717533" y="4360377"/>
            <a:ext cx="1058348" cy="347375"/>
            <a:chOff x="7651698" y="4287227"/>
            <a:chExt cx="1058348" cy="347375"/>
          </a:xfrm>
        </p:grpSpPr>
        <p:grpSp>
          <p:nvGrpSpPr>
            <p:cNvPr id="5298" name="Google Shape;5298;p294"/>
            <p:cNvGrpSpPr/>
            <p:nvPr/>
          </p:nvGrpSpPr>
          <p:grpSpPr>
            <a:xfrm>
              <a:off x="7714163" y="4337598"/>
              <a:ext cx="995883" cy="297004"/>
              <a:chOff x="7711013" y="3986494"/>
              <a:chExt cx="995883" cy="297004"/>
            </a:xfrm>
          </p:grpSpPr>
          <p:sp>
            <p:nvSpPr>
              <p:cNvPr id="5299" name="Google Shape;5299;p29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300" name="Google Shape;5300;p294"/>
              <p:cNvGrpSpPr/>
              <p:nvPr/>
            </p:nvGrpSpPr>
            <p:grpSpPr>
              <a:xfrm>
                <a:off x="7711013" y="4002615"/>
                <a:ext cx="281520" cy="241973"/>
                <a:chOff x="5652748" y="4066000"/>
                <a:chExt cx="906498" cy="747974"/>
              </a:xfrm>
            </p:grpSpPr>
            <p:sp>
              <p:nvSpPr>
                <p:cNvPr id="5301" name="Google Shape;5301;p29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02" name="Google Shape;5302;p29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03" name="Google Shape;5303;p29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04" name="Google Shape;5304;p29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23" name="Shape 5323"/>
        <p:cNvGrpSpPr/>
        <p:nvPr/>
      </p:nvGrpSpPr>
      <p:grpSpPr>
        <a:xfrm>
          <a:off x="0" y="0"/>
          <a:ext cx="0" cy="0"/>
          <a:chOff x="0" y="0"/>
          <a:chExt cx="0" cy="0"/>
        </a:xfrm>
      </p:grpSpPr>
      <p:cxnSp>
        <p:nvCxnSpPr>
          <p:cNvPr id="5324" name="Google Shape;5324;p29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325" name="Google Shape;5325;p29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Identify, measure and manage the risk of losses arising from adverse movements in market prices (e.g. equity or commodity prices, interest or FX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Availability of all required data to support analytics , models and reporting in a single, integrated environment.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develop and adapt models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meet regulatory requirements (e.g. Basel II/III, stressed VaR, Incremental Risk Charge, Credit Value Adjustments etc.)</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Deal-level data across all trading book portfolios.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FX and Commodity positions across whole balance sheet.</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and reference data (price information, volatilities, index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Value-at-Risk for all trading positions is calculated daily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All calculations are performed based on high-quality, integrated and validated  data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Internal model calculations are agreed, trusted and used consistently by the front office, finance, and risk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As a result, risk positions and limits according to the risk appetite can be monitored and managed appropriately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326" name="Google Shape;5326;p29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FX &amp; Trading Book Management</a:t>
            </a:r>
            <a:endParaRPr sz="1600"/>
          </a:p>
        </p:txBody>
      </p:sp>
      <p:sp>
        <p:nvSpPr>
          <p:cNvPr id="5327" name="Google Shape;5327;p2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328" name="Google Shape;5328;p296"/>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329" name="Google Shape;5329;p296"/>
          <p:cNvGrpSpPr/>
          <p:nvPr/>
        </p:nvGrpSpPr>
        <p:grpSpPr>
          <a:xfrm>
            <a:off x="7717533" y="4360377"/>
            <a:ext cx="1058348" cy="347375"/>
            <a:chOff x="7651698" y="4287227"/>
            <a:chExt cx="1058348" cy="347375"/>
          </a:xfrm>
        </p:grpSpPr>
        <p:grpSp>
          <p:nvGrpSpPr>
            <p:cNvPr id="5330" name="Google Shape;5330;p296"/>
            <p:cNvGrpSpPr/>
            <p:nvPr/>
          </p:nvGrpSpPr>
          <p:grpSpPr>
            <a:xfrm>
              <a:off x="7714163" y="4337598"/>
              <a:ext cx="995883" cy="297004"/>
              <a:chOff x="7711013" y="3986494"/>
              <a:chExt cx="995883" cy="297004"/>
            </a:xfrm>
          </p:grpSpPr>
          <p:sp>
            <p:nvSpPr>
              <p:cNvPr id="5331" name="Google Shape;5331;p29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332" name="Google Shape;5332;p296"/>
              <p:cNvGrpSpPr/>
              <p:nvPr/>
            </p:nvGrpSpPr>
            <p:grpSpPr>
              <a:xfrm>
                <a:off x="7711013" y="4002615"/>
                <a:ext cx="281520" cy="241973"/>
                <a:chOff x="5652748" y="4066000"/>
                <a:chExt cx="906498" cy="747974"/>
              </a:xfrm>
            </p:grpSpPr>
            <p:sp>
              <p:nvSpPr>
                <p:cNvPr id="5333" name="Google Shape;5333;p29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34" name="Google Shape;5334;p29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35" name="Google Shape;5335;p29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36" name="Google Shape;5336;p29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55" name="Shape 5355"/>
        <p:cNvGrpSpPr/>
        <p:nvPr/>
      </p:nvGrpSpPr>
      <p:grpSpPr>
        <a:xfrm>
          <a:off x="0" y="0"/>
          <a:ext cx="0" cy="0"/>
          <a:chOff x="0" y="0"/>
          <a:chExt cx="0" cy="0"/>
        </a:xfrm>
      </p:grpSpPr>
      <p:cxnSp>
        <p:nvCxnSpPr>
          <p:cNvPr id="5356" name="Google Shape;5356;p29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357" name="Google Shape;5357;p29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Identify, measure, mitigate and manage interest rate risk (in the banking book) in order to limit losses from unexpected interest rate changes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Availability of all required data to support analytics , models and reporting in a single, integrated environment.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develop and adapt models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not only the benefits but also the limits of the risk measurement methods (e.g. VaR, EaR, EVE, NII) used.</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account- and agreement-level data for all interest rate sensitive instruments (assets, liabilities, and off-balance items), including: Balances; terms; interest rates; limits; Product, Customer and Risk characteristics;  Maturity and re-pricing dates and characteristics;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data (e.g. interest rates and yield curves).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Net Interest margins.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Net interest income at Risk calculation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react to competitor pricing.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earnings volatility.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358" name="Google Shape;5358;p29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Interest (Risk) Rate Management </a:t>
            </a:r>
            <a:endParaRPr sz="1600"/>
          </a:p>
        </p:txBody>
      </p:sp>
      <p:sp>
        <p:nvSpPr>
          <p:cNvPr id="5359" name="Google Shape;5359;p2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360" name="Google Shape;5360;p298"/>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361" name="Google Shape;5361;p298"/>
          <p:cNvGrpSpPr/>
          <p:nvPr/>
        </p:nvGrpSpPr>
        <p:grpSpPr>
          <a:xfrm>
            <a:off x="7717533" y="4360377"/>
            <a:ext cx="1058348" cy="347375"/>
            <a:chOff x="7651698" y="4287227"/>
            <a:chExt cx="1058348" cy="347375"/>
          </a:xfrm>
        </p:grpSpPr>
        <p:grpSp>
          <p:nvGrpSpPr>
            <p:cNvPr id="5362" name="Google Shape;5362;p298"/>
            <p:cNvGrpSpPr/>
            <p:nvPr/>
          </p:nvGrpSpPr>
          <p:grpSpPr>
            <a:xfrm>
              <a:off x="7714163" y="4337598"/>
              <a:ext cx="995883" cy="297004"/>
              <a:chOff x="7711013" y="3986494"/>
              <a:chExt cx="995883" cy="297004"/>
            </a:xfrm>
          </p:grpSpPr>
          <p:sp>
            <p:nvSpPr>
              <p:cNvPr id="5363" name="Google Shape;5363;p29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364" name="Google Shape;5364;p298"/>
              <p:cNvGrpSpPr/>
              <p:nvPr/>
            </p:nvGrpSpPr>
            <p:grpSpPr>
              <a:xfrm>
                <a:off x="7711013" y="4002615"/>
                <a:ext cx="281520" cy="241973"/>
                <a:chOff x="5652748" y="4066000"/>
                <a:chExt cx="906498" cy="747974"/>
              </a:xfrm>
            </p:grpSpPr>
            <p:sp>
              <p:nvSpPr>
                <p:cNvPr id="5365" name="Google Shape;5365;p29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66" name="Google Shape;5366;p29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67" name="Google Shape;5367;p29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68" name="Google Shape;5368;p29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86" name="Shape 5386"/>
        <p:cNvGrpSpPr/>
        <p:nvPr/>
      </p:nvGrpSpPr>
      <p:grpSpPr>
        <a:xfrm>
          <a:off x="0" y="0"/>
          <a:ext cx="0" cy="0"/>
          <a:chOff x="0" y="0"/>
          <a:chExt cx="0" cy="0"/>
        </a:xfrm>
      </p:grpSpPr>
      <p:pic>
        <p:nvPicPr>
          <p:cNvPr id="5387" name="Google Shape;5387;p300"/>
          <p:cNvPicPr preferRelativeResize="0"/>
          <p:nvPr/>
        </p:nvPicPr>
        <p:blipFill rotWithShape="1">
          <a:blip r:embed="rId3">
            <a:alphaModFix/>
          </a:blip>
          <a:srcRect b="0" l="0" r="13555" t="0"/>
          <a:stretch/>
        </p:blipFill>
        <p:spPr>
          <a:xfrm>
            <a:off x="5549899" y="-7235"/>
            <a:ext cx="3594101" cy="5150735"/>
          </a:xfrm>
          <a:prstGeom prst="rect">
            <a:avLst/>
          </a:prstGeom>
          <a:noFill/>
          <a:ln>
            <a:noFill/>
          </a:ln>
        </p:spPr>
      </p:pic>
      <p:sp>
        <p:nvSpPr>
          <p:cNvPr id="5388" name="Google Shape;5388;p300"/>
          <p:cNvSpPr txBox="1"/>
          <p:nvPr>
            <p:ph idx="1" type="body"/>
          </p:nvPr>
        </p:nvSpPr>
        <p:spPr>
          <a:xfrm>
            <a:off x="455485" y="2073217"/>
            <a:ext cx="4662784" cy="261955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000"/>
              <a:buChar char="•"/>
            </a:pPr>
            <a:r>
              <a:rPr lang="en-GB" sz="1000"/>
              <a:t>Financial Reporting records financial</a:t>
            </a:r>
            <a:r>
              <a:rPr b="1" lang="en-GB" sz="1000"/>
              <a:t> </a:t>
            </a:r>
            <a:r>
              <a:rPr lang="en-GB" sz="1000"/>
              <a:t>position, performance and changes in financial position of an enterprise and are very useful to a wide range of users in making economic decisions.*</a:t>
            </a:r>
            <a:endParaRPr/>
          </a:p>
          <a:p>
            <a:pPr indent="-169863" lvl="0" marL="169863" rtl="0" algn="l">
              <a:lnSpc>
                <a:spcPct val="95000"/>
              </a:lnSpc>
              <a:spcBef>
                <a:spcPts val="600"/>
              </a:spcBef>
              <a:spcAft>
                <a:spcPts val="0"/>
              </a:spcAft>
              <a:buClr>
                <a:schemeClr val="dk1"/>
              </a:buClr>
              <a:buSzPts val="1000"/>
              <a:buChar char="•"/>
            </a:pPr>
            <a:r>
              <a:rPr lang="en-GB" sz="1000"/>
              <a:t>A view of the past and present financial position of a company can be used to evaluate future risks and potential of the enterprise</a:t>
            </a:r>
            <a:endParaRPr/>
          </a:p>
          <a:p>
            <a:pPr indent="-169863" lvl="0" marL="169863" rtl="0" algn="l">
              <a:lnSpc>
                <a:spcPct val="95000"/>
              </a:lnSpc>
              <a:spcBef>
                <a:spcPts val="600"/>
              </a:spcBef>
              <a:spcAft>
                <a:spcPts val="0"/>
              </a:spcAft>
              <a:buClr>
                <a:schemeClr val="dk1"/>
              </a:buClr>
              <a:buSzPts val="1000"/>
              <a:buChar char="•"/>
            </a:pPr>
            <a:r>
              <a:rPr lang="en-GB" sz="1000"/>
              <a:t>Financial reports should be </a:t>
            </a:r>
            <a:endParaRPr/>
          </a:p>
          <a:p>
            <a:pPr indent="-230187" lvl="1" marL="515938" rtl="0" algn="l">
              <a:lnSpc>
                <a:spcPct val="85000"/>
              </a:lnSpc>
              <a:spcBef>
                <a:spcPts val="600"/>
              </a:spcBef>
              <a:spcAft>
                <a:spcPts val="0"/>
              </a:spcAft>
              <a:buClr>
                <a:schemeClr val="dk1"/>
              </a:buClr>
              <a:buSzPts val="900"/>
              <a:buChar char="–"/>
            </a:pPr>
            <a:r>
              <a:rPr lang="en-GB" sz="900"/>
              <a:t>Useful - Whether to provide credit to a customer,  whether to lend to a borrower,  and whether to invest in a business. </a:t>
            </a:r>
            <a:endParaRPr sz="900"/>
          </a:p>
          <a:p>
            <a:pPr indent="-230187" lvl="1" marL="515938" rtl="0" algn="l">
              <a:lnSpc>
                <a:spcPct val="85000"/>
              </a:lnSpc>
              <a:spcBef>
                <a:spcPts val="600"/>
              </a:spcBef>
              <a:spcAft>
                <a:spcPts val="0"/>
              </a:spcAft>
              <a:buClr>
                <a:schemeClr val="dk1"/>
              </a:buClr>
              <a:buSzPts val="900"/>
              <a:buChar char="–"/>
            </a:pPr>
            <a:r>
              <a:rPr lang="en-GB" sz="900"/>
              <a:t>Comprehensible - Simple to understand without too much of accounting  jargon</a:t>
            </a:r>
            <a:endParaRPr sz="900"/>
          </a:p>
          <a:p>
            <a:pPr indent="-230187" lvl="1" marL="515938" rtl="0" algn="l">
              <a:lnSpc>
                <a:spcPct val="85000"/>
              </a:lnSpc>
              <a:spcBef>
                <a:spcPts val="600"/>
              </a:spcBef>
              <a:spcAft>
                <a:spcPts val="0"/>
              </a:spcAft>
              <a:buClr>
                <a:schemeClr val="dk1"/>
              </a:buClr>
              <a:buSzPts val="900"/>
              <a:buChar char="–"/>
            </a:pPr>
            <a:r>
              <a:rPr lang="en-GB" sz="900"/>
              <a:t>Actionable - Cash flow information is critical for determining the liquidity of a business, as a going concern</a:t>
            </a:r>
            <a:endParaRPr/>
          </a:p>
          <a:p>
            <a:pPr indent="-230187" lvl="1" marL="515938" rtl="0" algn="l">
              <a:lnSpc>
                <a:spcPct val="85000"/>
              </a:lnSpc>
              <a:spcBef>
                <a:spcPts val="600"/>
              </a:spcBef>
              <a:spcAft>
                <a:spcPts val="0"/>
              </a:spcAft>
              <a:buClr>
                <a:schemeClr val="dk1"/>
              </a:buClr>
              <a:buSzPts val="900"/>
              <a:buChar char="–"/>
            </a:pPr>
            <a:r>
              <a:rPr lang="en-GB" sz="900"/>
              <a:t>Trustworthy - Should disclose the obligations and economic resources of an entity. There should be an emphasis on the changes in liabilities and resources, which can be used to predict future cash flows. </a:t>
            </a:r>
            <a:endParaRPr sz="900"/>
          </a:p>
        </p:txBody>
      </p:sp>
      <p:sp>
        <p:nvSpPr>
          <p:cNvPr id="5389" name="Google Shape;5389;p300"/>
          <p:cNvSpPr txBox="1"/>
          <p:nvPr>
            <p:ph type="title"/>
          </p:nvPr>
        </p:nvSpPr>
        <p:spPr>
          <a:xfrm>
            <a:off x="477880" y="0"/>
            <a:ext cx="5435240" cy="769691"/>
          </a:xfrm>
          <a:prstGeom prst="rect">
            <a:avLst/>
          </a:prstGeom>
          <a:noFill/>
          <a:ln>
            <a:noFill/>
          </a:ln>
        </p:spPr>
        <p:txBody>
          <a:bodyPr anchorCtr="0" anchor="ctr"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Reporting</a:t>
            </a:r>
            <a:endParaRPr/>
          </a:p>
        </p:txBody>
      </p:sp>
      <p:sp>
        <p:nvSpPr>
          <p:cNvPr id="5390" name="Google Shape;5390;p300"/>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200" u="none" cap="none" strike="noStrike">
                <a:solidFill>
                  <a:schemeClr val="lt1"/>
                </a:solidFill>
                <a:latin typeface="Century Gothic"/>
                <a:ea typeface="Century Gothic"/>
                <a:cs typeface="Century Gothic"/>
                <a:sym typeface="Century Gothic"/>
              </a:rPr>
              <a:t>The Finance function is responsible for many aspects of reporting:</a:t>
            </a:r>
            <a:endParaRPr/>
          </a:p>
          <a:p>
            <a:pPr indent="-171450" lvl="1" marL="577850" marR="0" rtl="0" algn="l">
              <a:spcBef>
                <a:spcPts val="0"/>
              </a:spcBef>
              <a:spcAft>
                <a:spcPts val="0"/>
              </a:spcAft>
              <a:buClr>
                <a:schemeClr val="lt1"/>
              </a:buClr>
              <a:buSzPts val="1200"/>
              <a:buFont typeface="Arial"/>
              <a:buChar char="•"/>
            </a:pPr>
            <a:r>
              <a:rPr b="0" i="0" lang="en-GB" sz="1200" u="none" cap="none" strike="noStrike">
                <a:solidFill>
                  <a:schemeClr val="lt1"/>
                </a:solidFill>
                <a:latin typeface="Century Gothic"/>
                <a:ea typeface="Century Gothic"/>
                <a:cs typeface="Century Gothic"/>
                <a:sym typeface="Century Gothic"/>
              </a:rPr>
              <a:t>External reports such as statutory financial statements to investors, regulatory and compliance reports  etc.</a:t>
            </a:r>
            <a:endParaRPr/>
          </a:p>
          <a:p>
            <a:pPr indent="-171450" lvl="1" marL="577850" marR="0" rtl="0" algn="l">
              <a:spcBef>
                <a:spcPts val="0"/>
              </a:spcBef>
              <a:spcAft>
                <a:spcPts val="0"/>
              </a:spcAft>
              <a:buClr>
                <a:schemeClr val="lt1"/>
              </a:buClr>
              <a:buSzPts val="1200"/>
              <a:buFont typeface="Arial"/>
              <a:buChar char="•"/>
            </a:pPr>
            <a:r>
              <a:rPr b="0" i="0" lang="en-GB" sz="1200" u="none" cap="none" strike="noStrike">
                <a:solidFill>
                  <a:schemeClr val="lt1"/>
                </a:solidFill>
                <a:latin typeface="Century Gothic"/>
                <a:ea typeface="Century Gothic"/>
                <a:cs typeface="Century Gothic"/>
                <a:sym typeface="Century Gothic"/>
              </a:rPr>
              <a:t>Internal management reports </a:t>
            </a:r>
            <a:r>
              <a:rPr b="0" i="0" lang="en-GB" sz="1200" u="none" cap="none" strike="noStrike">
                <a:solidFill>
                  <a:srgbClr val="F2F2F2"/>
                </a:solidFill>
                <a:latin typeface="Century Gothic"/>
                <a:ea typeface="Century Gothic"/>
                <a:cs typeface="Century Gothic"/>
                <a:sym typeface="Century Gothic"/>
              </a:rPr>
              <a:t>and dashboards to monitor sales, performance and a wide range of KPIs</a:t>
            </a:r>
            <a:endParaRPr b="0" i="0" sz="1200" u="none" cap="none" strike="noStrike">
              <a:solidFill>
                <a:schemeClr val="lt1"/>
              </a:solidFill>
              <a:latin typeface="Century Gothic"/>
              <a:ea typeface="Century Gothic"/>
              <a:cs typeface="Century Gothic"/>
              <a:sym typeface="Century Gothic"/>
            </a:endParaRPr>
          </a:p>
        </p:txBody>
      </p:sp>
      <p:sp>
        <p:nvSpPr>
          <p:cNvPr id="5391" name="Google Shape;5391;p300"/>
          <p:cNvSpPr txBox="1"/>
          <p:nvPr/>
        </p:nvSpPr>
        <p:spPr>
          <a:xfrm>
            <a:off x="3629130" y="4848043"/>
            <a:ext cx="1633781" cy="238527"/>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1000">
                <a:solidFill>
                  <a:srgbClr val="231F20"/>
                </a:solidFill>
                <a:latin typeface="Century Gothic"/>
                <a:ea typeface="Century Gothic"/>
                <a:cs typeface="Century Gothic"/>
                <a:sym typeface="Century Gothic"/>
              </a:rPr>
              <a:t>* IASB Framework Study</a:t>
            </a:r>
            <a:endParaRPr/>
          </a:p>
        </p:txBody>
      </p:sp>
      <p:sp>
        <p:nvSpPr>
          <p:cNvPr id="5392" name="Google Shape;5392;p300">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55" name="Shape 5455"/>
        <p:cNvGrpSpPr/>
        <p:nvPr/>
      </p:nvGrpSpPr>
      <p:grpSpPr>
        <a:xfrm>
          <a:off x="0" y="0"/>
          <a:ext cx="0" cy="0"/>
          <a:chOff x="0" y="0"/>
          <a:chExt cx="0" cy="0"/>
        </a:xfrm>
      </p:grpSpPr>
      <p:pic>
        <p:nvPicPr>
          <p:cNvPr descr="BIZ-1060-L.jpg" id="5456" name="Google Shape;5456;p305"/>
          <p:cNvPicPr preferRelativeResize="0"/>
          <p:nvPr/>
        </p:nvPicPr>
        <p:blipFill rotWithShape="1">
          <a:blip r:embed="rId3">
            <a:alphaModFix/>
          </a:blip>
          <a:srcRect b="0" l="4087" r="20892" t="0"/>
          <a:stretch/>
        </p:blipFill>
        <p:spPr>
          <a:xfrm>
            <a:off x="5648153" y="274638"/>
            <a:ext cx="3324397" cy="2215646"/>
          </a:xfrm>
          <a:prstGeom prst="rect">
            <a:avLst/>
          </a:prstGeom>
          <a:noFill/>
          <a:ln>
            <a:noFill/>
          </a:ln>
        </p:spPr>
      </p:pic>
      <p:cxnSp>
        <p:nvCxnSpPr>
          <p:cNvPr id="5457" name="Google Shape;5457;p30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458" name="Google Shape;5458;p30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Accurate, timely and efficient production of financial statements and other statutory reports with minimal manual data collection, validation, reconciliation and adjustments.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The Annual Report and Accounts, and other statutory reports contain much more than summary-level financial statements.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Including</a:t>
                      </a:r>
                      <a:r>
                        <a:rPr lang="en-GB" sz="900">
                          <a:solidFill>
                            <a:srgbClr val="FF0000"/>
                          </a:solidFill>
                          <a:latin typeface="Century Gothic"/>
                          <a:ea typeface="Century Gothic"/>
                          <a:cs typeface="Century Gothic"/>
                          <a:sym typeface="Century Gothic"/>
                        </a:rPr>
                        <a:t> </a:t>
                      </a:r>
                      <a:r>
                        <a:rPr lang="en-GB" sz="900">
                          <a:solidFill>
                            <a:schemeClr val="dk1"/>
                          </a:solidFill>
                          <a:latin typeface="Century Gothic"/>
                          <a:ea typeface="Century Gothic"/>
                          <a:cs typeface="Century Gothic"/>
                          <a:sym typeface="Century Gothic"/>
                        </a:rPr>
                        <a:t>Risk Management, Financial Performance, other Key Performance Indicators (KPIs). This is often based on data which is distributed widely across the organisation, and requires considerable time and manual effort to collection and validate.</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want to reduce the time and cost for production through increased automation, and use of integrated, validated data.</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 GL ; plans / budgets / forecasts for prior periods, plus performance against those metrics;  customer demographics, account/agreement, balances, limits, interest rates &amp; margins; RWA  , Provisions &amp; other Risk measures; Collections &amp; Recoveries; KPIs and other performance metrics; Market and economic data.</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time to prepare financial statements and other supporting data and metrics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Release of time for financial analysts to focus their effort on value-generating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consistency and transparency between financial statements and detailed/operational metrics which are used to manage the business.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Direct data lineage between operational</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transactions, regulatory data and financial data</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459" name="Google Shape;5459;p30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Statutory Financial Reporting</a:t>
            </a:r>
            <a:endParaRPr sz="1600"/>
          </a:p>
        </p:txBody>
      </p:sp>
      <p:grpSp>
        <p:nvGrpSpPr>
          <p:cNvPr id="5460" name="Google Shape;5460;p305"/>
          <p:cNvGrpSpPr/>
          <p:nvPr/>
        </p:nvGrpSpPr>
        <p:grpSpPr>
          <a:xfrm>
            <a:off x="7717533" y="4360377"/>
            <a:ext cx="1058348" cy="347375"/>
            <a:chOff x="7651698" y="4287227"/>
            <a:chExt cx="1058348" cy="347375"/>
          </a:xfrm>
        </p:grpSpPr>
        <p:grpSp>
          <p:nvGrpSpPr>
            <p:cNvPr id="5461" name="Google Shape;5461;p305"/>
            <p:cNvGrpSpPr/>
            <p:nvPr/>
          </p:nvGrpSpPr>
          <p:grpSpPr>
            <a:xfrm>
              <a:off x="7714163" y="4337598"/>
              <a:ext cx="995883" cy="297004"/>
              <a:chOff x="7711013" y="3986494"/>
              <a:chExt cx="995883" cy="297004"/>
            </a:xfrm>
          </p:grpSpPr>
          <p:sp>
            <p:nvSpPr>
              <p:cNvPr id="5462" name="Google Shape;5462;p30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463" name="Google Shape;5463;p305"/>
              <p:cNvGrpSpPr/>
              <p:nvPr/>
            </p:nvGrpSpPr>
            <p:grpSpPr>
              <a:xfrm>
                <a:off x="7711013" y="4002615"/>
                <a:ext cx="281520" cy="241973"/>
                <a:chOff x="5652748" y="4066000"/>
                <a:chExt cx="906498" cy="747974"/>
              </a:xfrm>
            </p:grpSpPr>
            <p:sp>
              <p:nvSpPr>
                <p:cNvPr id="5464" name="Google Shape;5464;p30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465" name="Google Shape;5465;p30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66" name="Google Shape;5466;p30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467" name="Google Shape;5467;p305">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468" name="Google Shape;5468;p305">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87" name="Shape 5487"/>
        <p:cNvGrpSpPr/>
        <p:nvPr/>
      </p:nvGrpSpPr>
      <p:grpSpPr>
        <a:xfrm>
          <a:off x="0" y="0"/>
          <a:ext cx="0" cy="0"/>
          <a:chOff x="0" y="0"/>
          <a:chExt cx="0" cy="0"/>
        </a:xfrm>
      </p:grpSpPr>
      <p:cxnSp>
        <p:nvCxnSpPr>
          <p:cNvPr id="5488" name="Google Shape;5488;p30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489" name="Google Shape;5489;p30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Accurate, timely and efficient delivery of regulatory and compliance reports and data, consistent with statutory financial reporting.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Organizations</a:t>
                      </a:r>
                      <a:r>
                        <a:rPr lang="en-GB" sz="900">
                          <a:solidFill>
                            <a:srgbClr val="FF0000"/>
                          </a:solidFill>
                          <a:latin typeface="Century Gothic"/>
                          <a:ea typeface="Century Gothic"/>
                          <a:cs typeface="Century Gothic"/>
                          <a:sym typeface="Century Gothic"/>
                        </a:rPr>
                        <a:t> </a:t>
                      </a:r>
                      <a:r>
                        <a:rPr lang="en-GB" sz="900">
                          <a:solidFill>
                            <a:schemeClr val="dk1"/>
                          </a:solidFill>
                          <a:latin typeface="Century Gothic"/>
                          <a:ea typeface="Century Gothic"/>
                          <a:cs typeface="Century Gothic"/>
                          <a:sym typeface="Century Gothic"/>
                        </a:rPr>
                        <a:t>face many different regulatory and compliance demands, each with different data, calculation and business logic requirements. </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There is often a substantial overlap of data requirements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Regulation and compliance requirements frequently changing and becoming more granular, so flexibility is required cost of delivery is high.</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want to reduce the time and cost for production through increased automation, and use of integrated, validated data.</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Very extensive range of data required across full spectrum of regulatory and compliance requirements, including: Customer ( Single customer view, identification / KYC, demographics, Risk); Account and other product-holdings, terms &amp; conditions, balances, interest rates, Risk, RWA/Capital; Application documents, product, agreement/exposure and transaction-level data; Transaction-level data across all products and systems.</a:t>
                      </a:r>
                      <a:endParaRPr sz="8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General-purpose calculation / rule engine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Specific regulatory/compliance reporting solutions and/or custom built developments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and reputational risk through failure to meet regulatory and compliance demands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Release of time for financial analysts to focus their effort on value-generating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Direct data lineage between operational transactions, regulatory data and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Flexible regulatory and compliance set up</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490" name="Google Shape;5490;p30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Regulatory &amp; Compliance Reporting</a:t>
            </a:r>
            <a:endParaRPr sz="1600"/>
          </a:p>
        </p:txBody>
      </p:sp>
      <p:sp>
        <p:nvSpPr>
          <p:cNvPr id="5491" name="Google Shape;5491;p30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492" name="Google Shape;5492;p307"/>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493" name="Google Shape;5493;p307"/>
          <p:cNvGrpSpPr/>
          <p:nvPr/>
        </p:nvGrpSpPr>
        <p:grpSpPr>
          <a:xfrm>
            <a:off x="7717533" y="4360377"/>
            <a:ext cx="1058348" cy="347375"/>
            <a:chOff x="7651698" y="4287227"/>
            <a:chExt cx="1058348" cy="347375"/>
          </a:xfrm>
        </p:grpSpPr>
        <p:grpSp>
          <p:nvGrpSpPr>
            <p:cNvPr id="5494" name="Google Shape;5494;p307"/>
            <p:cNvGrpSpPr/>
            <p:nvPr/>
          </p:nvGrpSpPr>
          <p:grpSpPr>
            <a:xfrm>
              <a:off x="7714163" y="4337598"/>
              <a:ext cx="995883" cy="297004"/>
              <a:chOff x="7711013" y="3986494"/>
              <a:chExt cx="995883" cy="297004"/>
            </a:xfrm>
          </p:grpSpPr>
          <p:sp>
            <p:nvSpPr>
              <p:cNvPr id="5495" name="Google Shape;5495;p30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496" name="Google Shape;5496;p307"/>
              <p:cNvGrpSpPr/>
              <p:nvPr/>
            </p:nvGrpSpPr>
            <p:grpSpPr>
              <a:xfrm>
                <a:off x="7711013" y="4002615"/>
                <a:ext cx="281520" cy="241973"/>
                <a:chOff x="5652748" y="4066000"/>
                <a:chExt cx="906498" cy="747974"/>
              </a:xfrm>
            </p:grpSpPr>
            <p:sp>
              <p:nvSpPr>
                <p:cNvPr id="5497" name="Google Shape;5497;p30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498" name="Google Shape;5498;p30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99" name="Google Shape;5499;p30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00" name="Google Shape;5500;p30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19" name="Shape 5519"/>
        <p:cNvGrpSpPr/>
        <p:nvPr/>
      </p:nvGrpSpPr>
      <p:grpSpPr>
        <a:xfrm>
          <a:off x="0" y="0"/>
          <a:ext cx="0" cy="0"/>
          <a:chOff x="0" y="0"/>
          <a:chExt cx="0" cy="0"/>
        </a:xfrm>
      </p:grpSpPr>
      <p:cxnSp>
        <p:nvCxnSpPr>
          <p:cNvPr id="5520" name="Google Shape;5520;p30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521" name="Google Shape;5521;p30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accurate and efficient reporting of sales achievement and performance across the whole organisation with the objective to identify and improve:</a:t>
                      </a:r>
                      <a:endParaRPr sz="900">
                        <a:solidFill>
                          <a:schemeClr val="dk1"/>
                        </a:solidFill>
                        <a:latin typeface="Century Gothic"/>
                        <a:ea typeface="Century Gothic"/>
                        <a:cs typeface="Century Gothic"/>
                        <a:sym typeface="Century Gothic"/>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Sales Performance and discounts per</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Product/Service</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Sales employee</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Campaign</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Customer</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Etc.</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What happens from Sales Order to Customer invoice</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Are Sales compliant with Customer contracts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Predictive: forecast sales, revenue, profit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bottlenecks in sales processes which may be causing lost sales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sales data attributed by: employee / branch level, customer, product, transaction, agreement, location,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 Visualisation tool(s) of choice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Improved productivity and customer satisfaction levels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Bottlenecks in the sales process, preventing deals from being won are pinpointed.</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Identifying which marketing sources generate the most revenue</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Sales forecasting with predictive modelling or trend analysis are more accurate</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Improved visibility into sales channels, products and customers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Higher cross-sales rates through better understanding of </a:t>
                      </a:r>
                      <a:br>
                        <a:rPr lang="en-GB" sz="800">
                          <a:solidFill>
                            <a:schemeClr val="dk1"/>
                          </a:solidFill>
                          <a:latin typeface="Century Gothic"/>
                          <a:ea typeface="Century Gothic"/>
                          <a:cs typeface="Century Gothic"/>
                          <a:sym typeface="Century Gothic"/>
                        </a:rPr>
                      </a:br>
                      <a:r>
                        <a:rPr lang="en-GB" sz="800">
                          <a:solidFill>
                            <a:schemeClr val="dk1"/>
                          </a:solidFill>
                          <a:latin typeface="Century Gothic"/>
                          <a:ea typeface="Century Gothic"/>
                          <a:cs typeface="Century Gothic"/>
                          <a:sym typeface="Century Gothic"/>
                        </a:rPr>
                        <a:t>correlations between product s, channels, customers /</a:t>
                      </a:r>
                      <a:br>
                        <a:rPr lang="en-GB" sz="800">
                          <a:solidFill>
                            <a:schemeClr val="dk1"/>
                          </a:solidFill>
                          <a:latin typeface="Century Gothic"/>
                          <a:ea typeface="Century Gothic"/>
                          <a:cs typeface="Century Gothic"/>
                          <a:sym typeface="Century Gothic"/>
                        </a:rPr>
                      </a:br>
                      <a:r>
                        <a:rPr lang="en-GB" sz="800">
                          <a:solidFill>
                            <a:schemeClr val="dk1"/>
                          </a:solidFill>
                          <a:latin typeface="Century Gothic"/>
                          <a:ea typeface="Century Gothic"/>
                          <a:cs typeface="Century Gothic"/>
                          <a:sym typeface="Century Gothic"/>
                        </a:rPr>
                        <a:t>segments and sales employees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Lower cost due to shared data, tools and</a:t>
                      </a:r>
                      <a:br>
                        <a:rPr lang="en-GB" sz="800">
                          <a:solidFill>
                            <a:schemeClr val="dk1"/>
                          </a:solidFill>
                          <a:latin typeface="Century Gothic"/>
                          <a:ea typeface="Century Gothic"/>
                          <a:cs typeface="Century Gothic"/>
                          <a:sym typeface="Century Gothic"/>
                        </a:rPr>
                      </a:br>
                      <a:r>
                        <a:rPr lang="en-GB" sz="800">
                          <a:solidFill>
                            <a:schemeClr val="dk1"/>
                          </a:solidFill>
                          <a:latin typeface="Century Gothic"/>
                          <a:ea typeface="Century Gothic"/>
                          <a:cs typeface="Century Gothic"/>
                          <a:sym typeface="Century Gothic"/>
                        </a:rPr>
                        <a:t>infrastructure</a:t>
                      </a:r>
                      <a:endParaRPr sz="8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522" name="Google Shape;5522;p30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Sales Reporting</a:t>
            </a:r>
            <a:endParaRPr sz="1600"/>
          </a:p>
        </p:txBody>
      </p:sp>
      <p:sp>
        <p:nvSpPr>
          <p:cNvPr id="5523" name="Google Shape;5523;p30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524" name="Google Shape;5524;p309"/>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525" name="Google Shape;5525;p309"/>
          <p:cNvGrpSpPr/>
          <p:nvPr/>
        </p:nvGrpSpPr>
        <p:grpSpPr>
          <a:xfrm>
            <a:off x="7717533" y="4360377"/>
            <a:ext cx="1058348" cy="347375"/>
            <a:chOff x="7651698" y="4287227"/>
            <a:chExt cx="1058348" cy="347375"/>
          </a:xfrm>
        </p:grpSpPr>
        <p:grpSp>
          <p:nvGrpSpPr>
            <p:cNvPr id="5526" name="Google Shape;5526;p309"/>
            <p:cNvGrpSpPr/>
            <p:nvPr/>
          </p:nvGrpSpPr>
          <p:grpSpPr>
            <a:xfrm>
              <a:off x="7714163" y="4337598"/>
              <a:ext cx="995883" cy="297004"/>
              <a:chOff x="7711013" y="3986494"/>
              <a:chExt cx="995883" cy="297004"/>
            </a:xfrm>
          </p:grpSpPr>
          <p:sp>
            <p:nvSpPr>
              <p:cNvPr id="5527" name="Google Shape;5527;p30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528" name="Google Shape;5528;p309"/>
              <p:cNvGrpSpPr/>
              <p:nvPr/>
            </p:nvGrpSpPr>
            <p:grpSpPr>
              <a:xfrm>
                <a:off x="7711013" y="4002615"/>
                <a:ext cx="281520" cy="241973"/>
                <a:chOff x="5652748" y="4066000"/>
                <a:chExt cx="906498" cy="747974"/>
              </a:xfrm>
            </p:grpSpPr>
            <p:sp>
              <p:nvSpPr>
                <p:cNvPr id="5529" name="Google Shape;5529;p30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530" name="Google Shape;5530;p30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31" name="Google Shape;5531;p30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32" name="Google Shape;5532;p30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51" name="Shape 5551"/>
        <p:cNvGrpSpPr/>
        <p:nvPr/>
      </p:nvGrpSpPr>
      <p:grpSpPr>
        <a:xfrm>
          <a:off x="0" y="0"/>
          <a:ext cx="0" cy="0"/>
          <a:chOff x="0" y="0"/>
          <a:chExt cx="0" cy="0"/>
        </a:xfrm>
      </p:grpSpPr>
      <p:cxnSp>
        <p:nvCxnSpPr>
          <p:cNvPr id="5552" name="Google Shape;5552;p31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553" name="Google Shape;5553;p311"/>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Timely, accurate and efficient reporting of performance across a wide range of metrics for the whole organisation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Performance reporting processes are often fragmented and inflexible, with high latency, levels of manual processes, and cost of production.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Performance metrics across the organisation are often inconsistent, and utilise fragmented and non-validated data.</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are looking to simplify, standardise and automate their performance reporting to reduce cost, improve timeliness, and support better decision-making.</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detailed data: employee / branch level, customer, product, transaction, agreement, location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profitability metrics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Budget and finance related, operational data</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Choice of Reporting / BI Tools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produce wide range of performance reports, including:</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against Forecast/Budget</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of KPIs</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Progress reports describing trends from past to present</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Status reports for describing actual status</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Variance reports for describing differences between the planned baseline and actuals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timeliness and accuracy of reporting through use of integrated, validated data, and increased automation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monitor and track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performance over time.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infrastructure</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554" name="Google Shape;5554;p31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Performance Reporting</a:t>
            </a:r>
            <a:endParaRPr sz="1600"/>
          </a:p>
        </p:txBody>
      </p:sp>
      <p:sp>
        <p:nvSpPr>
          <p:cNvPr id="5555" name="Google Shape;5555;p31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556" name="Google Shape;5556;p311"/>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557" name="Google Shape;5557;p311"/>
          <p:cNvGrpSpPr/>
          <p:nvPr/>
        </p:nvGrpSpPr>
        <p:grpSpPr>
          <a:xfrm>
            <a:off x="7717533" y="4360377"/>
            <a:ext cx="1058348" cy="347375"/>
            <a:chOff x="7651698" y="4287227"/>
            <a:chExt cx="1058348" cy="347375"/>
          </a:xfrm>
        </p:grpSpPr>
        <p:grpSp>
          <p:nvGrpSpPr>
            <p:cNvPr id="5558" name="Google Shape;5558;p311"/>
            <p:cNvGrpSpPr/>
            <p:nvPr/>
          </p:nvGrpSpPr>
          <p:grpSpPr>
            <a:xfrm>
              <a:off x="7714163" y="4337598"/>
              <a:ext cx="995883" cy="297004"/>
              <a:chOff x="7711013" y="3986494"/>
              <a:chExt cx="995883" cy="297004"/>
            </a:xfrm>
          </p:grpSpPr>
          <p:sp>
            <p:nvSpPr>
              <p:cNvPr id="5559" name="Google Shape;5559;p31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560" name="Google Shape;5560;p311"/>
              <p:cNvGrpSpPr/>
              <p:nvPr/>
            </p:nvGrpSpPr>
            <p:grpSpPr>
              <a:xfrm>
                <a:off x="7711013" y="4002615"/>
                <a:ext cx="281520" cy="241973"/>
                <a:chOff x="5652748" y="4066000"/>
                <a:chExt cx="906498" cy="747974"/>
              </a:xfrm>
            </p:grpSpPr>
            <p:sp>
              <p:nvSpPr>
                <p:cNvPr id="5561" name="Google Shape;5561;p31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562" name="Google Shape;5562;p31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63" name="Google Shape;5563;p31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64" name="Google Shape;5564;p31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83" name="Shape 5583"/>
        <p:cNvGrpSpPr/>
        <p:nvPr/>
      </p:nvGrpSpPr>
      <p:grpSpPr>
        <a:xfrm>
          <a:off x="0" y="0"/>
          <a:ext cx="0" cy="0"/>
          <a:chOff x="0" y="0"/>
          <a:chExt cx="0" cy="0"/>
        </a:xfrm>
      </p:grpSpPr>
      <p:cxnSp>
        <p:nvCxnSpPr>
          <p:cNvPr id="5584" name="Google Shape;5584;p31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585" name="Google Shape;5585;p31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Timely, accurate and efficient reporting of unexpected variances and other exceptions for the whole organisation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Exception reporting processes are often fragmented and inflexible, with high latency, levels of manual processes, and cost of production.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Variances are often identified only by manual review</a:t>
                      </a:r>
                      <a:endParaRPr sz="900" strike="sngStrike">
                        <a:solidFill>
                          <a:srgbClr val="FF0000"/>
                        </a:solidFill>
                        <a:latin typeface="Century Gothic"/>
                        <a:ea typeface="Century Gothic"/>
                        <a:cs typeface="Century Gothic"/>
                        <a:sym typeface="Century Gothic"/>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Performance metrics across the organisation are often inconsistent, and utilise fragmented and non-validated data.</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are looking to simplify, standardise and automate their performance reporting to reduce cost, improve timeliness, and support better decision-making.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risk of variances and exceptions being missed due to  reliance on manual processes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data, relevant for the type of exception report e.g. loan policy, GL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Based on Key Performance Indicators (KPIs)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rPr>
                        <a:t>Operational exception reporting possible if data loaded into DWH in near real time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Tool(s) of choice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Workflow / case management tool</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Staff are automatically alerted about a situation that needs corrective action, where exceptions are outside pre-determined parameters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Use of workflow / case management tool ensures that action is taken in timely manner and that performance metrics are tracked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Operational and Reputational risk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586" name="Google Shape;5586;p31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Exception Reporting</a:t>
            </a:r>
            <a:endParaRPr sz="1600"/>
          </a:p>
        </p:txBody>
      </p:sp>
      <p:sp>
        <p:nvSpPr>
          <p:cNvPr id="5587" name="Google Shape;5587;p31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588" name="Google Shape;5588;p313"/>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589" name="Google Shape;5589;p313"/>
          <p:cNvGrpSpPr/>
          <p:nvPr/>
        </p:nvGrpSpPr>
        <p:grpSpPr>
          <a:xfrm>
            <a:off x="7717533" y="4360377"/>
            <a:ext cx="1058348" cy="347375"/>
            <a:chOff x="7651698" y="4287227"/>
            <a:chExt cx="1058348" cy="347375"/>
          </a:xfrm>
        </p:grpSpPr>
        <p:grpSp>
          <p:nvGrpSpPr>
            <p:cNvPr id="5590" name="Google Shape;5590;p313"/>
            <p:cNvGrpSpPr/>
            <p:nvPr/>
          </p:nvGrpSpPr>
          <p:grpSpPr>
            <a:xfrm>
              <a:off x="7714163" y="4337598"/>
              <a:ext cx="995883" cy="297004"/>
              <a:chOff x="7711013" y="3986494"/>
              <a:chExt cx="995883" cy="297004"/>
            </a:xfrm>
          </p:grpSpPr>
          <p:sp>
            <p:nvSpPr>
              <p:cNvPr id="5591" name="Google Shape;5591;p31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592" name="Google Shape;5592;p313"/>
              <p:cNvGrpSpPr/>
              <p:nvPr/>
            </p:nvGrpSpPr>
            <p:grpSpPr>
              <a:xfrm>
                <a:off x="7711013" y="4002615"/>
                <a:ext cx="281520" cy="241973"/>
                <a:chOff x="5652748" y="4066000"/>
                <a:chExt cx="906498" cy="747974"/>
              </a:xfrm>
            </p:grpSpPr>
            <p:sp>
              <p:nvSpPr>
                <p:cNvPr id="5593" name="Google Shape;5593;p31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594" name="Google Shape;5594;p31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95" name="Google Shape;5595;p31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96" name="Google Shape;5596;p31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15" name="Shape 5615"/>
        <p:cNvGrpSpPr/>
        <p:nvPr/>
      </p:nvGrpSpPr>
      <p:grpSpPr>
        <a:xfrm>
          <a:off x="0" y="0"/>
          <a:ext cx="0" cy="0"/>
          <a:chOff x="0" y="0"/>
          <a:chExt cx="0" cy="0"/>
        </a:xfrm>
      </p:grpSpPr>
      <p:cxnSp>
        <p:nvCxnSpPr>
          <p:cNvPr id="5616" name="Google Shape;5616;p31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617" name="Google Shape;5617;p31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Provide direct access for executives and other key decision-makers to comprehensive and up-to-date consolidated information to support and enhance management decisions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quality ,timeliness and efficiency of information production for executives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data across all areas relevant for scope of reporting, including:</a:t>
                      </a:r>
                      <a:endParaRPr/>
                    </a:p>
                    <a:p>
                      <a:pPr indent="-179388" lvl="0" marL="363538" marR="0" rtl="0" algn="l">
                        <a:spcBef>
                          <a:spcPts val="0"/>
                        </a:spcBef>
                        <a:spcAft>
                          <a:spcPts val="0"/>
                        </a:spcAft>
                        <a:buClr>
                          <a:schemeClr val="dk1"/>
                        </a:buClr>
                        <a:buSzPts val="900"/>
                        <a:buFont typeface="Century Gothic"/>
                        <a:buChar char="−"/>
                      </a:pPr>
                      <a:r>
                        <a:rPr lang="en-GB" sz="900">
                          <a:solidFill>
                            <a:schemeClr val="dk1"/>
                          </a:solidFill>
                        </a:rPr>
                        <a:t>Financial/GL; Product; Account / Agreement; Balances; Limits; Transactions ; Cashflows; Budgets / Forecasts; Sales &amp; other new business; Provisions / write-offs ; Profitability &amp; Future Value projections;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General purpose rule engine for in-database calculations &amp; derivations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Tool(s) of choice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Executive decisions are based on the most accurate and up-to-date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Important  information highlighted and less likely to be missed through use of appropriate visualisations, RAG status, highlighting of exceptions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Executives can self-provision additional information to support their decisions using slice/drill-down capabilities.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 and cost of production for executive information is reduced due to use of integrated and validated data, and increased automation.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and reputational risk resulting from decisions made on incorrect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infrastructure</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618" name="Google Shape;5618;p31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Executive Dashboards</a:t>
            </a:r>
            <a:endParaRPr sz="1600"/>
          </a:p>
        </p:txBody>
      </p:sp>
      <p:sp>
        <p:nvSpPr>
          <p:cNvPr id="5619" name="Google Shape;5619;p31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620" name="Google Shape;5620;p315"/>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621" name="Google Shape;5621;p315"/>
          <p:cNvGrpSpPr/>
          <p:nvPr/>
        </p:nvGrpSpPr>
        <p:grpSpPr>
          <a:xfrm>
            <a:off x="7717533" y="4360377"/>
            <a:ext cx="1058348" cy="347375"/>
            <a:chOff x="7651698" y="4287227"/>
            <a:chExt cx="1058348" cy="347375"/>
          </a:xfrm>
        </p:grpSpPr>
        <p:grpSp>
          <p:nvGrpSpPr>
            <p:cNvPr id="5622" name="Google Shape;5622;p315"/>
            <p:cNvGrpSpPr/>
            <p:nvPr/>
          </p:nvGrpSpPr>
          <p:grpSpPr>
            <a:xfrm>
              <a:off x="7714163" y="4337598"/>
              <a:ext cx="995883" cy="297004"/>
              <a:chOff x="7711013" y="3986494"/>
              <a:chExt cx="995883" cy="297004"/>
            </a:xfrm>
          </p:grpSpPr>
          <p:sp>
            <p:nvSpPr>
              <p:cNvPr id="5623" name="Google Shape;5623;p31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624" name="Google Shape;5624;p315"/>
              <p:cNvGrpSpPr/>
              <p:nvPr/>
            </p:nvGrpSpPr>
            <p:grpSpPr>
              <a:xfrm>
                <a:off x="7711013" y="4002615"/>
                <a:ext cx="281520" cy="241973"/>
                <a:chOff x="5652748" y="4066000"/>
                <a:chExt cx="906498" cy="747974"/>
              </a:xfrm>
            </p:grpSpPr>
            <p:sp>
              <p:nvSpPr>
                <p:cNvPr id="5625" name="Google Shape;5625;p31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626" name="Google Shape;5626;p31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27" name="Google Shape;5627;p31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628" name="Google Shape;5628;p31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52" name="Shape 5652"/>
        <p:cNvGrpSpPr/>
        <p:nvPr/>
      </p:nvGrpSpPr>
      <p:grpSpPr>
        <a:xfrm>
          <a:off x="0" y="0"/>
          <a:ext cx="0" cy="0"/>
          <a:chOff x="0" y="0"/>
          <a:chExt cx="0" cy="0"/>
        </a:xfrm>
      </p:grpSpPr>
      <p:cxnSp>
        <p:nvCxnSpPr>
          <p:cNvPr id="5653" name="Google Shape;5653;p318"/>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54" name="Google Shape;5654;p318"/>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55" name="Google Shape;5655;p31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656" name="Google Shape;5656;p318"/>
          <p:cNvSpPr/>
          <p:nvPr/>
        </p:nvSpPr>
        <p:spPr>
          <a:xfrm rot="5400000">
            <a:off x="-86832" y="2518301"/>
            <a:ext cx="299641" cy="130284"/>
          </a:xfrm>
          <a:prstGeom prst="triangle">
            <a:avLst>
              <a:gd fmla="val 50000" name="adj"/>
            </a:avLst>
          </a:prstGeom>
          <a:solidFill>
            <a:srgbClr val="C00000"/>
          </a:solidFill>
          <a:ln cap="flat" cmpd="sng" w="9525">
            <a:solidFill>
              <a:srgbClr val="C00000"/>
            </a:solidFill>
            <a:prstDash val="solid"/>
            <a:miter lim="800000"/>
            <a:headEnd len="sm" w="sm" type="none"/>
            <a:tailEnd len="sm" w="sm" type="none"/>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57" name="Google Shape;5657;p318"/>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negotiate more favourable supplier terms and pricing based on improved understanding of supplier performance.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vendor/supplier performance</a:t>
            </a:r>
            <a:endParaRPr/>
          </a:p>
          <a:p>
            <a:pPr indent="-115888" lvl="1" marL="233363" marR="0" rtl="0" algn="l">
              <a:lnSpc>
                <a:spcPct val="90000"/>
              </a:lnSpc>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Reduce the number of vendors and improve terms</a:t>
            </a:r>
            <a:endParaRPr b="0" i="0" sz="900" u="none" cap="none" strike="noStrike">
              <a:solidFill>
                <a:schemeClr val="dk1"/>
              </a:solidFill>
              <a:latin typeface="Century Gothic"/>
              <a:ea typeface="Century Gothic"/>
              <a:cs typeface="Century Gothic"/>
              <a:sym typeface="Century Gothic"/>
            </a:endParaRPr>
          </a:p>
          <a:p>
            <a:pPr indent="-115888"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Improved raw material quality and reduce returns</a:t>
            </a:r>
            <a:endParaRPr/>
          </a:p>
          <a:p>
            <a:pPr indent="-115888"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Improved lead times with vendors</a:t>
            </a:r>
            <a:endParaRPr/>
          </a:p>
          <a:p>
            <a:pPr indent="-108000" lvl="0" marL="108000" marR="0" rtl="0" algn="l">
              <a:lnSpc>
                <a:spcPct val="90000"/>
              </a:lnSpc>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Optimized cash flow resulting from improved vendor performance and delivery of inventory items (levels)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 the number of manual checks cut</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58" name="Google Shape;5658;p318"/>
          <p:cNvSpPr/>
          <p:nvPr/>
        </p:nvSpPr>
        <p:spPr>
          <a:xfrm>
            <a:off x="6148817" y="2334154"/>
            <a:ext cx="2825073"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Identification mismatches between invoices, POs, and receipts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Reports, dashboards, &amp; KPI results executed on an improved  regular and timely basis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integrated global view of AP invoices, payments, suppliers, and purchase orders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utilization of discounts in payment terms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59" name="Google Shape;5659;p318"/>
          <p:cNvSpPr/>
          <p:nvPr/>
        </p:nvSpPr>
        <p:spPr>
          <a:xfrm>
            <a:off x="3271845" y="3557890"/>
            <a:ext cx="278610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Development of relevant reports and dashboards to measure on-going vendor performance and KPIs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drill to detail level.</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Relevant KPIs identified and documented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60" name="Google Shape;5660;p318"/>
          <p:cNvSpPr/>
          <p:nvPr/>
        </p:nvSpPr>
        <p:spPr>
          <a:xfrm>
            <a:off x="3271848" y="2334156"/>
            <a:ext cx="2876961" cy="1278755"/>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Access layer for BI Reporting tool</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Comparative analysis of Orders, Invoices, Terms, Discounts &amp; Payments.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Text Analytics</a:t>
            </a:r>
            <a:endParaRPr/>
          </a:p>
        </p:txBody>
      </p:sp>
      <p:sp>
        <p:nvSpPr>
          <p:cNvPr id="5661" name="Google Shape;5661;p31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 quality e.g.</a:t>
            </a:r>
            <a:endParaRPr/>
          </a:p>
          <a:p>
            <a:pPr indent="-171450" lvl="1" marL="330200" marR="0" rtl="0" algn="l">
              <a:spcBef>
                <a:spcPts val="3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Incomplete supplier information </a:t>
            </a:r>
            <a:endParaRPr/>
          </a:p>
          <a:p>
            <a:pPr indent="-171450" lvl="1" marL="330200" marR="0" rtl="0" algn="l">
              <a:spcBef>
                <a:spcPts val="3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Insufficient PO and invoice details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multiple supplier records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internal/external data</a:t>
            </a:r>
            <a:endParaRPr sz="900">
              <a:solidFill>
                <a:srgbClr val="3C3C3B"/>
              </a:solidFill>
              <a:latin typeface="Century Gothic"/>
              <a:ea typeface="Century Gothic"/>
              <a:cs typeface="Century Gothic"/>
              <a:sym typeface="Century Gothic"/>
            </a:endParaRPr>
          </a:p>
        </p:txBody>
      </p:sp>
      <p:sp>
        <p:nvSpPr>
          <p:cNvPr id="5662" name="Google Shape;5662;p31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Purchase Orders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Deliver information (Receipts)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Invoices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Supplier contracts &amp; payment terms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Reporting Hierarchies – Business Units, Geography, purchasing agent etc.</a:t>
            </a:r>
            <a:endParaRPr/>
          </a:p>
        </p:txBody>
      </p:sp>
      <p:sp>
        <p:nvSpPr>
          <p:cNvPr id="5663" name="Google Shape;5663;p318"/>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Optimise vendor contracts and the ability to renegotiate contracts with more favourable terms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Identify opportunities to obtain or improve discounts and avoid penalties.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Rationalize the number of vendors supplying a specific item</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Understand global spend with vendors.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5664" name="Google Shape;5664;p318"/>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Lance Dacre</a:t>
            </a:r>
            <a:endParaRPr sz="900">
              <a:solidFill>
                <a:schemeClr val="accent6"/>
              </a:solidFill>
              <a:latin typeface="Century Gothic"/>
              <a:ea typeface="Century Gothic"/>
              <a:cs typeface="Century Gothic"/>
              <a:sym typeface="Century Gothic"/>
            </a:endParaRPr>
          </a:p>
        </p:txBody>
      </p:sp>
      <p:sp>
        <p:nvSpPr>
          <p:cNvPr id="5665" name="Google Shape;5665;p31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a:p>
        </p:txBody>
      </p:sp>
      <p:sp>
        <p:nvSpPr>
          <p:cNvPr id="5666" name="Google Shape;5666;p318"/>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Vendor Analytics</a:t>
            </a:r>
            <a:endParaRPr sz="2400"/>
          </a:p>
        </p:txBody>
      </p:sp>
      <p:sp>
        <p:nvSpPr>
          <p:cNvPr id="5667" name="Google Shape;5667;p31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72" name="Shape 5672"/>
        <p:cNvGrpSpPr/>
        <p:nvPr/>
      </p:nvGrpSpPr>
      <p:grpSpPr>
        <a:xfrm>
          <a:off x="0" y="0"/>
          <a:ext cx="0" cy="0"/>
          <a:chOff x="0" y="0"/>
          <a:chExt cx="0" cy="0"/>
        </a:xfrm>
      </p:grpSpPr>
      <p:cxnSp>
        <p:nvCxnSpPr>
          <p:cNvPr id="5673" name="Google Shape;5673;p319"/>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74" name="Google Shape;5674;p319"/>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75" name="Google Shape;5675;p31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676" name="Google Shape;5676;p31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77" name="Google Shape;5677;p319"/>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 reduced working capital yielding increased return on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productivity through reduction of time and effort spent on manual management review</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Days Payable Outstanding (DPO)</a:t>
            </a:r>
            <a:endParaRPr sz="900">
              <a:solidFill>
                <a:srgbClr val="3C3C3B"/>
              </a:solidFill>
              <a:latin typeface="Century Gothic"/>
              <a:ea typeface="Century Gothic"/>
              <a:cs typeface="Century Gothic"/>
              <a:sym typeface="Century Gothic"/>
            </a:endParaRPr>
          </a:p>
        </p:txBody>
      </p:sp>
      <p:sp>
        <p:nvSpPr>
          <p:cNvPr id="5678" name="Google Shape;5678;p31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errors in matches between invoices, POs, and receipts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Set of reports, dashboards, KPI results executed on regular and timely basis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an integrated global view of AP invoices, payments, suppliers, and purchase orders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negotiate more favourable supplier terms and pricing based on improved understanding of supplier performance.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utilization of discounts in payment terms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679" name="Google Shape;5679;p31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Relevant KPIs identified and documented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Development of relevant reports and dashboards to measure on-going performance and KPIs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80" name="Google Shape;5680;p31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Comparative analysis of Orders, Invoices, Terms, Discounts &amp; Payments.</a:t>
            </a:r>
            <a:endParaRPr/>
          </a:p>
        </p:txBody>
      </p:sp>
      <p:sp>
        <p:nvSpPr>
          <p:cNvPr id="5681" name="Google Shape;5681;p31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 quality e.g.</a:t>
            </a:r>
            <a:endParaRPr/>
          </a:p>
          <a:p>
            <a:pPr indent="-171450" lvl="1" marL="330200" marR="0" rtl="0" algn="l">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Incomplete supplier information </a:t>
            </a:r>
            <a:endParaRPr/>
          </a:p>
          <a:p>
            <a:pPr indent="-171450" lvl="1" marL="330200" marR="0" rtl="0" algn="l">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Insufficient PO and invoice details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multiple supplier records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internal/external data</a:t>
            </a:r>
            <a:endParaRPr sz="800">
              <a:solidFill>
                <a:srgbClr val="3C3C3B"/>
              </a:solidFill>
              <a:latin typeface="Century Gothic"/>
              <a:ea typeface="Century Gothic"/>
              <a:cs typeface="Century Gothic"/>
              <a:sym typeface="Century Gothic"/>
            </a:endParaRPr>
          </a:p>
        </p:txBody>
      </p:sp>
      <p:sp>
        <p:nvSpPr>
          <p:cNvPr id="5682" name="Google Shape;5682;p31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Purchase Orders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Invoices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Supplier contracts &amp; payment terms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Reporting Hierarchies – Business Units, Geography, purchasing agent etc.</a:t>
            </a:r>
            <a:endParaRPr/>
          </a:p>
          <a:p>
            <a:pPr indent="0" lvl="0" marL="0" marR="0" rtl="0" algn="l">
              <a:lnSpc>
                <a:spcPct val="90000"/>
              </a:lnSpc>
              <a:spcBef>
                <a:spcPts val="300"/>
              </a:spcBef>
              <a:spcAft>
                <a:spcPts val="0"/>
              </a:spcAft>
              <a:buNone/>
            </a:pPr>
            <a:r>
              <a:t/>
            </a:r>
            <a:endParaRPr sz="800">
              <a:solidFill>
                <a:schemeClr val="dk1"/>
              </a:solidFill>
              <a:latin typeface="Century Gothic"/>
              <a:ea typeface="Century Gothic"/>
              <a:cs typeface="Century Gothic"/>
              <a:sym typeface="Century Gothic"/>
            </a:endParaRPr>
          </a:p>
        </p:txBody>
      </p:sp>
      <p:sp>
        <p:nvSpPr>
          <p:cNvPr id="5683" name="Google Shape;5683;p319"/>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Optimise accounts payables balances and days payable outstanding, resulting in improved cashflow.</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Identify opportunities to obtain or improve discounts and avoid penalties.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understanding of total spend across the organisation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Ensure compliance with negotiated terms.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5684" name="Google Shape;5684;p319"/>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Lance Dacre</a:t>
            </a:r>
            <a:endParaRPr sz="900">
              <a:solidFill>
                <a:schemeClr val="accent6"/>
              </a:solidFill>
              <a:latin typeface="Century Gothic"/>
              <a:ea typeface="Century Gothic"/>
              <a:cs typeface="Century Gothic"/>
              <a:sym typeface="Century Gothic"/>
            </a:endParaRPr>
          </a:p>
        </p:txBody>
      </p:sp>
      <p:sp>
        <p:nvSpPr>
          <p:cNvPr id="5685" name="Google Shape;5685;p319"/>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a:p>
        </p:txBody>
      </p:sp>
      <p:sp>
        <p:nvSpPr>
          <p:cNvPr id="5686" name="Google Shape;5686;p319"/>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Payables Analytics</a:t>
            </a:r>
            <a:endParaRPr sz="2400"/>
          </a:p>
        </p:txBody>
      </p:sp>
      <p:sp>
        <p:nvSpPr>
          <p:cNvPr id="5687" name="Google Shape;5687;p319">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92" name="Shape 5692"/>
        <p:cNvGrpSpPr/>
        <p:nvPr/>
      </p:nvGrpSpPr>
      <p:grpSpPr>
        <a:xfrm>
          <a:off x="0" y="0"/>
          <a:ext cx="0" cy="0"/>
          <a:chOff x="0" y="0"/>
          <a:chExt cx="0" cy="0"/>
        </a:xfrm>
      </p:grpSpPr>
      <p:cxnSp>
        <p:nvCxnSpPr>
          <p:cNvPr id="5693" name="Google Shape;5693;p320"/>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94" name="Google Shape;5694;p320"/>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95" name="Google Shape;5695;p32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696" name="Google Shape;5696;p32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97" name="Google Shape;5697;p320"/>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71450" lvl="0" marL="171450" marR="0" rtl="0" algn="l">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 the business to continue day-to-day operations with minimal disruptions during a strategic/major system upgrade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cash flow forecasts through </a:t>
            </a:r>
            <a:endParaRPr/>
          </a:p>
          <a:p>
            <a:pPr indent="-117475" lvl="1" marL="287338" marR="0" rtl="0" algn="l">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The reduction of overall volatility due to trends </a:t>
            </a:r>
            <a:endParaRPr b="0" i="0" sz="900" u="none" cap="none" strike="noStrike">
              <a:solidFill>
                <a:srgbClr val="3C3C3B"/>
              </a:solidFill>
              <a:latin typeface="Century Gothic"/>
              <a:ea typeface="Century Gothic"/>
              <a:cs typeface="Century Gothic"/>
              <a:sym typeface="Century Gothic"/>
            </a:endParaRPr>
          </a:p>
          <a:p>
            <a:pPr indent="-117475" lvl="1" marL="287338"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a:t>
            </a:r>
            <a:r>
              <a:rPr b="0" i="0" lang="en-GB" sz="900" u="none" cap="none" strike="noStrike">
                <a:solidFill>
                  <a:schemeClr val="dk1"/>
                </a:solidFill>
                <a:latin typeface="Century Gothic"/>
                <a:ea typeface="Century Gothic"/>
                <a:cs typeface="Century Gothic"/>
                <a:sym typeface="Century Gothic"/>
              </a:rPr>
              <a:t>upplier reduction, improvement in terms, and process standardization</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visibility to invoice payments to optimize payment timing</a:t>
            </a:r>
            <a:endParaRPr/>
          </a:p>
          <a:p>
            <a:pPr indent="-114300" lvl="0" marL="171450" marR="0" rtl="0" algn="l">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4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698" name="Google Shape;5698;p32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P2P metrics through a balance scorecard</a:t>
            </a:r>
            <a:endParaRPr/>
          </a:p>
          <a:p>
            <a:pPr indent="-114300" lvl="0" marL="2286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Manage supplier spend by measuring data quality and terms </a:t>
            </a:r>
            <a:endParaRPr/>
          </a:p>
          <a:p>
            <a:pPr indent="-114300" lvl="0" marL="2286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 the number of manual checks cut during a month</a:t>
            </a:r>
            <a:endParaRPr/>
          </a:p>
          <a:p>
            <a:pPr indent="-114300" lvl="0" marL="228600" marR="0" rtl="0" algn="l">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Allow locations to better manage their P2P process through intra-day reporting and increased spend visibility </a:t>
            </a:r>
            <a:endParaRPr/>
          </a:p>
          <a:p>
            <a:pPr indent="-114300" lvl="0" marL="228600" marR="0" rtl="0" algn="l">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 receipt errors that cause delays in the P2P process</a:t>
            </a:r>
            <a:endParaRPr/>
          </a:p>
          <a:p>
            <a:pPr indent="-114300" lvl="0" marL="2286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Manage the entire P2P process by measuring bottlenecks, delays, and errors throughout the process</a:t>
            </a:r>
            <a:endParaRPr sz="800">
              <a:solidFill>
                <a:srgbClr val="3C3C3B"/>
              </a:solidFill>
              <a:latin typeface="Century Gothic"/>
              <a:ea typeface="Century Gothic"/>
              <a:cs typeface="Century Gothic"/>
              <a:sym typeface="Century Gothic"/>
            </a:endParaRPr>
          </a:p>
          <a:p>
            <a:pPr indent="-57199" lvl="0" marL="108000" marR="0" rtl="0" algn="l">
              <a:spcBef>
                <a:spcPts val="4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699" name="Google Shape;5699;p320"/>
          <p:cNvSpPr/>
          <p:nvPr/>
        </p:nvSpPr>
        <p:spPr>
          <a:xfrm>
            <a:off x="3271845" y="3557890"/>
            <a:ext cx="2786102" cy="122459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 view of global supplier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inventory items along with suppliers with the highest/lowest receipt rate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suppliers where discounts are utilized and the amount of money saved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Invoice error handling exception report by vendor</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00" name="Google Shape;5700;p32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access layer  for BI Reporting tool</a:t>
            </a:r>
            <a:endParaRPr/>
          </a:p>
          <a:p>
            <a:pPr indent="-119063" lvl="0" marL="119063"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Comparative analysis of Orders, Receipts, and Invoices.</a:t>
            </a:r>
            <a:endParaRPr/>
          </a:p>
        </p:txBody>
      </p:sp>
      <p:sp>
        <p:nvSpPr>
          <p:cNvPr id="5701" name="Google Shape;5701;p32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 &amp; quality  issues with global interfaces (e.g. back-dating of invoices)</a:t>
            </a:r>
            <a:endParaRPr/>
          </a:p>
          <a:p>
            <a:pPr indent="-108000" lvl="0" marL="108000" marR="0" rtl="0" algn="l">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(sourcing)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multiple supplier records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internal/external data</a:t>
            </a:r>
            <a:endParaRPr/>
          </a:p>
          <a:p>
            <a:pPr indent="-114300" lvl="0" marL="17145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20650" lvl="0" marL="171450" marR="0" rtl="0" algn="l">
              <a:lnSpc>
                <a:spcPct val="90000"/>
              </a:lnSpc>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02" name="Google Shape;5702;p32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AP, PO, invoice and receipt data from multiple ERPs </a:t>
            </a:r>
            <a:endParaRPr/>
          </a:p>
          <a:p>
            <a:pPr indent="-108000" lvl="0" marL="108000"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Inventory items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Reporting Hierarchies – Business Units, Geography, purchasing agent, items,  etc.</a:t>
            </a:r>
            <a:endParaRPr sz="900">
              <a:solidFill>
                <a:srgbClr val="3C3C3B"/>
              </a:solidFill>
              <a:latin typeface="Century Gothic"/>
              <a:ea typeface="Century Gothic"/>
              <a:cs typeface="Century Gothic"/>
              <a:sym typeface="Century Gothic"/>
            </a:endParaRPr>
          </a:p>
        </p:txBody>
      </p:sp>
      <p:sp>
        <p:nvSpPr>
          <p:cNvPr id="5703" name="Google Shape;5703;p320"/>
          <p:cNvSpPr/>
          <p:nvPr/>
        </p:nvSpPr>
        <p:spPr>
          <a:xfrm>
            <a:off x="423877"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71450" lvl="0" marL="17145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Enablement of a reporting environment to provide enhanced insight(s) into the procure-to-pay process across the global enterprise</a:t>
            </a:r>
            <a:endParaRPr/>
          </a:p>
          <a:p>
            <a:pPr indent="-171450" lvl="0" marL="17145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the enterprise against industry best practices</a:t>
            </a:r>
            <a:endParaRPr/>
          </a:p>
          <a:p>
            <a:pPr indent="-171450" lvl="0" marL="17145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Provide an integrated global view of AP invoices, payments, suppliers, and purchase orders</a:t>
            </a:r>
            <a:endParaRPr/>
          </a:p>
          <a:p>
            <a:pPr indent="-114300" lvl="0" marL="171450" marR="0" rtl="0" algn="l">
              <a:lnSpc>
                <a:spcPct val="9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9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9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04" name="Google Shape;5704;p320"/>
          <p:cNvSpPr/>
          <p:nvPr/>
        </p:nvSpPr>
        <p:spPr>
          <a:xfrm>
            <a:off x="6545103" y="290520"/>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Lance Dacre</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5705" name="Google Shape;5705;p320"/>
          <p:cNvSpPr/>
          <p:nvPr/>
        </p:nvSpPr>
        <p:spPr>
          <a:xfrm>
            <a:off x="384875"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06" name="Google Shape;5706;p320"/>
          <p:cNvSpPr txBox="1"/>
          <p:nvPr>
            <p:ph type="title"/>
          </p:nvPr>
        </p:nvSpPr>
        <p:spPr>
          <a:xfrm>
            <a:off x="423875" y="164592"/>
            <a:ext cx="6205535"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Procure to Pay Optimization</a:t>
            </a:r>
            <a:endParaRPr sz="2400"/>
          </a:p>
        </p:txBody>
      </p:sp>
      <p:sp>
        <p:nvSpPr>
          <p:cNvPr id="5707" name="Google Shape;5707;p320">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12" name="Shape 5712"/>
        <p:cNvGrpSpPr/>
        <p:nvPr/>
      </p:nvGrpSpPr>
      <p:grpSpPr>
        <a:xfrm>
          <a:off x="0" y="0"/>
          <a:ext cx="0" cy="0"/>
          <a:chOff x="0" y="0"/>
          <a:chExt cx="0" cy="0"/>
        </a:xfrm>
      </p:grpSpPr>
      <p:cxnSp>
        <p:nvCxnSpPr>
          <p:cNvPr id="5713" name="Google Shape;5713;p321"/>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14" name="Google Shape;5714;p321"/>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15" name="Google Shape;5715;p32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16" name="Google Shape;5716;p32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17" name="Google Shape;5717;p321"/>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Rapidly integrate new systems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 monthly close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 internal controls and auditability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Quickly update accounting rules to meet requirements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reconciliation effort</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18" name="Google Shape;5718;p32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Single-sourcing of financial data for GL and operational systems are maintained in a single repository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End-to-end transparency and lineage for financial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Seamless drill-down from summary level financial statements to transaction-level detail</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reconciliation efforts, freeing up time and resources for value-generating activities</a:t>
            </a:r>
            <a:endParaRPr/>
          </a:p>
        </p:txBody>
      </p:sp>
      <p:sp>
        <p:nvSpPr>
          <p:cNvPr id="5719" name="Google Shape;5719;p32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Accounting transactions are created from the operational transactions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lineage is established between operational data and accounting data at the transaction level</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20" name="Google Shape;5720;p32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Analysis of current accounting  processes and systems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or implement an accounting engine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spcBef>
                <a:spcPts val="300"/>
              </a:spcBef>
              <a:spcAft>
                <a:spcPts val="0"/>
              </a:spcAft>
              <a:buNone/>
            </a:pPr>
            <a:r>
              <a:t/>
            </a:r>
            <a:endParaRPr sz="800">
              <a:solidFill>
                <a:srgbClr val="3C3C3B"/>
              </a:solidFill>
              <a:latin typeface="Century Gothic"/>
              <a:ea typeface="Century Gothic"/>
              <a:cs typeface="Century Gothic"/>
              <a:sym typeface="Century Gothic"/>
            </a:endParaRPr>
          </a:p>
        </p:txBody>
      </p:sp>
      <p:sp>
        <p:nvSpPr>
          <p:cNvPr id="5721" name="Google Shape;5721;p32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Reconciliations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Lineage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Volume and Scale</a:t>
            </a:r>
            <a:endParaRPr/>
          </a:p>
        </p:txBody>
      </p:sp>
      <p:sp>
        <p:nvSpPr>
          <p:cNvPr id="5722" name="Google Shape;5722;p32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Non ERP Operational system  transactional data</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Reference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723" name="Google Shape;5723;p321"/>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Organizations relying on legacy accounting processes, not supported by ERP sub ledgers, do not have access to supporting detailed level data. This results in:</a:t>
            </a:r>
            <a:endParaRPr/>
          </a:p>
          <a:p>
            <a:pPr indent="-107950" lvl="1" marL="346075"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High cost and inflexible accounting processes</a:t>
            </a:r>
            <a:endParaRPr/>
          </a:p>
          <a:p>
            <a:pPr indent="-107950" lvl="1" marL="346075"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Difficulty in making necessary changes as new accounting standards are introduced</a:t>
            </a:r>
            <a:endParaRPr/>
          </a:p>
          <a:p>
            <a:pPr indent="-107950" lvl="1" marL="346075"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Lack of drill-down from summary level financial statements to granular account and transaction-level data</a:t>
            </a:r>
            <a:endParaRPr b="0" i="0" sz="950" u="none" cap="none" strike="noStrike">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24" name="Google Shape;5724;p321"/>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725" name="Google Shape;5725;p321"/>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26" name="Google Shape;5726;p321"/>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Accounting Hub / Sub Ledger</a:t>
            </a:r>
            <a:endParaRPr/>
          </a:p>
        </p:txBody>
      </p:sp>
      <p:sp>
        <p:nvSpPr>
          <p:cNvPr id="5727" name="Google Shape;5727;p321">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32" name="Shape 5732"/>
        <p:cNvGrpSpPr/>
        <p:nvPr/>
      </p:nvGrpSpPr>
      <p:grpSpPr>
        <a:xfrm>
          <a:off x="0" y="0"/>
          <a:ext cx="0" cy="0"/>
          <a:chOff x="0" y="0"/>
          <a:chExt cx="0" cy="0"/>
        </a:xfrm>
      </p:grpSpPr>
      <p:cxnSp>
        <p:nvCxnSpPr>
          <p:cNvPr id="5733" name="Google Shape;5733;p322"/>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34" name="Google Shape;5734;p322"/>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35" name="Google Shape;5735;p32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36" name="Google Shape;5736;p32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37" name="Google Shape;5737;p322"/>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decisions (including pricing) on acquisitions and sales of intangible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management of internal intangible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adaptability to evolving valuation factors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Exploitation of recognition of undervalued intangible assets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38" name="Google Shape;5738;p32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develop accurate valuations of intangible assets to support effective asset management activities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Support for mergers, acquisitions and transfer pricing models involving material intangible asset components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Defensible, fact-based  valuation methods</a:t>
            </a:r>
            <a:endParaRPr sz="800">
              <a:solidFill>
                <a:srgbClr val="3C3C3B"/>
              </a:solidFill>
              <a:latin typeface="Century Gothic"/>
              <a:ea typeface="Century Gothic"/>
              <a:cs typeface="Century Gothic"/>
              <a:sym typeface="Century Gothic"/>
            </a:endParaRPr>
          </a:p>
        </p:txBody>
      </p:sp>
      <p:sp>
        <p:nvSpPr>
          <p:cNvPr id="5739" name="Google Shape;5739;p32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Inclusion of all external and internal , subjective and objective factors that affect intangible asset valuation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Sophisticated modeling capabilities to leverage  historical  intangible asset pricing patterns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single repository for  conducting discovery and analysis on valuations and factors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40" name="Google Shape;5740;p322"/>
          <p:cNvSpPr/>
          <p:nvPr/>
        </p:nvSpPr>
        <p:spPr>
          <a:xfrm>
            <a:off x="3271845" y="2325695"/>
            <a:ext cx="2714400" cy="1074733"/>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Web crawling to gather relevant data such as industry analyst reports, social networks, macro economics data, product reviews etc..</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Linear/Regression analysis for projections based on historical trends</a:t>
            </a:r>
            <a:endParaRPr/>
          </a:p>
        </p:txBody>
      </p:sp>
      <p:sp>
        <p:nvSpPr>
          <p:cNvPr id="5741" name="Google Shape;5741;p322"/>
          <p:cNvSpPr/>
          <p:nvPr/>
        </p:nvSpPr>
        <p:spPr>
          <a:xfrm>
            <a:off x="420685" y="3557896"/>
            <a:ext cx="2714400" cy="1014119"/>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Capture of relevant data from external sources and unstructured formats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Facilitating the collaboration among multiple contributors to understanding the internal and external  valuation  factors</a:t>
            </a:r>
            <a:endParaRPr/>
          </a:p>
        </p:txBody>
      </p:sp>
      <p:sp>
        <p:nvSpPr>
          <p:cNvPr id="5742" name="Google Shape;5742;p322"/>
          <p:cNvSpPr/>
          <p:nvPr/>
        </p:nvSpPr>
        <p:spPr>
          <a:xfrm>
            <a:off x="420685" y="2338380"/>
            <a:ext cx="2714400" cy="1176346"/>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Enterprise financial data &amp; statements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financial data, mergers, acquisitions, asset sales, IPO valuations, etc.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Unstructured data from web-sites, unformatted reports, filings,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Industry analyst reports, data/trends, Assays, Product  reviews, IPOs, economic forecasts</a:t>
            </a:r>
            <a:endParaRPr sz="800">
              <a:solidFill>
                <a:schemeClr val="dk1"/>
              </a:solidFill>
              <a:latin typeface="Century Gothic"/>
              <a:ea typeface="Century Gothic"/>
              <a:cs typeface="Century Gothic"/>
              <a:sym typeface="Century Gothic"/>
            </a:endParaRPr>
          </a:p>
        </p:txBody>
      </p:sp>
      <p:sp>
        <p:nvSpPr>
          <p:cNvPr id="5743" name="Google Shape;5743;p322"/>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the ability to value (i.e. calculate the difference between market value and accounting book value) intangible assets such as patents, copyrights, brand names, leading business models, customer databases, analytic capabilities</a:t>
            </a:r>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44" name="Google Shape;5744;p322"/>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Henry Kolisnik</a:t>
            </a:r>
            <a:endParaRPr sz="900">
              <a:solidFill>
                <a:schemeClr val="accent6"/>
              </a:solidFill>
              <a:latin typeface="Century Gothic"/>
              <a:ea typeface="Century Gothic"/>
              <a:cs typeface="Century Gothic"/>
              <a:sym typeface="Century Gothic"/>
            </a:endParaRPr>
          </a:p>
        </p:txBody>
      </p:sp>
      <p:sp>
        <p:nvSpPr>
          <p:cNvPr id="5745" name="Google Shape;5745;p322"/>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46" name="Google Shape;5746;p322"/>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Valuation of Intangible Assets</a:t>
            </a:r>
            <a:endParaRPr sz="2400"/>
          </a:p>
        </p:txBody>
      </p:sp>
      <p:sp>
        <p:nvSpPr>
          <p:cNvPr id="5747" name="Google Shape;5747;p322">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52" name="Shape 5752"/>
        <p:cNvGrpSpPr/>
        <p:nvPr/>
      </p:nvGrpSpPr>
      <p:grpSpPr>
        <a:xfrm>
          <a:off x="0" y="0"/>
          <a:ext cx="0" cy="0"/>
          <a:chOff x="0" y="0"/>
          <a:chExt cx="0" cy="0"/>
        </a:xfrm>
      </p:grpSpPr>
      <p:cxnSp>
        <p:nvCxnSpPr>
          <p:cNvPr id="5753" name="Google Shape;5753;p323"/>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54" name="Google Shape;5754;p323"/>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55" name="Google Shape;5755;p323"/>
          <p:cNvCxnSpPr/>
          <p:nvPr/>
        </p:nvCxnSpPr>
        <p:spPr>
          <a:xfrm>
            <a:off x="4576599" y="791546"/>
            <a:ext cx="0" cy="1501152"/>
          </a:xfrm>
          <a:prstGeom prst="straightConnector1">
            <a:avLst/>
          </a:prstGeom>
          <a:noFill/>
          <a:ln cap="flat" cmpd="sng" w="12700">
            <a:solidFill>
              <a:schemeClr val="lt2"/>
            </a:solidFill>
            <a:prstDash val="solid"/>
            <a:round/>
            <a:headEnd len="sm" w="sm" type="none"/>
            <a:tailEnd len="sm" w="sm" type="none"/>
          </a:ln>
        </p:spPr>
      </p:cxnSp>
      <p:sp>
        <p:nvSpPr>
          <p:cNvPr id="5756" name="Google Shape;5756;p32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57" name="Google Shape;5757;p323"/>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utilization of under utilized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Profitability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Clear asset identification and tracking</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58" name="Google Shape;5758;p32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analyse return on fixed assets based on profitability and utilization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Achieve a holistic view of owner, manager and location of each asset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59" name="Google Shape;5759;p32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Clear understanding of improved asset utlization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analyse return on fixed assets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60" name="Google Shape;5760;p32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optimisation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Multivariate analytics (e.g., cluster and n-path)</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61" name="Google Shape;5761;p32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Assets are not properly tracked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the ability to tie assets to product production</a:t>
            </a:r>
            <a:endParaRPr/>
          </a:p>
        </p:txBody>
      </p:sp>
      <p:sp>
        <p:nvSpPr>
          <p:cNvPr id="5762" name="Google Shape;5762;p32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asset records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financial transactions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Fixed asset master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Reference data</a:t>
            </a:r>
            <a:endParaRPr/>
          </a:p>
        </p:txBody>
      </p:sp>
      <p:sp>
        <p:nvSpPr>
          <p:cNvPr id="5763" name="Google Shape;5763;p323"/>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Equipment is under utilized and companies often lack the ability to identify the location and/or condition of these assets</a:t>
            </a:r>
            <a:endParaRPr/>
          </a:p>
          <a:p>
            <a:pPr indent="-108000" lvl="1" marL="565200"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How is asset being used: when, where, how long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Increased visibility in asset master data to optimize cash flow and profitability</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64" name="Google Shape;5764;p323"/>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Tom Langenbahn</a:t>
            </a:r>
            <a:endParaRPr sz="900">
              <a:solidFill>
                <a:schemeClr val="accent6"/>
              </a:solidFill>
              <a:latin typeface="Century Gothic"/>
              <a:ea typeface="Century Gothic"/>
              <a:cs typeface="Century Gothic"/>
              <a:sym typeface="Century Gothic"/>
            </a:endParaRPr>
          </a:p>
        </p:txBody>
      </p:sp>
      <p:sp>
        <p:nvSpPr>
          <p:cNvPr id="5765" name="Google Shape;5765;p323"/>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66" name="Google Shape;5766;p323"/>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Fixed Asset Utilization Optimization</a:t>
            </a:r>
            <a:endParaRPr sz="2400"/>
          </a:p>
        </p:txBody>
      </p:sp>
      <p:sp>
        <p:nvSpPr>
          <p:cNvPr id="5767" name="Google Shape;5767;p323">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72" name="Shape 5772"/>
        <p:cNvGrpSpPr/>
        <p:nvPr/>
      </p:nvGrpSpPr>
      <p:grpSpPr>
        <a:xfrm>
          <a:off x="0" y="0"/>
          <a:ext cx="0" cy="0"/>
          <a:chOff x="0" y="0"/>
          <a:chExt cx="0" cy="0"/>
        </a:xfrm>
      </p:grpSpPr>
      <p:cxnSp>
        <p:nvCxnSpPr>
          <p:cNvPr id="5773" name="Google Shape;5773;p32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74" name="Google Shape;5774;p32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75" name="Google Shape;5775;p32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76" name="Google Shape;5776;p32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77" name="Google Shape;5777;p32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borrowing base on the same level of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borrowing costs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Provide greater visibility of asset base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lender confidence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pricing of each tranche</a:t>
            </a:r>
            <a:endParaRPr/>
          </a:p>
        </p:txBody>
      </p:sp>
      <p:sp>
        <p:nvSpPr>
          <p:cNvPr id="5778" name="Google Shape;5778;p32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asset composition within each financing tranche is optimized across these dimensions: </a:t>
            </a:r>
            <a:endParaRPr/>
          </a:p>
          <a:p>
            <a:pPr indent="0" lvl="0" marL="114300" marR="0" rtl="0" algn="l">
              <a:spcBef>
                <a:spcPts val="300"/>
              </a:spcBef>
              <a:spcAft>
                <a:spcPts val="0"/>
              </a:spcAft>
              <a:buNone/>
            </a:pPr>
            <a:r>
              <a:rPr lang="en-GB" sz="800">
                <a:solidFill>
                  <a:srgbClr val="3C3C3B"/>
                </a:solidFill>
                <a:latin typeface="Century Gothic"/>
                <a:ea typeface="Century Gothic"/>
                <a:cs typeface="Century Gothic"/>
                <a:sym typeface="Century Gothic"/>
              </a:rPr>
              <a:t>1) the value of assets within each tranche are maximized; and </a:t>
            </a:r>
            <a:endParaRPr/>
          </a:p>
          <a:p>
            <a:pPr indent="0" lvl="0" marL="114300" marR="0" rtl="0" algn="l">
              <a:spcBef>
                <a:spcPts val="300"/>
              </a:spcBef>
              <a:spcAft>
                <a:spcPts val="0"/>
              </a:spcAft>
              <a:buNone/>
            </a:pPr>
            <a:r>
              <a:rPr lang="en-GB" sz="800">
                <a:solidFill>
                  <a:srgbClr val="3C3C3B"/>
                </a:solidFill>
                <a:latin typeface="Century Gothic"/>
                <a:ea typeface="Century Gothic"/>
                <a:cs typeface="Century Gothic"/>
                <a:sym typeface="Century Gothic"/>
              </a:rPr>
              <a:t>2) each tranche meets the lender’s diversification requirements</a:t>
            </a:r>
            <a:endParaRPr/>
          </a:p>
        </p:txBody>
      </p:sp>
      <p:sp>
        <p:nvSpPr>
          <p:cNvPr id="5779" name="Google Shape;5779;p32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effectiveness and repeatability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optimize the value of the ABS financing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Ensure underlying assets within the offering are sufficiently diversified and comply with loan covenants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80" name="Google Shape;5780;p32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Linear programming to optimise assets mix within each tranche</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support validation of contract terms</a:t>
            </a:r>
            <a:endParaRPr/>
          </a:p>
        </p:txBody>
      </p:sp>
      <p:sp>
        <p:nvSpPr>
          <p:cNvPr id="5781" name="Google Shape;5781;p32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complexity-structured and unstructured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timing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volumes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82" name="Google Shape;5782;p32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Asset valuations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Concentration Limit rules (e.g., how much of which asset type can be in each tranche)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asset record</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Mark-to-Market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783" name="Google Shape;5783;p324"/>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Use Asset Backed Securitization (ABS) to reduce borrowing costs (e.g., leasing companies securitize lease payments)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Ensure the underlying assets supporting each financing tranche are sufficiently diversified to reduce risk</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Leverage analytics to optimize the value of their ABS financing while ensuring each financing tranche meets diversification requirements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Rapidly identify any impaired asset for potential replacement</a:t>
            </a:r>
            <a:endParaRPr/>
          </a:p>
          <a:p>
            <a:pPr indent="0" lvl="0" marL="0" marR="0" rtl="0" algn="l">
              <a:spcBef>
                <a:spcPts val="300"/>
              </a:spcBef>
              <a:spcAft>
                <a:spcPts val="0"/>
              </a:spcAft>
              <a:buNone/>
            </a:pPr>
            <a:r>
              <a:t/>
            </a:r>
            <a:endParaRPr sz="900">
              <a:solidFill>
                <a:schemeClr val="dk1"/>
              </a:solidFill>
              <a:latin typeface="Century Gothic"/>
              <a:ea typeface="Century Gothic"/>
              <a:cs typeface="Century Gothic"/>
              <a:sym typeface="Century Gothic"/>
            </a:endParaRPr>
          </a:p>
        </p:txBody>
      </p:sp>
      <p:sp>
        <p:nvSpPr>
          <p:cNvPr id="5784" name="Google Shape;5784;p324"/>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Tom Langenbahn</a:t>
            </a:r>
            <a:endParaRPr sz="900">
              <a:solidFill>
                <a:schemeClr val="accent6"/>
              </a:solidFill>
              <a:latin typeface="Century Gothic"/>
              <a:ea typeface="Century Gothic"/>
              <a:cs typeface="Century Gothic"/>
              <a:sym typeface="Century Gothic"/>
            </a:endParaRPr>
          </a:p>
        </p:txBody>
      </p:sp>
      <p:sp>
        <p:nvSpPr>
          <p:cNvPr id="5785" name="Google Shape;5785;p324"/>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86" name="Google Shape;5786;p32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Asset Backed Securitization (ABS) </a:t>
            </a:r>
            <a:endParaRPr sz="2400"/>
          </a:p>
        </p:txBody>
      </p:sp>
      <p:sp>
        <p:nvSpPr>
          <p:cNvPr id="5787" name="Google Shape;5787;p324">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92" name="Shape 5792"/>
        <p:cNvGrpSpPr/>
        <p:nvPr/>
      </p:nvGrpSpPr>
      <p:grpSpPr>
        <a:xfrm>
          <a:off x="0" y="0"/>
          <a:ext cx="0" cy="0"/>
          <a:chOff x="0" y="0"/>
          <a:chExt cx="0" cy="0"/>
        </a:xfrm>
      </p:grpSpPr>
      <p:cxnSp>
        <p:nvCxnSpPr>
          <p:cNvPr id="5793" name="Google Shape;5793;p325"/>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94" name="Google Shape;5794;p325"/>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95" name="Google Shape;5795;p32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96" name="Google Shape;5796;p32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97" name="Google Shape;5797;p325"/>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Timely, reliable and trusted information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reconciliation effort.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Close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Cost reduction / more time devoted to value-added analysis rather than data crunching</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98" name="Google Shape;5798;p32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visibility of reconciliation process and clearly defined reconciliation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Centralised and automated reconciliation process which is auditable and traceable back to source.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99" name="Google Shape;5799;p32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Reconciliation rules and process are clearly defined.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Manual reconciliation processes have been automated</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00" name="Google Shape;5800;p32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optimisation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Automation of manual reconciliation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Option for reconciliation engine running in-database on the Data Warehouse</a:t>
            </a:r>
            <a:endParaRPr sz="800">
              <a:solidFill>
                <a:srgbClr val="3C3C3B"/>
              </a:solidFill>
              <a:latin typeface="Century Gothic"/>
              <a:ea typeface="Century Gothic"/>
              <a:cs typeface="Century Gothic"/>
              <a:sym typeface="Century Gothic"/>
            </a:endParaRPr>
          </a:p>
        </p:txBody>
      </p:sp>
      <p:sp>
        <p:nvSpPr>
          <p:cNvPr id="5801" name="Google Shape;5801;p32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timeliness, latency, quality</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charts of accounts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data sources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Reliance on spreadsheets and manual entries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of clear data lineage</a:t>
            </a:r>
            <a:endParaRPr/>
          </a:p>
        </p:txBody>
      </p:sp>
      <p:sp>
        <p:nvSpPr>
          <p:cNvPr id="5802" name="Google Shape;5802;p32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General Ledger and Sub Ledger information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Operational system transactional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803" name="Google Shape;5803;p325"/>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efficiency of reconciliation processes by reducing manual intervention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Inconsistencies are usually caused by:</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Disparate processes and data</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Excessive data movement</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Data latency and timing</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Excessive human intervention</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804" name="Google Shape;5804;p325"/>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805" name="Google Shape;5805;p325"/>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806" name="Google Shape;5806;p325"/>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Reconciliation Process</a:t>
            </a:r>
            <a:endParaRPr sz="2400"/>
          </a:p>
        </p:txBody>
      </p:sp>
      <p:sp>
        <p:nvSpPr>
          <p:cNvPr id="5807" name="Google Shape;5807;p325">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12" name="Shape 5812"/>
        <p:cNvGrpSpPr/>
        <p:nvPr/>
      </p:nvGrpSpPr>
      <p:grpSpPr>
        <a:xfrm>
          <a:off x="0" y="0"/>
          <a:ext cx="0" cy="0"/>
          <a:chOff x="0" y="0"/>
          <a:chExt cx="0" cy="0"/>
        </a:xfrm>
      </p:grpSpPr>
      <p:cxnSp>
        <p:nvCxnSpPr>
          <p:cNvPr id="5813" name="Google Shape;5813;p326"/>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14" name="Google Shape;5814;p326"/>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15" name="Google Shape;5815;p32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16" name="Google Shape;5816;p32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17" name="Google Shape;5817;p326"/>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Acceleration of the consolidation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demonstrate compliance with relevant accounting standards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accurate financial information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risk of restatements</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18" name="Google Shape;5818;p32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Automated consolidation processes which are more efficient and easier to maintain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End-to-end transparency and lineage for financial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Seamless drill-down from consolidated financial statements to individual sets of books and sub-ledgers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Performance and scalability to perform calculations  and mappings, with all detail retained in the data warehouse.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19" name="Google Shape;5819;p32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Automated production of Group Balance Sheet and P&amp;L with consolidating and eliminating entries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drill-down to individual legal entities</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20" name="Google Shape;5820;p32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Source, align and validate required GL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Consolidation engine solution running in-database on the data warehouse.</a:t>
            </a:r>
            <a:endParaRPr/>
          </a:p>
          <a:p>
            <a:pPr indent="-171450" lvl="0" marL="361950"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Automation of inter-company transaction identification</a:t>
            </a:r>
            <a:endParaRPr/>
          </a:p>
          <a:p>
            <a:pPr indent="-171450" lvl="0" marL="361950"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Track inter-period movements of account balances</a:t>
            </a:r>
            <a:endParaRPr/>
          </a:p>
          <a:p>
            <a:pPr indent="-120650" lvl="0" marL="361950" marR="0" rtl="0" algn="l">
              <a:spcBef>
                <a:spcPts val="300"/>
              </a:spcBef>
              <a:spcAft>
                <a:spcPts val="0"/>
              </a:spcAft>
              <a:buClr>
                <a:srgbClr val="3C3C3B"/>
              </a:buClr>
              <a:buSzPts val="800"/>
              <a:buFont typeface="Century Gothic"/>
              <a:buNone/>
            </a:pPr>
            <a:r>
              <a:t/>
            </a:r>
            <a:endParaRPr sz="800">
              <a:solidFill>
                <a:srgbClr val="3C3C3B"/>
              </a:solidFill>
              <a:latin typeface="Century Gothic"/>
              <a:ea typeface="Century Gothic"/>
              <a:cs typeface="Century Gothic"/>
              <a:sym typeface="Century Gothic"/>
            </a:endParaRPr>
          </a:p>
        </p:txBody>
      </p:sp>
      <p:sp>
        <p:nvSpPr>
          <p:cNvPr id="5821" name="Google Shape;5821;p32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 accessibility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alignment e.g.</a:t>
            </a:r>
            <a:endParaRPr/>
          </a:p>
          <a:p>
            <a:pPr indent="-171450" lvl="0" marL="363538"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Multiple GAAPs</a:t>
            </a:r>
            <a:endParaRPr/>
          </a:p>
          <a:p>
            <a:pPr indent="-171450" lvl="0" marL="363538"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Disparate CoA</a:t>
            </a:r>
            <a:endParaRPr/>
          </a:p>
          <a:p>
            <a:pPr indent="-171450" lvl="0" marL="363538"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Multiple currencies</a:t>
            </a:r>
            <a:endParaRPr sz="800">
              <a:solidFill>
                <a:srgbClr val="3C3C3B"/>
              </a:solidFill>
              <a:latin typeface="Century Gothic"/>
              <a:ea typeface="Century Gothic"/>
              <a:cs typeface="Century Gothic"/>
              <a:sym typeface="Century Gothic"/>
            </a:endParaRPr>
          </a:p>
        </p:txBody>
      </p:sp>
      <p:sp>
        <p:nvSpPr>
          <p:cNvPr id="5822" name="Google Shape;5822;p32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General Ledger and Sub Ledger information for all legal entities</a:t>
            </a:r>
            <a:endParaRPr sz="800">
              <a:solidFill>
                <a:schemeClr val="dk1"/>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Reference data (e.g. exchange rates, consolidation hierarchies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823" name="Google Shape;5823;p326"/>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Produce a Consolidated view across multiple ERPs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or eliminate manual processes:</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Acquisitions and globalization create inconsistency of data, poor data quality and data inaccessibility</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Lack of common data definitions</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tools for financial data preparation </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Manual reconciliation process with late adjustments</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Mismatches between Intercompany transactions</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1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824" name="Google Shape;5824;p326"/>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825" name="Google Shape;5825;p326"/>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826" name="Google Shape;5826;p326"/>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Consolidation Optimization </a:t>
            </a:r>
            <a:endParaRPr sz="2400"/>
          </a:p>
        </p:txBody>
      </p:sp>
      <p:sp>
        <p:nvSpPr>
          <p:cNvPr id="5827" name="Google Shape;5827;p326">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32" name="Shape 5832"/>
        <p:cNvGrpSpPr/>
        <p:nvPr/>
      </p:nvGrpSpPr>
      <p:grpSpPr>
        <a:xfrm>
          <a:off x="0" y="0"/>
          <a:ext cx="0" cy="0"/>
          <a:chOff x="0" y="0"/>
          <a:chExt cx="0" cy="0"/>
        </a:xfrm>
      </p:grpSpPr>
      <p:cxnSp>
        <p:nvCxnSpPr>
          <p:cNvPr id="5833" name="Google Shape;5833;p327"/>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34" name="Google Shape;5834;p327"/>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35" name="Google Shape;5835;p32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36" name="Google Shape;5836;p32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37" name="Google Shape;5837;p327"/>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 monthly and annual close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of restatements is lowered</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Cost reduction / more time devoted to value-added analysis rather than data crunching</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38" name="Google Shape;5838;p32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manual intervention in close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reconciliation efforts during close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Accelerated financial reporting</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load on ERP systems during close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Enhance visibility into geographically dispersed results across multiple business units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39" name="Google Shape;5839;p32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Close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Maintain “Thin” GL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Detail Subsidiary Ledger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clear data lineage</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40" name="Google Shape;5840;p32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a:p>
          <a:p>
            <a:pPr indent="-171450" lvl="1" marL="246063" marR="0" rtl="0" algn="l">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Use of standard ERP integration tool and data model as accelerator</a:t>
            </a:r>
            <a:endParaRPr b="0" i="0" sz="800" u="none" cap="none" strike="noStrike">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optimisation analysis</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41" name="Google Shape;5841;p32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timeliness, quality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charts of accounts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data sources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Reliance on spreadsheets and manual entries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42" name="Google Shape;5842;p32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balance &amp; transaction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Sub-ledger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Reporting Hierarchies – Business Units, Geography, purchasing agent etc.</a:t>
            </a:r>
            <a:endParaRPr/>
          </a:p>
          <a:p>
            <a:pPr indent="0" lvl="0" marL="0" marR="0" rtl="0" algn="l">
              <a:lnSpc>
                <a:spcPct val="90000"/>
              </a:lnSpc>
              <a:spcBef>
                <a:spcPts val="300"/>
              </a:spcBef>
              <a:spcAft>
                <a:spcPts val="0"/>
              </a:spcAft>
              <a:buNone/>
            </a:pPr>
            <a:r>
              <a:t/>
            </a:r>
            <a:endParaRPr sz="800">
              <a:solidFill>
                <a:schemeClr val="dk1"/>
              </a:solidFill>
              <a:latin typeface="Century Gothic"/>
              <a:ea typeface="Century Gothic"/>
              <a:cs typeface="Century Gothic"/>
              <a:sym typeface="Century Gothic"/>
            </a:endParaRPr>
          </a:p>
        </p:txBody>
      </p:sp>
      <p:sp>
        <p:nvSpPr>
          <p:cNvPr id="5843" name="Google Shape;5843;p327"/>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Faster close process</a:t>
            </a:r>
            <a:endParaRPr/>
          </a:p>
          <a:p>
            <a:pPr indent="-171449" lvl="1" marL="427038" marR="0" rtl="0" algn="l">
              <a:spcBef>
                <a:spcPts val="300"/>
              </a:spcBef>
              <a:spcAft>
                <a:spcPts val="0"/>
              </a:spcAft>
              <a:buClr>
                <a:srgbClr val="3C3C3B"/>
              </a:buClr>
              <a:buSzPts val="900"/>
              <a:buFont typeface="Century Gothic"/>
              <a:buChar char="−"/>
            </a:pPr>
            <a:r>
              <a:rPr b="0" i="0" lang="en-GB" sz="900" u="none" cap="none" strike="noStrike">
                <a:solidFill>
                  <a:schemeClr val="dk1"/>
                </a:solidFill>
                <a:latin typeface="Century Gothic"/>
                <a:ea typeface="Century Gothic"/>
                <a:cs typeface="Century Gothic"/>
                <a:sym typeface="Century Gothic"/>
              </a:rPr>
              <a:t>Disparate systems and summarizations from multiple sources provide inaccurate information during close process</a:t>
            </a:r>
            <a:endParaRPr/>
          </a:p>
          <a:p>
            <a:pPr indent="-171449" lvl="1" marL="427038" marR="0" rtl="0" algn="l">
              <a:spcBef>
                <a:spcPts val="300"/>
              </a:spcBef>
              <a:spcAft>
                <a:spcPts val="0"/>
              </a:spcAft>
              <a:buClr>
                <a:srgbClr val="3C3C3B"/>
              </a:buClr>
              <a:buSzPts val="900"/>
              <a:buFont typeface="Century Gothic"/>
              <a:buChar char="−"/>
            </a:pPr>
            <a:r>
              <a:rPr b="0" i="0" lang="en-GB" sz="900" u="none" cap="none" strike="noStrike">
                <a:solidFill>
                  <a:schemeClr val="dk1"/>
                </a:solidFill>
                <a:latin typeface="Century Gothic"/>
                <a:ea typeface="Century Gothic"/>
                <a:cs typeface="Century Gothic"/>
                <a:sym typeface="Century Gothic"/>
              </a:rPr>
              <a:t>Process involves excessive manual intervention or slow legacy systems</a:t>
            </a:r>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844" name="Google Shape;5844;p327"/>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845" name="Google Shape;5845;p327"/>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846" name="Google Shape;5846;p327"/>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Close Process Optimization  </a:t>
            </a:r>
            <a:endParaRPr sz="2400"/>
          </a:p>
        </p:txBody>
      </p:sp>
      <p:sp>
        <p:nvSpPr>
          <p:cNvPr id="5847" name="Google Shape;5847;p327">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52" name="Shape 5852"/>
        <p:cNvGrpSpPr/>
        <p:nvPr/>
      </p:nvGrpSpPr>
      <p:grpSpPr>
        <a:xfrm>
          <a:off x="0" y="0"/>
          <a:ext cx="0" cy="0"/>
          <a:chOff x="0" y="0"/>
          <a:chExt cx="0" cy="0"/>
        </a:xfrm>
      </p:grpSpPr>
      <p:cxnSp>
        <p:nvCxnSpPr>
          <p:cNvPr id="5853" name="Google Shape;5853;p328"/>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54" name="Google Shape;5854;p328"/>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55" name="Google Shape;5855;p32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56" name="Google Shape;5856;p32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57" name="Google Shape;5857;p328"/>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71450" lvl="0" marL="17145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performance and scalability for integrated Financial reporting</a:t>
            </a:r>
            <a:endParaRPr sz="900">
              <a:solidFill>
                <a:srgbClr val="3C3C3B"/>
              </a:solidFill>
              <a:latin typeface="Century Gothic"/>
              <a:ea typeface="Century Gothic"/>
              <a:cs typeface="Century Gothic"/>
              <a:sym typeface="Century Gothic"/>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Lower of cost of ownership</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Faster  time to market for new applications</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decision-making accuracy and efficiency with provable data lineage</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access to harmonized financial reporting and drill-down to supporting detail</a:t>
            </a:r>
            <a:endParaRPr sz="900">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58" name="Google Shape;5858;p32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Single, consolidated view of detailed enterprise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Flexible reporting and analysis layer</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of Business users to create reports without IT support</a:t>
            </a:r>
            <a:endParaRPr/>
          </a:p>
          <a:p>
            <a:pPr indent="-171450" lvl="1" marL="1714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Users have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Greater access to ERP &amp; other data,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Enhanced  BI performance,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Reduced report latency,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Lower operating expense</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Accelerated end user report development</a:t>
            </a:r>
            <a:endParaRPr/>
          </a:p>
          <a:p>
            <a:pPr indent="-114300" lvl="1" marL="171450" marR="0" rtl="0" algn="l">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59" name="Google Shape;5859;p32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physical data model for Financial data</a:t>
            </a:r>
            <a:endParaRPr sz="900">
              <a:solidFill>
                <a:srgbClr val="3C3C3B"/>
              </a:solidFill>
              <a:latin typeface="Century Gothic"/>
              <a:ea typeface="Century Gothic"/>
              <a:cs typeface="Century Gothic"/>
              <a:sym typeface="Century Gothic"/>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Implementation of user access layer</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Ingestion of ERP data for chosen subject area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Validation of ingested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Organizational commitment to the EDW as a primary source of data for integrated Financial reporting</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60" name="Google Shape;5860;p32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 application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Metadata management tool</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Deploy prebuilt ERP data ingestion tools</a:t>
            </a:r>
            <a:endParaRPr/>
          </a:p>
          <a:p>
            <a:pPr indent="-108000" lvl="1" marL="1080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Obtain metadata relating to the loading, movement and transformation of data</a:t>
            </a:r>
            <a:endParaRPr/>
          </a:p>
        </p:txBody>
      </p:sp>
      <p:sp>
        <p:nvSpPr>
          <p:cNvPr id="5861" name="Google Shape;5861;p32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 </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Multiple data sources with different data structures</a:t>
            </a:r>
            <a:endParaRPr sz="900">
              <a:solidFill>
                <a:srgbClr val="3C3C3B"/>
              </a:solidFill>
              <a:latin typeface="Century Gothic"/>
              <a:ea typeface="Century Gothic"/>
              <a:cs typeface="Century Gothic"/>
              <a:sym typeface="Century Gothic"/>
            </a:endParaRPr>
          </a:p>
          <a:p>
            <a:pPr indent="-174625" lvl="0" marL="17462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74625" lvl="0" marL="17462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a:t>
            </a:r>
            <a:endParaRPr sz="800">
              <a:solidFill>
                <a:srgbClr val="3C3C3B"/>
              </a:solidFill>
              <a:latin typeface="Century Gothic"/>
              <a:ea typeface="Century Gothic"/>
              <a:cs typeface="Century Gothic"/>
              <a:sym typeface="Century Gothic"/>
            </a:endParaRPr>
          </a:p>
          <a:p>
            <a:pPr indent="-114300" lvl="0" marL="171450" marR="0" rtl="0" algn="l">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62" name="Google Shape;5862;p32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ERP Ledger and Sub-Ledger Transactional and Balance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Operational system transactional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Non-ERP sub-ledger data, as applicable, e.g. claims, lending, deposits</a:t>
            </a:r>
            <a:endParaRPr sz="900">
              <a:solidFill>
                <a:srgbClr val="3C3C3B"/>
              </a:solidFill>
              <a:latin typeface="Century Gothic"/>
              <a:ea typeface="Century Gothic"/>
              <a:cs typeface="Century Gothic"/>
              <a:sym typeface="Century Gothic"/>
            </a:endParaRPr>
          </a:p>
        </p:txBody>
      </p:sp>
      <p:sp>
        <p:nvSpPr>
          <p:cNvPr id="5863" name="Google Shape;5863;p328"/>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71450" lvl="1" marL="171450" marR="0" rtl="0" algn="l">
              <a:spcBef>
                <a:spcPts val="5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Provide a common single trusted data repository for financial reporting and analytics across the enterprise</a:t>
            </a:r>
            <a:endParaRPr/>
          </a:p>
          <a:p>
            <a:pPr indent="-171450" lvl="1" marL="1714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Effectively integrate  &amp; harmonize data from multiple ERP and non-ERP data sources</a:t>
            </a:r>
            <a:endParaRPr/>
          </a:p>
          <a:p>
            <a:pPr indent="-171450" lvl="1" marL="1714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Accelerate the data integration process</a:t>
            </a:r>
            <a:endParaRPr/>
          </a:p>
        </p:txBody>
      </p:sp>
      <p:sp>
        <p:nvSpPr>
          <p:cNvPr id="5864" name="Google Shape;5864;p328"/>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Bob Brady</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5865" name="Google Shape;5865;p32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5866" name="Google Shape;5866;p328"/>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Accelerated Financial Data Acquisition</a:t>
            </a:r>
            <a:endParaRPr/>
          </a:p>
        </p:txBody>
      </p:sp>
      <p:sp>
        <p:nvSpPr>
          <p:cNvPr id="5867" name="Google Shape;5867;p32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72" name="Shape 5872"/>
        <p:cNvGrpSpPr/>
        <p:nvPr/>
      </p:nvGrpSpPr>
      <p:grpSpPr>
        <a:xfrm>
          <a:off x="0" y="0"/>
          <a:ext cx="0" cy="0"/>
          <a:chOff x="0" y="0"/>
          <a:chExt cx="0" cy="0"/>
        </a:xfrm>
      </p:grpSpPr>
      <p:cxnSp>
        <p:nvCxnSpPr>
          <p:cNvPr id="5873" name="Google Shape;5873;p329"/>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74" name="Google Shape;5874;p329"/>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75" name="Google Shape;5875;p32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76" name="Google Shape;5876;p32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77" name="Google Shape;5877;p329"/>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revenues and margins</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accurate ability to forecast ancillary produce &amp; service sales</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visibility of the behavioural drivers of Revenue supporting Improvement to:</a:t>
            </a:r>
            <a:endParaRPr/>
          </a:p>
          <a:p>
            <a:pPr indent="-171450" lvl="1" marL="338138" marR="0" rtl="0" algn="l">
              <a:spcBef>
                <a:spcPts val="2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Sales processes</a:t>
            </a:r>
            <a:endParaRPr/>
          </a:p>
          <a:p>
            <a:pPr indent="-171450" lvl="1" marL="338138" marR="0" rtl="0" algn="l">
              <a:spcBef>
                <a:spcPts val="2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Sales targeting &amp; management</a:t>
            </a:r>
            <a:endParaRPr/>
          </a:p>
          <a:p>
            <a:pPr indent="-171450" lvl="1" marL="338138" marR="0" rtl="0" algn="l">
              <a:spcBef>
                <a:spcPts val="2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Employee Compensation Schemes</a:t>
            </a:r>
            <a:endParaRPr/>
          </a:p>
          <a:p>
            <a:pPr indent="-50849" lvl="0" marL="108000" marR="0" rtl="0" algn="l">
              <a:spcBef>
                <a:spcPts val="2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78" name="Google Shape;5878;p32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 an integrated sales repository which includes all customer, sales, behavioural and performance data to support Revenue analytics.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Reports and KPIs to accurately report and track Revenue performance against a wide range of parameters.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Analytical models and visualisations to:</a:t>
            </a:r>
            <a:endParaRPr/>
          </a:p>
          <a:p>
            <a:pPr indent="-171450" lvl="1" marL="269875" marR="0" rtl="0" algn="l">
              <a:lnSpc>
                <a:spcPct val="90000"/>
              </a:lnSpc>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Understand the relationship between core and ancillary pricing</a:t>
            </a:r>
            <a:endParaRPr/>
          </a:p>
          <a:p>
            <a:pPr indent="-171450" lvl="1" marL="269875" marR="0" rtl="0" algn="l">
              <a:lnSpc>
                <a:spcPct val="90000"/>
              </a:lnSpc>
              <a:spcBef>
                <a:spcPts val="2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Determine optimal ancillary bundles to offer customers</a:t>
            </a:r>
            <a:endParaRPr/>
          </a:p>
          <a:p>
            <a:pPr indent="-171450" lvl="1" marL="269875" marR="0" rtl="0" algn="l">
              <a:lnSpc>
                <a:spcPct val="90000"/>
              </a:lnSpc>
              <a:spcBef>
                <a:spcPts val="2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Identify internal and external factors influencing ancillary sales</a:t>
            </a:r>
            <a:endParaRPr/>
          </a:p>
          <a:p>
            <a:pPr indent="-171450" lvl="1" marL="269875" marR="0" rtl="0" algn="l">
              <a:lnSpc>
                <a:spcPct val="90000"/>
              </a:lnSpc>
              <a:spcBef>
                <a:spcPts val="2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Understand elasticity of demand to optimize pricing and drive increased profits</a:t>
            </a:r>
            <a:endParaRPr/>
          </a:p>
          <a:p>
            <a:pPr indent="-114300" lvl="1" marL="425450" marR="0" rtl="0" algn="l">
              <a:spcBef>
                <a:spcPts val="200"/>
              </a:spcBef>
              <a:spcAft>
                <a:spcPts val="0"/>
              </a:spcAft>
              <a:buClr>
                <a:srgbClr val="3C3C3B"/>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114300" lvl="1" marL="425450" marR="0" rtl="0" algn="l">
              <a:spcBef>
                <a:spcPts val="300"/>
              </a:spcBef>
              <a:spcAft>
                <a:spcPts val="0"/>
              </a:spcAft>
              <a:buClr>
                <a:srgbClr val="3C3C3B"/>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180975" lvl="0" marL="180975" marR="0" rtl="0" algn="l">
              <a:lnSpc>
                <a:spcPct val="90000"/>
              </a:lnSpc>
              <a:spcBef>
                <a:spcPts val="300"/>
              </a:spcBef>
              <a:spcAft>
                <a:spcPts val="0"/>
              </a:spcAft>
              <a:buNone/>
            </a:pPr>
            <a:r>
              <a:t/>
            </a:r>
            <a:endParaRPr b="1" sz="1000">
              <a:solidFill>
                <a:srgbClr val="0079DB"/>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79" name="Google Shape;5879;p32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acceptance of integrated data repository and reports / KPIs</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validation and acceptance of analytical models</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80" name="Google Shape;5880;p32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lnSpc>
                <a:spcPct val="95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Traditional statistical (e.g. linear regression) analysis to understand the relationship between core and ancillary products &amp; services</a:t>
            </a:r>
            <a:endParaRPr sz="900">
              <a:solidFill>
                <a:srgbClr val="3C3C3B"/>
              </a:solidFill>
              <a:latin typeface="Century Gothic"/>
              <a:ea typeface="Century Gothic"/>
              <a:cs typeface="Century Gothic"/>
              <a:sym typeface="Century Gothic"/>
            </a:endParaRPr>
          </a:p>
          <a:p>
            <a:pPr indent="-108000" lvl="0" marL="108000" marR="0" rtl="0" algn="l">
              <a:lnSpc>
                <a:spcPct val="95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Path analysis to determine purchase patterns</a:t>
            </a:r>
            <a:endParaRPr/>
          </a:p>
          <a:p>
            <a:pPr indent="-108000" lvl="0" marL="108000" marR="0" rtl="0" algn="l">
              <a:lnSpc>
                <a:spcPct val="95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Network analysis &amp; visualisations to identify purchase patterns</a:t>
            </a:r>
            <a:endParaRPr sz="900">
              <a:solidFill>
                <a:srgbClr val="3C3C3B"/>
              </a:solidFill>
              <a:latin typeface="Century Gothic"/>
              <a:ea typeface="Century Gothic"/>
              <a:cs typeface="Century Gothic"/>
              <a:sym typeface="Century Gothic"/>
            </a:endParaRPr>
          </a:p>
          <a:p>
            <a:pPr indent="-180000" lvl="0" marL="180000" marR="0" rtl="0" algn="l">
              <a:lnSpc>
                <a:spcPct val="90000"/>
              </a:lnSpc>
              <a:spcBef>
                <a:spcPts val="2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81" name="Google Shape;5881;p32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integration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volumes</a:t>
            </a:r>
            <a:endParaRPr/>
          </a:p>
          <a:p>
            <a:pPr indent="-180000" lvl="0" marL="180000" marR="0" rtl="0" algn="l">
              <a:lnSpc>
                <a:spcPct val="90000"/>
              </a:lnSpc>
              <a:spcBef>
                <a:spcPts val="3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82" name="Google Shape;5882;p32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sz="9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Sales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demographics &amp; characteristics</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Interaction &amp; behavioural data (e.g. transactional data, Web logs, emails)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Propensity models, price elasticity models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HR/Employee performance data</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180975" lvl="0" marL="180975" marR="0" rtl="0" algn="l">
              <a:lnSpc>
                <a:spcPct val="90000"/>
              </a:lnSpc>
              <a:spcBef>
                <a:spcPts val="3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83" name="Google Shape;5883;p329"/>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Whilst the structural drivers of Revenue for particular Products and Services are often well understood, there are often a wide range of factors which affect Revenue actually achieved from Product sales.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Organisations want to gain a better understanding of complex behavioural drivers (both internal and external) which affect the Revenue being driven.</a:t>
            </a:r>
            <a:endParaRPr/>
          </a:p>
        </p:txBody>
      </p:sp>
      <p:sp>
        <p:nvSpPr>
          <p:cNvPr id="5884" name="Google Shape;5884;p329"/>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Tom Langenbahn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5885" name="Google Shape;5885;p329"/>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5886" name="Google Shape;5886;p329"/>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Revenue Analytics Optimisation</a:t>
            </a:r>
            <a:endParaRPr sz="2400"/>
          </a:p>
        </p:txBody>
      </p:sp>
      <p:sp>
        <p:nvSpPr>
          <p:cNvPr id="5887" name="Google Shape;5887;p329">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92" name="Shape 5892"/>
        <p:cNvGrpSpPr/>
        <p:nvPr/>
      </p:nvGrpSpPr>
      <p:grpSpPr>
        <a:xfrm>
          <a:off x="0" y="0"/>
          <a:ext cx="0" cy="0"/>
          <a:chOff x="0" y="0"/>
          <a:chExt cx="0" cy="0"/>
        </a:xfrm>
      </p:grpSpPr>
      <p:cxnSp>
        <p:nvCxnSpPr>
          <p:cNvPr id="5893" name="Google Shape;5893;p330"/>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94" name="Google Shape;5894;p330"/>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95" name="Google Shape;5895;p33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96" name="Google Shape;5896;p33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97" name="Google Shape;5897;p330"/>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attract and retain good employees</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identify employees with poor performance and/or negative impact on the organisation.</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match employees to roles which require their skills and experience</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ability to maintain appropriate mix of high-performing and satisfactory resources across job functions</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payback on human resource investments</a:t>
            </a:r>
            <a:endParaRPr/>
          </a:p>
          <a:p>
            <a:pPr indent="-108000" lvl="0" marL="10800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employee satisfaction</a:t>
            </a:r>
            <a:endParaRPr/>
          </a:p>
          <a:p>
            <a:pPr indent="-50849" lvl="0" marL="108000" marR="0" rtl="0" algn="l">
              <a:lnSpc>
                <a:spcPct val="90000"/>
              </a:lnSpc>
              <a:spcBef>
                <a:spcPts val="2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98" name="Google Shape;5898;p33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Reporting/BI capability on integrated HR repository</a:t>
            </a:r>
            <a:endParaRPr/>
          </a:p>
          <a:p>
            <a:pPr indent="-171450" lvl="0" marL="265113"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Automated workforce and talent reports, dashboards </a:t>
            </a:r>
            <a:endParaRPr sz="800">
              <a:solidFill>
                <a:srgbClr val="3C3C3B"/>
              </a:solidFill>
              <a:latin typeface="Century Gothic"/>
              <a:ea typeface="Century Gothic"/>
              <a:cs typeface="Century Gothic"/>
              <a:sym typeface="Century Gothic"/>
            </a:endParaRPr>
          </a:p>
          <a:p>
            <a:pPr indent="-171450" lvl="0" marL="265113"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Ability to monitor trends in attrition, labor cost, diversity, etc. by division, location and job function and to conduct root cause analysis on concerning trends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ability to align employee performance to organisational strategy and objectives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99" name="Google Shape;5899;p33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integrated HR repository, with automated KPI and reporting capabilities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roadmap for HR improvement opportunities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p:txBody>
      </p:sp>
      <p:sp>
        <p:nvSpPr>
          <p:cNvPr id="5900" name="Google Shape;5900;p33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Automation of current manual HR reporting</a:t>
            </a:r>
            <a:endParaRPr sz="800">
              <a:solidFill>
                <a:schemeClr val="dk1"/>
              </a:solidFill>
              <a:latin typeface="Century Gothic"/>
              <a:ea typeface="Century Gothic"/>
              <a:cs typeface="Century Gothic"/>
              <a:sym typeface="Century Gothic"/>
            </a:endParaRPr>
          </a:p>
          <a:p>
            <a:pPr indent="-108000" lvl="0" marL="108000" marR="0" rtl="0" algn="l">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determine employee sentiment.</a:t>
            </a:r>
            <a:endParaRPr/>
          </a:p>
          <a:p>
            <a:pPr indent="-108000" lvl="0" marL="108000" marR="0" rtl="0" algn="l">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(e.g. path to ‘good’ employee attrition, ‘bad’ employee termination)</a:t>
            </a:r>
            <a:endParaRPr/>
          </a:p>
          <a:p>
            <a:pPr indent="-57199" lvl="0" marL="108000" marR="0" rtl="0" algn="l">
              <a:spcBef>
                <a:spcPts val="2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01" name="Google Shape;5901;p33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 quality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multiple employee records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Privacy / confidentiality compliance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02" name="Google Shape;5902;p33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Headcount, demographics &amp; compensation data</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Workforce skills, and training data</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Attrition / exit interviews, employee productivity &amp; performance, and hiring data</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salary benchmarks</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Employee Surveys / 360 degree reviews</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employee websites (e.g. Linkedin, Glassdoor)</a:t>
            </a:r>
            <a:endParaRPr/>
          </a:p>
        </p:txBody>
      </p:sp>
      <p:sp>
        <p:nvSpPr>
          <p:cNvPr id="5903" name="Google Shape;5903;p330"/>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flexible analysis of changing trends in attrition, employee productivity, compensation and hiring cost to drive strategic HR decision making.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Become proactive in maintaining required skills and minimizing voluntary attrition.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Comply with all governmental and contractual employment mandates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904" name="Google Shape;5904;p330"/>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Bob Brady</a:t>
            </a:r>
            <a:endParaRPr sz="900">
              <a:solidFill>
                <a:schemeClr val="accent6"/>
              </a:solidFill>
              <a:latin typeface="Century Gothic"/>
              <a:ea typeface="Century Gothic"/>
              <a:cs typeface="Century Gothic"/>
              <a:sym typeface="Century Gothic"/>
            </a:endParaRPr>
          </a:p>
        </p:txBody>
      </p:sp>
      <p:sp>
        <p:nvSpPr>
          <p:cNvPr id="5905" name="Google Shape;5905;p330"/>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06" name="Google Shape;5906;p330"/>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HR Analytics Optimization</a:t>
            </a:r>
            <a:endParaRPr sz="2400"/>
          </a:p>
        </p:txBody>
      </p:sp>
      <p:sp>
        <p:nvSpPr>
          <p:cNvPr id="5907" name="Google Shape;5907;p330">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12" name="Shape 5912"/>
        <p:cNvGrpSpPr/>
        <p:nvPr/>
      </p:nvGrpSpPr>
      <p:grpSpPr>
        <a:xfrm>
          <a:off x="0" y="0"/>
          <a:ext cx="0" cy="0"/>
          <a:chOff x="0" y="0"/>
          <a:chExt cx="0" cy="0"/>
        </a:xfrm>
      </p:grpSpPr>
      <p:cxnSp>
        <p:nvCxnSpPr>
          <p:cNvPr id="5913" name="Google Shape;5913;p331"/>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14" name="Google Shape;5914;p331"/>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15" name="Google Shape;5915;p33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16" name="Google Shape;5916;p33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17" name="Google Shape;5917;p331"/>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accuracy of cost allocations will enable  business users to make  more informed decisions that will  lead to improved profitability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provide downstream solutions or applications (e.g. profitability, pricing, segmentation, operations) with more detailed and accurate cost information.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 and cost savings through greater automation of ABC process.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918" name="Google Shape;5918;p33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Cost allocation model which allocates costs based on events, activities and behavioural drivers.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view and analyse costing results on a Multi-dimensional basis e.g. customer, product, organisation, business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Cost allocation rules are easy to create, manage and maintain</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Ability to refresh ABC models on a more frequent basis, and with minimal or no manual intervention.</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Data lineage from model back to source data.</a:t>
            </a:r>
            <a:endParaRPr sz="800">
              <a:solidFill>
                <a:schemeClr val="dk1"/>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19" name="Google Shape;5919;p33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Documentation of cost allocation rules and drivers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ABC model which generates granular result set which can be used for direct analysis and/or feed other downstream applications.</a:t>
            </a:r>
            <a:endParaRPr/>
          </a:p>
          <a:p>
            <a:pPr indent="0" lvl="0" marL="0" marR="0" rtl="0" algn="l">
              <a:spcBef>
                <a:spcPts val="300"/>
              </a:spcBef>
              <a:spcAft>
                <a:spcPts val="0"/>
              </a:spcAft>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920" name="Google Shape;5920;p33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Business-driven workshops to define cost allocation methodologies and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Rules-based calculation engine to perform allocations and generate granular cost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Leverage costing results to support wide range of customer, organisation and business process analysis and optimization.</a:t>
            </a:r>
            <a:endParaRPr sz="800">
              <a:solidFill>
                <a:srgbClr val="3C3C3B"/>
              </a:solidFill>
              <a:latin typeface="Century Gothic"/>
              <a:ea typeface="Century Gothic"/>
              <a:cs typeface="Century Gothic"/>
              <a:sym typeface="Century Gothic"/>
            </a:endParaRPr>
          </a:p>
        </p:txBody>
      </p:sp>
      <p:sp>
        <p:nvSpPr>
          <p:cNvPr id="5921" name="Google Shape;5921;p33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of business involvement in defining allocation techniques and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of understanding of business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Inability to update ABC models based on changing requirements and processes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22" name="Google Shape;5922;p33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Transactional / behavioural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Master / reference data, e.g. organisation hierarchies, product characteristics &amp; hierarchies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reference data (e.g. reference salary rates)</a:t>
            </a:r>
            <a:endParaRPr/>
          </a:p>
        </p:txBody>
      </p:sp>
      <p:sp>
        <p:nvSpPr>
          <p:cNvPr id="5923" name="Google Shape;5923;p331"/>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an accurate allocation of costs at a unit level to support behavioural performance and profitability management.</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Accurately and efficiently create allocation methodologies  based on high-quality financial data and business defined drivers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5924" name="Google Shape;5924;p331"/>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David Rosal</a:t>
            </a:r>
            <a:endParaRPr sz="900">
              <a:solidFill>
                <a:schemeClr val="accent6"/>
              </a:solidFill>
              <a:latin typeface="Century Gothic"/>
              <a:ea typeface="Century Gothic"/>
              <a:cs typeface="Century Gothic"/>
              <a:sym typeface="Century Gothic"/>
            </a:endParaRPr>
          </a:p>
        </p:txBody>
      </p:sp>
      <p:sp>
        <p:nvSpPr>
          <p:cNvPr id="5925" name="Google Shape;5925;p331"/>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26" name="Google Shape;5926;p331"/>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Activity Based Costing</a:t>
            </a:r>
            <a:endParaRPr sz="2400"/>
          </a:p>
        </p:txBody>
      </p:sp>
      <p:sp>
        <p:nvSpPr>
          <p:cNvPr id="5927" name="Google Shape;5927;p331">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32" name="Shape 5932"/>
        <p:cNvGrpSpPr/>
        <p:nvPr/>
      </p:nvGrpSpPr>
      <p:grpSpPr>
        <a:xfrm>
          <a:off x="0" y="0"/>
          <a:ext cx="0" cy="0"/>
          <a:chOff x="0" y="0"/>
          <a:chExt cx="0" cy="0"/>
        </a:xfrm>
      </p:grpSpPr>
      <p:sp>
        <p:nvSpPr>
          <p:cNvPr id="5933" name="Google Shape;5933;p332"/>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(cost and revenue) and performance data at the granular level</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rating data at the account l&amp; asset level that enables risk measurement of businesses and assets</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Market data to support risk factor calculations</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Product, customer and business hierarchies</a:t>
            </a:r>
            <a:endParaRPr/>
          </a:p>
        </p:txBody>
      </p:sp>
      <p:sp>
        <p:nvSpPr>
          <p:cNvPr id="5934" name="Google Shape;5934;p332"/>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Rules-based calculation engine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Predictive analytics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Monte-Carlo  Analysis</a:t>
            </a:r>
            <a:endParaRPr/>
          </a:p>
        </p:txBody>
      </p:sp>
      <p:sp>
        <p:nvSpPr>
          <p:cNvPr id="5935" name="Google Shape;5935;p332"/>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 “provisioned” integrated granular data to the predictive model</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 logical and physical mode to support the RAROC model</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 clear data lineage between source and target data</a:t>
            </a:r>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936" name="Google Shape;5936;p332"/>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&amp; sourcing</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timing</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volumes &amp; scale</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Availability of RAROC model</a:t>
            </a:r>
            <a:endParaRPr sz="800">
              <a:solidFill>
                <a:srgbClr val="3C3C3B"/>
              </a:solidFill>
              <a:latin typeface="Century Gothic"/>
              <a:ea typeface="Century Gothic"/>
              <a:cs typeface="Century Gothic"/>
              <a:sym typeface="Century Gothic"/>
            </a:endParaRPr>
          </a:p>
        </p:txBody>
      </p:sp>
      <p:sp>
        <p:nvSpPr>
          <p:cNvPr id="5937" name="Google Shape;5937;p332"/>
          <p:cNvSpPr/>
          <p:nvPr/>
        </p:nvSpPr>
        <p:spPr>
          <a:xfrm>
            <a:off x="4818899" y="804672"/>
            <a:ext cx="4048665" cy="143879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Shareholder value will be optimized through:</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More profitable capital allocations and investment decisions</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Fair representation of product, BU and customer economic profit</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Compliance with Basel Accord regulations</a:t>
            </a:r>
            <a:endParaRPr b="0" i="0" sz="800" u="none" cap="none" strike="noStrike">
              <a:solidFill>
                <a:schemeClr val="dk1"/>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5938" name="Google Shape;5938;p332"/>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5939" name="Google Shape;5939;p332"/>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5940" name="Google Shape;5940;p332"/>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5941" name="Google Shape;5941;p332"/>
          <p:cNvSpPr/>
          <p:nvPr/>
        </p:nvSpPr>
        <p:spPr>
          <a:xfrm>
            <a:off x="6144778" y="2331720"/>
            <a:ext cx="2829111" cy="18444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7475" lvl="0" marL="117475" marR="0" rtl="0" algn="l">
              <a:lnSpc>
                <a:spcPct val="90000"/>
              </a:lnSpc>
              <a:spcBef>
                <a:spcPts val="525"/>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Shareholder Value Added</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Risk Adjusted Return on Capital</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Product Profitability</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precision in capital allocation and funds transfer</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accountability</a:t>
            </a:r>
            <a:endParaRPr/>
          </a:p>
          <a:p>
            <a:pPr indent="-117475" lvl="1" marL="117475"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More effective capital adequacy planning</a:t>
            </a:r>
            <a:endParaRPr/>
          </a:p>
          <a:p>
            <a:pPr indent="-117475" lvl="1" marL="117475"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Better valuations of assets and potential acquisitions or divestments</a:t>
            </a:r>
            <a:endParaRPr/>
          </a:p>
          <a:p>
            <a:pPr indent="-60325" lvl="1" marL="117475" marR="0" rtl="0" algn="l">
              <a:lnSpc>
                <a:spcPct val="90000"/>
              </a:lnSpc>
              <a:spcBef>
                <a:spcPts val="45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66675" lvl="0" marL="117475" marR="0" rtl="0" algn="l">
              <a:lnSpc>
                <a:spcPct val="90000"/>
              </a:lnSpc>
              <a:spcBef>
                <a:spcPts val="45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None/>
            </a:pPr>
            <a:r>
              <a:t/>
            </a:r>
            <a:endParaRPr b="1" sz="1050">
              <a:solidFill>
                <a:schemeClr val="dk2"/>
              </a:solidFill>
              <a:latin typeface="Century Gothic"/>
              <a:ea typeface="Century Gothic"/>
              <a:cs typeface="Century Gothic"/>
              <a:sym typeface="Century Gothic"/>
            </a:endParaRPr>
          </a:p>
        </p:txBody>
      </p:sp>
      <p:sp>
        <p:nvSpPr>
          <p:cNvPr id="5942" name="Google Shape;5942;p332"/>
          <p:cNvSpPr/>
          <p:nvPr/>
        </p:nvSpPr>
        <p:spPr>
          <a:xfrm>
            <a:off x="420636" y="804675"/>
            <a:ext cx="3949701" cy="1469231"/>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19063" lvl="0" marL="119063"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Create a risk inclusive measurement of the enterprise to motivate the growth of true shareholder value.  </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 measure would enhance activities including: pricing, mergers &amp; acquisitions, performance management, capital management, regulatory reporting, risk management  and asset management.</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RAROC addresses the problems created by using profitability  metrics that do not include risk adjusted capital costs resulting in sub-optimal strategic decisions.</a:t>
            </a:r>
            <a:endParaRPr/>
          </a:p>
        </p:txBody>
      </p:sp>
      <p:sp>
        <p:nvSpPr>
          <p:cNvPr id="5943" name="Google Shape;5943;p332"/>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Henry Kolisnik</a:t>
            </a:r>
            <a:endParaRPr sz="900">
              <a:solidFill>
                <a:schemeClr val="accent6"/>
              </a:solidFill>
              <a:latin typeface="Century Gothic"/>
              <a:ea typeface="Century Gothic"/>
              <a:cs typeface="Century Gothic"/>
              <a:sym typeface="Century Gothic"/>
            </a:endParaRPr>
          </a:p>
        </p:txBody>
      </p:sp>
      <p:sp>
        <p:nvSpPr>
          <p:cNvPr id="5944" name="Google Shape;5944;p33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45" name="Google Shape;5945;p332"/>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46" name="Google Shape;5946;p332"/>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Adjusted Return on Capital (RAROC)</a:t>
            </a:r>
            <a:endParaRPr sz="2400"/>
          </a:p>
        </p:txBody>
      </p:sp>
      <p:sp>
        <p:nvSpPr>
          <p:cNvPr id="5947" name="Google Shape;5947;p332">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52" name="Shape 5952"/>
        <p:cNvGrpSpPr/>
        <p:nvPr/>
      </p:nvGrpSpPr>
      <p:grpSpPr>
        <a:xfrm>
          <a:off x="0" y="0"/>
          <a:ext cx="0" cy="0"/>
          <a:chOff x="0" y="0"/>
          <a:chExt cx="0" cy="0"/>
        </a:xfrm>
      </p:grpSpPr>
      <p:cxnSp>
        <p:nvCxnSpPr>
          <p:cNvPr id="5953" name="Google Shape;5953;p333"/>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54" name="Google Shape;5954;p333"/>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55" name="Google Shape;5955;p33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56" name="Google Shape;5956;p33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57" name="Google Shape;5957;p333"/>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accuracy of profitability calculations will enable  business users to make  more informed decisions.</a:t>
            </a:r>
            <a:endParaRPr sz="900">
              <a:solidFill>
                <a:schemeClr val="dk1"/>
              </a:solidFill>
              <a:latin typeface="Century Gothic"/>
              <a:ea typeface="Century Gothic"/>
              <a:cs typeface="Century Gothic"/>
              <a:sym typeface="Century Gothic"/>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provide downstream solutions or applications (e.g. pricing, customer segmentation, operations) with more detailed and accurate profitability information.</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 and cost savings through greater automation of profitability calculation process.</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“What if”  scenario analysis based on differing assumptions to support decision making</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2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958" name="Google Shape;5958;p33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model which calculates  granular results based on events, activities and behavioural drivers.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view and analyse results on a Multi-dimensional basis e.g. customer, product, organisation, business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calculation rules are easy to create, manage and maintain</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Ability to refresh profitability models on a more frequent basis, and with minimal or no manual intervention.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Auditable, traceable  and reconcilable back to the general ledger and P&amp;L statements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59" name="Google Shape;5959;p33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Documentation of profitability rules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profitability model which generates granular result set and which can be used for direct analysis and/or feed other downstream applications.</a:t>
            </a:r>
            <a:endParaRPr sz="800">
              <a:solidFill>
                <a:srgbClr val="3C3C3B"/>
              </a:solidFill>
              <a:latin typeface="Century Gothic"/>
              <a:ea typeface="Century Gothic"/>
              <a:cs typeface="Century Gothic"/>
              <a:sym typeface="Century Gothic"/>
            </a:endParaRPr>
          </a:p>
        </p:txBody>
      </p:sp>
      <p:sp>
        <p:nvSpPr>
          <p:cNvPr id="5960" name="Google Shape;5960;p33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Business-driven workshops to define profitability methodologies and rules</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Rules-based calculation engine to perform profitability calculations and generate granular results</a:t>
            </a:r>
            <a:endParaRPr sz="800">
              <a:solidFill>
                <a:srgbClr val="3C3C3B"/>
              </a:solidFill>
              <a:latin typeface="Century Gothic"/>
              <a:ea typeface="Century Gothic"/>
              <a:cs typeface="Century Gothic"/>
              <a:sym typeface="Century Gothic"/>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Leverage results to support wide range of analysis and optimization.</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Scenario modelling capabilities</a:t>
            </a:r>
            <a:endParaRPr sz="800">
              <a:solidFill>
                <a:srgbClr val="3C3C3B"/>
              </a:solidFill>
              <a:latin typeface="Century Gothic"/>
              <a:ea typeface="Century Gothic"/>
              <a:cs typeface="Century Gothic"/>
              <a:sym typeface="Century Gothic"/>
            </a:endParaRPr>
          </a:p>
        </p:txBody>
      </p:sp>
      <p:sp>
        <p:nvSpPr>
          <p:cNvPr id="5961" name="Google Shape;5961;p33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align business stakeholders over calculation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Performance and scalability for high volume calculations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62" name="Google Shape;5962;p33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Product; Accounts, Services, other agreements;;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Transactions and interactions.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Master and reference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Interest and exchange rates</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963" name="Google Shape;5963;p333"/>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Utilization of financial and non-financial data to gain a deeper understanding of the key drivers of profitability in an organization</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profitability models and allocations are at an aggregated level. </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profitability models are difficult to understand, maintain, inflexible to change and lack ability to scale</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organisations have separate inconsistent models for various dimension of profitability (e.g. customer, product etc.)</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964" name="Google Shape;5964;p333"/>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David Rosal</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5965" name="Google Shape;5965;p333"/>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66" name="Google Shape;5966;p333"/>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Profitability Analytics</a:t>
            </a:r>
            <a:endParaRPr sz="2400"/>
          </a:p>
        </p:txBody>
      </p:sp>
      <p:sp>
        <p:nvSpPr>
          <p:cNvPr id="5967" name="Google Shape;5967;p333">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72" name="Shape 5972"/>
        <p:cNvGrpSpPr/>
        <p:nvPr/>
      </p:nvGrpSpPr>
      <p:grpSpPr>
        <a:xfrm>
          <a:off x="0" y="0"/>
          <a:ext cx="0" cy="0"/>
          <a:chOff x="0" y="0"/>
          <a:chExt cx="0" cy="0"/>
        </a:xfrm>
      </p:grpSpPr>
      <p:cxnSp>
        <p:nvCxnSpPr>
          <p:cNvPr id="5973" name="Google Shape;5973;p33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74" name="Google Shape;5974;p33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75" name="Google Shape;5975;p33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76" name="Google Shape;5976;p33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77" name="Google Shape;5977;p33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profitability of Loan portfolio vs. standard risk-based pricing.</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respond quickly to changing market conditions and competition.</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ability to monitor loan portfolio performance, track against expected profitability, and perform scenario analysis to understand the implication of potential pricing decisions.</a:t>
            </a:r>
            <a:endParaRPr/>
          </a:p>
        </p:txBody>
      </p:sp>
      <p:sp>
        <p:nvSpPr>
          <p:cNvPr id="5978" name="Google Shape;5978;p33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In-database calculation engine solution which generates matrix of projected NPV outcomes for all possible combinations of input variables and model parameters.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Graphical User Interface to maintain model parameters and assumptions and execute scenarios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operational loan applications systems &amp; processes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79" name="Google Shape;5979;p33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Documentation of model parameters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Loan Price Optimisation model which delivers matrix of projected NPV for all combinations of input parameters., and enables loan applications to select optimal price based on application and customer characteristics.</a:t>
            </a:r>
            <a:endParaRPr/>
          </a:p>
        </p:txBody>
      </p:sp>
      <p:sp>
        <p:nvSpPr>
          <p:cNvPr id="5980" name="Google Shape;5980;p33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Combine Propensity, Price Elasticity and Credit Score models with Profitability results to generate projected NPV at all Loan Offer price points / amount / term.</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Resulting data can be used to select optimal price point for individual customer loan offers at point of inquiry/application based on amount, term and known customer characteristics.</a:t>
            </a:r>
            <a:endParaRPr sz="800">
              <a:solidFill>
                <a:srgbClr val="3C3C3B"/>
              </a:solidFill>
              <a:latin typeface="Century Gothic"/>
              <a:ea typeface="Century Gothic"/>
              <a:cs typeface="Century Gothic"/>
              <a:sym typeface="Century Gothic"/>
            </a:endParaRPr>
          </a:p>
        </p:txBody>
      </p:sp>
      <p:sp>
        <p:nvSpPr>
          <p:cNvPr id="5981" name="Google Shape;5981;p33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Availability of required propensity and elasticity models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Performance and scalability for high volume calculations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82" name="Google Shape;5982;p33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Profitability results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Scores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Propensity Model(s) – e.g. to buy related insurance products, to repay/close early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Price Elasticity Model(s)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Forecast funding rates, cost rates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NPV Model assumptions/parameters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983" name="Google Shape;5983;p334"/>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Personal Loans are a highly commoditised product and it is difficult to maintain margin in competitive markets.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Lowering pricing across the board in order to be competitive reduces margins even where customers would still take the loan if offered a higher rate.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Banks want to be able to offer loans to customers at the optimal price which maximises margin and overall  portfolio profitability.</a:t>
            </a:r>
            <a:endParaRPr sz="900">
              <a:solidFill>
                <a:schemeClr val="dk1"/>
              </a:solidFill>
              <a:latin typeface="Century Gothic"/>
              <a:ea typeface="Century Gothic"/>
              <a:cs typeface="Century Gothic"/>
              <a:sym typeface="Century Gothic"/>
            </a:endParaRPr>
          </a:p>
        </p:txBody>
      </p:sp>
      <p:sp>
        <p:nvSpPr>
          <p:cNvPr id="5984" name="Google Shape;5984;p334"/>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Major UK Retail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James Hunt</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5985" name="Google Shape;5985;p334"/>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86" name="Google Shape;5986;p33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Individual Loan Price Optimisation</a:t>
            </a:r>
            <a:endParaRPr sz="2400"/>
          </a:p>
        </p:txBody>
      </p:sp>
      <p:sp>
        <p:nvSpPr>
          <p:cNvPr id="5987" name="Google Shape;5987;p334">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92" name="Shape 5992"/>
        <p:cNvGrpSpPr/>
        <p:nvPr/>
      </p:nvGrpSpPr>
      <p:grpSpPr>
        <a:xfrm>
          <a:off x="0" y="0"/>
          <a:ext cx="0" cy="0"/>
          <a:chOff x="0" y="0"/>
          <a:chExt cx="0" cy="0"/>
        </a:xfrm>
      </p:grpSpPr>
      <p:cxnSp>
        <p:nvCxnSpPr>
          <p:cNvPr id="5993" name="Google Shape;5993;p335"/>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94" name="Google Shape;5994;p335"/>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95" name="Google Shape;5995;p33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96" name="Google Shape;5996;p33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2000">
              <a:solidFill>
                <a:srgbClr val="FFFFFF"/>
              </a:solidFill>
              <a:latin typeface="Century Gothic"/>
              <a:ea typeface="Century Gothic"/>
              <a:cs typeface="Century Gothic"/>
              <a:sym typeface="Century Gothic"/>
            </a:endParaRPr>
          </a:p>
        </p:txBody>
      </p:sp>
      <p:sp>
        <p:nvSpPr>
          <p:cNvPr id="5997" name="Google Shape;5997;p335"/>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Business Benefit </a:t>
            </a:r>
            <a:endParaRPr/>
          </a:p>
          <a:p>
            <a:pPr indent="-180975" lvl="0" marL="180975"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rapid and effective performance measurement, planning and control</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generation of EPM reporting, e.g. Balance Scorecard</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adaptable to changes in corporate metrics</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&amp; strengthened data governance</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Lower costs through use of shared infrastructure, data and tools</a:t>
            </a:r>
            <a:endParaRPr sz="900">
              <a:solidFill>
                <a:srgbClr val="3C3C3B"/>
              </a:solidFill>
              <a:latin typeface="Century Gothic"/>
              <a:ea typeface="Century Gothic"/>
              <a:cs typeface="Century Gothic"/>
              <a:sym typeface="Century Gothic"/>
            </a:endParaRPr>
          </a:p>
          <a:p>
            <a:pPr indent="-123825" lvl="1" marL="180975" marR="0" rtl="0" algn="l">
              <a:spcBef>
                <a:spcPts val="30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23825" lvl="0" marL="180975" marR="0" rtl="0" algn="l">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998" name="Google Shape;5998;p335"/>
          <p:cNvSpPr/>
          <p:nvPr/>
        </p:nvSpPr>
        <p:spPr>
          <a:xfrm>
            <a:off x="6148806" y="2334154"/>
            <a:ext cx="2714400" cy="19139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Efficient and rapid recalculation of the metrics in a timely manner</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Assurance of data quality and accuracy</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Visibility in to the components of the reported metrics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Reuse of the integrated data for reporting and analysis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understand the role, importance, root cause factors and significance of metrics</a:t>
            </a:r>
            <a:endParaRPr/>
          </a:p>
        </p:txBody>
      </p:sp>
      <p:sp>
        <p:nvSpPr>
          <p:cNvPr id="5999" name="Google Shape;5999;p335"/>
          <p:cNvSpPr/>
          <p:nvPr/>
        </p:nvSpPr>
        <p:spPr>
          <a:xfrm>
            <a:off x="3273552" y="3557016"/>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Success Criteria</a:t>
            </a:r>
            <a:endParaRPr b="1" sz="1050">
              <a:solidFill>
                <a:srgbClr val="0079DB"/>
              </a:solidFill>
              <a:latin typeface="Century Gothic"/>
              <a:ea typeface="Century Gothic"/>
              <a:cs typeface="Century Gothic"/>
              <a:sym typeface="Century Gothic"/>
            </a:endParaRPr>
          </a:p>
          <a:p>
            <a:pPr indent="-111125" lvl="0" marL="111125"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Users gained access to necessary data</a:t>
            </a:r>
            <a:endParaRPr/>
          </a:p>
          <a:p>
            <a:pPr indent="-111125" lvl="0" marL="11112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 required data is available to calculate the KPIs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lineage is established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End User Acceptance of results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SLAs were met</a:t>
            </a:r>
            <a:endParaRPr/>
          </a:p>
        </p:txBody>
      </p:sp>
      <p:sp>
        <p:nvSpPr>
          <p:cNvPr id="6000" name="Google Shape;6000;p33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Methodology / Analytic Technique</a:t>
            </a:r>
            <a:endParaRPr/>
          </a:p>
          <a:p>
            <a:pPr indent="-111125" lvl="0" marL="11112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granular data. </a:t>
            </a:r>
            <a:endParaRPr/>
          </a:p>
          <a:p>
            <a:pPr indent="-111125" lvl="0" marL="11112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11125" lvl="0" marL="11112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In-database rule / calculation engine for KPI calculation</a:t>
            </a:r>
            <a:endParaRPr/>
          </a:p>
          <a:p>
            <a:pPr indent="-111125" lvl="0" marL="11112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 User Access Layer and Reports/Dashboards</a:t>
            </a:r>
            <a:endParaRPr sz="900">
              <a:solidFill>
                <a:srgbClr val="3C3C3B"/>
              </a:solidFill>
              <a:latin typeface="Century Gothic"/>
              <a:ea typeface="Century Gothic"/>
              <a:cs typeface="Century Gothic"/>
              <a:sym typeface="Century Gothic"/>
            </a:endParaRPr>
          </a:p>
          <a:p>
            <a:pPr indent="0" lvl="0" marL="0" marR="0" rtl="0" algn="l">
              <a:lnSpc>
                <a:spcPct val="90000"/>
              </a:lnSpc>
              <a:spcBef>
                <a:spcPts val="450"/>
              </a:spcBef>
              <a:spcAft>
                <a:spcPts val="0"/>
              </a:spcAft>
              <a:buNone/>
            </a:pPr>
            <a:r>
              <a:t/>
            </a:r>
            <a:endParaRPr sz="900">
              <a:solidFill>
                <a:srgbClr val="3C3C3B"/>
              </a:solidFill>
              <a:latin typeface="Century Gothic"/>
              <a:ea typeface="Century Gothic"/>
              <a:cs typeface="Century Gothic"/>
              <a:sym typeface="Century Gothic"/>
            </a:endParaRPr>
          </a:p>
        </p:txBody>
      </p:sp>
      <p:sp>
        <p:nvSpPr>
          <p:cNvPr id="6001" name="Google Shape;6001;p335"/>
          <p:cNvSpPr/>
          <p:nvPr/>
        </p:nvSpPr>
        <p:spPr>
          <a:xfrm>
            <a:off x="420624" y="3557016"/>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Challenges</a:t>
            </a:r>
            <a:endParaRPr/>
          </a:p>
          <a:p>
            <a:pPr indent="-169863" lvl="0" marL="1698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&amp; latency</a:t>
            </a:r>
            <a:endParaRPr sz="900">
              <a:solidFill>
                <a:srgbClr val="3C3C3B"/>
              </a:solidFill>
              <a:latin typeface="Century Gothic"/>
              <a:ea typeface="Century Gothic"/>
              <a:cs typeface="Century Gothic"/>
              <a:sym typeface="Century Gothic"/>
            </a:endParaRPr>
          </a:p>
          <a:p>
            <a:pPr indent="-169863" lvl="0" marL="169863"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&amp; quality</a:t>
            </a:r>
            <a:endParaRPr sz="800">
              <a:solidFill>
                <a:srgbClr val="3C3C3B"/>
              </a:solidFill>
              <a:latin typeface="Century Gothic"/>
              <a:ea typeface="Century Gothic"/>
              <a:cs typeface="Century Gothic"/>
              <a:sym typeface="Century Gothic"/>
            </a:endParaRPr>
          </a:p>
          <a:p>
            <a:pPr indent="-171450" lvl="0" marL="17145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Linking external &amp; unstructured data sources</a:t>
            </a:r>
            <a:endParaRPr/>
          </a:p>
          <a:p>
            <a:pPr indent="-171450" lvl="0" marL="17145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Resolving disparate data structures</a:t>
            </a:r>
            <a:endParaRPr/>
          </a:p>
          <a:p>
            <a:pPr indent="-171450" lvl="0" marL="17145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Resolving data definitions across business line</a:t>
            </a:r>
            <a:endParaRPr sz="900">
              <a:solidFill>
                <a:srgbClr val="3C3C3B"/>
              </a:solidFill>
              <a:latin typeface="Century Gothic"/>
              <a:ea typeface="Century Gothic"/>
              <a:cs typeface="Century Gothic"/>
              <a:sym typeface="Century Gothic"/>
            </a:endParaRPr>
          </a:p>
        </p:txBody>
      </p:sp>
      <p:sp>
        <p:nvSpPr>
          <p:cNvPr id="6002" name="Google Shape;6002;p335"/>
          <p:cNvSpPr/>
          <p:nvPr/>
        </p:nvSpPr>
        <p:spPr>
          <a:xfrm>
            <a:off x="423863" y="2334154"/>
            <a:ext cx="2847982" cy="1278756"/>
          </a:xfrm>
          <a:prstGeom prst="rect">
            <a:avLst/>
          </a:prstGeom>
          <a:noFill/>
          <a:ln>
            <a:noFill/>
          </a:ln>
        </p:spPr>
        <p:txBody>
          <a:bodyPr anchorCtr="0" anchor="t" bIns="46800" lIns="46800" spcFirstLastPara="1" rIns="46800" wrap="square" tIns="46800">
            <a:noAutofit/>
          </a:bodyPr>
          <a:lstStyle/>
          <a:p>
            <a:pPr indent="-180975" lvl="0" marL="180975" marR="0" rtl="0" algn="l">
              <a:spcBef>
                <a:spcPts val="0"/>
              </a:spcBef>
              <a:spcAft>
                <a:spcPts val="0"/>
              </a:spcAft>
              <a:buNone/>
            </a:pPr>
            <a:r>
              <a:rPr b="1" lang="en-GB" sz="1050">
                <a:solidFill>
                  <a:srgbClr val="0079DB"/>
                </a:solidFill>
                <a:latin typeface="Century Gothic"/>
                <a:ea typeface="Century Gothic"/>
                <a:cs typeface="Century Gothic"/>
                <a:sym typeface="Century Gothic"/>
              </a:rPr>
              <a:t>Source Data</a:t>
            </a:r>
            <a:endParaRPr/>
          </a:p>
          <a:p>
            <a:pPr indent="-171450" lvl="1" marL="171450" marR="0" rtl="0" algn="l">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Broad range of customer, account / agreement, transaction / interaction data</a:t>
            </a:r>
            <a:endParaRPr/>
          </a:p>
          <a:p>
            <a:pPr indent="-171450" lvl="1" marL="17145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Other internal data e.g. HR, Operations, GL / ERP</a:t>
            </a:r>
            <a:endParaRPr/>
          </a:p>
          <a:p>
            <a:pPr indent="-171450" lvl="1" marL="17145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External data e.g. rates, competitor pricing</a:t>
            </a:r>
            <a:endParaRPr b="0" i="0" sz="900" u="none" cap="none" strike="noStrike">
              <a:solidFill>
                <a:srgbClr val="3C3C3B"/>
              </a:solidFill>
              <a:latin typeface="Century Gothic"/>
              <a:ea typeface="Century Gothic"/>
              <a:cs typeface="Century Gothic"/>
              <a:sym typeface="Century Gothic"/>
            </a:endParaRPr>
          </a:p>
          <a:p>
            <a:pPr indent="-171450" lvl="1" marL="17145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Reference data, e.g. product, hierarchies etc.</a:t>
            </a:r>
            <a:endParaRPr b="0" i="0" sz="900" u="none" cap="none" strike="noStrike">
              <a:solidFill>
                <a:srgbClr val="3C3C3B"/>
              </a:solidFill>
              <a:latin typeface="Century Gothic"/>
              <a:ea typeface="Century Gothic"/>
              <a:cs typeface="Century Gothic"/>
              <a:sym typeface="Century Gothic"/>
            </a:endParaRPr>
          </a:p>
        </p:txBody>
      </p:sp>
      <p:sp>
        <p:nvSpPr>
          <p:cNvPr id="6003" name="Google Shape;6003;p335"/>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71450" lvl="0" marL="17145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Performance Management information and KPIs is often generated from disparate, fragmented sources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Frequency, Timeliness, Consistency and Quality of information can be constrained.</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Organisations want to rely on timely, high-quality information to  measure and manage business performance</a:t>
            </a:r>
            <a:endParaRPr sz="900">
              <a:solidFill>
                <a:srgbClr val="3C3C3B"/>
              </a:solidFill>
              <a:latin typeface="Century Gothic"/>
              <a:ea typeface="Century Gothic"/>
              <a:cs typeface="Century Gothic"/>
              <a:sym typeface="Century Gothic"/>
            </a:endParaRPr>
          </a:p>
        </p:txBody>
      </p:sp>
      <p:sp>
        <p:nvSpPr>
          <p:cNvPr id="6004" name="Google Shape;6004;p335"/>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James Hunt</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6005" name="Google Shape;6005;p335"/>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6006" name="Google Shape;6006;p335"/>
          <p:cNvSpPr txBox="1"/>
          <p:nvPr>
            <p:ph type="title"/>
          </p:nvPr>
        </p:nvSpPr>
        <p:spPr>
          <a:xfrm>
            <a:off x="423872" y="164592"/>
            <a:ext cx="6121237" cy="376236"/>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Performance Management &amp; KPI Factory</a:t>
            </a:r>
            <a:endParaRPr sz="2400"/>
          </a:p>
        </p:txBody>
      </p:sp>
      <p:sp>
        <p:nvSpPr>
          <p:cNvPr id="6007" name="Google Shape;6007;p335">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12" name="Shape 6012"/>
        <p:cNvGrpSpPr/>
        <p:nvPr/>
      </p:nvGrpSpPr>
      <p:grpSpPr>
        <a:xfrm>
          <a:off x="0" y="0"/>
          <a:ext cx="0" cy="0"/>
          <a:chOff x="0" y="0"/>
          <a:chExt cx="0" cy="0"/>
        </a:xfrm>
      </p:grpSpPr>
      <p:cxnSp>
        <p:nvCxnSpPr>
          <p:cNvPr id="6013" name="Google Shape;6013;p336"/>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14" name="Google Shape;6014;p336"/>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15" name="Google Shape;6015;p33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016" name="Google Shape;6016;p33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17" name="Google Shape;6017;p336"/>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variances due to improved data quality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forecast frequency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cycle time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variance analysis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Access to detailed forecast vs plan vs actual data</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6018" name="Google Shape;6018;p33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BI / OLAP solution to drive automated monitoring of performance against budgets &amp; forecasts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time  for data collection, integration &amp; validation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prepare forecasts on more frequent and timely basis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use more granular / sophisticated drivers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19" name="Google Shape;6019;p33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enhanced integration between data repository and BPM toolset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load on BPM tool / Improved performance</a:t>
            </a:r>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20" name="Google Shape;6020;p33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of current state &amp;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Design &amp; implement optimised  integration with BPM tool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21" name="Google Shape;6021;p33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quality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Organisational resistance to change in existing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3</a:t>
            </a:r>
            <a:r>
              <a:rPr baseline="30000" lang="en-GB" sz="800">
                <a:solidFill>
                  <a:srgbClr val="3C3C3B"/>
                </a:solidFill>
                <a:latin typeface="Century Gothic"/>
                <a:ea typeface="Century Gothic"/>
                <a:cs typeface="Century Gothic"/>
                <a:sym typeface="Century Gothic"/>
              </a:rPr>
              <a:t>rd</a:t>
            </a:r>
            <a:r>
              <a:rPr lang="en-GB" sz="800">
                <a:solidFill>
                  <a:srgbClr val="3C3C3B"/>
                </a:solidFill>
                <a:latin typeface="Century Gothic"/>
                <a:ea typeface="Century Gothic"/>
                <a:cs typeface="Century Gothic"/>
                <a:sym typeface="Century Gothic"/>
              </a:rPr>
              <a:t>-party BPM tools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22" name="Google Shape;6022;p33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P&amp;L data from General Ledger</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Forecast, plans &amp; budgets  for  prior, current &amp; future periods,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 driver based data, e.g.</a:t>
            </a:r>
            <a:endParaRPr/>
          </a:p>
          <a:p>
            <a:pPr indent="-171450" lvl="0" marL="171450" marR="0" rtl="0" algn="l">
              <a:lnSpc>
                <a:spcPct val="90000"/>
              </a:lnSpc>
              <a:spcBef>
                <a:spcPts val="300"/>
              </a:spcBef>
              <a:spcAft>
                <a:spcPts val="0"/>
              </a:spcAft>
              <a:buClr>
                <a:schemeClr val="dk1"/>
              </a:buClr>
              <a:buSzPts val="800"/>
              <a:buFont typeface="Century Gothic"/>
              <a:buChar char="−"/>
            </a:pPr>
            <a:r>
              <a:rPr lang="en-GB" sz="800">
                <a:solidFill>
                  <a:schemeClr val="dk1"/>
                </a:solidFill>
                <a:latin typeface="Century Gothic"/>
                <a:ea typeface="Century Gothic"/>
                <a:cs typeface="Century Gothic"/>
                <a:sym typeface="Century Gothic"/>
              </a:rPr>
              <a:t>Customer, account/agreement, balances, limits, transaction/ call center data.</a:t>
            </a:r>
            <a:endParaRPr/>
          </a:p>
        </p:txBody>
      </p:sp>
      <p:sp>
        <p:nvSpPr>
          <p:cNvPr id="6023" name="Google Shape;6023;p336"/>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the speed and efficiency of the Budgeting, Planning &amp; Forecasting processes through the integration and automation.</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ERP-based budgeting, planning is often inflexible, does not  drill down to sufficient detail, and still relies on disparate input data.</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A lack of consistency and data quality can result in inaccurate budgets and poor tracking of forecasts.</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Excessive manual process which are time-consuming and subject to errors</a:t>
            </a:r>
            <a:endParaRPr/>
          </a:p>
        </p:txBody>
      </p:sp>
      <p:sp>
        <p:nvSpPr>
          <p:cNvPr id="6024" name="Google Shape;6024;p336"/>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Wayne Thompson</a:t>
            </a:r>
            <a:endParaRPr sz="900">
              <a:solidFill>
                <a:schemeClr val="accent6"/>
              </a:solidFill>
              <a:latin typeface="Century Gothic"/>
              <a:ea typeface="Century Gothic"/>
              <a:cs typeface="Century Gothic"/>
              <a:sym typeface="Century Gothic"/>
            </a:endParaRPr>
          </a:p>
        </p:txBody>
      </p:sp>
      <p:sp>
        <p:nvSpPr>
          <p:cNvPr id="6025" name="Google Shape;6025;p336"/>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026" name="Google Shape;6026;p336"/>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Budget &amp; Forecasting Process Improvement</a:t>
            </a:r>
            <a:endParaRPr sz="2000"/>
          </a:p>
        </p:txBody>
      </p:sp>
      <p:sp>
        <p:nvSpPr>
          <p:cNvPr id="6027" name="Google Shape;6027;p336">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32" name="Shape 6032"/>
        <p:cNvGrpSpPr/>
        <p:nvPr/>
      </p:nvGrpSpPr>
      <p:grpSpPr>
        <a:xfrm>
          <a:off x="0" y="0"/>
          <a:ext cx="0" cy="0"/>
          <a:chOff x="0" y="0"/>
          <a:chExt cx="0" cy="0"/>
        </a:xfrm>
      </p:grpSpPr>
      <p:sp>
        <p:nvSpPr>
          <p:cNvPr id="6033" name="Google Shape;6033;p337"/>
          <p:cNvSpPr/>
          <p:nvPr/>
        </p:nvSpPr>
        <p:spPr>
          <a:xfrm>
            <a:off x="420624" y="2331720"/>
            <a:ext cx="2852928" cy="1091964"/>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9538" lvl="0" marL="109538"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Accounts Receivable</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payment terms &amp; payment history</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Accounts Payable</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Forecasted Sales</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Outstanding Purchase Orders</a:t>
            </a:r>
            <a:endParaRPr/>
          </a:p>
        </p:txBody>
      </p:sp>
      <p:sp>
        <p:nvSpPr>
          <p:cNvPr id="6034" name="Google Shape;6034;p337"/>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Statistical/Linear Regression/N-Path to predict customer cash payment expectations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Comparative analysis of Orders, Inventory, Invoices, Terms, Discounts &amp; Payments  &amp; capital outlays to predict anticipated cash flows</a:t>
            </a:r>
            <a:endParaRPr sz="800">
              <a:solidFill>
                <a:srgbClr val="3C3C3B"/>
              </a:solidFill>
              <a:latin typeface="Century Gothic"/>
              <a:ea typeface="Century Gothic"/>
              <a:cs typeface="Century Gothic"/>
              <a:sym typeface="Century Gothic"/>
            </a:endParaRPr>
          </a:p>
        </p:txBody>
      </p:sp>
      <p:sp>
        <p:nvSpPr>
          <p:cNvPr id="6035" name="Google Shape;6035;p337"/>
          <p:cNvSpPr/>
          <p:nvPr/>
        </p:nvSpPr>
        <p:spPr>
          <a:xfrm>
            <a:off x="3273552" y="3557016"/>
            <a:ext cx="2715336" cy="1440286"/>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Establishment of documented formal cash flow rules</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Identification of removed of manual steps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Automation of cash flow forecasts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Delivery of revised automated cash flow report(s)</a:t>
            </a:r>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36" name="Google Shape;6036;p337"/>
          <p:cNvSpPr/>
          <p:nvPr/>
        </p:nvSpPr>
        <p:spPr>
          <a:xfrm>
            <a:off x="420624"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&amp;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integration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volumes &amp; scale</a:t>
            </a:r>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37" name="Google Shape;6037;p337"/>
          <p:cNvSpPr/>
          <p:nvPr/>
        </p:nvSpPr>
        <p:spPr>
          <a:xfrm>
            <a:off x="4818888" y="804673"/>
            <a:ext cx="2603324"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of manual processes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Accelerated cash flow reporting</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a:t>
            </a:r>
            <a:endParaRPr/>
          </a:p>
          <a:p>
            <a:pPr indent="-169862" lvl="1" marL="33972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financing  funding costs</a:t>
            </a:r>
            <a:endParaRPr/>
          </a:p>
          <a:p>
            <a:pPr indent="-169862" lvl="1" marL="33972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short term current ratios</a:t>
            </a:r>
            <a:endParaRPr/>
          </a:p>
          <a:p>
            <a:pPr indent="-169862" lvl="1" marL="33972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Use of capital</a:t>
            </a:r>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038" name="Google Shape;6038;p337"/>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39" name="Google Shape;6039;p337"/>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40" name="Google Shape;6040;p337"/>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041" name="Google Shape;6041;p337"/>
          <p:cNvSpPr/>
          <p:nvPr/>
        </p:nvSpPr>
        <p:spPr>
          <a:xfrm>
            <a:off x="6144768" y="2331722"/>
            <a:ext cx="2892906" cy="1602327"/>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Enhanced ALM and Liquidity Management capabilities.</a:t>
            </a:r>
            <a:endParaRPr/>
          </a:p>
          <a:p>
            <a:pPr indent="-119063" lvl="0" marL="119063" marR="0" rtl="0" algn="l">
              <a:spcBef>
                <a:spcPts val="300"/>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Accelerated time to cash flow insight</a:t>
            </a:r>
            <a:endParaRPr/>
          </a:p>
          <a:p>
            <a:pPr indent="-119063" lvl="0" marL="119063" marR="0" rtl="0" algn="l">
              <a:spcBef>
                <a:spcPts val="300"/>
              </a:spcBef>
              <a:spcAft>
                <a:spcPts val="0"/>
              </a:spcAft>
              <a:buClr>
                <a:srgbClr val="3C3C3B"/>
              </a:buClr>
              <a:buSzPts val="1000"/>
              <a:buFont typeface="Arial"/>
              <a:buChar char="•"/>
            </a:pPr>
            <a:r>
              <a:rPr lang="en-GB" sz="1000">
                <a:solidFill>
                  <a:schemeClr val="dk1"/>
                </a:solidFill>
                <a:latin typeface="Century Gothic"/>
                <a:ea typeface="Century Gothic"/>
                <a:cs typeface="Century Gothic"/>
                <a:sym typeface="Century Gothic"/>
              </a:rPr>
              <a:t>Freeing up of SME time for higher value business activities</a:t>
            </a:r>
            <a:endParaRPr sz="950">
              <a:solidFill>
                <a:srgbClr val="3C3C3B"/>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Ability to generate cash flows at individual agreement/contract level to support more detailed analysis and reporting.</a:t>
            </a:r>
            <a:endParaRPr sz="1000">
              <a:solidFill>
                <a:srgbClr val="3C3C3B"/>
              </a:solidFill>
              <a:latin typeface="Century Gothic"/>
              <a:ea typeface="Century Gothic"/>
              <a:cs typeface="Century Gothic"/>
              <a:sym typeface="Century Gothic"/>
            </a:endParaRPr>
          </a:p>
        </p:txBody>
      </p:sp>
      <p:sp>
        <p:nvSpPr>
          <p:cNvPr id="6042" name="Google Shape;6042;p337"/>
          <p:cNvSpPr/>
          <p:nvPr/>
        </p:nvSpPr>
        <p:spPr>
          <a:xfrm>
            <a:off x="420636" y="804673"/>
            <a:ext cx="3949701" cy="14042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5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Generate comprehensive, accurate and granular cash flow data to support a range of activities across Treasury</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Eliminate manual processes</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Accelerate cash flow predictive results</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Improve timelines of cash flow forecasts</a:t>
            </a:r>
            <a:endParaRPr/>
          </a:p>
        </p:txBody>
      </p:sp>
      <p:sp>
        <p:nvSpPr>
          <p:cNvPr id="6043" name="Google Shape;6043;p337"/>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Wayne Thompson</a:t>
            </a:r>
            <a:endParaRPr sz="900">
              <a:solidFill>
                <a:schemeClr val="accent6"/>
              </a:solidFill>
              <a:latin typeface="Century Gothic"/>
              <a:ea typeface="Century Gothic"/>
              <a:cs typeface="Century Gothic"/>
              <a:sym typeface="Century Gothic"/>
            </a:endParaRPr>
          </a:p>
        </p:txBody>
      </p:sp>
      <p:sp>
        <p:nvSpPr>
          <p:cNvPr id="6044" name="Google Shape;6044;p33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45" name="Google Shape;6045;p337"/>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a:p>
        </p:txBody>
      </p:sp>
      <p:sp>
        <p:nvSpPr>
          <p:cNvPr id="6046" name="Google Shape;6046;p337"/>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Cash Flow Optimization</a:t>
            </a:r>
            <a:endParaRPr sz="2400"/>
          </a:p>
        </p:txBody>
      </p:sp>
      <p:sp>
        <p:nvSpPr>
          <p:cNvPr id="6047" name="Google Shape;6047;p337">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52" name="Shape 6052"/>
        <p:cNvGrpSpPr/>
        <p:nvPr/>
      </p:nvGrpSpPr>
      <p:grpSpPr>
        <a:xfrm>
          <a:off x="0" y="0"/>
          <a:ext cx="0" cy="0"/>
          <a:chOff x="0" y="0"/>
          <a:chExt cx="0" cy="0"/>
        </a:xfrm>
      </p:grpSpPr>
      <p:sp>
        <p:nvSpPr>
          <p:cNvPr id="6053" name="Google Shape;6053;p338"/>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(granular) portfolio balance and transaction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Comprehensive security master (reference data) defining the asset</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Real-time and historic Market data (Market Prices, F/X Rates, Interest rates, News)</a:t>
            </a:r>
            <a:endParaRPr/>
          </a:p>
        </p:txBody>
      </p:sp>
      <p:sp>
        <p:nvSpPr>
          <p:cNvPr id="6054" name="Google Shape;6054;p338"/>
          <p:cNvSpPr/>
          <p:nvPr/>
        </p:nvSpPr>
        <p:spPr>
          <a:xfrm>
            <a:off x="3273559" y="2331721"/>
            <a:ext cx="2871217" cy="1134494"/>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Linear optimization </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Text analytics on News feeds</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Clustering &amp; graph to detect portfolio sensitivity to news events</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55" name="Google Shape;6055;p338"/>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Funding (Economic) costs are materially reduced compared to “base line”</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Demonstrate repeatable analytical process</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Advanced Analytic model</a:t>
            </a:r>
            <a:endParaRPr sz="900">
              <a:solidFill>
                <a:srgbClr val="3C3C3B"/>
              </a:solidFill>
              <a:latin typeface="Century Gothic"/>
              <a:ea typeface="Century Gothic"/>
              <a:cs typeface="Century Gothic"/>
              <a:sym typeface="Century Gothic"/>
            </a:endParaRPr>
          </a:p>
          <a:p>
            <a:pPr indent="0" lvl="0" marL="0" marR="0" rtl="0" algn="l">
              <a:lnSpc>
                <a:spcPct val="90000"/>
              </a:lnSpc>
              <a:spcBef>
                <a:spcPts val="45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56" name="Google Shape;6056;p338"/>
          <p:cNvSpPr/>
          <p:nvPr/>
        </p:nvSpPr>
        <p:spPr>
          <a:xfrm>
            <a:off x="419100" y="3557015"/>
            <a:ext cx="2616024" cy="1046883"/>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a:t>
            </a:r>
            <a:endParaRPr sz="800">
              <a:solidFill>
                <a:srgbClr val="3C3C3B"/>
              </a:solidFill>
              <a:latin typeface="Century Gothic"/>
              <a:ea typeface="Century Gothic"/>
              <a:cs typeface="Century Gothic"/>
              <a:sym typeface="Century Gothic"/>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57" name="Google Shape;6057;p338"/>
          <p:cNvSpPr/>
          <p:nvPr/>
        </p:nvSpPr>
        <p:spPr>
          <a:xfrm>
            <a:off x="4818893" y="804673"/>
            <a:ext cx="3400079"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Funding cost of liquidity reserve pool minimized</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transparency and traceability for audit and regulatory reporting </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 the impact of portfolio reserves on Return on Equity (RoE)</a:t>
            </a:r>
            <a:endParaRPr/>
          </a:p>
          <a:p>
            <a:pPr indent="-180975" lvl="0" marL="180975"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Optimized set of liquidity reserve assets </a:t>
            </a:r>
            <a:endParaRPr sz="900">
              <a:solidFill>
                <a:srgbClr val="3C3C3B"/>
              </a:solidFill>
              <a:latin typeface="Century Gothic"/>
              <a:ea typeface="Century Gothic"/>
              <a:cs typeface="Century Gothic"/>
              <a:sym typeface="Century Gothic"/>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Maintain minimum liquidity coverage ratios with limits placed on the types of assets held as reserves</a:t>
            </a:r>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200"/>
              </a:spcBef>
              <a:spcAft>
                <a:spcPts val="0"/>
              </a:spcAft>
              <a:buClr>
                <a:schemeClr val="dk1"/>
              </a:buClr>
              <a:buSzPts val="900"/>
              <a:buFont typeface="Arial"/>
              <a:buNone/>
            </a:pPr>
            <a:r>
              <a:t/>
            </a:r>
            <a:endParaRPr b="1" sz="900">
              <a:solidFill>
                <a:srgbClr val="BBBCBE"/>
              </a:solidFill>
              <a:latin typeface="Century Gothic"/>
              <a:ea typeface="Century Gothic"/>
              <a:cs typeface="Century Gothic"/>
              <a:sym typeface="Century Gothic"/>
            </a:endParaRPr>
          </a:p>
        </p:txBody>
      </p:sp>
      <p:cxnSp>
        <p:nvCxnSpPr>
          <p:cNvPr id="6058" name="Google Shape;6058;p338"/>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59" name="Google Shape;6059;p338"/>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60" name="Google Shape;6060;p338"/>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061" name="Google Shape;6061;p338"/>
          <p:cNvSpPr/>
          <p:nvPr/>
        </p:nvSpPr>
        <p:spPr>
          <a:xfrm>
            <a:off x="6144768" y="2331720"/>
            <a:ext cx="2680610" cy="24636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Trade recommendations, e.g. prescriptive analytics for recommended asset purchase/sale transactions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the dependency on SME effort and the “Excel Army”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Adjustments to the reserves portfolio can be made in near real-time</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Reduced process complexity</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Accelerated access to results, reduce data latency</a:t>
            </a:r>
            <a:endParaRPr/>
          </a:p>
          <a:p>
            <a:pPr indent="-61912" lvl="0" marL="119063"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p:txBody>
      </p:sp>
      <p:sp>
        <p:nvSpPr>
          <p:cNvPr id="6062" name="Google Shape;6062;p338"/>
          <p:cNvSpPr/>
          <p:nvPr/>
        </p:nvSpPr>
        <p:spPr>
          <a:xfrm>
            <a:off x="420636" y="804673"/>
            <a:ext cx="3949701" cy="1404248"/>
          </a:xfrm>
          <a:prstGeom prst="rect">
            <a:avLst/>
          </a:prstGeom>
          <a:noFill/>
          <a:ln>
            <a:noFill/>
          </a:ln>
        </p:spPr>
        <p:txBody>
          <a:bodyPr anchorCtr="0" anchor="t" bIns="36575" lIns="36575" spcFirstLastPara="1" rIns="36575" wrap="square" tIns="36575">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Objective / Problem Statement</a:t>
            </a:r>
            <a:endParaRPr b="1" sz="1050">
              <a:solidFill>
                <a:schemeClr val="dk2"/>
              </a:solidFill>
              <a:latin typeface="Century Gothic"/>
              <a:ea typeface="Century Gothic"/>
              <a:cs typeface="Century Gothic"/>
              <a:sym typeface="Century Gothic"/>
            </a:endParaRPr>
          </a:p>
          <a:p>
            <a:pPr indent="-119063" lvl="0" marL="119063"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Maximize the capital deployed into “revenue generating assets”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Optimize the mix of Reserve Securities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Minimize assets (capital) retained to meet regulatory requirements </a:t>
            </a:r>
            <a:endParaRPr/>
          </a:p>
        </p:txBody>
      </p:sp>
      <p:sp>
        <p:nvSpPr>
          <p:cNvPr id="6063" name="Google Shape;6063;p338"/>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Adrian Sharp</a:t>
            </a:r>
            <a:endParaRPr sz="900">
              <a:solidFill>
                <a:schemeClr val="accent6"/>
              </a:solidFill>
              <a:latin typeface="Century Gothic"/>
              <a:ea typeface="Century Gothic"/>
              <a:cs typeface="Century Gothic"/>
              <a:sym typeface="Century Gothic"/>
            </a:endParaRPr>
          </a:p>
        </p:txBody>
      </p:sp>
      <p:sp>
        <p:nvSpPr>
          <p:cNvPr id="6064" name="Google Shape;6064;p338"/>
          <p:cNvSpPr/>
          <p:nvPr/>
        </p:nvSpPr>
        <p:spPr>
          <a:xfrm rot="5400000">
            <a:off x="-86832" y="2518301"/>
            <a:ext cx="299641" cy="130284"/>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65" name="Google Shape;6065;p33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066" name="Google Shape;6066;p338"/>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Reserve Portfolio Optimization</a:t>
            </a:r>
            <a:endParaRPr sz="2400"/>
          </a:p>
        </p:txBody>
      </p:sp>
      <p:sp>
        <p:nvSpPr>
          <p:cNvPr id="6067" name="Google Shape;6067;p33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72" name="Shape 6072"/>
        <p:cNvGrpSpPr/>
        <p:nvPr/>
      </p:nvGrpSpPr>
      <p:grpSpPr>
        <a:xfrm>
          <a:off x="0" y="0"/>
          <a:ext cx="0" cy="0"/>
          <a:chOff x="0" y="0"/>
          <a:chExt cx="0" cy="0"/>
        </a:xfrm>
      </p:grpSpPr>
      <p:sp>
        <p:nvSpPr>
          <p:cNvPr id="6073" name="Google Shape;6073;p339"/>
          <p:cNvSpPr/>
          <p:nvPr/>
        </p:nvSpPr>
        <p:spPr>
          <a:xfrm>
            <a:off x="420624" y="2342359"/>
            <a:ext cx="2713048" cy="1227767"/>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balance sheet data, e.g. asset &amp; liability account balances</a:t>
            </a:r>
            <a:endParaRPr/>
          </a:p>
          <a:p>
            <a:pPr indent="-117475" lvl="0" marL="1174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Balance sheet  “reference data”, e.g. maturity schedules, payment terms, amortization schedules,  etc.</a:t>
            </a:r>
            <a:endParaRPr/>
          </a:p>
          <a:p>
            <a:pPr indent="-117475" lvl="0" marL="1174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Market data of underlying assets, e.g. Inventory, investments, Receivables, etc. </a:t>
            </a:r>
            <a:endParaRPr/>
          </a:p>
        </p:txBody>
      </p:sp>
      <p:sp>
        <p:nvSpPr>
          <p:cNvPr id="6074" name="Google Shape;6074;p339"/>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Deploy/enhance an ALM Model</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Utilize Monte Carlo, Gap and/or Duration Analysis</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75" name="Google Shape;6075;p339"/>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ALM Policies and Methodologies</a:t>
            </a:r>
            <a:endParaRPr/>
          </a:p>
          <a:p>
            <a:pPr indent="-117475" lvl="0" marL="117475"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Demonstrate accelerated delivery results vs base line (current state)</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Visualize user-defined portfolios or position sets segmented by product, business line, region or risk factor</a:t>
            </a:r>
            <a:endParaRPr/>
          </a:p>
          <a:p>
            <a:pPr indent="-60325" lvl="0" marL="1174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76" name="Google Shape;6076;p339"/>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 - 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sz="800">
              <a:solidFill>
                <a:srgbClr val="3C3C3B"/>
              </a:solidFill>
              <a:latin typeface="Century Gothic"/>
              <a:ea typeface="Century Gothic"/>
              <a:cs typeface="Century Gothic"/>
              <a:sym typeface="Century Gothic"/>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77" name="Google Shape;6077;p339"/>
          <p:cNvSpPr/>
          <p:nvPr/>
        </p:nvSpPr>
        <p:spPr>
          <a:xfrm>
            <a:off x="4818888" y="804672"/>
            <a:ext cx="3708424" cy="15270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visibility into components of the balance sheet, e.g. funding and deployed assets</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Avoid liquidity squeezes</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and more informed strategic and tactical  decisions.</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governing and  regulatory compliance reporting</a:t>
            </a:r>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p:txBody>
      </p:sp>
      <p:cxnSp>
        <p:nvCxnSpPr>
          <p:cNvPr id="6078" name="Google Shape;6078;p339"/>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79" name="Google Shape;6079;p339"/>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80" name="Google Shape;6080;p339"/>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081" name="Google Shape;6081;p339"/>
          <p:cNvSpPr/>
          <p:nvPr/>
        </p:nvSpPr>
        <p:spPr>
          <a:xfrm>
            <a:off x="6144768" y="2331721"/>
            <a:ext cx="2914172" cy="26124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 the delivery ALM “mismatch”</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is data collection efforts</a:t>
            </a:r>
            <a:endParaRPr sz="900">
              <a:solidFill>
                <a:srgbClr val="3C3C3B"/>
              </a:solidFill>
              <a:latin typeface="Century Gothic"/>
              <a:ea typeface="Century Gothic"/>
              <a:cs typeface="Century Gothic"/>
              <a:sym typeface="Century Gothic"/>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 clear data lineage and a complete audit trail from the original exposures to the final regulatory reports</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ALM “Dashboard” and detail reports with drill down capability.</a:t>
            </a:r>
            <a:endParaRPr sz="900">
              <a:solidFill>
                <a:srgbClr val="3C3C3B"/>
              </a:solidFill>
              <a:latin typeface="Century Gothic"/>
              <a:ea typeface="Century Gothic"/>
              <a:cs typeface="Century Gothic"/>
              <a:sym typeface="Century Gothic"/>
            </a:endParaRPr>
          </a:p>
          <a:p>
            <a:pPr indent="-68263" lvl="0" marL="119063" marR="0" rtl="0" algn="l">
              <a:spcBef>
                <a:spcPts val="1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82" name="Google Shape;6082;p339"/>
          <p:cNvSpPr/>
          <p:nvPr/>
        </p:nvSpPr>
        <p:spPr>
          <a:xfrm>
            <a:off x="420636" y="804672"/>
            <a:ext cx="3949701" cy="156166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Objective / Problem Statement</a:t>
            </a:r>
            <a:endParaRPr b="1" sz="1050">
              <a:solidFill>
                <a:schemeClr val="dk2"/>
              </a:solidFill>
              <a:latin typeface="Century Gothic"/>
              <a:ea typeface="Century Gothic"/>
              <a:cs typeface="Century Gothic"/>
              <a:sym typeface="Century Gothic"/>
            </a:endParaRPr>
          </a:p>
          <a:p>
            <a:pPr indent="-119063" lvl="0" marL="119063"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Align the “revenue generating assets” with the funding of such assets, e.g. borrowings, deposits, etc.</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Prevent the misalignment maturing liabilities with ability to pay those liabilities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Meet challenging and tight regulations and reporting requirements.</a:t>
            </a:r>
            <a:endParaRPr/>
          </a:p>
        </p:txBody>
      </p:sp>
      <p:sp>
        <p:nvSpPr>
          <p:cNvPr id="6083" name="Google Shape;6083;p339"/>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Shri Ranganathan</a:t>
            </a:r>
            <a:endParaRPr sz="900">
              <a:solidFill>
                <a:schemeClr val="accent6"/>
              </a:solidFill>
              <a:latin typeface="Century Gothic"/>
              <a:ea typeface="Century Gothic"/>
              <a:cs typeface="Century Gothic"/>
              <a:sym typeface="Century Gothic"/>
            </a:endParaRPr>
          </a:p>
        </p:txBody>
      </p:sp>
      <p:sp>
        <p:nvSpPr>
          <p:cNvPr id="6084" name="Google Shape;6084;p33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85" name="Google Shape;6085;p339"/>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086" name="Google Shape;6086;p339"/>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Asset &amp; Liability Management – Treas Ops</a:t>
            </a:r>
            <a:endParaRPr sz="2400"/>
          </a:p>
        </p:txBody>
      </p:sp>
      <p:sp>
        <p:nvSpPr>
          <p:cNvPr id="6087" name="Google Shape;6087;p339">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92" name="Shape 6092"/>
        <p:cNvGrpSpPr/>
        <p:nvPr/>
      </p:nvGrpSpPr>
      <p:grpSpPr>
        <a:xfrm>
          <a:off x="0" y="0"/>
          <a:ext cx="0" cy="0"/>
          <a:chOff x="0" y="0"/>
          <a:chExt cx="0" cy="0"/>
        </a:xfrm>
      </p:grpSpPr>
      <p:cxnSp>
        <p:nvCxnSpPr>
          <p:cNvPr id="6093" name="Google Shape;6093;p340"/>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94" name="Google Shape;6094;p340"/>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95" name="Google Shape;6095;p34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096" name="Google Shape;6096;p34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97" name="Google Shape;6097;p340"/>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Business Benefit</a:t>
            </a:r>
            <a:endParaRPr/>
          </a:p>
          <a:p>
            <a:pPr indent="-171450" lvl="0" marL="171450" marR="0" rtl="0" algn="l">
              <a:spcBef>
                <a:spcPts val="4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Increase return on working capital</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Lower cost due to decreased manual efforts and centralized data storage</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Higher overall return on liquid assets</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Higher accuracy and transparency</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Avoid liquidity squeezes</a:t>
            </a:r>
            <a:endParaRPr/>
          </a:p>
        </p:txBody>
      </p:sp>
      <p:sp>
        <p:nvSpPr>
          <p:cNvPr id="6098" name="Google Shape;6098;p34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access to new sources of data</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Automation of global cash positions and upcoming activities that use or affect cash and other liquid assets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Granular and time-sensitive data  to support liquidity position on an intra-day or real-time basis.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Multi-dimensional views (by legal entity, country, currency, third-party balances, various time horizons)</a:t>
            </a:r>
            <a:endParaRPr/>
          </a:p>
        </p:txBody>
      </p:sp>
      <p:sp>
        <p:nvSpPr>
          <p:cNvPr id="6099" name="Google Shape;6099;p34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3175" lvl="0" marL="3175" marR="0" rtl="0" algn="l">
              <a:spcBef>
                <a:spcPts val="0"/>
              </a:spcBef>
              <a:spcAft>
                <a:spcPts val="0"/>
              </a:spcAft>
              <a:buNone/>
            </a:pPr>
            <a:r>
              <a:rPr b="1" lang="en-GB" sz="1100">
                <a:solidFill>
                  <a:srgbClr val="0079DB"/>
                </a:solidFill>
                <a:latin typeface="Century Gothic"/>
                <a:ea typeface="Century Gothic"/>
                <a:cs typeface="Century Gothic"/>
                <a:sym typeface="Century Gothic"/>
              </a:rPr>
              <a:t>Success Criteria</a:t>
            </a:r>
            <a:endParaRPr sz="1000">
              <a:solidFill>
                <a:srgbClr val="3C3C3B"/>
              </a:solidFill>
              <a:latin typeface="Century Gothic"/>
              <a:ea typeface="Century Gothic"/>
              <a:cs typeface="Century Gothic"/>
              <a:sym typeface="Century Gothic"/>
            </a:endParaRPr>
          </a:p>
          <a:p>
            <a:pPr indent="-111125" lvl="0" marL="111125"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Users gained access to necessary data</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Data lineage is established</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End User Acceptance of results</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SLAs were met</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Client’s model produced validated results from access layer</a:t>
            </a:r>
            <a:endParaRPr/>
          </a:p>
          <a:p>
            <a:pPr indent="-130175" lvl="0" marL="180975" marR="0" rtl="0" algn="l">
              <a:lnSpc>
                <a:spcPct val="90000"/>
              </a:lnSpc>
              <a:spcBef>
                <a:spcPts val="2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00" name="Google Shape;6100;p34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3175" lvl="0" marL="3175" marR="0" rtl="0" algn="l">
              <a:spcBef>
                <a:spcPts val="0"/>
              </a:spcBef>
              <a:spcAft>
                <a:spcPts val="0"/>
              </a:spcAft>
              <a:buNone/>
            </a:pPr>
            <a:r>
              <a:rPr b="1" lang="en-GB" sz="1050">
                <a:solidFill>
                  <a:srgbClr val="0079DB"/>
                </a:solidFill>
                <a:latin typeface="Century Gothic"/>
                <a:ea typeface="Century Gothic"/>
                <a:cs typeface="Century Gothic"/>
                <a:sym typeface="Century Gothic"/>
              </a:rPr>
              <a:t>Methodology / Analytic Techniques</a:t>
            </a:r>
            <a:endParaRPr/>
          </a:p>
          <a:p>
            <a:pPr indent="-112713" lvl="0" marL="112713"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Load, integrate and validate data</a:t>
            </a:r>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Reference data management</a:t>
            </a:r>
            <a:endParaRPr sz="1000">
              <a:solidFill>
                <a:srgbClr val="3C3C3B"/>
              </a:solidFill>
              <a:latin typeface="Century Gothic"/>
              <a:ea typeface="Century Gothic"/>
              <a:cs typeface="Century Gothic"/>
              <a:sym typeface="Century Gothic"/>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Leverage the industry data model</a:t>
            </a:r>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Deliver User Access Layer</a:t>
            </a:r>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Integrate client’s Liquidity Management application to the User Access Layer</a:t>
            </a:r>
            <a:endParaRPr/>
          </a:p>
        </p:txBody>
      </p:sp>
      <p:sp>
        <p:nvSpPr>
          <p:cNvPr id="6101" name="Google Shape;6101;p34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Challenges</a:t>
            </a:r>
            <a:endParaRPr/>
          </a:p>
          <a:p>
            <a:pPr indent="-171450" lvl="0" marL="171450" marR="0" rtl="0" algn="l">
              <a:spcBef>
                <a:spcPts val="4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Data availability &amp; sourcing</a:t>
            </a:r>
            <a:endParaRPr/>
          </a:p>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Data volumes &amp; scale</a:t>
            </a:r>
            <a:endParaRPr/>
          </a:p>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Multiple source systems having different data structures, attribute definitions and key field structures</a:t>
            </a:r>
            <a:endParaRPr/>
          </a:p>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Evolving dimensions and views</a:t>
            </a:r>
            <a:endParaRPr/>
          </a:p>
        </p:txBody>
      </p:sp>
      <p:sp>
        <p:nvSpPr>
          <p:cNvPr id="6102" name="Google Shape;6102;p340"/>
          <p:cNvSpPr/>
          <p:nvPr/>
        </p:nvSpPr>
        <p:spPr>
          <a:xfrm>
            <a:off x="423863" y="2334156"/>
            <a:ext cx="2714400" cy="1278755"/>
          </a:xfrm>
          <a:prstGeom prst="rect">
            <a:avLst/>
          </a:prstGeom>
          <a:noFill/>
          <a:ln>
            <a:noFill/>
          </a:ln>
        </p:spPr>
        <p:txBody>
          <a:bodyPr anchorCtr="0" anchor="t" bIns="46800" lIns="46800" spcFirstLastPara="1" rIns="46800" wrap="square" tIns="46800">
            <a:noAutofit/>
          </a:bodyPr>
          <a:lstStyle/>
          <a:p>
            <a:pPr indent="-180975" lvl="0" marL="180975" marR="0" rtl="0" algn="l">
              <a:spcBef>
                <a:spcPts val="0"/>
              </a:spcBef>
              <a:spcAft>
                <a:spcPts val="0"/>
              </a:spcAft>
              <a:buNone/>
            </a:pPr>
            <a:r>
              <a:rPr b="1" lang="en-GB" sz="1050">
                <a:solidFill>
                  <a:srgbClr val="0079DB"/>
                </a:solidFill>
                <a:latin typeface="Century Gothic"/>
                <a:ea typeface="Century Gothic"/>
                <a:cs typeface="Century Gothic"/>
                <a:sym typeface="Century Gothic"/>
              </a:rPr>
              <a:t>Source Data</a:t>
            </a:r>
            <a:endParaRPr/>
          </a:p>
          <a:p>
            <a:pPr indent="-179388" lvl="0" marL="179388"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Cash and “liquid” asset positions at a granular level </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Cash position measurement views data (by legal entity, country, currency, etc.)</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External market data</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Market trend data, e.g. text data</a:t>
            </a:r>
            <a:endParaRPr/>
          </a:p>
        </p:txBody>
      </p:sp>
      <p:sp>
        <p:nvSpPr>
          <p:cNvPr id="6103" name="Google Shape;6103;p340"/>
          <p:cNvSpPr/>
          <p:nvPr/>
        </p:nvSpPr>
        <p:spPr>
          <a:xfrm>
            <a:off x="423873"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100">
                <a:solidFill>
                  <a:srgbClr val="0079DB"/>
                </a:solidFill>
                <a:latin typeface="Century Gothic"/>
                <a:ea typeface="Century Gothic"/>
                <a:cs typeface="Century Gothic"/>
                <a:sym typeface="Century Gothic"/>
              </a:rPr>
              <a:t>Objective / Problem Statement</a:t>
            </a:r>
            <a:endParaRPr/>
          </a:p>
          <a:p>
            <a:pPr indent="-171450" lvl="0" marL="171450" marR="0" rtl="0" algn="l">
              <a:spcBef>
                <a:spcPts val="4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Reduce the cost of liquidity management </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Improve the effectiveness of liquidity management</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Leverage new sources of data at a granular level </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Analyse data more frequently with less manual efforts throughout the day to improve the management of their wide range of liquid assets.</a:t>
            </a:r>
            <a:endParaRPr/>
          </a:p>
        </p:txBody>
      </p:sp>
      <p:sp>
        <p:nvSpPr>
          <p:cNvPr id="6104" name="Google Shape;6104;p340"/>
          <p:cNvSpPr/>
          <p:nvPr/>
        </p:nvSpPr>
        <p:spPr>
          <a:xfrm>
            <a:off x="6545103" y="290518"/>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Henry Kolisnik</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6105" name="Google Shape;6105;p340"/>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E9432"/>
                </a:solidFill>
                <a:latin typeface="Century Gothic"/>
                <a:ea typeface="Century Gothic"/>
                <a:cs typeface="Century Gothic"/>
                <a:sym typeface="Century Gothic"/>
              </a:rPr>
              <a:t>Use Case Summary</a:t>
            </a:r>
            <a:endParaRPr sz="1000">
              <a:solidFill>
                <a:srgbClr val="EE9432"/>
              </a:solidFill>
              <a:latin typeface="Century Gothic"/>
              <a:ea typeface="Century Gothic"/>
              <a:cs typeface="Century Gothic"/>
              <a:sym typeface="Century Gothic"/>
            </a:endParaRPr>
          </a:p>
        </p:txBody>
      </p:sp>
      <p:sp>
        <p:nvSpPr>
          <p:cNvPr id="6106" name="Google Shape;6106;p340"/>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rgbClr val="EE9432"/>
              </a:buClr>
              <a:buSzPts val="2400"/>
              <a:buFont typeface="Century Gothic"/>
              <a:buNone/>
            </a:pPr>
            <a:r>
              <a:rPr lang="en-GB" sz="2400">
                <a:solidFill>
                  <a:srgbClr val="EE9432"/>
                </a:solidFill>
              </a:rPr>
              <a:t>Liquidity Management</a:t>
            </a:r>
            <a:endParaRPr sz="2400"/>
          </a:p>
        </p:txBody>
      </p:sp>
      <p:sp>
        <p:nvSpPr>
          <p:cNvPr id="6107" name="Google Shape;6107;p340">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12" name="Shape 6112"/>
        <p:cNvGrpSpPr/>
        <p:nvPr/>
      </p:nvGrpSpPr>
      <p:grpSpPr>
        <a:xfrm>
          <a:off x="0" y="0"/>
          <a:ext cx="0" cy="0"/>
          <a:chOff x="0" y="0"/>
          <a:chExt cx="0" cy="0"/>
        </a:xfrm>
      </p:grpSpPr>
      <p:cxnSp>
        <p:nvCxnSpPr>
          <p:cNvPr id="6113" name="Google Shape;6113;p341"/>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14" name="Google Shape;6114;p341"/>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15" name="Google Shape;6115;p34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116" name="Google Shape;6116;p341"/>
          <p:cNvSpPr/>
          <p:nvPr/>
        </p:nvSpPr>
        <p:spPr>
          <a:xfrm rot="5400000">
            <a:off x="-86832" y="2518302"/>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17" name="Google Shape;6117;p341"/>
          <p:cNvSpPr/>
          <p:nvPr/>
        </p:nvSpPr>
        <p:spPr>
          <a:xfrm>
            <a:off x="4820089"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80975" lvl="0" marL="180975"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 the impact of currency movements on the income statement</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Earnings volatility reduced by more effective use of hedging products (e.g. mitigation of adverse currency movements) </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Accurately represent the firm’s risk management activities in financial statements</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Compliance with regulatory and accounting standards</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Easier and lower maintenance costs of modern accounting processes</a:t>
            </a:r>
            <a:endParaRPr/>
          </a:p>
          <a:p>
            <a:pPr indent="-133350" lvl="0" marL="180975" marR="0" rtl="0" algn="l">
              <a:lnSpc>
                <a:spcPct val="90000"/>
              </a:lnSpc>
              <a:spcBef>
                <a:spcPts val="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6118" name="Google Shape;6118;p34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20650" lvl="0" marL="222250"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71450" lvl="0" marL="2222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calculation and delivery of optimized hedges to mitigate forward currency risk</a:t>
            </a:r>
            <a:endParaRPr/>
          </a:p>
          <a:p>
            <a:pPr indent="-171450" lvl="0" marL="2222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Integrated view of detailed forward currency risk</a:t>
            </a:r>
            <a:endParaRPr sz="900">
              <a:solidFill>
                <a:srgbClr val="3C3C3B"/>
              </a:solidFill>
              <a:latin typeface="Century Gothic"/>
              <a:ea typeface="Century Gothic"/>
              <a:cs typeface="Century Gothic"/>
              <a:sym typeface="Century Gothic"/>
            </a:endParaRPr>
          </a:p>
        </p:txBody>
      </p:sp>
      <p:sp>
        <p:nvSpPr>
          <p:cNvPr id="6119" name="Google Shape;6119;p341"/>
          <p:cNvSpPr/>
          <p:nvPr/>
        </p:nvSpPr>
        <p:spPr>
          <a:xfrm>
            <a:off x="3271844" y="3557890"/>
            <a:ext cx="287696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Consolidated environment for hedging analytics</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Acceptance of new methodology and tool by und-users</a:t>
            </a:r>
            <a:endParaRPr/>
          </a:p>
          <a:p>
            <a:pPr indent="-171450" lvl="0" marL="171450" marR="0" rtl="0" algn="l">
              <a:lnSpc>
                <a:spcPct val="90000"/>
              </a:lnSpc>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Acceptance/Understanding of financial derivatives</a:t>
            </a:r>
            <a:endParaRPr/>
          </a:p>
          <a:p>
            <a:pPr indent="-120650" lvl="0" marL="171450" marR="0" rtl="0" algn="l">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20650" lvl="0" marL="171450" marR="0" rtl="0" algn="l">
              <a:spcBef>
                <a:spcPts val="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20650" lvl="0" marL="171450" marR="0" rtl="0" algn="l">
              <a:spcBef>
                <a:spcPts val="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23825" lvl="0" marL="180975" marR="0" rtl="0" algn="l">
              <a:lnSpc>
                <a:spcPct val="90000"/>
              </a:lnSpc>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20" name="Google Shape;6120;p34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sz="800">
              <a:solidFill>
                <a:srgbClr val="3C3C3B"/>
              </a:solidFill>
              <a:latin typeface="Century Gothic"/>
              <a:ea typeface="Century Gothic"/>
              <a:cs typeface="Century Gothic"/>
              <a:sym typeface="Century Gothic"/>
            </a:endParaRPr>
          </a:p>
          <a:p>
            <a:pPr indent="-171450" lvl="0" marL="1714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source data into an analytic data-set</a:t>
            </a:r>
            <a:endParaRPr/>
          </a:p>
          <a:p>
            <a:pPr indent="-171450" lvl="0" marL="171450"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Predictive Value at Risk (VaR) model</a:t>
            </a:r>
            <a:endParaRPr sz="900">
              <a:solidFill>
                <a:srgbClr val="3C3C3B"/>
              </a:solidFill>
              <a:latin typeface="Century Gothic"/>
              <a:ea typeface="Century Gothic"/>
              <a:cs typeface="Century Gothic"/>
              <a:sym typeface="Century Gothic"/>
            </a:endParaRPr>
          </a:p>
          <a:p>
            <a:pPr indent="-171450" lvl="0" marL="171450"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Linear optimization to determine optimized portfolio of derivative hedge products</a:t>
            </a:r>
            <a:endParaRPr/>
          </a:p>
        </p:txBody>
      </p:sp>
      <p:sp>
        <p:nvSpPr>
          <p:cNvPr id="6121" name="Google Shape;6121;p341"/>
          <p:cNvSpPr/>
          <p:nvPr/>
        </p:nvSpPr>
        <p:spPr>
          <a:xfrm>
            <a:off x="423862" y="3557889"/>
            <a:ext cx="2783531" cy="1224591"/>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71450" lvl="0" marL="1714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Level of integration, Degree of granularity, Timeliness, Quality</a:t>
            </a:r>
            <a:endParaRPr/>
          </a:p>
          <a:p>
            <a:pPr indent="-171450" lvl="0" marL="171450"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Knowledge of and confidence in portfolio hedge products (derivatives: swaps, futures, options)</a:t>
            </a:r>
            <a:endParaRPr/>
          </a:p>
        </p:txBody>
      </p:sp>
      <p:sp>
        <p:nvSpPr>
          <p:cNvPr id="6122" name="Google Shape;6122;p34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69863" lvl="1" marL="169863" marR="0" rtl="0" algn="l">
              <a:lnSpc>
                <a:spcPct val="9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Portfolio balance and transaction data (Balances, rates, fees etc.)</a:t>
            </a:r>
            <a:endParaRPr/>
          </a:p>
          <a:p>
            <a:pPr indent="-169863" lvl="1" marL="169863"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Market data – Real-time and historic F/X rates and Interest rates</a:t>
            </a:r>
            <a:endParaRPr/>
          </a:p>
          <a:p>
            <a:pPr indent="-169863" lvl="1" marL="169863"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Global cashflow and asset/liability forecast in local and base currency </a:t>
            </a:r>
            <a:endParaRPr b="0" i="0" sz="900" u="none" cap="none" strike="noStrike">
              <a:solidFill>
                <a:srgbClr val="3C3C3B"/>
              </a:solidFill>
              <a:latin typeface="Century Gothic"/>
              <a:ea typeface="Century Gothic"/>
              <a:cs typeface="Century Gothic"/>
              <a:sym typeface="Century Gothic"/>
            </a:endParaRPr>
          </a:p>
        </p:txBody>
      </p:sp>
      <p:sp>
        <p:nvSpPr>
          <p:cNvPr id="6123" name="Google Shape;6123;p341"/>
          <p:cNvSpPr/>
          <p:nvPr/>
        </p:nvSpPr>
        <p:spPr>
          <a:xfrm>
            <a:off x="423870"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71450" lvl="1" marL="171450" marR="0" rtl="0" algn="l">
              <a:spcBef>
                <a:spcPts val="5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Execute an effective mitigation strategy (hedging) to mitigate adverse movements in foreign exchange rates i.e.  an effective hedging strategy delivering the ability to implement accounting changes and perform Fair Value and Hedge Accounting in a quick, flexible and cost-effective manner.</a:t>
            </a:r>
            <a:endParaRPr/>
          </a:p>
          <a:p>
            <a:pPr indent="-171450" lvl="1" marL="34290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Solutions offered by the Financial Services industry tend to be “one size fits all” and/or expensive.</a:t>
            </a:r>
            <a:endParaRPr/>
          </a:p>
          <a:p>
            <a:pPr indent="-171450" lvl="1" marL="34290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Mis-trust of financial derivative products </a:t>
            </a:r>
            <a:endParaRPr/>
          </a:p>
        </p:txBody>
      </p:sp>
      <p:sp>
        <p:nvSpPr>
          <p:cNvPr id="6124" name="Google Shape;6124;p341"/>
          <p:cNvSpPr/>
          <p:nvPr/>
        </p:nvSpPr>
        <p:spPr>
          <a:xfrm>
            <a:off x="6545103" y="290514"/>
            <a:ext cx="2598899" cy="524226"/>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Adrian Sharp</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6125" name="Google Shape;6125;p341"/>
          <p:cNvSpPr/>
          <p:nvPr/>
        </p:nvSpPr>
        <p:spPr>
          <a:xfrm>
            <a:off x="355606" y="594287"/>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6126" name="Google Shape;6126;p341"/>
          <p:cNvSpPr txBox="1"/>
          <p:nvPr>
            <p:ph type="title"/>
          </p:nvPr>
        </p:nvSpPr>
        <p:spPr>
          <a:xfrm>
            <a:off x="423870"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Currency Hedge Analytics</a:t>
            </a:r>
            <a:endParaRPr sz="2400"/>
          </a:p>
        </p:txBody>
      </p:sp>
      <p:sp>
        <p:nvSpPr>
          <p:cNvPr id="6127" name="Google Shape;6127;p341">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32" name="Shape 6132"/>
        <p:cNvGrpSpPr/>
        <p:nvPr/>
      </p:nvGrpSpPr>
      <p:grpSpPr>
        <a:xfrm>
          <a:off x="0" y="0"/>
          <a:ext cx="0" cy="0"/>
          <a:chOff x="0" y="0"/>
          <a:chExt cx="0" cy="0"/>
        </a:xfrm>
      </p:grpSpPr>
      <p:cxnSp>
        <p:nvCxnSpPr>
          <p:cNvPr id="6133" name="Google Shape;6133;p342"/>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34" name="Google Shape;6134;p342"/>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35" name="Google Shape;6135;p34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136" name="Google Shape;6136;p34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37" name="Google Shape;6137;p342"/>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Accelerated reporting cycles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data preparation time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Re-focus financial analyst time on value-generating activities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operational and reputational risk by meeting regulatory and compliance demands</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6138" name="Google Shape;6138;p34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Integrated data repository to support regulatory and statutory reporting requirements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reporting access layer that supports the different reporting requirements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Direct data lineage between operational transactions, regulatory data and financial data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39" name="Google Shape;6139;p34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Access to granular accounting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Timely, consolidated and validated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demonstrate data lineage from source to resulting report sets</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40" name="Google Shape;6140;p34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the current reporting requirements and processes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data</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an access layer  for BI Reporting tool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Development of an interface into statutory or regulatory reporting solution</a:t>
            </a:r>
            <a:endParaRPr/>
          </a:p>
        </p:txBody>
      </p:sp>
      <p:sp>
        <p:nvSpPr>
          <p:cNvPr id="6141" name="Google Shape;6141;p34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Inconsistent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in multiple, non-integrated and non-validated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42" name="Google Shape;6142;p34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Full spectrum of financial, regulatory and compliance requirements, including:</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Customer  detail and reference data</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GL Account balances</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Transaction-level data across all operational and financial systems</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Accounting Hierarchies and Reference Data</a:t>
            </a:r>
            <a:endParaRPr/>
          </a:p>
        </p:txBody>
      </p:sp>
      <p:sp>
        <p:nvSpPr>
          <p:cNvPr id="6143" name="Google Shape;6143;p342"/>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Companies need to accommodate the different accounting and reporting treatments forced on them by either IFRS, US GAAP, SEC or other local regulatory bodies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These differentiated reports have to be accurate, timely and delivered efficiently</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Requirements are frequently changing so flexibility is required, and cost of delivery is high</a:t>
            </a:r>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144" name="Google Shape;6144;p342"/>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145" name="Google Shape;6145;p342"/>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146" name="Google Shape;6146;p342"/>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External Reporting Support</a:t>
            </a:r>
            <a:endParaRPr sz="2400"/>
          </a:p>
        </p:txBody>
      </p:sp>
      <p:sp>
        <p:nvSpPr>
          <p:cNvPr id="6147" name="Google Shape;6147;p342">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52" name="Shape 6152"/>
        <p:cNvGrpSpPr/>
        <p:nvPr/>
      </p:nvGrpSpPr>
      <p:grpSpPr>
        <a:xfrm>
          <a:off x="0" y="0"/>
          <a:ext cx="0" cy="0"/>
          <a:chOff x="0" y="0"/>
          <a:chExt cx="0" cy="0"/>
        </a:xfrm>
      </p:grpSpPr>
      <p:sp>
        <p:nvSpPr>
          <p:cNvPr id="6153" name="Google Shape;6153;p343"/>
          <p:cNvSpPr/>
          <p:nvPr/>
        </p:nvSpPr>
        <p:spPr>
          <a:xfrm>
            <a:off x="420624" y="2331726"/>
            <a:ext cx="2713048" cy="934891"/>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ERP Transactional data, e.g.  General and Sub ledger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a:t>
            </a:r>
            <a:endParaRPr/>
          </a:p>
        </p:txBody>
      </p:sp>
      <p:sp>
        <p:nvSpPr>
          <p:cNvPr id="6154" name="Google Shape;6154;p343"/>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Identification of Key Performance Indicators (KPIs)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Data harmonization</a:t>
            </a:r>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55" name="Google Shape;6155;p343"/>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of movement of required data</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of reconciliation points</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reports generated by  in a “shorter” reporting window</a:t>
            </a:r>
            <a:endParaRPr/>
          </a:p>
          <a:p>
            <a:pPr indent="0" lvl="0" marL="0" marR="0" rtl="0" algn="l">
              <a:lnSpc>
                <a:spcPct val="90000"/>
              </a:lnSpc>
              <a:spcBef>
                <a:spcPts val="45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56" name="Google Shape;6156;p343"/>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sz="900">
              <a:solidFill>
                <a:srgbClr val="3C3C3B"/>
              </a:solidFill>
              <a:latin typeface="Century Gothic"/>
              <a:ea typeface="Century Gothic"/>
              <a:cs typeface="Century Gothic"/>
              <a:sym typeface="Century Gothic"/>
            </a:endParaRPr>
          </a:p>
        </p:txBody>
      </p:sp>
      <p:sp>
        <p:nvSpPr>
          <p:cNvPr id="6157" name="Google Shape;6157;p343"/>
          <p:cNvSpPr/>
          <p:nvPr/>
        </p:nvSpPr>
        <p:spPr>
          <a:xfrm>
            <a:off x="4818899" y="804673"/>
            <a:ext cx="3389447"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effort and accelerated financial reporting</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confidence in published internal and external reports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&amp; effort time required to generate  financial statements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risk of financial misstatements, e.g. required “restatements”</a:t>
            </a:r>
            <a:endParaRPr/>
          </a:p>
          <a:p>
            <a:pPr indent="-130175" lvl="0" marL="180975" marR="0" rtl="0" algn="l">
              <a:lnSpc>
                <a:spcPct val="90000"/>
              </a:lnSpc>
              <a:spcBef>
                <a:spcPts val="45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158" name="Google Shape;6158;p343"/>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159" name="Google Shape;6159;p343"/>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160" name="Google Shape;6160;p343"/>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161" name="Google Shape;6161;p343"/>
          <p:cNvSpPr/>
          <p:nvPr/>
        </p:nvSpPr>
        <p:spPr>
          <a:xfrm>
            <a:off x="6144780" y="2331721"/>
            <a:ext cx="2754683" cy="2155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Shortened reporting cycle</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reports are auditable, traceable and reconcilable to the source data, i.e. establish of “clear data lineage”</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Better understanding of individual business unit performance due to access to detailed financial</a:t>
            </a:r>
            <a:r>
              <a:rPr lang="en-GB" sz="850">
                <a:solidFill>
                  <a:srgbClr val="3C3C3B"/>
                </a:solidFill>
                <a:latin typeface="Century Gothic"/>
                <a:ea typeface="Century Gothic"/>
                <a:cs typeface="Century Gothic"/>
                <a:sym typeface="Century Gothic"/>
              </a:rPr>
              <a:t>.</a:t>
            </a:r>
            <a:endParaRPr/>
          </a:p>
          <a:p>
            <a:pPr indent="-65087" lvl="0" marL="119063" marR="0" rtl="0" algn="l">
              <a:spcBef>
                <a:spcPts val="100"/>
              </a:spcBef>
              <a:spcAft>
                <a:spcPts val="0"/>
              </a:spcAft>
              <a:buClr>
                <a:srgbClr val="3C3C3B"/>
              </a:buClr>
              <a:buSzPts val="850"/>
              <a:buFont typeface="Arial"/>
              <a:buNone/>
            </a:pPr>
            <a:r>
              <a:t/>
            </a:r>
            <a:endParaRPr sz="850">
              <a:solidFill>
                <a:srgbClr val="3C3C3B"/>
              </a:solidFill>
              <a:latin typeface="Century Gothic"/>
              <a:ea typeface="Century Gothic"/>
              <a:cs typeface="Century Gothic"/>
              <a:sym typeface="Century Gothic"/>
            </a:endParaRPr>
          </a:p>
        </p:txBody>
      </p:sp>
      <p:sp>
        <p:nvSpPr>
          <p:cNvPr id="6162" name="Google Shape;6162;p343"/>
          <p:cNvSpPr/>
          <p:nvPr/>
        </p:nvSpPr>
        <p:spPr>
          <a:xfrm>
            <a:off x="420636" y="804673"/>
            <a:ext cx="3949701" cy="14042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Integrate financial data from multiple source systems to enable accurate, timely and traceable financial reporting resulting from</a:t>
            </a:r>
            <a:endParaRPr/>
          </a:p>
          <a:p>
            <a:pPr indent="-119062" lvl="1" marL="5762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Disparate sources of data creating inefficient reporting processes.</a:t>
            </a:r>
            <a:endParaRPr/>
          </a:p>
          <a:p>
            <a:pPr indent="-119062" lvl="1" marL="5762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Lack of integrated ERP systems leading to inconsistent, inaccurate, and misleading reporting</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163" name="Google Shape;6163;p343"/>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164" name="Google Shape;6164;p34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65" name="Google Shape;6165;p343"/>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166" name="Google Shape;6166;p343"/>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Financial Reporting Efficiency and Effectiveness</a:t>
            </a:r>
            <a:endParaRPr sz="2000"/>
          </a:p>
        </p:txBody>
      </p:sp>
      <p:sp>
        <p:nvSpPr>
          <p:cNvPr id="6167" name="Google Shape;6167;p343">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72" name="Shape 6172"/>
        <p:cNvGrpSpPr/>
        <p:nvPr/>
      </p:nvGrpSpPr>
      <p:grpSpPr>
        <a:xfrm>
          <a:off x="0" y="0"/>
          <a:ext cx="0" cy="0"/>
          <a:chOff x="0" y="0"/>
          <a:chExt cx="0" cy="0"/>
        </a:xfrm>
      </p:grpSpPr>
      <p:cxnSp>
        <p:nvCxnSpPr>
          <p:cNvPr id="6173" name="Google Shape;6173;p34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74" name="Google Shape;6174;p34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75" name="Google Shape;6175;p34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176" name="Google Shape;6176;p34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77" name="Google Shape;6177;p34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reporting cycles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Re-focus financial analyst time on value-generating activities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operational and reputational risk by meeting regulatory and compliance demands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risk of financial misstatements, e.g. required “restatements”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Strengthened internal accounting and related reporting controls</a:t>
            </a:r>
            <a:endParaRPr/>
          </a:p>
          <a:p>
            <a:pPr indent="-108000" lvl="1" marL="1080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Provide clear auditable data transparency</a:t>
            </a:r>
            <a:endParaRPr b="0" i="0" sz="900" u="none" cap="none" strike="noStrike">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78" name="Google Shape;6178;p34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End-to-end  provable transparency and lineage for financial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is manual processes, time and effort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reporting  data is directly traceable and reconcilable to the source data, i.e. establish of “clear data lineage”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79" name="Google Shape;6179;p34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14300" lvl="0" marL="1143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of reconciliation points</a:t>
            </a:r>
            <a:endParaRPr/>
          </a:p>
          <a:p>
            <a:pPr indent="-114300" lvl="0" marL="1143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reports generated by  in a “shorter” reporting window</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Evidence based Data Lineage</a:t>
            </a:r>
            <a:endParaRPr sz="900">
              <a:solidFill>
                <a:srgbClr val="3C3C3B"/>
              </a:solidFill>
              <a:latin typeface="Century Gothic"/>
              <a:ea typeface="Century Gothic"/>
              <a:cs typeface="Century Gothic"/>
              <a:sym typeface="Century Gothic"/>
            </a:endParaRPr>
          </a:p>
        </p:txBody>
      </p:sp>
      <p:sp>
        <p:nvSpPr>
          <p:cNvPr id="6180" name="Google Shape;6180;p344"/>
          <p:cNvSpPr/>
          <p:nvPr/>
        </p:nvSpPr>
        <p:spPr>
          <a:xfrm>
            <a:off x="3271845" y="2334154"/>
            <a:ext cx="2714400" cy="122373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harmonization as necessary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Rules  based accounting engine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Development of an interface into existing statutory or regulatory reporting solution</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81" name="Google Shape;6181;p344"/>
          <p:cNvSpPr/>
          <p:nvPr/>
        </p:nvSpPr>
        <p:spPr>
          <a:xfrm>
            <a:off x="429630"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 </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Inconsistent/conflicting data</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a:p>
        </p:txBody>
      </p:sp>
      <p:sp>
        <p:nvSpPr>
          <p:cNvPr id="6182" name="Google Shape;6182;p344"/>
          <p:cNvSpPr/>
          <p:nvPr/>
        </p:nvSpPr>
        <p:spPr>
          <a:xfrm>
            <a:off x="423862" y="2334154"/>
            <a:ext cx="2783531" cy="1223736"/>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17475" lvl="0" marL="117475"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ERP &amp; Non-ERP balance &amp; transactional data, e.g.  General &amp; Sub ledger data</a:t>
            </a:r>
            <a:endParaRPr/>
          </a:p>
          <a:p>
            <a:pPr indent="-114300" lvl="1" marL="1143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Transaction-level data across all operational systems</a:t>
            </a:r>
            <a:endParaRPr b="0" i="0" sz="900" u="none" cap="none" strike="noStrike">
              <a:solidFill>
                <a:srgbClr val="3C3C3B"/>
              </a:solidFill>
              <a:latin typeface="Century Gothic"/>
              <a:ea typeface="Century Gothic"/>
              <a:cs typeface="Century Gothic"/>
              <a:sym typeface="Century Gothic"/>
            </a:endParaRPr>
          </a:p>
          <a:p>
            <a:pPr indent="-114300" lvl="1" marL="1143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Accounting and Reference Data</a:t>
            </a:r>
            <a:endParaRPr/>
          </a:p>
          <a:p>
            <a:pPr indent="-114300" lvl="1" marL="1143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Performance target data</a:t>
            </a:r>
            <a:endParaRPr/>
          </a:p>
        </p:txBody>
      </p:sp>
      <p:sp>
        <p:nvSpPr>
          <p:cNvPr id="6183" name="Google Shape;6183;p344"/>
          <p:cNvSpPr/>
          <p:nvPr/>
        </p:nvSpPr>
        <p:spPr>
          <a:xfrm>
            <a:off x="423879"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greater assurance to the CEO, CFO and regulatory authorities that the internal accounting controls are functioning as designed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Accommodate different accounting and reporting treatments by either IFRS, US GAAP, SEC or other local regulatory bodies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Produce accurate, timely and efficiently delivered reporting</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Enable a flexible &amp; cost efficient reporting platform due changing reporting requirements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184" name="Google Shape;6184;p344"/>
          <p:cNvSpPr/>
          <p:nvPr/>
        </p:nvSpPr>
        <p:spPr>
          <a:xfrm>
            <a:off x="6545103" y="290521"/>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Kim Autrey</a:t>
            </a:r>
            <a:endParaRPr sz="900">
              <a:solidFill>
                <a:srgbClr val="5F6062"/>
              </a:solidFill>
              <a:latin typeface="Century Gothic"/>
              <a:ea typeface="Century Gothic"/>
              <a:cs typeface="Century Gothic"/>
              <a:sym typeface="Century Gothic"/>
            </a:endParaRPr>
          </a:p>
        </p:txBody>
      </p:sp>
      <p:sp>
        <p:nvSpPr>
          <p:cNvPr id="6185" name="Google Shape;6185;p344"/>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6186" name="Google Shape;6186;p34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Integrated Regulatory &amp; Compliance Reporting</a:t>
            </a:r>
            <a:endParaRPr/>
          </a:p>
        </p:txBody>
      </p:sp>
      <p:sp>
        <p:nvSpPr>
          <p:cNvPr id="6187" name="Google Shape;6187;p344">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92" name="Shape 6192"/>
        <p:cNvGrpSpPr/>
        <p:nvPr/>
      </p:nvGrpSpPr>
      <p:grpSpPr>
        <a:xfrm>
          <a:off x="0" y="0"/>
          <a:ext cx="0" cy="0"/>
          <a:chOff x="0" y="0"/>
          <a:chExt cx="0" cy="0"/>
        </a:xfrm>
      </p:grpSpPr>
      <p:sp>
        <p:nvSpPr>
          <p:cNvPr id="6193" name="Google Shape;6193;p345"/>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Transactional data, e.g.  General and Sub ledger data (A/R &amp; Sales)</a:t>
            </a:r>
            <a:endParaRPr sz="900">
              <a:solidFill>
                <a:schemeClr val="dk1"/>
              </a:solidFill>
              <a:latin typeface="Century Gothic"/>
              <a:ea typeface="Century Gothic"/>
              <a:cs typeface="Century Gothic"/>
              <a:sym typeface="Century Gothic"/>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 KPIs, etc. Sales forecast</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Reference data, e.g. Geographic, product, demographic, employee, customer</a:t>
            </a:r>
            <a:endParaRPr/>
          </a:p>
        </p:txBody>
      </p:sp>
      <p:sp>
        <p:nvSpPr>
          <p:cNvPr id="6194" name="Google Shape;6194;p345"/>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2713" lvl="0" marL="112713" marR="0" rtl="0" algn="l">
              <a:spcBef>
                <a:spcPts val="4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Reference data management application</a:t>
            </a:r>
            <a:endParaRPr/>
          </a:p>
          <a:p>
            <a:pPr indent="-112713" lvl="0" marL="11271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access layer  for BI Reporting tool</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current reporting requirements and processes</a:t>
            </a:r>
            <a:endParaRPr/>
          </a:p>
          <a:p>
            <a:pPr indent="-114300" lvl="0" marL="17145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6195" name="Google Shape;6195;p345"/>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Dashboard/BI Report with drill capability by</a:t>
            </a:r>
            <a:endParaRPr/>
          </a:p>
          <a:p>
            <a:pPr indent="-120650" lvl="1" marL="233363" marR="0" rtl="0" algn="l">
              <a:lnSpc>
                <a:spcPct val="90000"/>
              </a:lnSpc>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Channels and sales representatives</a:t>
            </a:r>
            <a:endParaRPr/>
          </a:p>
          <a:p>
            <a:pPr indent="-120650"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Product, segment and geography</a:t>
            </a:r>
            <a:endParaRPr/>
          </a:p>
          <a:p>
            <a:pPr indent="-120650"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Business segments</a:t>
            </a:r>
            <a:endParaRPr/>
          </a:p>
          <a:p>
            <a:pPr indent="-171450" lvl="0" marL="17145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initial sales definition document</a:t>
            </a:r>
            <a:endParaRPr/>
          </a:p>
        </p:txBody>
      </p:sp>
      <p:sp>
        <p:nvSpPr>
          <p:cNvPr id="6196" name="Google Shape;6196;p345"/>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 - 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definitions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 &amp; availability</a:t>
            </a:r>
            <a:endParaRPr sz="800">
              <a:solidFill>
                <a:srgbClr val="3C3C3B"/>
              </a:solidFill>
              <a:latin typeface="Century Gothic"/>
              <a:ea typeface="Century Gothic"/>
              <a:cs typeface="Century Gothic"/>
              <a:sym typeface="Century Gothic"/>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97" name="Google Shape;6197;p345"/>
          <p:cNvSpPr/>
          <p:nvPr/>
        </p:nvSpPr>
        <p:spPr>
          <a:xfrm>
            <a:off x="4818888" y="804673"/>
            <a:ext cx="3378814"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most profitable products by key dimensions:  geography, customers, sales person</a:t>
            </a:r>
            <a:endParaRPr/>
          </a:p>
          <a:p>
            <a:pPr indent="-117475" lvl="0" marL="1174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Improvement in the timeliness, confidence &amp; integrity in sales reporting across the enterprise</a:t>
            </a:r>
            <a:endParaRPr/>
          </a:p>
          <a:p>
            <a:pPr indent="-112713" lvl="0" marL="112713"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insights into top sales performers</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5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198" name="Google Shape;6198;p345"/>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199" name="Google Shape;6199;p345"/>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00" name="Google Shape;6200;p345"/>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201" name="Google Shape;6201;p345"/>
          <p:cNvSpPr/>
          <p:nvPr/>
        </p:nvSpPr>
        <p:spPr>
          <a:xfrm>
            <a:off x="6144768" y="2331720"/>
            <a:ext cx="2690888" cy="18444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Integrated aggregated sales reporting across with drill capability to details across</a:t>
            </a:r>
            <a:endParaRPr/>
          </a:p>
          <a:p>
            <a:pPr indent="-120650" lvl="1" marL="2333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Channels and sales representatives</a:t>
            </a:r>
            <a:endParaRPr/>
          </a:p>
          <a:p>
            <a:pPr indent="-120650" lvl="1" marL="2333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Product, segment and geography</a:t>
            </a:r>
            <a:endParaRPr/>
          </a:p>
          <a:p>
            <a:pPr indent="-120650" lvl="1" marL="2333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Business segments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comparison of  sales metrics benchmarks</a:t>
            </a:r>
            <a:endParaRPr/>
          </a:p>
        </p:txBody>
      </p:sp>
      <p:sp>
        <p:nvSpPr>
          <p:cNvPr id="6202" name="Google Shape;6202;p345"/>
          <p:cNvSpPr/>
          <p:nvPr/>
        </p:nvSpPr>
        <p:spPr>
          <a:xfrm>
            <a:off x="420636" y="804672"/>
            <a:ext cx="3949701" cy="15270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Objective / Problem Statement</a:t>
            </a:r>
            <a:endParaRPr b="1" sz="1050">
              <a:solidFill>
                <a:schemeClr val="dk2"/>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Consistent &amp; harmonized sales reporting with clear data lineage across all segments, geography, products, etc., regardless of “originating” system(s)</a:t>
            </a:r>
            <a:endParaRPr sz="900">
              <a:solidFill>
                <a:srgbClr val="3C3C3B"/>
              </a:solidFill>
              <a:latin typeface="Century Gothic"/>
              <a:ea typeface="Century Gothic"/>
              <a:cs typeface="Century Gothic"/>
              <a:sym typeface="Century Gothic"/>
            </a:endParaRPr>
          </a:p>
          <a:p>
            <a:pPr indent="-171450" lvl="1" marL="285750"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Sales reporting is often fragmented due to organizational silos, system limitations, geography &amp; variability of product definition and services</a:t>
            </a:r>
            <a:endParaRPr/>
          </a:p>
        </p:txBody>
      </p:sp>
      <p:sp>
        <p:nvSpPr>
          <p:cNvPr id="6203" name="Google Shape;6203;p345"/>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Tom Langenbahn</a:t>
            </a:r>
            <a:endParaRPr sz="900">
              <a:solidFill>
                <a:schemeClr val="accent6"/>
              </a:solidFill>
              <a:latin typeface="Century Gothic"/>
              <a:ea typeface="Century Gothic"/>
              <a:cs typeface="Century Gothic"/>
              <a:sym typeface="Century Gothic"/>
            </a:endParaRPr>
          </a:p>
        </p:txBody>
      </p:sp>
      <p:sp>
        <p:nvSpPr>
          <p:cNvPr id="6204" name="Google Shape;6204;p34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05" name="Google Shape;6205;p345"/>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206" name="Google Shape;6206;p345"/>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Sales Reporting &amp; Analytics</a:t>
            </a:r>
            <a:endParaRPr sz="2400"/>
          </a:p>
        </p:txBody>
      </p:sp>
      <p:sp>
        <p:nvSpPr>
          <p:cNvPr id="6207" name="Google Shape;6207;p345">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12" name="Shape 6212"/>
        <p:cNvGrpSpPr/>
        <p:nvPr/>
      </p:nvGrpSpPr>
      <p:grpSpPr>
        <a:xfrm>
          <a:off x="0" y="0"/>
          <a:ext cx="0" cy="0"/>
          <a:chOff x="0" y="0"/>
          <a:chExt cx="0" cy="0"/>
        </a:xfrm>
      </p:grpSpPr>
      <p:sp>
        <p:nvSpPr>
          <p:cNvPr id="6213" name="Google Shape;6213;p346"/>
          <p:cNvSpPr/>
          <p:nvPr/>
        </p:nvSpPr>
        <p:spPr>
          <a:xfrm>
            <a:off x="420624" y="2331722"/>
            <a:ext cx="2713048" cy="1113229"/>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ERP Transactional data, e.g.  General and relevant Sub ledger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Project activity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 costs to complete, etc.</a:t>
            </a:r>
            <a:endParaRPr/>
          </a:p>
        </p:txBody>
      </p:sp>
      <p:sp>
        <p:nvSpPr>
          <p:cNvPr id="6214" name="Google Shape;6214;p346"/>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access layer  for BI Reporting tool</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current reporting requirements and processes</a:t>
            </a:r>
            <a:endParaRPr/>
          </a:p>
        </p:txBody>
      </p:sp>
      <p:sp>
        <p:nvSpPr>
          <p:cNvPr id="6215" name="Google Shape;6215;p346"/>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7950" lvl="0" marL="1079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Creation of Dashboard and/or BI reports with summary level information with drill down capabilities</a:t>
            </a:r>
            <a:endParaRPr/>
          </a:p>
          <a:p>
            <a:pPr indent="-107950" lvl="0" marL="107950" marR="0" rtl="0" algn="l">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Timely, consolidated and validated data</a:t>
            </a:r>
            <a:endParaRPr/>
          </a:p>
          <a:p>
            <a:pPr indent="-107950" lvl="0" marL="1079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demonstrate data lineage from report sets to source data</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216" name="Google Shape;6216;p346"/>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sz="900">
              <a:solidFill>
                <a:srgbClr val="3C3C3B"/>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 - 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217" name="Google Shape;6217;p346"/>
          <p:cNvSpPr/>
          <p:nvPr/>
        </p:nvSpPr>
        <p:spPr>
          <a:xfrm>
            <a:off x="4818887" y="804672"/>
            <a:ext cx="3740322" cy="1238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insights into project costs &amp; related activities enabling the effective management of  resources</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effectiveness of project accounting reporting, e.g. a tighter alignment of costs and activities </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Acceleration of quantifying the costs of project delays</a:t>
            </a:r>
            <a:endParaRPr/>
          </a:p>
        </p:txBody>
      </p:sp>
      <p:cxnSp>
        <p:nvCxnSpPr>
          <p:cNvPr id="6218" name="Google Shape;6218;p346"/>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19" name="Google Shape;6219;p346"/>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20" name="Google Shape;6220;p346"/>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221" name="Google Shape;6221;p346"/>
          <p:cNvSpPr/>
          <p:nvPr/>
        </p:nvSpPr>
        <p:spPr>
          <a:xfrm>
            <a:off x="6144768" y="2331726"/>
            <a:ext cx="2701520" cy="2038261"/>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Simplified, standardized and automated project accounting </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&amp; accelerated ability to analyze project information, activities and resources assigned to projects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drill from the “Dash Board” or BI environment to the supporting granular detail</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p:txBody>
      </p:sp>
      <p:sp>
        <p:nvSpPr>
          <p:cNvPr id="6222" name="Google Shape;6222;p346"/>
          <p:cNvSpPr/>
          <p:nvPr/>
        </p:nvSpPr>
        <p:spPr>
          <a:xfrm>
            <a:off x="420636" y="804674"/>
            <a:ext cx="3949701" cy="1540899"/>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Develop an integrated and centralized view of all project costs &amp; related activities.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Enable the ability to </a:t>
            </a:r>
            <a:endParaRPr/>
          </a:p>
          <a:p>
            <a:pPr indent="-115888" lvl="1" marL="2333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Report, analyze, and manage detailed project costing activity</a:t>
            </a:r>
            <a:endParaRPr/>
          </a:p>
          <a:p>
            <a:pPr indent="-115888" lvl="1" marL="2333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Timely analyze financial  project information with respect to budgets, cost to compete and costs incurred to date</a:t>
            </a:r>
            <a:endParaRPr/>
          </a:p>
        </p:txBody>
      </p:sp>
      <p:sp>
        <p:nvSpPr>
          <p:cNvPr id="6223" name="Google Shape;6223;p346"/>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224" name="Google Shape;6224;p34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25" name="Google Shape;6225;p346"/>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226" name="Google Shape;6226;p346"/>
          <p:cNvSpPr txBox="1"/>
          <p:nvPr>
            <p:ph type="title"/>
          </p:nvPr>
        </p:nvSpPr>
        <p:spPr>
          <a:xfrm>
            <a:off x="423864" y="164592"/>
            <a:ext cx="6121238"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Project Accounting – Cost Management</a:t>
            </a:r>
            <a:endParaRPr sz="2400"/>
          </a:p>
        </p:txBody>
      </p:sp>
      <p:sp>
        <p:nvSpPr>
          <p:cNvPr id="6227" name="Google Shape;6227;p346">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32" name="Shape 6232"/>
        <p:cNvGrpSpPr/>
        <p:nvPr/>
      </p:nvGrpSpPr>
      <p:grpSpPr>
        <a:xfrm>
          <a:off x="0" y="0"/>
          <a:ext cx="0" cy="0"/>
          <a:chOff x="0" y="0"/>
          <a:chExt cx="0" cy="0"/>
        </a:xfrm>
      </p:grpSpPr>
      <p:sp>
        <p:nvSpPr>
          <p:cNvPr id="6233" name="Google Shape;6233;p347"/>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ERP Transactional data, e.g.  General and Sub ledger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 KPIs, etc.</a:t>
            </a:r>
            <a:endParaRPr sz="900">
              <a:solidFill>
                <a:schemeClr val="dk1"/>
              </a:solidFill>
              <a:latin typeface="Century Gothic"/>
              <a:ea typeface="Century Gothic"/>
              <a:cs typeface="Century Gothic"/>
              <a:sym typeface="Century Gothic"/>
            </a:endParaRPr>
          </a:p>
        </p:txBody>
      </p:sp>
      <p:sp>
        <p:nvSpPr>
          <p:cNvPr id="6234" name="Google Shape;6234;p347"/>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Identification of Key Performance Indicators (KPIs)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Data harmonization</a:t>
            </a:r>
            <a:endParaRPr sz="900">
              <a:solidFill>
                <a:schemeClr val="dk1"/>
              </a:solidFill>
              <a:latin typeface="Century Gothic"/>
              <a:ea typeface="Century Gothic"/>
              <a:cs typeface="Century Gothic"/>
              <a:sym typeface="Century Gothic"/>
            </a:endParaRPr>
          </a:p>
        </p:txBody>
      </p:sp>
      <p:sp>
        <p:nvSpPr>
          <p:cNvPr id="6235" name="Google Shape;6235;p347"/>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Creation of Exception reports</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Documented business  reporting design and related requirements</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the set of corporate metrics and objectives</a:t>
            </a:r>
            <a:endParaRPr/>
          </a:p>
          <a:p>
            <a:pPr indent="0" lvl="0" marL="0" marR="0" rtl="0" algn="l">
              <a:lnSpc>
                <a:spcPct val="90000"/>
              </a:lnSpc>
              <a:spcBef>
                <a:spcPts val="45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236" name="Google Shape;6236;p347"/>
          <p:cNvSpPr/>
          <p:nvPr/>
        </p:nvSpPr>
        <p:spPr>
          <a:xfrm>
            <a:off x="408467"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Agreement on revised workflow(s)</a:t>
            </a:r>
            <a:endParaRPr/>
          </a:p>
        </p:txBody>
      </p:sp>
      <p:sp>
        <p:nvSpPr>
          <p:cNvPr id="6237" name="Google Shape;6237;p347"/>
          <p:cNvSpPr/>
          <p:nvPr/>
        </p:nvSpPr>
        <p:spPr>
          <a:xfrm>
            <a:off x="4818898" y="804672"/>
            <a:ext cx="3878547" cy="1238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Effective delivery of quantifiable defensible exception reports  with clear data lineage which are:</a:t>
            </a:r>
            <a:endParaRPr/>
          </a:p>
          <a:p>
            <a:pPr indent="-180975" lvl="1" marL="63817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Accurate</a:t>
            </a:r>
            <a:endParaRPr/>
          </a:p>
          <a:p>
            <a:pPr indent="-180975" lvl="1" marL="63817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Timely</a:t>
            </a:r>
            <a:endParaRPr/>
          </a:p>
          <a:p>
            <a:pPr indent="-180975" lvl="1" marL="63817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Traceable</a:t>
            </a:r>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238" name="Google Shape;6238;p347"/>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39" name="Google Shape;6239;p347"/>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40" name="Google Shape;6240;p347"/>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241" name="Google Shape;6241;p347"/>
          <p:cNvSpPr/>
          <p:nvPr/>
        </p:nvSpPr>
        <p:spPr>
          <a:xfrm>
            <a:off x="6144780" y="2331720"/>
            <a:ext cx="2797213" cy="18444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Accelerated, simplified, standardized and automated reporting resulting in improved visibility into the financial performance &amp; related metrics</a:t>
            </a:r>
            <a:endParaRPr/>
          </a:p>
          <a:p>
            <a:pPr indent="-119063" lvl="0" marL="119063" marR="0" rtl="0" algn="l">
              <a:spcBef>
                <a:spcPts val="300"/>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Reduce the  risk of variances and exceptions being missed due to  reliance on manual processes</a:t>
            </a:r>
            <a:endParaRPr/>
          </a:p>
          <a:p>
            <a:pPr indent="-119063" lvl="0" marL="119063" marR="0" rtl="0" algn="l">
              <a:spcBef>
                <a:spcPts val="300"/>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Alert staff about a situation that requires corrective action  or  where exceptions are outside pre-determined parameters</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p:txBody>
      </p:sp>
      <p:sp>
        <p:nvSpPr>
          <p:cNvPr id="6242" name="Google Shape;6242;p347"/>
          <p:cNvSpPr/>
          <p:nvPr/>
        </p:nvSpPr>
        <p:spPr>
          <a:xfrm>
            <a:off x="420636" y="804673"/>
            <a:ext cx="3949701" cy="14042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5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Develop timely, accurate and efficient reporting of unexpected variances and other exceptions caused by:</a:t>
            </a:r>
            <a:endParaRPr/>
          </a:p>
          <a:p>
            <a:pPr indent="-119062" lvl="1" marL="576263" marR="0" rtl="0" algn="l">
              <a:spcBef>
                <a:spcPts val="300"/>
              </a:spcBef>
              <a:spcAft>
                <a:spcPts val="0"/>
              </a:spcAft>
              <a:buClr>
                <a:srgbClr val="3C3C3B"/>
              </a:buClr>
              <a:buSzPts val="950"/>
              <a:buFont typeface="Arial"/>
              <a:buChar char="•"/>
            </a:pPr>
            <a:r>
              <a:rPr b="0" i="0" lang="en-GB" sz="950" u="none" cap="none" strike="noStrike">
                <a:solidFill>
                  <a:schemeClr val="dk1"/>
                </a:solidFill>
                <a:latin typeface="Century Gothic"/>
                <a:ea typeface="Century Gothic"/>
                <a:cs typeface="Century Gothic"/>
                <a:sym typeface="Century Gothic"/>
              </a:rPr>
              <a:t>Processes are often fragmented and inflexible, </a:t>
            </a:r>
            <a:endParaRPr/>
          </a:p>
          <a:p>
            <a:pPr indent="-119062" lvl="1" marL="576263" marR="0" rtl="0" algn="l">
              <a:spcBef>
                <a:spcPts val="300"/>
              </a:spcBef>
              <a:spcAft>
                <a:spcPts val="0"/>
              </a:spcAft>
              <a:buClr>
                <a:srgbClr val="3C3C3B"/>
              </a:buClr>
              <a:buSzPts val="950"/>
              <a:buFont typeface="Arial"/>
              <a:buChar char="•"/>
            </a:pPr>
            <a:r>
              <a:rPr b="0" i="0" lang="en-GB" sz="950" u="none" cap="none" strike="noStrike">
                <a:solidFill>
                  <a:schemeClr val="dk1"/>
                </a:solidFill>
                <a:latin typeface="Century Gothic"/>
                <a:ea typeface="Century Gothic"/>
                <a:cs typeface="Century Gothic"/>
                <a:sym typeface="Century Gothic"/>
              </a:rPr>
              <a:t>Time consuming processes, </a:t>
            </a:r>
            <a:endParaRPr/>
          </a:p>
          <a:p>
            <a:pPr indent="-119062" lvl="1" marL="576263" marR="0" rtl="0" algn="l">
              <a:spcBef>
                <a:spcPts val="300"/>
              </a:spcBef>
              <a:spcAft>
                <a:spcPts val="0"/>
              </a:spcAft>
              <a:buClr>
                <a:srgbClr val="3C3C3B"/>
              </a:buClr>
              <a:buSzPts val="950"/>
              <a:buFont typeface="Arial"/>
              <a:buChar char="•"/>
            </a:pPr>
            <a:r>
              <a:rPr b="0" i="0" lang="en-GB" sz="950" u="none" cap="none" strike="noStrike">
                <a:solidFill>
                  <a:schemeClr val="dk1"/>
                </a:solidFill>
                <a:latin typeface="Century Gothic"/>
                <a:ea typeface="Century Gothic"/>
                <a:cs typeface="Century Gothic"/>
                <a:sym typeface="Century Gothic"/>
              </a:rPr>
              <a:t>Excessive manual processes.</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Performance metrics across the organization must be consistent, and utilize reliable &amp; validated data.</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243" name="Google Shape;6243;p347"/>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244" name="Google Shape;6244;p34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45" name="Google Shape;6245;p347"/>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246" name="Google Shape;6246;p347"/>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Internal - Exception Reporting</a:t>
            </a:r>
            <a:endParaRPr sz="2400"/>
          </a:p>
        </p:txBody>
      </p:sp>
      <p:sp>
        <p:nvSpPr>
          <p:cNvPr id="6247" name="Google Shape;6247;p347">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52" name="Shape 6252"/>
        <p:cNvGrpSpPr/>
        <p:nvPr/>
      </p:nvGrpSpPr>
      <p:grpSpPr>
        <a:xfrm>
          <a:off x="0" y="0"/>
          <a:ext cx="0" cy="0"/>
          <a:chOff x="0" y="0"/>
          <a:chExt cx="0" cy="0"/>
        </a:xfrm>
      </p:grpSpPr>
      <p:cxnSp>
        <p:nvCxnSpPr>
          <p:cNvPr id="6253" name="Google Shape;6253;p348"/>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254" name="Google Shape;6254;p348"/>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255" name="Google Shape;6255;p34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256" name="Google Shape;6256;p34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57" name="Google Shape;6257;p348"/>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80975" lvl="0" marL="180975"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confidence in financial data</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Visualization of financial &amp; operational data</a:t>
            </a:r>
            <a:endParaRPr sz="900">
              <a:solidFill>
                <a:srgbClr val="3C3C3B"/>
              </a:solidFill>
              <a:latin typeface="Century Gothic"/>
              <a:ea typeface="Century Gothic"/>
              <a:cs typeface="Century Gothic"/>
              <a:sym typeface="Century Gothic"/>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ability to directly tie operational &amp; financial data</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effort to produce reliable financial &amp; other reporting with associated metrics</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Shared reliable information across executive &amp; senior management</a:t>
            </a:r>
            <a:endParaRPr sz="9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b="1" sz="750">
              <a:solidFill>
                <a:srgbClr val="BBBCBE"/>
              </a:solidFill>
              <a:latin typeface="Century Gothic"/>
              <a:ea typeface="Century Gothic"/>
              <a:cs typeface="Century Gothic"/>
              <a:sym typeface="Century Gothic"/>
            </a:endParaRPr>
          </a:p>
        </p:txBody>
      </p:sp>
      <p:sp>
        <p:nvSpPr>
          <p:cNvPr id="6258" name="Google Shape;6258;p34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Decision makers have:</a:t>
            </a:r>
            <a:endParaRPr/>
          </a:p>
          <a:p>
            <a:pPr indent="-171450" lvl="1" marL="2841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Timely (near real time as necessary) access to required data</a:t>
            </a:r>
            <a:endParaRPr/>
          </a:p>
          <a:p>
            <a:pPr indent="-171450" lvl="1" marL="2841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The ability to customize the dashboard as necessary, e.g. date(s), graphs, etc.</a:t>
            </a:r>
            <a:endParaRPr/>
          </a:p>
          <a:p>
            <a:pPr indent="-171450" lvl="1" marL="2841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The ability to “drill” to lower levels of detail effectively and efficiently as desired</a:t>
            </a:r>
            <a:endParaRPr b="0" i="0" sz="900" u="none" cap="none" strike="noStrike">
              <a:solidFill>
                <a:srgbClr val="3C3C3B"/>
              </a:solidFill>
              <a:latin typeface="Century Gothic"/>
              <a:ea typeface="Century Gothic"/>
              <a:cs typeface="Century Gothic"/>
              <a:sym typeface="Century Gothic"/>
            </a:endParaRPr>
          </a:p>
        </p:txBody>
      </p:sp>
      <p:sp>
        <p:nvSpPr>
          <p:cNvPr id="6259" name="Google Shape;6259;p34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Development of relevant reports and dashboards &amp; acceptance of developed dashboards</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Timely, consolidated and validated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demonstrate data lineage from source to resulting report sets</a:t>
            </a:r>
            <a:endParaRPr sz="900">
              <a:solidFill>
                <a:srgbClr val="3C3C3B"/>
              </a:solidFill>
              <a:latin typeface="Century Gothic"/>
              <a:ea typeface="Century Gothic"/>
              <a:cs typeface="Century Gothic"/>
              <a:sym typeface="Century Gothic"/>
            </a:endParaRPr>
          </a:p>
        </p:txBody>
      </p:sp>
      <p:sp>
        <p:nvSpPr>
          <p:cNvPr id="6260" name="Google Shape;6260;p348"/>
          <p:cNvSpPr/>
          <p:nvPr/>
        </p:nvSpPr>
        <p:spPr>
          <a:xfrm>
            <a:off x="3271845" y="2334154"/>
            <a:ext cx="2714400" cy="122373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Design dashboard using the reporting / BI Tool(s) of choice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user access layer (semantic)</a:t>
            </a:r>
            <a:endParaRPr sz="900">
              <a:solidFill>
                <a:srgbClr val="3C3C3B"/>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harmonization as necessary</a:t>
            </a:r>
            <a:endParaRPr sz="900">
              <a:solidFill>
                <a:srgbClr val="3C3C3B"/>
              </a:solidFill>
              <a:latin typeface="Century Gothic"/>
              <a:ea typeface="Century Gothic"/>
              <a:cs typeface="Century Gothic"/>
              <a:sym typeface="Century Gothic"/>
            </a:endParaRPr>
          </a:p>
        </p:txBody>
      </p:sp>
      <p:sp>
        <p:nvSpPr>
          <p:cNvPr id="6261" name="Google Shape;6261;p348"/>
          <p:cNvSpPr/>
          <p:nvPr/>
        </p:nvSpPr>
        <p:spPr>
          <a:xfrm>
            <a:off x="429630"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 </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Inconsistent/conflicting data</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a:p>
        </p:txBody>
      </p:sp>
      <p:sp>
        <p:nvSpPr>
          <p:cNvPr id="6262" name="Google Shape;6262;p348"/>
          <p:cNvSpPr/>
          <p:nvPr/>
        </p:nvSpPr>
        <p:spPr>
          <a:xfrm>
            <a:off x="423862" y="2334154"/>
            <a:ext cx="2783531" cy="1223736"/>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17475" lvl="0" marL="117475"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ERP &amp; Non-ERP financial data, e.g.  General &amp; Sub ledger data</a:t>
            </a:r>
            <a:endParaRPr/>
          </a:p>
          <a:p>
            <a:pPr indent="-117475" lvl="0" marL="1174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Performance target data, e.g., KPIs, plan, budget, forecast, goal, etc.</a:t>
            </a:r>
            <a:endParaRPr/>
          </a:p>
          <a:p>
            <a:pPr indent="-117475" lvl="0" marL="1174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Operational data, e.g. sales, customer, etc.</a:t>
            </a:r>
            <a:endParaRPr/>
          </a:p>
          <a:p>
            <a:pPr indent="-117475" lvl="0" marL="1174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a:t>
            </a:r>
            <a:endParaRPr sz="900">
              <a:solidFill>
                <a:srgbClr val="3C3C3B"/>
              </a:solidFill>
              <a:latin typeface="Century Gothic"/>
              <a:ea typeface="Century Gothic"/>
              <a:cs typeface="Century Gothic"/>
              <a:sym typeface="Century Gothic"/>
            </a:endParaRPr>
          </a:p>
        </p:txBody>
      </p:sp>
      <p:sp>
        <p:nvSpPr>
          <p:cNvPr id="6263" name="Google Shape;6263;p348"/>
          <p:cNvSpPr/>
          <p:nvPr/>
        </p:nvSpPr>
        <p:spPr>
          <a:xfrm>
            <a:off x="423879"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efficient &amp; direct access for senior executives &amp; other key decision makers to reliable, comprehensive and current financial and operational information</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the delivery of  reliable information needed for timely decision making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 &amp; enhance the quality, timeliness &amp; presentation of information needed by the various executives  depending on their area of responsibility</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264" name="Google Shape;6264;p348"/>
          <p:cNvSpPr/>
          <p:nvPr/>
        </p:nvSpPr>
        <p:spPr>
          <a:xfrm>
            <a:off x="6545103" y="290521"/>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Kim Autrey</a:t>
            </a:r>
            <a:endParaRPr sz="900">
              <a:solidFill>
                <a:srgbClr val="5F6062"/>
              </a:solidFill>
              <a:latin typeface="Century Gothic"/>
              <a:ea typeface="Century Gothic"/>
              <a:cs typeface="Century Gothic"/>
              <a:sym typeface="Century Gothic"/>
            </a:endParaRPr>
          </a:p>
        </p:txBody>
      </p:sp>
      <p:sp>
        <p:nvSpPr>
          <p:cNvPr id="6265" name="Google Shape;6265;p34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6266" name="Google Shape;6266;p348"/>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Executive Information Hub</a:t>
            </a:r>
            <a:endParaRPr sz="2400"/>
          </a:p>
        </p:txBody>
      </p:sp>
      <p:sp>
        <p:nvSpPr>
          <p:cNvPr id="6267" name="Google Shape;6267;p34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78" name="Shape 6278"/>
        <p:cNvGrpSpPr/>
        <p:nvPr/>
      </p:nvGrpSpPr>
      <p:grpSpPr>
        <a:xfrm>
          <a:off x="0" y="0"/>
          <a:ext cx="0" cy="0"/>
          <a:chOff x="0" y="0"/>
          <a:chExt cx="0" cy="0"/>
        </a:xfrm>
      </p:grpSpPr>
      <p:sp>
        <p:nvSpPr>
          <p:cNvPr id="6279" name="Google Shape;6279;p350"/>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80" name="Google Shape;6280;p350"/>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
        <p:nvSpPr>
          <p:cNvPr id="6281" name="Google Shape;6281;p350"/>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800"/>
              <a:buFont typeface="Century Gothic"/>
              <a:buNone/>
            </a:pPr>
            <a:r>
              <a:rPr lang="en-GB"/>
              <a:t>Areas of analytic insight required to excel at Product Management</a:t>
            </a:r>
            <a:endParaRPr/>
          </a:p>
        </p:txBody>
      </p:sp>
      <p:sp>
        <p:nvSpPr>
          <p:cNvPr id="6282" name="Google Shape;6282;p350"/>
          <p:cNvSpPr txBox="1"/>
          <p:nvPr>
            <p:ph type="title"/>
          </p:nvPr>
        </p:nvSpPr>
        <p:spPr>
          <a:xfrm>
            <a:off x="457200" y="128590"/>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 Functional Insights</a:t>
            </a:r>
            <a:endParaRPr/>
          </a:p>
        </p:txBody>
      </p:sp>
      <p:sp>
        <p:nvSpPr>
          <p:cNvPr id="6283" name="Google Shape;6283;p350">
            <a:hlinkClick action="ppaction://hlinksldjump" r:id="rId3"/>
          </p:cNvPr>
          <p:cNvSpPr/>
          <p:nvPr/>
        </p:nvSpPr>
        <p:spPr>
          <a:xfrm>
            <a:off x="570389" y="1384441"/>
            <a:ext cx="1396270" cy="2865346"/>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Management</a:t>
            </a:r>
            <a:endParaRPr sz="1100">
              <a:solidFill>
                <a:srgbClr val="FFFFFF"/>
              </a:solidFill>
              <a:latin typeface="Century Gothic"/>
              <a:ea typeface="Century Gothic"/>
              <a:cs typeface="Century Gothic"/>
              <a:sym typeface="Century Gothic"/>
            </a:endParaRPr>
          </a:p>
        </p:txBody>
      </p:sp>
      <p:sp>
        <p:nvSpPr>
          <p:cNvPr id="6284" name="Google Shape;6284;p350"/>
          <p:cNvSpPr/>
          <p:nvPr/>
        </p:nvSpPr>
        <p:spPr>
          <a:xfrm>
            <a:off x="2073322" y="1301750"/>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6285" name="Google Shape;6285;p350">
            <a:hlinkClick action="ppaction://hlinksldjump" r:id="rId4"/>
          </p:cNvPr>
          <p:cNvSpPr/>
          <p:nvPr/>
        </p:nvSpPr>
        <p:spPr>
          <a:xfrm>
            <a:off x="567549" y="4049610"/>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6286" name="Google Shape;6286;p350">
            <a:hlinkClick action="ppaction://hlinksldjump" r:id="rId5"/>
          </p:cNvPr>
          <p:cNvSpPr/>
          <p:nvPr/>
        </p:nvSpPr>
        <p:spPr>
          <a:xfrm>
            <a:off x="209973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Development</a:t>
            </a:r>
            <a:endParaRPr sz="1100">
              <a:solidFill>
                <a:srgbClr val="FFFFFF"/>
              </a:solidFill>
              <a:latin typeface="Century Gothic"/>
              <a:ea typeface="Century Gothic"/>
              <a:cs typeface="Century Gothic"/>
              <a:sym typeface="Century Gothic"/>
            </a:endParaRPr>
          </a:p>
        </p:txBody>
      </p:sp>
      <p:sp>
        <p:nvSpPr>
          <p:cNvPr id="6287" name="Google Shape;6287;p350">
            <a:hlinkClick action="ppaction://hlinksldjump" r:id="rId6"/>
          </p:cNvPr>
          <p:cNvSpPr/>
          <p:nvPr/>
        </p:nvSpPr>
        <p:spPr>
          <a:xfrm>
            <a:off x="429169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Introduction</a:t>
            </a:r>
            <a:endParaRPr sz="1100">
              <a:solidFill>
                <a:srgbClr val="FFFFFF"/>
              </a:solidFill>
              <a:latin typeface="Century Gothic"/>
              <a:ea typeface="Century Gothic"/>
              <a:cs typeface="Century Gothic"/>
              <a:sym typeface="Century Gothic"/>
            </a:endParaRPr>
          </a:p>
        </p:txBody>
      </p:sp>
      <p:sp>
        <p:nvSpPr>
          <p:cNvPr id="6288" name="Google Shape;6288;p350">
            <a:hlinkClick action="ppaction://hlinksldjump" r:id="rId7"/>
          </p:cNvPr>
          <p:cNvSpPr/>
          <p:nvPr/>
        </p:nvSpPr>
        <p:spPr>
          <a:xfrm>
            <a:off x="647696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Price and Promotion</a:t>
            </a:r>
            <a:endParaRPr sz="1100">
              <a:solidFill>
                <a:srgbClr val="FFFFFF"/>
              </a:solidFill>
              <a:latin typeface="Century Gothic"/>
              <a:ea typeface="Century Gothic"/>
              <a:cs typeface="Century Gothic"/>
              <a:sym typeface="Century Gothic"/>
            </a:endParaRPr>
          </a:p>
        </p:txBody>
      </p:sp>
      <p:sp>
        <p:nvSpPr>
          <p:cNvPr id="6289" name="Google Shape;6289;p350">
            <a:hlinkClick action="ppaction://hlinksldjump" r:id="rId8"/>
          </p:cNvPr>
          <p:cNvSpPr/>
          <p:nvPr/>
        </p:nvSpPr>
        <p:spPr>
          <a:xfrm>
            <a:off x="2099735" y="2599351"/>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a:t>
            </a:r>
            <a:endParaRPr/>
          </a:p>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End of Life</a:t>
            </a:r>
            <a:endParaRPr sz="1100">
              <a:solidFill>
                <a:srgbClr val="FFFFFF"/>
              </a:solidFill>
              <a:latin typeface="Century Gothic"/>
              <a:ea typeface="Century Gothic"/>
              <a:cs typeface="Century Gothic"/>
              <a:sym typeface="Century Gothic"/>
            </a:endParaRPr>
          </a:p>
        </p:txBody>
      </p:sp>
      <p:sp>
        <p:nvSpPr>
          <p:cNvPr id="6290" name="Google Shape;6290;p350">
            <a:hlinkClick action="ppaction://hlinksldjump" r:id="rId9"/>
          </p:cNvPr>
          <p:cNvSpPr/>
          <p:nvPr/>
        </p:nvSpPr>
        <p:spPr>
          <a:xfrm>
            <a:off x="4291698" y="2599351"/>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Performance </a:t>
            </a:r>
            <a:endParaRPr/>
          </a:p>
        </p:txBody>
      </p:sp>
      <p:grpSp>
        <p:nvGrpSpPr>
          <p:cNvPr id="6291" name="Google Shape;6291;p350"/>
          <p:cNvGrpSpPr/>
          <p:nvPr/>
        </p:nvGrpSpPr>
        <p:grpSpPr>
          <a:xfrm>
            <a:off x="7779998" y="4410748"/>
            <a:ext cx="995883" cy="297004"/>
            <a:chOff x="7711013" y="3986494"/>
            <a:chExt cx="995883" cy="297004"/>
          </a:xfrm>
        </p:grpSpPr>
        <p:sp>
          <p:nvSpPr>
            <p:cNvPr id="6292" name="Google Shape;6292;p350">
              <a:hlinkClick action="ppaction://hlinksldjump" r:id="rId10"/>
            </p:cNvPr>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293" name="Google Shape;6293;p350"/>
            <p:cNvGrpSpPr/>
            <p:nvPr/>
          </p:nvGrpSpPr>
          <p:grpSpPr>
            <a:xfrm>
              <a:off x="7711013" y="4002615"/>
              <a:ext cx="281520" cy="241973"/>
              <a:chOff x="5652748" y="4066000"/>
              <a:chExt cx="906498" cy="747974"/>
            </a:xfrm>
          </p:grpSpPr>
          <p:sp>
            <p:nvSpPr>
              <p:cNvPr id="6294" name="Google Shape;6294;p3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295" name="Google Shape;6295;p3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96" name="Google Shape;6296;p3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297" name="Google Shape;6297;p350">
            <a:hlinkClick action="ppaction://hlinksldjump" r:id="rId1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01" name="Shape 6301"/>
        <p:cNvGrpSpPr/>
        <p:nvPr/>
      </p:nvGrpSpPr>
      <p:grpSpPr>
        <a:xfrm>
          <a:off x="0" y="0"/>
          <a:ext cx="0" cy="0"/>
          <a:chOff x="0" y="0"/>
          <a:chExt cx="0" cy="0"/>
        </a:xfrm>
      </p:grpSpPr>
      <p:sp>
        <p:nvSpPr>
          <p:cNvPr id="6302" name="Google Shape;6302;p351"/>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03" name="Google Shape;6303;p351">
            <a:hlinkClick action="ppaction://hlinksldjump" r:id="rId3"/>
          </p:cNvPr>
          <p:cNvSpPr/>
          <p:nvPr/>
        </p:nvSpPr>
        <p:spPr>
          <a:xfrm>
            <a:off x="6543349" y="1762240"/>
            <a:ext cx="2066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Develop and Test Product Prototypes</a:t>
            </a:r>
            <a:endParaRPr sz="1100">
              <a:solidFill>
                <a:schemeClr val="dk1"/>
              </a:solidFill>
              <a:latin typeface="Century Gothic"/>
              <a:ea typeface="Century Gothic"/>
              <a:cs typeface="Century Gothic"/>
              <a:sym typeface="Century Gothic"/>
            </a:endParaRPr>
          </a:p>
        </p:txBody>
      </p:sp>
      <p:sp>
        <p:nvSpPr>
          <p:cNvPr id="6304" name="Google Shape;6304;p351">
            <a:hlinkClick action="ppaction://hlinksldjump" r:id="rId4"/>
          </p:cNvPr>
          <p:cNvSpPr/>
          <p:nvPr/>
        </p:nvSpPr>
        <p:spPr>
          <a:xfrm>
            <a:off x="4321743" y="1762241"/>
            <a:ext cx="2066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Predict Business Impact (Discovery)</a:t>
            </a:r>
            <a:endParaRPr sz="1100">
              <a:solidFill>
                <a:schemeClr val="dk1"/>
              </a:solidFill>
              <a:latin typeface="Century Gothic"/>
              <a:ea typeface="Century Gothic"/>
              <a:cs typeface="Century Gothic"/>
              <a:sym typeface="Century Gothic"/>
            </a:endParaRPr>
          </a:p>
        </p:txBody>
      </p:sp>
      <p:sp>
        <p:nvSpPr>
          <p:cNvPr id="6305" name="Google Shape;6305;p351">
            <a:hlinkClick action="ppaction://hlinksldjump" r:id="rId5"/>
          </p:cNvPr>
          <p:cNvSpPr/>
          <p:nvPr/>
        </p:nvSpPr>
        <p:spPr>
          <a:xfrm>
            <a:off x="2101372" y="1742585"/>
            <a:ext cx="2066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Research New Product Development Opportunities</a:t>
            </a:r>
            <a:endParaRPr sz="1100">
              <a:solidFill>
                <a:schemeClr val="dk1"/>
              </a:solidFill>
              <a:latin typeface="Century Gothic"/>
              <a:ea typeface="Century Gothic"/>
              <a:cs typeface="Century Gothic"/>
              <a:sym typeface="Century Gothic"/>
            </a:endParaRPr>
          </a:p>
        </p:txBody>
      </p:sp>
      <p:sp>
        <p:nvSpPr>
          <p:cNvPr id="6306" name="Google Shape;6306;p351">
            <a:hlinkClick action="ppaction://hlinksldjump" r:id="rId6"/>
          </p:cNvPr>
          <p:cNvSpPr/>
          <p:nvPr/>
        </p:nvSpPr>
        <p:spPr>
          <a:xfrm>
            <a:off x="565902" y="1378768"/>
            <a:ext cx="1395519" cy="905472"/>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Development</a:t>
            </a:r>
            <a:endParaRPr sz="1100">
              <a:solidFill>
                <a:srgbClr val="FFFFFF"/>
              </a:solidFill>
              <a:latin typeface="Century Gothic"/>
              <a:ea typeface="Century Gothic"/>
              <a:cs typeface="Century Gothic"/>
              <a:sym typeface="Century Gothic"/>
            </a:endParaRPr>
          </a:p>
        </p:txBody>
      </p:sp>
      <p:sp>
        <p:nvSpPr>
          <p:cNvPr id="6307" name="Google Shape;6307;p35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6308" name="Google Shape;6308;p351"/>
          <p:cNvSpPr/>
          <p:nvPr/>
        </p:nvSpPr>
        <p:spPr>
          <a:xfrm>
            <a:off x="567549" y="-95685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09" name="Google Shape;6309;p351"/>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10" name="Google Shape;6310;p351"/>
          <p:cNvSpPr txBox="1"/>
          <p:nvPr>
            <p:ph idx="2" type="body"/>
          </p:nvPr>
        </p:nvSpPr>
        <p:spPr>
          <a:xfrm>
            <a:off x="438098" y="585291"/>
            <a:ext cx="77280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Expand features sets and develop new products and  services by tapping into Customers’ unmet needs</a:t>
            </a:r>
            <a:endParaRPr sz="1600"/>
          </a:p>
        </p:txBody>
      </p:sp>
      <p:sp>
        <p:nvSpPr>
          <p:cNvPr id="6311" name="Google Shape;6311;p351"/>
          <p:cNvSpPr txBox="1"/>
          <p:nvPr>
            <p:ph type="title"/>
          </p:nvPr>
        </p:nvSpPr>
        <p:spPr>
          <a:xfrm>
            <a:off x="453971" y="64901"/>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 Capabilities</a:t>
            </a:r>
            <a:endParaRPr/>
          </a:p>
        </p:txBody>
      </p:sp>
      <p:grpSp>
        <p:nvGrpSpPr>
          <p:cNvPr id="6312" name="Google Shape;6312;p351"/>
          <p:cNvGrpSpPr/>
          <p:nvPr/>
        </p:nvGrpSpPr>
        <p:grpSpPr>
          <a:xfrm>
            <a:off x="7779998" y="4410748"/>
            <a:ext cx="995883" cy="297004"/>
            <a:chOff x="7711013" y="3986494"/>
            <a:chExt cx="995883" cy="297004"/>
          </a:xfrm>
        </p:grpSpPr>
        <p:sp>
          <p:nvSpPr>
            <p:cNvPr id="6313" name="Google Shape;6313;p351">
              <a:hlinkClick action="ppaction://hlinksldjump" r:id="rId7"/>
            </p:cNvPr>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314" name="Google Shape;6314;p351"/>
            <p:cNvGrpSpPr/>
            <p:nvPr/>
          </p:nvGrpSpPr>
          <p:grpSpPr>
            <a:xfrm>
              <a:off x="7711013" y="4002615"/>
              <a:ext cx="281520" cy="241973"/>
              <a:chOff x="5652748" y="4066000"/>
              <a:chExt cx="906498" cy="747974"/>
            </a:xfrm>
          </p:grpSpPr>
          <p:sp>
            <p:nvSpPr>
              <p:cNvPr id="6315" name="Google Shape;6315;p35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316" name="Google Shape;6316;p35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17" name="Google Shape;6317;p35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318" name="Google Shape;6318;p351">
            <a:hlinkClick action="ppaction://hlinksldjump" r:id="rId8"/>
          </p:cNvPr>
          <p:cNvSpPr/>
          <p:nvPr/>
        </p:nvSpPr>
        <p:spPr>
          <a:xfrm>
            <a:off x="567549" y="2084064"/>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19" name="Google Shape;6319;p351">
            <a:hlinkClick action="ppaction://hlinksldjump" r:id="rId9"/>
          </p:cNvPr>
          <p:cNvSpPr/>
          <p:nvPr/>
        </p:nvSpPr>
        <p:spPr>
          <a:xfrm>
            <a:off x="565902" y="2371513"/>
            <a:ext cx="1395519" cy="828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Introduction</a:t>
            </a:r>
            <a:endParaRPr sz="1100">
              <a:solidFill>
                <a:srgbClr val="FFFFFF"/>
              </a:solidFill>
              <a:latin typeface="Century Gothic"/>
              <a:ea typeface="Century Gothic"/>
              <a:cs typeface="Century Gothic"/>
              <a:sym typeface="Century Gothic"/>
            </a:endParaRPr>
          </a:p>
        </p:txBody>
      </p:sp>
      <p:sp>
        <p:nvSpPr>
          <p:cNvPr id="6320" name="Google Shape;6320;p351">
            <a:hlinkClick action="ppaction://hlinksldjump" r:id="rId10"/>
          </p:cNvPr>
          <p:cNvSpPr/>
          <p:nvPr/>
        </p:nvSpPr>
        <p:spPr>
          <a:xfrm>
            <a:off x="567549" y="301403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21" name="Google Shape;6321;p351">
            <a:hlinkClick action="ppaction://hlinksldjump" r:id="rId11"/>
          </p:cNvPr>
          <p:cNvSpPr/>
          <p:nvPr/>
        </p:nvSpPr>
        <p:spPr>
          <a:xfrm>
            <a:off x="4321744" y="2524514"/>
            <a:ext cx="2065221"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Improve Product Onboarding</a:t>
            </a:r>
            <a:endParaRPr sz="1100">
              <a:solidFill>
                <a:schemeClr val="dk1"/>
              </a:solidFill>
              <a:latin typeface="Century Gothic"/>
              <a:ea typeface="Century Gothic"/>
              <a:cs typeface="Century Gothic"/>
              <a:sym typeface="Century Gothic"/>
            </a:endParaRPr>
          </a:p>
        </p:txBody>
      </p:sp>
      <p:sp>
        <p:nvSpPr>
          <p:cNvPr id="6322" name="Google Shape;6322;p351">
            <a:hlinkClick action="ppaction://hlinksldjump" r:id="rId12"/>
          </p:cNvPr>
          <p:cNvSpPr/>
          <p:nvPr/>
        </p:nvSpPr>
        <p:spPr>
          <a:xfrm>
            <a:off x="2101372" y="2524513"/>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Plan Product Investments to Support Go to Market Strategy</a:t>
            </a:r>
            <a:endParaRPr sz="1100">
              <a:solidFill>
                <a:schemeClr val="dk1"/>
              </a:solidFill>
              <a:latin typeface="Century Gothic"/>
              <a:ea typeface="Century Gothic"/>
              <a:cs typeface="Century Gothic"/>
              <a:sym typeface="Century Gothic"/>
            </a:endParaRPr>
          </a:p>
        </p:txBody>
      </p:sp>
      <p:sp>
        <p:nvSpPr>
          <p:cNvPr id="6323" name="Google Shape;6323;p351">
            <a:hlinkClick action="ppaction://hlinksldjump" r:id="rId13"/>
          </p:cNvPr>
          <p:cNvSpPr/>
          <p:nvPr/>
        </p:nvSpPr>
        <p:spPr>
          <a:xfrm>
            <a:off x="565902" y="3311841"/>
            <a:ext cx="1395519" cy="828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Pricing and Promotion</a:t>
            </a:r>
            <a:endParaRPr sz="1100">
              <a:solidFill>
                <a:srgbClr val="FFFFFF"/>
              </a:solidFill>
              <a:latin typeface="Century Gothic"/>
              <a:ea typeface="Century Gothic"/>
              <a:cs typeface="Century Gothic"/>
              <a:sym typeface="Century Gothic"/>
            </a:endParaRPr>
          </a:p>
        </p:txBody>
      </p:sp>
      <p:sp>
        <p:nvSpPr>
          <p:cNvPr id="6324" name="Google Shape;6324;p351">
            <a:hlinkClick action="ppaction://hlinksldjump" r:id="rId14"/>
          </p:cNvPr>
          <p:cNvSpPr/>
          <p:nvPr/>
        </p:nvSpPr>
        <p:spPr>
          <a:xfrm>
            <a:off x="4305289" y="3464841"/>
            <a:ext cx="2065221"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Manage Dynamic Pricing</a:t>
            </a:r>
            <a:endParaRPr sz="1100">
              <a:solidFill>
                <a:schemeClr val="dk1"/>
              </a:solidFill>
              <a:latin typeface="Century Gothic"/>
              <a:ea typeface="Century Gothic"/>
              <a:cs typeface="Century Gothic"/>
              <a:sym typeface="Century Gothic"/>
            </a:endParaRPr>
          </a:p>
        </p:txBody>
      </p:sp>
      <p:sp>
        <p:nvSpPr>
          <p:cNvPr id="6325" name="Google Shape;6325;p351">
            <a:hlinkClick action="ppaction://hlinksldjump" r:id="rId15"/>
          </p:cNvPr>
          <p:cNvSpPr/>
          <p:nvPr/>
        </p:nvSpPr>
        <p:spPr>
          <a:xfrm>
            <a:off x="2073748" y="3464840"/>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Analyze Competitive Pricing </a:t>
            </a:r>
            <a:endParaRPr sz="1100">
              <a:solidFill>
                <a:schemeClr val="dk1"/>
              </a:solidFill>
              <a:latin typeface="Century Gothic"/>
              <a:ea typeface="Century Gothic"/>
              <a:cs typeface="Century Gothic"/>
              <a:sym typeface="Century Gothic"/>
            </a:endParaRPr>
          </a:p>
        </p:txBody>
      </p:sp>
      <p:sp>
        <p:nvSpPr>
          <p:cNvPr id="6326" name="Google Shape;6326;p351">
            <a:hlinkClick action="ppaction://hlinksldjump" r:id="rId16"/>
          </p:cNvPr>
          <p:cNvSpPr/>
          <p:nvPr/>
        </p:nvSpPr>
        <p:spPr>
          <a:xfrm>
            <a:off x="567549" y="395017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27" name="Google Shape;6327;p351">
            <a:hlinkClick action="ppaction://hlinksldjump" r:id="rId1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31" name="Shape 6331"/>
        <p:cNvGrpSpPr/>
        <p:nvPr/>
      </p:nvGrpSpPr>
      <p:grpSpPr>
        <a:xfrm>
          <a:off x="0" y="0"/>
          <a:ext cx="0" cy="0"/>
          <a:chOff x="0" y="0"/>
          <a:chExt cx="0" cy="0"/>
        </a:xfrm>
      </p:grpSpPr>
      <p:sp>
        <p:nvSpPr>
          <p:cNvPr id="6332" name="Google Shape;6332;p352"/>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33" name="Google Shape;6333;p352">
            <a:hlinkClick action="ppaction://hlinksldjump" r:id="rId3"/>
          </p:cNvPr>
          <p:cNvSpPr/>
          <p:nvPr/>
        </p:nvSpPr>
        <p:spPr>
          <a:xfrm>
            <a:off x="2101372" y="1773492"/>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Determine Product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Migration</a:t>
            </a:r>
            <a:endParaRPr sz="1100">
              <a:solidFill>
                <a:schemeClr val="dk1"/>
              </a:solidFill>
              <a:latin typeface="Century Gothic"/>
              <a:ea typeface="Century Gothic"/>
              <a:cs typeface="Century Gothic"/>
              <a:sym typeface="Century Gothic"/>
            </a:endParaRPr>
          </a:p>
        </p:txBody>
      </p:sp>
      <p:sp>
        <p:nvSpPr>
          <p:cNvPr id="6334" name="Google Shape;6334;p352">
            <a:hlinkClick action="ppaction://hlinksldjump" r:id="rId4"/>
          </p:cNvPr>
          <p:cNvSpPr/>
          <p:nvPr/>
        </p:nvSpPr>
        <p:spPr>
          <a:xfrm>
            <a:off x="565902" y="1388292"/>
            <a:ext cx="1395519" cy="9072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End </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of Life</a:t>
            </a:r>
            <a:endParaRPr sz="1100">
              <a:solidFill>
                <a:srgbClr val="FFFFFF"/>
              </a:solidFill>
              <a:latin typeface="Century Gothic"/>
              <a:ea typeface="Century Gothic"/>
              <a:cs typeface="Century Gothic"/>
              <a:sym typeface="Century Gothic"/>
            </a:endParaRPr>
          </a:p>
        </p:txBody>
      </p:sp>
      <p:sp>
        <p:nvSpPr>
          <p:cNvPr id="6335" name="Google Shape;6335;p352"/>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6336" name="Google Shape;6336;p352"/>
          <p:cNvSpPr/>
          <p:nvPr/>
        </p:nvSpPr>
        <p:spPr>
          <a:xfrm>
            <a:off x="2132418" y="-356305"/>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37" name="Google Shape;6337;p352"/>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38" name="Google Shape;6338;p352"/>
          <p:cNvSpPr txBox="1"/>
          <p:nvPr>
            <p:ph idx="2" type="body"/>
          </p:nvPr>
        </p:nvSpPr>
        <p:spPr>
          <a:xfrm>
            <a:off x="466673" y="585291"/>
            <a:ext cx="77280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Plan product exit or decommissioning strategy by item / location to maximize portfolio consistency, sales and profitability</a:t>
            </a:r>
            <a:endParaRPr sz="1600"/>
          </a:p>
        </p:txBody>
      </p:sp>
      <p:sp>
        <p:nvSpPr>
          <p:cNvPr id="6339" name="Google Shape;6339;p352"/>
          <p:cNvSpPr txBox="1"/>
          <p:nvPr>
            <p:ph type="title"/>
          </p:nvPr>
        </p:nvSpPr>
        <p:spPr>
          <a:xfrm>
            <a:off x="453971" y="64901"/>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 Capabilities</a:t>
            </a:r>
            <a:endParaRPr/>
          </a:p>
        </p:txBody>
      </p:sp>
      <p:grpSp>
        <p:nvGrpSpPr>
          <p:cNvPr id="6340" name="Google Shape;6340;p352"/>
          <p:cNvGrpSpPr/>
          <p:nvPr/>
        </p:nvGrpSpPr>
        <p:grpSpPr>
          <a:xfrm>
            <a:off x="7779998" y="4410748"/>
            <a:ext cx="995883" cy="297004"/>
            <a:chOff x="7711013" y="3986494"/>
            <a:chExt cx="995883" cy="297004"/>
          </a:xfrm>
        </p:grpSpPr>
        <p:sp>
          <p:nvSpPr>
            <p:cNvPr id="6341" name="Google Shape;6341;p352">
              <a:hlinkClick action="ppaction://hlinksldjump" r:id="rId5"/>
            </p:cNvPr>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342" name="Google Shape;6342;p352"/>
            <p:cNvGrpSpPr/>
            <p:nvPr/>
          </p:nvGrpSpPr>
          <p:grpSpPr>
            <a:xfrm>
              <a:off x="7711013" y="4002615"/>
              <a:ext cx="281520" cy="241973"/>
              <a:chOff x="5652748" y="4066000"/>
              <a:chExt cx="906498" cy="747974"/>
            </a:xfrm>
          </p:grpSpPr>
          <p:sp>
            <p:nvSpPr>
              <p:cNvPr id="6343" name="Google Shape;6343;p35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344" name="Google Shape;6344;p35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45" name="Google Shape;6345;p35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346" name="Google Shape;6346;p352">
            <a:hlinkClick action="ppaction://hlinksldjump" r:id="rId6"/>
          </p:cNvPr>
          <p:cNvSpPr/>
          <p:nvPr/>
        </p:nvSpPr>
        <p:spPr>
          <a:xfrm>
            <a:off x="567549" y="20831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47" name="Google Shape;6347;p352">
            <a:hlinkClick action="ppaction://hlinksldjump" r:id="rId7"/>
          </p:cNvPr>
          <p:cNvSpPr/>
          <p:nvPr/>
        </p:nvSpPr>
        <p:spPr>
          <a:xfrm>
            <a:off x="565902" y="2407820"/>
            <a:ext cx="1395519" cy="173864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Performance </a:t>
            </a:r>
            <a:endParaRPr sz="1100">
              <a:solidFill>
                <a:srgbClr val="FFFFFF"/>
              </a:solidFill>
              <a:latin typeface="Century Gothic"/>
              <a:ea typeface="Century Gothic"/>
              <a:cs typeface="Century Gothic"/>
              <a:sym typeface="Century Gothic"/>
            </a:endParaRPr>
          </a:p>
        </p:txBody>
      </p:sp>
      <p:sp>
        <p:nvSpPr>
          <p:cNvPr id="6348" name="Google Shape;6348;p352">
            <a:hlinkClick action="ppaction://hlinksldjump" r:id="rId8"/>
          </p:cNvPr>
          <p:cNvSpPr/>
          <p:nvPr/>
        </p:nvSpPr>
        <p:spPr>
          <a:xfrm>
            <a:off x="567549" y="3900093"/>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49" name="Google Shape;6349;p352">
            <a:hlinkClick action="ppaction://hlinksldjump" r:id="rId9"/>
          </p:cNvPr>
          <p:cNvSpPr/>
          <p:nvPr/>
        </p:nvSpPr>
        <p:spPr>
          <a:xfrm>
            <a:off x="4332913" y="2707893"/>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Compare to Product Benchmarks</a:t>
            </a:r>
            <a:endParaRPr sz="1100">
              <a:solidFill>
                <a:schemeClr val="dk1"/>
              </a:solidFill>
              <a:latin typeface="Century Gothic"/>
              <a:ea typeface="Century Gothic"/>
              <a:cs typeface="Century Gothic"/>
              <a:sym typeface="Century Gothic"/>
            </a:endParaRPr>
          </a:p>
        </p:txBody>
      </p:sp>
      <p:sp>
        <p:nvSpPr>
          <p:cNvPr id="6350" name="Google Shape;6350;p352">
            <a:hlinkClick action="ppaction://hlinksldjump" r:id="rId10"/>
          </p:cNvPr>
          <p:cNvSpPr/>
          <p:nvPr/>
        </p:nvSpPr>
        <p:spPr>
          <a:xfrm>
            <a:off x="2123113" y="2707893"/>
            <a:ext cx="2065221"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Analyze Cross Channel Performance</a:t>
            </a:r>
            <a:endParaRPr sz="1100">
              <a:solidFill>
                <a:schemeClr val="dk1"/>
              </a:solidFill>
              <a:latin typeface="Century Gothic"/>
              <a:ea typeface="Century Gothic"/>
              <a:cs typeface="Century Gothic"/>
              <a:sym typeface="Century Gothic"/>
            </a:endParaRPr>
          </a:p>
        </p:txBody>
      </p:sp>
      <p:sp>
        <p:nvSpPr>
          <p:cNvPr id="6351" name="Google Shape;6351;p352">
            <a:hlinkClick action="ppaction://hlinksldjump" r:id="rId11"/>
          </p:cNvPr>
          <p:cNvSpPr/>
          <p:nvPr/>
        </p:nvSpPr>
        <p:spPr>
          <a:xfrm>
            <a:off x="6551171" y="2707893"/>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Manage Product Profitability</a:t>
            </a:r>
            <a:endParaRPr sz="1100">
              <a:solidFill>
                <a:schemeClr val="dk1"/>
              </a:solidFill>
              <a:latin typeface="Century Gothic"/>
              <a:ea typeface="Century Gothic"/>
              <a:cs typeface="Century Gothic"/>
              <a:sym typeface="Century Gothic"/>
            </a:endParaRPr>
          </a:p>
        </p:txBody>
      </p:sp>
      <p:sp>
        <p:nvSpPr>
          <p:cNvPr id="6352" name="Google Shape;6352;p352">
            <a:hlinkClick action="ppaction://hlinksldjump" r:id="rId12"/>
          </p:cNvPr>
          <p:cNvSpPr/>
          <p:nvPr/>
        </p:nvSpPr>
        <p:spPr>
          <a:xfrm>
            <a:off x="2123113" y="3342221"/>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Produce Behavioral Segmentations</a:t>
            </a:r>
            <a:endParaRPr sz="1100">
              <a:solidFill>
                <a:schemeClr val="dk1"/>
              </a:solidFill>
              <a:latin typeface="Century Gothic"/>
              <a:ea typeface="Century Gothic"/>
              <a:cs typeface="Century Gothic"/>
              <a:sym typeface="Century Gothic"/>
            </a:endParaRPr>
          </a:p>
        </p:txBody>
      </p:sp>
      <p:sp>
        <p:nvSpPr>
          <p:cNvPr id="6353" name="Google Shape;6353;p352">
            <a:hlinkClick action="ppaction://hlinksldjump" r:id="rId13"/>
          </p:cNvPr>
          <p:cNvSpPr/>
          <p:nvPr/>
        </p:nvSpPr>
        <p:spPr>
          <a:xfrm>
            <a:off x="4332913" y="3342221"/>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Predict Product / Service  Retention</a:t>
            </a:r>
            <a:endParaRPr sz="1100">
              <a:solidFill>
                <a:schemeClr val="dk1"/>
              </a:solidFill>
              <a:latin typeface="Century Gothic"/>
              <a:ea typeface="Century Gothic"/>
              <a:cs typeface="Century Gothic"/>
              <a:sym typeface="Century Gothic"/>
            </a:endParaRPr>
          </a:p>
        </p:txBody>
      </p:sp>
      <p:sp>
        <p:nvSpPr>
          <p:cNvPr id="6354" name="Google Shape;6354;p352">
            <a:hlinkClick action="ppaction://hlinksldjump" r:id="rId1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59" name="Shape 6359"/>
        <p:cNvGrpSpPr/>
        <p:nvPr/>
      </p:nvGrpSpPr>
      <p:grpSpPr>
        <a:xfrm>
          <a:off x="0" y="0"/>
          <a:ext cx="0" cy="0"/>
          <a:chOff x="0" y="0"/>
          <a:chExt cx="0" cy="0"/>
        </a:xfrm>
      </p:grpSpPr>
      <p:sp>
        <p:nvSpPr>
          <p:cNvPr id="6360" name="Google Shape;6360;p353"/>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61" name="Google Shape;6361;p353"/>
          <p:cNvSpPr/>
          <p:nvPr/>
        </p:nvSpPr>
        <p:spPr>
          <a:xfrm>
            <a:off x="612386" y="-31525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62" name="Google Shape;6362;p353"/>
          <p:cNvSpPr/>
          <p:nvPr/>
        </p:nvSpPr>
        <p:spPr>
          <a:xfrm rot="5400000">
            <a:off x="9041570" y="214773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63" name="Google Shape;6363;p353"/>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
        <p:nvSpPr>
          <p:cNvPr id="6364" name="Google Shape;6364;p353">
            <a:hlinkClick action="ppaction://hlinksldjump" r:id="rId3"/>
          </p:cNvPr>
          <p:cNvSpPr/>
          <p:nvPr/>
        </p:nvSpPr>
        <p:spPr>
          <a:xfrm>
            <a:off x="3750670" y="249719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Improvement in Risk Scoring Models</a:t>
            </a:r>
            <a:endParaRPr sz="1100">
              <a:solidFill>
                <a:schemeClr val="dk1"/>
              </a:solidFill>
              <a:latin typeface="Century Gothic"/>
              <a:ea typeface="Century Gothic"/>
              <a:cs typeface="Century Gothic"/>
              <a:sym typeface="Century Gothic"/>
            </a:endParaRPr>
          </a:p>
        </p:txBody>
      </p:sp>
      <p:sp>
        <p:nvSpPr>
          <p:cNvPr id="6365" name="Google Shape;6365;p353">
            <a:hlinkClick action="ppaction://hlinksldjump" r:id="rId4"/>
          </p:cNvPr>
          <p:cNvSpPr/>
          <p:nvPr/>
        </p:nvSpPr>
        <p:spPr>
          <a:xfrm>
            <a:off x="2101373" y="249719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Individualized Merchant Recommendations</a:t>
            </a:r>
            <a:endParaRPr sz="1100">
              <a:solidFill>
                <a:schemeClr val="dk1"/>
              </a:solidFill>
              <a:latin typeface="Century Gothic"/>
              <a:ea typeface="Century Gothic"/>
              <a:cs typeface="Century Gothic"/>
              <a:sym typeface="Century Gothic"/>
            </a:endParaRPr>
          </a:p>
        </p:txBody>
      </p:sp>
      <p:sp>
        <p:nvSpPr>
          <p:cNvPr id="6366" name="Google Shape;6366;p353">
            <a:hlinkClick action="ppaction://hlinksldjump" r:id="rId5"/>
          </p:cNvPr>
          <p:cNvSpPr/>
          <p:nvPr/>
        </p:nvSpPr>
        <p:spPr>
          <a:xfrm>
            <a:off x="7040226" y="175486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Credit/Debit Card Spend Simulation</a:t>
            </a:r>
            <a:endParaRPr sz="1100">
              <a:solidFill>
                <a:schemeClr val="dk1"/>
              </a:solidFill>
              <a:latin typeface="Century Gothic"/>
              <a:ea typeface="Century Gothic"/>
              <a:cs typeface="Century Gothic"/>
              <a:sym typeface="Century Gothic"/>
            </a:endParaRPr>
          </a:p>
        </p:txBody>
      </p:sp>
      <p:sp>
        <p:nvSpPr>
          <p:cNvPr id="6367" name="Google Shape;6367;p353">
            <a:hlinkClick action="ppaction://hlinksldjump" r:id="rId6"/>
          </p:cNvPr>
          <p:cNvSpPr/>
          <p:nvPr/>
        </p:nvSpPr>
        <p:spPr>
          <a:xfrm>
            <a:off x="5383981"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Merchant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Acquiring Insights</a:t>
            </a:r>
            <a:endParaRPr sz="1100">
              <a:solidFill>
                <a:schemeClr val="dk1"/>
              </a:solidFill>
              <a:latin typeface="Century Gothic"/>
              <a:ea typeface="Century Gothic"/>
              <a:cs typeface="Century Gothic"/>
              <a:sym typeface="Century Gothic"/>
            </a:endParaRPr>
          </a:p>
        </p:txBody>
      </p:sp>
      <p:sp>
        <p:nvSpPr>
          <p:cNvPr id="6368" name="Google Shape;6368;p353">
            <a:hlinkClick action="ppaction://hlinksldjump" r:id="rId7"/>
          </p:cNvPr>
          <p:cNvSpPr/>
          <p:nvPr/>
        </p:nvSpPr>
        <p:spPr>
          <a:xfrm>
            <a:off x="375067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Relationship Management and Optimization</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(Product Usage)</a:t>
            </a:r>
            <a:endParaRPr sz="1100">
              <a:solidFill>
                <a:schemeClr val="dk1"/>
              </a:solidFill>
              <a:latin typeface="Century Gothic"/>
              <a:ea typeface="Century Gothic"/>
              <a:cs typeface="Century Gothic"/>
              <a:sym typeface="Century Gothic"/>
            </a:endParaRPr>
          </a:p>
        </p:txBody>
      </p:sp>
      <p:sp>
        <p:nvSpPr>
          <p:cNvPr id="6369" name="Google Shape;6369;p353">
            <a:hlinkClick action="ppaction://hlinksldjump" r:id="rId8"/>
          </p:cNvPr>
          <p:cNvSpPr/>
          <p:nvPr/>
        </p:nvSpPr>
        <p:spPr>
          <a:xfrm>
            <a:off x="210569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Product Development and Packaging</a:t>
            </a:r>
            <a:endParaRPr sz="1100">
              <a:solidFill>
                <a:schemeClr val="dk1"/>
              </a:solidFill>
              <a:latin typeface="Century Gothic"/>
              <a:ea typeface="Century Gothic"/>
              <a:cs typeface="Century Gothic"/>
              <a:sym typeface="Century Gothic"/>
            </a:endParaRPr>
          </a:p>
        </p:txBody>
      </p:sp>
      <p:sp>
        <p:nvSpPr>
          <p:cNvPr id="6370" name="Google Shape;6370;p353">
            <a:hlinkClick action="ppaction://hlinksldjump" r:id="rId9"/>
          </p:cNvPr>
          <p:cNvSpPr/>
          <p:nvPr/>
        </p:nvSpPr>
        <p:spPr>
          <a:xfrm>
            <a:off x="612350" y="1754865"/>
            <a:ext cx="1395519" cy="137232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Development</a:t>
            </a:r>
            <a:endParaRPr sz="1100">
              <a:solidFill>
                <a:srgbClr val="FFFFFF"/>
              </a:solidFill>
              <a:latin typeface="Century Gothic"/>
              <a:ea typeface="Century Gothic"/>
              <a:cs typeface="Century Gothic"/>
              <a:sym typeface="Century Gothic"/>
            </a:endParaRPr>
          </a:p>
        </p:txBody>
      </p:sp>
      <p:sp>
        <p:nvSpPr>
          <p:cNvPr id="6371" name="Google Shape;6371;p353">
            <a:hlinkClick action="ppaction://hlinksldjump" r:id="rId10"/>
          </p:cNvPr>
          <p:cNvSpPr/>
          <p:nvPr/>
        </p:nvSpPr>
        <p:spPr>
          <a:xfrm rot="5400000">
            <a:off x="5059182" y="4498581"/>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353"/>
          <p:cNvSpPr txBox="1"/>
          <p:nvPr/>
        </p:nvSpPr>
        <p:spPr>
          <a:xfrm>
            <a:off x="4863517" y="46942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2</a:t>
            </a:r>
            <a:endParaRPr/>
          </a:p>
        </p:txBody>
      </p:sp>
      <p:grpSp>
        <p:nvGrpSpPr>
          <p:cNvPr id="6373" name="Google Shape;6373;p353"/>
          <p:cNvGrpSpPr/>
          <p:nvPr/>
        </p:nvGrpSpPr>
        <p:grpSpPr>
          <a:xfrm>
            <a:off x="2093107" y="1344189"/>
            <a:ext cx="281520" cy="241973"/>
            <a:chOff x="5652748" y="4066000"/>
            <a:chExt cx="906498" cy="747974"/>
          </a:xfrm>
        </p:grpSpPr>
        <p:sp>
          <p:nvSpPr>
            <p:cNvPr id="6374" name="Google Shape;6374;p35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375" name="Google Shape;6375;p35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76" name="Google Shape;6376;p35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6377" name="Google Shape;6377;p353"/>
          <p:cNvSpPr/>
          <p:nvPr/>
        </p:nvSpPr>
        <p:spPr>
          <a:xfrm rot="5400000">
            <a:off x="5377965"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78" name="Google Shape;6378;p353"/>
          <p:cNvSpPr/>
          <p:nvPr/>
        </p:nvSpPr>
        <p:spPr>
          <a:xfrm rot="5400000">
            <a:off x="2099673" y="2067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79" name="Google Shape;6379;p353"/>
          <p:cNvSpPr/>
          <p:nvPr/>
        </p:nvSpPr>
        <p:spPr>
          <a:xfrm rot="5400000">
            <a:off x="3730050"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0" name="Google Shape;6380;p353"/>
          <p:cNvSpPr/>
          <p:nvPr/>
        </p:nvSpPr>
        <p:spPr>
          <a:xfrm rot="5400000">
            <a:off x="7041391" y="2023681"/>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1" name="Google Shape;6381;p353"/>
          <p:cNvSpPr txBox="1"/>
          <p:nvPr>
            <p:ph type="title"/>
          </p:nvPr>
        </p:nvSpPr>
        <p:spPr>
          <a:xfrm>
            <a:off x="498912" y="81282"/>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Business Value Framework</a:t>
            </a:r>
            <a:endParaRPr/>
          </a:p>
        </p:txBody>
      </p:sp>
      <p:sp>
        <p:nvSpPr>
          <p:cNvPr id="6382" name="Google Shape;6382;p353"/>
          <p:cNvSpPr/>
          <p:nvPr/>
        </p:nvSpPr>
        <p:spPr>
          <a:xfrm>
            <a:off x="2073748" y="1284265"/>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sp>
        <p:nvSpPr>
          <p:cNvPr id="6383" name="Google Shape;6383;p353"/>
          <p:cNvSpPr/>
          <p:nvPr/>
        </p:nvSpPr>
        <p:spPr>
          <a:xfrm rot="5400000">
            <a:off x="2085244" y="2780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4" name="Google Shape;6384;p353"/>
          <p:cNvSpPr/>
          <p:nvPr/>
        </p:nvSpPr>
        <p:spPr>
          <a:xfrm rot="5400000">
            <a:off x="3737143" y="2780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5" name="Google Shape;6385;p353">
            <a:hlinkClick action="ppaction://hlinksldjump" r:id="rId11"/>
          </p:cNvPr>
          <p:cNvSpPr/>
          <p:nvPr/>
        </p:nvSpPr>
        <p:spPr>
          <a:xfrm>
            <a:off x="5394094" y="249719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Multivariate Testing</a:t>
            </a:r>
            <a:endParaRPr/>
          </a:p>
        </p:txBody>
      </p:sp>
      <p:sp>
        <p:nvSpPr>
          <p:cNvPr id="6386" name="Google Shape;6386;p353"/>
          <p:cNvSpPr/>
          <p:nvPr/>
        </p:nvSpPr>
        <p:spPr>
          <a:xfrm rot="5400000">
            <a:off x="5386384" y="2791570"/>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7" name="Google Shape;6387;p353">
            <a:hlinkClick action="ppaction://hlinksldjump" r:id="rId12"/>
          </p:cNvPr>
          <p:cNvSpPr/>
          <p:nvPr/>
        </p:nvSpPr>
        <p:spPr>
          <a:xfrm>
            <a:off x="620491" y="3239521"/>
            <a:ext cx="1395519" cy="630001"/>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Introduction</a:t>
            </a:r>
            <a:endParaRPr sz="1100">
              <a:solidFill>
                <a:srgbClr val="FFFFFF"/>
              </a:solidFill>
              <a:latin typeface="Century Gothic"/>
              <a:ea typeface="Century Gothic"/>
              <a:cs typeface="Century Gothic"/>
              <a:sym typeface="Century Gothic"/>
            </a:endParaRPr>
          </a:p>
        </p:txBody>
      </p:sp>
      <p:sp>
        <p:nvSpPr>
          <p:cNvPr id="6388" name="Google Shape;6388;p353">
            <a:hlinkClick action="ppaction://hlinksldjump" r:id="rId13"/>
          </p:cNvPr>
          <p:cNvSpPr/>
          <p:nvPr/>
        </p:nvSpPr>
        <p:spPr>
          <a:xfrm>
            <a:off x="2101372" y="3239521"/>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Competitor Analysis</a:t>
            </a:r>
            <a:endParaRPr/>
          </a:p>
        </p:txBody>
      </p:sp>
      <p:sp>
        <p:nvSpPr>
          <p:cNvPr id="6389" name="Google Shape;6389;p353"/>
          <p:cNvSpPr/>
          <p:nvPr/>
        </p:nvSpPr>
        <p:spPr>
          <a:xfrm rot="5400000">
            <a:off x="2085243" y="3522771"/>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90" name="Google Shape;6390;p353">
            <a:hlinkClick action="ppaction://hlinksldjump" r:id="rId1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95" name="Shape 6395"/>
        <p:cNvGrpSpPr/>
        <p:nvPr/>
      </p:nvGrpSpPr>
      <p:grpSpPr>
        <a:xfrm>
          <a:off x="0" y="0"/>
          <a:ext cx="0" cy="0"/>
          <a:chOff x="0" y="0"/>
          <a:chExt cx="0" cy="0"/>
        </a:xfrm>
      </p:grpSpPr>
      <p:sp>
        <p:nvSpPr>
          <p:cNvPr id="6396" name="Google Shape;6396;p354"/>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97" name="Google Shape;6397;p354"/>
          <p:cNvSpPr/>
          <p:nvPr/>
        </p:nvSpPr>
        <p:spPr>
          <a:xfrm rot="5400000">
            <a:off x="9041570" y="214773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98" name="Google Shape;6398;p354"/>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
        <p:nvSpPr>
          <p:cNvPr id="6399" name="Google Shape;6399;p354">
            <a:hlinkClick action="ppaction://hlinksldjump" r:id="rId3"/>
          </p:cNvPr>
          <p:cNvSpPr/>
          <p:nvPr/>
        </p:nvSpPr>
        <p:spPr>
          <a:xfrm>
            <a:off x="5383981"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Credit Risk Models for New Lending Customers</a:t>
            </a:r>
            <a:endParaRPr sz="800">
              <a:solidFill>
                <a:schemeClr val="dk1"/>
              </a:solidFill>
              <a:latin typeface="Century Gothic"/>
              <a:ea typeface="Century Gothic"/>
              <a:cs typeface="Century Gothic"/>
              <a:sym typeface="Century Gothic"/>
            </a:endParaRPr>
          </a:p>
        </p:txBody>
      </p:sp>
      <p:sp>
        <p:nvSpPr>
          <p:cNvPr id="6400" name="Google Shape;6400;p354">
            <a:hlinkClick action="ppaction://hlinksldjump" r:id="rId4"/>
          </p:cNvPr>
          <p:cNvSpPr/>
          <p:nvPr/>
        </p:nvSpPr>
        <p:spPr>
          <a:xfrm>
            <a:off x="375067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Behavioral-Based Pricing with Telematics Data</a:t>
            </a:r>
            <a:endParaRPr sz="800">
              <a:solidFill>
                <a:schemeClr val="dk1"/>
              </a:solidFill>
              <a:latin typeface="Century Gothic"/>
              <a:ea typeface="Century Gothic"/>
              <a:cs typeface="Century Gothic"/>
              <a:sym typeface="Century Gothic"/>
            </a:endParaRPr>
          </a:p>
        </p:txBody>
      </p:sp>
      <p:sp>
        <p:nvSpPr>
          <p:cNvPr id="6401" name="Google Shape;6401;p354">
            <a:hlinkClick action="ppaction://hlinksldjump" r:id="rId5"/>
          </p:cNvPr>
          <p:cNvSpPr/>
          <p:nvPr/>
        </p:nvSpPr>
        <p:spPr>
          <a:xfrm>
            <a:off x="210569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Advanced Risk &amp; Pricing Insights</a:t>
            </a:r>
            <a:endParaRPr sz="1100">
              <a:solidFill>
                <a:schemeClr val="dk1"/>
              </a:solidFill>
              <a:latin typeface="Century Gothic"/>
              <a:ea typeface="Century Gothic"/>
              <a:cs typeface="Century Gothic"/>
              <a:sym typeface="Century Gothic"/>
            </a:endParaRPr>
          </a:p>
        </p:txBody>
      </p:sp>
      <p:sp>
        <p:nvSpPr>
          <p:cNvPr id="6402" name="Google Shape;6402;p354">
            <a:hlinkClick action="ppaction://hlinksldjump" r:id="rId6"/>
          </p:cNvPr>
          <p:cNvSpPr/>
          <p:nvPr/>
        </p:nvSpPr>
        <p:spPr>
          <a:xfrm>
            <a:off x="612350" y="1754865"/>
            <a:ext cx="1395519" cy="629999"/>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Price and Promotion</a:t>
            </a:r>
            <a:endParaRPr sz="1100">
              <a:solidFill>
                <a:srgbClr val="FFFFFF"/>
              </a:solidFill>
              <a:latin typeface="Century Gothic"/>
              <a:ea typeface="Century Gothic"/>
              <a:cs typeface="Century Gothic"/>
              <a:sym typeface="Century Gothic"/>
            </a:endParaRPr>
          </a:p>
        </p:txBody>
      </p:sp>
      <p:grpSp>
        <p:nvGrpSpPr>
          <p:cNvPr id="6403" name="Google Shape;6403;p354"/>
          <p:cNvGrpSpPr/>
          <p:nvPr/>
        </p:nvGrpSpPr>
        <p:grpSpPr>
          <a:xfrm>
            <a:off x="2093107" y="1344189"/>
            <a:ext cx="281520" cy="241973"/>
            <a:chOff x="5652748" y="4066000"/>
            <a:chExt cx="906498" cy="747974"/>
          </a:xfrm>
        </p:grpSpPr>
        <p:sp>
          <p:nvSpPr>
            <p:cNvPr id="6404" name="Google Shape;6404;p35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405" name="Google Shape;6405;p35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06" name="Google Shape;6406;p35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6407" name="Google Shape;6407;p354"/>
          <p:cNvSpPr/>
          <p:nvPr/>
        </p:nvSpPr>
        <p:spPr>
          <a:xfrm rot="5400000">
            <a:off x="5367852"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08" name="Google Shape;6408;p354"/>
          <p:cNvSpPr/>
          <p:nvPr/>
        </p:nvSpPr>
        <p:spPr>
          <a:xfrm rot="5400000">
            <a:off x="2099673" y="2067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09" name="Google Shape;6409;p354"/>
          <p:cNvSpPr/>
          <p:nvPr/>
        </p:nvSpPr>
        <p:spPr>
          <a:xfrm rot="5400000">
            <a:off x="3730050"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10" name="Google Shape;6410;p354"/>
          <p:cNvSpPr txBox="1"/>
          <p:nvPr>
            <p:ph type="title"/>
          </p:nvPr>
        </p:nvSpPr>
        <p:spPr>
          <a:xfrm>
            <a:off x="498912" y="81282"/>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Business Value Framework</a:t>
            </a:r>
            <a:endParaRPr/>
          </a:p>
        </p:txBody>
      </p:sp>
      <p:sp>
        <p:nvSpPr>
          <p:cNvPr id="6411" name="Google Shape;6411;p354"/>
          <p:cNvSpPr/>
          <p:nvPr/>
        </p:nvSpPr>
        <p:spPr>
          <a:xfrm>
            <a:off x="2073748" y="1284265"/>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sp>
        <p:nvSpPr>
          <p:cNvPr id="6412" name="Google Shape;6412;p354"/>
          <p:cNvSpPr/>
          <p:nvPr/>
        </p:nvSpPr>
        <p:spPr>
          <a:xfrm>
            <a:off x="675207" y="-22749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413" name="Google Shape;6413;p354">
            <a:hlinkClick action="ppaction://hlinksldjump" r:id="rId7"/>
          </p:cNvPr>
          <p:cNvSpPr/>
          <p:nvPr/>
        </p:nvSpPr>
        <p:spPr>
          <a:xfrm>
            <a:off x="612349" y="2459864"/>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Performance</a:t>
            </a:r>
            <a:endParaRPr sz="1100">
              <a:solidFill>
                <a:srgbClr val="FFFFFF"/>
              </a:solidFill>
              <a:latin typeface="Century Gothic"/>
              <a:ea typeface="Century Gothic"/>
              <a:cs typeface="Century Gothic"/>
              <a:sym typeface="Century Gothic"/>
            </a:endParaRPr>
          </a:p>
        </p:txBody>
      </p:sp>
      <p:sp>
        <p:nvSpPr>
          <p:cNvPr id="6414" name="Google Shape;6414;p354">
            <a:hlinkClick action="ppaction://hlinksldjump" r:id="rId8"/>
          </p:cNvPr>
          <p:cNvSpPr/>
          <p:nvPr/>
        </p:nvSpPr>
        <p:spPr>
          <a:xfrm>
            <a:off x="2107288" y="247731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126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Understanding Sales Across All Channels</a:t>
            </a:r>
            <a:endParaRPr sz="1000">
              <a:solidFill>
                <a:schemeClr val="dk1"/>
              </a:solidFill>
              <a:latin typeface="Century Gothic"/>
              <a:ea typeface="Century Gothic"/>
              <a:cs typeface="Century Gothic"/>
              <a:sym typeface="Century Gothic"/>
            </a:endParaRPr>
          </a:p>
        </p:txBody>
      </p:sp>
      <p:sp>
        <p:nvSpPr>
          <p:cNvPr id="6415" name="Google Shape;6415;p354"/>
          <p:cNvSpPr/>
          <p:nvPr/>
        </p:nvSpPr>
        <p:spPr>
          <a:xfrm rot="5400000">
            <a:off x="2090903" y="2739772"/>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16" name="Google Shape;6416;p354">
            <a:hlinkClick action="ppaction://hlinksldjump" r:id="rId9"/>
          </p:cNvPr>
          <p:cNvSpPr/>
          <p:nvPr/>
        </p:nvSpPr>
        <p:spPr>
          <a:xfrm>
            <a:off x="3746179" y="247731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126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Portfolio Benchmarks</a:t>
            </a:r>
            <a:endParaRPr/>
          </a:p>
        </p:txBody>
      </p:sp>
      <p:sp>
        <p:nvSpPr>
          <p:cNvPr id="6417" name="Google Shape;6417;p354"/>
          <p:cNvSpPr/>
          <p:nvPr/>
        </p:nvSpPr>
        <p:spPr>
          <a:xfrm rot="5400000">
            <a:off x="3733178" y="274311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18" name="Google Shape;6418;p354">
            <a:hlinkClick action="ppaction://hlinksldjump" r:id="rId10"/>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354"/>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2</a:t>
            </a:r>
            <a:endParaRPr sz="800">
              <a:solidFill>
                <a:srgbClr val="FFFFFF"/>
              </a:solidFill>
              <a:latin typeface="Century Gothic"/>
              <a:ea typeface="Century Gothic"/>
              <a:cs typeface="Century Gothic"/>
              <a:sym typeface="Century Gothic"/>
            </a:endParaRPr>
          </a:p>
        </p:txBody>
      </p:sp>
      <p:sp>
        <p:nvSpPr>
          <p:cNvPr id="6420" name="Google Shape;6420;p354">
            <a:hlinkClick action="ppaction://hlinksldjump" r:id="rId1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30" name="Shape 6430"/>
        <p:cNvGrpSpPr/>
        <p:nvPr/>
      </p:nvGrpSpPr>
      <p:grpSpPr>
        <a:xfrm>
          <a:off x="0" y="0"/>
          <a:ext cx="0" cy="0"/>
          <a:chOff x="0" y="0"/>
          <a:chExt cx="0" cy="0"/>
        </a:xfrm>
      </p:grpSpPr>
      <p:sp>
        <p:nvSpPr>
          <p:cNvPr id="6431" name="Google Shape;6431;p356"/>
          <p:cNvSpPr/>
          <p:nvPr/>
        </p:nvSpPr>
        <p:spPr>
          <a:xfrm>
            <a:off x="505609" y="736096"/>
            <a:ext cx="7767022" cy="3911208"/>
          </a:xfrm>
          <a:prstGeom prst="rect">
            <a:avLst/>
          </a:prstGeom>
          <a:solidFill>
            <a:srgbClr val="005AA4"/>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32" name="Google Shape;6432;p356"/>
          <p:cNvSpPr txBox="1"/>
          <p:nvPr>
            <p:ph type="title"/>
          </p:nvPr>
        </p:nvSpPr>
        <p:spPr>
          <a:xfrm>
            <a:off x="457200" y="173736"/>
            <a:ext cx="8229600" cy="413639"/>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Products/Services Vary by Industry, Analytic Needs Differ Too</a:t>
            </a:r>
            <a:endParaRPr/>
          </a:p>
        </p:txBody>
      </p:sp>
      <p:sp>
        <p:nvSpPr>
          <p:cNvPr id="6433" name="Google Shape;6433;p356"/>
          <p:cNvSpPr txBox="1"/>
          <p:nvPr>
            <p:ph idx="2" type="body"/>
          </p:nvPr>
        </p:nvSpPr>
        <p:spPr>
          <a:xfrm>
            <a:off x="3297994" y="492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pic>
        <p:nvPicPr>
          <p:cNvPr id="6434" name="Google Shape;6434;p356"/>
          <p:cNvPicPr preferRelativeResize="0"/>
          <p:nvPr/>
        </p:nvPicPr>
        <p:blipFill rotWithShape="1">
          <a:blip r:embed="rId3">
            <a:alphaModFix/>
          </a:blip>
          <a:srcRect b="0" l="0" r="0" t="0"/>
          <a:stretch/>
        </p:blipFill>
        <p:spPr>
          <a:xfrm>
            <a:off x="2561530" y="903642"/>
            <a:ext cx="1737360" cy="1115568"/>
          </a:xfrm>
          <a:prstGeom prst="rect">
            <a:avLst/>
          </a:prstGeom>
          <a:noFill/>
          <a:ln>
            <a:noFill/>
          </a:ln>
        </p:spPr>
      </p:pic>
      <p:pic>
        <p:nvPicPr>
          <p:cNvPr id="6435" name="Google Shape;6435;p356"/>
          <p:cNvPicPr preferRelativeResize="0"/>
          <p:nvPr/>
        </p:nvPicPr>
        <p:blipFill rotWithShape="1">
          <a:blip r:embed="rId4">
            <a:alphaModFix/>
          </a:blip>
          <a:srcRect b="0" l="0" r="0" t="0"/>
          <a:stretch/>
        </p:blipFill>
        <p:spPr>
          <a:xfrm>
            <a:off x="2559511" y="3405814"/>
            <a:ext cx="1737360" cy="1115568"/>
          </a:xfrm>
          <a:prstGeom prst="rect">
            <a:avLst/>
          </a:prstGeom>
          <a:noFill/>
          <a:ln>
            <a:noFill/>
          </a:ln>
        </p:spPr>
      </p:pic>
      <p:pic>
        <p:nvPicPr>
          <p:cNvPr id="6436" name="Google Shape;6436;p356"/>
          <p:cNvPicPr preferRelativeResize="0"/>
          <p:nvPr/>
        </p:nvPicPr>
        <p:blipFill rotWithShape="1">
          <a:blip r:embed="rId5">
            <a:alphaModFix/>
          </a:blip>
          <a:srcRect b="0" l="0" r="0" t="0"/>
          <a:stretch/>
        </p:blipFill>
        <p:spPr>
          <a:xfrm>
            <a:off x="2562990" y="2168083"/>
            <a:ext cx="1737360" cy="1115568"/>
          </a:xfrm>
          <a:prstGeom prst="rect">
            <a:avLst/>
          </a:prstGeom>
          <a:noFill/>
          <a:ln>
            <a:noFill/>
          </a:ln>
        </p:spPr>
      </p:pic>
      <p:pic>
        <p:nvPicPr>
          <p:cNvPr id="6437" name="Google Shape;6437;p356"/>
          <p:cNvPicPr preferRelativeResize="0"/>
          <p:nvPr/>
        </p:nvPicPr>
        <p:blipFill rotWithShape="1">
          <a:blip r:embed="rId6">
            <a:alphaModFix/>
          </a:blip>
          <a:srcRect b="0" l="0" r="0" t="0"/>
          <a:stretch/>
        </p:blipFill>
        <p:spPr>
          <a:xfrm>
            <a:off x="4477729" y="903642"/>
            <a:ext cx="1737442" cy="1118662"/>
          </a:xfrm>
          <a:prstGeom prst="rect">
            <a:avLst/>
          </a:prstGeom>
          <a:noFill/>
          <a:ln>
            <a:noFill/>
          </a:ln>
        </p:spPr>
      </p:pic>
      <p:pic>
        <p:nvPicPr>
          <p:cNvPr descr="Image result for drugs" id="6438" name="Google Shape;6438;p356">
            <a:hlinkClick r:id="rId7"/>
          </p:cNvPr>
          <p:cNvPicPr preferRelativeResize="0"/>
          <p:nvPr>
            <p:ph idx="1" type="body"/>
          </p:nvPr>
        </p:nvPicPr>
        <p:blipFill rotWithShape="1">
          <a:blip r:embed="rId8">
            <a:alphaModFix/>
          </a:blip>
          <a:srcRect b="0" l="0" r="0" t="0"/>
          <a:stretch/>
        </p:blipFill>
        <p:spPr>
          <a:xfrm>
            <a:off x="4464712" y="2168083"/>
            <a:ext cx="1737360" cy="1115568"/>
          </a:xfrm>
          <a:prstGeom prst="rect">
            <a:avLst/>
          </a:prstGeom>
          <a:noFill/>
          <a:ln>
            <a:noFill/>
          </a:ln>
        </p:spPr>
      </p:pic>
      <p:pic>
        <p:nvPicPr>
          <p:cNvPr descr="Image result for hotel room" id="6439" name="Google Shape;6439;p356">
            <a:hlinkClick r:id="rId9"/>
          </p:cNvPr>
          <p:cNvPicPr preferRelativeResize="0"/>
          <p:nvPr/>
        </p:nvPicPr>
        <p:blipFill rotWithShape="1">
          <a:blip r:embed="rId10">
            <a:alphaModFix/>
          </a:blip>
          <a:srcRect b="0" l="0" r="0" t="0"/>
          <a:stretch/>
        </p:blipFill>
        <p:spPr>
          <a:xfrm>
            <a:off x="688492" y="3405814"/>
            <a:ext cx="1737360" cy="1115568"/>
          </a:xfrm>
          <a:prstGeom prst="rect">
            <a:avLst/>
          </a:prstGeom>
          <a:noFill/>
          <a:ln>
            <a:noFill/>
          </a:ln>
        </p:spPr>
      </p:pic>
      <p:pic>
        <p:nvPicPr>
          <p:cNvPr id="6440" name="Google Shape;6440;p356"/>
          <p:cNvPicPr preferRelativeResize="0"/>
          <p:nvPr/>
        </p:nvPicPr>
        <p:blipFill rotWithShape="1">
          <a:blip r:embed="rId11">
            <a:alphaModFix/>
          </a:blip>
          <a:srcRect b="0" l="0" r="0" t="0"/>
          <a:stretch/>
        </p:blipFill>
        <p:spPr>
          <a:xfrm>
            <a:off x="4467163" y="3405814"/>
            <a:ext cx="1737360" cy="1115568"/>
          </a:xfrm>
          <a:prstGeom prst="rect">
            <a:avLst/>
          </a:prstGeom>
          <a:noFill/>
          <a:ln>
            <a:noFill/>
          </a:ln>
        </p:spPr>
      </p:pic>
      <p:pic>
        <p:nvPicPr>
          <p:cNvPr id="6441" name="Google Shape;6441;p356"/>
          <p:cNvPicPr preferRelativeResize="0"/>
          <p:nvPr/>
        </p:nvPicPr>
        <p:blipFill rotWithShape="1">
          <a:blip r:embed="rId12">
            <a:alphaModFix/>
          </a:blip>
          <a:srcRect b="0" l="19091" r="19090" t="0"/>
          <a:stretch/>
        </p:blipFill>
        <p:spPr>
          <a:xfrm>
            <a:off x="6366434" y="3405814"/>
            <a:ext cx="1737360" cy="1115568"/>
          </a:xfrm>
          <a:prstGeom prst="rect">
            <a:avLst/>
          </a:prstGeom>
          <a:noFill/>
          <a:ln>
            <a:noFill/>
          </a:ln>
        </p:spPr>
      </p:pic>
      <p:pic>
        <p:nvPicPr>
          <p:cNvPr id="6442" name="Google Shape;6442;p356"/>
          <p:cNvPicPr preferRelativeResize="0"/>
          <p:nvPr/>
        </p:nvPicPr>
        <p:blipFill rotWithShape="1">
          <a:blip r:embed="rId13">
            <a:alphaModFix/>
          </a:blip>
          <a:srcRect b="0" l="0" r="0" t="0"/>
          <a:stretch/>
        </p:blipFill>
        <p:spPr>
          <a:xfrm>
            <a:off x="661268" y="2168083"/>
            <a:ext cx="1737360" cy="1115568"/>
          </a:xfrm>
          <a:prstGeom prst="rect">
            <a:avLst/>
          </a:prstGeom>
          <a:noFill/>
          <a:ln>
            <a:noFill/>
          </a:ln>
        </p:spPr>
      </p:pic>
      <p:pic>
        <p:nvPicPr>
          <p:cNvPr id="6443" name="Google Shape;6443;p356"/>
          <p:cNvPicPr preferRelativeResize="0"/>
          <p:nvPr/>
        </p:nvPicPr>
        <p:blipFill rotWithShape="1">
          <a:blip r:embed="rId14">
            <a:alphaModFix/>
          </a:blip>
          <a:srcRect b="0" l="0" r="0" t="0"/>
          <a:stretch/>
        </p:blipFill>
        <p:spPr>
          <a:xfrm>
            <a:off x="6366435" y="903642"/>
            <a:ext cx="1737360" cy="1115568"/>
          </a:xfrm>
          <a:prstGeom prst="rect">
            <a:avLst/>
          </a:prstGeom>
          <a:noFill/>
          <a:ln>
            <a:noFill/>
          </a:ln>
        </p:spPr>
      </p:pic>
      <p:pic>
        <p:nvPicPr>
          <p:cNvPr descr="Image result for web site" id="6444" name="Google Shape;6444;p356">
            <a:hlinkClick r:id="rId15"/>
          </p:cNvPr>
          <p:cNvPicPr preferRelativeResize="0"/>
          <p:nvPr/>
        </p:nvPicPr>
        <p:blipFill rotWithShape="1">
          <a:blip r:embed="rId16">
            <a:alphaModFix/>
          </a:blip>
          <a:srcRect b="0" l="0" r="0" t="0"/>
          <a:stretch/>
        </p:blipFill>
        <p:spPr>
          <a:xfrm>
            <a:off x="6366433" y="2168083"/>
            <a:ext cx="1737360" cy="1115568"/>
          </a:xfrm>
          <a:prstGeom prst="rect">
            <a:avLst/>
          </a:prstGeom>
          <a:noFill/>
          <a:ln>
            <a:noFill/>
          </a:ln>
        </p:spPr>
      </p:pic>
      <p:pic>
        <p:nvPicPr>
          <p:cNvPr descr="Image result for checkbook, credit card and loan" id="6445" name="Google Shape;6445;p356">
            <a:hlinkClick r:id="rId17"/>
          </p:cNvPr>
          <p:cNvPicPr preferRelativeResize="0"/>
          <p:nvPr/>
        </p:nvPicPr>
        <p:blipFill rotWithShape="1">
          <a:blip r:embed="rId18">
            <a:alphaModFix/>
          </a:blip>
          <a:srcRect b="0" l="0" r="0" t="0"/>
          <a:stretch/>
        </p:blipFill>
        <p:spPr>
          <a:xfrm>
            <a:off x="688492" y="906736"/>
            <a:ext cx="1737360" cy="1115568"/>
          </a:xfrm>
          <a:prstGeom prst="rect">
            <a:avLst/>
          </a:prstGeom>
          <a:noFill/>
          <a:ln>
            <a:noFill/>
          </a:ln>
        </p:spPr>
      </p:pic>
      <p:sp>
        <p:nvSpPr>
          <p:cNvPr id="6446" name="Google Shape;6446;p356">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transition spd="med">
    <p:fade/>
  </p:transition>
</p:sld>
</file>

<file path=ppt/slides/slide3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70" name="Shape 6470"/>
        <p:cNvGrpSpPr/>
        <p:nvPr/>
      </p:nvGrpSpPr>
      <p:grpSpPr>
        <a:xfrm>
          <a:off x="0" y="0"/>
          <a:ext cx="0" cy="0"/>
          <a:chOff x="0" y="0"/>
          <a:chExt cx="0" cy="0"/>
        </a:xfrm>
      </p:grpSpPr>
      <p:sp>
        <p:nvSpPr>
          <p:cNvPr id="6471" name="Google Shape;6471;p359"/>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72" name="Google Shape;6472;p359"/>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a:t>
            </a:r>
            <a:endParaRPr/>
          </a:p>
        </p:txBody>
      </p:sp>
      <p:sp>
        <p:nvSpPr>
          <p:cNvPr id="6473" name="Google Shape;6473;p359"/>
          <p:cNvSpPr txBox="1"/>
          <p:nvPr>
            <p:ph idx="1" type="body"/>
          </p:nvPr>
        </p:nvSpPr>
        <p:spPr>
          <a:xfrm>
            <a:off x="465884" y="983379"/>
            <a:ext cx="5097463"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How - Capabilities</a:t>
            </a:r>
            <a:endParaRPr/>
          </a:p>
          <a:p>
            <a:pPr indent="-169863" lvl="0" marL="169863" rtl="0" algn="l">
              <a:lnSpc>
                <a:spcPct val="95000"/>
              </a:lnSpc>
              <a:spcBef>
                <a:spcPts val="800"/>
              </a:spcBef>
              <a:spcAft>
                <a:spcPts val="0"/>
              </a:spcAft>
              <a:buClr>
                <a:schemeClr val="dk1"/>
              </a:buClr>
              <a:buSzPts val="1400"/>
              <a:buChar char="•"/>
            </a:pPr>
            <a:r>
              <a:rPr lang="en-GB" sz="1400"/>
              <a:t>Design and develop products that people want to buy</a:t>
            </a:r>
            <a:endParaRPr/>
          </a:p>
          <a:p>
            <a:pPr indent="-169863" lvl="0" marL="169863" rtl="0" algn="l">
              <a:lnSpc>
                <a:spcPct val="95000"/>
              </a:lnSpc>
              <a:spcBef>
                <a:spcPts val="800"/>
              </a:spcBef>
              <a:spcAft>
                <a:spcPts val="0"/>
              </a:spcAft>
              <a:buClr>
                <a:schemeClr val="dk1"/>
              </a:buClr>
              <a:buSzPts val="1400"/>
              <a:buChar char="•"/>
            </a:pPr>
            <a:r>
              <a:rPr lang="en-GB" sz="1400"/>
              <a:t>Plan the launch of new products to minimize bottlenecks and  prepare the organization</a:t>
            </a:r>
            <a:endParaRPr/>
          </a:p>
          <a:p>
            <a:pPr indent="-169863" lvl="0" marL="169863" rtl="0" algn="l">
              <a:lnSpc>
                <a:spcPct val="95000"/>
              </a:lnSpc>
              <a:spcBef>
                <a:spcPts val="800"/>
              </a:spcBef>
              <a:spcAft>
                <a:spcPts val="0"/>
              </a:spcAft>
              <a:buClr>
                <a:schemeClr val="dk1"/>
              </a:buClr>
              <a:buSzPts val="1400"/>
              <a:buChar char="•"/>
            </a:pPr>
            <a:r>
              <a:rPr lang="en-GB" sz="1400"/>
              <a:t>Retire products cost effectively</a:t>
            </a:r>
            <a:endParaRPr/>
          </a:p>
          <a:p>
            <a:pPr indent="-169863" lvl="0" marL="169863" rtl="0" algn="l">
              <a:lnSpc>
                <a:spcPct val="95000"/>
              </a:lnSpc>
              <a:spcBef>
                <a:spcPts val="800"/>
              </a:spcBef>
              <a:spcAft>
                <a:spcPts val="0"/>
              </a:spcAft>
              <a:buClr>
                <a:schemeClr val="dk1"/>
              </a:buClr>
              <a:buSzPts val="1400"/>
              <a:buChar char="•"/>
            </a:pPr>
            <a:r>
              <a:rPr lang="en-GB" sz="1400"/>
              <a:t>Price products based on portfolio roles, competition and market tolerances</a:t>
            </a:r>
            <a:endParaRPr/>
          </a:p>
          <a:p>
            <a:pPr indent="-169863" lvl="0" marL="169863" rtl="0" algn="l">
              <a:lnSpc>
                <a:spcPct val="95000"/>
              </a:lnSpc>
              <a:spcBef>
                <a:spcPts val="800"/>
              </a:spcBef>
              <a:spcAft>
                <a:spcPts val="0"/>
              </a:spcAft>
              <a:buClr>
                <a:schemeClr val="dk1"/>
              </a:buClr>
              <a:buSzPts val="1400"/>
              <a:buChar char="•"/>
            </a:pPr>
            <a:r>
              <a:rPr lang="en-GB" sz="1400"/>
              <a:t>Promote products to maximize profits</a:t>
            </a:r>
            <a:endParaRPr/>
          </a:p>
          <a:p>
            <a:pPr indent="-169863" lvl="0" marL="169863" rtl="0" algn="l">
              <a:lnSpc>
                <a:spcPct val="95000"/>
              </a:lnSpc>
              <a:spcBef>
                <a:spcPts val="800"/>
              </a:spcBef>
              <a:spcAft>
                <a:spcPts val="0"/>
              </a:spcAft>
              <a:buClr>
                <a:schemeClr val="dk1"/>
              </a:buClr>
              <a:buSzPts val="1400"/>
              <a:buChar char="•"/>
            </a:pPr>
            <a:r>
              <a:rPr lang="en-GB" sz="1400"/>
              <a:t>Build local assortments that meet consumers’ needs </a:t>
            </a:r>
            <a:endParaRPr/>
          </a:p>
          <a:p>
            <a:pPr indent="-169863" lvl="0" marL="169863" rtl="0" algn="l">
              <a:lnSpc>
                <a:spcPct val="95000"/>
              </a:lnSpc>
              <a:spcBef>
                <a:spcPts val="800"/>
              </a:spcBef>
              <a:spcAft>
                <a:spcPts val="0"/>
              </a:spcAft>
              <a:buClr>
                <a:schemeClr val="dk1"/>
              </a:buClr>
              <a:buSzPts val="1400"/>
              <a:buChar char="•"/>
            </a:pPr>
            <a:r>
              <a:rPr lang="en-GB" sz="1400"/>
              <a:t>Analyze space allocation and product adjacencies to grow basket size and Units per Transaction</a:t>
            </a:r>
            <a:endParaRPr/>
          </a:p>
          <a:p>
            <a:pPr indent="-169863" lvl="0" marL="169863" rtl="0" algn="l">
              <a:lnSpc>
                <a:spcPct val="95000"/>
              </a:lnSpc>
              <a:spcBef>
                <a:spcPts val="800"/>
              </a:spcBef>
              <a:spcAft>
                <a:spcPts val="0"/>
              </a:spcAft>
              <a:buClr>
                <a:schemeClr val="dk1"/>
              </a:buClr>
              <a:buSzPts val="1400"/>
              <a:buChar char="•"/>
            </a:pPr>
            <a:r>
              <a:rPr lang="en-GB" sz="1400"/>
              <a:t>Maximize growth by reacting to product performance trends;  identify velocity of products </a:t>
            </a:r>
            <a:endParaRPr/>
          </a:p>
        </p:txBody>
      </p:sp>
      <p:sp>
        <p:nvSpPr>
          <p:cNvPr id="6474" name="Google Shape;6474;p359"/>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pic>
        <p:nvPicPr>
          <p:cNvPr id="6475" name="Google Shape;6475;p359"/>
          <p:cNvPicPr preferRelativeResize="0"/>
          <p:nvPr/>
        </p:nvPicPr>
        <p:blipFill rotWithShape="1">
          <a:blip r:embed="rId3">
            <a:alphaModFix/>
          </a:blip>
          <a:srcRect b="0" l="0" r="0" t="0"/>
          <a:stretch/>
        </p:blipFill>
        <p:spPr>
          <a:xfrm>
            <a:off x="5549900" y="967317"/>
            <a:ext cx="3594100" cy="2396066"/>
          </a:xfrm>
          <a:prstGeom prst="rect">
            <a:avLst/>
          </a:prstGeom>
          <a:noFill/>
          <a:ln>
            <a:noFill/>
          </a:ln>
        </p:spPr>
      </p:pic>
      <p:sp>
        <p:nvSpPr>
          <p:cNvPr id="6476" name="Google Shape;6476;p359">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65" name="Shape 6565"/>
        <p:cNvGrpSpPr/>
        <p:nvPr/>
      </p:nvGrpSpPr>
      <p:grpSpPr>
        <a:xfrm>
          <a:off x="0" y="0"/>
          <a:ext cx="0" cy="0"/>
          <a:chOff x="0" y="0"/>
          <a:chExt cx="0" cy="0"/>
        </a:xfrm>
      </p:grpSpPr>
      <p:pic>
        <p:nvPicPr>
          <p:cNvPr descr="BIZ-1061-L.jpg" id="6566" name="Google Shape;6566;p367"/>
          <p:cNvPicPr preferRelativeResize="0"/>
          <p:nvPr/>
        </p:nvPicPr>
        <p:blipFill rotWithShape="1">
          <a:blip r:embed="rId3">
            <a:alphaModFix/>
          </a:blip>
          <a:srcRect b="0" l="-141" r="34634" t="0"/>
          <a:stretch/>
        </p:blipFill>
        <p:spPr>
          <a:xfrm>
            <a:off x="5367646" y="0"/>
            <a:ext cx="3776353" cy="5143500"/>
          </a:xfrm>
          <a:prstGeom prst="rect">
            <a:avLst/>
          </a:prstGeom>
          <a:noFill/>
          <a:ln>
            <a:noFill/>
          </a:ln>
        </p:spPr>
      </p:pic>
      <p:sp>
        <p:nvSpPr>
          <p:cNvPr id="6567" name="Google Shape;6567;p367"/>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Development</a:t>
            </a:r>
            <a:endParaRPr/>
          </a:p>
        </p:txBody>
      </p:sp>
      <p:sp>
        <p:nvSpPr>
          <p:cNvPr id="6568" name="Google Shape;6568;p367"/>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dk2"/>
              </a:buClr>
              <a:buSzPts val="1800"/>
              <a:buNone/>
            </a:pPr>
            <a:r>
              <a:rPr lang="en-GB"/>
              <a:t>Why is it important?</a:t>
            </a:r>
            <a:endParaRPr/>
          </a:p>
          <a:p>
            <a:pPr indent="-231775" lvl="1" marL="231775" rtl="0" algn="l">
              <a:lnSpc>
                <a:spcPct val="100000"/>
              </a:lnSpc>
              <a:spcBef>
                <a:spcPts val="400"/>
              </a:spcBef>
              <a:spcAft>
                <a:spcPts val="0"/>
              </a:spcAft>
              <a:buClr>
                <a:schemeClr val="dk1"/>
              </a:buClr>
              <a:buSzPts val="1400"/>
              <a:buChar char="•"/>
            </a:pPr>
            <a:r>
              <a:rPr lang="en-GB"/>
              <a:t>New products are the life-blood of companies, securing a relevant and sustainable future </a:t>
            </a:r>
            <a:endParaRPr/>
          </a:p>
          <a:p>
            <a:pPr indent="-231775" lvl="1" marL="231775" rtl="0" algn="l">
              <a:lnSpc>
                <a:spcPct val="100000"/>
              </a:lnSpc>
              <a:spcBef>
                <a:spcPts val="800"/>
              </a:spcBef>
              <a:spcAft>
                <a:spcPts val="0"/>
              </a:spcAft>
              <a:buClr>
                <a:schemeClr val="dk1"/>
              </a:buClr>
              <a:buSzPts val="1400"/>
              <a:buChar char="•"/>
            </a:pPr>
            <a:r>
              <a:rPr lang="en-GB"/>
              <a:t>Helps companies stay competitive when demand changes or new technology is developed</a:t>
            </a:r>
            <a:endParaRPr/>
          </a:p>
          <a:p>
            <a:pPr indent="-231775" lvl="1" marL="231775" rtl="0" algn="l">
              <a:lnSpc>
                <a:spcPct val="100000"/>
              </a:lnSpc>
              <a:spcBef>
                <a:spcPts val="800"/>
              </a:spcBef>
              <a:spcAft>
                <a:spcPts val="0"/>
              </a:spcAft>
              <a:buClr>
                <a:schemeClr val="dk1"/>
              </a:buClr>
              <a:buSzPts val="1400"/>
              <a:buChar char="•"/>
            </a:pPr>
            <a:r>
              <a:rPr lang="en-GB"/>
              <a:t>Requires anticipation of what the market demands to provide the product before it is requested</a:t>
            </a:r>
            <a:endParaRPr/>
          </a:p>
          <a:p>
            <a:pPr indent="-231775" lvl="1" marL="231775" rtl="0" algn="l">
              <a:lnSpc>
                <a:spcPct val="100000"/>
              </a:lnSpc>
              <a:spcBef>
                <a:spcPts val="800"/>
              </a:spcBef>
              <a:spcAft>
                <a:spcPts val="0"/>
              </a:spcAft>
              <a:buClr>
                <a:schemeClr val="dk1"/>
              </a:buClr>
              <a:buSzPts val="1400"/>
              <a:buChar char="•"/>
            </a:pPr>
            <a:r>
              <a:rPr lang="en-GB"/>
              <a:t>Key to growth by providing new value to existing and new customers…and failure is costly!</a:t>
            </a:r>
            <a:endParaRPr/>
          </a:p>
          <a:p>
            <a:pPr indent="-142875" lvl="1" marL="231775" rtl="0" algn="l">
              <a:lnSpc>
                <a:spcPct val="100000"/>
              </a:lnSpc>
              <a:spcBef>
                <a:spcPts val="800"/>
              </a:spcBef>
              <a:spcAft>
                <a:spcPts val="0"/>
              </a:spcAft>
              <a:buClr>
                <a:schemeClr val="dk1"/>
              </a:buClr>
              <a:buSzPts val="1400"/>
              <a:buNone/>
            </a:pPr>
            <a:r>
              <a:t/>
            </a:r>
            <a:endParaRPr/>
          </a:p>
        </p:txBody>
      </p:sp>
      <p:sp>
        <p:nvSpPr>
          <p:cNvPr id="6569" name="Google Shape;6569;p367"/>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570" name="Google Shape;6570;p367"/>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Expand features sets and develop new products and services by tapping into Customers’ unmet needs</a:t>
            </a:r>
            <a:endParaRPr b="0" i="0" sz="1400" u="none" cap="none" strike="noStrike">
              <a:solidFill>
                <a:schemeClr val="lt1"/>
              </a:solidFill>
              <a:latin typeface="Century Gothic"/>
              <a:ea typeface="Century Gothic"/>
              <a:cs typeface="Century Gothic"/>
              <a:sym typeface="Century Gothic"/>
            </a:endParaRPr>
          </a:p>
        </p:txBody>
      </p:sp>
      <p:sp>
        <p:nvSpPr>
          <p:cNvPr id="6571" name="Google Shape;6571;p367">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spTree>
  </p:cSld>
  <p:clrMapOvr>
    <a:masterClrMapping/>
  </p:clrMapOvr>
</p:sld>
</file>

<file path=ppt/slides/slide3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85" name="Shape 6585"/>
        <p:cNvGrpSpPr/>
        <p:nvPr/>
      </p:nvGrpSpPr>
      <p:grpSpPr>
        <a:xfrm>
          <a:off x="0" y="0"/>
          <a:ext cx="0" cy="0"/>
          <a:chOff x="0" y="0"/>
          <a:chExt cx="0" cy="0"/>
        </a:xfrm>
      </p:grpSpPr>
      <p:cxnSp>
        <p:nvCxnSpPr>
          <p:cNvPr id="6586" name="Google Shape;6586;p36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587" name="Google Shape;6587;p369"/>
          <p:cNvGraphicFramePr/>
          <p:nvPr/>
        </p:nvGraphicFramePr>
        <p:xfrm>
          <a:off x="600079" y="84613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Leverage external market research, trends and internal product usage data to support product and packaging design and specifications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The</a:t>
                      </a:r>
                      <a:r>
                        <a:rPr b="0" lang="en-GB" sz="900">
                          <a:solidFill>
                            <a:schemeClr val="dk1"/>
                          </a:solidFill>
                        </a:rPr>
                        <a:t> work of p</a:t>
                      </a:r>
                      <a:r>
                        <a:rPr b="0" lang="en-GB" sz="900">
                          <a:solidFill>
                            <a:schemeClr val="dk1"/>
                          </a:solidFill>
                        </a:rPr>
                        <a:t>roduct designers involves observing people, asking questions, searching for information, making and testing ideas, and ultimately generating 'solutions' to 'problems'. Manifest in the design process is the use of analytics</a:t>
                      </a:r>
                      <a:r>
                        <a:rPr b="0" lang="en-GB" sz="900">
                          <a:solidFill>
                            <a:schemeClr val="dk1"/>
                          </a:solidFill>
                        </a:rPr>
                        <a:t> and quantitative </a:t>
                      </a:r>
                      <a:r>
                        <a:rPr b="0" lang="en-GB" sz="900">
                          <a:solidFill>
                            <a:schemeClr val="dk1"/>
                          </a:solidFill>
                        </a:rPr>
                        <a:t>research methods.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Determine market need/demand and underlying</a:t>
                      </a:r>
                      <a:r>
                        <a:rPr b="0" lang="en-GB" sz="900">
                          <a:solidFill>
                            <a:schemeClr val="dk1"/>
                          </a:solidFill>
                        </a:rPr>
                        <a:t> trends</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Understand product usage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Identify</a:t>
                      </a:r>
                      <a:r>
                        <a:rPr b="0" lang="en-GB" sz="900">
                          <a:solidFill>
                            <a:schemeClr val="dk1"/>
                          </a:solidFill>
                        </a:rPr>
                        <a:t> targeted customer segments/personas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Assess competitive</a:t>
                      </a:r>
                      <a:r>
                        <a:rPr b="0" lang="en-GB" sz="900">
                          <a:solidFill>
                            <a:schemeClr val="dk1"/>
                          </a:solidFill>
                        </a:rPr>
                        <a:t> marketplace/offers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gaps in product mix and assortments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Investigate potential for copy write/ trademark/patent protection, and/or risk for potential infringement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External market research</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Consumer survey’s, focus group feedback, and product reviews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Detailed usage data, Internal consumer and transaction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Contact center logs and branch/store interaction notes</a:t>
                      </a:r>
                      <a:endParaRPr sz="900">
                        <a:solidFill>
                          <a:schemeClr val="dk1"/>
                        </a:solidFill>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Google search term metrics and social media (Twitter, Pinterest, Facebook, &amp; Instagram) topical statistics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US Patent Office Patent Full-Text and Image Database (PatFT)</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Variety of traditional (e.g. profiling, regression) analytical techniques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Natural Language processing (NLP) and other text analytic methods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Image analytics &amp; deep learning</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Automatic classification and clustering techniques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Develop products to enhance profitability and customer experience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 profit growth by identifying and investing in potentially valuable products</a:t>
                      </a:r>
                      <a:endParaRPr/>
                    </a:p>
                    <a:p>
                      <a:pPr indent="-171450" lvl="0" marL="171450" marR="0" rtl="0" algn="l">
                        <a:lnSpc>
                          <a:spcPct val="100000"/>
                        </a:lnSpc>
                        <a:spcBef>
                          <a:spcPts val="0"/>
                        </a:spcBef>
                        <a:spcAft>
                          <a:spcPts val="0"/>
                        </a:spcAft>
                        <a:buClr>
                          <a:schemeClr val="dk1"/>
                        </a:buClr>
                        <a:buSzPts val="900"/>
                        <a:buFont typeface="Arial"/>
                        <a:buChar char="•"/>
                      </a:pPr>
                      <a:r>
                        <a:rPr lang="en-GB" sz="900"/>
                        <a:t>Reduced</a:t>
                      </a:r>
                      <a:r>
                        <a:rPr lang="en-GB" sz="900"/>
                        <a:t> costs of new product development through improved developmental processes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and higher cross sell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retention, brand loyalty, and referrals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profitability</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588" name="Google Shape;6588;p369"/>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Research New Product Development Opportunities</a:t>
            </a:r>
            <a:endParaRPr/>
          </a:p>
        </p:txBody>
      </p:sp>
      <p:grpSp>
        <p:nvGrpSpPr>
          <p:cNvPr id="6589" name="Google Shape;6589;p369"/>
          <p:cNvGrpSpPr/>
          <p:nvPr/>
        </p:nvGrpSpPr>
        <p:grpSpPr>
          <a:xfrm>
            <a:off x="7717533" y="4360377"/>
            <a:ext cx="1058348" cy="347375"/>
            <a:chOff x="7651698" y="4287227"/>
            <a:chExt cx="1058348" cy="347375"/>
          </a:xfrm>
        </p:grpSpPr>
        <p:grpSp>
          <p:nvGrpSpPr>
            <p:cNvPr id="6590" name="Google Shape;6590;p369"/>
            <p:cNvGrpSpPr/>
            <p:nvPr/>
          </p:nvGrpSpPr>
          <p:grpSpPr>
            <a:xfrm>
              <a:off x="7714163" y="4337598"/>
              <a:ext cx="995883" cy="297004"/>
              <a:chOff x="7711013" y="3986494"/>
              <a:chExt cx="995883" cy="297004"/>
            </a:xfrm>
          </p:grpSpPr>
          <p:sp>
            <p:nvSpPr>
              <p:cNvPr id="6591" name="Google Shape;6591;p36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592" name="Google Shape;6592;p369"/>
              <p:cNvGrpSpPr/>
              <p:nvPr/>
            </p:nvGrpSpPr>
            <p:grpSpPr>
              <a:xfrm>
                <a:off x="7711013" y="4002615"/>
                <a:ext cx="281520" cy="241973"/>
                <a:chOff x="5652748" y="4066000"/>
                <a:chExt cx="906498" cy="747974"/>
              </a:xfrm>
            </p:grpSpPr>
            <p:sp>
              <p:nvSpPr>
                <p:cNvPr id="6593" name="Google Shape;6593;p36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594" name="Google Shape;6594;p36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95" name="Google Shape;6595;p36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596" name="Google Shape;6596;p369">
              <a:hlinkClick action="ppaction://hlinksldjump" r:id="rId3"/>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descr="BIZ-1040-L.jpg" id="6597" name="Google Shape;6597;p369"/>
          <p:cNvPicPr preferRelativeResize="0"/>
          <p:nvPr/>
        </p:nvPicPr>
        <p:blipFill rotWithShape="1">
          <a:blip r:embed="rId4">
            <a:alphaModFix/>
          </a:blip>
          <a:srcRect b="0" l="13530" r="-8655" t="16871"/>
          <a:stretch/>
        </p:blipFill>
        <p:spPr>
          <a:xfrm>
            <a:off x="5538788" y="803275"/>
            <a:ext cx="3237093" cy="1699193"/>
          </a:xfrm>
          <a:prstGeom prst="rect">
            <a:avLst/>
          </a:prstGeom>
          <a:noFill/>
          <a:ln>
            <a:noFill/>
          </a:ln>
        </p:spPr>
      </p:pic>
      <p:sp>
        <p:nvSpPr>
          <p:cNvPr id="6598" name="Google Shape;6598;p369">
            <a:hlinkClick action="ppaction://hlinksldjump" r:id="rId5"/>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spTree>
  </p:cSld>
  <p:clrMapOvr>
    <a:masterClrMapping/>
  </p:clrMapOvr>
</p:sld>
</file>

<file path=ppt/slides/slide3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17" name="Shape 6617"/>
        <p:cNvGrpSpPr/>
        <p:nvPr/>
      </p:nvGrpSpPr>
      <p:grpSpPr>
        <a:xfrm>
          <a:off x="0" y="0"/>
          <a:ext cx="0" cy="0"/>
          <a:chOff x="0" y="0"/>
          <a:chExt cx="0" cy="0"/>
        </a:xfrm>
      </p:grpSpPr>
      <p:cxnSp>
        <p:nvCxnSpPr>
          <p:cNvPr id="6618" name="Google Shape;6618;p37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619" name="Google Shape;6619;p371"/>
          <p:cNvGraphicFramePr/>
          <p:nvPr/>
        </p:nvGraphicFramePr>
        <p:xfrm>
          <a:off x="608546" y="822655"/>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Prediction of product launch</a:t>
                      </a:r>
                      <a:r>
                        <a:rPr b="1" lang="en-GB" sz="900">
                          <a:solidFill>
                            <a:schemeClr val="dk1"/>
                          </a:solidFill>
                        </a:rPr>
                        <a:t> impact on resources, assets and market adoption</a:t>
                      </a:r>
                      <a:r>
                        <a:rPr b="1" lang="en-GB" sz="900">
                          <a:solidFill>
                            <a:schemeClr val="dk1"/>
                          </a:solidFill>
                        </a:rPr>
                        <a:t>, to support </a:t>
                      </a:r>
                      <a:r>
                        <a:rPr b="1" lang="en-GB" sz="900">
                          <a:solidFill>
                            <a:schemeClr val="dk1"/>
                          </a:solidFill>
                        </a:rPr>
                        <a:t>business case and investment justification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Predict impact on internal</a:t>
                      </a:r>
                      <a:r>
                        <a:rPr b="0" lang="en-GB" sz="900">
                          <a:solidFill>
                            <a:schemeClr val="dk1"/>
                          </a:solidFill>
                        </a:rPr>
                        <a:t> resources (such as call centre)</a:t>
                      </a:r>
                      <a:r>
                        <a:rPr b="0" lang="en-GB" sz="900">
                          <a:solidFill>
                            <a:schemeClr val="dk1"/>
                          </a:solidFill>
                        </a:rPr>
                        <a:t> based on historical patterns, behavior, context, relationships, market trends </a:t>
                      </a:r>
                      <a:endParaRPr b="0" sz="900">
                        <a:solidFill>
                          <a:srgbClr val="FF0000"/>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Predict impact on sales volumes based on historical patterns, behavior, context, relationships, market trends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Predict impact on profitability based on historical patterns, behavior, context, relationships, market trends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Predict impact on existing portfolio (such as cannibalisation)</a:t>
                      </a:r>
                      <a:r>
                        <a:rPr b="0" lang="en-GB" sz="900">
                          <a:solidFill>
                            <a:schemeClr val="dk1"/>
                          </a:solidFill>
                        </a:rPr>
                        <a:t> </a:t>
                      </a:r>
                      <a:r>
                        <a:rPr b="0" lang="en-GB" sz="900">
                          <a:solidFill>
                            <a:schemeClr val="dk1"/>
                          </a:solidFill>
                        </a:rPr>
                        <a:t>based on historical patterns, behavior, context, relationships, market trends</a:t>
                      </a:r>
                      <a:endParaRPr b="0" sz="900">
                        <a:solidFill>
                          <a:schemeClr val="dk1"/>
                        </a:solidFill>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transactions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Behavioral data (product utilization)</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associated revenue and cost</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pricing and attribute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Sales channel / POS transactions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Call center interactions and IVR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Pricing and competitor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uptake and cannibalisation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Affinity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Text analysis (call centre logs and social media)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Sentiment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Social Network Analysis (telco specific)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Cost optimization due to efficient capacity planning in support channels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Stabilization of Secured customer experience due to optimized staffing</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Go To Market (GTM) process adapted to likely market and internal needs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risk of overinvesting in less likely to be successful product launches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Maximizing revenue and profitability of launched products</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620" name="Google Shape;6620;p371"/>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Predict Business Impact (Discovery)</a:t>
            </a:r>
            <a:endParaRPr/>
          </a:p>
        </p:txBody>
      </p:sp>
      <p:pic>
        <p:nvPicPr>
          <p:cNvPr descr="BIZ-1054-L.jpg" id="6621" name="Google Shape;6621;p371"/>
          <p:cNvPicPr preferRelativeResize="0"/>
          <p:nvPr/>
        </p:nvPicPr>
        <p:blipFill rotWithShape="1">
          <a:blip r:embed="rId3">
            <a:alphaModFix/>
          </a:blip>
          <a:srcRect b="0" l="-8520" r="-8519" t="0"/>
          <a:stretch/>
        </p:blipFill>
        <p:spPr>
          <a:xfrm>
            <a:off x="5149279" y="732830"/>
            <a:ext cx="3256949" cy="1850882"/>
          </a:xfrm>
          <a:prstGeom prst="rect">
            <a:avLst/>
          </a:prstGeom>
          <a:noFill/>
          <a:ln>
            <a:noFill/>
          </a:ln>
        </p:spPr>
      </p:pic>
      <p:sp>
        <p:nvSpPr>
          <p:cNvPr id="6622" name="Google Shape;6622;p371">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grpSp>
        <p:nvGrpSpPr>
          <p:cNvPr id="6623" name="Google Shape;6623;p371"/>
          <p:cNvGrpSpPr/>
          <p:nvPr/>
        </p:nvGrpSpPr>
        <p:grpSpPr>
          <a:xfrm>
            <a:off x="7717533" y="4360377"/>
            <a:ext cx="1058348" cy="347375"/>
            <a:chOff x="7651698" y="4287227"/>
            <a:chExt cx="1058348" cy="347375"/>
          </a:xfrm>
        </p:grpSpPr>
        <p:grpSp>
          <p:nvGrpSpPr>
            <p:cNvPr id="6624" name="Google Shape;6624;p371"/>
            <p:cNvGrpSpPr/>
            <p:nvPr/>
          </p:nvGrpSpPr>
          <p:grpSpPr>
            <a:xfrm>
              <a:off x="7714163" y="4337598"/>
              <a:ext cx="995883" cy="297004"/>
              <a:chOff x="7711013" y="3986494"/>
              <a:chExt cx="995883" cy="297004"/>
            </a:xfrm>
          </p:grpSpPr>
          <p:sp>
            <p:nvSpPr>
              <p:cNvPr id="6625" name="Google Shape;6625;p37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626" name="Google Shape;6626;p371"/>
              <p:cNvGrpSpPr/>
              <p:nvPr/>
            </p:nvGrpSpPr>
            <p:grpSpPr>
              <a:xfrm>
                <a:off x="7711013" y="4002615"/>
                <a:ext cx="281520" cy="241973"/>
                <a:chOff x="5652748" y="4066000"/>
                <a:chExt cx="906498" cy="747974"/>
              </a:xfrm>
            </p:grpSpPr>
            <p:sp>
              <p:nvSpPr>
                <p:cNvPr id="6627" name="Google Shape;6627;p37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628" name="Google Shape;6628;p37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29" name="Google Shape;6629;p37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630" name="Google Shape;6630;p37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49" name="Shape 6649"/>
        <p:cNvGrpSpPr/>
        <p:nvPr/>
      </p:nvGrpSpPr>
      <p:grpSpPr>
        <a:xfrm>
          <a:off x="0" y="0"/>
          <a:ext cx="0" cy="0"/>
          <a:chOff x="0" y="0"/>
          <a:chExt cx="0" cy="0"/>
        </a:xfrm>
      </p:grpSpPr>
      <p:cxnSp>
        <p:nvCxnSpPr>
          <p:cNvPr id="6650" name="Google Shape;6650;p373"/>
          <p:cNvCxnSpPr/>
          <p:nvPr/>
        </p:nvCxnSpPr>
        <p:spPr>
          <a:xfrm>
            <a:off x="457025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6651" name="Google Shape;6651;p373"/>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Develop and Test Product Prototypes </a:t>
            </a:r>
            <a:endParaRPr/>
          </a:p>
        </p:txBody>
      </p:sp>
      <p:pic>
        <p:nvPicPr>
          <p:cNvPr descr="Free stock photo of light, lamp, idea, power" id="6652" name="Google Shape;6652;p373"/>
          <p:cNvPicPr preferRelativeResize="0"/>
          <p:nvPr/>
        </p:nvPicPr>
        <p:blipFill rotWithShape="1">
          <a:blip r:embed="rId3">
            <a:alphaModFix/>
          </a:blip>
          <a:srcRect b="0" l="0" r="0" t="0"/>
          <a:stretch/>
        </p:blipFill>
        <p:spPr>
          <a:xfrm>
            <a:off x="5538788" y="803275"/>
            <a:ext cx="2552700" cy="1701800"/>
          </a:xfrm>
          <a:prstGeom prst="rect">
            <a:avLst/>
          </a:prstGeom>
          <a:noFill/>
          <a:ln>
            <a:noFill/>
          </a:ln>
        </p:spPr>
      </p:pic>
      <p:graphicFrame>
        <p:nvGraphicFramePr>
          <p:cNvPr id="6653" name="Google Shape;6653;p373"/>
          <p:cNvGraphicFramePr/>
          <p:nvPr/>
        </p:nvGraphicFramePr>
        <p:xfrm>
          <a:off x="629141" y="777874"/>
          <a:ext cx="3000000" cy="3000000"/>
        </p:xfrm>
        <a:graphic>
          <a:graphicData uri="http://schemas.openxmlformats.org/drawingml/2006/table">
            <a:tbl>
              <a:tblPr bandRow="1" firstRow="1">
                <a:noFill/>
                <a:tableStyleId>{D098BFCB-6916-41F2-A2A5-0DF0D5139B6F}</a:tableStyleId>
              </a:tblPr>
              <a:tblGrid>
                <a:gridCol w="3906850"/>
                <a:gridCol w="119000"/>
                <a:gridCol w="3862850"/>
              </a:tblGrid>
              <a:tr h="3406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3897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Test and evaluate alternative product specifications and features which includes AB testing, product preview statistics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Determine usability with various new and emerging Telecommunications products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 adoptability of new product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 overall household sales revenue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Drive house hold penetration of products / services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Evolve product and services offering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Drive adoptability of new mobile application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Keep telecommunications providers relevant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1721250">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Data &amp; Solution</a:t>
                      </a:r>
                      <a:endParaRPr/>
                    </a:p>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Content viewership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Home solutions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App usage of various products – application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profile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Wireless and wire line usage data; Network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Multi-channel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Transform multiple structured for integration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Data Repository / data schema for  multi-structure data storage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analyze customer segments for  their usage of product prototypes and service packages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Study new product churn and multi-channel support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Track usage and profitability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Path and pattern analysis to understand paths of low usage and high usage / issues and nonissues</a:t>
                      </a:r>
                      <a:endParaRPr/>
                    </a:p>
                    <a:p>
                      <a:pPr indent="0" lvl="0" marL="0" marR="0" rtl="0" algn="l">
                        <a:spcBef>
                          <a:spcPts val="0"/>
                        </a:spcBef>
                        <a:spcAft>
                          <a:spcPts val="0"/>
                        </a:spcAft>
                        <a:buNone/>
                      </a:pPr>
                      <a:r>
                        <a:t/>
                      </a:r>
                      <a:endParaRPr b="1" sz="9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Arial"/>
                        <a:buNone/>
                      </a:pPr>
                      <a:r>
                        <a:rPr b="1" lang="en-GB" sz="1400">
                          <a:solidFill>
                            <a:schemeClr val="dk2"/>
                          </a:solidFill>
                          <a:latin typeface="Century Gothic"/>
                          <a:ea typeface="Century Gothic"/>
                          <a:cs typeface="Century Gothic"/>
                          <a:sym typeface="Century Gothic"/>
                        </a:rPr>
                        <a:t>Outcome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 ARPU per customer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Overall corporate-wide reduced churn based on multiproduct households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loyalty based on providing cutting edge products and services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Revenue replacement for retiring products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654" name="Google Shape;6654;p373">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grpSp>
        <p:nvGrpSpPr>
          <p:cNvPr id="6655" name="Google Shape;6655;p373"/>
          <p:cNvGrpSpPr/>
          <p:nvPr/>
        </p:nvGrpSpPr>
        <p:grpSpPr>
          <a:xfrm>
            <a:off x="7717533" y="4360377"/>
            <a:ext cx="1058348" cy="347375"/>
            <a:chOff x="7651698" y="4287227"/>
            <a:chExt cx="1058348" cy="347375"/>
          </a:xfrm>
        </p:grpSpPr>
        <p:grpSp>
          <p:nvGrpSpPr>
            <p:cNvPr id="6656" name="Google Shape;6656;p373"/>
            <p:cNvGrpSpPr/>
            <p:nvPr/>
          </p:nvGrpSpPr>
          <p:grpSpPr>
            <a:xfrm>
              <a:off x="7714163" y="4337598"/>
              <a:ext cx="995883" cy="297004"/>
              <a:chOff x="7711013" y="3986494"/>
              <a:chExt cx="995883" cy="297004"/>
            </a:xfrm>
          </p:grpSpPr>
          <p:sp>
            <p:nvSpPr>
              <p:cNvPr id="6657" name="Google Shape;6657;p37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658" name="Google Shape;6658;p373"/>
              <p:cNvGrpSpPr/>
              <p:nvPr/>
            </p:nvGrpSpPr>
            <p:grpSpPr>
              <a:xfrm>
                <a:off x="7711013" y="4002615"/>
                <a:ext cx="281520" cy="241973"/>
                <a:chOff x="5652748" y="4066000"/>
                <a:chExt cx="906498" cy="747974"/>
              </a:xfrm>
            </p:grpSpPr>
            <p:sp>
              <p:nvSpPr>
                <p:cNvPr id="6659" name="Google Shape;6659;p37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660" name="Google Shape;6660;p37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61" name="Google Shape;6661;p37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662" name="Google Shape;6662;p37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81" name="Shape 6681"/>
        <p:cNvGrpSpPr/>
        <p:nvPr/>
      </p:nvGrpSpPr>
      <p:grpSpPr>
        <a:xfrm>
          <a:off x="0" y="0"/>
          <a:ext cx="0" cy="0"/>
          <a:chOff x="0" y="0"/>
          <a:chExt cx="0" cy="0"/>
        </a:xfrm>
      </p:grpSpPr>
      <p:pic>
        <p:nvPicPr>
          <p:cNvPr descr="RS920_BIZ-1070-H-2.jpg" id="6682" name="Google Shape;6682;p375"/>
          <p:cNvPicPr preferRelativeResize="0"/>
          <p:nvPr/>
        </p:nvPicPr>
        <p:blipFill rotWithShape="1">
          <a:blip r:embed="rId3">
            <a:alphaModFix/>
          </a:blip>
          <a:srcRect b="12714" l="45835" r="13504" t="0"/>
          <a:stretch/>
        </p:blipFill>
        <p:spPr>
          <a:xfrm>
            <a:off x="5549900" y="0"/>
            <a:ext cx="3594100" cy="5143500"/>
          </a:xfrm>
          <a:prstGeom prst="rect">
            <a:avLst/>
          </a:prstGeom>
          <a:noFill/>
          <a:ln>
            <a:noFill/>
          </a:ln>
        </p:spPr>
      </p:pic>
      <p:sp>
        <p:nvSpPr>
          <p:cNvPr id="6683" name="Google Shape;6683;p375"/>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Introduction</a:t>
            </a:r>
            <a:endParaRPr/>
          </a:p>
        </p:txBody>
      </p:sp>
      <p:sp>
        <p:nvSpPr>
          <p:cNvPr id="6684" name="Google Shape;6684;p375"/>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200"/>
              <a:buChar char="•"/>
            </a:pPr>
            <a:r>
              <a:rPr lang="en-GB" sz="1200"/>
              <a:t>Launching a new product requires insight</a:t>
            </a:r>
            <a:endParaRPr/>
          </a:p>
          <a:p>
            <a:pPr indent="-231775" lvl="1" marL="231775" rtl="0" algn="l">
              <a:lnSpc>
                <a:spcPct val="100000"/>
              </a:lnSpc>
              <a:spcBef>
                <a:spcPts val="600"/>
              </a:spcBef>
              <a:spcAft>
                <a:spcPts val="0"/>
              </a:spcAft>
              <a:buClr>
                <a:schemeClr val="dk1"/>
              </a:buClr>
              <a:buSzPts val="1200"/>
              <a:buChar char="•"/>
            </a:pPr>
            <a:r>
              <a:rPr lang="en-GB" sz="1200"/>
              <a:t>Launching a new product can only be successful if the organization is prepared to support customers considering to buy, buying or returning the product</a:t>
            </a:r>
            <a:endParaRPr/>
          </a:p>
          <a:p>
            <a:pPr indent="-231775" lvl="1" marL="231775" rtl="0" algn="l">
              <a:lnSpc>
                <a:spcPct val="100000"/>
              </a:lnSpc>
              <a:spcBef>
                <a:spcPts val="600"/>
              </a:spcBef>
              <a:spcAft>
                <a:spcPts val="0"/>
              </a:spcAft>
              <a:buClr>
                <a:schemeClr val="dk1"/>
              </a:buClr>
              <a:buSzPts val="1200"/>
              <a:buChar char="•"/>
            </a:pPr>
            <a:r>
              <a:rPr lang="en-GB" sz="1200"/>
              <a:t>Customers are increasingly using multiple channels in their shopping journey,  making it important to track their behaviors across all channels</a:t>
            </a:r>
            <a:endParaRPr/>
          </a:p>
          <a:p>
            <a:pPr indent="-231775" lvl="1" marL="231775" rtl="0" algn="l">
              <a:lnSpc>
                <a:spcPct val="100000"/>
              </a:lnSpc>
              <a:spcBef>
                <a:spcPts val="600"/>
              </a:spcBef>
              <a:spcAft>
                <a:spcPts val="0"/>
              </a:spcAft>
              <a:buClr>
                <a:schemeClr val="dk1"/>
              </a:buClr>
              <a:buSzPts val="1200"/>
              <a:buChar char="•"/>
            </a:pPr>
            <a:r>
              <a:rPr lang="en-GB" sz="1200"/>
              <a:t>Extensive insight about how the new product is likely to be perceived and received by the market is essential</a:t>
            </a:r>
            <a:endParaRPr/>
          </a:p>
          <a:p>
            <a:pPr indent="-231775" lvl="1" marL="231775" rtl="0" algn="l">
              <a:lnSpc>
                <a:spcPct val="100000"/>
              </a:lnSpc>
              <a:spcBef>
                <a:spcPts val="600"/>
              </a:spcBef>
              <a:spcAft>
                <a:spcPts val="0"/>
              </a:spcAft>
              <a:buClr>
                <a:schemeClr val="dk1"/>
              </a:buClr>
              <a:buSzPts val="1200"/>
              <a:buChar char="•"/>
            </a:pPr>
            <a:r>
              <a:rPr lang="en-GB" sz="1200"/>
              <a:t>Positioning a new product in relation to competitors and the existing portfolio must be well understood</a:t>
            </a:r>
            <a:endParaRPr sz="1800"/>
          </a:p>
        </p:txBody>
      </p:sp>
      <p:sp>
        <p:nvSpPr>
          <p:cNvPr id="6685" name="Google Shape;6685;p375"/>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686" name="Google Shape;6686;p375"/>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The process of bringing a new product to market, including resource planning, sales planning, GTM-process, setting a competitive price as well as optimized sales commissions and marketing communication (BTL &amp; ATL).</a:t>
            </a:r>
            <a:endParaRPr b="0" i="0" sz="1400" u="none" cap="none" strike="noStrike">
              <a:solidFill>
                <a:schemeClr val="lt1"/>
              </a:solidFill>
              <a:latin typeface="Century Gothic"/>
              <a:ea typeface="Century Gothic"/>
              <a:cs typeface="Century Gothic"/>
              <a:sym typeface="Century Gothic"/>
            </a:endParaRPr>
          </a:p>
        </p:txBody>
      </p:sp>
      <p:sp>
        <p:nvSpPr>
          <p:cNvPr id="6687" name="Google Shape;6687;p375">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01" name="Shape 6701"/>
        <p:cNvGrpSpPr/>
        <p:nvPr/>
      </p:nvGrpSpPr>
      <p:grpSpPr>
        <a:xfrm>
          <a:off x="0" y="0"/>
          <a:ext cx="0" cy="0"/>
          <a:chOff x="0" y="0"/>
          <a:chExt cx="0" cy="0"/>
        </a:xfrm>
      </p:grpSpPr>
      <p:cxnSp>
        <p:nvCxnSpPr>
          <p:cNvPr id="6702" name="Google Shape;6702;p37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pSp>
        <p:nvGrpSpPr>
          <p:cNvPr id="6703" name="Google Shape;6703;p377"/>
          <p:cNvGrpSpPr/>
          <p:nvPr/>
        </p:nvGrpSpPr>
        <p:grpSpPr>
          <a:xfrm>
            <a:off x="6027116" y="1706037"/>
            <a:ext cx="446523" cy="372936"/>
            <a:chOff x="4492625" y="3451225"/>
            <a:chExt cx="992188" cy="828675"/>
          </a:xfrm>
        </p:grpSpPr>
        <p:sp>
          <p:nvSpPr>
            <p:cNvPr id="6704" name="Google Shape;6704;p377"/>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6705" name="Google Shape;6705;p377"/>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
        <p:nvSpPr>
          <p:cNvPr id="6706" name="Google Shape;6706;p377"/>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Plan Product Investments to Support Go-To-Market Strategy 	</a:t>
            </a:r>
            <a:endParaRPr/>
          </a:p>
        </p:txBody>
      </p:sp>
      <p:graphicFrame>
        <p:nvGraphicFramePr>
          <p:cNvPr id="6707" name="Google Shape;6707;p377"/>
          <p:cNvGraphicFramePr/>
          <p:nvPr/>
        </p:nvGraphicFramePr>
        <p:xfrm>
          <a:off x="610133" y="675585"/>
          <a:ext cx="3000000" cy="3000000"/>
        </p:xfrm>
        <a:graphic>
          <a:graphicData uri="http://schemas.openxmlformats.org/drawingml/2006/table">
            <a:tbl>
              <a:tblPr bandRow="1" firstRow="1">
                <a:noFill/>
                <a:tableStyleId>{D098BFCB-6916-41F2-A2A5-0DF0D5139B6F}</a:tableStyleId>
              </a:tblPr>
              <a:tblGrid>
                <a:gridCol w="3978800"/>
                <a:gridCol w="279400"/>
                <a:gridCol w="4105600"/>
              </a:tblGrid>
              <a:tr h="207575">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823775">
                <a:tc>
                  <a:txBody>
                    <a:bodyPr/>
                    <a:lstStyle/>
                    <a:p>
                      <a:pPr indent="0" lvl="0" marL="0" marR="0" rtl="0" algn="just">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Holistic evaluation and determination of appropriate initial resource, capital and infrastructural investment for product </a:t>
                      </a:r>
                      <a:r>
                        <a:rPr b="1" i="0" lang="en-GB" sz="900" u="none" cap="none" strike="noStrike">
                          <a:solidFill>
                            <a:schemeClr val="dk1"/>
                          </a:solidFill>
                          <a:latin typeface="Century Gothic"/>
                          <a:ea typeface="Century Gothic"/>
                          <a:cs typeface="Century Gothic"/>
                          <a:sym typeface="Century Gothic"/>
                        </a:rPr>
                        <a:t>launch</a:t>
                      </a:r>
                      <a:endParaRPr b="0" i="0" sz="900" u="none" cap="none" strike="noStrike">
                        <a:solidFill>
                          <a:schemeClr val="dk1"/>
                        </a:solidFill>
                        <a:latin typeface="Century Gothic"/>
                        <a:ea typeface="Century Gothic"/>
                        <a:cs typeface="Century Gothic"/>
                        <a:sym typeface="Century Gothic"/>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Predict top down sales</a:t>
                      </a:r>
                      <a:r>
                        <a:rPr b="0" i="0" lang="en-GB" sz="900" u="none" cap="none" strike="noStrike">
                          <a:solidFill>
                            <a:srgbClr val="FF0000"/>
                          </a:solidFill>
                          <a:latin typeface="Century Gothic"/>
                          <a:ea typeface="Century Gothic"/>
                          <a:cs typeface="Century Gothic"/>
                          <a:sym typeface="Century Gothic"/>
                        </a:rPr>
                        <a:t> </a:t>
                      </a:r>
                      <a:r>
                        <a:rPr b="0" i="0" lang="en-GB" sz="900" u="none" cap="none" strike="noStrike">
                          <a:solidFill>
                            <a:srgbClr val="3C3C3B"/>
                          </a:solidFill>
                          <a:latin typeface="Century Gothic"/>
                          <a:ea typeface="Century Gothic"/>
                          <a:cs typeface="Century Gothic"/>
                          <a:sym typeface="Century Gothic"/>
                        </a:rPr>
                        <a:t>to develop rolling forecast for appropriate resource allocation</a:t>
                      </a:r>
                      <a:endParaRPr b="0" i="0" sz="900" u="none" cap="none" strike="sngStrike">
                        <a:solidFill>
                          <a:srgbClr val="FF0000"/>
                        </a:solidFill>
                        <a:latin typeface="Century Gothic"/>
                        <a:ea typeface="Century Gothic"/>
                        <a:cs typeface="Century Gothic"/>
                        <a:sym typeface="Century Gothic"/>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Establish baseline for identified market </a:t>
                      </a:r>
                      <a:r>
                        <a:rPr b="0" i="0" lang="en-GB" sz="900" u="none" cap="none" strike="noStrike">
                          <a:solidFill>
                            <a:schemeClr val="dk1"/>
                          </a:solidFill>
                          <a:latin typeface="Century Gothic"/>
                          <a:ea typeface="Century Gothic"/>
                          <a:cs typeface="Century Gothic"/>
                          <a:sym typeface="Century Gothic"/>
                        </a:rPr>
                        <a:t>through determination of market share by category, channel and geography</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Evaluate current competition, local rules of engagement, regulatory environment and current barriers to entry (if any)  </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Identification of cross-functional areas pertaining to product launch and establishment of all appropriate people, process and technology requirements to enable operationalization/ normalization of product/ service in identified market</a:t>
                      </a:r>
                      <a:endParaRPr b="0" i="0" sz="900" u="none" cap="none" strike="noStrike">
                        <a:solidFill>
                          <a:srgbClr val="FF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7575">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 </a:t>
                      </a:r>
                      <a:endParaRPr b="0" sz="1400">
                        <a:solidFill>
                          <a:srgbClr val="FF0000"/>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724425">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 </a:t>
                      </a:r>
                      <a:endParaRPr/>
                    </a:p>
                    <a:p>
                      <a:pPr indent="-171450" lvl="0" marL="171450" marR="0" rtl="0" algn="l">
                        <a:lnSpc>
                          <a:spcPct val="95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Proxy acquisition, portfolio management, attrition, retail sales etc.. data for comparable products/services and target customers</a:t>
                      </a:r>
                      <a:endParaRPr/>
                    </a:p>
                    <a:p>
                      <a:pPr indent="-179388" lvl="0" marL="179388" marR="0" rtl="0" algn="just">
                        <a:lnSpc>
                          <a:spcPct val="95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Proxy acquisition data, product basket mix, channel data, expected fulfillment process data, expected product maintenance actions, expected inventory balance flows through lifecycle</a:t>
                      </a:r>
                      <a:endParaRPr/>
                    </a:p>
                    <a:p>
                      <a:pPr indent="0" lvl="0" marL="0" marR="0" rtl="0" algn="just">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9388" lvl="0" marL="179388" marR="0" rtl="0" algn="just">
                        <a:lnSpc>
                          <a:spcPct val="95000"/>
                        </a:lnSpc>
                        <a:spcBef>
                          <a:spcPts val="0"/>
                        </a:spcBef>
                        <a:spcAft>
                          <a:spcPts val="0"/>
                        </a:spcAft>
                        <a:buClr>
                          <a:schemeClr val="dk1"/>
                        </a:buClr>
                        <a:buSzPts val="900"/>
                        <a:buFont typeface="Arial"/>
                        <a:buChar char="•"/>
                      </a:pPr>
                      <a:r>
                        <a:rPr lang="en-GB" sz="900" strike="noStrike">
                          <a:solidFill>
                            <a:schemeClr val="dk1"/>
                          </a:solidFill>
                        </a:rPr>
                        <a:t>P</a:t>
                      </a:r>
                      <a:r>
                        <a:rPr lang="en-GB" sz="900">
                          <a:solidFill>
                            <a:schemeClr val="dk1"/>
                          </a:solidFill>
                        </a:rPr>
                        <a:t>roduct drivers’ impact on sales, profitability, return rates and fulfillment for resource allocation </a:t>
                      </a:r>
                      <a:endParaRPr sz="900" strike="sngStrike">
                        <a:solidFill>
                          <a:srgbClr val="FF0000"/>
                        </a:solidFill>
                      </a:endParaRPr>
                    </a:p>
                    <a:p>
                      <a:pPr indent="-179388" lvl="0" marL="179388" marR="0" rtl="0" algn="just">
                        <a:lnSpc>
                          <a:spcPct val="95000"/>
                        </a:lnSpc>
                        <a:spcBef>
                          <a:spcPts val="0"/>
                        </a:spcBef>
                        <a:spcAft>
                          <a:spcPts val="0"/>
                        </a:spcAft>
                        <a:buClr>
                          <a:schemeClr val="dk1"/>
                        </a:buClr>
                        <a:buSzPts val="900"/>
                        <a:buFont typeface="Arial"/>
                        <a:buChar char="•"/>
                      </a:pPr>
                      <a:r>
                        <a:rPr lang="en-GB" sz="900">
                          <a:solidFill>
                            <a:schemeClr val="dk1"/>
                          </a:solidFill>
                        </a:rPr>
                        <a:t>Automated analytical applications utilizing channel sales, transactional, risk and inventory  data to operationalize and scale continuous product/service launches </a:t>
                      </a:r>
                      <a:endParaRPr sz="900" strike="sngStrike">
                        <a:solidFill>
                          <a:srgbClr val="FF0000"/>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Understanding of go-to-market resource requirements for  product/service launches</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Full operationalization capability of continuous product/service deployment and accurate forecasting of resource requirements towards the same </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Seamless integration of people, process and infrastructural capabilities in product go-to-market strategies </a:t>
                      </a:r>
                      <a:endParaRPr b="0" i="0" sz="900" u="none" cap="none" strike="noStrike">
                        <a:solidFill>
                          <a:srgbClr val="FF0000"/>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Appropriate forecasting of product drivers throughout product life cycle eg sales/acquisition/subscription dynamics, return rates, </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approval/rejection levels, fulfillment</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characteristics, product behavior</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matrices, inventory movements and </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channel dynamics etc..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pic>
        <p:nvPicPr>
          <p:cNvPr descr="BIZ-1037-L.jpg" id="6708" name="Google Shape;6708;p377"/>
          <p:cNvPicPr preferRelativeResize="0"/>
          <p:nvPr/>
        </p:nvPicPr>
        <p:blipFill rotWithShape="1">
          <a:blip r:embed="rId3">
            <a:alphaModFix/>
          </a:blip>
          <a:srcRect b="0" l="-15988" r="-15988" t="0"/>
          <a:stretch/>
        </p:blipFill>
        <p:spPr>
          <a:xfrm>
            <a:off x="5131765" y="794812"/>
            <a:ext cx="3343275" cy="1899940"/>
          </a:xfrm>
          <a:prstGeom prst="rect">
            <a:avLst/>
          </a:prstGeom>
          <a:noFill/>
          <a:ln>
            <a:noFill/>
          </a:ln>
        </p:spPr>
      </p:pic>
      <p:sp>
        <p:nvSpPr>
          <p:cNvPr id="6709" name="Google Shape;6709;p377">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grpSp>
        <p:nvGrpSpPr>
          <p:cNvPr id="6710" name="Google Shape;6710;p377"/>
          <p:cNvGrpSpPr/>
          <p:nvPr/>
        </p:nvGrpSpPr>
        <p:grpSpPr>
          <a:xfrm>
            <a:off x="7717533" y="4360377"/>
            <a:ext cx="1058348" cy="347375"/>
            <a:chOff x="7651698" y="4287227"/>
            <a:chExt cx="1058348" cy="347375"/>
          </a:xfrm>
        </p:grpSpPr>
        <p:grpSp>
          <p:nvGrpSpPr>
            <p:cNvPr id="6711" name="Google Shape;6711;p377"/>
            <p:cNvGrpSpPr/>
            <p:nvPr/>
          </p:nvGrpSpPr>
          <p:grpSpPr>
            <a:xfrm>
              <a:off x="7714163" y="4337598"/>
              <a:ext cx="995883" cy="297004"/>
              <a:chOff x="7711013" y="3986494"/>
              <a:chExt cx="995883" cy="297004"/>
            </a:xfrm>
          </p:grpSpPr>
          <p:sp>
            <p:nvSpPr>
              <p:cNvPr id="6712" name="Google Shape;6712;p37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713" name="Google Shape;6713;p377"/>
              <p:cNvGrpSpPr/>
              <p:nvPr/>
            </p:nvGrpSpPr>
            <p:grpSpPr>
              <a:xfrm>
                <a:off x="7711013" y="4002615"/>
                <a:ext cx="281520" cy="241973"/>
                <a:chOff x="5652748" y="4066000"/>
                <a:chExt cx="906498" cy="747974"/>
              </a:xfrm>
            </p:grpSpPr>
            <p:sp>
              <p:nvSpPr>
                <p:cNvPr id="6714" name="Google Shape;6714;p37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715" name="Google Shape;6715;p37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16" name="Google Shape;6716;p37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717" name="Google Shape;6717;p37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36" name="Shape 6736"/>
        <p:cNvGrpSpPr/>
        <p:nvPr/>
      </p:nvGrpSpPr>
      <p:grpSpPr>
        <a:xfrm>
          <a:off x="0" y="0"/>
          <a:ext cx="0" cy="0"/>
          <a:chOff x="0" y="0"/>
          <a:chExt cx="0" cy="0"/>
        </a:xfrm>
      </p:grpSpPr>
      <p:cxnSp>
        <p:nvCxnSpPr>
          <p:cNvPr id="6737" name="Google Shape;6737;p37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738" name="Google Shape;6738;p379"/>
          <p:cNvGraphicFramePr/>
          <p:nvPr/>
        </p:nvGraphicFramePr>
        <p:xfrm>
          <a:off x="550863" y="840178"/>
          <a:ext cx="3000000" cy="3000000"/>
        </p:xfrm>
        <a:graphic>
          <a:graphicData uri="http://schemas.openxmlformats.org/drawingml/2006/table">
            <a:tbl>
              <a:tblPr bandRow="1" firstRow="1">
                <a:noFill/>
                <a:tableStyleId>{D098BFCB-6916-41F2-A2A5-0DF0D5139B6F}</a:tableStyleId>
              </a:tblPr>
              <a:tblGrid>
                <a:gridCol w="4046525"/>
                <a:gridCol w="169325"/>
                <a:gridCol w="429240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Optimize the process of onboarding new products and predicting the impact on business performance and customer behavior.</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Attain</a:t>
                      </a:r>
                      <a:r>
                        <a:rPr b="0" lang="en-GB" sz="900">
                          <a:solidFill>
                            <a:schemeClr val="dk1"/>
                          </a:solidFill>
                        </a:rPr>
                        <a:t> a detailed understanding of a new product launch on the whole business ; e.g. commercial, customer, operations, risk, architecture, existing products.</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Proactively identify process friction points or points of failure that could be detrimental to customer experience.</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Proactively plan, mobilise, and educate resources ahead of the release of a new product or new marketing campaign.</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Understand and plan for potential market and competitor reaction.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Leverage previous launch customer purchase and response history.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Current products utilisation.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Product adoption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Price and promotion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behavior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Contact centre staffing and skills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What if simulation.</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Product affinity .</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Elasticity  and Demand Forecasting Models.</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nPath analysis to map out product on boarding journey</a:t>
                      </a:r>
                      <a:endParaRPr/>
                    </a:p>
                    <a:p>
                      <a:pPr indent="-179388" lvl="0" marL="179388" marR="0" rtl="0" algn="l">
                        <a:lnSpc>
                          <a:spcPct val="100000"/>
                        </a:lnSpc>
                        <a:spcBef>
                          <a:spcPts val="0"/>
                        </a:spcBef>
                        <a:spcAft>
                          <a:spcPts val="0"/>
                        </a:spcAft>
                        <a:buClr>
                          <a:schemeClr val="dk1"/>
                        </a:buClr>
                        <a:buSzPts val="900"/>
                        <a:buFont typeface="Arial"/>
                        <a:buChar char="•"/>
                      </a:pPr>
                      <a:r>
                        <a:rPr b="0" lang="en-GB" sz="900" strike="noStrike">
                          <a:solidFill>
                            <a:schemeClr val="dk1"/>
                          </a:solidFill>
                        </a:rPr>
                        <a:t>Sentiment and text analytics.</a:t>
                      </a:r>
                      <a:endParaRPr sz="900"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integration of products into the portfolio.</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customer churn.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revenue by controlling cannibalisation.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 through improved service during the product introduction.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expenses through optimized contact center staffing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739" name="Google Shape;6739;p379"/>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Improve Product Onboarding</a:t>
            </a:r>
            <a:endParaRPr/>
          </a:p>
        </p:txBody>
      </p:sp>
      <p:pic>
        <p:nvPicPr>
          <p:cNvPr id="6740" name="Google Shape;6740;p379"/>
          <p:cNvPicPr preferRelativeResize="0"/>
          <p:nvPr/>
        </p:nvPicPr>
        <p:blipFill rotWithShape="1">
          <a:blip r:embed="rId3">
            <a:alphaModFix/>
          </a:blip>
          <a:srcRect b="0" l="0" r="0" t="0"/>
          <a:stretch/>
        </p:blipFill>
        <p:spPr>
          <a:xfrm>
            <a:off x="5538788" y="603250"/>
            <a:ext cx="3133725" cy="2093137"/>
          </a:xfrm>
          <a:prstGeom prst="rect">
            <a:avLst/>
          </a:prstGeom>
          <a:noFill/>
          <a:ln>
            <a:noFill/>
          </a:ln>
        </p:spPr>
      </p:pic>
      <p:sp>
        <p:nvSpPr>
          <p:cNvPr id="6741" name="Google Shape;6741;p379">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grpSp>
        <p:nvGrpSpPr>
          <p:cNvPr id="6742" name="Google Shape;6742;p379"/>
          <p:cNvGrpSpPr/>
          <p:nvPr/>
        </p:nvGrpSpPr>
        <p:grpSpPr>
          <a:xfrm>
            <a:off x="7717533" y="4360377"/>
            <a:ext cx="1058348" cy="347375"/>
            <a:chOff x="7651698" y="4287227"/>
            <a:chExt cx="1058348" cy="347375"/>
          </a:xfrm>
        </p:grpSpPr>
        <p:grpSp>
          <p:nvGrpSpPr>
            <p:cNvPr id="6743" name="Google Shape;6743;p379"/>
            <p:cNvGrpSpPr/>
            <p:nvPr/>
          </p:nvGrpSpPr>
          <p:grpSpPr>
            <a:xfrm>
              <a:off x="7714163" y="4337598"/>
              <a:ext cx="995883" cy="297004"/>
              <a:chOff x="7711013" y="3986494"/>
              <a:chExt cx="995883" cy="297004"/>
            </a:xfrm>
          </p:grpSpPr>
          <p:sp>
            <p:nvSpPr>
              <p:cNvPr id="6744" name="Google Shape;6744;p37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745" name="Google Shape;6745;p379"/>
              <p:cNvGrpSpPr/>
              <p:nvPr/>
            </p:nvGrpSpPr>
            <p:grpSpPr>
              <a:xfrm>
                <a:off x="7711013" y="4002615"/>
                <a:ext cx="281520" cy="241973"/>
                <a:chOff x="5652748" y="4066000"/>
                <a:chExt cx="906498" cy="747974"/>
              </a:xfrm>
            </p:grpSpPr>
            <p:sp>
              <p:nvSpPr>
                <p:cNvPr id="6746" name="Google Shape;6746;p37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747" name="Google Shape;6747;p37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48" name="Google Shape;6748;p37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749" name="Google Shape;6749;p37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68" name="Shape 6768"/>
        <p:cNvGrpSpPr/>
        <p:nvPr/>
      </p:nvGrpSpPr>
      <p:grpSpPr>
        <a:xfrm>
          <a:off x="0" y="0"/>
          <a:ext cx="0" cy="0"/>
          <a:chOff x="0" y="0"/>
          <a:chExt cx="0" cy="0"/>
        </a:xfrm>
      </p:grpSpPr>
      <p:pic>
        <p:nvPicPr>
          <p:cNvPr descr="RET-1015-L.jpg" id="6769" name="Google Shape;6769;p381"/>
          <p:cNvPicPr preferRelativeResize="0"/>
          <p:nvPr/>
        </p:nvPicPr>
        <p:blipFill rotWithShape="1">
          <a:blip r:embed="rId3">
            <a:alphaModFix/>
          </a:blip>
          <a:srcRect b="0" l="0" r="0" t="0"/>
          <a:stretch/>
        </p:blipFill>
        <p:spPr>
          <a:xfrm>
            <a:off x="5538789" y="0"/>
            <a:ext cx="5453062" cy="5143500"/>
          </a:xfrm>
          <a:prstGeom prst="rect">
            <a:avLst/>
          </a:prstGeom>
          <a:noFill/>
          <a:ln>
            <a:noFill/>
          </a:ln>
        </p:spPr>
      </p:pic>
      <p:pic>
        <p:nvPicPr>
          <p:cNvPr descr="Black Laptop Computer Turned on" id="6770" name="Google Shape;6770;p381"/>
          <p:cNvPicPr preferRelativeResize="0"/>
          <p:nvPr/>
        </p:nvPicPr>
        <p:blipFill rotWithShape="1">
          <a:blip r:embed="rId4">
            <a:alphaModFix/>
          </a:blip>
          <a:srcRect b="0" l="0" r="0" t="0"/>
          <a:stretch/>
        </p:blipFill>
        <p:spPr>
          <a:xfrm>
            <a:off x="10191751" y="-2638424"/>
            <a:ext cx="4652962" cy="5143499"/>
          </a:xfrm>
          <a:prstGeom prst="rect">
            <a:avLst/>
          </a:prstGeom>
          <a:noFill/>
          <a:ln>
            <a:noFill/>
          </a:ln>
        </p:spPr>
      </p:pic>
      <p:sp>
        <p:nvSpPr>
          <p:cNvPr id="6771" name="Google Shape;6771;p381"/>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Price and Promotion</a:t>
            </a:r>
            <a:endParaRPr/>
          </a:p>
        </p:txBody>
      </p:sp>
      <p:sp>
        <p:nvSpPr>
          <p:cNvPr id="6772" name="Google Shape;6772;p381"/>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400"/>
              <a:buChar char="•"/>
            </a:pPr>
            <a:r>
              <a:rPr lang="en-GB" sz="1400"/>
              <a:t>Product Managers, Category Managers and Merchants must be able to verify that pricing rules or promotions are working as planned</a:t>
            </a:r>
            <a:endParaRPr/>
          </a:p>
          <a:p>
            <a:pPr indent="-231775" lvl="1" marL="231775" rtl="0" algn="l">
              <a:lnSpc>
                <a:spcPct val="100000"/>
              </a:lnSpc>
              <a:spcBef>
                <a:spcPts val="600"/>
              </a:spcBef>
              <a:spcAft>
                <a:spcPts val="0"/>
              </a:spcAft>
              <a:buClr>
                <a:schemeClr val="dk1"/>
              </a:buClr>
              <a:buSzPts val="1400"/>
              <a:buChar char="•"/>
            </a:pPr>
            <a:r>
              <a:rPr lang="en-GB"/>
              <a:t>Price competitiveness can lead to downward spiraling margins. Predicting outcomes is key.</a:t>
            </a:r>
            <a:endParaRPr/>
          </a:p>
          <a:p>
            <a:pPr indent="-231775" lvl="1" marL="231775" rtl="0" algn="l">
              <a:lnSpc>
                <a:spcPct val="100000"/>
              </a:lnSpc>
              <a:spcBef>
                <a:spcPts val="600"/>
              </a:spcBef>
              <a:spcAft>
                <a:spcPts val="0"/>
              </a:spcAft>
              <a:buClr>
                <a:schemeClr val="dk1"/>
              </a:buClr>
              <a:buSzPts val="1400"/>
              <a:buChar char="•"/>
            </a:pPr>
            <a:r>
              <a:rPr lang="en-GB"/>
              <a:t>Reactive, s</a:t>
            </a:r>
            <a:r>
              <a:rPr lang="en-GB" sz="1400"/>
              <a:t>hort-term decisions on price can dilute long-term price strategy effectiveness</a:t>
            </a:r>
            <a:endParaRPr/>
          </a:p>
          <a:p>
            <a:pPr indent="-231775" lvl="1" marL="231775" rtl="0" algn="l">
              <a:lnSpc>
                <a:spcPct val="100000"/>
              </a:lnSpc>
              <a:spcBef>
                <a:spcPts val="600"/>
              </a:spcBef>
              <a:spcAft>
                <a:spcPts val="0"/>
              </a:spcAft>
              <a:buClr>
                <a:schemeClr val="dk1"/>
              </a:buClr>
              <a:buSzPts val="1400"/>
              <a:buChar char="•"/>
            </a:pPr>
            <a:r>
              <a:rPr lang="en-GB" sz="1400"/>
              <a:t>Insight into price and promotions effectiveness is needed to improve day-to-day decisions</a:t>
            </a:r>
            <a:endParaRPr/>
          </a:p>
        </p:txBody>
      </p:sp>
      <p:sp>
        <p:nvSpPr>
          <p:cNvPr id="6773" name="Google Shape;6773;p381"/>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774" name="Google Shape;6774;p381"/>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Delivering price and promotions that are meaningful to your customers are the two most important levers a business can pull.   Price and promotion decisions are complicated due to fierce competition, growth from online channels and increased price transparency.</a:t>
            </a:r>
            <a:endParaRPr b="0" i="0" sz="1400" u="none" cap="none" strike="noStrike">
              <a:solidFill>
                <a:schemeClr val="lt1"/>
              </a:solidFill>
              <a:latin typeface="Century Gothic"/>
              <a:ea typeface="Century Gothic"/>
              <a:cs typeface="Century Gothic"/>
              <a:sym typeface="Century Gothic"/>
            </a:endParaRPr>
          </a:p>
        </p:txBody>
      </p:sp>
      <p:sp>
        <p:nvSpPr>
          <p:cNvPr id="6775" name="Google Shape;6775;p381">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90" name="Shape 6790"/>
        <p:cNvGrpSpPr/>
        <p:nvPr/>
      </p:nvGrpSpPr>
      <p:grpSpPr>
        <a:xfrm>
          <a:off x="0" y="0"/>
          <a:ext cx="0" cy="0"/>
          <a:chOff x="0" y="0"/>
          <a:chExt cx="0" cy="0"/>
        </a:xfrm>
      </p:grpSpPr>
      <p:cxnSp>
        <p:nvCxnSpPr>
          <p:cNvPr id="6791" name="Google Shape;6791;p38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792" name="Google Shape;6792;p383"/>
          <p:cNvGraphicFramePr/>
          <p:nvPr/>
        </p:nvGraphicFramePr>
        <p:xfrm>
          <a:off x="567993" y="832962"/>
          <a:ext cx="3000000" cy="3000000"/>
        </p:xfrm>
        <a:graphic>
          <a:graphicData uri="http://schemas.openxmlformats.org/drawingml/2006/table">
            <a:tbl>
              <a:tblPr bandRow="1" firstRow="1">
                <a:noFill/>
                <a:tableStyleId>{D098BFCB-6916-41F2-A2A5-0DF0D5139B6F}</a:tableStyleId>
              </a:tblPr>
              <a:tblGrid>
                <a:gridCol w="3995550"/>
                <a:gridCol w="220125"/>
                <a:gridCol w="429260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Collect and analyze competitive prices to determine need to reset prices of key products, categories and services based upon pricing strategy. Understand and simulate the impact of price adjustments to sales and profit</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Simulate</a:t>
                      </a:r>
                      <a:r>
                        <a:rPr b="0" lang="en-GB" sz="900">
                          <a:solidFill>
                            <a:schemeClr val="dk1"/>
                          </a:solidFill>
                        </a:rPr>
                        <a:t> pricing alternatives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Apply price</a:t>
                      </a:r>
                      <a:r>
                        <a:rPr b="0" lang="en-GB" sz="900">
                          <a:solidFill>
                            <a:schemeClr val="dk1"/>
                          </a:solidFill>
                        </a:rPr>
                        <a:t> elasticity assumptions to evaluate pricing strategy scenarios and compare predicted revenue outcome options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Compare own product</a:t>
                      </a:r>
                      <a:r>
                        <a:rPr b="0" lang="en-GB" sz="900">
                          <a:solidFill>
                            <a:schemeClr val="dk1"/>
                          </a:solidFill>
                        </a:rPr>
                        <a:t> or service portfolio (assortment) pricing on the market to competitor pricing and detect weak competitive position and/or cannibalization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Recommend changes to pricing strategy</a:t>
                      </a:r>
                      <a:endParaRPr b="0"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business rules relevant for the product/service portfolio</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 Sales and Service Usage historical data (telco and financial services) matching the product/service     </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Competitior price data including history</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simulation</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elasticity predictive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Competitor  pricing predictive analytics</a:t>
                      </a:r>
                      <a:endParaRPr sz="900">
                        <a:solidFill>
                          <a:schemeClr val="dk1"/>
                        </a:solidFill>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Maximized revenue of the product/service portfolio in competitive situation</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price perception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response to pricing competition on the market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Conscious balancing between conflicting business targets, such as market share, revenue market share, average revenue per user and EBITDA (Telco)</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793" name="Google Shape;6793;p383"/>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Analyze Competitive Pricing</a:t>
            </a:r>
            <a:endParaRPr/>
          </a:p>
        </p:txBody>
      </p:sp>
      <p:grpSp>
        <p:nvGrpSpPr>
          <p:cNvPr id="6794" name="Google Shape;6794;p383"/>
          <p:cNvGrpSpPr/>
          <p:nvPr/>
        </p:nvGrpSpPr>
        <p:grpSpPr>
          <a:xfrm>
            <a:off x="7717533" y="4360377"/>
            <a:ext cx="1058348" cy="347375"/>
            <a:chOff x="7651698" y="4287227"/>
            <a:chExt cx="1058348" cy="347375"/>
          </a:xfrm>
        </p:grpSpPr>
        <p:grpSp>
          <p:nvGrpSpPr>
            <p:cNvPr id="6795" name="Google Shape;6795;p383"/>
            <p:cNvGrpSpPr/>
            <p:nvPr/>
          </p:nvGrpSpPr>
          <p:grpSpPr>
            <a:xfrm>
              <a:off x="7714163" y="4337598"/>
              <a:ext cx="995883" cy="297004"/>
              <a:chOff x="7711013" y="3986494"/>
              <a:chExt cx="995883" cy="297004"/>
            </a:xfrm>
          </p:grpSpPr>
          <p:sp>
            <p:nvSpPr>
              <p:cNvPr id="6796" name="Google Shape;6796;p38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797" name="Google Shape;6797;p383"/>
              <p:cNvGrpSpPr/>
              <p:nvPr/>
            </p:nvGrpSpPr>
            <p:grpSpPr>
              <a:xfrm>
                <a:off x="7711013" y="4002615"/>
                <a:ext cx="281520" cy="241973"/>
                <a:chOff x="5652748" y="4066000"/>
                <a:chExt cx="906498" cy="747974"/>
              </a:xfrm>
            </p:grpSpPr>
            <p:sp>
              <p:nvSpPr>
                <p:cNvPr id="6798" name="Google Shape;6798;p38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799" name="Google Shape;6799;p38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00" name="Google Shape;6800;p38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801" name="Google Shape;6801;p383">
              <a:hlinkClick action="ppaction://hlinksldjump" r:id="rId3"/>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descr="Kick Chess Piece Standing" id="6802" name="Google Shape;6802;p383"/>
          <p:cNvPicPr preferRelativeResize="0"/>
          <p:nvPr/>
        </p:nvPicPr>
        <p:blipFill rotWithShape="1">
          <a:blip r:embed="rId4">
            <a:alphaModFix/>
          </a:blip>
          <a:srcRect b="0" l="0" r="0" t="0"/>
          <a:stretch/>
        </p:blipFill>
        <p:spPr>
          <a:xfrm>
            <a:off x="5538788" y="803275"/>
            <a:ext cx="2818342" cy="1876896"/>
          </a:xfrm>
          <a:prstGeom prst="rect">
            <a:avLst/>
          </a:prstGeom>
          <a:noFill/>
          <a:ln>
            <a:noFill/>
          </a:ln>
        </p:spPr>
      </p:pic>
      <p:sp>
        <p:nvSpPr>
          <p:cNvPr id="6803" name="Google Shape;6803;p383">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22" name="Shape 6822"/>
        <p:cNvGrpSpPr/>
        <p:nvPr/>
      </p:nvGrpSpPr>
      <p:grpSpPr>
        <a:xfrm>
          <a:off x="0" y="0"/>
          <a:ext cx="0" cy="0"/>
          <a:chOff x="0" y="0"/>
          <a:chExt cx="0" cy="0"/>
        </a:xfrm>
      </p:grpSpPr>
      <p:cxnSp>
        <p:nvCxnSpPr>
          <p:cNvPr id="6823" name="Google Shape;6823;p38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824" name="Google Shape;6824;p38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Reactively adjust prices based on resource availability to shape demand and manage yield in right/near real time. Prices may fluctuate based on time of day,  space and usage. </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Apply</a:t>
                      </a:r>
                      <a:r>
                        <a:rPr b="0" lang="en-GB" sz="900">
                          <a:solidFill>
                            <a:schemeClr val="dk1"/>
                          </a:solidFill>
                        </a:rPr>
                        <a:t> p</a:t>
                      </a:r>
                      <a:r>
                        <a:rPr b="0" lang="en-GB" sz="900">
                          <a:solidFill>
                            <a:schemeClr val="dk1"/>
                          </a:solidFill>
                        </a:rPr>
                        <a:t>rioritized</a:t>
                      </a:r>
                      <a:r>
                        <a:rPr b="0" lang="en-GB" sz="900">
                          <a:solidFill>
                            <a:schemeClr val="dk1"/>
                          </a:solidFill>
                        </a:rPr>
                        <a:t> pricing business rules based on strategic directions and vallue targets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Utilize pricing to impact stock turn-over, product strategy or customer strategy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Improve timely relevance of applied pricing shcemes to changing business performance objectives</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business rules relevant for the product/service portfolio</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flexibility assumptions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 Sales and Service Usage historical data (telco and financial services) matching the product/service     </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simulation</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flexibility predictive models (input)</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graph (input) to identify bridge products (retail)</a:t>
                      </a:r>
                      <a:endParaRPr sz="900">
                        <a:solidFill>
                          <a:schemeClr val="dk1"/>
                        </a:solidFill>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Maximized revenue of the product/service portfolio over a time interwal or available stock/resources</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price perception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penetration growth for strategic products or product introduction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Conscious balancing between conflicting business targets, such as market share, revenue market share, average revenue per user and EBITDA for Telco industry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825" name="Google Shape;6825;p385"/>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Manage Dynamic Pricing</a:t>
            </a:r>
            <a:endParaRPr/>
          </a:p>
        </p:txBody>
      </p:sp>
      <p:pic>
        <p:nvPicPr>
          <p:cNvPr descr="Person Using Black And White Smartphone and Holding Blue Card" id="6826" name="Google Shape;6826;p385"/>
          <p:cNvPicPr preferRelativeResize="0"/>
          <p:nvPr/>
        </p:nvPicPr>
        <p:blipFill rotWithShape="1">
          <a:blip r:embed="rId3">
            <a:alphaModFix/>
          </a:blip>
          <a:srcRect b="0" l="0" r="0" t="0"/>
          <a:stretch/>
        </p:blipFill>
        <p:spPr>
          <a:xfrm>
            <a:off x="5538788" y="613889"/>
            <a:ext cx="2979930" cy="1986620"/>
          </a:xfrm>
          <a:prstGeom prst="rect">
            <a:avLst/>
          </a:prstGeom>
          <a:noFill/>
          <a:ln>
            <a:noFill/>
          </a:ln>
        </p:spPr>
      </p:pic>
      <p:sp>
        <p:nvSpPr>
          <p:cNvPr id="6827" name="Google Shape;6827;p38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grpSp>
        <p:nvGrpSpPr>
          <p:cNvPr id="6828" name="Google Shape;6828;p385"/>
          <p:cNvGrpSpPr/>
          <p:nvPr/>
        </p:nvGrpSpPr>
        <p:grpSpPr>
          <a:xfrm>
            <a:off x="7717533" y="4360377"/>
            <a:ext cx="1058348" cy="347375"/>
            <a:chOff x="7651698" y="4287227"/>
            <a:chExt cx="1058348" cy="347375"/>
          </a:xfrm>
        </p:grpSpPr>
        <p:grpSp>
          <p:nvGrpSpPr>
            <p:cNvPr id="6829" name="Google Shape;6829;p385"/>
            <p:cNvGrpSpPr/>
            <p:nvPr/>
          </p:nvGrpSpPr>
          <p:grpSpPr>
            <a:xfrm>
              <a:off x="7714163" y="4337598"/>
              <a:ext cx="995883" cy="297004"/>
              <a:chOff x="7711013" y="3986494"/>
              <a:chExt cx="995883" cy="297004"/>
            </a:xfrm>
          </p:grpSpPr>
          <p:sp>
            <p:nvSpPr>
              <p:cNvPr id="6830" name="Google Shape;6830;p38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831" name="Google Shape;6831;p385"/>
              <p:cNvGrpSpPr/>
              <p:nvPr/>
            </p:nvGrpSpPr>
            <p:grpSpPr>
              <a:xfrm>
                <a:off x="7711013" y="4002615"/>
                <a:ext cx="281520" cy="241973"/>
                <a:chOff x="5652748" y="4066000"/>
                <a:chExt cx="906498" cy="747974"/>
              </a:xfrm>
            </p:grpSpPr>
            <p:sp>
              <p:nvSpPr>
                <p:cNvPr id="6832" name="Google Shape;6832;p38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833" name="Google Shape;6833;p38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34" name="Google Shape;6834;p38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835" name="Google Shape;6835;p38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54" name="Shape 6854"/>
        <p:cNvGrpSpPr/>
        <p:nvPr/>
      </p:nvGrpSpPr>
      <p:grpSpPr>
        <a:xfrm>
          <a:off x="0" y="0"/>
          <a:ext cx="0" cy="0"/>
          <a:chOff x="0" y="0"/>
          <a:chExt cx="0" cy="0"/>
        </a:xfrm>
      </p:grpSpPr>
      <p:pic>
        <p:nvPicPr>
          <p:cNvPr descr="Free stock photo of can, litter, coca cola, waste" id="6855" name="Google Shape;6855;p387"/>
          <p:cNvPicPr preferRelativeResize="0"/>
          <p:nvPr/>
        </p:nvPicPr>
        <p:blipFill rotWithShape="1">
          <a:blip r:embed="rId3">
            <a:alphaModFix/>
          </a:blip>
          <a:srcRect b="0" l="37522" r="-4190" t="0"/>
          <a:stretch/>
        </p:blipFill>
        <p:spPr>
          <a:xfrm>
            <a:off x="5472112" y="11112"/>
            <a:ext cx="3919538" cy="5113337"/>
          </a:xfrm>
          <a:prstGeom prst="rect">
            <a:avLst/>
          </a:prstGeom>
          <a:noFill/>
          <a:ln>
            <a:noFill/>
          </a:ln>
        </p:spPr>
      </p:pic>
      <p:sp>
        <p:nvSpPr>
          <p:cNvPr id="6856" name="Google Shape;6856;p387"/>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End-of-Life</a:t>
            </a:r>
            <a:endParaRPr/>
          </a:p>
        </p:txBody>
      </p:sp>
      <p:sp>
        <p:nvSpPr>
          <p:cNvPr id="6857" name="Google Shape;6857;p387"/>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300"/>
              <a:buChar char="•"/>
            </a:pPr>
            <a:r>
              <a:rPr lang="en-GB" sz="1300"/>
              <a:t>Products progressing to  the end of the product  life cycle may  require resources to be maintained and operated. Resource use optimization might free up scarce organizational resources for more strategic products/services</a:t>
            </a:r>
            <a:endParaRPr/>
          </a:p>
          <a:p>
            <a:pPr indent="-231775" lvl="1" marL="231775" rtl="0" algn="l">
              <a:lnSpc>
                <a:spcPct val="100000"/>
              </a:lnSpc>
              <a:spcBef>
                <a:spcPts val="600"/>
              </a:spcBef>
              <a:spcAft>
                <a:spcPts val="0"/>
              </a:spcAft>
              <a:buClr>
                <a:schemeClr val="dk1"/>
              </a:buClr>
              <a:buSzPts val="1300"/>
              <a:buChar char="•"/>
            </a:pPr>
            <a:r>
              <a:rPr lang="en-GB" sz="1300"/>
              <a:t>Proactively planning  for product closure helps to reduce cost and avoid risks of negative customer experience or  customer dissatisfaction </a:t>
            </a:r>
            <a:endParaRPr/>
          </a:p>
          <a:p>
            <a:pPr indent="-231775" lvl="1" marL="231775" rtl="0" algn="l">
              <a:lnSpc>
                <a:spcPct val="100000"/>
              </a:lnSpc>
              <a:spcBef>
                <a:spcPts val="600"/>
              </a:spcBef>
              <a:spcAft>
                <a:spcPts val="0"/>
              </a:spcAft>
              <a:buClr>
                <a:schemeClr val="dk1"/>
              </a:buClr>
              <a:buSzPts val="1300"/>
              <a:buChar char="•"/>
            </a:pPr>
            <a:r>
              <a:rPr lang="en-GB" sz="1300"/>
              <a:t>A product’s exit typically qualifies as a critical risk for the organization</a:t>
            </a:r>
            <a:endParaRPr sz="1300"/>
          </a:p>
        </p:txBody>
      </p:sp>
      <p:sp>
        <p:nvSpPr>
          <p:cNvPr id="6858" name="Google Shape;6858;p387"/>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859" name="Google Shape;6859;p387"/>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The process of evaluating products for removal from product or service portfolio or from active sales based on analytical insights.</a:t>
            </a:r>
            <a:endParaRPr b="0" i="0" sz="1400" u="none" cap="none" strike="noStrike">
              <a:solidFill>
                <a:schemeClr val="lt1"/>
              </a:solidFill>
              <a:latin typeface="Century Gothic"/>
              <a:ea typeface="Century Gothic"/>
              <a:cs typeface="Century Gothic"/>
              <a:sym typeface="Century Gothic"/>
            </a:endParaRPr>
          </a:p>
        </p:txBody>
      </p:sp>
      <p:sp>
        <p:nvSpPr>
          <p:cNvPr id="6860" name="Google Shape;6860;p38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End of Life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75" name="Shape 6875"/>
        <p:cNvGrpSpPr/>
        <p:nvPr/>
      </p:nvGrpSpPr>
      <p:grpSpPr>
        <a:xfrm>
          <a:off x="0" y="0"/>
          <a:ext cx="0" cy="0"/>
          <a:chOff x="0" y="0"/>
          <a:chExt cx="0" cy="0"/>
        </a:xfrm>
      </p:grpSpPr>
      <p:cxnSp>
        <p:nvCxnSpPr>
          <p:cNvPr id="6876" name="Google Shape;6876;p38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877" name="Google Shape;6877;p389"/>
          <p:cNvGraphicFramePr/>
          <p:nvPr/>
        </p:nvGraphicFramePr>
        <p:xfrm>
          <a:off x="414866" y="822655"/>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Identification and prioritization of products to be decommissioned</a:t>
                      </a:r>
                      <a:r>
                        <a:rPr b="1" lang="en-GB" sz="900">
                          <a:solidFill>
                            <a:schemeClr val="dk1"/>
                          </a:solidFill>
                        </a:rPr>
                        <a:t> and migrated to selected new products, optimizing customer value and business benefit</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Systematically determine which products</a:t>
                      </a:r>
                      <a:r>
                        <a:rPr b="0" lang="en-GB" sz="900">
                          <a:solidFill>
                            <a:schemeClr val="dk1"/>
                          </a:solidFill>
                        </a:rPr>
                        <a:t> that should be decommissioned and in which </a:t>
                      </a:r>
                      <a:r>
                        <a:rPr b="0" lang="en-GB" sz="900">
                          <a:solidFill>
                            <a:schemeClr val="dk1"/>
                          </a:solidFill>
                          <a:latin typeface="Century Gothic"/>
                          <a:ea typeface="Century Gothic"/>
                          <a:cs typeface="Century Gothic"/>
                          <a:sym typeface="Century Gothic"/>
                        </a:rPr>
                        <a:t>order based on established metrics, KPI’s and analytics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Prioritization of new products recommended to which customer based on current </a:t>
                      </a:r>
                      <a:r>
                        <a:rPr b="0" lang="en-GB" sz="900">
                          <a:solidFill>
                            <a:schemeClr val="dk1"/>
                          </a:solidFill>
                          <a:latin typeface="Century Gothic"/>
                          <a:ea typeface="Century Gothic"/>
                          <a:cs typeface="Century Gothic"/>
                          <a:sym typeface="Century Gothic"/>
                        </a:rPr>
                        <a:t>product and customer insight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customer impact of recommended migration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system/platform impact of recommended migration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business impact </a:t>
                      </a:r>
                      <a:r>
                        <a:rPr b="0" lang="en-GB" sz="900">
                          <a:solidFill>
                            <a:schemeClr val="dk1"/>
                          </a:solidFill>
                        </a:rPr>
                        <a:t>of recommended migration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Determination of need of promotional </a:t>
                      </a:r>
                      <a:r>
                        <a:rPr b="0" lang="en-GB" sz="900">
                          <a:solidFill>
                            <a:schemeClr val="dk1"/>
                          </a:solidFill>
                          <a:latin typeface="Century Gothic"/>
                          <a:ea typeface="Century Gothic"/>
                          <a:cs typeface="Century Gothic"/>
                          <a:sym typeface="Century Gothic"/>
                        </a:rPr>
                        <a:t>offer for seamless migration process to minimize potential service issues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product ownership</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Behavioral data (product utilization)</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profitability</a:t>
                      </a:r>
                      <a:endParaRPr sz="850">
                        <a:solidFill>
                          <a:srgbClr val="FF0000"/>
                        </a:solidFill>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Product transactions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Product profitability - associated </a:t>
                      </a:r>
                      <a:r>
                        <a:rPr lang="en-GB" sz="850">
                          <a:solidFill>
                            <a:schemeClr val="dk1"/>
                          </a:solidFill>
                        </a:rPr>
                        <a:t>revenue and cost</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NPS or customer satisfaction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behavior analytics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Affinity analysis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Value segmentation</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experience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Reduced cost of maintaining product</a:t>
                      </a:r>
                      <a:r>
                        <a:rPr b="0" lang="en-GB" sz="900">
                          <a:solidFill>
                            <a:schemeClr val="dk1"/>
                          </a:solidFill>
                        </a:rPr>
                        <a:t> portfolio</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complexity in product portfolio</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Optimized portfolio mix for improved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complexity in event of product platform migration/decommissioning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 based on better support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relevance to customer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churn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lifetime value (CLV)</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878" name="Google Shape;6878;p389"/>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Determine Product Migration</a:t>
            </a:r>
            <a:endParaRPr/>
          </a:p>
        </p:txBody>
      </p:sp>
      <p:pic>
        <p:nvPicPr>
          <p:cNvPr descr="BIZ-1062-L.jpg" id="6879" name="Google Shape;6879;p389"/>
          <p:cNvPicPr preferRelativeResize="0"/>
          <p:nvPr/>
        </p:nvPicPr>
        <p:blipFill rotWithShape="1">
          <a:blip r:embed="rId3">
            <a:alphaModFix/>
          </a:blip>
          <a:srcRect b="0" l="-8656" r="-8655" t="0"/>
          <a:stretch/>
        </p:blipFill>
        <p:spPr>
          <a:xfrm>
            <a:off x="5182131" y="797425"/>
            <a:ext cx="3430238" cy="1949360"/>
          </a:xfrm>
          <a:prstGeom prst="rect">
            <a:avLst/>
          </a:prstGeom>
          <a:noFill/>
          <a:ln>
            <a:noFill/>
          </a:ln>
        </p:spPr>
      </p:pic>
      <p:sp>
        <p:nvSpPr>
          <p:cNvPr id="6880" name="Google Shape;6880;p38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End of Life</a:t>
            </a:r>
            <a:endParaRPr sz="750">
              <a:solidFill>
                <a:schemeClr val="lt1"/>
              </a:solidFill>
              <a:latin typeface="Century Gothic"/>
              <a:ea typeface="Century Gothic"/>
              <a:cs typeface="Century Gothic"/>
              <a:sym typeface="Century Gothic"/>
            </a:endParaRPr>
          </a:p>
        </p:txBody>
      </p:sp>
      <p:grpSp>
        <p:nvGrpSpPr>
          <p:cNvPr id="6881" name="Google Shape;6881;p389"/>
          <p:cNvGrpSpPr/>
          <p:nvPr/>
        </p:nvGrpSpPr>
        <p:grpSpPr>
          <a:xfrm>
            <a:off x="7717533" y="4360377"/>
            <a:ext cx="1058348" cy="347375"/>
            <a:chOff x="7651698" y="4287227"/>
            <a:chExt cx="1058348" cy="347375"/>
          </a:xfrm>
        </p:grpSpPr>
        <p:grpSp>
          <p:nvGrpSpPr>
            <p:cNvPr id="6882" name="Google Shape;6882;p389"/>
            <p:cNvGrpSpPr/>
            <p:nvPr/>
          </p:nvGrpSpPr>
          <p:grpSpPr>
            <a:xfrm>
              <a:off x="7714163" y="4337598"/>
              <a:ext cx="995883" cy="297004"/>
              <a:chOff x="7711013" y="3986494"/>
              <a:chExt cx="995883" cy="297004"/>
            </a:xfrm>
          </p:grpSpPr>
          <p:sp>
            <p:nvSpPr>
              <p:cNvPr id="6883" name="Google Shape;6883;p38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884" name="Google Shape;6884;p389"/>
              <p:cNvGrpSpPr/>
              <p:nvPr/>
            </p:nvGrpSpPr>
            <p:grpSpPr>
              <a:xfrm>
                <a:off x="7711013" y="4002615"/>
                <a:ext cx="281520" cy="241973"/>
                <a:chOff x="5652748" y="4066000"/>
                <a:chExt cx="906498" cy="747974"/>
              </a:xfrm>
            </p:grpSpPr>
            <p:sp>
              <p:nvSpPr>
                <p:cNvPr id="6885" name="Google Shape;6885;p38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886" name="Google Shape;6886;p38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87" name="Google Shape;6887;p38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888" name="Google Shape;6888;p38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07" name="Shape 6907"/>
        <p:cNvGrpSpPr/>
        <p:nvPr/>
      </p:nvGrpSpPr>
      <p:grpSpPr>
        <a:xfrm>
          <a:off x="0" y="0"/>
          <a:ext cx="0" cy="0"/>
          <a:chOff x="0" y="0"/>
          <a:chExt cx="0" cy="0"/>
        </a:xfrm>
      </p:grpSpPr>
      <p:pic>
        <p:nvPicPr>
          <p:cNvPr descr="Black Laptop Computer Turned on" id="6908" name="Google Shape;6908;p391"/>
          <p:cNvPicPr preferRelativeResize="0"/>
          <p:nvPr/>
        </p:nvPicPr>
        <p:blipFill rotWithShape="1">
          <a:blip r:embed="rId3">
            <a:alphaModFix/>
          </a:blip>
          <a:srcRect b="0" l="0" r="0" t="0"/>
          <a:stretch/>
        </p:blipFill>
        <p:spPr>
          <a:xfrm>
            <a:off x="5538789" y="-66675"/>
            <a:ext cx="4652962" cy="5210175"/>
          </a:xfrm>
          <a:prstGeom prst="rect">
            <a:avLst/>
          </a:prstGeom>
          <a:noFill/>
          <a:ln>
            <a:noFill/>
          </a:ln>
        </p:spPr>
      </p:pic>
      <p:sp>
        <p:nvSpPr>
          <p:cNvPr id="6909" name="Google Shape;6909;p391"/>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Performance</a:t>
            </a:r>
            <a:endParaRPr/>
          </a:p>
        </p:txBody>
      </p:sp>
      <p:sp>
        <p:nvSpPr>
          <p:cNvPr id="6910" name="Google Shape;6910;p391"/>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300"/>
              <a:buChar char="•"/>
            </a:pPr>
            <a:r>
              <a:rPr lang="en-GB" sz="1300"/>
              <a:t>Tracking and measuring leads to control and eventually improvement</a:t>
            </a:r>
            <a:endParaRPr/>
          </a:p>
          <a:p>
            <a:pPr indent="-231775" lvl="1" marL="231775" rtl="0" algn="l">
              <a:lnSpc>
                <a:spcPct val="100000"/>
              </a:lnSpc>
              <a:spcBef>
                <a:spcPts val="600"/>
              </a:spcBef>
              <a:spcAft>
                <a:spcPts val="0"/>
              </a:spcAft>
              <a:buClr>
                <a:schemeClr val="dk1"/>
              </a:buClr>
              <a:buSzPts val="1300"/>
              <a:buChar char="•"/>
            </a:pPr>
            <a:r>
              <a:rPr lang="en-GB" sz="1300"/>
              <a:t>Provides a foundation for incoming revenue, profitability and market share growth aligned with the product vision</a:t>
            </a:r>
            <a:endParaRPr/>
          </a:p>
          <a:p>
            <a:pPr indent="-231775" lvl="1" marL="231775" rtl="0" algn="l">
              <a:lnSpc>
                <a:spcPct val="100000"/>
              </a:lnSpc>
              <a:spcBef>
                <a:spcPts val="600"/>
              </a:spcBef>
              <a:spcAft>
                <a:spcPts val="0"/>
              </a:spcAft>
              <a:buClr>
                <a:schemeClr val="dk1"/>
              </a:buClr>
              <a:buSzPts val="1300"/>
              <a:buChar char="•"/>
            </a:pPr>
            <a:r>
              <a:rPr lang="en-GB" sz="1300"/>
              <a:t>Ability to identify strengths and weaknesses of the product to institute replication/ corrective measures. Used to drive strategic roadmap for innovation, improved features and services</a:t>
            </a:r>
            <a:endParaRPr/>
          </a:p>
          <a:p>
            <a:pPr indent="-231775" lvl="1" marL="231775" rtl="0" algn="l">
              <a:lnSpc>
                <a:spcPct val="100000"/>
              </a:lnSpc>
              <a:spcBef>
                <a:spcPts val="600"/>
              </a:spcBef>
              <a:spcAft>
                <a:spcPts val="0"/>
              </a:spcAft>
              <a:buClr>
                <a:schemeClr val="dk1"/>
              </a:buClr>
              <a:buSzPts val="1300"/>
              <a:buChar char="•"/>
            </a:pPr>
            <a:r>
              <a:rPr lang="en-GB" sz="1300"/>
              <a:t>Measures business actions against identifiable and quantifiable improvements over time</a:t>
            </a:r>
            <a:endParaRPr/>
          </a:p>
        </p:txBody>
      </p:sp>
      <p:sp>
        <p:nvSpPr>
          <p:cNvPr id="6911" name="Google Shape;6911;p391"/>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912" name="Google Shape;6912;p391"/>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The strategic process of tracking and analyzing product health and performance against pre-defined metrics.  Managers must measure profitability, effectiveness, efficiency, sales, fulfillment, viability of product proposition and all related dimensions pertaining to any specific product</a:t>
            </a:r>
            <a:endParaRPr/>
          </a:p>
        </p:txBody>
      </p:sp>
      <p:sp>
        <p:nvSpPr>
          <p:cNvPr id="6913" name="Google Shape;6913;p39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28" name="Shape 6928"/>
        <p:cNvGrpSpPr/>
        <p:nvPr/>
      </p:nvGrpSpPr>
      <p:grpSpPr>
        <a:xfrm>
          <a:off x="0" y="0"/>
          <a:ext cx="0" cy="0"/>
          <a:chOff x="0" y="0"/>
          <a:chExt cx="0" cy="0"/>
        </a:xfrm>
      </p:grpSpPr>
      <p:cxnSp>
        <p:nvCxnSpPr>
          <p:cNvPr id="6929" name="Google Shape;6929;p39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6930" name="Google Shape;6930;p393"/>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Analyze Cross Channel Performance</a:t>
            </a:r>
            <a:endParaRPr/>
          </a:p>
        </p:txBody>
      </p:sp>
      <p:graphicFrame>
        <p:nvGraphicFramePr>
          <p:cNvPr id="6931" name="Google Shape;6931;p393"/>
          <p:cNvGraphicFramePr/>
          <p:nvPr/>
        </p:nvGraphicFramePr>
        <p:xfrm>
          <a:off x="414866" y="774875"/>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7575">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823775">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Organizational capability to integrate cross channel performance covering multiple business lines across financial, risk, customer engagement and operational dimensions to achieve a holistic view of products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Integrate chronological data of all product dynamics across available </a:t>
                      </a:r>
                      <a:r>
                        <a:rPr b="0" i="0" lang="en-GB" sz="900" u="none" cap="none" strike="noStrike">
                          <a:solidFill>
                            <a:schemeClr val="dk1"/>
                          </a:solidFill>
                          <a:latin typeface="Century Gothic"/>
                          <a:ea typeface="Century Gothic"/>
                          <a:cs typeface="Century Gothic"/>
                          <a:sym typeface="Century Gothic"/>
                        </a:rPr>
                        <a:t>products across all channels to understand product and buying patterns throughout product life cycle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Understand cross product behavior across </a:t>
                      </a:r>
                      <a:r>
                        <a:rPr b="0" i="0" lang="en-GB" sz="900" u="none" cap="none" strike="noStrike">
                          <a:solidFill>
                            <a:schemeClr val="dk1"/>
                          </a:solidFill>
                          <a:latin typeface="Century Gothic"/>
                          <a:ea typeface="Century Gothic"/>
                          <a:cs typeface="Century Gothic"/>
                          <a:sym typeface="Century Gothic"/>
                        </a:rPr>
                        <a:t>all</a:t>
                      </a:r>
                      <a:r>
                        <a:rPr b="0" i="0" lang="en-GB" sz="900" u="none" cap="none" strike="noStrike">
                          <a:solidFill>
                            <a:srgbClr val="3C3C3B"/>
                          </a:solidFill>
                          <a:latin typeface="Century Gothic"/>
                          <a:ea typeface="Century Gothic"/>
                          <a:cs typeface="Century Gothic"/>
                          <a:sym typeface="Century Gothic"/>
                        </a:rPr>
                        <a:t> channels to enhance product profitability</a:t>
                      </a:r>
                      <a:r>
                        <a:rPr b="0" i="0" lang="en-GB" sz="900" u="none" cap="none" strike="sngStrike">
                          <a:solidFill>
                            <a:srgbClr val="FF0000"/>
                          </a:solidFill>
                          <a:latin typeface="Century Gothic"/>
                          <a:ea typeface="Century Gothic"/>
                          <a:cs typeface="Century Gothic"/>
                          <a:sym typeface="Century Gothic"/>
                        </a:rPr>
                        <a:t>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Determine disparity of channel sophistication and efficiencies between multiple product lines </a:t>
                      </a:r>
                      <a:endParaRPr b="0" i="0" sz="900" u="none" cap="none" strike="noStrike">
                        <a:solidFill>
                          <a:srgbClr val="FF0000"/>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Enable overview of sales patterns across multiple systems </a:t>
                      </a:r>
                      <a:endParaRPr b="0" i="0" sz="900" u="none" cap="none" strike="sngStrike">
                        <a:solidFill>
                          <a:srgbClr val="FF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7575">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2129675">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Detailed customer and product data profiles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Acquisition/ subscription, product basket mix and channel </a:t>
                      </a:r>
                      <a:r>
                        <a:rPr b="0" i="0" lang="en-GB" sz="900" u="none" cap="none" strike="sngStrike">
                          <a:solidFill>
                            <a:srgbClr val="FF0000"/>
                          </a:solidFill>
                          <a:latin typeface="Century Gothic"/>
                          <a:ea typeface="Century Gothic"/>
                          <a:cs typeface="Century Gothic"/>
                          <a:sym typeface="Century Gothic"/>
                        </a:rPr>
                        <a:t> </a:t>
                      </a:r>
                      <a:r>
                        <a:rPr b="0" i="0" lang="en-GB" sz="900" u="none" cap="none" strike="noStrike">
                          <a:solidFill>
                            <a:schemeClr val="dk1"/>
                          </a:solidFill>
                          <a:latin typeface="Century Gothic"/>
                          <a:ea typeface="Century Gothic"/>
                          <a:cs typeface="Century Gothic"/>
                          <a:sym typeface="Century Gothic"/>
                        </a:rPr>
                        <a:t>interactions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Fulfillment and underwriting data, line/ plan action information, inventory data, risk mitigation etc.. </a:t>
                      </a:r>
                      <a:endParaRPr b="0" i="0" sz="900" u="none" cap="none" strike="noStrike">
                        <a:solidFill>
                          <a:srgbClr val="FF0000"/>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Traditional (e.g. profiling, regression) and modern (advanced) analytical techniques (e.g. Pathing, Graphing etc. etc.) that uncovers profile of channel performance and its impact on products (sales, profitability, return rates, fulfillment etc..)</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Automated analytical applications</a:t>
                      </a:r>
                      <a:endParaRPr sz="900" strike="sngStrike">
                        <a:solidFill>
                          <a:srgbClr val="FF0000"/>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Identification of opportunities for product bundling, cross-selling, up-selling and product wraps</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Enhanced operational efficiency </a:t>
                      </a:r>
                      <a:endParaRPr b="0" i="0" sz="900" u="none" cap="none" strike="sngStrike">
                        <a:solidFill>
                          <a:srgbClr val="FF0000"/>
                        </a:solidFill>
                        <a:latin typeface="Century Gothic"/>
                        <a:ea typeface="Century Gothic"/>
                        <a:cs typeface="Century Gothic"/>
                        <a:sym typeface="Century Gothic"/>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Enhanced risk management through understanding of channel behavior and consequential impact to other products</a:t>
                      </a:r>
                      <a:endParaRPr/>
                    </a:p>
                    <a:p>
                      <a:pPr indent="-171450" lvl="0" marL="171450" marR="0" rtl="0" algn="just">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Improved </a:t>
                      </a:r>
                      <a:r>
                        <a:rPr b="0" i="0" lang="en-GB" sz="900" u="none" cap="none" strike="noStrike">
                          <a:solidFill>
                            <a:srgbClr val="3C3C3B"/>
                          </a:solidFill>
                          <a:latin typeface="Century Gothic"/>
                          <a:ea typeface="Century Gothic"/>
                          <a:cs typeface="Century Gothic"/>
                          <a:sym typeface="Century Gothic"/>
                        </a:rPr>
                        <a:t>management of capital and resource allocation towards specific channels   </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Holistic and coordinated management of product positioning and engagement strategies across channels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Identified and shared best practice between</a:t>
                      </a:r>
                      <a:br>
                        <a:rPr b="0" i="0" lang="en-GB" sz="900" u="none" cap="none" strike="noStrike">
                          <a:solidFill>
                            <a:schemeClr val="dk1"/>
                          </a:solidFill>
                          <a:latin typeface="Century Gothic"/>
                          <a:ea typeface="Century Gothic"/>
                          <a:cs typeface="Century Gothic"/>
                          <a:sym typeface="Century Gothic"/>
                        </a:rPr>
                      </a:br>
                      <a:r>
                        <a:rPr b="0" i="0" lang="en-GB" sz="900" u="none" cap="none" strike="noStrike">
                          <a:solidFill>
                            <a:schemeClr val="dk1"/>
                          </a:solidFill>
                          <a:latin typeface="Century Gothic"/>
                          <a:ea typeface="Century Gothic"/>
                          <a:cs typeface="Century Gothic"/>
                          <a:sym typeface="Century Gothic"/>
                        </a:rPr>
                        <a:t> channels, related to products</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pic>
        <p:nvPicPr>
          <p:cNvPr id="6932" name="Google Shape;6932;p393"/>
          <p:cNvPicPr preferRelativeResize="0"/>
          <p:nvPr/>
        </p:nvPicPr>
        <p:blipFill rotWithShape="1">
          <a:blip r:embed="rId3">
            <a:alphaModFix/>
          </a:blip>
          <a:srcRect b="0" l="0" r="0" t="0"/>
          <a:stretch/>
        </p:blipFill>
        <p:spPr>
          <a:xfrm>
            <a:off x="5538788" y="603250"/>
            <a:ext cx="2727760" cy="1901825"/>
          </a:xfrm>
          <a:prstGeom prst="rect">
            <a:avLst/>
          </a:prstGeom>
          <a:noFill/>
          <a:ln>
            <a:noFill/>
          </a:ln>
        </p:spPr>
      </p:pic>
      <p:sp>
        <p:nvSpPr>
          <p:cNvPr id="6933" name="Google Shape;6933;p39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6934" name="Google Shape;6934;p393"/>
          <p:cNvGrpSpPr/>
          <p:nvPr/>
        </p:nvGrpSpPr>
        <p:grpSpPr>
          <a:xfrm>
            <a:off x="7717533" y="4360377"/>
            <a:ext cx="1058348" cy="347375"/>
            <a:chOff x="7651698" y="4287227"/>
            <a:chExt cx="1058348" cy="347375"/>
          </a:xfrm>
        </p:grpSpPr>
        <p:grpSp>
          <p:nvGrpSpPr>
            <p:cNvPr id="6935" name="Google Shape;6935;p393"/>
            <p:cNvGrpSpPr/>
            <p:nvPr/>
          </p:nvGrpSpPr>
          <p:grpSpPr>
            <a:xfrm>
              <a:off x="7714163" y="4337598"/>
              <a:ext cx="995883" cy="297004"/>
              <a:chOff x="7711013" y="3986494"/>
              <a:chExt cx="995883" cy="297004"/>
            </a:xfrm>
          </p:grpSpPr>
          <p:sp>
            <p:nvSpPr>
              <p:cNvPr id="6936" name="Google Shape;6936;p39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937" name="Google Shape;6937;p393"/>
              <p:cNvGrpSpPr/>
              <p:nvPr/>
            </p:nvGrpSpPr>
            <p:grpSpPr>
              <a:xfrm>
                <a:off x="7711013" y="4002615"/>
                <a:ext cx="281520" cy="241973"/>
                <a:chOff x="5652748" y="4066000"/>
                <a:chExt cx="906498" cy="747974"/>
              </a:xfrm>
            </p:grpSpPr>
            <p:sp>
              <p:nvSpPr>
                <p:cNvPr id="6938" name="Google Shape;6938;p39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939" name="Google Shape;6939;p39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40" name="Google Shape;6940;p39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941" name="Google Shape;6941;p39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60" name="Shape 6960"/>
        <p:cNvGrpSpPr/>
        <p:nvPr/>
      </p:nvGrpSpPr>
      <p:grpSpPr>
        <a:xfrm>
          <a:off x="0" y="0"/>
          <a:ext cx="0" cy="0"/>
          <a:chOff x="0" y="0"/>
          <a:chExt cx="0" cy="0"/>
        </a:xfrm>
      </p:grpSpPr>
      <p:cxnSp>
        <p:nvCxnSpPr>
          <p:cNvPr id="6961" name="Google Shape;6961;p39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962" name="Google Shape;6962;p395"/>
          <p:cNvGraphicFramePr/>
          <p:nvPr/>
        </p:nvGraphicFramePr>
        <p:xfrm>
          <a:off x="539574" y="837142"/>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Comparing a portfolio against an internal or external reference, to identify gaps and potential enhancements</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To improve product</a:t>
                      </a:r>
                      <a:r>
                        <a:rPr b="0" i="0" lang="en-GB" sz="900">
                          <a:solidFill>
                            <a:schemeClr val="dk1"/>
                          </a:solidFill>
                          <a:latin typeface="Century Gothic"/>
                          <a:ea typeface="Century Gothic"/>
                          <a:cs typeface="Century Gothic"/>
                          <a:sym typeface="Century Gothic"/>
                        </a:rPr>
                        <a:t> </a:t>
                      </a:r>
                      <a:r>
                        <a:rPr b="0" i="0" lang="en-GB" sz="900">
                          <a:solidFill>
                            <a:schemeClr val="dk1"/>
                          </a:solidFill>
                          <a:latin typeface="Century Gothic"/>
                          <a:ea typeface="Century Gothic"/>
                          <a:cs typeface="Century Gothic"/>
                          <a:sym typeface="Century Gothic"/>
                        </a:rPr>
                        <a:t>performance by identifying and applying best demonstrated practices.</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Compare the performance of products and services externally with those of competitors and best-in-class companies and internally with other operations within own firms that perform similar activities.</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Find examples of superior performance and understand the processes and practices that drive the difference.</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Improve performance by tailoring and incorporating best practice into own operations, typically by innovating, not imitating.</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For a chosen product or service, detailed data covering all key performance metrics.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Linked to financial performance and product strategy.</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Identify best in class companies to be benchmarked (competitors, different industry or internal).</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Dashboards and regular MI showing trends over time and adherence to product tolerance levels.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Exception reporting.</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Self service analytics to drill down by key dimensions.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Correlation and regression analysis between key performance metrics and overall sales, profit, margin, retention etc.</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New variables for predictive modeling (e.g. attrition modeling).</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90488" lvl="0" marL="90488" marR="0" rtl="0" algn="l">
                        <a:lnSpc>
                          <a:spcPct val="100000"/>
                        </a:lnSpc>
                        <a:spcBef>
                          <a:spcPts val="0"/>
                        </a:spcBef>
                        <a:spcAft>
                          <a:spcPts val="0"/>
                        </a:spcAft>
                        <a:buClr>
                          <a:schemeClr val="dk1"/>
                        </a:buClr>
                        <a:buSzPts val="900"/>
                        <a:buFont typeface="Arial"/>
                        <a:buChar char="•"/>
                      </a:pPr>
                      <a:r>
                        <a:rPr b="1" i="0" lang="en-GB" sz="900"/>
                        <a:t>Improve performance </a:t>
                      </a:r>
                      <a:r>
                        <a:rPr i="0" lang="en-GB" sz="900"/>
                        <a:t>– benchmarking i</a:t>
                      </a:r>
                      <a:r>
                        <a:rPr b="0" i="0" lang="en-GB" sz="900">
                          <a:solidFill>
                            <a:schemeClr val="dk1"/>
                          </a:solidFill>
                          <a:latin typeface="Century Gothic"/>
                          <a:ea typeface="Century Gothic"/>
                          <a:cs typeface="Century Gothic"/>
                          <a:sym typeface="Century Gothic"/>
                        </a:rPr>
                        <a:t>dentifies methods of improving market share, operational efficiency and product design.</a:t>
                      </a:r>
                      <a:endParaRPr b="0" i="0" sz="900">
                        <a:solidFill>
                          <a:schemeClr val="dk1"/>
                        </a:solidFill>
                        <a:latin typeface="Century Gothic"/>
                        <a:ea typeface="Century Gothic"/>
                        <a:cs typeface="Century Gothic"/>
                        <a:sym typeface="Century Gothic"/>
                      </a:endParaRPr>
                    </a:p>
                    <a:p>
                      <a:pPr indent="-90488" lvl="0" marL="90488" marR="0" rtl="0" algn="l">
                        <a:lnSpc>
                          <a:spcPct val="100000"/>
                        </a:lnSpc>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Understand relative </a:t>
                      </a:r>
                      <a:r>
                        <a:rPr b="1" i="0" lang="en-GB" sz="900">
                          <a:solidFill>
                            <a:schemeClr val="dk1"/>
                          </a:solidFill>
                          <a:latin typeface="Century Gothic"/>
                          <a:ea typeface="Century Gothic"/>
                          <a:cs typeface="Century Gothic"/>
                          <a:sym typeface="Century Gothic"/>
                        </a:rPr>
                        <a:t>cost position </a:t>
                      </a:r>
                      <a:r>
                        <a:rPr b="0" i="0" lang="en-GB" sz="900">
                          <a:solidFill>
                            <a:schemeClr val="dk1"/>
                          </a:solidFill>
                          <a:latin typeface="Century Gothic"/>
                          <a:ea typeface="Century Gothic"/>
                          <a:cs typeface="Century Gothic"/>
                          <a:sym typeface="Century Gothic"/>
                        </a:rPr>
                        <a:t>- benchmarking reveals a company's relative cost position and identifies opportunities for improvement.</a:t>
                      </a:r>
                      <a:endParaRPr/>
                    </a:p>
                    <a:p>
                      <a:pPr indent="-90488" lvl="0" marL="90488" marR="0" rtl="0" algn="l">
                        <a:lnSpc>
                          <a:spcPct val="100000"/>
                        </a:lnSpc>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Gain </a:t>
                      </a:r>
                      <a:r>
                        <a:rPr b="1" i="0" lang="en-GB" sz="900">
                          <a:solidFill>
                            <a:schemeClr val="dk1"/>
                          </a:solidFill>
                          <a:latin typeface="Century Gothic"/>
                          <a:ea typeface="Century Gothic"/>
                          <a:cs typeface="Century Gothic"/>
                          <a:sym typeface="Century Gothic"/>
                        </a:rPr>
                        <a:t>strategic advantage</a:t>
                      </a:r>
                      <a:r>
                        <a:rPr b="1" i="0" lang="en-GB" sz="900">
                          <a:solidFill>
                            <a:schemeClr val="dk1"/>
                          </a:solidFill>
                          <a:latin typeface="Century Gothic"/>
                          <a:ea typeface="Century Gothic"/>
                          <a:cs typeface="Century Gothic"/>
                          <a:sym typeface="Century Gothic"/>
                        </a:rPr>
                        <a:t> </a:t>
                      </a:r>
                      <a:r>
                        <a:rPr b="0" i="0" lang="en-GB" sz="900">
                          <a:solidFill>
                            <a:schemeClr val="dk1"/>
                          </a:solidFill>
                          <a:latin typeface="Century Gothic"/>
                          <a:ea typeface="Century Gothic"/>
                          <a:cs typeface="Century Gothic"/>
                          <a:sym typeface="Century Gothic"/>
                        </a:rPr>
                        <a:t>- </a:t>
                      </a:r>
                      <a:r>
                        <a:rPr b="0" i="0" lang="en-GB" sz="900">
                          <a:solidFill>
                            <a:schemeClr val="dk1"/>
                          </a:solidFill>
                          <a:latin typeface="Century Gothic"/>
                          <a:ea typeface="Century Gothic"/>
                          <a:cs typeface="Century Gothic"/>
                          <a:sym typeface="Century Gothic"/>
                        </a:rPr>
                        <a:t>benchmarking helps companies focus on capabilities critical to building strategic advantage.</a:t>
                      </a:r>
                      <a:endParaRPr/>
                    </a:p>
                    <a:p>
                      <a:pPr indent="-90488" lvl="0" marL="90488" marR="0" rtl="0" algn="l">
                        <a:lnSpc>
                          <a:spcPct val="100000"/>
                        </a:lnSpc>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Increase the rate of </a:t>
                      </a:r>
                      <a:r>
                        <a:rPr b="1" i="0" lang="en-GB" sz="900">
                          <a:solidFill>
                            <a:schemeClr val="dk1"/>
                          </a:solidFill>
                          <a:latin typeface="Century Gothic"/>
                          <a:ea typeface="Century Gothic"/>
                          <a:cs typeface="Century Gothic"/>
                          <a:sym typeface="Century Gothic"/>
                        </a:rPr>
                        <a:t>organisational learning </a:t>
                      </a:r>
                      <a:r>
                        <a:rPr b="0" i="0" lang="en-GB" sz="900">
                          <a:solidFill>
                            <a:schemeClr val="dk1"/>
                          </a:solidFill>
                          <a:latin typeface="Century Gothic"/>
                          <a:ea typeface="Century Gothic"/>
                          <a:cs typeface="Century Gothic"/>
                          <a:sym typeface="Century Gothic"/>
                        </a:rPr>
                        <a:t>- benchmarking brings new ideas into the company and facilitates experience sharing.</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963" name="Google Shape;6963;p395"/>
          <p:cNvSpPr txBox="1"/>
          <p:nvPr>
            <p:ph type="title"/>
          </p:nvPr>
        </p:nvSpPr>
        <p:spPr>
          <a:xfrm>
            <a:off x="465138" y="29883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Compare to Product Benchmarks</a:t>
            </a:r>
            <a:endParaRPr/>
          </a:p>
        </p:txBody>
      </p:sp>
      <p:pic>
        <p:nvPicPr>
          <p:cNvPr descr="BIZ-1042-L.jpg" id="6964" name="Google Shape;6964;p395"/>
          <p:cNvPicPr preferRelativeResize="0"/>
          <p:nvPr/>
        </p:nvPicPr>
        <p:blipFill rotWithShape="1">
          <a:blip r:embed="rId3">
            <a:alphaModFix/>
          </a:blip>
          <a:srcRect b="0" l="-8792" r="-8791" t="0"/>
          <a:stretch/>
        </p:blipFill>
        <p:spPr>
          <a:xfrm>
            <a:off x="5367314" y="803275"/>
            <a:ext cx="2994614" cy="1701800"/>
          </a:xfrm>
          <a:prstGeom prst="rect">
            <a:avLst/>
          </a:prstGeom>
          <a:noFill/>
          <a:ln>
            <a:noFill/>
          </a:ln>
        </p:spPr>
      </p:pic>
      <p:sp>
        <p:nvSpPr>
          <p:cNvPr id="6965" name="Google Shape;6965;p39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6966" name="Google Shape;6966;p395"/>
          <p:cNvGrpSpPr/>
          <p:nvPr/>
        </p:nvGrpSpPr>
        <p:grpSpPr>
          <a:xfrm>
            <a:off x="7717533" y="4360377"/>
            <a:ext cx="1058348" cy="347375"/>
            <a:chOff x="7651698" y="4287227"/>
            <a:chExt cx="1058348" cy="347375"/>
          </a:xfrm>
        </p:grpSpPr>
        <p:grpSp>
          <p:nvGrpSpPr>
            <p:cNvPr id="6967" name="Google Shape;6967;p395"/>
            <p:cNvGrpSpPr/>
            <p:nvPr/>
          </p:nvGrpSpPr>
          <p:grpSpPr>
            <a:xfrm>
              <a:off x="7714163" y="4337598"/>
              <a:ext cx="995883" cy="297004"/>
              <a:chOff x="7711013" y="3986494"/>
              <a:chExt cx="995883" cy="297004"/>
            </a:xfrm>
          </p:grpSpPr>
          <p:sp>
            <p:nvSpPr>
              <p:cNvPr id="6968" name="Google Shape;6968;p39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969" name="Google Shape;6969;p395"/>
              <p:cNvGrpSpPr/>
              <p:nvPr/>
            </p:nvGrpSpPr>
            <p:grpSpPr>
              <a:xfrm>
                <a:off x="7711013" y="4002615"/>
                <a:ext cx="281520" cy="241973"/>
                <a:chOff x="5652748" y="4066000"/>
                <a:chExt cx="906498" cy="747974"/>
              </a:xfrm>
            </p:grpSpPr>
            <p:sp>
              <p:nvSpPr>
                <p:cNvPr id="6970" name="Google Shape;6970;p39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971" name="Google Shape;6971;p39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72" name="Google Shape;6972;p39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973" name="Google Shape;6973;p39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92" name="Shape 6992"/>
        <p:cNvGrpSpPr/>
        <p:nvPr/>
      </p:nvGrpSpPr>
      <p:grpSpPr>
        <a:xfrm>
          <a:off x="0" y="0"/>
          <a:ext cx="0" cy="0"/>
          <a:chOff x="0" y="0"/>
          <a:chExt cx="0" cy="0"/>
        </a:xfrm>
      </p:grpSpPr>
      <p:cxnSp>
        <p:nvCxnSpPr>
          <p:cNvPr id="6993" name="Google Shape;6993;p39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994" name="Google Shape;6994;p397"/>
          <p:cNvGraphicFramePr/>
          <p:nvPr/>
        </p:nvGraphicFramePr>
        <p:xfrm>
          <a:off x="494418" y="8236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Quantifying all product and services (P&amp;S) revenue, cost and risks to calculate the true profitability over time.</a:t>
                      </a:r>
                      <a:r>
                        <a:rPr b="0" lang="en-GB" sz="900">
                          <a:solidFill>
                            <a:schemeClr val="dk1"/>
                          </a:solidFill>
                        </a:rPr>
                        <a:t> </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Calculate product and segment Net Present Value (NPV)</a:t>
                      </a:r>
                      <a:r>
                        <a:rPr b="0" lang="en-GB" sz="900">
                          <a:solidFill>
                            <a:schemeClr val="dk1"/>
                          </a:solidFill>
                        </a:rPr>
                        <a:t> by understanding contribution of revenue, cost and risk.</a:t>
                      </a:r>
                      <a:endParaRPr b="0" sz="900">
                        <a:solidFill>
                          <a:schemeClr val="dk1"/>
                        </a:solidFill>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Understand key drivers of profitability and calculate current and lifetime values.</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Develop robust and automated processes which produces</a:t>
                      </a:r>
                      <a:r>
                        <a:rPr b="0" lang="en-GB" sz="900">
                          <a:solidFill>
                            <a:schemeClr val="dk1"/>
                          </a:solidFill>
                        </a:rPr>
                        <a:t> results quickly.</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Reconciliation with Finance General Ledger.</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Track and monitor improvements in current profitability and future profitability projections, and incrementally improve models.</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Develop a set of product treatments to grow value.</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Monitor effectiveness of product strategy.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output from current profitability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product and channel transaction data to calculate revenue, costs and risks.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activity based costing data, including Cost of Funds.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metadata (e.g. interest rates specifications).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Propensity models (e.g. to buy, attrite, price elasticity)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Componentized analytical process to calculate profitability from atomic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Monitor profitability over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Ability to drill in individual product profitability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Overall, increased profit per product.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Drive product development to create more profitable propositions.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products with the greatest potential for profitable future business.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effectively target retention spend and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and make profitable product recommendations quickly and easily.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995" name="Google Shape;6995;p397"/>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Manage Product Profitability</a:t>
            </a:r>
            <a:endParaRPr/>
          </a:p>
        </p:txBody>
      </p:sp>
      <p:pic>
        <p:nvPicPr>
          <p:cNvPr descr="BIZ-1059-L.jpg" id="6996" name="Google Shape;6996;p397"/>
          <p:cNvPicPr preferRelativeResize="0"/>
          <p:nvPr/>
        </p:nvPicPr>
        <p:blipFill rotWithShape="1">
          <a:blip r:embed="rId3">
            <a:alphaModFix/>
          </a:blip>
          <a:srcRect b="0" l="-8792" r="-8791" t="0"/>
          <a:stretch/>
        </p:blipFill>
        <p:spPr>
          <a:xfrm>
            <a:off x="5271467" y="603250"/>
            <a:ext cx="3381996" cy="1921944"/>
          </a:xfrm>
          <a:prstGeom prst="rect">
            <a:avLst/>
          </a:prstGeom>
          <a:noFill/>
          <a:ln>
            <a:noFill/>
          </a:ln>
        </p:spPr>
      </p:pic>
      <p:sp>
        <p:nvSpPr>
          <p:cNvPr id="6997" name="Google Shape;6997;p39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6998" name="Google Shape;6998;p397"/>
          <p:cNvGrpSpPr/>
          <p:nvPr/>
        </p:nvGrpSpPr>
        <p:grpSpPr>
          <a:xfrm>
            <a:off x="7717533" y="4360377"/>
            <a:ext cx="1058348" cy="347375"/>
            <a:chOff x="7651698" y="4287227"/>
            <a:chExt cx="1058348" cy="347375"/>
          </a:xfrm>
        </p:grpSpPr>
        <p:grpSp>
          <p:nvGrpSpPr>
            <p:cNvPr id="6999" name="Google Shape;6999;p397"/>
            <p:cNvGrpSpPr/>
            <p:nvPr/>
          </p:nvGrpSpPr>
          <p:grpSpPr>
            <a:xfrm>
              <a:off x="7714163" y="4337598"/>
              <a:ext cx="995883" cy="297004"/>
              <a:chOff x="7711013" y="3986494"/>
              <a:chExt cx="995883" cy="297004"/>
            </a:xfrm>
          </p:grpSpPr>
          <p:sp>
            <p:nvSpPr>
              <p:cNvPr id="7000" name="Google Shape;7000;p39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001" name="Google Shape;7001;p397"/>
              <p:cNvGrpSpPr/>
              <p:nvPr/>
            </p:nvGrpSpPr>
            <p:grpSpPr>
              <a:xfrm>
                <a:off x="7711013" y="4002615"/>
                <a:ext cx="281520" cy="241973"/>
                <a:chOff x="5652748" y="4066000"/>
                <a:chExt cx="906498" cy="747974"/>
              </a:xfrm>
            </p:grpSpPr>
            <p:sp>
              <p:nvSpPr>
                <p:cNvPr id="7002" name="Google Shape;7002;p39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03" name="Google Shape;7003;p39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04" name="Google Shape;7004;p39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005" name="Google Shape;7005;p39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24" name="Shape 7024"/>
        <p:cNvGrpSpPr/>
        <p:nvPr/>
      </p:nvGrpSpPr>
      <p:grpSpPr>
        <a:xfrm>
          <a:off x="0" y="0"/>
          <a:ext cx="0" cy="0"/>
          <a:chOff x="0" y="0"/>
          <a:chExt cx="0" cy="0"/>
        </a:xfrm>
      </p:grpSpPr>
      <p:graphicFrame>
        <p:nvGraphicFramePr>
          <p:cNvPr id="7025" name="Google Shape;7025;p399"/>
          <p:cNvGraphicFramePr/>
          <p:nvPr/>
        </p:nvGraphicFramePr>
        <p:xfrm>
          <a:off x="493889" y="842609"/>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Determine and leverage insights or patterns derived from detailed data of customers' products and services (P&amp;S) usage to design and evolve products and promote pricing, range, promotions.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current consumers and customers’ preferences &amp; priorities for products and services to find new opportunities for product design or change or find new ways to promote consumption or usage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Infer customer behavioral personas as reflected by their purchase and usage patterns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offer and track improved products and interaction approaches  to increase revenue and/or reduce cost-to-serve.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Feed into modeling for product profitability and forecasting.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Usage and purchase transactions granular data over time and space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Online and offline interactions, call patterns, recency and frequency of purchase data, types of use</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demographics and segmentation and Customer/product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Social media data </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Variety of traditional (e.g. profiling, regression, clustering) to identify how the customer currently interacts with the product or.</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 techniques  including: Historical trends, pathing, market basket analysis, Sequence analysis, R&amp;F analysis,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Include external on-line events to determine global trends and sentiment towards a certain set of P&amp;Ss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design and evolution of P&amp;S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Discover opportunities for new products to cover customers’ and consumers’ unfulfillled needs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 local emerging trends in segments of the market or customer base and be the first to answer with P&amp;Ss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Create a more data-based product strategy and clearer understanding of the product life-cycle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potentially valuable segments and invest for growth</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7026" name="Google Shape;7026;p39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7027" name="Google Shape;7027;p399"/>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Produce Behavioral Segmentations</a:t>
            </a:r>
            <a:endParaRPr/>
          </a:p>
        </p:txBody>
      </p:sp>
      <p:pic>
        <p:nvPicPr>
          <p:cNvPr descr="RET-1009-L.jpg" id="7028" name="Google Shape;7028;p399"/>
          <p:cNvPicPr preferRelativeResize="0"/>
          <p:nvPr/>
        </p:nvPicPr>
        <p:blipFill rotWithShape="1">
          <a:blip r:embed="rId3">
            <a:alphaModFix/>
          </a:blip>
          <a:srcRect b="0" l="0" r="0" t="0"/>
          <a:stretch/>
        </p:blipFill>
        <p:spPr>
          <a:xfrm>
            <a:off x="5538789" y="603251"/>
            <a:ext cx="2871786" cy="1924858"/>
          </a:xfrm>
          <a:prstGeom prst="rect">
            <a:avLst/>
          </a:prstGeom>
          <a:noFill/>
          <a:ln>
            <a:noFill/>
          </a:ln>
        </p:spPr>
      </p:pic>
      <p:sp>
        <p:nvSpPr>
          <p:cNvPr id="7029" name="Google Shape;7029;p39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7030" name="Google Shape;7030;p399"/>
          <p:cNvGrpSpPr/>
          <p:nvPr/>
        </p:nvGrpSpPr>
        <p:grpSpPr>
          <a:xfrm>
            <a:off x="7717533" y="4360377"/>
            <a:ext cx="1058348" cy="347375"/>
            <a:chOff x="7651698" y="4287227"/>
            <a:chExt cx="1058348" cy="347375"/>
          </a:xfrm>
        </p:grpSpPr>
        <p:grpSp>
          <p:nvGrpSpPr>
            <p:cNvPr id="7031" name="Google Shape;7031;p399"/>
            <p:cNvGrpSpPr/>
            <p:nvPr/>
          </p:nvGrpSpPr>
          <p:grpSpPr>
            <a:xfrm>
              <a:off x="7714163" y="4337598"/>
              <a:ext cx="995883" cy="297004"/>
              <a:chOff x="7711013" y="3986494"/>
              <a:chExt cx="995883" cy="297004"/>
            </a:xfrm>
          </p:grpSpPr>
          <p:sp>
            <p:nvSpPr>
              <p:cNvPr id="7032" name="Google Shape;7032;p39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033" name="Google Shape;7033;p399"/>
              <p:cNvGrpSpPr/>
              <p:nvPr/>
            </p:nvGrpSpPr>
            <p:grpSpPr>
              <a:xfrm>
                <a:off x="7711013" y="4002615"/>
                <a:ext cx="281520" cy="241973"/>
                <a:chOff x="5652748" y="4066000"/>
                <a:chExt cx="906498" cy="747974"/>
              </a:xfrm>
            </p:grpSpPr>
            <p:sp>
              <p:nvSpPr>
                <p:cNvPr id="7034" name="Google Shape;7034;p39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35" name="Google Shape;7035;p39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36" name="Google Shape;7036;p39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037" name="Google Shape;7037;p39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56" name="Shape 7056"/>
        <p:cNvGrpSpPr/>
        <p:nvPr/>
      </p:nvGrpSpPr>
      <p:grpSpPr>
        <a:xfrm>
          <a:off x="0" y="0"/>
          <a:ext cx="0" cy="0"/>
          <a:chOff x="0" y="0"/>
          <a:chExt cx="0" cy="0"/>
        </a:xfrm>
      </p:grpSpPr>
      <p:cxnSp>
        <p:nvCxnSpPr>
          <p:cNvPr id="7057" name="Google Shape;7057;p40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7058" name="Google Shape;7058;p401"/>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Predict Product/Service Retention</a:t>
            </a:r>
            <a:endParaRPr/>
          </a:p>
        </p:txBody>
      </p:sp>
      <p:graphicFrame>
        <p:nvGraphicFramePr>
          <p:cNvPr id="7059" name="Google Shape;7059;p401"/>
          <p:cNvGraphicFramePr/>
          <p:nvPr/>
        </p:nvGraphicFramePr>
        <p:xfrm>
          <a:off x="493890" y="83846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rgbClr val="3C3C3B"/>
                        </a:buClr>
                        <a:buSzPts val="900"/>
                        <a:buFont typeface="Century Gothic"/>
                        <a:buNone/>
                      </a:pPr>
                      <a:r>
                        <a:rPr b="1" lang="en-GB" sz="900">
                          <a:solidFill>
                            <a:schemeClr val="dk1"/>
                          </a:solidFill>
                        </a:rPr>
                        <a:t>Using analytics to predict products that are likely to support continued use by customers or to be dropped by customers. </a:t>
                      </a:r>
                      <a:endParaRPr/>
                    </a:p>
                    <a:p>
                      <a:pPr indent="-114300" lvl="0" marL="114300" marR="0" rtl="0" algn="l">
                        <a:lnSpc>
                          <a:spcPct val="100000"/>
                        </a:lnSpc>
                        <a:spcBef>
                          <a:spcPts val="300"/>
                        </a:spcBef>
                        <a:spcAft>
                          <a:spcPts val="0"/>
                        </a:spcAft>
                        <a:buClr>
                          <a:srgbClr val="3C3C3B"/>
                        </a:buClr>
                        <a:buSzPts val="900"/>
                        <a:buFont typeface="Arial"/>
                        <a:buChar char="•"/>
                      </a:pPr>
                      <a:r>
                        <a:rPr lang="en-GB" sz="900">
                          <a:solidFill>
                            <a:srgbClr val="3C3C3B"/>
                          </a:solidFill>
                        </a:rPr>
                        <a:t>Extend</a:t>
                      </a:r>
                      <a:r>
                        <a:rPr lang="en-GB" sz="900">
                          <a:solidFill>
                            <a:srgbClr val="3C3C3B"/>
                          </a:solidFill>
                        </a:rPr>
                        <a:t> product (and customer) lifespan and increase lifetime value.</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Understand the lifecycle of products to define appropriate actions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Develop retention triggers to prompt proactive customer contact by understanding how</a:t>
                      </a:r>
                      <a:r>
                        <a:rPr lang="en-GB" sz="900">
                          <a:solidFill>
                            <a:srgbClr val="3C3C3B"/>
                          </a:solidFill>
                        </a:rPr>
                        <a:t> to identify indicators of a declining product </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Build data-driven, value-based retention strategies for different products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Improve revenue &amp; earnings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product holdings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lifetime value and profitability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Service and product usage incl. transactions / activity / balances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3</a:t>
                      </a:r>
                      <a:r>
                        <a:rPr baseline="30000" lang="en-GB" sz="900">
                          <a:solidFill>
                            <a:schemeClr val="dk1"/>
                          </a:solidFill>
                        </a:rPr>
                        <a:t>rd</a:t>
                      </a:r>
                      <a:r>
                        <a:rPr lang="en-GB" sz="900">
                          <a:solidFill>
                            <a:schemeClr val="dk1"/>
                          </a:solidFill>
                        </a:rPr>
                        <a:t> Party market research</a:t>
                      </a:r>
                      <a:endParaRPr/>
                    </a:p>
                    <a:p>
                      <a:pPr indent="0" lvl="0" marL="0" marR="0" rtl="0" algn="l">
                        <a:spcBef>
                          <a:spcPts val="0"/>
                        </a:spcBef>
                        <a:spcAft>
                          <a:spcPts val="0"/>
                        </a:spcAft>
                        <a:buClr>
                          <a:schemeClr val="dk1"/>
                        </a:buClr>
                        <a:buSzPts val="900"/>
                        <a:buFont typeface="Arial"/>
                        <a:buNone/>
                      </a:pPr>
                      <a:r>
                        <a:t/>
                      </a:r>
                      <a:endParaRPr b="1"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Regression analysis to build churn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analysis to determine paths to churn / loss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and value Segmentation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Affinity analysis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strike="noStrike">
                          <a:solidFill>
                            <a:schemeClr val="dk1"/>
                          </a:solidFill>
                          <a:latin typeface="Century Gothic"/>
                          <a:ea typeface="Century Gothic"/>
                          <a:cs typeface="Century Gothic"/>
                          <a:sym typeface="Century Gothic"/>
                        </a:rPr>
                        <a:t>Reduced churn and improved </a:t>
                      </a:r>
                      <a:r>
                        <a:rPr lang="en-GB" sz="900">
                          <a:solidFill>
                            <a:schemeClr val="dk1"/>
                          </a:solidFill>
                          <a:latin typeface="Century Gothic"/>
                          <a:ea typeface="Century Gothic"/>
                          <a:cs typeface="Century Gothic"/>
                          <a:sym typeface="Century Gothic"/>
                        </a:rPr>
                        <a:t>brand loyalty, and referrals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Minimized profit erosion, including reduced costs on win back or reactivation activity</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t>Reduced</a:t>
                      </a:r>
                      <a:r>
                        <a:rPr lang="en-GB" sz="900"/>
                        <a:t> costs of new product development due to more efficient management of existing product portfolio</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profitability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pic>
        <p:nvPicPr>
          <p:cNvPr id="7060" name="Google Shape;7060;p401"/>
          <p:cNvPicPr preferRelativeResize="0"/>
          <p:nvPr/>
        </p:nvPicPr>
        <p:blipFill rotWithShape="1">
          <a:blip r:embed="rId3">
            <a:alphaModFix/>
          </a:blip>
          <a:srcRect b="0" l="0" r="0" t="0"/>
          <a:stretch/>
        </p:blipFill>
        <p:spPr>
          <a:xfrm>
            <a:off x="5521229" y="603249"/>
            <a:ext cx="2787533" cy="1901825"/>
          </a:xfrm>
          <a:prstGeom prst="rect">
            <a:avLst/>
          </a:prstGeom>
          <a:noFill/>
          <a:ln>
            <a:noFill/>
          </a:ln>
        </p:spPr>
      </p:pic>
      <p:sp>
        <p:nvSpPr>
          <p:cNvPr id="7061" name="Google Shape;7061;p40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7062" name="Google Shape;7062;p401"/>
          <p:cNvGrpSpPr/>
          <p:nvPr/>
        </p:nvGrpSpPr>
        <p:grpSpPr>
          <a:xfrm>
            <a:off x="7717533" y="4360377"/>
            <a:ext cx="1058348" cy="347375"/>
            <a:chOff x="7651698" y="4287227"/>
            <a:chExt cx="1058348" cy="347375"/>
          </a:xfrm>
        </p:grpSpPr>
        <p:grpSp>
          <p:nvGrpSpPr>
            <p:cNvPr id="7063" name="Google Shape;7063;p401"/>
            <p:cNvGrpSpPr/>
            <p:nvPr/>
          </p:nvGrpSpPr>
          <p:grpSpPr>
            <a:xfrm>
              <a:off x="7714163" y="4337598"/>
              <a:ext cx="995883" cy="297004"/>
              <a:chOff x="7711013" y="3986494"/>
              <a:chExt cx="995883" cy="297004"/>
            </a:xfrm>
          </p:grpSpPr>
          <p:sp>
            <p:nvSpPr>
              <p:cNvPr id="7064" name="Google Shape;7064;p40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065" name="Google Shape;7065;p401"/>
              <p:cNvGrpSpPr/>
              <p:nvPr/>
            </p:nvGrpSpPr>
            <p:grpSpPr>
              <a:xfrm>
                <a:off x="7711013" y="4002615"/>
                <a:ext cx="281520" cy="241973"/>
                <a:chOff x="5652748" y="4066000"/>
                <a:chExt cx="906498" cy="747974"/>
              </a:xfrm>
            </p:grpSpPr>
            <p:sp>
              <p:nvSpPr>
                <p:cNvPr id="7066" name="Google Shape;7066;p40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67" name="Google Shape;7067;p40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68" name="Google Shape;7068;p40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069" name="Google Shape;7069;p40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95" name="Shape 7095"/>
        <p:cNvGrpSpPr/>
        <p:nvPr/>
      </p:nvGrpSpPr>
      <p:grpSpPr>
        <a:xfrm>
          <a:off x="0" y="0"/>
          <a:ext cx="0" cy="0"/>
          <a:chOff x="0" y="0"/>
          <a:chExt cx="0" cy="0"/>
        </a:xfrm>
      </p:grpSpPr>
      <p:cxnSp>
        <p:nvCxnSpPr>
          <p:cNvPr id="7096" name="Google Shape;7096;p40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097" name="Google Shape;7097;p40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098" name="Google Shape;7098;p40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099" name="Google Shape;7099;p40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00" name="Google Shape;7100;p40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Improved Product Design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accuracy in product price adjusted for return on capital and expense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market size and position</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01" name="Google Shape;7101;p404"/>
          <p:cNvSpPr/>
          <p:nvPr/>
        </p:nvSpPr>
        <p:spPr>
          <a:xfrm>
            <a:off x="6148806" y="1894002"/>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 new and/or extended product offers in response to market analysis and trends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product collateral and pricing guidelines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Deploy new product to select market and review for any adjustments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Shorter time to market for new product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anticipate the needs of the consumer, and align products to that need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Deeper understanding of how  to best position new product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02" name="Google Shape;7102;p404"/>
          <p:cNvSpPr/>
          <p:nvPr/>
        </p:nvSpPr>
        <p:spPr>
          <a:xfrm>
            <a:off x="3271845" y="189400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Segment/Cluster product usage across a variety of dimensions (geographic, demographic…)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product/component failure (propensity or time to fail)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to understand  component that fail together (or closely)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03" name="Google Shape;7103;p404"/>
          <p:cNvSpPr/>
          <p:nvPr/>
        </p:nvSpPr>
        <p:spPr>
          <a:xfrm>
            <a:off x="423863" y="325908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Collection, storage and analysis of a large volumes of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Integrating data from disparate sources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Privacy Policies / Customer Opt-in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04" name="Google Shape;7104;p404"/>
          <p:cNvSpPr/>
          <p:nvPr/>
        </p:nvSpPr>
        <p:spPr>
          <a:xfrm>
            <a:off x="423863" y="1894002"/>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Product Usage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Demographic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Competitive information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Customer/Prospect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105" name="Google Shape;7105;p40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Increase speed to market with new and innovative products aligned with a fact market need that will provide a significant risk adjusted rate of return on the investment</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06" name="Google Shape;7106;p40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107" name="Google Shape;7107;p4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
        <p:nvSpPr>
          <p:cNvPr id="7108" name="Google Shape;7108;p40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109" name="Google Shape;7109;p40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Development and Packaging</a:t>
            </a:r>
            <a:endParaRPr sz="2400"/>
          </a:p>
        </p:txBody>
      </p:sp>
      <p:sp>
        <p:nvSpPr>
          <p:cNvPr id="7110" name="Google Shape;7110;p404"/>
          <p:cNvSpPr/>
          <p:nvPr/>
        </p:nvSpPr>
        <p:spPr>
          <a:xfrm>
            <a:off x="3271845" y="3259084"/>
            <a:ext cx="2715336" cy="1514923"/>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RACE Relevant</a:t>
            </a:r>
            <a:endParaRPr sz="800">
              <a:solidFill>
                <a:schemeClr val="dk1"/>
              </a:solidFill>
              <a:latin typeface="Century Gothic"/>
              <a:ea typeface="Century Gothic"/>
              <a:cs typeface="Century Gothic"/>
              <a:sym typeface="Century Gothic"/>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Analytic Prototype using traditional and product usage  data  to  improve design</a:t>
            </a:r>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Quantify potential for increased sales </a:t>
            </a:r>
            <a:endParaRPr b="0" i="0" sz="800" u="none" cap="none" strike="noStrike">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Full Engagement Deliverables</a:t>
            </a:r>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Production grade analytics, integrated into existing design processes, and use by the product design teams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Tree>
  </p:cSld>
  <p:clrMapOvr>
    <a:masterClrMapping/>
  </p:clrMapOvr>
</p:sld>
</file>

<file path=ppt/slides/slide3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15" name="Shape 7115"/>
        <p:cNvGrpSpPr/>
        <p:nvPr/>
      </p:nvGrpSpPr>
      <p:grpSpPr>
        <a:xfrm>
          <a:off x="0" y="0"/>
          <a:ext cx="0" cy="0"/>
          <a:chOff x="0" y="0"/>
          <a:chExt cx="0" cy="0"/>
        </a:xfrm>
      </p:grpSpPr>
      <p:cxnSp>
        <p:nvCxnSpPr>
          <p:cNvPr id="7116" name="Google Shape;7116;p40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17" name="Google Shape;7117;p40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18" name="Google Shape;7118;p40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19" name="Google Shape;7119;p405"/>
          <p:cNvSpPr/>
          <p:nvPr/>
        </p:nvSpPr>
        <p:spPr>
          <a:xfrm rot="5400000">
            <a:off x="-86832" y="2670706"/>
            <a:ext cx="299641" cy="130284"/>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20" name="Google Shape;7120;p40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Evaluate the impact of business initiatives in a holistic manner</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21" name="Google Shape;7121;p405"/>
          <p:cNvSpPr/>
          <p:nvPr/>
        </p:nvSpPr>
        <p:spPr>
          <a:xfrm>
            <a:off x="6148806" y="248655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Definition of average benchmark relationships between objects: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Typical changes within a portfolio content  after a bank wide initiative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Typical reaction of customer to an event (external or internal)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Optimisation of relationships between objects in regard to defined benchmarks: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positive or negative individual client advisor behavior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22" name="Google Shape;7122;p405"/>
          <p:cNvSpPr/>
          <p:nvPr/>
        </p:nvSpPr>
        <p:spPr>
          <a:xfrm>
            <a:off x="3271845" y="371029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optimum customer client relationships and deviation from average relationships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how initiatives cause changes in relationship behavior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23" name="Google Shape;7123;p405"/>
          <p:cNvSpPr/>
          <p:nvPr/>
        </p:nvSpPr>
        <p:spPr>
          <a:xfrm>
            <a:off x="3271845" y="248655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Dynamic Graph analysis  of all available information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Powerful visualization of graph analysis results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24" name="Google Shape;7124;p405"/>
          <p:cNvSpPr/>
          <p:nvPr/>
        </p:nvSpPr>
        <p:spPr>
          <a:xfrm>
            <a:off x="423863" y="371029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difficult to identify cause and effect of specific actions</a:t>
            </a:r>
            <a:endParaRPr/>
          </a:p>
        </p:txBody>
      </p:sp>
      <p:sp>
        <p:nvSpPr>
          <p:cNvPr id="7125" name="Google Shape;7125;p405"/>
          <p:cNvSpPr/>
          <p:nvPr/>
        </p:nvSpPr>
        <p:spPr>
          <a:xfrm>
            <a:off x="423863" y="248655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“Objects” within a bank: information on customer, client advisor, product, transaction, contract,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Relationships between objects: information on which customer has signed which contracts and holds which products, etc..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26" name="Google Shape;7126;p40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 are many different “objects” within a bank: customer, products, contracts, client adviser, transactions,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They are all related to each other in some specific ways: a client advisor is responsible for a group of customer, each customer has signed different contracts with the bank and holds different products,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Being able to analyze these “objects” and their relationships with changing focus allows the dynamic comparison between objects and relationships in regard to optimization potential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27" name="Google Shape;7127;p40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28" name="Google Shape;7128;p40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29" name="Google Shape;7129;p405"/>
          <p:cNvSpPr txBox="1"/>
          <p:nvPr>
            <p:ph type="title"/>
          </p:nvPr>
        </p:nvSpPr>
        <p:spPr>
          <a:xfrm>
            <a:off x="423864" y="164592"/>
            <a:ext cx="6405776"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Relationship Mgt. and Optimization</a:t>
            </a:r>
            <a:br>
              <a:rPr lang="en-GB" sz="2000"/>
            </a:br>
            <a:r>
              <a:rPr lang="en-GB" sz="2000"/>
              <a:t>(Product Usage) </a:t>
            </a:r>
            <a:endParaRPr sz="2000"/>
          </a:p>
        </p:txBody>
      </p:sp>
      <p:sp>
        <p:nvSpPr>
          <p:cNvPr id="7130" name="Google Shape;7130;p40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35" name="Shape 7135"/>
        <p:cNvGrpSpPr/>
        <p:nvPr/>
      </p:nvGrpSpPr>
      <p:grpSpPr>
        <a:xfrm>
          <a:off x="0" y="0"/>
          <a:ext cx="0" cy="0"/>
          <a:chOff x="0" y="0"/>
          <a:chExt cx="0" cy="0"/>
        </a:xfrm>
      </p:grpSpPr>
      <p:cxnSp>
        <p:nvCxnSpPr>
          <p:cNvPr id="7136" name="Google Shape;7136;p40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37" name="Google Shape;7137;p40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38" name="Google Shape;7138;p40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39" name="Google Shape;7139;p40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40" name="Google Shape;7140;p40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New revenue source if value added services can be sold to merchants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Differentiated service to existing and potential existing business customers using merchant services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41" name="Google Shape;7141;p40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Identifying new potential Cobranding/Affinity partnership.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revenue from Merchant acquiring and Issuer interchange fee income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“Monetizing” Big Data selling services to merchants: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insights.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Competition / market insights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Cross branding promotions.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Undertaking marketing campaigns on the merchants behalf</a:t>
            </a:r>
            <a:endParaRPr sz="800">
              <a:solidFill>
                <a:srgbClr val="3C3C3B"/>
              </a:solidFill>
              <a:latin typeface="Century Gothic"/>
              <a:ea typeface="Century Gothic"/>
              <a:cs typeface="Century Gothic"/>
              <a:sym typeface="Century Gothic"/>
            </a:endParaRPr>
          </a:p>
        </p:txBody>
      </p:sp>
      <p:sp>
        <p:nvSpPr>
          <p:cNvPr id="7142" name="Google Shape;7142;p40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create new merchant propositions and sell as value added services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43" name="Google Shape;7143;p40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Analysis to identify the types of spend for each customers and the brand share of that spend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Segmentation to identify the which customers would best suit each merchant offer based on shopping behavior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44" name="Google Shape;7144;p40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Requires sufficient critical mass (proportion of total payments) to provide meaningful aggregated insight – by geography and industry sector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45" name="Google Shape;7145;p40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From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data such as classifications and locations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46" name="Google Shape;7146;p40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Making data available to merchant acquirers on customer usage and profile information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Tapping into the Transaction data, product, and competitive intelligence aspects of card data opens new revenue sources for both the providers and the merchants.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47" name="Google Shape;7147;p40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48" name="Google Shape;7148;p40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49" name="Google Shape;7149;p40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Merchant Acquiring Insights </a:t>
            </a:r>
            <a:endParaRPr sz="2400"/>
          </a:p>
        </p:txBody>
      </p:sp>
      <p:sp>
        <p:nvSpPr>
          <p:cNvPr id="7150" name="Google Shape;7150;p40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55" name="Shape 7155"/>
        <p:cNvGrpSpPr/>
        <p:nvPr/>
      </p:nvGrpSpPr>
      <p:grpSpPr>
        <a:xfrm>
          <a:off x="0" y="0"/>
          <a:ext cx="0" cy="0"/>
          <a:chOff x="0" y="0"/>
          <a:chExt cx="0" cy="0"/>
        </a:xfrm>
      </p:grpSpPr>
      <p:cxnSp>
        <p:nvCxnSpPr>
          <p:cNvPr id="7156" name="Google Shape;7156;p40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57" name="Google Shape;7157;p40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58" name="Google Shape;7158;p40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59" name="Google Shape;7159;p40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60" name="Google Shape;7160;p40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interchange income from increased card usage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share of card spend as more customers use as primary card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dormancy and churn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61" name="Google Shape;7161;p40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Identified likely cardholders to drive higher usage of Credit Cards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card holders with spending potential through analysis of previous/current CC activity, as well as customer demographics and product holdings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offer and customer matching based upon activity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Both Small and Large purchase prediction through specific Merchant Codes/Categories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2" name="Google Shape;7162;p40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 segment of customers who are likely to be receptive to card spend based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suitable merchant offers relevant to their profile and segment characteristics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63" name="Google Shape;7163;p40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analysis for spend pattern detection to drive usage among targeted customer segments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Classification model to determine which customers have a propensity to activate and spend, to drive usage among targeted customer segments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4" name="Google Shape;7164;p40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May require extended history of card transactional data to execute use case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5" name="Google Shape;7165;p40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Cards Account and Transaction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Transacting Account and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Previous Merchant Offer effectiveness (for validation)</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6" name="Google Shape;7166;p40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Target cardholders with higher spending potential who are not utilising banks card as their primary card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in utilisation, spend on credit/debit cards increasing interchange, interest and fee income.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67" name="Google Shape;7167;p40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68" name="Google Shape;7168;p40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69" name="Google Shape;7169;p40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Credit/Debit Card Spend Stimulation </a:t>
            </a:r>
            <a:endParaRPr sz="2400"/>
          </a:p>
        </p:txBody>
      </p:sp>
      <p:sp>
        <p:nvSpPr>
          <p:cNvPr id="7170" name="Google Shape;7170;p40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75" name="Shape 7175"/>
        <p:cNvGrpSpPr/>
        <p:nvPr/>
      </p:nvGrpSpPr>
      <p:grpSpPr>
        <a:xfrm>
          <a:off x="0" y="0"/>
          <a:ext cx="0" cy="0"/>
          <a:chOff x="0" y="0"/>
          <a:chExt cx="0" cy="0"/>
        </a:xfrm>
      </p:grpSpPr>
      <p:cxnSp>
        <p:nvCxnSpPr>
          <p:cNvPr id="7176" name="Google Shape;7176;p40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77" name="Google Shape;7177;p40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78" name="Google Shape;7178;p40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79" name="Google Shape;7179;p40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80" name="Google Shape;7180;p40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card activity and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share of customer’s credit card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card churn and dormancy</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81" name="Google Shape;7181;p40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linkage among merchants based on customers’ card usage pattern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Verify the original purpose of credit card products and develop new products fitting for customer preference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Individualized Merchants Recommendation Index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2" name="Google Shape;7182;p40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new credit card propositions and offers based on patterns of merchant spend behavior (E.g. cash 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analytical framework to calculate and deploy individual merchant recommendation offers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83" name="Google Shape;7183;p40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C-Filters &amp; Basket Gen to understand the linkage among merchants based on credit card usage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visualize interaction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4" name="Google Shape;7184;p40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Collaborating with merchants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Developing new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5" name="Google Shape;7185;p40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TX data to understand customers’ individual buying behaviors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merchants Data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6" name="Google Shape;7186;p40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highly competitive Credit Card markets, more personalized services based on customers’ credit card usage are required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But, it was not easy to recommend to each individual the most appropriate merchants.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Also, marketers need to verify whether credit cards were properly used for original product purpose.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87" name="Google Shape;7187;p40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Banking</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88" name="Google Shape;7188;p40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89" name="Google Shape;7189;p40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Individualized Merchants Recommendation  </a:t>
            </a:r>
            <a:endParaRPr sz="2000"/>
          </a:p>
        </p:txBody>
      </p:sp>
      <p:sp>
        <p:nvSpPr>
          <p:cNvPr id="7190" name="Google Shape;7190;p40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95" name="Shape 7195"/>
        <p:cNvGrpSpPr/>
        <p:nvPr/>
      </p:nvGrpSpPr>
      <p:grpSpPr>
        <a:xfrm>
          <a:off x="0" y="0"/>
          <a:ext cx="0" cy="0"/>
          <a:chOff x="0" y="0"/>
          <a:chExt cx="0" cy="0"/>
        </a:xfrm>
      </p:grpSpPr>
      <p:cxnSp>
        <p:nvCxnSpPr>
          <p:cNvPr id="7196" name="Google Shape;7196;p40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97" name="Google Shape;7197;p40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98" name="Google Shape;7198;p40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99" name="Google Shape;7199;p40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00" name="Google Shape;7200;p40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scoring model accuracy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Regulatory compliance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01" name="Google Shape;7201;p40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Value proposition around improving accuracy whilst identifying tangible reasons to undertake meaningful customer dialogue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to successful delivery is always the prompt to have a relevant right-time conversation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Resulting lower losses, improved retention, future value and sales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02" name="Google Shape;7202;p40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Successful validation of increase in scoring model accuracy and effectiveness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common measures are Gini, ROC, K-S, and Accuracy Ratio</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03" name="Google Shape;7203;p40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current risk scoring model on Aster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Discovery on transactional data to find new risk attributes.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nPath, SAX and SNA for discovery purpose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Recreate models and run «out of sample» test to verify improvements on scores.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04" name="Google Shape;7204;p40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Determining new data points to incorporate into risk models</a:t>
            </a:r>
            <a:endParaRPr/>
          </a:p>
        </p:txBody>
      </p:sp>
      <p:sp>
        <p:nvSpPr>
          <p:cNvPr id="7205" name="Google Shape;7205;p40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Bureau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Transactional data for different products &amp; channels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Demographics</a:t>
            </a:r>
            <a:br>
              <a:rPr lang="en-GB" sz="800">
                <a:solidFill>
                  <a:schemeClr val="dk1"/>
                </a:solidFill>
                <a:latin typeface="Century Gothic"/>
                <a:ea typeface="Century Gothic"/>
                <a:cs typeface="Century Gothic"/>
                <a:sym typeface="Century Gothic"/>
              </a:rPr>
            </a:b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206" name="Google Shape;7206;p40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Risk management department uses various behavioral and application risk models and scorecards to predict and make improvements in risk management. Bank want to include insights from historical transactional data to have better risk scoring models.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Due to the regulations in some markets banks are not able to develop new risk scoring models so the challenge is to do discovery on transactional data to understand path to default, path to collections, connection risks to find new attributes to be added to the current model for improved risk scores.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07" name="Google Shape;7207;p40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Dominic Ligot</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208" name="Google Shape;7208;p40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209" name="Google Shape;7209;p40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br>
              <a:rPr lang="en-GB" sz="2400"/>
            </a:br>
            <a:r>
              <a:rPr lang="en-GB" sz="2400"/>
              <a:t>Improvement in Risk Scoring Models</a:t>
            </a:r>
            <a:endParaRPr sz="2400"/>
          </a:p>
        </p:txBody>
      </p:sp>
      <p:sp>
        <p:nvSpPr>
          <p:cNvPr id="7210" name="Google Shape;7210;p40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15" name="Shape 7215"/>
        <p:cNvGrpSpPr/>
        <p:nvPr/>
      </p:nvGrpSpPr>
      <p:grpSpPr>
        <a:xfrm>
          <a:off x="0" y="0"/>
          <a:ext cx="0" cy="0"/>
          <a:chOff x="0" y="0"/>
          <a:chExt cx="0" cy="0"/>
        </a:xfrm>
      </p:grpSpPr>
      <p:cxnSp>
        <p:nvCxnSpPr>
          <p:cNvPr id="7216" name="Google Shape;7216;p41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17" name="Google Shape;7217;p41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18" name="Google Shape;7218;p41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19" name="Google Shape;7219;p41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20" name="Google Shape;7220;p41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sales conversion rates by optimising website content, layout and navigation based on Customer behavior feedback</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on line experience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21" name="Google Shape;7221;p41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 understanding of how different variations of website content, layout and navigation impacts Customer on line behavior and ultimately on sales conversion rates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streamlined and effective Customer journey leading to increased sales and more repeat visits</a:t>
            </a:r>
            <a:endParaRPr sz="800">
              <a:solidFill>
                <a:srgbClr val="3C3C3B"/>
              </a:solidFill>
              <a:latin typeface="Century Gothic"/>
              <a:ea typeface="Century Gothic"/>
              <a:cs typeface="Century Gothic"/>
              <a:sym typeface="Century Gothic"/>
            </a:endParaRPr>
          </a:p>
        </p:txBody>
      </p:sp>
      <p:sp>
        <p:nvSpPr>
          <p:cNvPr id="7222" name="Google Shape;7222;p41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rapidly test and analyze the impact of multiple versions of web page content, layout and navigation    on real”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Capture of Customer journeys through tested web pages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Visualising at session level and between test and control groups ensures the most effective versions are chosen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23" name="Google Shape;7223;p41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using Npath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of conversion rates through each variation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24" name="Google Shape;7224;p41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collection, storage and analysis of large volume of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test and fulfilll the impacts of  multiple variations of webpages to determine the optimum version</a:t>
            </a:r>
            <a:endParaRPr/>
          </a:p>
        </p:txBody>
      </p:sp>
      <p:sp>
        <p:nvSpPr>
          <p:cNvPr id="7225" name="Google Shape;7225;p41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Weblog data from website using tools such as Celebrus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Online sales transactions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226" name="Google Shape;7226;p41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One of the key areas that Marketers focus on is how to improve web site performance &amp; optimise sales conversion rates.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Multivariate testing is an important way of testing how different page layouts can improve conversion rates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27" name="Google Shape;7227;p41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Web Based Retailers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DS: Yasmeen Ahmed</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228" name="Google Shape;7228;p41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229" name="Google Shape;7229;p41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Multivariate Testing</a:t>
            </a:r>
            <a:endParaRPr sz="2400"/>
          </a:p>
        </p:txBody>
      </p:sp>
      <p:sp>
        <p:nvSpPr>
          <p:cNvPr id="7230" name="Google Shape;7230;p41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49" name="Shape 7249"/>
        <p:cNvGrpSpPr/>
        <p:nvPr/>
      </p:nvGrpSpPr>
      <p:grpSpPr>
        <a:xfrm>
          <a:off x="0" y="0"/>
          <a:ext cx="0" cy="0"/>
          <a:chOff x="0" y="0"/>
          <a:chExt cx="0" cy="0"/>
        </a:xfrm>
      </p:grpSpPr>
      <p:cxnSp>
        <p:nvCxnSpPr>
          <p:cNvPr id="7250" name="Google Shape;7250;p41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51" name="Google Shape;7251;p41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52" name="Google Shape;7252;p41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53" name="Google Shape;7253;p41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54" name="Google Shape;7254;p41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breadth and depth of competitor intelligence improves quality of internal decision making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Automated collection and identification of competitor activity allows internal decisions to be made faster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55" name="Google Shape;7255;p41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market acceptance and market share by becoming more competitive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Optimized marketing budget by understanding which area to focus on and how much budget to allocate based on the competitions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56" name="Google Shape;7256;p41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automate the collection and identification of key competitor market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integrate data from different sources to create a more comprehensive view of competitor activity and trends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57" name="Google Shape;7257;p41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Behavior-based segmentation to segment customers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mining to identify certain key words of competitors and their current marketing programs (e.g. Bank x and travel category). Text mining to identify market sentiment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58" name="Google Shape;7258;p41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match different sources of 3rd party data without hard match keys. Text analytics can be utilised to perform fuzzy match on different data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59" name="Google Shape;7259;p41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Competitors products, pricings, marketing program data from competitors websites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target segment and their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website (e.g. online news) on current marketing plan of the competitors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 to identify market sentiment</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60" name="Google Shape;7260;p41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creating marketing plans, limited information about competitors can be taken into account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inability to have integrated, up-to-date information about competitors and their marketing programs means lack of insight &amp; analysis to protect/increase market share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capturing competitors data including their activities which are mainly available from the web</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61" name="Google Shape;7261;p41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262" name="Google Shape;7262;p41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263" name="Google Shape;7263;p41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Competitor Analysis</a:t>
            </a:r>
            <a:endParaRPr sz="2400"/>
          </a:p>
        </p:txBody>
      </p:sp>
      <p:sp>
        <p:nvSpPr>
          <p:cNvPr id="7264" name="Google Shape;7264;p41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Introduction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69" name="Shape 7269"/>
        <p:cNvGrpSpPr/>
        <p:nvPr/>
      </p:nvGrpSpPr>
      <p:grpSpPr>
        <a:xfrm>
          <a:off x="0" y="0"/>
          <a:ext cx="0" cy="0"/>
          <a:chOff x="0" y="0"/>
          <a:chExt cx="0" cy="0"/>
        </a:xfrm>
      </p:grpSpPr>
      <p:cxnSp>
        <p:nvCxnSpPr>
          <p:cNvPr id="7270" name="Google Shape;7270;p41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71" name="Google Shape;7271;p41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72" name="Google Shape;7272;p41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73" name="Google Shape;7273;p41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74" name="Google Shape;7274;p41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profitability from reduction in claims and better pricing of policies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 in policy appraisal and claims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75" name="Google Shape;7275;p41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accurate risk pricing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Reduction in risk severity will lead to lower loss ratio in the portfolio</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76" name="Google Shape;7276;p41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Reduction in claims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experience and NPS via better advice and service</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77" name="Google Shape;7277;p41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Risk scores are calculated based on wind speed, hurricane speed, direction, biometric pressure, tide, and bathymetric to calculate surge height and range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Overlay surge data on property elevation to determine accurate risk score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78" name="Google Shape;7278;p41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and 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Accessing external data sources for historical weather patterns </a:t>
            </a:r>
            <a:endParaRPr/>
          </a:p>
        </p:txBody>
      </p:sp>
      <p:sp>
        <p:nvSpPr>
          <p:cNvPr id="7279" name="Google Shape;7279;p41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Geospatial provides detail parcel level accuracy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Past claims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Historical weather data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Historical storm data and patterns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Government data on damages, planning and zoning</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280" name="Google Shape;7280;p41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risk assessments and premium pricing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Adverse selection in Property insurance occurs when decisions are based heavily on post/zip codes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Most damage occurs from the storm surge from hurricanes </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81" name="Google Shape;7281;p41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Vince Leat &amp; Tim Dickson</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282" name="Google Shape;7282;p41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283" name="Google Shape;7283;p41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Advanced Risk and  Pricing Insights </a:t>
            </a:r>
            <a:endParaRPr sz="2400"/>
          </a:p>
        </p:txBody>
      </p:sp>
      <p:sp>
        <p:nvSpPr>
          <p:cNvPr id="7284" name="Google Shape;7284;p41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Pricing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89" name="Shape 7289"/>
        <p:cNvGrpSpPr/>
        <p:nvPr/>
      </p:nvGrpSpPr>
      <p:grpSpPr>
        <a:xfrm>
          <a:off x="0" y="0"/>
          <a:ext cx="0" cy="0"/>
          <a:chOff x="0" y="0"/>
          <a:chExt cx="0" cy="0"/>
        </a:xfrm>
      </p:grpSpPr>
      <p:cxnSp>
        <p:nvCxnSpPr>
          <p:cNvPr id="7290" name="Google Shape;7290;p41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91" name="Google Shape;7291;p41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92" name="Google Shape;7292;p41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93" name="Google Shape;7293;p41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94" name="Google Shape;7294;p41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losses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sales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95" name="Google Shape;7295;p41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Expand pricing variables based on real driving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right pricing for the right customer driver score and vehicle type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Underwriting predictability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deeper analytics to create a carrier’s “secret sauce”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96" name="Google Shape;7296;p41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NPS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97" name="Google Shape;7297;p41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Pattern matching to identify premium costs and risk messaging based on driving attributes (comparisons can be done in multiple ways, e.g., by individual VIN, across class of vehicles, by garaging location,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common driving traits likely to lead to accident/claim</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98" name="Google Shape;7298;p41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p:txBody>
      </p:sp>
      <p:sp>
        <p:nvSpPr>
          <p:cNvPr id="7299" name="Google Shape;7299;p41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Telematics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Claims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00" name="Google Shape;7300;p41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risk assessments and premium pricing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Identify aggressive driving behaviors in time series data</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Create expanded risk segmentation to match driving patterns with pricing and vehicle type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customers with risk messaging to improve driving behavior</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301" name="Google Shape;7301;p41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Vince Leat &amp; Tim Dickson</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02" name="Google Shape;7302;p41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03" name="Google Shape;7303;p41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100"/>
              <a:buFont typeface="Century Gothic"/>
              <a:buNone/>
            </a:pPr>
            <a:r>
              <a:rPr lang="en-GB" sz="2100"/>
              <a:t>Behavioral-Based Pricing with Telematics Data</a:t>
            </a:r>
            <a:endParaRPr sz="2100"/>
          </a:p>
        </p:txBody>
      </p:sp>
      <p:sp>
        <p:nvSpPr>
          <p:cNvPr id="7304" name="Google Shape;7304;p41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Pricing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09" name="Shape 7309"/>
        <p:cNvGrpSpPr/>
        <p:nvPr/>
      </p:nvGrpSpPr>
      <p:grpSpPr>
        <a:xfrm>
          <a:off x="0" y="0"/>
          <a:ext cx="0" cy="0"/>
          <a:chOff x="0" y="0"/>
          <a:chExt cx="0" cy="0"/>
        </a:xfrm>
      </p:grpSpPr>
      <p:cxnSp>
        <p:nvCxnSpPr>
          <p:cNvPr id="7310" name="Google Shape;7310;p41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11" name="Google Shape;7311;p41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12" name="Google Shape;7312;p41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313" name="Google Shape;7313;p41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14" name="Google Shape;7314;p41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credit risk and increased new business pipeline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understanding of customers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Facilitates better underwriting processes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315" name="Google Shape;7315;p41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acceptance and improved terms-of-business for credit applicants – bring more facilities on-book, provide more applicable limits, more relevant pricing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Solicitation of new customers – through third-party partnerships, solicit customers previously not touched by marketing efforts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Decreased loss rates - by better identification of risk on applicants with limited information</a:t>
            </a:r>
            <a:endParaRPr sz="800">
              <a:solidFill>
                <a:srgbClr val="3C3C3B"/>
              </a:solidFill>
              <a:latin typeface="Century Gothic"/>
              <a:ea typeface="Century Gothic"/>
              <a:cs typeface="Century Gothic"/>
              <a:sym typeface="Century Gothic"/>
            </a:endParaRPr>
          </a:p>
        </p:txBody>
      </p:sp>
      <p:sp>
        <p:nvSpPr>
          <p:cNvPr id="7316" name="Google Shape;7316;p415"/>
          <p:cNvSpPr/>
          <p:nvPr/>
        </p:nvSpPr>
        <p:spPr>
          <a:xfrm>
            <a:off x="3271845" y="397350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Successful validation of new-to-lending rules and credit risk criteria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317" name="Google Shape;7317;p415"/>
          <p:cNvSpPr/>
          <p:nvPr/>
        </p:nvSpPr>
        <p:spPr>
          <a:xfrm>
            <a:off x="3237978" y="2514778"/>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mining and aggregation of ‘big data’ into risk modeling data set</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modeling – traditional linear and logistic vs. alternatives</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deployment and Champion/Challenger testing</a:t>
            </a:r>
            <a:endParaRPr/>
          </a:p>
          <a:p>
            <a:pPr indent="-57199" lvl="0" marL="108000" marR="0" rtl="0" algn="l">
              <a:spcBef>
                <a:spcPts val="1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18" name="Google Shape;7318;p415"/>
          <p:cNvSpPr/>
          <p:nvPr/>
        </p:nvSpPr>
        <p:spPr>
          <a:xfrm>
            <a:off x="436298" y="3940752"/>
            <a:ext cx="287438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completeness Integrating various data points from siloed data sources Lack of reliable third party data .Regulatory challenges with data sharing Costs of purchasing data Striking mutually beneficial partnerships with third parties. Deployment and monitoring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19" name="Google Shape;7319;p415"/>
          <p:cNvSpPr/>
          <p:nvPr/>
        </p:nvSpPr>
        <p:spPr>
          <a:xfrm>
            <a:off x="438150" y="235026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10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party’s provision of data, and/or potential solicitation partnering. -e.g. credit services through mobile phones</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Telecommunications e.g. mobile usage, payment patterns  to predict loan repayment</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Utilities e.g. payment patterns &amp; usage to predict loan repayment</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Wholesale &amp; Retailers e.g. customer , POS, product </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Internal data – e.g. Weblog data on non-lending customers</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Traditional credit scoring data – Applicant, customer, bureau</a:t>
            </a:r>
            <a:endParaRPr/>
          </a:p>
          <a:p>
            <a:pPr indent="-57199" lvl="0" marL="108000" marR="0" rtl="0" algn="l">
              <a:lnSpc>
                <a:spcPct val="90000"/>
              </a:lnSpc>
              <a:spcBef>
                <a:spcPts val="1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20" name="Google Shape;7320;p415"/>
          <p:cNvSpPr/>
          <p:nvPr/>
        </p:nvSpPr>
        <p:spPr>
          <a:xfrm>
            <a:off x="423863" y="807897"/>
            <a:ext cx="3957637" cy="1122503"/>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Lending to individuals with no current loan relationship  and no prior lending history in bureau. Bank has little information to make sound lending decisions.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Customers are treated conservatively with default terms-of-business e.g. either decline, or accept with low limits/high pricing.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Third-party sources of ‘big-data’ for new data for credit modeling. Alternatively, mutual partnerships with third party suppliers can be made to leverage supplier platforms to solicit business e.g. Rewards cards to retail customers, credit offers to mobile phone customers </a:t>
            </a:r>
            <a:endParaRPr/>
          </a:p>
        </p:txBody>
      </p:sp>
      <p:sp>
        <p:nvSpPr>
          <p:cNvPr id="7321" name="Google Shape;7321;p41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Dominic Ligot</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22" name="Google Shape;7322;p41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23" name="Google Shape;7323;p415"/>
          <p:cNvSpPr txBox="1"/>
          <p:nvPr>
            <p:ph type="title"/>
          </p:nvPr>
        </p:nvSpPr>
        <p:spPr>
          <a:xfrm>
            <a:off x="423864" y="164592"/>
            <a:ext cx="6484936"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br>
              <a:rPr lang="en-GB" sz="2000"/>
            </a:br>
            <a:r>
              <a:rPr lang="en-GB" sz="2000"/>
              <a:t>Credit Risk Models for ‘New-to-Lending’ Customers</a:t>
            </a:r>
            <a:endParaRPr sz="2000"/>
          </a:p>
        </p:txBody>
      </p:sp>
      <p:sp>
        <p:nvSpPr>
          <p:cNvPr id="7324" name="Google Shape;7324;p41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Pricing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29" name="Shape 7329"/>
        <p:cNvGrpSpPr/>
        <p:nvPr/>
      </p:nvGrpSpPr>
      <p:grpSpPr>
        <a:xfrm>
          <a:off x="0" y="0"/>
          <a:ext cx="0" cy="0"/>
          <a:chOff x="0" y="0"/>
          <a:chExt cx="0" cy="0"/>
        </a:xfrm>
      </p:grpSpPr>
      <p:cxnSp>
        <p:nvCxnSpPr>
          <p:cNvPr id="7330" name="Google Shape;7330;p41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31" name="Google Shape;7331;p41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32" name="Google Shape;7332;p41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333" name="Google Shape;7333;p41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34" name="Google Shape;7334;p41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sales/margin $ per customer</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market basket spend</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 conversion rates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targeting of promotions and messaging</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Deeper understanding of customer purchase behavior across all channels of business</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335" name="Google Shape;7335;p41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Omni-Channel purchase patterns to better understand customer behavior and spend preference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 customers across all channels to define and personalize relevant target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the impact of digital couponing on promotional effectiveness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Full Engagement Deliverables</a:t>
            </a:r>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Production grade analytics, integrated into campaign delivery or advertising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36" name="Google Shape;7336;p41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Not eligible for RACE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 Omni-Channel purchase patterns to better understand customer behavior and  spend preference, digital coupon  influence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Measure  impact of promotion activity and spend patterns to fine-tune sales planning and optimize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 customers across all channels to define and personalize targeting approach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337" name="Google Shape;7337;p41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Leveraging a discovery platform to </a:t>
            </a:r>
            <a:br>
              <a:rPr lang="en-GB" sz="800">
                <a:solidFill>
                  <a:srgbClr val="3C3C3B"/>
                </a:solidFill>
                <a:latin typeface="Century Gothic"/>
                <a:ea typeface="Century Gothic"/>
                <a:cs typeface="Century Gothic"/>
                <a:sym typeface="Century Gothic"/>
              </a:rPr>
            </a:br>
            <a:r>
              <a:rPr lang="en-GB" sz="800">
                <a:solidFill>
                  <a:srgbClr val="3C3C3B"/>
                </a:solidFill>
                <a:latin typeface="Century Gothic"/>
                <a:ea typeface="Century Gothic"/>
                <a:cs typeface="Century Gothic"/>
                <a:sym typeface="Century Gothic"/>
              </a:rPr>
              <a:t>perform “Path  and Graph Analysis”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Metrics; Conversion rate -  Web, Store, Mobile, Social, Sales and Margin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segmentation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38" name="Google Shape;7338;p41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Large sets of multi structured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discovery can require specialized skills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Online browsing data hard to gather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Proper tagging of digital attributes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39" name="Google Shape;7339;p41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detail (POS and On Line)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Activity data of all customer touch points – mobile, web, web-site, store, POS, Kiosk</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Enable near real time data capture to support timely, targeted offers to customers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40" name="Google Shape;7340;p41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Understand customer purchase behavior across channels leveraging all available transaction data..In store, Web, Mobile and Social</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Understand impact of digital couponing and social media promotions on in-store behavior</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Develop segmentation strategies that include all channels of sales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341" name="Google Shape;7341;p41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Nick Campbell</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42" name="Google Shape;7342;p41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43" name="Google Shape;7343;p41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Understanding Sales Across All Channels</a:t>
            </a:r>
            <a:endParaRPr sz="2400"/>
          </a:p>
        </p:txBody>
      </p:sp>
      <p:sp>
        <p:nvSpPr>
          <p:cNvPr id="7344" name="Google Shape;7344;p416">
            <a:hlinkClick action="ppaction://hlinksldjump" r:id="rId3"/>
          </p:cNvPr>
          <p:cNvSpPr/>
          <p:nvPr/>
        </p:nvSpPr>
        <p:spPr>
          <a:xfrm>
            <a:off x="6515100" y="-17211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63" name="Shape 7363"/>
        <p:cNvGrpSpPr/>
        <p:nvPr/>
      </p:nvGrpSpPr>
      <p:grpSpPr>
        <a:xfrm>
          <a:off x="0" y="0"/>
          <a:ext cx="0" cy="0"/>
          <a:chOff x="0" y="0"/>
          <a:chExt cx="0" cy="0"/>
        </a:xfrm>
      </p:grpSpPr>
      <p:cxnSp>
        <p:nvCxnSpPr>
          <p:cNvPr id="7364" name="Google Shape;7364;p41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65" name="Google Shape;7365;p41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66" name="Google Shape;7366;p41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367" name="Google Shape;7367;p41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68" name="Google Shape;7368;p41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Exception reporting allows Financial Managers to focus on at-risk portfolios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369" name="Google Shape;7369;p41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risky portfolios that differ significantly from benchmarks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for conversation with customer or education about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satisfaction with advisory services</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70" name="Google Shape;7370;p41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Demonstration of  prototype dashboard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Quantification of estimated benefits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371" name="Google Shape;7371;p41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Calculated variance of key metrics for portfolios against benchmarks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 of outliers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72" name="Google Shape;7372;p41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High number of portfolios to review  and manage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Dynamic nature of portfolio values requires real time data and exception reporting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73" name="Google Shape;7373;p41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Portfolio holdings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Average or Benchmark Portfolio</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74" name="Google Shape;7374;p41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Financial Advisors are expected to proactively manage risks for customers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 Requires analytics to look at a portfolio of financial products compared to a benchmark portfolio, in order to make recommendations on adjustments to the portfolio to align with a clients age or risk tolerance.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375" name="Google Shape;7375;p41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Banking</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Simon Axon, Terence Kong</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76" name="Google Shape;7376;p41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77" name="Google Shape;7377;p41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Compare Portfolio to Benchmark</a:t>
            </a:r>
            <a:endParaRPr sz="1400"/>
          </a:p>
        </p:txBody>
      </p:sp>
      <p:sp>
        <p:nvSpPr>
          <p:cNvPr id="7378" name="Google Shape;7378;p418">
            <a:hlinkClick action="ppaction://hlinksldjump" r:id="rId3"/>
          </p:cNvPr>
          <p:cNvSpPr/>
          <p:nvPr/>
        </p:nvSpPr>
        <p:spPr>
          <a:xfrm>
            <a:off x="6515100" y="-17211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93" name="Shape 7393"/>
        <p:cNvGrpSpPr/>
        <p:nvPr/>
      </p:nvGrpSpPr>
      <p:grpSpPr>
        <a:xfrm>
          <a:off x="0" y="0"/>
          <a:ext cx="0" cy="0"/>
          <a:chOff x="0" y="0"/>
          <a:chExt cx="0" cy="0"/>
        </a:xfrm>
      </p:grpSpPr>
      <p:sp>
        <p:nvSpPr>
          <p:cNvPr id="7394" name="Google Shape;7394;p420"/>
          <p:cNvSpPr txBox="1"/>
          <p:nvPr>
            <p:ph idx="2" type="body"/>
          </p:nvPr>
        </p:nvSpPr>
        <p:spPr>
          <a:xfrm>
            <a:off x="438098" y="768734"/>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Risk Management &amp; Mitigation</a:t>
            </a:r>
            <a:endParaRPr sz="1600"/>
          </a:p>
        </p:txBody>
      </p:sp>
      <p:sp>
        <p:nvSpPr>
          <p:cNvPr id="7395" name="Google Shape;7395;p420"/>
          <p:cNvSpPr txBox="1"/>
          <p:nvPr>
            <p:ph type="title"/>
          </p:nvPr>
        </p:nvSpPr>
        <p:spPr>
          <a:xfrm>
            <a:off x="425396" y="200719"/>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and Mitigation</a:t>
            </a:r>
            <a:endParaRPr sz="2400"/>
          </a:p>
        </p:txBody>
      </p:sp>
      <p:sp>
        <p:nvSpPr>
          <p:cNvPr id="7396" name="Google Shape;7396;p420"/>
          <p:cNvSpPr/>
          <p:nvPr/>
        </p:nvSpPr>
        <p:spPr>
          <a:xfrm>
            <a:off x="459950" y="1314448"/>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97" name="Google Shape;7397;p420">
            <a:hlinkClick action="ppaction://hlinksldjump" r:id="rId3"/>
          </p:cNvPr>
          <p:cNvSpPr/>
          <p:nvPr/>
        </p:nvSpPr>
        <p:spPr>
          <a:xfrm>
            <a:off x="565151" y="1428749"/>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Risk Management and Mitigation</a:t>
            </a:r>
            <a:endParaRPr sz="800">
              <a:solidFill>
                <a:srgbClr val="FFFFFF"/>
              </a:solidFill>
              <a:latin typeface="Century Gothic"/>
              <a:ea typeface="Century Gothic"/>
              <a:cs typeface="Century Gothic"/>
              <a:sym typeface="Century Gothic"/>
            </a:endParaRPr>
          </a:p>
        </p:txBody>
      </p:sp>
      <p:sp>
        <p:nvSpPr>
          <p:cNvPr id="7398" name="Google Shape;7398;p420">
            <a:hlinkClick action="ppaction://hlinksldjump" r:id="rId4"/>
          </p:cNvPr>
          <p:cNvSpPr/>
          <p:nvPr/>
        </p:nvSpPr>
        <p:spPr>
          <a:xfrm>
            <a:off x="2099735"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Risk Analytics</a:t>
            </a:r>
            <a:endParaRPr sz="1100">
              <a:solidFill>
                <a:srgbClr val="FFFFFF"/>
              </a:solidFill>
              <a:latin typeface="Century Gothic"/>
              <a:ea typeface="Century Gothic"/>
              <a:cs typeface="Century Gothic"/>
              <a:sym typeface="Century Gothic"/>
            </a:endParaRPr>
          </a:p>
        </p:txBody>
      </p:sp>
      <p:sp>
        <p:nvSpPr>
          <p:cNvPr id="7399" name="Google Shape;7399;p420">
            <a:hlinkClick action="ppaction://hlinksldjump" r:id="rId5"/>
          </p:cNvPr>
          <p:cNvSpPr/>
          <p:nvPr/>
        </p:nvSpPr>
        <p:spPr>
          <a:xfrm>
            <a:off x="4291698"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Credit Risk</a:t>
            </a:r>
            <a:endParaRPr sz="1100">
              <a:solidFill>
                <a:srgbClr val="FFFFFF"/>
              </a:solidFill>
              <a:latin typeface="Century Gothic"/>
              <a:ea typeface="Century Gothic"/>
              <a:cs typeface="Century Gothic"/>
              <a:sym typeface="Century Gothic"/>
            </a:endParaRPr>
          </a:p>
        </p:txBody>
      </p:sp>
      <p:sp>
        <p:nvSpPr>
          <p:cNvPr id="7400" name="Google Shape;7400;p420">
            <a:hlinkClick action="ppaction://hlinksldjump" r:id="rId6"/>
          </p:cNvPr>
          <p:cNvSpPr/>
          <p:nvPr/>
        </p:nvSpPr>
        <p:spPr>
          <a:xfrm>
            <a:off x="6476968"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 Risk</a:t>
            </a:r>
            <a:endParaRPr sz="1100">
              <a:solidFill>
                <a:srgbClr val="FFFFFF"/>
              </a:solidFill>
              <a:latin typeface="Century Gothic"/>
              <a:ea typeface="Century Gothic"/>
              <a:cs typeface="Century Gothic"/>
              <a:sym typeface="Century Gothic"/>
            </a:endParaRPr>
          </a:p>
        </p:txBody>
      </p:sp>
      <p:sp>
        <p:nvSpPr>
          <p:cNvPr id="7401" name="Google Shape;7401;p420"/>
          <p:cNvSpPr/>
          <p:nvPr/>
        </p:nvSpPr>
        <p:spPr>
          <a:xfrm>
            <a:off x="2073748" y="1410517"/>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7402" name="Google Shape;7402;p420">
            <a:hlinkClick action="ppaction://hlinksldjump" r:id="rId7"/>
          </p:cNvPr>
          <p:cNvSpPr/>
          <p:nvPr/>
        </p:nvSpPr>
        <p:spPr>
          <a:xfrm>
            <a:off x="567549" y="4086467"/>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grpSp>
        <p:nvGrpSpPr>
          <p:cNvPr id="7403" name="Google Shape;7403;p420"/>
          <p:cNvGrpSpPr/>
          <p:nvPr/>
        </p:nvGrpSpPr>
        <p:grpSpPr>
          <a:xfrm>
            <a:off x="7717533" y="4487376"/>
            <a:ext cx="1058348" cy="347375"/>
            <a:chOff x="7651698" y="4287227"/>
            <a:chExt cx="1058348" cy="347375"/>
          </a:xfrm>
        </p:grpSpPr>
        <p:grpSp>
          <p:nvGrpSpPr>
            <p:cNvPr id="7404" name="Google Shape;7404;p420"/>
            <p:cNvGrpSpPr/>
            <p:nvPr/>
          </p:nvGrpSpPr>
          <p:grpSpPr>
            <a:xfrm>
              <a:off x="7714163" y="4337598"/>
              <a:ext cx="995883" cy="297004"/>
              <a:chOff x="7711013" y="3986494"/>
              <a:chExt cx="995883" cy="297004"/>
            </a:xfrm>
          </p:grpSpPr>
          <p:sp>
            <p:nvSpPr>
              <p:cNvPr id="7405" name="Google Shape;7405;p42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06" name="Google Shape;7406;p420"/>
              <p:cNvGrpSpPr/>
              <p:nvPr/>
            </p:nvGrpSpPr>
            <p:grpSpPr>
              <a:xfrm>
                <a:off x="7711013" y="4002615"/>
                <a:ext cx="281520" cy="241973"/>
                <a:chOff x="5652748" y="4066000"/>
                <a:chExt cx="906498" cy="747974"/>
              </a:xfrm>
            </p:grpSpPr>
            <p:sp>
              <p:nvSpPr>
                <p:cNvPr id="7407" name="Google Shape;7407;p4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08" name="Google Shape;7408;p4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09" name="Google Shape;7409;p4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10" name="Google Shape;7410;p420">
              <a:hlinkClick action="ppaction://hlinksldjump" r:id="rId8"/>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11" name="Google Shape;7411;p420">
            <a:hlinkClick action="ppaction://hlinksldjump" r:id="rId9"/>
          </p:cNvPr>
          <p:cNvSpPr/>
          <p:nvPr/>
        </p:nvSpPr>
        <p:spPr>
          <a:xfrm>
            <a:off x="2099735" y="2726350"/>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Operational Risk</a:t>
            </a:r>
            <a:endParaRPr sz="1100">
              <a:solidFill>
                <a:srgbClr val="FFFFFF"/>
              </a:solidFill>
              <a:latin typeface="Century Gothic"/>
              <a:ea typeface="Century Gothic"/>
              <a:cs typeface="Century Gothic"/>
              <a:sym typeface="Century Gothic"/>
            </a:endParaRPr>
          </a:p>
        </p:txBody>
      </p:sp>
      <p:sp>
        <p:nvSpPr>
          <p:cNvPr id="7412" name="Google Shape;7412;p420">
            <a:hlinkClick action="ppaction://hlinksldjump" r:id="rId10"/>
          </p:cNvPr>
          <p:cNvSpPr/>
          <p:nvPr/>
        </p:nvSpPr>
        <p:spPr>
          <a:xfrm>
            <a:off x="4300766" y="2726350"/>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Collections &amp; Recoveries</a:t>
            </a:r>
            <a:endParaRPr sz="1100">
              <a:solidFill>
                <a:srgbClr val="FFFFFF"/>
              </a:solidFill>
              <a:latin typeface="Century Gothic"/>
              <a:ea typeface="Century Gothic"/>
              <a:cs typeface="Century Gothic"/>
              <a:sym typeface="Century Gothic"/>
            </a:endParaRPr>
          </a:p>
        </p:txBody>
      </p:sp>
      <p:sp>
        <p:nvSpPr>
          <p:cNvPr id="7413" name="Google Shape;7413;p420">
            <a:hlinkClick action="ppaction://hlinksldjump" r:id="rId1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18" name="Shape 7418"/>
        <p:cNvGrpSpPr/>
        <p:nvPr/>
      </p:nvGrpSpPr>
      <p:grpSpPr>
        <a:xfrm>
          <a:off x="0" y="0"/>
          <a:ext cx="0" cy="0"/>
          <a:chOff x="0" y="0"/>
          <a:chExt cx="0" cy="0"/>
        </a:xfrm>
      </p:grpSpPr>
      <p:sp>
        <p:nvSpPr>
          <p:cNvPr id="7419" name="Google Shape;7419;p421"/>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20" name="Google Shape;7420;p421">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Risk Analytics</a:t>
            </a:r>
            <a:endParaRPr sz="1100">
              <a:solidFill>
                <a:srgbClr val="FFFFFF"/>
              </a:solidFill>
              <a:latin typeface="Century Gothic"/>
              <a:ea typeface="Century Gothic"/>
              <a:cs typeface="Century Gothic"/>
              <a:sym typeface="Century Gothic"/>
            </a:endParaRPr>
          </a:p>
        </p:txBody>
      </p:sp>
      <p:sp>
        <p:nvSpPr>
          <p:cNvPr id="7421" name="Google Shape;7421;p42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7422" name="Google Shape;7422;p421">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7423" name="Google Shape;7423;p421">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Propensity Modeling and Analysis</a:t>
            </a:r>
            <a:endParaRPr sz="1100">
              <a:solidFill>
                <a:schemeClr val="dk1"/>
              </a:solidFill>
              <a:latin typeface="Century Gothic"/>
              <a:ea typeface="Century Gothic"/>
              <a:cs typeface="Century Gothic"/>
              <a:sym typeface="Century Gothic"/>
            </a:endParaRPr>
          </a:p>
        </p:txBody>
      </p:sp>
      <p:sp>
        <p:nvSpPr>
          <p:cNvPr id="7424" name="Google Shape;7424;p421">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Severity Modeling and Analysis</a:t>
            </a:r>
            <a:endParaRPr sz="1100">
              <a:solidFill>
                <a:schemeClr val="dk1"/>
              </a:solidFill>
              <a:latin typeface="Century Gothic"/>
              <a:ea typeface="Century Gothic"/>
              <a:cs typeface="Century Gothic"/>
              <a:sym typeface="Century Gothic"/>
            </a:endParaRPr>
          </a:p>
        </p:txBody>
      </p:sp>
      <p:sp>
        <p:nvSpPr>
          <p:cNvPr id="7425" name="Google Shape;7425;p421">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Underwriting</a:t>
            </a:r>
            <a:endParaRPr sz="1100">
              <a:solidFill>
                <a:schemeClr val="dk1"/>
              </a:solidFill>
              <a:latin typeface="Century Gothic"/>
              <a:ea typeface="Century Gothic"/>
              <a:cs typeface="Century Gothic"/>
              <a:sym typeface="Century Gothic"/>
            </a:endParaRPr>
          </a:p>
        </p:txBody>
      </p:sp>
      <p:sp>
        <p:nvSpPr>
          <p:cNvPr id="7426" name="Google Shape;7426;p421">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Capital Calculation and Management</a:t>
            </a:r>
            <a:endParaRPr sz="1100">
              <a:solidFill>
                <a:schemeClr val="dk1"/>
              </a:solidFill>
              <a:latin typeface="Century Gothic"/>
              <a:ea typeface="Century Gothic"/>
              <a:cs typeface="Century Gothic"/>
              <a:sym typeface="Century Gothic"/>
            </a:endParaRPr>
          </a:p>
        </p:txBody>
      </p:sp>
      <p:sp>
        <p:nvSpPr>
          <p:cNvPr id="7427" name="Google Shape;7427;p421">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A/B Test / Champion Challenger </a:t>
            </a:r>
            <a:endParaRPr sz="1100">
              <a:solidFill>
                <a:schemeClr val="dk1"/>
              </a:solidFill>
              <a:latin typeface="Century Gothic"/>
              <a:ea typeface="Century Gothic"/>
              <a:cs typeface="Century Gothic"/>
              <a:sym typeface="Century Gothic"/>
            </a:endParaRPr>
          </a:p>
        </p:txBody>
      </p:sp>
      <p:sp>
        <p:nvSpPr>
          <p:cNvPr id="7428" name="Google Shape;7428;p421">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Model deployment and operationalization</a:t>
            </a:r>
            <a:endParaRPr sz="1100">
              <a:solidFill>
                <a:schemeClr val="dk1"/>
              </a:solidFill>
              <a:latin typeface="Century Gothic"/>
              <a:ea typeface="Century Gothic"/>
              <a:cs typeface="Century Gothic"/>
              <a:sym typeface="Century Gothic"/>
            </a:endParaRPr>
          </a:p>
        </p:txBody>
      </p:sp>
      <p:sp>
        <p:nvSpPr>
          <p:cNvPr id="7429" name="Google Shape;7429;p421">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 Reward Strategy Optimziation</a:t>
            </a:r>
            <a:endParaRPr sz="1100">
              <a:solidFill>
                <a:schemeClr val="dk1"/>
              </a:solidFill>
              <a:latin typeface="Century Gothic"/>
              <a:ea typeface="Century Gothic"/>
              <a:cs typeface="Century Gothic"/>
              <a:sym typeface="Century Gothic"/>
            </a:endParaRPr>
          </a:p>
        </p:txBody>
      </p:sp>
      <p:sp>
        <p:nvSpPr>
          <p:cNvPr id="7430" name="Google Shape;7430;p421"/>
          <p:cNvSpPr txBox="1"/>
          <p:nvPr>
            <p:ph idx="2" type="body"/>
          </p:nvPr>
        </p:nvSpPr>
        <p:spPr>
          <a:xfrm>
            <a:off x="438098" y="754623"/>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A portfolio of analytical capabilities that are common across different industry  risk functions </a:t>
            </a:r>
            <a:endParaRPr sz="1600"/>
          </a:p>
        </p:txBody>
      </p:sp>
      <p:sp>
        <p:nvSpPr>
          <p:cNvPr id="7431" name="Google Shape;7431;p421"/>
          <p:cNvSpPr txBox="1"/>
          <p:nvPr>
            <p:ph type="title"/>
          </p:nvPr>
        </p:nvSpPr>
        <p:spPr>
          <a:xfrm>
            <a:off x="425396" y="214830"/>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Common Core for Risk Analytics</a:t>
            </a:r>
            <a:endParaRPr sz="2400"/>
          </a:p>
        </p:txBody>
      </p:sp>
      <p:sp>
        <p:nvSpPr>
          <p:cNvPr id="7432" name="Google Shape;7432;p421"/>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433" name="Google Shape;7433;p421"/>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434" name="Google Shape;7434;p421"/>
          <p:cNvGrpSpPr/>
          <p:nvPr/>
        </p:nvGrpSpPr>
        <p:grpSpPr>
          <a:xfrm>
            <a:off x="7717533" y="4360377"/>
            <a:ext cx="1058348" cy="347375"/>
            <a:chOff x="7651698" y="4287227"/>
            <a:chExt cx="1058348" cy="347375"/>
          </a:xfrm>
        </p:grpSpPr>
        <p:grpSp>
          <p:nvGrpSpPr>
            <p:cNvPr id="7435" name="Google Shape;7435;p421"/>
            <p:cNvGrpSpPr/>
            <p:nvPr/>
          </p:nvGrpSpPr>
          <p:grpSpPr>
            <a:xfrm>
              <a:off x="7714163" y="4337598"/>
              <a:ext cx="995883" cy="297004"/>
              <a:chOff x="7711013" y="3986494"/>
              <a:chExt cx="995883" cy="297004"/>
            </a:xfrm>
          </p:grpSpPr>
          <p:sp>
            <p:nvSpPr>
              <p:cNvPr id="7436" name="Google Shape;7436;p42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37" name="Google Shape;7437;p421"/>
              <p:cNvGrpSpPr/>
              <p:nvPr/>
            </p:nvGrpSpPr>
            <p:grpSpPr>
              <a:xfrm>
                <a:off x="7711013" y="4002615"/>
                <a:ext cx="281520" cy="241973"/>
                <a:chOff x="5652748" y="4066000"/>
                <a:chExt cx="906498" cy="747974"/>
              </a:xfrm>
            </p:grpSpPr>
            <p:sp>
              <p:nvSpPr>
                <p:cNvPr id="7438" name="Google Shape;7438;p42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39" name="Google Shape;7439;p42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40" name="Google Shape;7440;p42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41" name="Google Shape;7441;p421">
              <a:hlinkClick action="ppaction://hlinksldjump" r:id="rId12"/>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42" name="Google Shape;7442;p421">
            <a:hlinkClick action="ppaction://hlinksldjump" r:id="rId13"/>
          </p:cNvPr>
          <p:cNvSpPr/>
          <p:nvPr/>
        </p:nvSpPr>
        <p:spPr>
          <a:xfrm>
            <a:off x="4302266" y="302867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Model Performance Reporting and Analysis</a:t>
            </a:r>
            <a:endParaRPr sz="1100">
              <a:solidFill>
                <a:schemeClr val="dk1"/>
              </a:solidFill>
              <a:latin typeface="Century Gothic"/>
              <a:ea typeface="Century Gothic"/>
              <a:cs typeface="Century Gothic"/>
              <a:sym typeface="Century Gothic"/>
            </a:endParaRPr>
          </a:p>
        </p:txBody>
      </p:sp>
      <p:sp>
        <p:nvSpPr>
          <p:cNvPr id="7443" name="Google Shape;7443;p421">
            <a:hlinkClick action="ppaction://hlinksldjump" r:id="rId14"/>
          </p:cNvPr>
          <p:cNvSpPr/>
          <p:nvPr/>
        </p:nvSpPr>
        <p:spPr>
          <a:xfrm>
            <a:off x="6486818" y="302867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Scenario and Stress Testing </a:t>
            </a:r>
            <a:endParaRPr sz="1100">
              <a:solidFill>
                <a:schemeClr val="dk1"/>
              </a:solidFill>
              <a:latin typeface="Century Gothic"/>
              <a:ea typeface="Century Gothic"/>
              <a:cs typeface="Century Gothic"/>
              <a:sym typeface="Century Gothic"/>
            </a:endParaRPr>
          </a:p>
        </p:txBody>
      </p:sp>
      <p:sp>
        <p:nvSpPr>
          <p:cNvPr id="7444" name="Google Shape;7444;p421">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49" name="Shape 7449"/>
        <p:cNvGrpSpPr/>
        <p:nvPr/>
      </p:nvGrpSpPr>
      <p:grpSpPr>
        <a:xfrm>
          <a:off x="0" y="0"/>
          <a:ext cx="0" cy="0"/>
          <a:chOff x="0" y="0"/>
          <a:chExt cx="0" cy="0"/>
        </a:xfrm>
      </p:grpSpPr>
      <p:sp>
        <p:nvSpPr>
          <p:cNvPr id="7450" name="Google Shape;7450;p422"/>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51" name="Google Shape;7451;p422">
            <a:hlinkClick action="ppaction://hlinksldjump" r:id="rId3"/>
          </p:cNvPr>
          <p:cNvSpPr/>
          <p:nvPr/>
        </p:nvSpPr>
        <p:spPr>
          <a:xfrm>
            <a:off x="565902" y="1751219"/>
            <a:ext cx="1395519" cy="1153642"/>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Credit Risk</a:t>
            </a:r>
            <a:endParaRPr sz="1100">
              <a:solidFill>
                <a:srgbClr val="FFFFFF"/>
              </a:solidFill>
              <a:latin typeface="Century Gothic"/>
              <a:ea typeface="Century Gothic"/>
              <a:cs typeface="Century Gothic"/>
              <a:sym typeface="Century Gothic"/>
            </a:endParaRPr>
          </a:p>
        </p:txBody>
      </p:sp>
      <p:sp>
        <p:nvSpPr>
          <p:cNvPr id="7452" name="Google Shape;7452;p422"/>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7453" name="Google Shape;7453;p422">
            <a:hlinkClick action="ppaction://hlinksldjump" r:id="rId4"/>
          </p:cNvPr>
          <p:cNvSpPr/>
          <p:nvPr/>
        </p:nvSpPr>
        <p:spPr>
          <a:xfrm>
            <a:off x="567549" y="265983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7454" name="Google Shape;7454;p422">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Credit Risk Appetite</a:t>
            </a:r>
            <a:endParaRPr sz="1100">
              <a:solidFill>
                <a:schemeClr val="dk1"/>
              </a:solidFill>
              <a:latin typeface="Century Gothic"/>
              <a:ea typeface="Century Gothic"/>
              <a:cs typeface="Century Gothic"/>
              <a:sym typeface="Century Gothic"/>
            </a:endParaRPr>
          </a:p>
        </p:txBody>
      </p:sp>
      <p:sp>
        <p:nvSpPr>
          <p:cNvPr id="7455" name="Google Shape;7455;p422">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Pre-Default Analytics</a:t>
            </a:r>
            <a:endParaRPr sz="1100">
              <a:solidFill>
                <a:schemeClr val="dk1"/>
              </a:solidFill>
              <a:latin typeface="Century Gothic"/>
              <a:ea typeface="Century Gothic"/>
              <a:cs typeface="Century Gothic"/>
              <a:sym typeface="Century Gothic"/>
            </a:endParaRPr>
          </a:p>
        </p:txBody>
      </p:sp>
      <p:sp>
        <p:nvSpPr>
          <p:cNvPr id="7456" name="Google Shape;7456;p422">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Based Pricing / Valuations</a:t>
            </a:r>
            <a:endParaRPr sz="1100">
              <a:solidFill>
                <a:schemeClr val="dk1"/>
              </a:solidFill>
              <a:latin typeface="Century Gothic"/>
              <a:ea typeface="Century Gothic"/>
              <a:cs typeface="Century Gothic"/>
              <a:sym typeface="Century Gothic"/>
            </a:endParaRPr>
          </a:p>
        </p:txBody>
      </p:sp>
      <p:sp>
        <p:nvSpPr>
          <p:cNvPr id="7457" name="Google Shape;7457;p422">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Credit Portfolio Management</a:t>
            </a:r>
            <a:endParaRPr sz="1100">
              <a:solidFill>
                <a:schemeClr val="dk1"/>
              </a:solidFill>
              <a:latin typeface="Century Gothic"/>
              <a:ea typeface="Century Gothic"/>
              <a:cs typeface="Century Gothic"/>
              <a:sym typeface="Century Gothic"/>
            </a:endParaRPr>
          </a:p>
        </p:txBody>
      </p:sp>
      <p:sp>
        <p:nvSpPr>
          <p:cNvPr id="7458" name="Google Shape;7458;p422">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New Business Market Intelligence and Reporting</a:t>
            </a:r>
            <a:endParaRPr sz="1100">
              <a:solidFill>
                <a:srgbClr val="FF0000"/>
              </a:solidFill>
              <a:latin typeface="Century Gothic"/>
              <a:ea typeface="Century Gothic"/>
              <a:cs typeface="Century Gothic"/>
              <a:sym typeface="Century Gothic"/>
            </a:endParaRPr>
          </a:p>
        </p:txBody>
      </p:sp>
      <p:sp>
        <p:nvSpPr>
          <p:cNvPr id="7459" name="Google Shape;7459;p422"/>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Unique capabilities specific to improved insights and management of credit.</a:t>
            </a:r>
            <a:endParaRPr sz="1600"/>
          </a:p>
        </p:txBody>
      </p:sp>
      <p:sp>
        <p:nvSpPr>
          <p:cNvPr id="7460" name="Google Shape;7460;p422"/>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Risk &amp; Market Risk</a:t>
            </a:r>
            <a:endParaRPr sz="2400"/>
          </a:p>
        </p:txBody>
      </p:sp>
      <p:sp>
        <p:nvSpPr>
          <p:cNvPr id="7461" name="Google Shape;7461;p422"/>
          <p:cNvSpPr/>
          <p:nvPr/>
        </p:nvSpPr>
        <p:spPr>
          <a:xfrm>
            <a:off x="2251221" y="-53437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462" name="Google Shape;7462;p422"/>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463" name="Google Shape;7463;p422"/>
          <p:cNvGrpSpPr/>
          <p:nvPr/>
        </p:nvGrpSpPr>
        <p:grpSpPr>
          <a:xfrm>
            <a:off x="7717533" y="4360377"/>
            <a:ext cx="1058348" cy="347375"/>
            <a:chOff x="7651698" y="4287227"/>
            <a:chExt cx="1058348" cy="347375"/>
          </a:xfrm>
        </p:grpSpPr>
        <p:grpSp>
          <p:nvGrpSpPr>
            <p:cNvPr id="7464" name="Google Shape;7464;p422"/>
            <p:cNvGrpSpPr/>
            <p:nvPr/>
          </p:nvGrpSpPr>
          <p:grpSpPr>
            <a:xfrm>
              <a:off x="7714163" y="4337598"/>
              <a:ext cx="995883" cy="297004"/>
              <a:chOff x="7711013" y="3986494"/>
              <a:chExt cx="995883" cy="297004"/>
            </a:xfrm>
          </p:grpSpPr>
          <p:sp>
            <p:nvSpPr>
              <p:cNvPr id="7465" name="Google Shape;7465;p42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66" name="Google Shape;7466;p422"/>
              <p:cNvGrpSpPr/>
              <p:nvPr/>
            </p:nvGrpSpPr>
            <p:grpSpPr>
              <a:xfrm>
                <a:off x="7711013" y="4002615"/>
                <a:ext cx="281520" cy="241973"/>
                <a:chOff x="5652748" y="4066000"/>
                <a:chExt cx="906498" cy="747974"/>
              </a:xfrm>
            </p:grpSpPr>
            <p:sp>
              <p:nvSpPr>
                <p:cNvPr id="7467" name="Google Shape;7467;p42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68" name="Google Shape;7468;p42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69" name="Google Shape;7469;p42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70" name="Google Shape;7470;p422">
              <a:hlinkClick action="ppaction://hlinksldjump" r:id="rId10"/>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71" name="Google Shape;7471;p422">
            <a:hlinkClick action="ppaction://hlinksldjump" r:id="rId11"/>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 Risk</a:t>
            </a:r>
            <a:endParaRPr sz="1100">
              <a:solidFill>
                <a:srgbClr val="FFFFFF"/>
              </a:solidFill>
              <a:latin typeface="Century Gothic"/>
              <a:ea typeface="Century Gothic"/>
              <a:cs typeface="Century Gothic"/>
              <a:sym typeface="Century Gothic"/>
            </a:endParaRPr>
          </a:p>
        </p:txBody>
      </p:sp>
      <p:sp>
        <p:nvSpPr>
          <p:cNvPr id="7472" name="Google Shape;7472;p422">
            <a:hlinkClick action="ppaction://hlinksldjump" r:id="rId12"/>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7473" name="Google Shape;7473;p422">
            <a:hlinkClick action="ppaction://hlinksldjump" r:id="rId13"/>
          </p:cNvPr>
          <p:cNvSpPr/>
          <p:nvPr/>
        </p:nvSpPr>
        <p:spPr>
          <a:xfrm>
            <a:off x="2099730" y="337288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 Risk Appetite</a:t>
            </a:r>
            <a:endParaRPr sz="1100">
              <a:solidFill>
                <a:schemeClr val="dk1"/>
              </a:solidFill>
              <a:latin typeface="Century Gothic"/>
              <a:ea typeface="Century Gothic"/>
              <a:cs typeface="Century Gothic"/>
              <a:sym typeface="Century Gothic"/>
            </a:endParaRPr>
          </a:p>
        </p:txBody>
      </p:sp>
      <p:sp>
        <p:nvSpPr>
          <p:cNvPr id="7474" name="Google Shape;7474;p422">
            <a:hlinkClick action="ppaction://hlinksldjump" r:id="rId14"/>
          </p:cNvPr>
          <p:cNvSpPr/>
          <p:nvPr/>
        </p:nvSpPr>
        <p:spPr>
          <a:xfrm>
            <a:off x="4290974" y="337288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 Risk-based Pricing</a:t>
            </a:r>
            <a:endParaRPr sz="1100">
              <a:solidFill>
                <a:schemeClr val="dk1"/>
              </a:solidFill>
              <a:latin typeface="Century Gothic"/>
              <a:ea typeface="Century Gothic"/>
              <a:cs typeface="Century Gothic"/>
              <a:sym typeface="Century Gothic"/>
            </a:endParaRPr>
          </a:p>
        </p:txBody>
      </p:sp>
      <p:sp>
        <p:nvSpPr>
          <p:cNvPr id="7475" name="Google Shape;7475;p422">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80" name="Shape 7480"/>
        <p:cNvGrpSpPr/>
        <p:nvPr/>
      </p:nvGrpSpPr>
      <p:grpSpPr>
        <a:xfrm>
          <a:off x="0" y="0"/>
          <a:ext cx="0" cy="0"/>
          <a:chOff x="0" y="0"/>
          <a:chExt cx="0" cy="0"/>
        </a:xfrm>
      </p:grpSpPr>
      <p:sp>
        <p:nvSpPr>
          <p:cNvPr id="7481" name="Google Shape;7481;p423"/>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82" name="Google Shape;7482;p423">
            <a:hlinkClick action="ppaction://hlinksldjump" r:id="rId3"/>
          </p:cNvPr>
          <p:cNvSpPr/>
          <p:nvPr/>
        </p:nvSpPr>
        <p:spPr>
          <a:xfrm>
            <a:off x="565902" y="1631743"/>
            <a:ext cx="1395519" cy="969833"/>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Operational Risk</a:t>
            </a:r>
            <a:endParaRPr sz="1100">
              <a:solidFill>
                <a:srgbClr val="FFFFFF"/>
              </a:solidFill>
              <a:latin typeface="Century Gothic"/>
              <a:ea typeface="Century Gothic"/>
              <a:cs typeface="Century Gothic"/>
              <a:sym typeface="Century Gothic"/>
            </a:endParaRPr>
          </a:p>
        </p:txBody>
      </p:sp>
      <p:sp>
        <p:nvSpPr>
          <p:cNvPr id="7483" name="Google Shape;7483;p423"/>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7484" name="Google Shape;7484;p423">
            <a:hlinkClick action="ppaction://hlinksldjump" r:id="rId4"/>
          </p:cNvPr>
          <p:cNvSpPr/>
          <p:nvPr/>
        </p:nvSpPr>
        <p:spPr>
          <a:xfrm>
            <a:off x="567549" y="2408151"/>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7485" name="Google Shape;7485;p423">
            <a:hlinkClick action="ppaction://hlinksldjump" r:id="rId5"/>
          </p:cNvPr>
          <p:cNvSpPr/>
          <p:nvPr/>
        </p:nvSpPr>
        <p:spPr>
          <a:xfrm>
            <a:off x="2099732" y="191237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Operational Risk Management</a:t>
            </a:r>
            <a:endParaRPr sz="1100">
              <a:solidFill>
                <a:srgbClr val="FF0000"/>
              </a:solidFill>
              <a:latin typeface="Century Gothic"/>
              <a:ea typeface="Century Gothic"/>
              <a:cs typeface="Century Gothic"/>
              <a:sym typeface="Century Gothic"/>
            </a:endParaRPr>
          </a:p>
        </p:txBody>
      </p:sp>
      <p:sp>
        <p:nvSpPr>
          <p:cNvPr id="7486" name="Google Shape;7486;p423"/>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Insights to drive efficiencies and enhancements in the collections and recovery processes</a:t>
            </a:r>
            <a:endParaRPr sz="1600"/>
          </a:p>
        </p:txBody>
      </p:sp>
      <p:sp>
        <p:nvSpPr>
          <p:cNvPr id="7487" name="Google Shape;7487;p423"/>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Operational Risk &amp; Collections</a:t>
            </a:r>
            <a:endParaRPr sz="2400"/>
          </a:p>
        </p:txBody>
      </p:sp>
      <p:sp>
        <p:nvSpPr>
          <p:cNvPr id="7488" name="Google Shape;7488;p423"/>
          <p:cNvSpPr/>
          <p:nvPr/>
        </p:nvSpPr>
        <p:spPr>
          <a:xfrm>
            <a:off x="2099732" y="-4447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489" name="Google Shape;7489;p423"/>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490" name="Google Shape;7490;p423"/>
          <p:cNvGrpSpPr/>
          <p:nvPr/>
        </p:nvGrpSpPr>
        <p:grpSpPr>
          <a:xfrm>
            <a:off x="7717533" y="4360377"/>
            <a:ext cx="1058348" cy="347375"/>
            <a:chOff x="7651698" y="4287227"/>
            <a:chExt cx="1058348" cy="347375"/>
          </a:xfrm>
        </p:grpSpPr>
        <p:grpSp>
          <p:nvGrpSpPr>
            <p:cNvPr id="7491" name="Google Shape;7491;p423"/>
            <p:cNvGrpSpPr/>
            <p:nvPr/>
          </p:nvGrpSpPr>
          <p:grpSpPr>
            <a:xfrm>
              <a:off x="7714163" y="4337598"/>
              <a:ext cx="995883" cy="297004"/>
              <a:chOff x="7711013" y="3986494"/>
              <a:chExt cx="995883" cy="297004"/>
            </a:xfrm>
          </p:grpSpPr>
          <p:sp>
            <p:nvSpPr>
              <p:cNvPr id="7492" name="Google Shape;7492;p42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93" name="Google Shape;7493;p423"/>
              <p:cNvGrpSpPr/>
              <p:nvPr/>
            </p:nvGrpSpPr>
            <p:grpSpPr>
              <a:xfrm>
                <a:off x="7711013" y="4002615"/>
                <a:ext cx="281520" cy="241973"/>
                <a:chOff x="5652748" y="4066000"/>
                <a:chExt cx="906498" cy="747974"/>
              </a:xfrm>
            </p:grpSpPr>
            <p:sp>
              <p:nvSpPr>
                <p:cNvPr id="7494" name="Google Shape;7494;p42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95" name="Google Shape;7495;p42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96" name="Google Shape;7496;p42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97" name="Google Shape;7497;p423">
              <a:hlinkClick action="ppaction://hlinksldjump" r:id="rId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98" name="Google Shape;7498;p423">
            <a:hlinkClick action="ppaction://hlinksldjump" r:id="rId7"/>
          </p:cNvPr>
          <p:cNvSpPr/>
          <p:nvPr/>
        </p:nvSpPr>
        <p:spPr>
          <a:xfrm>
            <a:off x="565902" y="2738665"/>
            <a:ext cx="1395519" cy="9684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Collections &amp; Recoveries</a:t>
            </a:r>
            <a:endParaRPr sz="1100">
              <a:solidFill>
                <a:srgbClr val="FFFFFF"/>
              </a:solidFill>
              <a:latin typeface="Century Gothic"/>
              <a:ea typeface="Century Gothic"/>
              <a:cs typeface="Century Gothic"/>
              <a:sym typeface="Century Gothic"/>
            </a:endParaRPr>
          </a:p>
        </p:txBody>
      </p:sp>
      <p:sp>
        <p:nvSpPr>
          <p:cNvPr id="7499" name="Google Shape;7499;p423">
            <a:hlinkClick action="ppaction://hlinksldjump" r:id="rId8"/>
          </p:cNvPr>
          <p:cNvSpPr/>
          <p:nvPr/>
        </p:nvSpPr>
        <p:spPr>
          <a:xfrm>
            <a:off x="567549" y="3568930"/>
            <a:ext cx="849788" cy="10999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7500" name="Google Shape;7500;p423">
            <a:hlinkClick action="ppaction://hlinksldjump" r:id="rId9"/>
          </p:cNvPr>
          <p:cNvSpPr/>
          <p:nvPr/>
        </p:nvSpPr>
        <p:spPr>
          <a:xfrm>
            <a:off x="2099732" y="2961625"/>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Collections and Recoveries Optimization</a:t>
            </a:r>
            <a:endParaRPr sz="1100">
              <a:solidFill>
                <a:schemeClr val="dk1"/>
              </a:solidFill>
              <a:latin typeface="Century Gothic"/>
              <a:ea typeface="Century Gothic"/>
              <a:cs typeface="Century Gothic"/>
              <a:sym typeface="Century Gothic"/>
            </a:endParaRPr>
          </a:p>
        </p:txBody>
      </p:sp>
      <p:sp>
        <p:nvSpPr>
          <p:cNvPr id="7501" name="Google Shape;7501;p423">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06" name="Shape 7506"/>
        <p:cNvGrpSpPr/>
        <p:nvPr/>
      </p:nvGrpSpPr>
      <p:grpSpPr>
        <a:xfrm>
          <a:off x="0" y="0"/>
          <a:ext cx="0" cy="0"/>
          <a:chOff x="0" y="0"/>
          <a:chExt cx="0" cy="0"/>
        </a:xfrm>
      </p:grpSpPr>
      <p:sp>
        <p:nvSpPr>
          <p:cNvPr id="7507" name="Google Shape;7507;p424"/>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08" name="Google Shape;7508;p424">
            <a:hlinkClick action="ppaction://hlinksldjump" r:id="rId3"/>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Risk Model Deployment and Operationalization</a:t>
            </a:r>
            <a:endParaRPr sz="700">
              <a:solidFill>
                <a:srgbClr val="FF0000"/>
              </a:solidFill>
              <a:latin typeface="Century Gothic"/>
              <a:ea typeface="Century Gothic"/>
              <a:cs typeface="Century Gothic"/>
              <a:sym typeface="Century Gothic"/>
            </a:endParaRPr>
          </a:p>
        </p:txBody>
      </p:sp>
      <p:sp>
        <p:nvSpPr>
          <p:cNvPr id="7509" name="Google Shape;7509;p424">
            <a:hlinkClick action="ppaction://hlinksldjump" r:id="rId4"/>
          </p:cNvPr>
          <p:cNvSpPr/>
          <p:nvPr/>
        </p:nvSpPr>
        <p:spPr>
          <a:xfrm>
            <a:off x="701463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of A/B Testing</a:t>
            </a:r>
            <a:endParaRPr sz="700">
              <a:solidFill>
                <a:srgbClr val="FF0000"/>
              </a:solidFill>
              <a:latin typeface="Century Gothic"/>
              <a:ea typeface="Century Gothic"/>
              <a:cs typeface="Century Gothic"/>
              <a:sym typeface="Century Gothic"/>
            </a:endParaRPr>
          </a:p>
        </p:txBody>
      </p:sp>
      <p:sp>
        <p:nvSpPr>
          <p:cNvPr id="7510" name="Google Shape;7510;p424">
            <a:hlinkClick action="ppaction://hlinksldjump" r:id="rId5"/>
          </p:cNvPr>
          <p:cNvSpPr/>
          <p:nvPr/>
        </p:nvSpPr>
        <p:spPr>
          <a:xfrm>
            <a:off x="7014892"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Risk Scenario and Stress Testing</a:t>
            </a:r>
            <a:endParaRPr sz="700">
              <a:solidFill>
                <a:srgbClr val="FF0000"/>
              </a:solidFill>
              <a:latin typeface="Century Gothic"/>
              <a:ea typeface="Century Gothic"/>
              <a:cs typeface="Century Gothic"/>
              <a:sym typeface="Century Gothic"/>
            </a:endParaRPr>
          </a:p>
        </p:txBody>
      </p:sp>
      <p:sp>
        <p:nvSpPr>
          <p:cNvPr id="7511" name="Google Shape;7511;p424">
            <a:hlinkClick action="ppaction://hlinksldjump" r:id="rId6"/>
          </p:cNvPr>
          <p:cNvSpPr/>
          <p:nvPr/>
        </p:nvSpPr>
        <p:spPr>
          <a:xfrm>
            <a:off x="5374899"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Risk Model Lift</a:t>
            </a:r>
            <a:endParaRPr sz="700">
              <a:solidFill>
                <a:srgbClr val="FF0000"/>
              </a:solidFill>
              <a:latin typeface="Century Gothic"/>
              <a:ea typeface="Century Gothic"/>
              <a:cs typeface="Century Gothic"/>
              <a:sym typeface="Century Gothic"/>
            </a:endParaRPr>
          </a:p>
        </p:txBody>
      </p:sp>
      <p:sp>
        <p:nvSpPr>
          <p:cNvPr id="7512" name="Google Shape;7512;p424">
            <a:hlinkClick action="ppaction://hlinksldjump" r:id="rId7"/>
          </p:cNvPr>
          <p:cNvSpPr/>
          <p:nvPr/>
        </p:nvSpPr>
        <p:spPr>
          <a:xfrm>
            <a:off x="373490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Risk/Reward Strategy Optimization</a:t>
            </a:r>
            <a:endParaRPr sz="700">
              <a:solidFill>
                <a:srgbClr val="FF0000"/>
              </a:solidFill>
              <a:latin typeface="Century Gothic"/>
              <a:ea typeface="Century Gothic"/>
              <a:cs typeface="Century Gothic"/>
              <a:sym typeface="Century Gothic"/>
            </a:endParaRPr>
          </a:p>
        </p:txBody>
      </p:sp>
      <p:sp>
        <p:nvSpPr>
          <p:cNvPr id="7513" name="Google Shape;7513;p424">
            <a:hlinkClick action="ppaction://hlinksldjump" r:id="rId8"/>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Calculation and Management of Capital</a:t>
            </a:r>
            <a:endParaRPr sz="1000">
              <a:solidFill>
                <a:srgbClr val="FF0000"/>
              </a:solidFill>
              <a:latin typeface="Century Gothic"/>
              <a:ea typeface="Century Gothic"/>
              <a:cs typeface="Century Gothic"/>
              <a:sym typeface="Century Gothic"/>
            </a:endParaRPr>
          </a:p>
        </p:txBody>
      </p:sp>
      <p:sp>
        <p:nvSpPr>
          <p:cNvPr id="7514" name="Google Shape;7514;p424">
            <a:hlinkClick action="ppaction://hlinksldjump" r:id="rId9"/>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Underwriting for Risk</a:t>
            </a:r>
            <a:endParaRPr sz="1000">
              <a:solidFill>
                <a:srgbClr val="FF0000"/>
              </a:solidFill>
              <a:latin typeface="Century Gothic"/>
              <a:ea typeface="Century Gothic"/>
              <a:cs typeface="Century Gothic"/>
              <a:sym typeface="Century Gothic"/>
            </a:endParaRPr>
          </a:p>
        </p:txBody>
      </p:sp>
      <p:sp>
        <p:nvSpPr>
          <p:cNvPr id="7515" name="Google Shape;7515;p424">
            <a:hlinkClick action="ppaction://hlinksldjump" r:id="rId10"/>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Guarantee Analytics</a:t>
            </a:r>
            <a:endParaRPr sz="1000">
              <a:solidFill>
                <a:srgbClr val="FF0000"/>
              </a:solidFill>
              <a:latin typeface="Century Gothic"/>
              <a:ea typeface="Century Gothic"/>
              <a:cs typeface="Century Gothic"/>
              <a:sym typeface="Century Gothic"/>
            </a:endParaRPr>
          </a:p>
        </p:txBody>
      </p:sp>
      <p:sp>
        <p:nvSpPr>
          <p:cNvPr id="7516" name="Google Shape;7516;p424">
            <a:hlinkClick action="ppaction://hlinksldjump" r:id="rId11"/>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Consquential Impact of Credit Default</a:t>
            </a:r>
            <a:endParaRPr sz="1000">
              <a:solidFill>
                <a:srgbClr val="FF0000"/>
              </a:solidFill>
              <a:latin typeface="Century Gothic"/>
              <a:ea typeface="Century Gothic"/>
              <a:cs typeface="Century Gothic"/>
              <a:sym typeface="Century Gothic"/>
            </a:endParaRPr>
          </a:p>
        </p:txBody>
      </p:sp>
      <p:sp>
        <p:nvSpPr>
          <p:cNvPr id="7517" name="Google Shape;7517;p424">
            <a:hlinkClick action="ppaction://hlinksldjump" r:id="rId12"/>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Risk Model Lift</a:t>
            </a:r>
            <a:endParaRPr sz="1000">
              <a:solidFill>
                <a:srgbClr val="FF0000"/>
              </a:solidFill>
              <a:latin typeface="Century Gothic"/>
              <a:ea typeface="Century Gothic"/>
              <a:cs typeface="Century Gothic"/>
              <a:sym typeface="Century Gothic"/>
            </a:endParaRPr>
          </a:p>
        </p:txBody>
      </p:sp>
      <p:sp>
        <p:nvSpPr>
          <p:cNvPr id="7518" name="Google Shape;7518;p424">
            <a:hlinkClick action="ppaction://hlinksldjump" r:id="rId13"/>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Geospatial Risk</a:t>
            </a:r>
            <a:endParaRPr sz="1000">
              <a:solidFill>
                <a:schemeClr val="dk1"/>
              </a:solidFill>
              <a:latin typeface="Century Gothic"/>
              <a:ea typeface="Century Gothic"/>
              <a:cs typeface="Century Gothic"/>
              <a:sym typeface="Century Gothic"/>
            </a:endParaRPr>
          </a:p>
        </p:txBody>
      </p:sp>
      <p:sp>
        <p:nvSpPr>
          <p:cNvPr id="7519" name="Google Shape;7519;p424">
            <a:hlinkClick action="ppaction://hlinksldjump" r:id="rId14"/>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Credit Risk Models for ’New-to-Lending’ Customers</a:t>
            </a:r>
            <a:endParaRPr sz="700">
              <a:solidFill>
                <a:srgbClr val="FF0000"/>
              </a:solidFill>
              <a:latin typeface="Century Gothic"/>
              <a:ea typeface="Century Gothic"/>
              <a:cs typeface="Century Gothic"/>
              <a:sym typeface="Century Gothic"/>
            </a:endParaRPr>
          </a:p>
        </p:txBody>
      </p:sp>
      <p:sp>
        <p:nvSpPr>
          <p:cNvPr id="7520" name="Google Shape;7520;p424"/>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521" name="Google Shape;7521;p424"/>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22" name="Google Shape;7522;p424"/>
          <p:cNvGrpSpPr/>
          <p:nvPr/>
        </p:nvGrpSpPr>
        <p:grpSpPr>
          <a:xfrm>
            <a:off x="2100364" y="1348315"/>
            <a:ext cx="281520" cy="241973"/>
            <a:chOff x="5652748" y="4066000"/>
            <a:chExt cx="906498" cy="747974"/>
          </a:xfrm>
        </p:grpSpPr>
        <p:sp>
          <p:nvSpPr>
            <p:cNvPr id="7523" name="Google Shape;7523;p42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24" name="Google Shape;7524;p42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25" name="Google Shape;7525;p42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26" name="Google Shape;7526;p424"/>
          <p:cNvSpPr/>
          <p:nvPr/>
        </p:nvSpPr>
        <p:spPr>
          <a:xfrm rot="5400000">
            <a:off x="8677986" y="824957"/>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27" name="Google Shape;7527;p42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&amp; Mitigation Use Cases</a:t>
            </a:r>
            <a:endParaRPr sz="2400"/>
          </a:p>
        </p:txBody>
      </p:sp>
      <p:sp>
        <p:nvSpPr>
          <p:cNvPr id="7528" name="Google Shape;7528;p424"/>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from Common Core for Risk Analytics</a:t>
            </a:r>
            <a:endParaRPr sz="1600"/>
          </a:p>
        </p:txBody>
      </p:sp>
      <p:sp>
        <p:nvSpPr>
          <p:cNvPr id="7529" name="Google Shape;7529;p424">
            <a:hlinkClick action="ppaction://hlinksldjump" r:id="rId15"/>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Risk Analytics</a:t>
            </a:r>
            <a:endParaRPr sz="1100">
              <a:solidFill>
                <a:srgbClr val="FFFFFF"/>
              </a:solidFill>
              <a:latin typeface="Century Gothic"/>
              <a:ea typeface="Century Gothic"/>
              <a:cs typeface="Century Gothic"/>
              <a:sym typeface="Century Gothic"/>
            </a:endParaRPr>
          </a:p>
        </p:txBody>
      </p:sp>
      <p:sp>
        <p:nvSpPr>
          <p:cNvPr id="7530" name="Google Shape;7530;p424">
            <a:hlinkClick action="ppaction://hlinksldjump" r:id="rId16"/>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424"/>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3</a:t>
            </a:r>
            <a:endParaRPr/>
          </a:p>
        </p:txBody>
      </p:sp>
      <p:sp>
        <p:nvSpPr>
          <p:cNvPr id="7532" name="Google Shape;7532;p424">
            <a:hlinkClick action="ppaction://hlinksldjump" r:id="rId1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37" name="Shape 7537"/>
        <p:cNvGrpSpPr/>
        <p:nvPr/>
      </p:nvGrpSpPr>
      <p:grpSpPr>
        <a:xfrm>
          <a:off x="0" y="0"/>
          <a:ext cx="0" cy="0"/>
          <a:chOff x="0" y="0"/>
          <a:chExt cx="0" cy="0"/>
        </a:xfrm>
      </p:grpSpPr>
      <p:sp>
        <p:nvSpPr>
          <p:cNvPr id="7538" name="Google Shape;7538;p425"/>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39" name="Google Shape;7539;p425">
            <a:hlinkClick action="ppaction://hlinksldjump" r:id="rId3"/>
          </p:cNvPr>
          <p:cNvSpPr/>
          <p:nvPr/>
        </p:nvSpPr>
        <p:spPr>
          <a:xfrm>
            <a:off x="2094914" y="2462548"/>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Credit Portfolio Management</a:t>
            </a:r>
            <a:endParaRPr sz="1000">
              <a:solidFill>
                <a:srgbClr val="FF0000"/>
              </a:solidFill>
              <a:latin typeface="Century Gothic"/>
              <a:ea typeface="Century Gothic"/>
              <a:cs typeface="Century Gothic"/>
              <a:sym typeface="Century Gothic"/>
            </a:endParaRPr>
          </a:p>
        </p:txBody>
      </p:sp>
      <p:sp>
        <p:nvSpPr>
          <p:cNvPr id="7540" name="Google Shape;7540;p425">
            <a:hlinkClick action="ppaction://hlinksldjump" r:id="rId4"/>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Credit Risk Market Intelligence</a:t>
            </a:r>
            <a:endParaRPr sz="1000">
              <a:solidFill>
                <a:srgbClr val="FF0000"/>
              </a:solidFill>
              <a:latin typeface="Century Gothic"/>
              <a:ea typeface="Century Gothic"/>
              <a:cs typeface="Century Gothic"/>
              <a:sym typeface="Century Gothic"/>
            </a:endParaRPr>
          </a:p>
        </p:txBody>
      </p:sp>
      <p:sp>
        <p:nvSpPr>
          <p:cNvPr id="7541" name="Google Shape;7541;p425">
            <a:hlinkClick action="ppaction://hlinksldjump" r:id="rId5"/>
          </p:cNvPr>
          <p:cNvSpPr/>
          <p:nvPr/>
        </p:nvSpPr>
        <p:spPr>
          <a:xfrm>
            <a:off x="7014892"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Real Estate Mortgage Pricing – Small Business</a:t>
            </a:r>
            <a:endParaRPr sz="1000">
              <a:solidFill>
                <a:srgbClr val="FF0000"/>
              </a:solidFill>
              <a:latin typeface="Century Gothic"/>
              <a:ea typeface="Century Gothic"/>
              <a:cs typeface="Century Gothic"/>
              <a:sym typeface="Century Gothic"/>
            </a:endParaRPr>
          </a:p>
        </p:txBody>
      </p:sp>
      <p:sp>
        <p:nvSpPr>
          <p:cNvPr id="7542" name="Google Shape;7542;p425">
            <a:hlinkClick action="ppaction://hlinksldjump" r:id="rId6"/>
          </p:cNvPr>
          <p:cNvSpPr/>
          <p:nvPr/>
        </p:nvSpPr>
        <p:spPr>
          <a:xfrm>
            <a:off x="5374899"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Analytics for Risk-based Policy Pricing </a:t>
            </a:r>
            <a:endParaRPr sz="1000">
              <a:solidFill>
                <a:schemeClr val="dk1"/>
              </a:solidFill>
              <a:latin typeface="Century Gothic"/>
              <a:ea typeface="Century Gothic"/>
              <a:cs typeface="Century Gothic"/>
              <a:sym typeface="Century Gothic"/>
            </a:endParaRPr>
          </a:p>
        </p:txBody>
      </p:sp>
      <p:sp>
        <p:nvSpPr>
          <p:cNvPr id="7543" name="Google Shape;7543;p425">
            <a:hlinkClick action="ppaction://hlinksldjump" r:id="rId7"/>
          </p:cNvPr>
          <p:cNvSpPr/>
          <p:nvPr/>
        </p:nvSpPr>
        <p:spPr>
          <a:xfrm>
            <a:off x="3734907"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Pre-Default Risk and Credit Event Protection </a:t>
            </a:r>
            <a:endParaRPr sz="1000">
              <a:solidFill>
                <a:schemeClr val="dk1"/>
              </a:solidFill>
              <a:latin typeface="Century Gothic"/>
              <a:ea typeface="Century Gothic"/>
              <a:cs typeface="Century Gothic"/>
              <a:sym typeface="Century Gothic"/>
            </a:endParaRPr>
          </a:p>
        </p:txBody>
      </p:sp>
      <p:sp>
        <p:nvSpPr>
          <p:cNvPr id="7544" name="Google Shape;7544;p425">
            <a:hlinkClick action="ppaction://hlinksldjump" r:id="rId8"/>
          </p:cNvPr>
          <p:cNvSpPr/>
          <p:nvPr/>
        </p:nvSpPr>
        <p:spPr>
          <a:xfrm>
            <a:off x="2094914"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Credit Risk Appetite</a:t>
            </a:r>
            <a:endParaRPr sz="700">
              <a:solidFill>
                <a:srgbClr val="FF0000"/>
              </a:solidFill>
              <a:latin typeface="Century Gothic"/>
              <a:ea typeface="Century Gothic"/>
              <a:cs typeface="Century Gothic"/>
              <a:sym typeface="Century Gothic"/>
            </a:endParaRPr>
          </a:p>
        </p:txBody>
      </p:sp>
      <p:sp>
        <p:nvSpPr>
          <p:cNvPr id="7545" name="Google Shape;7545;p425"/>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546" name="Google Shape;7546;p425"/>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47" name="Google Shape;7547;p425"/>
          <p:cNvGrpSpPr/>
          <p:nvPr/>
        </p:nvGrpSpPr>
        <p:grpSpPr>
          <a:xfrm>
            <a:off x="2100364" y="1348315"/>
            <a:ext cx="281520" cy="241973"/>
            <a:chOff x="5652748" y="4066000"/>
            <a:chExt cx="906498" cy="747974"/>
          </a:xfrm>
        </p:grpSpPr>
        <p:sp>
          <p:nvSpPr>
            <p:cNvPr id="7548" name="Google Shape;7548;p42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49" name="Google Shape;7549;p42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50" name="Google Shape;7550;p42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51" name="Google Shape;7551;p425"/>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52" name="Google Shape;7552;p425"/>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&amp; Mitigation Use Cases</a:t>
            </a:r>
            <a:endParaRPr sz="2400"/>
          </a:p>
        </p:txBody>
      </p:sp>
      <p:sp>
        <p:nvSpPr>
          <p:cNvPr id="7553" name="Google Shape;7553;p425"/>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Credit Risk business value</a:t>
            </a:r>
            <a:endParaRPr sz="1600"/>
          </a:p>
        </p:txBody>
      </p:sp>
      <p:sp>
        <p:nvSpPr>
          <p:cNvPr id="7554" name="Google Shape;7554;p425">
            <a:hlinkClick action="ppaction://hlinksldjump" r:id="rId9"/>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425"/>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3</a:t>
            </a:r>
            <a:endParaRPr/>
          </a:p>
        </p:txBody>
      </p:sp>
      <p:sp>
        <p:nvSpPr>
          <p:cNvPr id="7556" name="Google Shape;7556;p425">
            <a:hlinkClick action="ppaction://hlinksldjump" r:id="rId10"/>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425"/>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3</a:t>
            </a:r>
            <a:endParaRPr/>
          </a:p>
        </p:txBody>
      </p:sp>
      <p:sp>
        <p:nvSpPr>
          <p:cNvPr id="7558" name="Google Shape;7558;p425">
            <a:hlinkClick action="ppaction://hlinksldjump" r:id="rId11"/>
          </p:cNvPr>
          <p:cNvSpPr/>
          <p:nvPr/>
        </p:nvSpPr>
        <p:spPr>
          <a:xfrm>
            <a:off x="565902" y="1683867"/>
            <a:ext cx="1395519" cy="1408682"/>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Credit Risk</a:t>
            </a:r>
            <a:endParaRPr sz="1100">
              <a:solidFill>
                <a:srgbClr val="FFFFFF"/>
              </a:solidFill>
              <a:latin typeface="Century Gothic"/>
              <a:ea typeface="Century Gothic"/>
              <a:cs typeface="Century Gothic"/>
              <a:sym typeface="Century Gothic"/>
            </a:endParaRPr>
          </a:p>
        </p:txBody>
      </p:sp>
      <p:sp>
        <p:nvSpPr>
          <p:cNvPr id="7559" name="Google Shape;7559;p425">
            <a:hlinkClick action="ppaction://hlinksldjump" r:id="rId12"/>
          </p:cNvPr>
          <p:cNvSpPr/>
          <p:nvPr/>
        </p:nvSpPr>
        <p:spPr>
          <a:xfrm>
            <a:off x="565902" y="3185592"/>
            <a:ext cx="1395519" cy="114703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 Risk</a:t>
            </a:r>
            <a:endParaRPr sz="1100">
              <a:solidFill>
                <a:srgbClr val="FFFFFF"/>
              </a:solidFill>
              <a:latin typeface="Century Gothic"/>
              <a:ea typeface="Century Gothic"/>
              <a:cs typeface="Century Gothic"/>
              <a:sym typeface="Century Gothic"/>
            </a:endParaRPr>
          </a:p>
        </p:txBody>
      </p:sp>
      <p:sp>
        <p:nvSpPr>
          <p:cNvPr id="7560" name="Google Shape;7560;p425"/>
          <p:cNvSpPr/>
          <p:nvPr/>
        </p:nvSpPr>
        <p:spPr>
          <a:xfrm>
            <a:off x="488980" y="-82999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61" name="Google Shape;7561;p425">
            <a:hlinkClick action="ppaction://hlinksldjump" r:id="rId13"/>
          </p:cNvPr>
          <p:cNvSpPr/>
          <p:nvPr/>
        </p:nvSpPr>
        <p:spPr>
          <a:xfrm>
            <a:off x="5380349"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Market Risk Based Pricing</a:t>
            </a:r>
            <a:endParaRPr sz="1000">
              <a:solidFill>
                <a:srgbClr val="FF0000"/>
              </a:solidFill>
              <a:latin typeface="Century Gothic"/>
              <a:ea typeface="Century Gothic"/>
              <a:cs typeface="Century Gothic"/>
              <a:sym typeface="Century Gothic"/>
            </a:endParaRPr>
          </a:p>
        </p:txBody>
      </p:sp>
      <p:sp>
        <p:nvSpPr>
          <p:cNvPr id="7562" name="Google Shape;7562;p425">
            <a:hlinkClick action="ppaction://hlinksldjump" r:id="rId14"/>
          </p:cNvPr>
          <p:cNvSpPr/>
          <p:nvPr/>
        </p:nvSpPr>
        <p:spPr>
          <a:xfrm>
            <a:off x="374035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Liquidity and Market Risk Intra-Day Trend</a:t>
            </a:r>
            <a:endParaRPr sz="1000">
              <a:solidFill>
                <a:srgbClr val="FF0000"/>
              </a:solidFill>
              <a:latin typeface="Century Gothic"/>
              <a:ea typeface="Century Gothic"/>
              <a:cs typeface="Century Gothic"/>
              <a:sym typeface="Century Gothic"/>
            </a:endParaRPr>
          </a:p>
        </p:txBody>
      </p:sp>
      <p:sp>
        <p:nvSpPr>
          <p:cNvPr id="7563" name="Google Shape;7563;p425">
            <a:hlinkClick action="ppaction://hlinksldjump" r:id="rId15"/>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Currency Hedge Analytics</a:t>
            </a:r>
            <a:endParaRPr sz="700">
              <a:solidFill>
                <a:schemeClr val="dk1"/>
              </a:solidFill>
              <a:latin typeface="Century Gothic"/>
              <a:ea typeface="Century Gothic"/>
              <a:cs typeface="Century Gothic"/>
              <a:sym typeface="Century Gothic"/>
            </a:endParaRPr>
          </a:p>
        </p:txBody>
      </p:sp>
      <p:sp>
        <p:nvSpPr>
          <p:cNvPr id="7564" name="Google Shape;7564;p425">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69" name="Shape 7569"/>
        <p:cNvGrpSpPr/>
        <p:nvPr/>
      </p:nvGrpSpPr>
      <p:grpSpPr>
        <a:xfrm>
          <a:off x="0" y="0"/>
          <a:ext cx="0" cy="0"/>
          <a:chOff x="0" y="0"/>
          <a:chExt cx="0" cy="0"/>
        </a:xfrm>
      </p:grpSpPr>
      <p:sp>
        <p:nvSpPr>
          <p:cNvPr id="7570" name="Google Shape;7570;p426"/>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71" name="Google Shape;7571;p42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572" name="Google Shape;7572;p426"/>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73" name="Google Shape;7573;p426"/>
          <p:cNvGrpSpPr/>
          <p:nvPr/>
        </p:nvGrpSpPr>
        <p:grpSpPr>
          <a:xfrm>
            <a:off x="2100364" y="1348315"/>
            <a:ext cx="281520" cy="241973"/>
            <a:chOff x="5652748" y="4066000"/>
            <a:chExt cx="906498" cy="747974"/>
          </a:xfrm>
        </p:grpSpPr>
        <p:sp>
          <p:nvSpPr>
            <p:cNvPr id="7574" name="Google Shape;7574;p42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75" name="Google Shape;7575;p42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76" name="Google Shape;7576;p42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77" name="Google Shape;7577;p42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78" name="Google Shape;7578;p42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&amp; Mitigation Use Cases</a:t>
            </a:r>
            <a:endParaRPr sz="2400"/>
          </a:p>
        </p:txBody>
      </p:sp>
      <p:sp>
        <p:nvSpPr>
          <p:cNvPr id="7579" name="Google Shape;7579;p426"/>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Market Risk business value</a:t>
            </a:r>
            <a:endParaRPr sz="1600"/>
          </a:p>
        </p:txBody>
      </p:sp>
      <p:sp>
        <p:nvSpPr>
          <p:cNvPr id="7580" name="Google Shape;7580;p426">
            <a:hlinkClick action="ppaction://hlinksldjump" r:id="rId3"/>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426"/>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3</a:t>
            </a:r>
            <a:endParaRPr/>
          </a:p>
        </p:txBody>
      </p:sp>
      <p:sp>
        <p:nvSpPr>
          <p:cNvPr id="7582" name="Google Shape;7582;p426">
            <a:hlinkClick action="ppaction://hlinksldjump" r:id="rId4"/>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Collections Analytics</a:t>
            </a:r>
            <a:endParaRPr sz="1000">
              <a:solidFill>
                <a:srgbClr val="FF0000"/>
              </a:solidFill>
              <a:latin typeface="Century Gothic"/>
              <a:ea typeface="Century Gothic"/>
              <a:cs typeface="Century Gothic"/>
              <a:sym typeface="Century Gothic"/>
            </a:endParaRPr>
          </a:p>
        </p:txBody>
      </p:sp>
      <p:sp>
        <p:nvSpPr>
          <p:cNvPr id="7583" name="Google Shape;7583;p426">
            <a:hlinkClick action="ppaction://hlinksldjump" r:id="rId5"/>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Improving the Collections Experience</a:t>
            </a:r>
            <a:endParaRPr sz="700">
              <a:solidFill>
                <a:srgbClr val="FF0000"/>
              </a:solidFill>
              <a:latin typeface="Century Gothic"/>
              <a:ea typeface="Century Gothic"/>
              <a:cs typeface="Century Gothic"/>
              <a:sym typeface="Century Gothic"/>
            </a:endParaRPr>
          </a:p>
        </p:txBody>
      </p:sp>
      <p:sp>
        <p:nvSpPr>
          <p:cNvPr id="7584" name="Google Shape;7584;p426">
            <a:hlinkClick action="ppaction://hlinksldjump" r:id="rId6"/>
          </p:cNvPr>
          <p:cNvSpPr/>
          <p:nvPr/>
        </p:nvSpPr>
        <p:spPr>
          <a:xfrm>
            <a:off x="565902" y="1683866"/>
            <a:ext cx="1395519" cy="63825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Collections &amp; Recoveries</a:t>
            </a:r>
            <a:endParaRPr sz="1100">
              <a:solidFill>
                <a:srgbClr val="FFFFFF"/>
              </a:solidFill>
              <a:latin typeface="Century Gothic"/>
              <a:ea typeface="Century Gothic"/>
              <a:cs typeface="Century Gothic"/>
              <a:sym typeface="Century Gothic"/>
            </a:endParaRPr>
          </a:p>
        </p:txBody>
      </p:sp>
      <p:sp>
        <p:nvSpPr>
          <p:cNvPr id="7585" name="Google Shape;7585;p426">
            <a:hlinkClick action="ppaction://hlinksldjump" r:id="rId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89" name="Shape 7589"/>
        <p:cNvGrpSpPr/>
        <p:nvPr/>
      </p:nvGrpSpPr>
      <p:grpSpPr>
        <a:xfrm>
          <a:off x="0" y="0"/>
          <a:ext cx="0" cy="0"/>
          <a:chOff x="0" y="0"/>
          <a:chExt cx="0" cy="0"/>
        </a:xfrm>
      </p:grpSpPr>
      <p:pic>
        <p:nvPicPr>
          <p:cNvPr descr="DIS-1001-H.jpg" id="7590" name="Google Shape;7590;p427"/>
          <p:cNvPicPr preferRelativeResize="0"/>
          <p:nvPr/>
        </p:nvPicPr>
        <p:blipFill rotWithShape="1">
          <a:blip r:embed="rId3">
            <a:alphaModFix/>
          </a:blip>
          <a:srcRect b="14847" l="5604" r="39964" t="5507"/>
          <a:stretch/>
        </p:blipFill>
        <p:spPr>
          <a:xfrm flipH="1">
            <a:off x="5082638" y="297669"/>
            <a:ext cx="3816000" cy="4392000"/>
          </a:xfrm>
          <a:prstGeom prst="rect">
            <a:avLst/>
          </a:prstGeom>
          <a:noFill/>
          <a:ln>
            <a:noFill/>
          </a:ln>
        </p:spPr>
      </p:pic>
      <p:sp>
        <p:nvSpPr>
          <p:cNvPr id="7591" name="Google Shape;7591;p427"/>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Management &amp; Mitigation</a:t>
            </a:r>
            <a:endParaRPr/>
          </a:p>
        </p:txBody>
      </p:sp>
      <p:sp>
        <p:nvSpPr>
          <p:cNvPr id="7592" name="Google Shape;7592;p427"/>
          <p:cNvSpPr txBox="1"/>
          <p:nvPr>
            <p:ph idx="1" type="body"/>
          </p:nvPr>
        </p:nvSpPr>
        <p:spPr>
          <a:xfrm>
            <a:off x="475378" y="1191801"/>
            <a:ext cx="6609407"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chemeClr val="lt1"/>
              </a:buClr>
              <a:buSzPts val="1800"/>
              <a:buNone/>
            </a:pPr>
            <a:r>
              <a:rPr lang="en-GB">
                <a:solidFill>
                  <a:schemeClr val="lt1"/>
                </a:solidFill>
              </a:rPr>
              <a:t>Definition</a:t>
            </a:r>
            <a:endParaRPr b="1">
              <a:solidFill>
                <a:schemeClr val="lt1"/>
              </a:solidFill>
            </a:endParaRPr>
          </a:p>
        </p:txBody>
      </p:sp>
      <p:sp>
        <p:nvSpPr>
          <p:cNvPr id="7593" name="Google Shape;7593;p427"/>
          <p:cNvSpPr txBox="1"/>
          <p:nvPr/>
        </p:nvSpPr>
        <p:spPr>
          <a:xfrm>
            <a:off x="458289" y="2652301"/>
            <a:ext cx="3858530" cy="2211033"/>
          </a:xfrm>
          <a:prstGeom prst="rect">
            <a:avLst/>
          </a:prstGeom>
          <a:noFill/>
          <a:ln>
            <a:noFill/>
          </a:ln>
        </p:spPr>
        <p:txBody>
          <a:bodyPr anchorCtr="0" anchor="t" bIns="0" lIns="0" spcFirstLastPara="1" rIns="0" wrap="square" tIns="0">
            <a:noAutofit/>
          </a:bodyPr>
          <a:lstStyle/>
          <a:p>
            <a:pPr indent="0" lvl="0" marL="0" marR="0" rtl="0" algn="l">
              <a:lnSpc>
                <a:spcPct val="110000"/>
              </a:lnSpc>
              <a:spcBef>
                <a:spcPts val="0"/>
              </a:spcBef>
              <a:spcAft>
                <a:spcPts val="0"/>
              </a:spcAft>
              <a:buClr>
                <a:srgbClr val="0079DB"/>
              </a:buClr>
              <a:buSzPts val="1800"/>
              <a:buFont typeface="Arial"/>
              <a:buNone/>
            </a:pPr>
            <a:r>
              <a:rPr b="0" lang="en-GB" sz="1800">
                <a:solidFill>
                  <a:srgbClr val="0079DB"/>
                </a:solidFill>
                <a:latin typeface="Century Gothic"/>
                <a:ea typeface="Century Gothic"/>
                <a:cs typeface="Century Gothic"/>
                <a:sym typeface="Century Gothic"/>
              </a:rPr>
              <a:t>Why is it important?</a:t>
            </a:r>
            <a:endParaRPr/>
          </a:p>
          <a:p>
            <a:pPr indent="-169863" lvl="0" marL="169863" marR="0" rtl="0" algn="l">
              <a:lnSpc>
                <a:spcPct val="100000"/>
              </a:lnSpc>
              <a:spcBef>
                <a:spcPts val="5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The range of factors that can negatively impact your business are numerous, diverse, and complex requiring capabilities to mitigate their impact</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Because predictability of performance is generally rewarded by the market</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Digital transformation has enabled increased visibility to many facets of the business but created new vulnerabilities</a:t>
            </a:r>
            <a:endParaRPr/>
          </a:p>
        </p:txBody>
      </p:sp>
      <p:sp>
        <p:nvSpPr>
          <p:cNvPr id="7594" name="Google Shape;7594;p427"/>
          <p:cNvSpPr/>
          <p:nvPr/>
        </p:nvSpPr>
        <p:spPr>
          <a:xfrm>
            <a:off x="0" y="1144565"/>
            <a:ext cx="7205662" cy="1289729"/>
          </a:xfrm>
          <a:prstGeom prst="rect">
            <a:avLst/>
          </a:prstGeom>
          <a:solidFill>
            <a:schemeClr val="dk2"/>
          </a:solidFill>
          <a:ln>
            <a:noFill/>
          </a:ln>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b="1" lang="en-GB" sz="1800">
                <a:solidFill>
                  <a:srgbClr val="FFFFFF"/>
                </a:solidFill>
                <a:latin typeface="Century Gothic"/>
                <a:ea typeface="Century Gothic"/>
                <a:cs typeface="Century Gothic"/>
                <a:sym typeface="Century Gothic"/>
              </a:rPr>
              <a:t>Risk Mitigation &amp; Management </a:t>
            </a:r>
            <a:r>
              <a:rPr lang="en-GB" sz="1600">
                <a:solidFill>
                  <a:srgbClr val="FFFFFF"/>
                </a:solidFill>
                <a:latin typeface="Century Gothic"/>
                <a:ea typeface="Century Gothic"/>
                <a:cs typeface="Century Gothic"/>
                <a:sym typeface="Century Gothic"/>
              </a:rPr>
              <a:t>encompasses the activities involved to limit exposure and uncertainty to an organization’s ability to achieve their strategic objectives.</a:t>
            </a:r>
            <a:endParaRPr sz="1600">
              <a:solidFill>
                <a:srgbClr val="FFFFFF"/>
              </a:solidFill>
              <a:latin typeface="Century Gothic"/>
              <a:ea typeface="Century Gothic"/>
              <a:cs typeface="Century Gothic"/>
              <a:sym typeface="Century Gothic"/>
            </a:endParaRPr>
          </a:p>
        </p:txBody>
      </p:sp>
      <p:sp>
        <p:nvSpPr>
          <p:cNvPr id="7595" name="Google Shape;7595;p427">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20" name="Shape 7620"/>
        <p:cNvGrpSpPr/>
        <p:nvPr/>
      </p:nvGrpSpPr>
      <p:grpSpPr>
        <a:xfrm>
          <a:off x="0" y="0"/>
          <a:ext cx="0" cy="0"/>
          <a:chOff x="0" y="0"/>
          <a:chExt cx="0" cy="0"/>
        </a:xfrm>
      </p:grpSpPr>
      <p:pic>
        <p:nvPicPr>
          <p:cNvPr id="7621" name="Google Shape;7621;p431"/>
          <p:cNvPicPr preferRelativeResize="0"/>
          <p:nvPr/>
        </p:nvPicPr>
        <p:blipFill rotWithShape="1">
          <a:blip r:embed="rId3">
            <a:alphaModFix/>
          </a:blip>
          <a:srcRect b="0" l="0" r="19512" t="0"/>
          <a:stretch/>
        </p:blipFill>
        <p:spPr>
          <a:xfrm>
            <a:off x="5378994" y="0"/>
            <a:ext cx="3765006" cy="5143500"/>
          </a:xfrm>
          <a:prstGeom prst="rect">
            <a:avLst/>
          </a:prstGeom>
          <a:noFill/>
          <a:ln>
            <a:noFill/>
          </a:ln>
        </p:spPr>
      </p:pic>
      <p:sp>
        <p:nvSpPr>
          <p:cNvPr id="7622" name="Google Shape;7622;p431"/>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1" marL="169863" rtl="0" algn="just">
              <a:lnSpc>
                <a:spcPct val="95000"/>
              </a:lnSpc>
              <a:spcBef>
                <a:spcPts val="200"/>
              </a:spcBef>
              <a:spcAft>
                <a:spcPts val="0"/>
              </a:spcAft>
              <a:buClr>
                <a:schemeClr val="dk1"/>
              </a:buClr>
              <a:buSzPts val="1300"/>
              <a:buFont typeface="Arial"/>
              <a:buChar char="•"/>
            </a:pPr>
            <a:r>
              <a:rPr lang="en-GB" sz="1300"/>
              <a:t>Organisations sometimes treat different aspects of Risk Management such as Credit Risk, Fraud and Compliance separately and in siloes from a data and analytical perspective.</a:t>
            </a:r>
            <a:endParaRPr/>
          </a:p>
          <a:p>
            <a:pPr indent="-169863" lvl="1" marL="169863" rtl="0" algn="just">
              <a:lnSpc>
                <a:spcPct val="95000"/>
              </a:lnSpc>
              <a:spcBef>
                <a:spcPts val="600"/>
              </a:spcBef>
              <a:spcAft>
                <a:spcPts val="0"/>
              </a:spcAft>
              <a:buClr>
                <a:schemeClr val="dk1"/>
              </a:buClr>
              <a:buSzPts val="1300"/>
              <a:buFont typeface="Arial"/>
              <a:buChar char="•"/>
            </a:pPr>
            <a:r>
              <a:rPr lang="en-GB" sz="1300"/>
              <a:t>This approach results in duplication and fragmentation of data and analytical infrastructure and often leads to:</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Inaccurate and Inconsistent reporting and analytics.</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Difficulty in delivering and demonstrating high-quality Risk Management reports and data to regulators.</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Longer and more complex projects to deliver new analytical, regulatory and compliance requirements.</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Higher infrastructure, development  and license costs.</a:t>
            </a:r>
            <a:endParaRPr/>
          </a:p>
        </p:txBody>
      </p:sp>
      <p:sp>
        <p:nvSpPr>
          <p:cNvPr id="7623" name="Google Shape;7623;p43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Common Core for Risk Analytics</a:t>
            </a:r>
            <a:br>
              <a:rPr lang="en-GB"/>
            </a:br>
            <a:endParaRPr/>
          </a:p>
        </p:txBody>
      </p:sp>
      <p:sp>
        <p:nvSpPr>
          <p:cNvPr id="7624" name="Google Shape;7624;p431"/>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Data and Analytics are key foundations for all aspects of Risk Management.  Requirements range from basic reporting and BI through to sophisticated statistical , stochastic and machine learning techniques. Many organisations are driving improvements in quality and lower costs by establishing shared capabilities which can support the whole Risk Management organisation.</a:t>
            </a:r>
            <a:endParaRPr/>
          </a:p>
        </p:txBody>
      </p:sp>
      <p:sp>
        <p:nvSpPr>
          <p:cNvPr id="7625" name="Google Shape;7625;p43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95" name="Shape 7695"/>
        <p:cNvGrpSpPr/>
        <p:nvPr/>
      </p:nvGrpSpPr>
      <p:grpSpPr>
        <a:xfrm>
          <a:off x="0" y="0"/>
          <a:ext cx="0" cy="0"/>
          <a:chOff x="0" y="0"/>
          <a:chExt cx="0" cy="0"/>
        </a:xfrm>
      </p:grpSpPr>
      <p:cxnSp>
        <p:nvCxnSpPr>
          <p:cNvPr id="7696" name="Google Shape;7696;p43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697" name="Google Shape;7697;p436"/>
          <p:cNvGraphicFramePr/>
          <p:nvPr/>
        </p:nvGraphicFramePr>
        <p:xfrm>
          <a:off x="225786" y="969874"/>
          <a:ext cx="3000000" cy="3000000"/>
        </p:xfrm>
        <a:graphic>
          <a:graphicData uri="http://schemas.openxmlformats.org/drawingml/2006/table">
            <a:tbl>
              <a:tblPr bandRow="1" firstRow="1">
                <a:noFill/>
                <a:tableStyleId>{D098BFCB-6916-41F2-A2A5-0DF0D5139B6F}</a:tableStyleId>
              </a:tblPr>
              <a:tblGrid>
                <a:gridCol w="4773625"/>
                <a:gridCol w="119000"/>
                <a:gridCol w="36156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06212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Estimate likely losses from risk events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Forecast risk exposure by business lines, customer segments, operational processes most likely to produce risk</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Measure correlation of risk exposures across groups, networks, and entity associations prone to or source of risks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Severity modeling can be applied to financial risks, credit risks, market risks, operational risks, collections, and fraud risks. </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1778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Transactional data / Payment data </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Customer or counterparty demographic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Process data, operational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External data, such as credit bureau / social media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Digital and traditional channel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Risk events and incidents, loss data</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Statistical models to determine forecasts, exposures, magnitudes of losses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Path and Event analysis to unearth sequences, root-causes, and likely outcomes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Network, Graph and Association analysis to determine affinities, relationships, and concentrations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Text and log analysis to unearth sentiment, and patterns from semi-structured data</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Geospatial and location analysis to correlate risk exposures to physical locations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Decision trees and monte-carlo analysis to perform stress tests and risk simulations</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Clear and transparent risk exposure indicators, monitoring of Value-at-Risk (VaR), Exposure at Default (EAD), Loss Given Default (LGD) or equivalent risk measures.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Evidence-based inputs to risk alerts, triggers, and rules for operationalization.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Quantification of risk concentrations within business lines, portfolios, customer segments, business processes.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698" name="Google Shape;7698;p43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Severity Modelling and Analysis</a:t>
            </a:r>
            <a:endParaRPr sz="1600"/>
          </a:p>
        </p:txBody>
      </p:sp>
      <p:sp>
        <p:nvSpPr>
          <p:cNvPr id="7699" name="Google Shape;7699;p4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700" name="Google Shape;7700;p436"/>
          <p:cNvPicPr preferRelativeResize="0"/>
          <p:nvPr/>
        </p:nvPicPr>
        <p:blipFill rotWithShape="1">
          <a:blip r:embed="rId4">
            <a:alphaModFix/>
          </a:blip>
          <a:srcRect b="0" l="0" r="0" t="0"/>
          <a:stretch/>
        </p:blipFill>
        <p:spPr>
          <a:xfrm>
            <a:off x="5517080" y="269125"/>
            <a:ext cx="3447533" cy="2221159"/>
          </a:xfrm>
          <a:prstGeom prst="rect">
            <a:avLst/>
          </a:prstGeom>
          <a:noFill/>
          <a:ln>
            <a:noFill/>
          </a:ln>
        </p:spPr>
      </p:pic>
      <p:grpSp>
        <p:nvGrpSpPr>
          <p:cNvPr id="7701" name="Google Shape;7701;p436"/>
          <p:cNvGrpSpPr/>
          <p:nvPr/>
        </p:nvGrpSpPr>
        <p:grpSpPr>
          <a:xfrm>
            <a:off x="7717533" y="4360377"/>
            <a:ext cx="1058348" cy="347375"/>
            <a:chOff x="7651698" y="4287227"/>
            <a:chExt cx="1058348" cy="347375"/>
          </a:xfrm>
        </p:grpSpPr>
        <p:grpSp>
          <p:nvGrpSpPr>
            <p:cNvPr id="7702" name="Google Shape;7702;p436"/>
            <p:cNvGrpSpPr/>
            <p:nvPr/>
          </p:nvGrpSpPr>
          <p:grpSpPr>
            <a:xfrm>
              <a:off x="7714163" y="4337598"/>
              <a:ext cx="995883" cy="297004"/>
              <a:chOff x="7711013" y="3986494"/>
              <a:chExt cx="995883" cy="297004"/>
            </a:xfrm>
          </p:grpSpPr>
          <p:sp>
            <p:nvSpPr>
              <p:cNvPr id="7703" name="Google Shape;7703;p43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704" name="Google Shape;7704;p436"/>
              <p:cNvGrpSpPr/>
              <p:nvPr/>
            </p:nvGrpSpPr>
            <p:grpSpPr>
              <a:xfrm>
                <a:off x="7711013" y="4002615"/>
                <a:ext cx="281520" cy="241973"/>
                <a:chOff x="5652748" y="4066000"/>
                <a:chExt cx="906498" cy="747974"/>
              </a:xfrm>
            </p:grpSpPr>
            <p:sp>
              <p:nvSpPr>
                <p:cNvPr id="7705" name="Google Shape;7705;p43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706" name="Google Shape;7706;p43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707" name="Google Shape;7707;p43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708" name="Google Shape;7708;p43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27" name="Shape 7727"/>
        <p:cNvGrpSpPr/>
        <p:nvPr/>
      </p:nvGrpSpPr>
      <p:grpSpPr>
        <a:xfrm>
          <a:off x="0" y="0"/>
          <a:ext cx="0" cy="0"/>
          <a:chOff x="0" y="0"/>
          <a:chExt cx="0" cy="0"/>
        </a:xfrm>
      </p:grpSpPr>
      <p:cxnSp>
        <p:nvCxnSpPr>
          <p:cNvPr id="7728" name="Google Shape;7728;p43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729" name="Google Shape;7729;p43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rgbClr val="3C3C3B"/>
                        </a:buClr>
                        <a:buSzPts val="900"/>
                        <a:buFont typeface="Arial"/>
                        <a:buChar char="•"/>
                      </a:pPr>
                      <a:r>
                        <a:rPr b="1" lang="en-GB" sz="900">
                          <a:solidFill>
                            <a:srgbClr val="3C3C3B"/>
                          </a:solidFill>
                        </a:rPr>
                        <a:t>Measure and monitor</a:t>
                      </a:r>
                      <a:r>
                        <a:rPr b="1" lang="en-GB" sz="900">
                          <a:solidFill>
                            <a:srgbClr val="3C3C3B"/>
                          </a:solidFill>
                        </a:rPr>
                        <a:t> the risk associated with insurance policies along with the proper pricing of the associated risk</a:t>
                      </a:r>
                      <a:endParaRPr/>
                    </a:p>
                    <a:p>
                      <a:pPr indent="-171450" lvl="1" marL="628650" marR="0" rtl="0" algn="l">
                        <a:lnSpc>
                          <a:spcPct val="100000"/>
                        </a:lnSpc>
                        <a:spcBef>
                          <a:spcPts val="300"/>
                        </a:spcBef>
                        <a:spcAft>
                          <a:spcPts val="0"/>
                        </a:spcAft>
                        <a:buClr>
                          <a:srgbClr val="3C3C3B"/>
                        </a:buClr>
                        <a:buSzPts val="900"/>
                        <a:buFont typeface="Arial"/>
                        <a:buChar char="•"/>
                      </a:pPr>
                      <a:r>
                        <a:rPr lang="en-GB" sz="900" u="none" cap="none" strike="noStrike">
                          <a:solidFill>
                            <a:srgbClr val="3C3C3B"/>
                          </a:solidFill>
                        </a:rPr>
                        <a:t>Reduction of insurance underwriting risk</a:t>
                      </a:r>
                      <a:endParaRPr sz="900" u="none" cap="none" strike="noStrike">
                        <a:solidFill>
                          <a:srgbClr val="3C3C3B"/>
                        </a:solidFill>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analysis due to changing risk patterns to gain a better understanding of risks and underwriting results</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granular data, consistent geo-coding, and risk overlay visualizations to assess property and other types of risk</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Underwrite new segments of risks, i.e., formerly considered uninsurable</a:t>
                      </a:r>
                      <a:endParaRPr/>
                    </a:p>
                    <a:p>
                      <a:pPr indent="-171450" lvl="1" marL="628650" marR="0" rtl="0" algn="l">
                        <a:spcBef>
                          <a:spcPts val="30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Include</a:t>
                      </a:r>
                      <a:r>
                        <a:rPr lang="en-GB" sz="900" u="none" cap="none" strike="noStrike">
                          <a:solidFill>
                            <a:srgbClr val="FF0000"/>
                          </a:solidFill>
                          <a:latin typeface="Century Gothic"/>
                          <a:ea typeface="Century Gothic"/>
                          <a:cs typeface="Century Gothic"/>
                          <a:sym typeface="Century Gothic"/>
                        </a:rPr>
                        <a:t>  </a:t>
                      </a:r>
                      <a:r>
                        <a:rPr lang="en-GB" sz="900" u="none" cap="none" strike="noStrike">
                          <a:solidFill>
                            <a:schemeClr val="dk1"/>
                          </a:solidFill>
                          <a:latin typeface="Century Gothic"/>
                          <a:ea typeface="Century Gothic"/>
                          <a:cs typeface="Century Gothic"/>
                          <a:sym typeface="Century Gothic"/>
                        </a:rPr>
                        <a:t>accessible Key Performance Indicators (KPIs)  to  empower underwriters including claims metrics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spcBef>
                          <a:spcPts val="0"/>
                        </a:spcBef>
                        <a:spcAft>
                          <a:spcPts val="0"/>
                        </a:spcAft>
                        <a:buClr>
                          <a:srgbClr val="3C3C3B"/>
                        </a:buClr>
                        <a:buSzPts val="900"/>
                        <a:buFont typeface="Arial"/>
                        <a:buChar char="•"/>
                      </a:pPr>
                      <a:r>
                        <a:rPr b="1" lang="en-GB" sz="900">
                          <a:solidFill>
                            <a:srgbClr val="3C3C3B"/>
                          </a:solidFill>
                        </a:rPr>
                        <a:t>Solution Analytics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Reduce-eliminating summarized data use by underwriters &amp; by underwriting models </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Increase use of atomic data for analysis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Leveraging both text and traditional data in analysis work.</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Underwriting access to analytics &amp;I integration with underwriting operational systems. Enable BI solutions</a:t>
                      </a:r>
                      <a:endParaRPr/>
                    </a:p>
                    <a:p>
                      <a:pPr indent="-171450" lvl="0" marL="171450" marR="0" rtl="0" algn="l">
                        <a:spcBef>
                          <a:spcPts val="0"/>
                        </a:spcBef>
                        <a:spcAft>
                          <a:spcPts val="0"/>
                        </a:spcAft>
                        <a:buClr>
                          <a:srgbClr val="3C3C3B"/>
                        </a:buClr>
                        <a:buSzPts val="900"/>
                        <a:buFont typeface="Arial"/>
                        <a:buChar char="•"/>
                      </a:pPr>
                      <a:r>
                        <a:rPr b="1" lang="en-GB" sz="900">
                          <a:solidFill>
                            <a:srgbClr val="3C3C3B"/>
                          </a:solidFill>
                        </a:rPr>
                        <a:t>Data</a:t>
                      </a:r>
                      <a:endParaRPr/>
                    </a:p>
                    <a:p>
                      <a:pPr indent="-171450" lvl="1" marL="628650" marR="0" rtl="0" algn="l">
                        <a:spcBef>
                          <a:spcPts val="0"/>
                        </a:spcBef>
                        <a:spcAft>
                          <a:spcPts val="0"/>
                        </a:spcAft>
                        <a:buClr>
                          <a:srgbClr val="3C3C3B"/>
                        </a:buClr>
                        <a:buSzPts val="900"/>
                        <a:buFont typeface="Arial"/>
                        <a:buChar char="•"/>
                      </a:pPr>
                      <a:r>
                        <a:rPr b="0" lang="en-GB" sz="900" u="none" cap="none" strike="noStrike">
                          <a:solidFill>
                            <a:srgbClr val="3C3C3B"/>
                          </a:solidFill>
                        </a:rPr>
                        <a:t>Underwriting, Actuarial, Claims, Policy, Geospatial, Risk and Unstructured Data including Claims Notes</a:t>
                      </a:r>
                      <a:endParaRPr b="0" sz="900" u="none" cap="none" strike="noStrike">
                        <a:solidFill>
                          <a:srgbClr val="3C3C3B"/>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time to assess risk and other supporting data and metrics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Create better time efficiencies for Underwriters to focus their effort on more value-generating activities</a:t>
                      </a:r>
                      <a:r>
                        <a:rPr lang="en-GB" sz="900">
                          <a:solidFill>
                            <a:srgbClr val="3C3C3B"/>
                          </a:solidFill>
                        </a:rPr>
                        <a:t> </a:t>
                      </a:r>
                      <a:endParaRPr/>
                    </a:p>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The ability to visualize property risk across various risk types (e.g., water, tidal surge, wind, hail, wild fire, sink holes, etc.)</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rPr>
                        <a:t>Enablement of deeper and wider risk analysis through the integration of traditional and big data with advanced analytics</a:t>
                      </a:r>
                      <a:endParaRPr/>
                    </a:p>
                    <a:p>
                      <a:pPr indent="0" lvl="0" marL="0" marR="0" rtl="0" algn="l">
                        <a:lnSpc>
                          <a:spcPct val="100000"/>
                        </a:lnSpc>
                        <a:spcBef>
                          <a:spcPts val="300"/>
                        </a:spcBef>
                        <a:spcAft>
                          <a:spcPts val="0"/>
                        </a:spcAft>
                        <a:buClr>
                          <a:schemeClr val="dk1"/>
                        </a:buClr>
                        <a:buSzPts val="900"/>
                        <a:buFont typeface="Arial"/>
                        <a:buNone/>
                      </a:pPr>
                      <a:r>
                        <a:t/>
                      </a:r>
                      <a:endParaRPr sz="900">
                        <a:solidFill>
                          <a:srgbClr val="3C3C3B"/>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730" name="Google Shape;7730;p438"/>
          <p:cNvSpPr txBox="1"/>
          <p:nvPr>
            <p:ph type="title"/>
          </p:nvPr>
        </p:nvSpPr>
        <p:spPr>
          <a:xfrm>
            <a:off x="381000" y="285750"/>
            <a:ext cx="4284503"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Underwriting</a:t>
            </a:r>
            <a:endParaRPr sz="1600"/>
          </a:p>
        </p:txBody>
      </p:sp>
      <p:sp>
        <p:nvSpPr>
          <p:cNvPr id="7731" name="Google Shape;7731;p4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732" name="Google Shape;7732;p43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733" name="Google Shape;7733;p438"/>
          <p:cNvGrpSpPr/>
          <p:nvPr/>
        </p:nvGrpSpPr>
        <p:grpSpPr>
          <a:xfrm>
            <a:off x="7717533" y="4360377"/>
            <a:ext cx="1058348" cy="347375"/>
            <a:chOff x="7651698" y="4287227"/>
            <a:chExt cx="1058348" cy="347375"/>
          </a:xfrm>
        </p:grpSpPr>
        <p:grpSp>
          <p:nvGrpSpPr>
            <p:cNvPr id="7734" name="Google Shape;7734;p438"/>
            <p:cNvGrpSpPr/>
            <p:nvPr/>
          </p:nvGrpSpPr>
          <p:grpSpPr>
            <a:xfrm>
              <a:off x="7714163" y="4337598"/>
              <a:ext cx="995883" cy="297004"/>
              <a:chOff x="7711013" y="3986494"/>
              <a:chExt cx="995883" cy="297004"/>
            </a:xfrm>
          </p:grpSpPr>
          <p:sp>
            <p:nvSpPr>
              <p:cNvPr id="7735" name="Google Shape;7735;p43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736" name="Google Shape;7736;p438"/>
              <p:cNvGrpSpPr/>
              <p:nvPr/>
            </p:nvGrpSpPr>
            <p:grpSpPr>
              <a:xfrm>
                <a:off x="7711013" y="4002615"/>
                <a:ext cx="281520" cy="241973"/>
                <a:chOff x="5652748" y="4066000"/>
                <a:chExt cx="906498" cy="747974"/>
              </a:xfrm>
            </p:grpSpPr>
            <p:sp>
              <p:nvSpPr>
                <p:cNvPr id="7737" name="Google Shape;7737;p43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738" name="Google Shape;7738;p43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739" name="Google Shape;7739;p43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740" name="Google Shape;7740;p43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59" name="Shape 7759"/>
        <p:cNvGrpSpPr/>
        <p:nvPr/>
      </p:nvGrpSpPr>
      <p:grpSpPr>
        <a:xfrm>
          <a:off x="0" y="0"/>
          <a:ext cx="0" cy="0"/>
          <a:chOff x="0" y="0"/>
          <a:chExt cx="0" cy="0"/>
        </a:xfrm>
      </p:grpSpPr>
      <p:cxnSp>
        <p:nvCxnSpPr>
          <p:cNvPr id="7760" name="Google Shape;7760;p44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761" name="Google Shape;7761;p44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analytic</a:t>
                      </a:r>
                      <a:r>
                        <a:rPr b="1" lang="en-GB" sz="900">
                          <a:solidFill>
                            <a:schemeClr val="dk1"/>
                          </a:solidFill>
                        </a:rPr>
                        <a:t> processes to monitor the appropriate level of capital given desired levels of risk and cost of capital </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Improve the ability to derive appropriate level of capital </a:t>
                      </a:r>
                      <a:r>
                        <a:rPr b="0" lang="en-GB" sz="900">
                          <a:solidFill>
                            <a:schemeClr val="dk1"/>
                          </a:solidFill>
                        </a:rPr>
                        <a:t> from increasingly granular levels of operational details (account, instrument, trade, transaction)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Ability to reconcile between internal and regulatory methodologies for risk exposures</a:t>
                      </a:r>
                      <a:r>
                        <a:rPr b="0" lang="en-GB" sz="900">
                          <a:solidFill>
                            <a:schemeClr val="dk1"/>
                          </a:solidFill>
                        </a:rPr>
                        <a:t> and </a:t>
                      </a:r>
                      <a:r>
                        <a:rPr b="0" lang="en-GB" sz="900">
                          <a:solidFill>
                            <a:schemeClr val="dk1"/>
                          </a:solidFill>
                        </a:rPr>
                        <a:t>capital  management for purposes of increasing transparency and integrity</a:t>
                      </a:r>
                      <a:r>
                        <a:rPr b="0" lang="en-GB" sz="900">
                          <a:solidFill>
                            <a:schemeClr val="dk1"/>
                          </a:solidFill>
                        </a:rPr>
                        <a:t> of resulting analysis and reporting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Seamless reconciliation and transparency between risk reporting/analysis and financial performance reporting/analysis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risk of regulatory scrutiny and/or adverse public disclosure associated with internal process and/or control breaks.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operational risks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Account/Instrument level details &amp;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HR data and Sales &amp; Service (incentives)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GL Organizational hierarchies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execution to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Sensor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Other internal / external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Ensure more accurate levels of appropriate capital  given risk appetite of organization</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Reduce data infrastructure complexity, risk and cost with the integration</a:t>
                      </a:r>
                      <a:r>
                        <a:rPr lang="en-GB" sz="800">
                          <a:solidFill>
                            <a:srgbClr val="3C3C3B"/>
                          </a:solidFill>
                        </a:rPr>
                        <a:t> of data for multiple capital calculations tan can be cross referenced as necessary for integrity and transparency</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762" name="Google Shape;7762;p44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Capital Calculation &amp; Management</a:t>
            </a:r>
            <a:endParaRPr b="1"/>
          </a:p>
        </p:txBody>
      </p:sp>
      <p:sp>
        <p:nvSpPr>
          <p:cNvPr id="7763" name="Google Shape;7763;p4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764" name="Google Shape;7764;p440"/>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765" name="Google Shape;7765;p440"/>
          <p:cNvGrpSpPr/>
          <p:nvPr/>
        </p:nvGrpSpPr>
        <p:grpSpPr>
          <a:xfrm>
            <a:off x="7717533" y="4360377"/>
            <a:ext cx="1058348" cy="347375"/>
            <a:chOff x="7651698" y="4287227"/>
            <a:chExt cx="1058348" cy="347375"/>
          </a:xfrm>
        </p:grpSpPr>
        <p:grpSp>
          <p:nvGrpSpPr>
            <p:cNvPr id="7766" name="Google Shape;7766;p440"/>
            <p:cNvGrpSpPr/>
            <p:nvPr/>
          </p:nvGrpSpPr>
          <p:grpSpPr>
            <a:xfrm>
              <a:off x="7714163" y="4337598"/>
              <a:ext cx="995883" cy="297004"/>
              <a:chOff x="7711013" y="3986494"/>
              <a:chExt cx="995883" cy="297004"/>
            </a:xfrm>
          </p:grpSpPr>
          <p:sp>
            <p:nvSpPr>
              <p:cNvPr id="7767" name="Google Shape;7767;p44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768" name="Google Shape;7768;p440"/>
              <p:cNvGrpSpPr/>
              <p:nvPr/>
            </p:nvGrpSpPr>
            <p:grpSpPr>
              <a:xfrm>
                <a:off x="7711013" y="4002615"/>
                <a:ext cx="281520" cy="241973"/>
                <a:chOff x="5652748" y="4066000"/>
                <a:chExt cx="906498" cy="747974"/>
              </a:xfrm>
            </p:grpSpPr>
            <p:sp>
              <p:nvSpPr>
                <p:cNvPr id="7769" name="Google Shape;7769;p44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770" name="Google Shape;7770;p44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771" name="Google Shape;7771;p44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772" name="Google Shape;7772;p44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91" name="Shape 7791"/>
        <p:cNvGrpSpPr/>
        <p:nvPr/>
      </p:nvGrpSpPr>
      <p:grpSpPr>
        <a:xfrm>
          <a:off x="0" y="0"/>
          <a:ext cx="0" cy="0"/>
          <a:chOff x="0" y="0"/>
          <a:chExt cx="0" cy="0"/>
        </a:xfrm>
      </p:grpSpPr>
      <p:pic>
        <p:nvPicPr>
          <p:cNvPr id="7792" name="Google Shape;7792;p442"/>
          <p:cNvPicPr preferRelativeResize="0"/>
          <p:nvPr/>
        </p:nvPicPr>
        <p:blipFill rotWithShape="1">
          <a:blip r:embed="rId3">
            <a:alphaModFix/>
          </a:blip>
          <a:srcRect b="0" l="0" r="0" t="0"/>
          <a:stretch/>
        </p:blipFill>
        <p:spPr>
          <a:xfrm>
            <a:off x="5648154" y="279312"/>
            <a:ext cx="3316459" cy="2210972"/>
          </a:xfrm>
          <a:prstGeom prst="rect">
            <a:avLst/>
          </a:prstGeom>
          <a:noFill/>
          <a:ln>
            <a:noFill/>
          </a:ln>
        </p:spPr>
      </p:pic>
      <p:cxnSp>
        <p:nvCxnSpPr>
          <p:cNvPr id="7793" name="Google Shape;7793;p44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794" name="Google Shape;7794;p44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The predictive quality of Risk models must continue to be measured and monitored, and enhanced models introduced over time.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An effective and efficient method to manage and evaluate A/B testing, or champion/challenger approach needs to be in place.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The business wants to:</a:t>
                      </a:r>
                      <a:endParaRPr/>
                    </a:p>
                    <a:p>
                      <a:pPr indent="-171450" lvl="1" marL="357188" marR="0" rtl="0" algn="l">
                        <a:lnSpc>
                          <a:spcPct val="100000"/>
                        </a:lnSpc>
                        <a:spcBef>
                          <a:spcPts val="0"/>
                        </a:spcBef>
                        <a:spcAft>
                          <a:spcPts val="0"/>
                        </a:spcAft>
                        <a:buClr>
                          <a:schemeClr val="dk1"/>
                        </a:buClr>
                        <a:buSzPts val="900"/>
                        <a:buFont typeface="Century Gothic"/>
                        <a:buChar char="−"/>
                      </a:pPr>
                      <a:r>
                        <a:rPr b="0" lang="en-GB" sz="900" u="none" cap="none" strike="noStrike">
                          <a:solidFill>
                            <a:schemeClr val="dk1"/>
                          </a:solidFill>
                          <a:latin typeface="Century Gothic"/>
                          <a:ea typeface="Century Gothic"/>
                          <a:cs typeface="Century Gothic"/>
                          <a:sym typeface="Century Gothic"/>
                        </a:rPr>
                        <a:t>Maximise the quality of Risk Models</a:t>
                      </a:r>
                      <a:endParaRPr/>
                    </a:p>
                    <a:p>
                      <a:pPr indent="-171450" lvl="1" marL="357188" marR="0" rtl="0" algn="l">
                        <a:lnSpc>
                          <a:spcPct val="100000"/>
                        </a:lnSpc>
                        <a:spcBef>
                          <a:spcPts val="0"/>
                        </a:spcBef>
                        <a:spcAft>
                          <a:spcPts val="0"/>
                        </a:spcAft>
                        <a:buClr>
                          <a:schemeClr val="dk1"/>
                        </a:buClr>
                        <a:buSzPts val="900"/>
                        <a:buFont typeface="Century Gothic"/>
                        <a:buChar char="−"/>
                      </a:pPr>
                      <a:r>
                        <a:rPr b="0" lang="en-GB" sz="900" u="none" cap="none" strike="noStrike">
                          <a:solidFill>
                            <a:schemeClr val="dk1"/>
                          </a:solidFill>
                          <a:latin typeface="Century Gothic"/>
                          <a:ea typeface="Century Gothic"/>
                          <a:cs typeface="Century Gothic"/>
                          <a:sym typeface="Century Gothic"/>
                        </a:rPr>
                        <a:t>Perform A/B testing and deployment of new models as efficiently as possible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Wide range of input variables that could be “features” of the executed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Model results and results on each features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Data repository supporting all required data for analytical models</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rPr>
                        <a:t>Predictive Models in integrated model development/deployment environment</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Comprehensive model reporting using BI/reporting toolset</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rPr>
                        <a:t>Model evaluation and validation methods</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Workflow functionality</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Automated deployment mechanism to promote the dominant model into Production</a:t>
                      </a:r>
                      <a:endParaRPr sz="85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 testing is integrated with the model development and deployment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manual effort and lower costs through greater  automation of A/B testing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Higher-quality Risk Models in place, with greater predictive quality and lower model risk</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795" name="Google Shape;7795;p44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A/B Test / Champion Challenger</a:t>
            </a:r>
            <a:endParaRPr sz="1600"/>
          </a:p>
        </p:txBody>
      </p:sp>
      <p:sp>
        <p:nvSpPr>
          <p:cNvPr id="7796" name="Google Shape;7796;p442">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grpSp>
        <p:nvGrpSpPr>
          <p:cNvPr id="7797" name="Google Shape;7797;p442"/>
          <p:cNvGrpSpPr/>
          <p:nvPr/>
        </p:nvGrpSpPr>
        <p:grpSpPr>
          <a:xfrm>
            <a:off x="7717533" y="4360377"/>
            <a:ext cx="1058348" cy="347375"/>
            <a:chOff x="7651698" y="4287227"/>
            <a:chExt cx="1058348" cy="347375"/>
          </a:xfrm>
        </p:grpSpPr>
        <p:grpSp>
          <p:nvGrpSpPr>
            <p:cNvPr id="7798" name="Google Shape;7798;p442"/>
            <p:cNvGrpSpPr/>
            <p:nvPr/>
          </p:nvGrpSpPr>
          <p:grpSpPr>
            <a:xfrm>
              <a:off x="7714163" y="4337598"/>
              <a:ext cx="995883" cy="297004"/>
              <a:chOff x="7711013" y="3986494"/>
              <a:chExt cx="995883" cy="297004"/>
            </a:xfrm>
          </p:grpSpPr>
          <p:sp>
            <p:nvSpPr>
              <p:cNvPr id="7799" name="Google Shape;7799;p44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00" name="Google Shape;7800;p442"/>
              <p:cNvGrpSpPr/>
              <p:nvPr/>
            </p:nvGrpSpPr>
            <p:grpSpPr>
              <a:xfrm>
                <a:off x="7711013" y="4002615"/>
                <a:ext cx="281520" cy="241973"/>
                <a:chOff x="5652748" y="4066000"/>
                <a:chExt cx="906498" cy="747974"/>
              </a:xfrm>
            </p:grpSpPr>
            <p:sp>
              <p:nvSpPr>
                <p:cNvPr id="7801" name="Google Shape;7801;p44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02" name="Google Shape;7802;p44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03" name="Google Shape;7803;p44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804" name="Google Shape;7804;p44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23" name="Shape 7823"/>
        <p:cNvGrpSpPr/>
        <p:nvPr/>
      </p:nvGrpSpPr>
      <p:grpSpPr>
        <a:xfrm>
          <a:off x="0" y="0"/>
          <a:ext cx="0" cy="0"/>
          <a:chOff x="0" y="0"/>
          <a:chExt cx="0" cy="0"/>
        </a:xfrm>
      </p:grpSpPr>
      <p:pic>
        <p:nvPicPr>
          <p:cNvPr descr="C:\Users\WG185011\Downloads\RS256_FIN-1012-H-scr.jpg" id="7824" name="Google Shape;7824;p444"/>
          <p:cNvPicPr preferRelativeResize="0"/>
          <p:nvPr/>
        </p:nvPicPr>
        <p:blipFill rotWithShape="1">
          <a:blip r:embed="rId3">
            <a:alphaModFix/>
          </a:blip>
          <a:srcRect b="0" l="0" r="0" t="0"/>
          <a:stretch/>
        </p:blipFill>
        <p:spPr>
          <a:xfrm>
            <a:off x="4892421" y="266700"/>
            <a:ext cx="3569208" cy="2438400"/>
          </a:xfrm>
          <a:prstGeom prst="rect">
            <a:avLst/>
          </a:prstGeom>
          <a:noFill/>
          <a:ln>
            <a:noFill/>
          </a:ln>
        </p:spPr>
      </p:pic>
      <p:cxnSp>
        <p:nvCxnSpPr>
          <p:cNvPr id="7825" name="Google Shape;7825;p44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826" name="Google Shape;7826;p444"/>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000000"/>
                        </a:buClr>
                        <a:buSzPts val="900"/>
                        <a:buFont typeface="Arial"/>
                        <a:buNone/>
                      </a:pPr>
                      <a:r>
                        <a:rPr b="1" i="0" lang="en-GB" sz="900" u="none" cap="none" strike="noStrike">
                          <a:solidFill>
                            <a:srgbClr val="000000"/>
                          </a:solidFill>
                          <a:latin typeface="Century Gothic"/>
                          <a:ea typeface="Century Gothic"/>
                          <a:cs typeface="Century Gothic"/>
                          <a:sym typeface="Century Gothic"/>
                        </a:rPr>
                        <a:t>Efficient and controlled deployment of models/scores/algorithms/flags and rules onto production environment </a:t>
                      </a:r>
                      <a:endParaRPr/>
                    </a:p>
                    <a:p>
                      <a:pPr indent="-171450" lvl="0" marL="171450" marR="0" rtl="0" algn="l">
                        <a:lnSpc>
                          <a:spcPct val="100000"/>
                        </a:lnSpc>
                        <a:spcBef>
                          <a:spcPts val="0"/>
                        </a:spcBef>
                        <a:spcAft>
                          <a:spcPts val="0"/>
                        </a:spcAft>
                        <a:buClr>
                          <a:srgbClr val="000000"/>
                        </a:buClr>
                        <a:buSzPts val="900"/>
                        <a:buFont typeface="Arial"/>
                        <a:buChar char="•"/>
                      </a:pPr>
                      <a:r>
                        <a:rPr b="0" i="0" lang="en-GB" sz="900" u="none" cap="none" strike="noStrike">
                          <a:solidFill>
                            <a:srgbClr val="000000"/>
                          </a:solidFill>
                          <a:latin typeface="Century Gothic"/>
                          <a:ea typeface="Century Gothic"/>
                          <a:cs typeface="Century Gothic"/>
                          <a:sym typeface="Century Gothic"/>
                        </a:rPr>
                        <a:t>Minimize code conversion and detuning</a:t>
                      </a:r>
                      <a:endParaRPr/>
                    </a:p>
                    <a:p>
                      <a:pPr indent="-171450" lvl="0" marL="171450" marR="0" rtl="0" algn="l">
                        <a:lnSpc>
                          <a:spcPct val="100000"/>
                        </a:lnSpc>
                        <a:spcBef>
                          <a:spcPts val="0"/>
                        </a:spcBef>
                        <a:spcAft>
                          <a:spcPts val="0"/>
                        </a:spcAft>
                        <a:buClr>
                          <a:srgbClr val="000000"/>
                        </a:buClr>
                        <a:buSzPts val="900"/>
                        <a:buFont typeface="Arial"/>
                        <a:buChar char="•"/>
                      </a:pPr>
                      <a:r>
                        <a:rPr b="0" i="0" lang="en-GB" sz="900" u="none" cap="none" strike="noStrike">
                          <a:solidFill>
                            <a:srgbClr val="000000"/>
                          </a:solidFill>
                          <a:latin typeface="Century Gothic"/>
                          <a:ea typeface="Century Gothic"/>
                          <a:cs typeface="Century Gothic"/>
                          <a:sym typeface="Century Gothic"/>
                        </a:rPr>
                        <a:t>Wider development subset of model characteristics can be considered</a:t>
                      </a:r>
                      <a:endParaRPr/>
                    </a:p>
                    <a:p>
                      <a:pPr indent="-171450" lvl="0" marL="171450" marR="0" rtl="0" algn="l">
                        <a:lnSpc>
                          <a:spcPct val="100000"/>
                        </a:lnSpc>
                        <a:spcBef>
                          <a:spcPts val="0"/>
                        </a:spcBef>
                        <a:spcAft>
                          <a:spcPts val="0"/>
                        </a:spcAft>
                        <a:buClr>
                          <a:srgbClr val="000000"/>
                        </a:buClr>
                        <a:buSzPts val="900"/>
                        <a:buFont typeface="Arial"/>
                        <a:buChar char="•"/>
                      </a:pPr>
                      <a:r>
                        <a:rPr b="0" i="0" lang="en-GB" sz="900" u="none" cap="none" strike="noStrike">
                          <a:solidFill>
                            <a:srgbClr val="000000"/>
                          </a:solidFill>
                          <a:latin typeface="Century Gothic"/>
                          <a:ea typeface="Century Gothic"/>
                          <a:cs typeface="Century Gothic"/>
                          <a:sym typeface="Century Gothic"/>
                        </a:rPr>
                        <a:t>Value proposition is improved models, deployed sooner, safer and with a more rapid feedback loop</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 demographic &amp; behavioral 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Traditional models and additional data from the widest candidate set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Classified transaction data – multi-level interactions on full data samples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Using tools to generate analytics datasets for statistical regression and to promote model directly into life without detuning or recoding algorithm</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Developing and deploying model inside integrated warehouse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Development/deployment of models on warehouse allows stronger models with wider range of characteristics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Having in-database scorecard calculation could save time and improve data quality for model development</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 the competitive capability of the bank to have quick reaction to regulatory requirement and market threats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Stronger models will provide more value, lower</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losses, lower capital, enhanced</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regulatory status</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827" name="Google Shape;7827;p44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Model Deployment &amp; </a:t>
            </a:r>
            <a:br>
              <a:rPr lang="en-GB"/>
            </a:br>
            <a:r>
              <a:rPr lang="en-GB"/>
              <a:t>Operationalization </a:t>
            </a:r>
            <a:endParaRPr sz="1600"/>
          </a:p>
        </p:txBody>
      </p:sp>
      <p:sp>
        <p:nvSpPr>
          <p:cNvPr id="7828" name="Google Shape;7828;p44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grpSp>
        <p:nvGrpSpPr>
          <p:cNvPr id="7829" name="Google Shape;7829;p444"/>
          <p:cNvGrpSpPr/>
          <p:nvPr/>
        </p:nvGrpSpPr>
        <p:grpSpPr>
          <a:xfrm>
            <a:off x="7717533" y="4360377"/>
            <a:ext cx="1058348" cy="347375"/>
            <a:chOff x="7651698" y="4287227"/>
            <a:chExt cx="1058348" cy="347375"/>
          </a:xfrm>
        </p:grpSpPr>
        <p:grpSp>
          <p:nvGrpSpPr>
            <p:cNvPr id="7830" name="Google Shape;7830;p444"/>
            <p:cNvGrpSpPr/>
            <p:nvPr/>
          </p:nvGrpSpPr>
          <p:grpSpPr>
            <a:xfrm>
              <a:off x="7714163" y="4337598"/>
              <a:ext cx="995883" cy="297004"/>
              <a:chOff x="7711013" y="3986494"/>
              <a:chExt cx="995883" cy="297004"/>
            </a:xfrm>
          </p:grpSpPr>
          <p:sp>
            <p:nvSpPr>
              <p:cNvPr id="7831" name="Google Shape;7831;p44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32" name="Google Shape;7832;p444"/>
              <p:cNvGrpSpPr/>
              <p:nvPr/>
            </p:nvGrpSpPr>
            <p:grpSpPr>
              <a:xfrm>
                <a:off x="7711013" y="4002615"/>
                <a:ext cx="281520" cy="241973"/>
                <a:chOff x="5652748" y="4066000"/>
                <a:chExt cx="906498" cy="747974"/>
              </a:xfrm>
            </p:grpSpPr>
            <p:sp>
              <p:nvSpPr>
                <p:cNvPr id="7833" name="Google Shape;7833;p44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34" name="Google Shape;7834;p44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35" name="Google Shape;7835;p44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836" name="Google Shape;7836;p44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55" name="Shape 7855"/>
        <p:cNvGrpSpPr/>
        <p:nvPr/>
      </p:nvGrpSpPr>
      <p:grpSpPr>
        <a:xfrm>
          <a:off x="0" y="0"/>
          <a:ext cx="0" cy="0"/>
          <a:chOff x="0" y="0"/>
          <a:chExt cx="0" cy="0"/>
        </a:xfrm>
      </p:grpSpPr>
      <p:cxnSp>
        <p:nvCxnSpPr>
          <p:cNvPr id="7856" name="Google Shape;7856;p44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857" name="Google Shape;7857;p446"/>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evaluate the effectiveness of business, marketing, acquisitions or growth strategy designed for specific product line;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monitor and evaluate the acceptance rate for certain business product;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validate a risk scoring model performance under appropriate process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This applies to score-driven decision strategies or semi-automated decision rules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Data captured from application system after each customer’s data being processed;</a:t>
                      </a:r>
                      <a:endParaRPr/>
                    </a:p>
                    <a:p>
                      <a:pPr indent="-122238" lvl="0" marL="179388" marR="0" rtl="0" algn="l">
                        <a:lnSpc>
                          <a:spcPct val="100000"/>
                        </a:lnSpc>
                        <a:spcBef>
                          <a:spcPts val="0"/>
                        </a:spcBef>
                        <a:spcAft>
                          <a:spcPts val="0"/>
                        </a:spcAft>
                        <a:buClr>
                          <a:schemeClr val="dk1"/>
                        </a:buClr>
                        <a:buSzPts val="900"/>
                        <a:buFont typeface="Arial"/>
                        <a:buNone/>
                      </a:pPr>
                      <a:r>
                        <a:t/>
                      </a:r>
                      <a:endParaRPr b="1"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Champion/Challenger testing for the same set of strategy under specific product process flow;</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Regular monitoring for each specific product process flow as per the following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Population stability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Characteristic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Vintage analysis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Override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Acceptance rate report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provide feedback about the efficiency of the strategy designed;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improve the acceptance rate with acceptable risk appetite;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validate the scorecard performance at the same time;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help the bank maximize the profit while improve the capability of competing with others in a given short period of time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858" name="Google Shape;7858;p44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 Reward Strategy Optimization</a:t>
            </a:r>
            <a:endParaRPr sz="1600"/>
          </a:p>
        </p:txBody>
      </p:sp>
      <p:sp>
        <p:nvSpPr>
          <p:cNvPr id="7859" name="Google Shape;7859;p44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860" name="Google Shape;7860;p446"/>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861" name="Google Shape;7861;p446"/>
          <p:cNvGrpSpPr/>
          <p:nvPr/>
        </p:nvGrpSpPr>
        <p:grpSpPr>
          <a:xfrm>
            <a:off x="7717533" y="4360377"/>
            <a:ext cx="1058348" cy="347375"/>
            <a:chOff x="7651698" y="4287227"/>
            <a:chExt cx="1058348" cy="347375"/>
          </a:xfrm>
        </p:grpSpPr>
        <p:grpSp>
          <p:nvGrpSpPr>
            <p:cNvPr id="7862" name="Google Shape;7862;p446"/>
            <p:cNvGrpSpPr/>
            <p:nvPr/>
          </p:nvGrpSpPr>
          <p:grpSpPr>
            <a:xfrm>
              <a:off x="7714163" y="4337598"/>
              <a:ext cx="995883" cy="297004"/>
              <a:chOff x="7711013" y="3986494"/>
              <a:chExt cx="995883" cy="297004"/>
            </a:xfrm>
          </p:grpSpPr>
          <p:sp>
            <p:nvSpPr>
              <p:cNvPr id="7863" name="Google Shape;7863;p44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64" name="Google Shape;7864;p446"/>
              <p:cNvGrpSpPr/>
              <p:nvPr/>
            </p:nvGrpSpPr>
            <p:grpSpPr>
              <a:xfrm>
                <a:off x="7711013" y="4002615"/>
                <a:ext cx="281520" cy="241973"/>
                <a:chOff x="5652748" y="4066000"/>
                <a:chExt cx="906498" cy="747974"/>
              </a:xfrm>
            </p:grpSpPr>
            <p:sp>
              <p:nvSpPr>
                <p:cNvPr id="7865" name="Google Shape;7865;p44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66" name="Google Shape;7866;p44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67" name="Google Shape;7867;p44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868" name="Google Shape;7868;p44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87" name="Shape 7887"/>
        <p:cNvGrpSpPr/>
        <p:nvPr/>
      </p:nvGrpSpPr>
      <p:grpSpPr>
        <a:xfrm>
          <a:off x="0" y="0"/>
          <a:ext cx="0" cy="0"/>
          <a:chOff x="0" y="0"/>
          <a:chExt cx="0" cy="0"/>
        </a:xfrm>
      </p:grpSpPr>
      <p:cxnSp>
        <p:nvCxnSpPr>
          <p:cNvPr id="7888" name="Google Shape;7888;p44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889" name="Google Shape;7889;p448"/>
          <p:cNvGraphicFramePr/>
          <p:nvPr/>
        </p:nvGraphicFramePr>
        <p:xfrm>
          <a:off x="414000" y="821661"/>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Monitor and analyze risk models to ensure they are sufficiently identifying risks, with reporting functions and reviewing processes. Typically generated reports are: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Population stability report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Characteristics analysis report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Final score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Override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Backend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Delinquency distribution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Vintage analysis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Model gain chart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Simulation report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Attribute characteristics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Customer/account behavior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Performance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Model output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ERP or core banking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To be gathered in a single source for further analysis</a:t>
                      </a:r>
                      <a:endParaRPr/>
                    </a:p>
                    <a:p>
                      <a:pPr indent="0" lvl="0" marL="0" marR="0" rtl="0" algn="l">
                        <a:lnSpc>
                          <a:spcPct val="100000"/>
                        </a:lnSpc>
                        <a:spcBef>
                          <a:spcPts val="0"/>
                        </a:spcBef>
                        <a:spcAft>
                          <a:spcPts val="0"/>
                        </a:spcAft>
                        <a:buClr>
                          <a:schemeClr val="dk1"/>
                        </a:buClr>
                        <a:buSzPts val="900"/>
                        <a:buFont typeface="Arial"/>
                        <a:buNone/>
                      </a:pPr>
                      <a:r>
                        <a:t/>
                      </a:r>
                      <a:endParaRPr b="1"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Population and characteristic shifts analysis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Score and performance correlation analysis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Gain chart – ROC curve and Gini coefficient/KS value.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Vintage analysis for credit risk scoring models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Model performance periodically monitored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Possible causes of model performance degradation identified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Models constantly updated with proper feedback information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890" name="Google Shape;7890;p44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Model Performance Reporting and </a:t>
            </a:r>
            <a:br>
              <a:rPr lang="en-GB"/>
            </a:br>
            <a:r>
              <a:rPr lang="en-GB"/>
              <a:t>Analysis</a:t>
            </a:r>
            <a:endParaRPr sz="1600"/>
          </a:p>
        </p:txBody>
      </p:sp>
      <p:sp>
        <p:nvSpPr>
          <p:cNvPr id="7891" name="Google Shape;7891;p4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892" name="Google Shape;7892;p44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893" name="Google Shape;7893;p448"/>
          <p:cNvGrpSpPr/>
          <p:nvPr/>
        </p:nvGrpSpPr>
        <p:grpSpPr>
          <a:xfrm>
            <a:off x="7717533" y="4360377"/>
            <a:ext cx="1058348" cy="347375"/>
            <a:chOff x="7651698" y="4287227"/>
            <a:chExt cx="1058348" cy="347375"/>
          </a:xfrm>
        </p:grpSpPr>
        <p:grpSp>
          <p:nvGrpSpPr>
            <p:cNvPr id="7894" name="Google Shape;7894;p448"/>
            <p:cNvGrpSpPr/>
            <p:nvPr/>
          </p:nvGrpSpPr>
          <p:grpSpPr>
            <a:xfrm>
              <a:off x="7714163" y="4337598"/>
              <a:ext cx="995883" cy="297004"/>
              <a:chOff x="7711013" y="3986494"/>
              <a:chExt cx="995883" cy="297004"/>
            </a:xfrm>
          </p:grpSpPr>
          <p:sp>
            <p:nvSpPr>
              <p:cNvPr id="7895" name="Google Shape;7895;p44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96" name="Google Shape;7896;p448"/>
              <p:cNvGrpSpPr/>
              <p:nvPr/>
            </p:nvGrpSpPr>
            <p:grpSpPr>
              <a:xfrm>
                <a:off x="7711013" y="4002615"/>
                <a:ext cx="281520" cy="241973"/>
                <a:chOff x="5652748" y="4066000"/>
                <a:chExt cx="906498" cy="747974"/>
              </a:xfrm>
            </p:grpSpPr>
            <p:sp>
              <p:nvSpPr>
                <p:cNvPr id="7897" name="Google Shape;7897;p44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98" name="Google Shape;7898;p44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99" name="Google Shape;7899;p44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900" name="Google Shape;7900;p44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19" name="Shape 7919"/>
        <p:cNvGrpSpPr/>
        <p:nvPr/>
      </p:nvGrpSpPr>
      <p:grpSpPr>
        <a:xfrm>
          <a:off x="0" y="0"/>
          <a:ext cx="0" cy="0"/>
          <a:chOff x="0" y="0"/>
          <a:chExt cx="0" cy="0"/>
        </a:xfrm>
      </p:grpSpPr>
      <p:pic>
        <p:nvPicPr>
          <p:cNvPr id="7920" name="Google Shape;7920;p450"/>
          <p:cNvPicPr preferRelativeResize="0"/>
          <p:nvPr/>
        </p:nvPicPr>
        <p:blipFill rotWithShape="1">
          <a:blip r:embed="rId3">
            <a:alphaModFix/>
          </a:blip>
          <a:srcRect b="10942" l="0" r="0" t="0"/>
          <a:stretch/>
        </p:blipFill>
        <p:spPr>
          <a:xfrm>
            <a:off x="5648154" y="279313"/>
            <a:ext cx="3316459" cy="2210972"/>
          </a:xfrm>
          <a:prstGeom prst="rect">
            <a:avLst/>
          </a:prstGeom>
          <a:noFill/>
          <a:ln>
            <a:noFill/>
          </a:ln>
        </p:spPr>
      </p:pic>
      <p:cxnSp>
        <p:nvCxnSpPr>
          <p:cNvPr id="7921" name="Google Shape;7921;p45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922" name="Google Shape;7922;p45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850"/>
                        <a:buFont typeface="Arial"/>
                        <a:buChar char="•"/>
                      </a:pPr>
                      <a:r>
                        <a:rPr lang="en-GB" sz="850"/>
                        <a:t>Scenario analysis</a:t>
                      </a:r>
                      <a:r>
                        <a:rPr lang="en-GB" sz="850"/>
                        <a:t> and </a:t>
                      </a:r>
                      <a:r>
                        <a:rPr lang="en-GB" sz="850"/>
                        <a:t>Stress testing are vital parts of best practice Risk and Capital Management.</a:t>
                      </a:r>
                      <a:endParaRPr b="0" sz="85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They focus on understanding the impact of unlikely but not impossible events, allow companies to understand the risks they face under extreme conditions. </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The business wants to:</a:t>
                      </a:r>
                      <a:endParaRPr/>
                    </a:p>
                    <a:p>
                      <a:pPr indent="-171450" lvl="1" marL="357188" marR="0" rtl="0" algn="l">
                        <a:lnSpc>
                          <a:spcPct val="100000"/>
                        </a:lnSpc>
                        <a:spcBef>
                          <a:spcPts val="0"/>
                        </a:spcBef>
                        <a:spcAft>
                          <a:spcPts val="0"/>
                        </a:spcAft>
                        <a:buClr>
                          <a:schemeClr val="dk1"/>
                        </a:buClr>
                        <a:buSzPts val="850"/>
                        <a:buFont typeface="Century Gothic"/>
                        <a:buChar char="−"/>
                      </a:pPr>
                      <a:r>
                        <a:rPr b="0" lang="en-GB" sz="850" u="none" cap="none" strike="noStrike">
                          <a:solidFill>
                            <a:schemeClr val="dk1"/>
                          </a:solidFill>
                          <a:latin typeface="Century Gothic"/>
                          <a:ea typeface="Century Gothic"/>
                          <a:cs typeface="Century Gothic"/>
                          <a:sym typeface="Century Gothic"/>
                        </a:rPr>
                        <a:t>Ensure that management have the best information on potential high-impact or catastrophic risk scenarios in order to support strategic, risk policy and risk mitigation decisions.</a:t>
                      </a:r>
                      <a:endParaRPr/>
                    </a:p>
                    <a:p>
                      <a:pPr indent="-171450" lvl="1" marL="357188" marR="0" rtl="0" algn="l">
                        <a:lnSpc>
                          <a:spcPct val="100000"/>
                        </a:lnSpc>
                        <a:spcBef>
                          <a:spcPts val="0"/>
                        </a:spcBef>
                        <a:spcAft>
                          <a:spcPts val="0"/>
                        </a:spcAft>
                        <a:buClr>
                          <a:schemeClr val="dk1"/>
                        </a:buClr>
                        <a:buSzPts val="850"/>
                        <a:buFont typeface="Century Gothic"/>
                        <a:buChar char="−"/>
                      </a:pPr>
                      <a:r>
                        <a:rPr b="0" lang="en-GB" sz="850" u="none" cap="none" strike="noStrike">
                          <a:solidFill>
                            <a:schemeClr val="dk1"/>
                          </a:solidFill>
                          <a:latin typeface="Century Gothic"/>
                          <a:ea typeface="Century Gothic"/>
                          <a:cs typeface="Century Gothic"/>
                          <a:sym typeface="Century Gothic"/>
                        </a:rPr>
                        <a:t>Ensure compliance with required regulatory scenario and stress testing requirements</a:t>
                      </a:r>
                      <a:endParaRPr/>
                    </a:p>
                    <a:p>
                      <a:pPr indent="-171450" lvl="1" marL="357188" marR="0" rtl="0" algn="l">
                        <a:lnSpc>
                          <a:spcPct val="100000"/>
                        </a:lnSpc>
                        <a:spcBef>
                          <a:spcPts val="0"/>
                        </a:spcBef>
                        <a:spcAft>
                          <a:spcPts val="0"/>
                        </a:spcAft>
                        <a:buClr>
                          <a:schemeClr val="dk1"/>
                        </a:buClr>
                        <a:buSzPts val="850"/>
                        <a:buFont typeface="Century Gothic"/>
                        <a:buChar char="−"/>
                      </a:pPr>
                      <a:r>
                        <a:rPr lang="en-GB" sz="850" u="none" cap="none" strike="noStrike"/>
                        <a:t>Perform Scenario analysis and Stress testing </a:t>
                      </a:r>
                      <a:r>
                        <a:rPr b="0" lang="en-GB" sz="850" u="none" cap="none" strike="noStrike">
                          <a:solidFill>
                            <a:schemeClr val="dk1"/>
                          </a:solidFill>
                          <a:latin typeface="Century Gothic"/>
                          <a:ea typeface="Century Gothic"/>
                          <a:cs typeface="Century Gothic"/>
                          <a:sym typeface="Century Gothic"/>
                        </a:rPr>
                        <a:t>as efficiently as possible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Wide range of input variables required for Risk and Capital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Economic and other forecast data / business rules to support production of stressed input data sets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Scenario / Stress Test model results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Data repository supporting all required data for analytical models and stressed data set production.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model development/deployment environment supporting range of statistical and stochastic tools.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Comprehensive model reporting using BI/reporting toolset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Workflow functionality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manage high-impact risks and provide evidence to regulators and other stakeholders.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Scenario analysis and Stress testing is integrated with the model development and deployment processes, and utilises common data for improved quality and accuracy.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 Reduced manual effort and lower costs through greater  automation of Scenario analysis and Stress testing processes.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923" name="Google Shape;7923;p45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Scenario and Stress Test</a:t>
            </a:r>
            <a:endParaRPr sz="1600"/>
          </a:p>
        </p:txBody>
      </p:sp>
      <p:sp>
        <p:nvSpPr>
          <p:cNvPr id="7924" name="Google Shape;7924;p450">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grpSp>
        <p:nvGrpSpPr>
          <p:cNvPr id="7925" name="Google Shape;7925;p450"/>
          <p:cNvGrpSpPr/>
          <p:nvPr/>
        </p:nvGrpSpPr>
        <p:grpSpPr>
          <a:xfrm>
            <a:off x="7717533" y="4360377"/>
            <a:ext cx="1058348" cy="347375"/>
            <a:chOff x="7651698" y="4287227"/>
            <a:chExt cx="1058348" cy="347375"/>
          </a:xfrm>
        </p:grpSpPr>
        <p:grpSp>
          <p:nvGrpSpPr>
            <p:cNvPr id="7926" name="Google Shape;7926;p450"/>
            <p:cNvGrpSpPr/>
            <p:nvPr/>
          </p:nvGrpSpPr>
          <p:grpSpPr>
            <a:xfrm>
              <a:off x="7714163" y="4337598"/>
              <a:ext cx="995883" cy="297004"/>
              <a:chOff x="7711013" y="3986494"/>
              <a:chExt cx="995883" cy="297004"/>
            </a:xfrm>
          </p:grpSpPr>
          <p:sp>
            <p:nvSpPr>
              <p:cNvPr id="7927" name="Google Shape;7927;p45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928" name="Google Shape;7928;p450"/>
              <p:cNvGrpSpPr/>
              <p:nvPr/>
            </p:nvGrpSpPr>
            <p:grpSpPr>
              <a:xfrm>
                <a:off x="7711013" y="4002615"/>
                <a:ext cx="281520" cy="241973"/>
                <a:chOff x="5652748" y="4066000"/>
                <a:chExt cx="906498" cy="747974"/>
              </a:xfrm>
            </p:grpSpPr>
            <p:sp>
              <p:nvSpPr>
                <p:cNvPr id="7929" name="Google Shape;7929;p4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930" name="Google Shape;7930;p4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931" name="Google Shape;7931;p4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932" name="Google Shape;7932;p45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50" name="Shape 7950"/>
        <p:cNvGrpSpPr/>
        <p:nvPr/>
      </p:nvGrpSpPr>
      <p:grpSpPr>
        <a:xfrm>
          <a:off x="0" y="0"/>
          <a:ext cx="0" cy="0"/>
          <a:chOff x="0" y="0"/>
          <a:chExt cx="0" cy="0"/>
        </a:xfrm>
      </p:grpSpPr>
      <p:sp>
        <p:nvSpPr>
          <p:cNvPr id="7951" name="Google Shape;7951;p452"/>
          <p:cNvSpPr txBox="1"/>
          <p:nvPr>
            <p:ph idx="1" type="body"/>
          </p:nvPr>
        </p:nvSpPr>
        <p:spPr>
          <a:xfrm>
            <a:off x="455485" y="2047538"/>
            <a:ext cx="4662784" cy="2964729"/>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600"/>
              <a:buNone/>
            </a:pPr>
            <a:r>
              <a:rPr lang="en-GB" sz="1600">
                <a:solidFill>
                  <a:srgbClr val="0079DB"/>
                </a:solidFill>
              </a:rPr>
              <a:t>Why is it important?</a:t>
            </a:r>
            <a:endParaRPr b="1" sz="1600">
              <a:solidFill>
                <a:schemeClr val="accent1"/>
              </a:solidFill>
            </a:endParaRPr>
          </a:p>
          <a:p>
            <a:pPr indent="-169863" lvl="0" marL="169863" rtl="0" algn="just">
              <a:lnSpc>
                <a:spcPct val="95000"/>
              </a:lnSpc>
              <a:spcBef>
                <a:spcPts val="200"/>
              </a:spcBef>
              <a:spcAft>
                <a:spcPts val="0"/>
              </a:spcAft>
              <a:buClr>
                <a:schemeClr val="dk1"/>
              </a:buClr>
              <a:buSzPts val="1200"/>
              <a:buChar char="•"/>
            </a:pPr>
            <a:r>
              <a:rPr lang="en-GB" sz="1200"/>
              <a:t>Credit risk management is a core competency across the banking and capital markets industries and increasingly important for any industry needing to measure credit exposure.</a:t>
            </a:r>
            <a:endParaRPr/>
          </a:p>
          <a:p>
            <a:pPr indent="-169863" lvl="0" marL="169863" rtl="0" algn="just">
              <a:lnSpc>
                <a:spcPct val="95000"/>
              </a:lnSpc>
              <a:spcBef>
                <a:spcPts val="600"/>
              </a:spcBef>
              <a:spcAft>
                <a:spcPts val="0"/>
              </a:spcAft>
              <a:buClr>
                <a:schemeClr val="dk1"/>
              </a:buClr>
              <a:buSzPts val="1200"/>
              <a:buChar char="•"/>
            </a:pPr>
            <a:r>
              <a:rPr lang="en-GB" sz="1200"/>
              <a:t>Understanding credit risk is key to setting interest rates for the borrower or issuer which is the lender's or investor's reward for assuming credit risk.</a:t>
            </a:r>
            <a:endParaRPr/>
          </a:p>
          <a:p>
            <a:pPr indent="-169863" lvl="0" marL="169863" rtl="0" algn="just">
              <a:lnSpc>
                <a:spcPct val="95000"/>
              </a:lnSpc>
              <a:spcBef>
                <a:spcPts val="600"/>
              </a:spcBef>
              <a:spcAft>
                <a:spcPts val="0"/>
              </a:spcAft>
              <a:buClr>
                <a:schemeClr val="dk1"/>
              </a:buClr>
              <a:buSzPts val="1200"/>
              <a:buChar char="•"/>
            </a:pPr>
            <a:r>
              <a:rPr lang="en-GB" sz="1200"/>
              <a:t>Financial institutions are required to maintain adequate reserves to ensure orderly market operations during times of extreme market stress. More capital held in reserve means less capital deployed in revenue generating activity.</a:t>
            </a:r>
            <a:endParaRPr sz="1200"/>
          </a:p>
          <a:p>
            <a:pPr indent="-169863" lvl="0" marL="169863" rtl="0" algn="just">
              <a:lnSpc>
                <a:spcPct val="95000"/>
              </a:lnSpc>
              <a:spcBef>
                <a:spcPts val="600"/>
              </a:spcBef>
              <a:spcAft>
                <a:spcPts val="0"/>
              </a:spcAft>
              <a:buClr>
                <a:schemeClr val="dk1"/>
              </a:buClr>
              <a:buSzPts val="1200"/>
              <a:buChar char="•"/>
            </a:pPr>
            <a:r>
              <a:rPr lang="en-GB" sz="1200"/>
              <a:t>Regulators require that bank’s have thorough knowledge of customers and their associated credit risk. </a:t>
            </a:r>
            <a:endParaRPr sz="1200"/>
          </a:p>
        </p:txBody>
      </p:sp>
      <p:sp>
        <p:nvSpPr>
          <p:cNvPr id="7952" name="Google Shape;7952;p452"/>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Risk</a:t>
            </a:r>
            <a:br>
              <a:rPr lang="en-GB"/>
            </a:br>
            <a:endParaRPr/>
          </a:p>
        </p:txBody>
      </p:sp>
      <p:sp>
        <p:nvSpPr>
          <p:cNvPr id="7953" name="Google Shape;7953;p452"/>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Credit risk refers to the risk that a borrower may not repay a loan and that the lender may lose the principal of the loan or the interest associated with it. Credit risk management, meanwhile, is the practice of mitigating those losses by understanding the adequacy of both a firm’s capital and loan loss reserves at any given time.</a:t>
            </a:r>
            <a:endParaRPr b="0" i="0" sz="1400" u="none" cap="none" strike="noStrike">
              <a:solidFill>
                <a:srgbClr val="FFFFFF"/>
              </a:solidFill>
              <a:latin typeface="Century Gothic"/>
              <a:ea typeface="Century Gothic"/>
              <a:cs typeface="Century Gothic"/>
              <a:sym typeface="Century Gothic"/>
            </a:endParaRPr>
          </a:p>
        </p:txBody>
      </p:sp>
      <p:sp>
        <p:nvSpPr>
          <p:cNvPr id="7954" name="Google Shape;7954;p45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69" name="Shape 7969"/>
        <p:cNvGrpSpPr/>
        <p:nvPr/>
      </p:nvGrpSpPr>
      <p:grpSpPr>
        <a:xfrm>
          <a:off x="0" y="0"/>
          <a:ext cx="0" cy="0"/>
          <a:chOff x="0" y="0"/>
          <a:chExt cx="0" cy="0"/>
        </a:xfrm>
      </p:grpSpPr>
      <p:cxnSp>
        <p:nvCxnSpPr>
          <p:cNvPr id="7970" name="Google Shape;7970;p45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971" name="Google Shape;7971;p454"/>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Understand risk bearing capacity as a basis for all risk appetite considerations.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risk appetite and operationalize it down to target portfolio structure level</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Integrate risk appetite into overall risk/bank management scheme</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Detailed account/position/agreement data,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 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Collateral 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Rating data</a:t>
                      </a:r>
                      <a:endParaRPr b="1"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Calculate risk bearing capacity</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target portfolio structure, broken down to portfolio and business unit level</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and calculate KPIs used for measurement (volumes, RWA, CVaR, expected shortfall, etc.)</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Aggregate to portfolio level</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Measure and monitor/manage limit utilization and risk strategy execution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Risk bearing capacity defined and calculated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Optimal risk appetite under risk return considerations defined and operationalized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Target portfolio structure derived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972" name="Google Shape;7972;p45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Risk Appetite</a:t>
            </a:r>
            <a:endParaRPr sz="1600"/>
          </a:p>
        </p:txBody>
      </p:sp>
      <p:sp>
        <p:nvSpPr>
          <p:cNvPr id="7973" name="Google Shape;7973;p45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7974" name="Google Shape;7974;p454"/>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7975" name="Google Shape;7975;p454"/>
          <p:cNvGrpSpPr/>
          <p:nvPr/>
        </p:nvGrpSpPr>
        <p:grpSpPr>
          <a:xfrm>
            <a:off x="7717533" y="4360377"/>
            <a:ext cx="1058348" cy="347375"/>
            <a:chOff x="7651698" y="4287227"/>
            <a:chExt cx="1058348" cy="347375"/>
          </a:xfrm>
        </p:grpSpPr>
        <p:grpSp>
          <p:nvGrpSpPr>
            <p:cNvPr id="7976" name="Google Shape;7976;p454"/>
            <p:cNvGrpSpPr/>
            <p:nvPr/>
          </p:nvGrpSpPr>
          <p:grpSpPr>
            <a:xfrm>
              <a:off x="7714163" y="4337598"/>
              <a:ext cx="995883" cy="297004"/>
              <a:chOff x="7711013" y="3986494"/>
              <a:chExt cx="995883" cy="297004"/>
            </a:xfrm>
          </p:grpSpPr>
          <p:sp>
            <p:nvSpPr>
              <p:cNvPr id="7977" name="Google Shape;7977;p45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978" name="Google Shape;7978;p454"/>
              <p:cNvGrpSpPr/>
              <p:nvPr/>
            </p:nvGrpSpPr>
            <p:grpSpPr>
              <a:xfrm>
                <a:off x="7711013" y="4002615"/>
                <a:ext cx="281520" cy="241973"/>
                <a:chOff x="5652748" y="4066000"/>
                <a:chExt cx="906498" cy="747974"/>
              </a:xfrm>
            </p:grpSpPr>
            <p:sp>
              <p:nvSpPr>
                <p:cNvPr id="7979" name="Google Shape;7979;p45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980" name="Google Shape;7980;p45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981" name="Google Shape;7981;p45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982" name="Google Shape;7982;p45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01" name="Shape 8001"/>
        <p:cNvGrpSpPr/>
        <p:nvPr/>
      </p:nvGrpSpPr>
      <p:grpSpPr>
        <a:xfrm>
          <a:off x="0" y="0"/>
          <a:ext cx="0" cy="0"/>
          <a:chOff x="0" y="0"/>
          <a:chExt cx="0" cy="0"/>
        </a:xfrm>
      </p:grpSpPr>
      <p:cxnSp>
        <p:nvCxnSpPr>
          <p:cNvPr id="8002" name="Google Shape;8002;p45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03" name="Google Shape;8003;p456"/>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Understand transactional behaviour to better identify risks and opportunities within portfolios.</a:t>
                      </a:r>
                      <a:endParaRPr/>
                    </a:p>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Determine improving or deteriorating risk behaviour through analysis of spending patterns. Event detection of atypical spending patterns to trigger customer communications or interventions.</a:t>
                      </a:r>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Full transactional history with detailed payment records including payment type, beneficiary account details, beneficiary names, payment reference details, merchant codes, location, currency, Date, Time</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Comprehensive transaction reference library with business focused taxonomy and automated monitoring of coverage</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Classify transactions by “type”, to identify potentially risky or fraudulent patterns.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Flag potential collusion or fraud network behavior through cross-firing or inter-account transfers. </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Flag payments to “high risk” beneficiaries to execute intervention strategy.</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Identify potential job loss, pay-day lending, gambling etc.</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Customer level spending summaries by Category, Merchant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Deliver higher response rates from campaigns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Lower cost per response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Improved ROI from more effective spend of marketing budgets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Higher analyst productivity</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More accurate targeting improves customer experience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004" name="Google Shape;8004;p45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Pre-Default Analytics</a:t>
            </a:r>
            <a:endParaRPr sz="1600"/>
          </a:p>
        </p:txBody>
      </p:sp>
      <p:sp>
        <p:nvSpPr>
          <p:cNvPr id="8005" name="Google Shape;8005;p45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8006" name="Google Shape;8006;p456"/>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007" name="Google Shape;8007;p456"/>
          <p:cNvGrpSpPr/>
          <p:nvPr/>
        </p:nvGrpSpPr>
        <p:grpSpPr>
          <a:xfrm>
            <a:off x="7717533" y="4360377"/>
            <a:ext cx="1058348" cy="347375"/>
            <a:chOff x="7651698" y="4287227"/>
            <a:chExt cx="1058348" cy="347375"/>
          </a:xfrm>
        </p:grpSpPr>
        <p:grpSp>
          <p:nvGrpSpPr>
            <p:cNvPr id="8008" name="Google Shape;8008;p456"/>
            <p:cNvGrpSpPr/>
            <p:nvPr/>
          </p:nvGrpSpPr>
          <p:grpSpPr>
            <a:xfrm>
              <a:off x="7714163" y="4337598"/>
              <a:ext cx="995883" cy="297004"/>
              <a:chOff x="7711013" y="3986494"/>
              <a:chExt cx="995883" cy="297004"/>
            </a:xfrm>
          </p:grpSpPr>
          <p:sp>
            <p:nvSpPr>
              <p:cNvPr id="8009" name="Google Shape;8009;p45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010" name="Google Shape;8010;p456"/>
              <p:cNvGrpSpPr/>
              <p:nvPr/>
            </p:nvGrpSpPr>
            <p:grpSpPr>
              <a:xfrm>
                <a:off x="7711013" y="4002615"/>
                <a:ext cx="281520" cy="241973"/>
                <a:chOff x="5652748" y="4066000"/>
                <a:chExt cx="906498" cy="747974"/>
              </a:xfrm>
            </p:grpSpPr>
            <p:sp>
              <p:nvSpPr>
                <p:cNvPr id="8011" name="Google Shape;8011;p45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012" name="Google Shape;8012;p45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013" name="Google Shape;8013;p45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014" name="Google Shape;8014;p45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33" name="Shape 8033"/>
        <p:cNvGrpSpPr/>
        <p:nvPr/>
      </p:nvGrpSpPr>
      <p:grpSpPr>
        <a:xfrm>
          <a:off x="0" y="0"/>
          <a:ext cx="0" cy="0"/>
          <a:chOff x="0" y="0"/>
          <a:chExt cx="0" cy="0"/>
        </a:xfrm>
      </p:grpSpPr>
      <p:cxnSp>
        <p:nvCxnSpPr>
          <p:cNvPr id="8034" name="Google Shape;8034;p45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35" name="Google Shape;8035;p458"/>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Decide proper risk based pricing for various customers / credit products </a:t>
                      </a:r>
                      <a:r>
                        <a:rPr b="0" i="0" lang="en-GB" sz="900" u="none" cap="none" strike="noStrike">
                          <a:solidFill>
                            <a:srgbClr val="3C3C3B"/>
                          </a:solidFill>
                          <a:latin typeface="Century Gothic"/>
                          <a:ea typeface="Century Gothic"/>
                          <a:cs typeface="Century Gothic"/>
                          <a:sym typeface="Century Gothic"/>
                        </a:rPr>
                        <a:t>to improve the following: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Additional margins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Capital cost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Risk cost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Unit cost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Funding cost</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Historical transactional data / Payment data </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Demographic data / application information</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External data, such as credit bureau, / social media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Digital channel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Marketing, FTP &amp; market pricing data</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Regression Models,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Clustering / decision trees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Advanced analytics – interactions, paths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What-if / sensitivity/elasticity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Match loss rate to loan pricing – taking into account revenue, early repayment and elasticity of risk behaviors (positive/adverse selection) vis-a-vis offered price.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Customized credit product offers – improved profitability.</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Feeds into more accurate/holistic RAROC Modeling.</a:t>
                      </a:r>
                      <a:endParaRPr b="0" i="0" sz="900" u="none" cap="none" strike="noStrike">
                        <a:solidFill>
                          <a:srgbClr val="00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036" name="Google Shape;8036;p45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Risk-Based Pricing and Valuation</a:t>
            </a:r>
            <a:endParaRPr sz="1600"/>
          </a:p>
        </p:txBody>
      </p:sp>
      <p:sp>
        <p:nvSpPr>
          <p:cNvPr id="8037" name="Google Shape;8037;p45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8038" name="Google Shape;8038;p458"/>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039" name="Google Shape;8039;p458"/>
          <p:cNvGrpSpPr/>
          <p:nvPr/>
        </p:nvGrpSpPr>
        <p:grpSpPr>
          <a:xfrm>
            <a:off x="7717533" y="4360377"/>
            <a:ext cx="1058348" cy="347375"/>
            <a:chOff x="7651698" y="4287227"/>
            <a:chExt cx="1058348" cy="347375"/>
          </a:xfrm>
        </p:grpSpPr>
        <p:grpSp>
          <p:nvGrpSpPr>
            <p:cNvPr id="8040" name="Google Shape;8040;p458"/>
            <p:cNvGrpSpPr/>
            <p:nvPr/>
          </p:nvGrpSpPr>
          <p:grpSpPr>
            <a:xfrm>
              <a:off x="7714163" y="4337598"/>
              <a:ext cx="995883" cy="297004"/>
              <a:chOff x="7711013" y="3986494"/>
              <a:chExt cx="995883" cy="297004"/>
            </a:xfrm>
          </p:grpSpPr>
          <p:sp>
            <p:nvSpPr>
              <p:cNvPr id="8041" name="Google Shape;8041;p45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042" name="Google Shape;8042;p458"/>
              <p:cNvGrpSpPr/>
              <p:nvPr/>
            </p:nvGrpSpPr>
            <p:grpSpPr>
              <a:xfrm>
                <a:off x="7711013" y="4002615"/>
                <a:ext cx="281520" cy="241973"/>
                <a:chOff x="5652748" y="4066000"/>
                <a:chExt cx="906498" cy="747974"/>
              </a:xfrm>
            </p:grpSpPr>
            <p:sp>
              <p:nvSpPr>
                <p:cNvPr id="8043" name="Google Shape;8043;p45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044" name="Google Shape;8044;p45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045" name="Google Shape;8045;p45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046" name="Google Shape;8046;p45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65" name="Shape 8065"/>
        <p:cNvGrpSpPr/>
        <p:nvPr/>
      </p:nvGrpSpPr>
      <p:grpSpPr>
        <a:xfrm>
          <a:off x="0" y="0"/>
          <a:ext cx="0" cy="0"/>
          <a:chOff x="0" y="0"/>
          <a:chExt cx="0" cy="0"/>
        </a:xfrm>
      </p:grpSpPr>
      <p:cxnSp>
        <p:nvCxnSpPr>
          <p:cNvPr id="8066" name="Google Shape;8066;p46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67" name="Google Shape;8067;p460"/>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1"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Objectives: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Actively manage credit risks centrally (credit treasury unit) to optimize risk return profile</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Use credit derivatives and securitizations to transfer risks from or to external parties (capital market)</a:t>
                      </a:r>
                      <a:endParaRPr/>
                    </a:p>
                    <a:p>
                      <a:pPr indent="-114300" lvl="1"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1"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Challenges: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Credit investment style (buy-and-hold vs trading) and organizational set up (service or profit center)</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Transfer pricing (for acceptance of risk)  and incentive structure (to avoid moral hazard)</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Increased data quality requirements (e.g. required by rating agencies) for portfolio mobilization (e.g. in securitization programs)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Detailed agreement/deal data (balances, maturities, terms and conditions) customer, collateral, rating data</a:t>
                      </a:r>
                      <a:endParaRPr/>
                    </a:p>
                    <a:p>
                      <a:pPr indent="-120650" lvl="0" marL="171450" marR="0" rtl="0" algn="l">
                        <a:lnSpc>
                          <a:spcPct val="100000"/>
                        </a:lnSpc>
                        <a:spcBef>
                          <a:spcPts val="0"/>
                        </a:spcBef>
                        <a:spcAft>
                          <a:spcPts val="0"/>
                        </a:spcAft>
                        <a:buClr>
                          <a:schemeClr val="dk1"/>
                        </a:buClr>
                        <a:buSzPts val="800"/>
                        <a:buFont typeface="Arial"/>
                        <a:buNone/>
                      </a:pPr>
                      <a:r>
                        <a:t/>
                      </a:r>
                      <a:endParaRPr b="0" i="0" sz="8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Use integrated data warehouse to hold integrated set of granular data to easily slice and calculate any desired portfolio metrics </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Deploy Portfolio models - purchased or proprietary developments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Actively management of credit portfolios can help to overcome the conflict between specialization (regional constraints, industry focus) and diversification and help to optimize the bank‘s risk return profile</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Active use of CT instruments can help to maintain customer relations and even increase credit engagements without  taking concentration risks or violating limits (originate to sell)</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068" name="Google Shape;8068;p46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Portfolio Management</a:t>
            </a:r>
            <a:endParaRPr sz="1600"/>
          </a:p>
        </p:txBody>
      </p:sp>
      <p:sp>
        <p:nvSpPr>
          <p:cNvPr id="8069" name="Google Shape;8069;p46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8070" name="Google Shape;8070;p460"/>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071" name="Google Shape;8071;p460"/>
          <p:cNvGrpSpPr/>
          <p:nvPr/>
        </p:nvGrpSpPr>
        <p:grpSpPr>
          <a:xfrm>
            <a:off x="7717533" y="4360377"/>
            <a:ext cx="1058348" cy="347375"/>
            <a:chOff x="7651698" y="4287227"/>
            <a:chExt cx="1058348" cy="347375"/>
          </a:xfrm>
        </p:grpSpPr>
        <p:grpSp>
          <p:nvGrpSpPr>
            <p:cNvPr id="8072" name="Google Shape;8072;p460"/>
            <p:cNvGrpSpPr/>
            <p:nvPr/>
          </p:nvGrpSpPr>
          <p:grpSpPr>
            <a:xfrm>
              <a:off x="7714163" y="4337598"/>
              <a:ext cx="995883" cy="297004"/>
              <a:chOff x="7711013" y="3986494"/>
              <a:chExt cx="995883" cy="297004"/>
            </a:xfrm>
          </p:grpSpPr>
          <p:sp>
            <p:nvSpPr>
              <p:cNvPr id="8073" name="Google Shape;8073;p46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074" name="Google Shape;8074;p460"/>
              <p:cNvGrpSpPr/>
              <p:nvPr/>
            </p:nvGrpSpPr>
            <p:grpSpPr>
              <a:xfrm>
                <a:off x="7711013" y="4002615"/>
                <a:ext cx="281520" cy="241973"/>
                <a:chOff x="5652748" y="4066000"/>
                <a:chExt cx="906498" cy="747974"/>
              </a:xfrm>
            </p:grpSpPr>
            <p:sp>
              <p:nvSpPr>
                <p:cNvPr id="8075" name="Google Shape;8075;p46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076" name="Google Shape;8076;p46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077" name="Google Shape;8077;p46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078" name="Google Shape;8078;p46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97" name="Shape 8097"/>
        <p:cNvGrpSpPr/>
        <p:nvPr/>
      </p:nvGrpSpPr>
      <p:grpSpPr>
        <a:xfrm>
          <a:off x="0" y="0"/>
          <a:ext cx="0" cy="0"/>
          <a:chOff x="0" y="0"/>
          <a:chExt cx="0" cy="0"/>
        </a:xfrm>
      </p:grpSpPr>
      <p:cxnSp>
        <p:nvCxnSpPr>
          <p:cNvPr id="8098" name="Google Shape;8098;p462"/>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99" name="Google Shape;8099;p462"/>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100" name="Google Shape;8100;p462"/>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New Business Market Intelligence and Reporting</a:t>
            </a:r>
            <a:endParaRPr b="1"/>
          </a:p>
        </p:txBody>
      </p:sp>
      <p:sp>
        <p:nvSpPr>
          <p:cNvPr id="8101" name="Google Shape;8101;p46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grpSp>
        <p:nvGrpSpPr>
          <p:cNvPr id="8102" name="Google Shape;8102;p462"/>
          <p:cNvGrpSpPr/>
          <p:nvPr/>
        </p:nvGrpSpPr>
        <p:grpSpPr>
          <a:xfrm>
            <a:off x="7717533" y="4360377"/>
            <a:ext cx="1058348" cy="347375"/>
            <a:chOff x="7651698" y="4287227"/>
            <a:chExt cx="1058348" cy="347375"/>
          </a:xfrm>
        </p:grpSpPr>
        <p:grpSp>
          <p:nvGrpSpPr>
            <p:cNvPr id="8103" name="Google Shape;8103;p462"/>
            <p:cNvGrpSpPr/>
            <p:nvPr/>
          </p:nvGrpSpPr>
          <p:grpSpPr>
            <a:xfrm>
              <a:off x="7714163" y="4337598"/>
              <a:ext cx="995883" cy="297004"/>
              <a:chOff x="7711013" y="3986494"/>
              <a:chExt cx="995883" cy="297004"/>
            </a:xfrm>
          </p:grpSpPr>
          <p:sp>
            <p:nvSpPr>
              <p:cNvPr id="8104" name="Google Shape;8104;p46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105" name="Google Shape;8105;p462"/>
              <p:cNvGrpSpPr/>
              <p:nvPr/>
            </p:nvGrpSpPr>
            <p:grpSpPr>
              <a:xfrm>
                <a:off x="7711013" y="4002615"/>
                <a:ext cx="281520" cy="241973"/>
                <a:chOff x="5652748" y="4066000"/>
                <a:chExt cx="906498" cy="747974"/>
              </a:xfrm>
            </p:grpSpPr>
            <p:sp>
              <p:nvSpPr>
                <p:cNvPr id="8106" name="Google Shape;8106;p46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107" name="Google Shape;8107;p46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108" name="Google Shape;8108;p46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109" name="Google Shape;8109;p46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27" name="Shape 8127"/>
        <p:cNvGrpSpPr/>
        <p:nvPr/>
      </p:nvGrpSpPr>
      <p:grpSpPr>
        <a:xfrm>
          <a:off x="0" y="0"/>
          <a:ext cx="0" cy="0"/>
          <a:chOff x="0" y="0"/>
          <a:chExt cx="0" cy="0"/>
        </a:xfrm>
      </p:grpSpPr>
      <p:sp>
        <p:nvSpPr>
          <p:cNvPr id="8128" name="Google Shape;8128;p464"/>
          <p:cNvSpPr txBox="1"/>
          <p:nvPr>
            <p:ph idx="1" type="body"/>
          </p:nvPr>
        </p:nvSpPr>
        <p:spPr>
          <a:xfrm>
            <a:off x="350402" y="1200150"/>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Market risk is a core competency across the regulated banking and capital markets industries and increasingly important for any industry needing to measure economic capital exposure.</a:t>
            </a:r>
            <a:endParaRPr/>
          </a:p>
          <a:p>
            <a:pPr indent="-169863" lvl="0" marL="169863" rtl="0" algn="l">
              <a:lnSpc>
                <a:spcPct val="110000"/>
              </a:lnSpc>
              <a:spcBef>
                <a:spcPts val="800"/>
              </a:spcBef>
              <a:spcAft>
                <a:spcPts val="0"/>
              </a:spcAft>
              <a:buClr>
                <a:schemeClr val="dk1"/>
              </a:buClr>
              <a:buSzPts val="1100"/>
              <a:buChar char="•"/>
            </a:pPr>
            <a:r>
              <a:rPr lang="en-GB" sz="1100"/>
              <a:t>Financial institutions are required to maintain adequate capital reserves to ensure orderly market operations during times of extreme market stress.</a:t>
            </a:r>
            <a:endParaRPr/>
          </a:p>
          <a:p>
            <a:pPr indent="-169863" lvl="0" marL="169863" rtl="0" algn="l">
              <a:lnSpc>
                <a:spcPct val="110000"/>
              </a:lnSpc>
              <a:spcBef>
                <a:spcPts val="800"/>
              </a:spcBef>
              <a:spcAft>
                <a:spcPts val="0"/>
              </a:spcAft>
              <a:buClr>
                <a:schemeClr val="dk1"/>
              </a:buClr>
              <a:buSzPts val="1100"/>
              <a:buChar char="•"/>
            </a:pPr>
            <a:r>
              <a:rPr lang="en-GB" sz="1100"/>
              <a:t>More capital held in reserve means less capital deployed in revenue generating activity resulting in negative impact on Return on Equity (RoE) – a critical performance metric for FI’s.</a:t>
            </a:r>
            <a:endParaRPr/>
          </a:p>
          <a:p>
            <a:pPr indent="-169863" lvl="0" marL="169863" rtl="0" algn="l">
              <a:lnSpc>
                <a:spcPct val="110000"/>
              </a:lnSpc>
              <a:spcBef>
                <a:spcPts val="800"/>
              </a:spcBef>
              <a:spcAft>
                <a:spcPts val="0"/>
              </a:spcAft>
              <a:buClr>
                <a:schemeClr val="dk1"/>
              </a:buClr>
              <a:buSzPts val="1100"/>
              <a:buChar char="•"/>
            </a:pPr>
            <a:r>
              <a:rPr lang="en-GB" sz="1100"/>
              <a:t>Value at Risk (or VAR) and “Sensitivities” based upon historical simulation have been the primary measure of market risk for regulatory reporting and setting trading desk risk limits.</a:t>
            </a:r>
            <a:endParaRPr/>
          </a:p>
          <a:p>
            <a:pPr indent="-169863" lvl="0" marL="169863" rtl="0" algn="l">
              <a:lnSpc>
                <a:spcPct val="110000"/>
              </a:lnSpc>
              <a:spcBef>
                <a:spcPts val="800"/>
              </a:spcBef>
              <a:spcAft>
                <a:spcPts val="0"/>
              </a:spcAft>
              <a:buClr>
                <a:schemeClr val="dk1"/>
              </a:buClr>
              <a:buSzPts val="1100"/>
              <a:buChar char="•"/>
            </a:pPr>
            <a:r>
              <a:rPr lang="en-GB" sz="1100"/>
              <a:t>The 2007/8 financial crisis exposed several weaknesses in long-established market risk practices, in particular, the inability to adequately account for severe market disruptions (“tail risks”).</a:t>
            </a:r>
            <a:endParaRPr/>
          </a:p>
        </p:txBody>
      </p:sp>
      <p:sp>
        <p:nvSpPr>
          <p:cNvPr id="8129" name="Google Shape;8129;p464"/>
          <p:cNvSpPr txBox="1"/>
          <p:nvPr>
            <p:ph type="title"/>
          </p:nvPr>
        </p:nvSpPr>
        <p:spPr>
          <a:xfrm>
            <a:off x="173080" y="57150"/>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 Risk</a:t>
            </a:r>
            <a:endParaRPr/>
          </a:p>
        </p:txBody>
      </p:sp>
      <p:pic>
        <p:nvPicPr>
          <p:cNvPr descr="iStock_000055909600_Full.jpg" id="8130" name="Google Shape;8130;p464"/>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8131" name="Google Shape;8131;p464"/>
          <p:cNvSpPr/>
          <p:nvPr/>
        </p:nvSpPr>
        <p:spPr>
          <a:xfrm>
            <a:off x="76200" y="342899"/>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Market risk is defined as the sensitivity of a financial institution’s earnings or the economic value of its capital to adverse changes in interest rates, foreign exchange rates, commodity prices or equity prices.  Other risk categories include credit, liquidity and operational risks.  </a:t>
            </a:r>
            <a:endParaRPr/>
          </a:p>
        </p:txBody>
      </p:sp>
      <p:sp>
        <p:nvSpPr>
          <p:cNvPr id="8132" name="Google Shape;8132;p46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62" name="Shape 8162"/>
        <p:cNvGrpSpPr/>
        <p:nvPr/>
      </p:nvGrpSpPr>
      <p:grpSpPr>
        <a:xfrm>
          <a:off x="0" y="0"/>
          <a:ext cx="0" cy="0"/>
          <a:chOff x="0" y="0"/>
          <a:chExt cx="0" cy="0"/>
        </a:xfrm>
      </p:grpSpPr>
      <p:cxnSp>
        <p:nvCxnSpPr>
          <p:cNvPr id="8163" name="Google Shape;8163;p466"/>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164" name="Google Shape;8164;p466"/>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Understand risk bearing capacity as a basis for all</a:t>
                      </a:r>
                      <a:r>
                        <a:rPr b="1" lang="en-GB" sz="900">
                          <a:solidFill>
                            <a:schemeClr val="dk1"/>
                          </a:solidFill>
                        </a:rPr>
                        <a:t> risk appetite considerations.</a:t>
                      </a:r>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rPr>
                        <a:t>Define risk appetite and operationalize it down to target portfolio structure level</a:t>
                      </a:r>
                      <a:endParaRPr sz="900">
                        <a:solidFill>
                          <a:schemeClr val="dk1"/>
                        </a:solidFill>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Integrate risk appetite into overall risk/bank management scheme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0" lvl="0" marL="0" marR="0" rtl="0" algn="l">
                        <a:spcBef>
                          <a:spcPts val="0"/>
                        </a:spcBef>
                        <a:spcAft>
                          <a:spcPts val="0"/>
                        </a:spcAft>
                        <a:buNone/>
                      </a:pPr>
                      <a:r>
                        <a:rPr lang="en-GB" sz="900">
                          <a:solidFill>
                            <a:schemeClr val="dk1"/>
                          </a:solidFill>
                        </a:rPr>
                        <a:t>Detailed</a:t>
                      </a:r>
                      <a:r>
                        <a:rPr lang="en-GB" sz="900">
                          <a:solidFill>
                            <a:schemeClr val="dk1"/>
                          </a:solidFill>
                        </a:rPr>
                        <a:t> account/position/agreement data, customer data, collateral data, rating data</a:t>
                      </a:r>
                      <a:endParaRPr b="1" sz="900">
                        <a:solidFill>
                          <a:schemeClr val="dk1"/>
                        </a:solidFill>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400"/>
                        </a:spcBef>
                        <a:spcAft>
                          <a:spcPts val="0"/>
                        </a:spcAft>
                        <a:buClr>
                          <a:schemeClr val="dk1"/>
                        </a:buClr>
                        <a:buSzPts val="900"/>
                        <a:buFont typeface="Arial"/>
                        <a:buChar char="•"/>
                      </a:pPr>
                      <a:r>
                        <a:rPr lang="en-GB" sz="900">
                          <a:solidFill>
                            <a:schemeClr val="dk1"/>
                          </a:solidFill>
                        </a:rPr>
                        <a:t>Calculate risk bearing capacity</a:t>
                      </a:r>
                      <a:endParaRPr/>
                    </a:p>
                    <a:p>
                      <a:pPr indent="-171450" lvl="0" marL="171450" marR="0" rtl="0" algn="l">
                        <a:lnSpc>
                          <a:spcPct val="100000"/>
                        </a:lnSpc>
                        <a:spcBef>
                          <a:spcPts val="400"/>
                        </a:spcBef>
                        <a:spcAft>
                          <a:spcPts val="0"/>
                        </a:spcAft>
                        <a:buClr>
                          <a:schemeClr val="dk1"/>
                        </a:buClr>
                        <a:buSzPts val="900"/>
                        <a:buFont typeface="Arial"/>
                        <a:buChar char="•"/>
                      </a:pPr>
                      <a:r>
                        <a:rPr lang="en-GB" sz="900">
                          <a:solidFill>
                            <a:schemeClr val="dk1"/>
                          </a:solidFill>
                        </a:rPr>
                        <a:t>Define target portfolio structure,</a:t>
                      </a:r>
                      <a:r>
                        <a:rPr lang="en-GB" sz="900">
                          <a:solidFill>
                            <a:schemeClr val="dk1"/>
                          </a:solidFill>
                        </a:rPr>
                        <a:t> broken down to portfolio and business unit level</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rPr>
                        <a:t>Define and</a:t>
                      </a:r>
                      <a:r>
                        <a:rPr lang="en-GB" sz="900">
                          <a:solidFill>
                            <a:schemeClr val="dk1"/>
                          </a:solidFill>
                        </a:rPr>
                        <a:t> calculate KPIs used for measurement </a:t>
                      </a:r>
                      <a:r>
                        <a:rPr lang="en-GB" sz="900">
                          <a:solidFill>
                            <a:schemeClr val="dk1"/>
                          </a:solidFill>
                          <a:latin typeface="Century Gothic"/>
                          <a:ea typeface="Century Gothic"/>
                          <a:cs typeface="Century Gothic"/>
                          <a:sym typeface="Century Gothic"/>
                        </a:rPr>
                        <a:t>(volumes, RWA, “Stressed VaR”, expected shortfall etc)</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Aggregate to portfolio level</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and monitor/manage limit utilization and risk strategy execution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bearing capacity defined and calculated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Optimal risk appetite under risk return considerations defined and operationalized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Target portfolio structure derived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165" name="Google Shape;8165;p466"/>
          <p:cNvSpPr txBox="1"/>
          <p:nvPr>
            <p:ph type="title"/>
          </p:nvPr>
        </p:nvSpPr>
        <p:spPr>
          <a:xfrm>
            <a:off x="396787" y="72499"/>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Market Risk Appetite</a:t>
            </a:r>
            <a:endParaRPr b="1"/>
          </a:p>
        </p:txBody>
      </p:sp>
      <p:sp>
        <p:nvSpPr>
          <p:cNvPr id="8166" name="Google Shape;8166;p46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grpSp>
        <p:nvGrpSpPr>
          <p:cNvPr id="8167" name="Google Shape;8167;p466"/>
          <p:cNvGrpSpPr/>
          <p:nvPr/>
        </p:nvGrpSpPr>
        <p:grpSpPr>
          <a:xfrm>
            <a:off x="7717533" y="4360377"/>
            <a:ext cx="1058348" cy="347375"/>
            <a:chOff x="7651698" y="4287227"/>
            <a:chExt cx="1058348" cy="347375"/>
          </a:xfrm>
        </p:grpSpPr>
        <p:grpSp>
          <p:nvGrpSpPr>
            <p:cNvPr id="8168" name="Google Shape;8168;p466"/>
            <p:cNvGrpSpPr/>
            <p:nvPr/>
          </p:nvGrpSpPr>
          <p:grpSpPr>
            <a:xfrm>
              <a:off x="7714163" y="4337598"/>
              <a:ext cx="995883" cy="297004"/>
              <a:chOff x="7711013" y="3986494"/>
              <a:chExt cx="995883" cy="297004"/>
            </a:xfrm>
          </p:grpSpPr>
          <p:sp>
            <p:nvSpPr>
              <p:cNvPr id="8169" name="Google Shape;8169;p46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170" name="Google Shape;8170;p466"/>
              <p:cNvGrpSpPr/>
              <p:nvPr/>
            </p:nvGrpSpPr>
            <p:grpSpPr>
              <a:xfrm>
                <a:off x="7711013" y="4002615"/>
                <a:ext cx="281520" cy="241973"/>
                <a:chOff x="5652748" y="4066000"/>
                <a:chExt cx="906498" cy="747974"/>
              </a:xfrm>
            </p:grpSpPr>
            <p:sp>
              <p:nvSpPr>
                <p:cNvPr id="8171" name="Google Shape;8171;p46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172" name="Google Shape;8172;p46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173" name="Google Shape;8173;p46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174" name="Google Shape;8174;p46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descr="FIN-1012-L.jpg" id="8175" name="Google Shape;8175;p466"/>
          <p:cNvPicPr preferRelativeResize="0"/>
          <p:nvPr/>
        </p:nvPicPr>
        <p:blipFill rotWithShape="1">
          <a:blip r:embed="rId5">
            <a:alphaModFix/>
          </a:blip>
          <a:srcRect b="0" l="23003" r="86" t="0"/>
          <a:stretch/>
        </p:blipFill>
        <p:spPr>
          <a:xfrm>
            <a:off x="5648154" y="279312"/>
            <a:ext cx="3316459" cy="2210972"/>
          </a:xfrm>
          <a:prstGeom prst="rect">
            <a:avLst/>
          </a:prstGeom>
          <a:noFill/>
          <a:ln>
            <a:noFill/>
          </a:ln>
        </p:spPr>
      </p:pic>
    </p:spTree>
  </p:cSld>
  <p:clrMapOvr>
    <a:masterClrMapping/>
  </p:clrMapOvr>
</p:sld>
</file>

<file path=ppt/slides/slide4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94" name="Shape 8194"/>
        <p:cNvGrpSpPr/>
        <p:nvPr/>
      </p:nvGrpSpPr>
      <p:grpSpPr>
        <a:xfrm>
          <a:off x="0" y="0"/>
          <a:ext cx="0" cy="0"/>
          <a:chOff x="0" y="0"/>
          <a:chExt cx="0" cy="0"/>
        </a:xfrm>
      </p:grpSpPr>
      <p:cxnSp>
        <p:nvCxnSpPr>
          <p:cNvPr id="8195" name="Google Shape;8195;p468"/>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196" name="Google Shape;8196;p468"/>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Decide proper risk based pricing for various customers / credit products to improve the following: </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Additional margins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Capital cost</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cost </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Unit cost</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Funding cost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Historical transactional data / </a:t>
                      </a:r>
                      <a:r>
                        <a:rPr lang="en-GB" sz="900">
                          <a:solidFill>
                            <a:schemeClr val="dk1"/>
                          </a:solidFill>
                          <a:latin typeface="Century Gothic"/>
                          <a:ea typeface="Century Gothic"/>
                          <a:cs typeface="Century Gothic"/>
                          <a:sym typeface="Century Gothic"/>
                        </a:rPr>
                        <a:t>Payment data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Demographic data / application information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External data, such as credit bureau, / social media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Digital channel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Marketing, FTP &amp; market pricing data</a:t>
                      </a:r>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Regression Models,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Clustering / decision trees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Advanced analytics</a:t>
                      </a:r>
                      <a:r>
                        <a:rPr lang="en-GB" sz="900">
                          <a:solidFill>
                            <a:schemeClr val="dk1"/>
                          </a:solidFill>
                        </a:rPr>
                        <a:t> – interactions, paths</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What-if / sensitivity/elasticity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t>Match loss rate to loan pricing</a:t>
                      </a:r>
                      <a:r>
                        <a:rPr lang="en-GB" sz="900"/>
                        <a:t> – taking into account revenue, early repayment and elasticity of risk behaviors (positive/adverse selection) vis-a-vis offered price.</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Customized credit</a:t>
                      </a:r>
                      <a:r>
                        <a:rPr lang="en-GB" sz="900"/>
                        <a:t> product offers – improved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t>Feeds into more accurate/holistic RAROC Modeling.</a:t>
                      </a:r>
                      <a:endParaRPr sz="900">
                        <a:solidFill>
                          <a:srgbClr val="00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197" name="Google Shape;8197;p468"/>
          <p:cNvSpPr txBox="1"/>
          <p:nvPr>
            <p:ph type="title"/>
          </p:nvPr>
        </p:nvSpPr>
        <p:spPr>
          <a:xfrm>
            <a:off x="396787" y="72499"/>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Market Risk </a:t>
            </a:r>
            <a:r>
              <a:rPr lang="en-GB"/>
              <a:t>B</a:t>
            </a:r>
            <a:r>
              <a:rPr b="1" lang="en-GB"/>
              <a:t>ased pricing</a:t>
            </a:r>
            <a:endParaRPr b="1"/>
          </a:p>
        </p:txBody>
      </p:sp>
      <p:sp>
        <p:nvSpPr>
          <p:cNvPr id="8198" name="Google Shape;8198;p4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pic>
        <p:nvPicPr>
          <p:cNvPr descr="FIN-1012-L.jpg" id="8199" name="Google Shape;8199;p468"/>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200" name="Google Shape;8200;p468"/>
          <p:cNvGrpSpPr/>
          <p:nvPr/>
        </p:nvGrpSpPr>
        <p:grpSpPr>
          <a:xfrm>
            <a:off x="7717533" y="4360377"/>
            <a:ext cx="1058348" cy="347375"/>
            <a:chOff x="7651698" y="4287227"/>
            <a:chExt cx="1058348" cy="347375"/>
          </a:xfrm>
        </p:grpSpPr>
        <p:grpSp>
          <p:nvGrpSpPr>
            <p:cNvPr id="8201" name="Google Shape;8201;p468"/>
            <p:cNvGrpSpPr/>
            <p:nvPr/>
          </p:nvGrpSpPr>
          <p:grpSpPr>
            <a:xfrm>
              <a:off x="7714163" y="4337598"/>
              <a:ext cx="995883" cy="297004"/>
              <a:chOff x="7711013" y="3986494"/>
              <a:chExt cx="995883" cy="297004"/>
            </a:xfrm>
          </p:grpSpPr>
          <p:sp>
            <p:nvSpPr>
              <p:cNvPr id="8202" name="Google Shape;8202;p46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203" name="Google Shape;8203;p468"/>
              <p:cNvGrpSpPr/>
              <p:nvPr/>
            </p:nvGrpSpPr>
            <p:grpSpPr>
              <a:xfrm>
                <a:off x="7711013" y="4002615"/>
                <a:ext cx="281520" cy="241973"/>
                <a:chOff x="5652748" y="4066000"/>
                <a:chExt cx="906498" cy="747974"/>
              </a:xfrm>
            </p:grpSpPr>
            <p:sp>
              <p:nvSpPr>
                <p:cNvPr id="8204" name="Google Shape;8204;p46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205" name="Google Shape;8205;p46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206" name="Google Shape;8206;p46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207" name="Google Shape;8207;p46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25" name="Shape 8225"/>
        <p:cNvGrpSpPr/>
        <p:nvPr/>
      </p:nvGrpSpPr>
      <p:grpSpPr>
        <a:xfrm>
          <a:off x="0" y="0"/>
          <a:ext cx="0" cy="0"/>
          <a:chOff x="0" y="0"/>
          <a:chExt cx="0" cy="0"/>
        </a:xfrm>
      </p:grpSpPr>
      <p:pic>
        <p:nvPicPr>
          <p:cNvPr descr="FIN-1007-L.jpg" id="8226" name="Google Shape;8226;p470"/>
          <p:cNvPicPr preferRelativeResize="0"/>
          <p:nvPr/>
        </p:nvPicPr>
        <p:blipFill rotWithShape="1">
          <a:blip r:embed="rId3">
            <a:alphaModFix/>
          </a:blip>
          <a:srcRect b="0" l="24700" r="24699" t="0"/>
          <a:stretch/>
        </p:blipFill>
        <p:spPr>
          <a:xfrm>
            <a:off x="5311079" y="0"/>
            <a:ext cx="3832921" cy="5143500"/>
          </a:xfrm>
          <a:prstGeom prst="rect">
            <a:avLst/>
          </a:prstGeom>
          <a:noFill/>
          <a:ln>
            <a:noFill/>
          </a:ln>
          <a:effectLst>
            <a:outerShdw blurRad="50800" rotWithShape="0" algn="tr" dir="8100000" dist="38100">
              <a:srgbClr val="000000">
                <a:alpha val="40000"/>
              </a:srgbClr>
            </a:outerShdw>
          </a:effectLst>
        </p:spPr>
      </p:pic>
      <p:sp>
        <p:nvSpPr>
          <p:cNvPr id="8227" name="Google Shape;8227;p470"/>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400"/>
              <a:buChar char="•"/>
            </a:pPr>
            <a:r>
              <a:rPr lang="en-GB" sz="1400"/>
              <a:t>###</a:t>
            </a:r>
            <a:endParaRPr/>
          </a:p>
        </p:txBody>
      </p:sp>
      <p:sp>
        <p:nvSpPr>
          <p:cNvPr id="8228" name="Google Shape;8228;p470"/>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Operational Risk</a:t>
            </a:r>
            <a:br>
              <a:rPr lang="en-GB"/>
            </a:br>
            <a:endParaRPr/>
          </a:p>
        </p:txBody>
      </p:sp>
      <p:sp>
        <p:nvSpPr>
          <p:cNvPr id="8229" name="Google Shape;8229;p470"/>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a:t>
            </a:r>
            <a:endParaRPr b="0" i="0" sz="1400" u="none" cap="none" strike="noStrike">
              <a:solidFill>
                <a:srgbClr val="FFFFFF"/>
              </a:solidFill>
              <a:latin typeface="Century Gothic"/>
              <a:ea typeface="Century Gothic"/>
              <a:cs typeface="Century Gothic"/>
              <a:sym typeface="Century Gothic"/>
            </a:endParaRPr>
          </a:p>
        </p:txBody>
      </p:sp>
      <p:sp>
        <p:nvSpPr>
          <p:cNvPr id="8230" name="Google Shape;8230;p470">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Operational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69" name="Shape 8269"/>
        <p:cNvGrpSpPr/>
        <p:nvPr/>
      </p:nvGrpSpPr>
      <p:grpSpPr>
        <a:xfrm>
          <a:off x="0" y="0"/>
          <a:ext cx="0" cy="0"/>
          <a:chOff x="0" y="0"/>
          <a:chExt cx="0" cy="0"/>
        </a:xfrm>
      </p:grpSpPr>
      <p:pic>
        <p:nvPicPr>
          <p:cNvPr id="8270" name="Google Shape;8270;p473"/>
          <p:cNvPicPr preferRelativeResize="0"/>
          <p:nvPr/>
        </p:nvPicPr>
        <p:blipFill rotWithShape="1">
          <a:blip r:embed="rId3">
            <a:alphaModFix/>
          </a:blip>
          <a:srcRect b="0" l="0" r="0" t="0"/>
          <a:stretch/>
        </p:blipFill>
        <p:spPr>
          <a:xfrm>
            <a:off x="5640460" y="279312"/>
            <a:ext cx="3324153" cy="2210972"/>
          </a:xfrm>
          <a:prstGeom prst="rect">
            <a:avLst/>
          </a:prstGeom>
          <a:noFill/>
          <a:ln>
            <a:noFill/>
          </a:ln>
          <a:effectLst>
            <a:outerShdw blurRad="50800" rotWithShape="0" algn="tl" dir="2700000" dist="38100">
              <a:srgbClr val="000000">
                <a:alpha val="40000"/>
              </a:srgbClr>
            </a:outerShdw>
          </a:effectLst>
        </p:spPr>
      </p:pic>
      <p:cxnSp>
        <p:nvCxnSpPr>
          <p:cNvPr id="8271" name="Google Shape;8271;p47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272" name="Google Shape;8272;p473"/>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8948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273" name="Google Shape;8273;p47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Operational Risk Management</a:t>
            </a:r>
            <a:endParaRPr sz="1600"/>
          </a:p>
        </p:txBody>
      </p:sp>
      <p:sp>
        <p:nvSpPr>
          <p:cNvPr id="8274" name="Google Shape;8274;p47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Operational Risk</a:t>
            </a:r>
            <a:endParaRPr sz="750">
              <a:solidFill>
                <a:schemeClr val="lt1"/>
              </a:solidFill>
              <a:latin typeface="Century Gothic"/>
              <a:ea typeface="Century Gothic"/>
              <a:cs typeface="Century Gothic"/>
              <a:sym typeface="Century Gothic"/>
            </a:endParaRPr>
          </a:p>
        </p:txBody>
      </p:sp>
      <p:grpSp>
        <p:nvGrpSpPr>
          <p:cNvPr id="8275" name="Google Shape;8275;p473"/>
          <p:cNvGrpSpPr/>
          <p:nvPr/>
        </p:nvGrpSpPr>
        <p:grpSpPr>
          <a:xfrm>
            <a:off x="7717533" y="4360377"/>
            <a:ext cx="1058348" cy="347375"/>
            <a:chOff x="7651698" y="4287227"/>
            <a:chExt cx="1058348" cy="347375"/>
          </a:xfrm>
        </p:grpSpPr>
        <p:grpSp>
          <p:nvGrpSpPr>
            <p:cNvPr id="8276" name="Google Shape;8276;p473"/>
            <p:cNvGrpSpPr/>
            <p:nvPr/>
          </p:nvGrpSpPr>
          <p:grpSpPr>
            <a:xfrm>
              <a:off x="7714163" y="4337598"/>
              <a:ext cx="995883" cy="297004"/>
              <a:chOff x="7711013" y="3986494"/>
              <a:chExt cx="995883" cy="297004"/>
            </a:xfrm>
          </p:grpSpPr>
          <p:sp>
            <p:nvSpPr>
              <p:cNvPr id="8277" name="Google Shape;8277;p47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278" name="Google Shape;8278;p473"/>
              <p:cNvGrpSpPr/>
              <p:nvPr/>
            </p:nvGrpSpPr>
            <p:grpSpPr>
              <a:xfrm>
                <a:off x="7711013" y="4002615"/>
                <a:ext cx="281520" cy="241973"/>
                <a:chOff x="5652748" y="4066000"/>
                <a:chExt cx="906498" cy="747974"/>
              </a:xfrm>
            </p:grpSpPr>
            <p:sp>
              <p:nvSpPr>
                <p:cNvPr id="8279" name="Google Shape;8279;p47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280" name="Google Shape;8280;p47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281" name="Google Shape;8281;p47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282" name="Google Shape;8282;p47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00" name="Shape 8300"/>
        <p:cNvGrpSpPr/>
        <p:nvPr/>
      </p:nvGrpSpPr>
      <p:grpSpPr>
        <a:xfrm>
          <a:off x="0" y="0"/>
          <a:ext cx="0" cy="0"/>
          <a:chOff x="0" y="0"/>
          <a:chExt cx="0" cy="0"/>
        </a:xfrm>
      </p:grpSpPr>
      <p:pic>
        <p:nvPicPr>
          <p:cNvPr descr="FIN-1007-L.jpg" id="8301" name="Google Shape;8301;p475"/>
          <p:cNvPicPr preferRelativeResize="0"/>
          <p:nvPr/>
        </p:nvPicPr>
        <p:blipFill rotWithShape="1">
          <a:blip r:embed="rId3">
            <a:alphaModFix/>
          </a:blip>
          <a:srcRect b="0" l="24700" r="24699" t="0"/>
          <a:stretch/>
        </p:blipFill>
        <p:spPr>
          <a:xfrm>
            <a:off x="5311079" y="0"/>
            <a:ext cx="3832921" cy="5143500"/>
          </a:xfrm>
          <a:prstGeom prst="rect">
            <a:avLst/>
          </a:prstGeom>
          <a:noFill/>
          <a:ln>
            <a:noFill/>
          </a:ln>
          <a:effectLst>
            <a:outerShdw blurRad="50800" rotWithShape="0" algn="tr" dir="8100000" dist="38100">
              <a:srgbClr val="000000">
                <a:alpha val="40000"/>
              </a:srgbClr>
            </a:outerShdw>
          </a:effectLst>
        </p:spPr>
      </p:pic>
      <p:sp>
        <p:nvSpPr>
          <p:cNvPr id="8302" name="Google Shape;8302;p475"/>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400"/>
              <a:buChar char="•"/>
            </a:pPr>
            <a:r>
              <a:rPr lang="en-GB" sz="1400"/>
              <a:t>Collection is a primary driver of revenue realization and loss recovery. </a:t>
            </a:r>
            <a:endParaRPr/>
          </a:p>
          <a:p>
            <a:pPr indent="-169863" lvl="0" marL="169863" rtl="0" algn="l">
              <a:lnSpc>
                <a:spcPct val="95000"/>
              </a:lnSpc>
              <a:spcBef>
                <a:spcPts val="600"/>
              </a:spcBef>
              <a:spcAft>
                <a:spcPts val="0"/>
              </a:spcAft>
              <a:buClr>
                <a:schemeClr val="dk1"/>
              </a:buClr>
              <a:buSzPts val="1400"/>
              <a:buChar char="•"/>
            </a:pPr>
            <a:r>
              <a:rPr lang="en-GB" sz="1400"/>
              <a:t>Liquidation of receivables is an essential element of cash flow and working capital management. </a:t>
            </a:r>
            <a:endParaRPr/>
          </a:p>
          <a:p>
            <a:pPr indent="-169863" lvl="0" marL="169863" rtl="0" algn="l">
              <a:lnSpc>
                <a:spcPct val="95000"/>
              </a:lnSpc>
              <a:spcBef>
                <a:spcPts val="600"/>
              </a:spcBef>
              <a:spcAft>
                <a:spcPts val="0"/>
              </a:spcAft>
              <a:buClr>
                <a:schemeClr val="dk1"/>
              </a:buClr>
              <a:buSzPts val="1400"/>
              <a:buChar char="•"/>
            </a:pPr>
            <a:r>
              <a:rPr lang="en-GB" sz="1400"/>
              <a:t>The quality of receivables or credit balances is often an input into provisioning, asset and liability pooling, and capital calculation. </a:t>
            </a:r>
            <a:endParaRPr/>
          </a:p>
          <a:p>
            <a:pPr indent="-169863" lvl="0" marL="169863" rtl="0" algn="l">
              <a:lnSpc>
                <a:spcPct val="95000"/>
              </a:lnSpc>
              <a:spcBef>
                <a:spcPts val="600"/>
              </a:spcBef>
              <a:spcAft>
                <a:spcPts val="0"/>
              </a:spcAft>
              <a:buClr>
                <a:schemeClr val="dk1"/>
              </a:buClr>
              <a:buSzPts val="1400"/>
              <a:buChar char="•"/>
            </a:pPr>
            <a:r>
              <a:rPr lang="en-GB" sz="1400"/>
              <a:t>Accurate and effective collection can strongly impact customer experience. </a:t>
            </a:r>
            <a:endParaRPr/>
          </a:p>
        </p:txBody>
      </p:sp>
      <p:sp>
        <p:nvSpPr>
          <p:cNvPr id="8303" name="Google Shape;8303;p475"/>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Collections &amp; Recoveries</a:t>
            </a:r>
            <a:br>
              <a:rPr lang="en-GB"/>
            </a:br>
            <a:endParaRPr/>
          </a:p>
        </p:txBody>
      </p:sp>
      <p:sp>
        <p:nvSpPr>
          <p:cNvPr id="8304" name="Google Shape;8304;p475"/>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The management and tracking of receivables and credit balances due. Collections is a crucial component of a credit business model, as in the case of financial institutions, and a natural component of sales business transactions via accounts receivable or advances. </a:t>
            </a:r>
            <a:endParaRPr b="0" i="0" sz="1400" u="none" cap="none" strike="noStrike">
              <a:solidFill>
                <a:srgbClr val="FFFFFF"/>
              </a:solidFill>
              <a:latin typeface="Century Gothic"/>
              <a:ea typeface="Century Gothic"/>
              <a:cs typeface="Century Gothic"/>
              <a:sym typeface="Century Gothic"/>
            </a:endParaRPr>
          </a:p>
        </p:txBody>
      </p:sp>
      <p:sp>
        <p:nvSpPr>
          <p:cNvPr id="8305" name="Google Shape;8305;p47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44" name="Shape 8344"/>
        <p:cNvGrpSpPr/>
        <p:nvPr/>
      </p:nvGrpSpPr>
      <p:grpSpPr>
        <a:xfrm>
          <a:off x="0" y="0"/>
          <a:ext cx="0" cy="0"/>
          <a:chOff x="0" y="0"/>
          <a:chExt cx="0" cy="0"/>
        </a:xfrm>
      </p:grpSpPr>
      <p:cxnSp>
        <p:nvCxnSpPr>
          <p:cNvPr id="8345" name="Google Shape;8345;p47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346" name="Google Shape;8346;p478"/>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8948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Clear and transparent collections reporting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Accurate prediction of collection propensity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Accurate forecast of collections amounts and expected cash flows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Identification of collections process risks, vulnerabilities, and failures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Determine most effective collection strategy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Objectively prioritize collection items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Transactional data, Payment data, Cash Flow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Collection activity data, promises to pay, right party contacts</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Counterparty and Customer Demographic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Digital and traditional collection channel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Collections resource data, staffing, skillsets</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External data, such as credit bureau / Social media data / news/ Industry data / collection agency</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Statistical analysis to determine scores, propensities and probabilities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Path and event analyses to unearth root-causes and likely outcomes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Network and Association analyses to surface transaction networks, counterparty networks, payment affinities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Decision trees and simulation analysis to determine and test champion and challenger strategies prior to deployment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collection rate, productivity, and efficiency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losses net of recovery activity, increased loss write back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 to collect, increased collector productivity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collection-related customer complaints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incremental cash flow, working capital ratios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accounts receivable turnover, improved cash cycle time, reduced days in collection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past due rates, reduced past-due provisioning, reduced credit risk capital requirement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347" name="Google Shape;8347;p47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Collections and Recoveries </a:t>
            </a:r>
            <a:br>
              <a:rPr lang="en-GB"/>
            </a:br>
            <a:r>
              <a:rPr lang="en-GB"/>
              <a:t>Optimization</a:t>
            </a:r>
            <a:endParaRPr sz="1600"/>
          </a:p>
        </p:txBody>
      </p:sp>
      <p:sp>
        <p:nvSpPr>
          <p:cNvPr id="8348" name="Google Shape;8348;p4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pic>
        <p:nvPicPr>
          <p:cNvPr id="8349" name="Google Shape;8349;p478"/>
          <p:cNvPicPr preferRelativeResize="0"/>
          <p:nvPr/>
        </p:nvPicPr>
        <p:blipFill rotWithShape="1">
          <a:blip r:embed="rId4">
            <a:alphaModFix/>
          </a:blip>
          <a:srcRect b="0" l="0" r="0" t="0"/>
          <a:stretch/>
        </p:blipFill>
        <p:spPr>
          <a:xfrm>
            <a:off x="5640460" y="279312"/>
            <a:ext cx="3324153" cy="2210972"/>
          </a:xfrm>
          <a:prstGeom prst="rect">
            <a:avLst/>
          </a:prstGeom>
          <a:noFill/>
          <a:ln>
            <a:noFill/>
          </a:ln>
          <a:effectLst>
            <a:outerShdw blurRad="50800" rotWithShape="0" algn="tl" dir="2700000" dist="38100">
              <a:srgbClr val="000000">
                <a:alpha val="40000"/>
              </a:srgbClr>
            </a:outerShdw>
          </a:effectLst>
        </p:spPr>
      </p:pic>
      <p:grpSp>
        <p:nvGrpSpPr>
          <p:cNvPr id="8350" name="Google Shape;8350;p478"/>
          <p:cNvGrpSpPr/>
          <p:nvPr/>
        </p:nvGrpSpPr>
        <p:grpSpPr>
          <a:xfrm>
            <a:off x="7717533" y="4360377"/>
            <a:ext cx="1058348" cy="347375"/>
            <a:chOff x="7651698" y="4287227"/>
            <a:chExt cx="1058348" cy="347375"/>
          </a:xfrm>
        </p:grpSpPr>
        <p:grpSp>
          <p:nvGrpSpPr>
            <p:cNvPr id="8351" name="Google Shape;8351;p478"/>
            <p:cNvGrpSpPr/>
            <p:nvPr/>
          </p:nvGrpSpPr>
          <p:grpSpPr>
            <a:xfrm>
              <a:off x="7714163" y="4337598"/>
              <a:ext cx="995883" cy="297004"/>
              <a:chOff x="7711013" y="3986494"/>
              <a:chExt cx="995883" cy="297004"/>
            </a:xfrm>
          </p:grpSpPr>
          <p:sp>
            <p:nvSpPr>
              <p:cNvPr id="8352" name="Google Shape;8352;p47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353" name="Google Shape;8353;p478"/>
              <p:cNvGrpSpPr/>
              <p:nvPr/>
            </p:nvGrpSpPr>
            <p:grpSpPr>
              <a:xfrm>
                <a:off x="7711013" y="4002615"/>
                <a:ext cx="281520" cy="241973"/>
                <a:chOff x="5652748" y="4066000"/>
                <a:chExt cx="906498" cy="747974"/>
              </a:xfrm>
            </p:grpSpPr>
            <p:sp>
              <p:nvSpPr>
                <p:cNvPr id="8354" name="Google Shape;8354;p47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355" name="Google Shape;8355;p47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356" name="Google Shape;8356;p47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357" name="Google Shape;8357;p47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82" name="Shape 8382"/>
        <p:cNvGrpSpPr/>
        <p:nvPr/>
      </p:nvGrpSpPr>
      <p:grpSpPr>
        <a:xfrm>
          <a:off x="0" y="0"/>
          <a:ext cx="0" cy="0"/>
          <a:chOff x="0" y="0"/>
          <a:chExt cx="0" cy="0"/>
        </a:xfrm>
      </p:grpSpPr>
      <p:cxnSp>
        <p:nvCxnSpPr>
          <p:cNvPr id="8383" name="Google Shape;8383;p48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384" name="Google Shape;8384;p48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385" name="Google Shape;8385;p48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386" name="Google Shape;8386;p48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387" name="Google Shape;8387;p48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388" name="Google Shape;8388;p48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389" name="Google Shape;8389;p48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390" name="Google Shape;8390;p48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391" name="Google Shape;8391;p48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392" name="Google Shape;8392;p48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393" name="Google Shape;8393;p48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394" name="Google Shape;8394;p48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395" name="Google Shape;8395;p48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396" name="Google Shape;8396;p48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Risk Modeling for “New to Lending” Customers</a:t>
            </a:r>
            <a:endParaRPr sz="2400"/>
          </a:p>
        </p:txBody>
      </p:sp>
      <p:sp>
        <p:nvSpPr>
          <p:cNvPr id="8397" name="Google Shape;8397;p48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02" name="Shape 8402"/>
        <p:cNvGrpSpPr/>
        <p:nvPr/>
      </p:nvGrpSpPr>
      <p:grpSpPr>
        <a:xfrm>
          <a:off x="0" y="0"/>
          <a:ext cx="0" cy="0"/>
          <a:chOff x="0" y="0"/>
          <a:chExt cx="0" cy="0"/>
        </a:xfrm>
      </p:grpSpPr>
      <p:cxnSp>
        <p:nvCxnSpPr>
          <p:cNvPr id="8403" name="Google Shape;8403;p48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04" name="Google Shape;8404;p48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05" name="Google Shape;8405;p48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406" name="Google Shape;8406;p48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07" name="Google Shape;8407;p48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underwriting results from avoidance of weather-related and other naturally occurring property risks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underwriting and combined loss ratios—range of 1-5% increase.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Reductions of catastrophe losses and unallocated claims expenses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reserves and higher profits</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08" name="Google Shape;8408;p48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visualize property risk across various risk types (e.g., water, tidal surge, wind, hail, wild fire, sink holes,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Finer-grained risk analysis as compared to older postal code methods of analysis or inconsistent geo-coded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Easier identification of insurable properties vs. riskier uninsurable properties</a:t>
            </a:r>
            <a:endParaRPr sz="800">
              <a:solidFill>
                <a:srgbClr val="3C3C3B"/>
              </a:solidFill>
              <a:latin typeface="Century Gothic"/>
              <a:ea typeface="Century Gothic"/>
              <a:cs typeface="Century Gothic"/>
              <a:sym typeface="Century Gothic"/>
            </a:endParaRPr>
          </a:p>
        </p:txBody>
      </p:sp>
      <p:sp>
        <p:nvSpPr>
          <p:cNvPr id="8409" name="Google Shape;8409;p48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 of a property for all geographic risk types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Consistent geo-coding across an insurer enterprise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leverage geospatial analysis of catastrophe loss areas for efficient deployment of adjusters and response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10" name="Google Shape;8410;p48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11" name="Google Shape;8411;p48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Updating and standardizing geo-coding and geospatial tools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Integrating third-party risk overlays for visualization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Increasing granularity of property data and analytics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12" name="Google Shape;8412;p48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Geospatial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Property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Underwriting &amp; Actuarial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Third-Party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13" name="Google Shape;8413;p48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Leverage geospatial analysis due to changing risk patterns to gain a better understanding of risks and underwriting results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Leverage granular data, consistent geo-coding, and risk overlay visualizations to assess property and other types of risk.</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Enable choreographed catastrophe response for accelerated claim loss &amp; expense control and customer satisfaction</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14" name="Google Shape;8414;p48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Georges Prouty</a:t>
            </a:r>
            <a:endParaRPr sz="900">
              <a:solidFill>
                <a:schemeClr val="accent6"/>
              </a:solidFill>
              <a:latin typeface="Century Gothic"/>
              <a:ea typeface="Century Gothic"/>
              <a:cs typeface="Century Gothic"/>
              <a:sym typeface="Century Gothic"/>
            </a:endParaRPr>
          </a:p>
        </p:txBody>
      </p:sp>
      <p:sp>
        <p:nvSpPr>
          <p:cNvPr id="8415" name="Google Shape;8415;p48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16" name="Google Shape;8416;p48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Geospatial Risk </a:t>
            </a:r>
            <a:endParaRPr sz="2400"/>
          </a:p>
        </p:txBody>
      </p:sp>
      <p:sp>
        <p:nvSpPr>
          <p:cNvPr id="8417" name="Google Shape;8417;p48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22" name="Shape 8422"/>
        <p:cNvGrpSpPr/>
        <p:nvPr/>
      </p:nvGrpSpPr>
      <p:grpSpPr>
        <a:xfrm>
          <a:off x="0" y="0"/>
          <a:ext cx="0" cy="0"/>
          <a:chOff x="0" y="0"/>
          <a:chExt cx="0" cy="0"/>
        </a:xfrm>
      </p:grpSpPr>
      <p:cxnSp>
        <p:nvCxnSpPr>
          <p:cNvPr id="8423" name="Google Shape;8423;p48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24" name="Google Shape;8424;p48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25" name="Google Shape;8425;p48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26" name="Google Shape;8426;p48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27" name="Google Shape;8427;p48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28" name="Google Shape;8428;p48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29" name="Google Shape;8429;p48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30" name="Google Shape;8430;p48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31" name="Google Shape;8431;p48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32" name="Google Shape;8432;p48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33" name="Google Shape;8433;p48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34" name="Google Shape;8434;p48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35" name="Google Shape;8435;p483"/>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36" name="Google Shape;8436;p483"/>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Model Lift</a:t>
            </a:r>
            <a:endParaRPr sz="2400"/>
          </a:p>
        </p:txBody>
      </p:sp>
      <p:sp>
        <p:nvSpPr>
          <p:cNvPr id="8437" name="Google Shape;8437;p48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42" name="Shape 8442"/>
        <p:cNvGrpSpPr/>
        <p:nvPr/>
      </p:nvGrpSpPr>
      <p:grpSpPr>
        <a:xfrm>
          <a:off x="0" y="0"/>
          <a:ext cx="0" cy="0"/>
          <a:chOff x="0" y="0"/>
          <a:chExt cx="0" cy="0"/>
        </a:xfrm>
      </p:grpSpPr>
      <p:cxnSp>
        <p:nvCxnSpPr>
          <p:cNvPr id="8443" name="Google Shape;8443;p48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44" name="Google Shape;8444;p48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45" name="Google Shape;8445;p48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46" name="Google Shape;8446;p48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47" name="Google Shape;8447;p48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48" name="Google Shape;8448;p48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49" name="Google Shape;8449;p48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50" name="Google Shape;8450;p48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51" name="Google Shape;8451;p48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52" name="Google Shape;8452;p48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53" name="Google Shape;8453;p48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54" name="Google Shape;8454;p48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55" name="Google Shape;8455;p484"/>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56" name="Google Shape;8456;p484"/>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Consequential Impact of Credit Default</a:t>
            </a:r>
            <a:endParaRPr sz="2400"/>
          </a:p>
        </p:txBody>
      </p:sp>
      <p:sp>
        <p:nvSpPr>
          <p:cNvPr id="8457" name="Google Shape;8457;p4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62" name="Shape 8462"/>
        <p:cNvGrpSpPr/>
        <p:nvPr/>
      </p:nvGrpSpPr>
      <p:grpSpPr>
        <a:xfrm>
          <a:off x="0" y="0"/>
          <a:ext cx="0" cy="0"/>
          <a:chOff x="0" y="0"/>
          <a:chExt cx="0" cy="0"/>
        </a:xfrm>
      </p:grpSpPr>
      <p:cxnSp>
        <p:nvCxnSpPr>
          <p:cNvPr id="8463" name="Google Shape;8463;p48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64" name="Google Shape;8464;p48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65" name="Google Shape;8465;p48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66" name="Google Shape;8466;p48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67" name="Google Shape;8467;p48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68" name="Google Shape;8468;p48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69" name="Google Shape;8469;p48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70" name="Google Shape;8470;p48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71" name="Google Shape;8471;p48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72" name="Google Shape;8472;p48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73" name="Google Shape;8473;p48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74" name="Google Shape;8474;p48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75" name="Google Shape;8475;p485"/>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76" name="Google Shape;8476;p485"/>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Guarantee Analytics</a:t>
            </a:r>
            <a:endParaRPr sz="2400"/>
          </a:p>
        </p:txBody>
      </p:sp>
      <p:sp>
        <p:nvSpPr>
          <p:cNvPr id="8477" name="Google Shape;8477;p48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82" name="Shape 8482"/>
        <p:cNvGrpSpPr/>
        <p:nvPr/>
      </p:nvGrpSpPr>
      <p:grpSpPr>
        <a:xfrm>
          <a:off x="0" y="0"/>
          <a:ext cx="0" cy="0"/>
          <a:chOff x="0" y="0"/>
          <a:chExt cx="0" cy="0"/>
        </a:xfrm>
      </p:grpSpPr>
      <p:cxnSp>
        <p:nvCxnSpPr>
          <p:cNvPr id="8483" name="Google Shape;8483;p48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84" name="Google Shape;8484;p48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85" name="Google Shape;8485;p48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86" name="Google Shape;8486;p48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87" name="Google Shape;8487;p48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88" name="Google Shape;8488;p48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89" name="Google Shape;8489;p48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90" name="Google Shape;8490;p48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91" name="Google Shape;8491;p48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92" name="Google Shape;8492;p48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93" name="Google Shape;8493;p48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94" name="Google Shape;8494;p48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95" name="Google Shape;8495;p486"/>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96" name="Google Shape;8496;p486"/>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Underwriting for Risk</a:t>
            </a:r>
            <a:endParaRPr sz="2400"/>
          </a:p>
        </p:txBody>
      </p:sp>
      <p:sp>
        <p:nvSpPr>
          <p:cNvPr id="8497" name="Google Shape;8497;p4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02" name="Shape 8502"/>
        <p:cNvGrpSpPr/>
        <p:nvPr/>
      </p:nvGrpSpPr>
      <p:grpSpPr>
        <a:xfrm>
          <a:off x="0" y="0"/>
          <a:ext cx="0" cy="0"/>
          <a:chOff x="0" y="0"/>
          <a:chExt cx="0" cy="0"/>
        </a:xfrm>
      </p:grpSpPr>
      <p:cxnSp>
        <p:nvCxnSpPr>
          <p:cNvPr id="8503" name="Google Shape;8503;p48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04" name="Google Shape;8504;p48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05" name="Google Shape;8505;p48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06" name="Google Shape;8506;p48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07" name="Google Shape;8507;p48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08" name="Google Shape;8508;p48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09" name="Google Shape;8509;p48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10" name="Google Shape;8510;p48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11" name="Google Shape;8511;p48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12" name="Google Shape;8512;p48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13" name="Google Shape;8513;p48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14" name="Google Shape;8514;p48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15" name="Google Shape;8515;p487"/>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16" name="Google Shape;8516;p487"/>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Calculation and Management of Capital</a:t>
            </a:r>
            <a:endParaRPr sz="2400"/>
          </a:p>
        </p:txBody>
      </p:sp>
      <p:sp>
        <p:nvSpPr>
          <p:cNvPr id="8517" name="Google Shape;8517;p4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22" name="Shape 8522"/>
        <p:cNvGrpSpPr/>
        <p:nvPr/>
      </p:nvGrpSpPr>
      <p:grpSpPr>
        <a:xfrm>
          <a:off x="0" y="0"/>
          <a:ext cx="0" cy="0"/>
          <a:chOff x="0" y="0"/>
          <a:chExt cx="0" cy="0"/>
        </a:xfrm>
      </p:grpSpPr>
      <p:cxnSp>
        <p:nvCxnSpPr>
          <p:cNvPr id="8523" name="Google Shape;8523;p48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24" name="Google Shape;8524;p48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25" name="Google Shape;8525;p48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26" name="Google Shape;8526;p48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27" name="Google Shape;8527;p48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28" name="Google Shape;8528;p48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29" name="Google Shape;8529;p48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30" name="Google Shape;8530;p48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31" name="Google Shape;8531;p48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32" name="Google Shape;8532;p48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33" name="Google Shape;8533;p48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34" name="Google Shape;8534;p48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35" name="Google Shape;8535;p488"/>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36" name="Google Shape;8536;p488"/>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of A/B Testing</a:t>
            </a:r>
            <a:endParaRPr sz="2400"/>
          </a:p>
        </p:txBody>
      </p:sp>
      <p:sp>
        <p:nvSpPr>
          <p:cNvPr id="8537" name="Google Shape;8537;p4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42" name="Shape 8542"/>
        <p:cNvGrpSpPr/>
        <p:nvPr/>
      </p:nvGrpSpPr>
      <p:grpSpPr>
        <a:xfrm>
          <a:off x="0" y="0"/>
          <a:ext cx="0" cy="0"/>
          <a:chOff x="0" y="0"/>
          <a:chExt cx="0" cy="0"/>
        </a:xfrm>
      </p:grpSpPr>
      <p:cxnSp>
        <p:nvCxnSpPr>
          <p:cNvPr id="8543" name="Google Shape;8543;p48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44" name="Google Shape;8544;p48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45" name="Google Shape;8545;p48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46" name="Google Shape;8546;p48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47" name="Google Shape;8547;p48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48" name="Google Shape;8548;p48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49" name="Google Shape;8549;p48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50" name="Google Shape;8550;p48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51" name="Google Shape;8551;p48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52" name="Google Shape;8552;p48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53" name="Google Shape;8553;p48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54" name="Google Shape;8554;p48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55" name="Google Shape;8555;p489"/>
          <p:cNvSpPr/>
          <p:nvPr/>
        </p:nvSpPr>
        <p:spPr>
          <a:xfrm>
            <a:off x="355600" y="848282"/>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56" name="Google Shape;8556;p489"/>
          <p:cNvSpPr txBox="1"/>
          <p:nvPr>
            <p:ph type="title"/>
          </p:nvPr>
        </p:nvSpPr>
        <p:spPr>
          <a:xfrm>
            <a:off x="423864" y="418590"/>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Model Deployment and Operationalization</a:t>
            </a:r>
            <a:endParaRPr sz="2400"/>
          </a:p>
        </p:txBody>
      </p:sp>
      <p:sp>
        <p:nvSpPr>
          <p:cNvPr id="8557" name="Google Shape;8557;p4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62" name="Shape 8562"/>
        <p:cNvGrpSpPr/>
        <p:nvPr/>
      </p:nvGrpSpPr>
      <p:grpSpPr>
        <a:xfrm>
          <a:off x="0" y="0"/>
          <a:ext cx="0" cy="0"/>
          <a:chOff x="0" y="0"/>
          <a:chExt cx="0" cy="0"/>
        </a:xfrm>
      </p:grpSpPr>
      <p:cxnSp>
        <p:nvCxnSpPr>
          <p:cNvPr id="8563" name="Google Shape;8563;p49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64" name="Google Shape;8564;p49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65" name="Google Shape;8565;p49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66" name="Google Shape;8566;p49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67" name="Google Shape;8567;p49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68" name="Google Shape;8568;p49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69" name="Google Shape;8569;p49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70" name="Google Shape;8570;p49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71" name="Google Shape;8571;p49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72" name="Google Shape;8572;p49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73" name="Google Shape;8573;p49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74" name="Google Shape;8574;p49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75" name="Google Shape;8575;p490"/>
          <p:cNvSpPr/>
          <p:nvPr/>
        </p:nvSpPr>
        <p:spPr>
          <a:xfrm>
            <a:off x="355600" y="848282"/>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76" name="Google Shape;8576;p490"/>
          <p:cNvSpPr txBox="1"/>
          <p:nvPr>
            <p:ph type="title"/>
          </p:nvPr>
        </p:nvSpPr>
        <p:spPr>
          <a:xfrm>
            <a:off x="423864" y="418590"/>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Risk / Reward Strategy Optimization</a:t>
            </a:r>
            <a:endParaRPr sz="2400"/>
          </a:p>
        </p:txBody>
      </p:sp>
      <p:sp>
        <p:nvSpPr>
          <p:cNvPr id="8577" name="Google Shape;8577;p4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82" name="Shape 8582"/>
        <p:cNvGrpSpPr/>
        <p:nvPr/>
      </p:nvGrpSpPr>
      <p:grpSpPr>
        <a:xfrm>
          <a:off x="0" y="0"/>
          <a:ext cx="0" cy="0"/>
          <a:chOff x="0" y="0"/>
          <a:chExt cx="0" cy="0"/>
        </a:xfrm>
      </p:grpSpPr>
      <p:cxnSp>
        <p:nvCxnSpPr>
          <p:cNvPr id="8583" name="Google Shape;8583;p49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84" name="Google Shape;8584;p49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85" name="Google Shape;8585;p49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86" name="Google Shape;8586;p49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87" name="Google Shape;8587;p49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88" name="Google Shape;8588;p49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89" name="Google Shape;8589;p49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90" name="Google Shape;8590;p49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91" name="Google Shape;8591;p49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92" name="Google Shape;8592;p49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93" name="Google Shape;8593;p49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94" name="Google Shape;8594;p49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95" name="Google Shape;8595;p491"/>
          <p:cNvSpPr/>
          <p:nvPr/>
        </p:nvSpPr>
        <p:spPr>
          <a:xfrm>
            <a:off x="355600" y="580173"/>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96" name="Google Shape;8596;p491"/>
          <p:cNvSpPr txBox="1"/>
          <p:nvPr>
            <p:ph type="title"/>
          </p:nvPr>
        </p:nvSpPr>
        <p:spPr>
          <a:xfrm>
            <a:off x="423864" y="150481"/>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Model Lift</a:t>
            </a:r>
            <a:endParaRPr sz="2400"/>
          </a:p>
        </p:txBody>
      </p:sp>
      <p:sp>
        <p:nvSpPr>
          <p:cNvPr id="8597" name="Google Shape;8597;p49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02" name="Shape 8602"/>
        <p:cNvGrpSpPr/>
        <p:nvPr/>
      </p:nvGrpSpPr>
      <p:grpSpPr>
        <a:xfrm>
          <a:off x="0" y="0"/>
          <a:ext cx="0" cy="0"/>
          <a:chOff x="0" y="0"/>
          <a:chExt cx="0" cy="0"/>
        </a:xfrm>
      </p:grpSpPr>
      <p:cxnSp>
        <p:nvCxnSpPr>
          <p:cNvPr id="8603" name="Google Shape;8603;p49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04" name="Google Shape;8604;p49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05" name="Google Shape;8605;p49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606" name="Google Shape;8606;p49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07" name="Google Shape;8607;p49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08" name="Google Shape;8608;p49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609" name="Google Shape;8609;p49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10" name="Google Shape;8610;p49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11" name="Google Shape;8611;p49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612" name="Google Shape;8612;p49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13" name="Google Shape;8613;p49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14" name="Google Shape;8614;p49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615" name="Google Shape;8615;p492"/>
          <p:cNvSpPr/>
          <p:nvPr/>
        </p:nvSpPr>
        <p:spPr>
          <a:xfrm>
            <a:off x="355600" y="82006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16" name="Google Shape;8616;p492"/>
          <p:cNvSpPr txBox="1"/>
          <p:nvPr>
            <p:ph type="title"/>
          </p:nvPr>
        </p:nvSpPr>
        <p:spPr>
          <a:xfrm>
            <a:off x="423864" y="39036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Risk Scenario and Stress Testing</a:t>
            </a:r>
            <a:endParaRPr sz="2400"/>
          </a:p>
        </p:txBody>
      </p:sp>
      <p:sp>
        <p:nvSpPr>
          <p:cNvPr id="8617" name="Google Shape;8617;p4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22" name="Shape 8622"/>
        <p:cNvGrpSpPr/>
        <p:nvPr/>
      </p:nvGrpSpPr>
      <p:grpSpPr>
        <a:xfrm>
          <a:off x="0" y="0"/>
          <a:ext cx="0" cy="0"/>
          <a:chOff x="0" y="0"/>
          <a:chExt cx="0" cy="0"/>
        </a:xfrm>
      </p:grpSpPr>
      <p:cxnSp>
        <p:nvCxnSpPr>
          <p:cNvPr id="8623" name="Google Shape;8623;p49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24" name="Google Shape;8624;p49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25" name="Google Shape;8625;p49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626" name="Google Shape;8626;p49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27" name="Google Shape;8627;p49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28" name="Google Shape;8628;p49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629" name="Google Shape;8629;p49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30" name="Google Shape;8630;p49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31" name="Google Shape;8631;p49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632" name="Google Shape;8632;p49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33" name="Google Shape;8633;p49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34" name="Google Shape;8634;p49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635" name="Google Shape;8635;p493"/>
          <p:cNvSpPr/>
          <p:nvPr/>
        </p:nvSpPr>
        <p:spPr>
          <a:xfrm>
            <a:off x="355600" y="551951"/>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36" name="Google Shape;8636;p493"/>
          <p:cNvSpPr txBox="1"/>
          <p:nvPr>
            <p:ph type="title"/>
          </p:nvPr>
        </p:nvSpPr>
        <p:spPr>
          <a:xfrm>
            <a:off x="423864" y="122259"/>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Credit Risk Appetite</a:t>
            </a:r>
            <a:endParaRPr sz="2400"/>
          </a:p>
        </p:txBody>
      </p:sp>
      <p:sp>
        <p:nvSpPr>
          <p:cNvPr id="8637" name="Google Shape;8637;p49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42" name="Shape 8642"/>
        <p:cNvGrpSpPr/>
        <p:nvPr/>
      </p:nvGrpSpPr>
      <p:grpSpPr>
        <a:xfrm>
          <a:off x="0" y="0"/>
          <a:ext cx="0" cy="0"/>
          <a:chOff x="0" y="0"/>
          <a:chExt cx="0" cy="0"/>
        </a:xfrm>
      </p:grpSpPr>
      <p:cxnSp>
        <p:nvCxnSpPr>
          <p:cNvPr id="8643" name="Google Shape;8643;p494"/>
          <p:cNvCxnSpPr/>
          <p:nvPr/>
        </p:nvCxnSpPr>
        <p:spPr>
          <a:xfrm>
            <a:off x="3207394" y="2513894"/>
            <a:ext cx="0" cy="2339140"/>
          </a:xfrm>
          <a:prstGeom prst="straightConnector1">
            <a:avLst/>
          </a:prstGeom>
          <a:noFill/>
          <a:ln cap="flat" cmpd="sng" w="12700">
            <a:solidFill>
              <a:schemeClr val="lt2"/>
            </a:solidFill>
            <a:prstDash val="solid"/>
            <a:round/>
            <a:headEnd len="sm" w="sm" type="none"/>
            <a:tailEnd len="sm" w="sm" type="none"/>
          </a:ln>
        </p:spPr>
      </p:cxnSp>
      <p:cxnSp>
        <p:nvCxnSpPr>
          <p:cNvPr id="8644" name="Google Shape;8644;p494"/>
          <p:cNvCxnSpPr/>
          <p:nvPr/>
        </p:nvCxnSpPr>
        <p:spPr>
          <a:xfrm>
            <a:off x="6057947" y="2513894"/>
            <a:ext cx="0" cy="2339140"/>
          </a:xfrm>
          <a:prstGeom prst="straightConnector1">
            <a:avLst/>
          </a:prstGeom>
          <a:noFill/>
          <a:ln cap="flat" cmpd="sng" w="12700">
            <a:solidFill>
              <a:schemeClr val="lt2"/>
            </a:solidFill>
            <a:prstDash val="solid"/>
            <a:round/>
            <a:headEnd len="sm" w="sm" type="none"/>
            <a:tailEnd len="sm" w="sm" type="none"/>
          </a:ln>
        </p:spPr>
      </p:cxnSp>
      <p:cxnSp>
        <p:nvCxnSpPr>
          <p:cNvPr id="8645" name="Google Shape;8645;p49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646" name="Google Shape;8646;p494"/>
          <p:cNvSpPr/>
          <p:nvPr/>
        </p:nvSpPr>
        <p:spPr>
          <a:xfrm rot="5400000">
            <a:off x="-86832" y="2588856"/>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47" name="Google Shape;8647;p494"/>
          <p:cNvSpPr/>
          <p:nvPr/>
        </p:nvSpPr>
        <p:spPr>
          <a:xfrm>
            <a:off x="4820082" y="1033673"/>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credit losses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reserve capital</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credit risk processing costs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48" name="Google Shape;8648;p494"/>
          <p:cNvSpPr/>
          <p:nvPr/>
        </p:nvSpPr>
        <p:spPr>
          <a:xfrm>
            <a:off x="6148806" y="240470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credit event prediction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financial and capital adequacy planning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 capital reserve and allowance for credit loss provisions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reporting and decision making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data lineage and transparency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efficient reconciliations (between financial and risk views)</a:t>
            </a:r>
            <a:endParaRPr sz="800">
              <a:solidFill>
                <a:srgbClr val="3C3C3B"/>
              </a:solidFill>
              <a:latin typeface="Century Gothic"/>
              <a:ea typeface="Century Gothic"/>
              <a:cs typeface="Century Gothic"/>
              <a:sym typeface="Century Gothic"/>
            </a:endParaRPr>
          </a:p>
        </p:txBody>
      </p:sp>
      <p:sp>
        <p:nvSpPr>
          <p:cNvPr id="8649" name="Google Shape;8649;p494"/>
          <p:cNvSpPr/>
          <p:nvPr/>
        </p:nvSpPr>
        <p:spPr>
          <a:xfrm>
            <a:off x="3271845" y="362844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specific risk data to be integrated across all lines of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Determine  frequency of update - daily, weekly, monthly to support business insights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 not limit analysis to just structured data, include: free-text in applications, customer notes, collections,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Establishment of data lineage between operating systems and financial systems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50" name="Google Shape;8650;p494"/>
          <p:cNvSpPr/>
          <p:nvPr/>
        </p:nvSpPr>
        <p:spPr>
          <a:xfrm>
            <a:off x="3271845" y="240470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and Pattern (nPath) to identify most frequent paths leading to credit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Regression analytics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sz="800">
              <a:solidFill>
                <a:srgbClr val="3C3C3B"/>
              </a:solidFill>
              <a:latin typeface="Century Gothic"/>
              <a:ea typeface="Century Gothic"/>
              <a:cs typeface="Century Gothic"/>
              <a:sym typeface="Century Gothic"/>
            </a:endParaRPr>
          </a:p>
        </p:txBody>
      </p:sp>
      <p:sp>
        <p:nvSpPr>
          <p:cNvPr id="8651" name="Google Shape;8651;p494"/>
          <p:cNvSpPr/>
          <p:nvPr/>
        </p:nvSpPr>
        <p:spPr>
          <a:xfrm>
            <a:off x="423863" y="362844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across all lines of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Critical to be able to operationalize the identified analytics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Predicting  the cost of an adverse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Extending data lineage through third party models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52" name="Google Shape;8652;p494"/>
          <p:cNvSpPr/>
          <p:nvPr/>
        </p:nvSpPr>
        <p:spPr>
          <a:xfrm>
            <a:off x="423863" y="240470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Lending system transactions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related information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Business Rules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Analytical model outputs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Business reference hierarchies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Collection &amp; Recovery process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Economic factor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data, e.g. FICO</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53" name="Google Shape;8653;p494"/>
          <p:cNvSpPr/>
          <p:nvPr/>
        </p:nvSpPr>
        <p:spPr>
          <a:xfrm>
            <a:off x="423863" y="1033673"/>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Enable behavioral view of Probability of Default (PoD),  Loss Given Default (LGD) and Earnings at Risk (EaR)</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Enable proactive credit risk exposure management at deal and portfolio level</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Accurately predict credit risk events to support mitigating actions</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Credit product classification completed at too high a level of aggregation</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Credit scoring models do not include up to date economic factors</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Risk management and financial management processes operate independently and sub-optimize financial performance</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0"/>
              </a:spcBef>
              <a:spcAft>
                <a:spcPts val="0"/>
              </a:spcAft>
              <a:buClr>
                <a:srgbClr val="EC881D"/>
              </a:buClr>
              <a:buSzPts val="800"/>
              <a:buFont typeface="Noto Sans Symbols"/>
              <a:buNone/>
            </a:pPr>
            <a:r>
              <a:t/>
            </a:r>
            <a:endParaRPr sz="800">
              <a:solidFill>
                <a:srgbClr val="3C3C3B"/>
              </a:solidFill>
              <a:latin typeface="Century Gothic"/>
              <a:ea typeface="Century Gothic"/>
              <a:cs typeface="Century Gothic"/>
              <a:sym typeface="Century Gothic"/>
            </a:endParaRPr>
          </a:p>
        </p:txBody>
      </p:sp>
      <p:sp>
        <p:nvSpPr>
          <p:cNvPr id="8654" name="Google Shape;8654;p49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Henry Kolisnik</a:t>
            </a:r>
            <a:endParaRPr sz="900">
              <a:solidFill>
                <a:schemeClr val="accent6"/>
              </a:solidFill>
              <a:latin typeface="Century Gothic"/>
              <a:ea typeface="Century Gothic"/>
              <a:cs typeface="Century Gothic"/>
              <a:sym typeface="Century Gothic"/>
            </a:endParaRPr>
          </a:p>
        </p:txBody>
      </p:sp>
      <p:sp>
        <p:nvSpPr>
          <p:cNvPr id="8655" name="Google Shape;8655;p494"/>
          <p:cNvSpPr/>
          <p:nvPr/>
        </p:nvSpPr>
        <p:spPr>
          <a:xfrm>
            <a:off x="355600" y="82006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56" name="Google Shape;8656;p494"/>
          <p:cNvSpPr txBox="1"/>
          <p:nvPr>
            <p:ph type="title"/>
          </p:nvPr>
        </p:nvSpPr>
        <p:spPr>
          <a:xfrm>
            <a:off x="423864" y="390368"/>
            <a:ext cx="6307136"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Pre-Default Risk and Credit Event Prediction</a:t>
            </a:r>
            <a:endParaRPr sz="2400"/>
          </a:p>
        </p:txBody>
      </p:sp>
      <p:sp>
        <p:nvSpPr>
          <p:cNvPr id="8657" name="Google Shape;8657;p4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62" name="Shape 8662"/>
        <p:cNvGrpSpPr/>
        <p:nvPr/>
      </p:nvGrpSpPr>
      <p:grpSpPr>
        <a:xfrm>
          <a:off x="0" y="0"/>
          <a:ext cx="0" cy="0"/>
          <a:chOff x="0" y="0"/>
          <a:chExt cx="0" cy="0"/>
        </a:xfrm>
      </p:grpSpPr>
      <p:cxnSp>
        <p:nvCxnSpPr>
          <p:cNvPr id="8663" name="Google Shape;8663;p49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64" name="Google Shape;8664;p49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65" name="Google Shape;8665;p49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666" name="Google Shape;8666;p49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67" name="Google Shape;8667;p49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 profit—range of 1-5% increase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risk adjusted margins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targeted retention &amp; acquisition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competitive market capability</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68" name="Google Shape;8668;p49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Enablement of more granular risk segmentation for potential underwriting.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Enablement of deeper and wider risk analysis through the integration of traditional and big data and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Expansion of product offerings through the identification of insurable coverages and segments of the population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69" name="Google Shape;8669;p49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traditional and other types of data (non-traditional)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granular data for analysis of underwriting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Incorporation of geospatial data for location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visualize results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70" name="Google Shape;8670;p49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Traditional actuarial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sz="800">
              <a:solidFill>
                <a:srgbClr val="3C3C3B"/>
              </a:solidFill>
              <a:latin typeface="Century Gothic"/>
              <a:ea typeface="Century Gothic"/>
              <a:cs typeface="Century Gothic"/>
              <a:sym typeface="Century Gothic"/>
            </a:endParaRPr>
          </a:p>
        </p:txBody>
      </p:sp>
      <p:sp>
        <p:nvSpPr>
          <p:cNvPr id="8671" name="Google Shape;8671;p49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Reducing-eliminating summarized data use by underwriters &amp; by underwriting models </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use of atomic data for analysis</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Leveraging both text and traditional data in analysis.</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Underwriting access to analytics (BI and visualization) and integration with underwriting operational systems</a:t>
            </a:r>
            <a:endParaRPr/>
          </a:p>
          <a:p>
            <a:pPr indent="-57199" lvl="0" marL="108000" marR="0" rtl="0" algn="l">
              <a:spcBef>
                <a:spcPts val="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72" name="Google Shape;8672;p49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Highly atomic risk and claims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Third-party data such as Motor Vehicle Registry (MVRs)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Non-traditional data, which includes text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Policy data</a:t>
            </a:r>
            <a:endParaRPr sz="800">
              <a:solidFill>
                <a:schemeClr val="dk1"/>
              </a:solidFill>
              <a:latin typeface="Century Gothic"/>
              <a:ea typeface="Century Gothic"/>
              <a:cs typeface="Century Gothic"/>
              <a:sym typeface="Century Gothic"/>
            </a:endParaRPr>
          </a:p>
        </p:txBody>
      </p:sp>
      <p:sp>
        <p:nvSpPr>
          <p:cNvPr id="8673" name="Google Shape;8673;p49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Insurance sales are becoming ever increasingly challenging and competitive.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insured policy shopping through pricing flexibility</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Lack of detailed data prevents the ability to underwrite new segments of risks, i.e., formerly considered uninsurable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retention of profitable policyholders and acquisition of new policyholders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74" name="Google Shape;8674;p49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Georges Prouty</a:t>
            </a:r>
            <a:endParaRPr sz="900">
              <a:solidFill>
                <a:schemeClr val="accent6"/>
              </a:solidFill>
              <a:latin typeface="Century Gothic"/>
              <a:ea typeface="Century Gothic"/>
              <a:cs typeface="Century Gothic"/>
              <a:sym typeface="Century Gothic"/>
            </a:endParaRPr>
          </a:p>
        </p:txBody>
      </p:sp>
      <p:sp>
        <p:nvSpPr>
          <p:cNvPr id="8675" name="Google Shape;8675;p49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76" name="Google Shape;8676;p49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Risk Based Policy Pricing</a:t>
            </a:r>
            <a:endParaRPr sz="2400"/>
          </a:p>
        </p:txBody>
      </p:sp>
      <p:sp>
        <p:nvSpPr>
          <p:cNvPr id="8677" name="Google Shape;8677;p49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82" name="Shape 8682"/>
        <p:cNvGrpSpPr/>
        <p:nvPr/>
      </p:nvGrpSpPr>
      <p:grpSpPr>
        <a:xfrm>
          <a:off x="0" y="0"/>
          <a:ext cx="0" cy="0"/>
          <a:chOff x="0" y="0"/>
          <a:chExt cx="0" cy="0"/>
        </a:xfrm>
      </p:grpSpPr>
      <p:cxnSp>
        <p:nvCxnSpPr>
          <p:cNvPr id="8683" name="Google Shape;8683;p49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84" name="Google Shape;8684;p49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85" name="Google Shape;8685;p49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686" name="Google Shape;8686;p49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87" name="Google Shape;8687;p49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88" name="Google Shape;8688;p49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689" name="Google Shape;8689;p49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90" name="Google Shape;8690;p49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91" name="Google Shape;8691;p49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692" name="Google Shape;8692;p49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93" name="Google Shape;8693;p49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94" name="Google Shape;8694;p49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695" name="Google Shape;8695;p496"/>
          <p:cNvSpPr/>
          <p:nvPr/>
        </p:nvSpPr>
        <p:spPr>
          <a:xfrm>
            <a:off x="355600" y="862393"/>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96" name="Google Shape;8696;p496"/>
          <p:cNvSpPr txBox="1"/>
          <p:nvPr>
            <p:ph type="title"/>
          </p:nvPr>
        </p:nvSpPr>
        <p:spPr>
          <a:xfrm>
            <a:off x="423864" y="432701"/>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Real Estate Mortgage Pricing – Small Business</a:t>
            </a:r>
            <a:endParaRPr sz="2400"/>
          </a:p>
        </p:txBody>
      </p:sp>
      <p:sp>
        <p:nvSpPr>
          <p:cNvPr id="8697" name="Google Shape;8697;p4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02" name="Shape 8702"/>
        <p:cNvGrpSpPr/>
        <p:nvPr/>
      </p:nvGrpSpPr>
      <p:grpSpPr>
        <a:xfrm>
          <a:off x="0" y="0"/>
          <a:ext cx="0" cy="0"/>
          <a:chOff x="0" y="0"/>
          <a:chExt cx="0" cy="0"/>
        </a:xfrm>
      </p:grpSpPr>
      <p:cxnSp>
        <p:nvCxnSpPr>
          <p:cNvPr id="8703" name="Google Shape;8703;p49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04" name="Google Shape;8704;p49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05" name="Google Shape;8705;p49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06" name="Google Shape;8706;p49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07" name="Google Shape;8707;p49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08" name="Google Shape;8708;p49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09" name="Google Shape;8709;p49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10" name="Google Shape;8710;p49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11" name="Google Shape;8711;p49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12" name="Google Shape;8712;p49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13" name="Google Shape;8713;p49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14" name="Google Shape;8714;p49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15" name="Google Shape;8715;p497"/>
          <p:cNvSpPr/>
          <p:nvPr/>
        </p:nvSpPr>
        <p:spPr>
          <a:xfrm>
            <a:off x="355600" y="862393"/>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16" name="Google Shape;8716;p497"/>
          <p:cNvSpPr txBox="1"/>
          <p:nvPr>
            <p:ph type="title"/>
          </p:nvPr>
        </p:nvSpPr>
        <p:spPr>
          <a:xfrm>
            <a:off x="423864" y="432701"/>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Credit Portfolio Management</a:t>
            </a:r>
            <a:endParaRPr sz="2400"/>
          </a:p>
        </p:txBody>
      </p:sp>
      <p:sp>
        <p:nvSpPr>
          <p:cNvPr id="8717" name="Google Shape;8717;p49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22" name="Shape 8722"/>
        <p:cNvGrpSpPr/>
        <p:nvPr/>
      </p:nvGrpSpPr>
      <p:grpSpPr>
        <a:xfrm>
          <a:off x="0" y="0"/>
          <a:ext cx="0" cy="0"/>
          <a:chOff x="0" y="0"/>
          <a:chExt cx="0" cy="0"/>
        </a:xfrm>
      </p:grpSpPr>
      <p:cxnSp>
        <p:nvCxnSpPr>
          <p:cNvPr id="8723" name="Google Shape;8723;p49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24" name="Google Shape;8724;p49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25" name="Google Shape;8725;p49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26" name="Google Shape;8726;p49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27" name="Google Shape;8727;p49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28" name="Google Shape;8728;p49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29" name="Google Shape;8729;p49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30" name="Google Shape;8730;p49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31" name="Google Shape;8731;p49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32" name="Google Shape;8732;p49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33" name="Google Shape;8733;p49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34" name="Google Shape;8734;p49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35" name="Google Shape;8735;p498"/>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36" name="Google Shape;8736;p498"/>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Risk Management Intelligence</a:t>
            </a:r>
            <a:endParaRPr sz="2400"/>
          </a:p>
        </p:txBody>
      </p:sp>
      <p:sp>
        <p:nvSpPr>
          <p:cNvPr id="8737" name="Google Shape;8737;p4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42" name="Shape 8742"/>
        <p:cNvGrpSpPr/>
        <p:nvPr/>
      </p:nvGrpSpPr>
      <p:grpSpPr>
        <a:xfrm>
          <a:off x="0" y="0"/>
          <a:ext cx="0" cy="0"/>
          <a:chOff x="0" y="0"/>
          <a:chExt cx="0" cy="0"/>
        </a:xfrm>
      </p:grpSpPr>
      <p:cxnSp>
        <p:nvCxnSpPr>
          <p:cNvPr id="8743" name="Google Shape;8743;p49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44" name="Google Shape;8744;p49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45" name="Google Shape;8745;p49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746" name="Google Shape;8746;p49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47" name="Google Shape;8747;p49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Earnings volatility reduced by more effective use of hedging products (e.g. mitigation of adverse currency movements)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Accurately represent the firm’s risk management activities in financial statements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Compliance with regulatory and accounting standards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Easier and lower maintenance costs of modern accounting processes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48" name="Google Shape;8748;p49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 Rapid visualization of optimal hedging strategy with P&amp;L impact based upon portfolio asset mix and asset/liability forecast.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49" name="Google Shape;8749;p49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Consolidated environment of hedging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Integrated view of detailed forward currency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Accelerated calculation and delivery of optimized hedged solution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50" name="Google Shape;8750;p49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Value at Risk (VaR)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Linear optimization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51" name="Google Shape;8751;p49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Level of integration, Degree of granularity, Timeliness, Quality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Knowledge of and confidence in portfolio hedge products (derivatives: swaps, futures, options)</a:t>
            </a:r>
            <a:endParaRPr sz="800">
              <a:solidFill>
                <a:srgbClr val="3C3C3B"/>
              </a:solidFill>
              <a:latin typeface="Century Gothic"/>
              <a:ea typeface="Century Gothic"/>
              <a:cs typeface="Century Gothic"/>
              <a:sym typeface="Century Gothic"/>
            </a:endParaRPr>
          </a:p>
        </p:txBody>
      </p:sp>
      <p:sp>
        <p:nvSpPr>
          <p:cNvPr id="8752" name="Google Shape;8752;p49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Portfolio balance and transaction data (Balances, rates, fees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Market data – Real-time and historic F/X rates and Interest rates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Cashflow and asset/liability forecast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53" name="Google Shape;8753;p49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Develop and effective hedging strategy delivering the ability to implement accounting changes and perform Fair Value and Hedge Accounting in a quick, flexible and cost-effective manner.</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For multi-national firms, adverse currency movements can have a material impact on earnings.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Solutions offered by the Financial Services industry tend to be “one size fits all” and/or expensive.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54" name="Google Shape;8754;p49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Companies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Adrian Sharp</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8755" name="Google Shape;8755;p49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56" name="Google Shape;8756;p49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Currency Hedge Analytics</a:t>
            </a:r>
            <a:endParaRPr sz="2400"/>
          </a:p>
        </p:txBody>
      </p:sp>
      <p:sp>
        <p:nvSpPr>
          <p:cNvPr id="8757" name="Google Shape;8757;p49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62" name="Shape 8762"/>
        <p:cNvGrpSpPr/>
        <p:nvPr/>
      </p:nvGrpSpPr>
      <p:grpSpPr>
        <a:xfrm>
          <a:off x="0" y="0"/>
          <a:ext cx="0" cy="0"/>
          <a:chOff x="0" y="0"/>
          <a:chExt cx="0" cy="0"/>
        </a:xfrm>
      </p:grpSpPr>
      <p:cxnSp>
        <p:nvCxnSpPr>
          <p:cNvPr id="8763" name="Google Shape;8763;p50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64" name="Google Shape;8764;p50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65" name="Google Shape;8765;p50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66" name="Google Shape;8766;p50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67" name="Google Shape;8767;p50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68" name="Google Shape;8768;p50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69" name="Google Shape;8769;p50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70" name="Google Shape;8770;p50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71" name="Google Shape;8771;p50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72" name="Google Shape;8772;p50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73" name="Google Shape;8773;p50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74" name="Google Shape;8774;p50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75" name="Google Shape;8775;p500"/>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76" name="Google Shape;8776;p500"/>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Liquidity and Market Risk Intra-Day Trend</a:t>
            </a:r>
            <a:endParaRPr sz="2400"/>
          </a:p>
        </p:txBody>
      </p:sp>
      <p:sp>
        <p:nvSpPr>
          <p:cNvPr id="8777" name="Google Shape;8777;p5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82" name="Shape 8782"/>
        <p:cNvGrpSpPr/>
        <p:nvPr/>
      </p:nvGrpSpPr>
      <p:grpSpPr>
        <a:xfrm>
          <a:off x="0" y="0"/>
          <a:ext cx="0" cy="0"/>
          <a:chOff x="0" y="0"/>
          <a:chExt cx="0" cy="0"/>
        </a:xfrm>
      </p:grpSpPr>
      <p:cxnSp>
        <p:nvCxnSpPr>
          <p:cNvPr id="8783" name="Google Shape;8783;p50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84" name="Google Shape;8784;p50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85" name="Google Shape;8785;p50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86" name="Google Shape;8786;p50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87" name="Google Shape;8787;p50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88" name="Google Shape;8788;p50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89" name="Google Shape;8789;p50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90" name="Google Shape;8790;p50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91" name="Google Shape;8791;p50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92" name="Google Shape;8792;p50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93" name="Google Shape;8793;p50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94" name="Google Shape;8794;p50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95" name="Google Shape;8795;p501"/>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96" name="Google Shape;8796;p501"/>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Market Risk Based Pricing</a:t>
            </a:r>
            <a:endParaRPr sz="2400"/>
          </a:p>
        </p:txBody>
      </p:sp>
      <p:sp>
        <p:nvSpPr>
          <p:cNvPr id="8797" name="Google Shape;8797;p50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02" name="Shape 8802"/>
        <p:cNvGrpSpPr/>
        <p:nvPr/>
      </p:nvGrpSpPr>
      <p:grpSpPr>
        <a:xfrm>
          <a:off x="0" y="0"/>
          <a:ext cx="0" cy="0"/>
          <a:chOff x="0" y="0"/>
          <a:chExt cx="0" cy="0"/>
        </a:xfrm>
      </p:grpSpPr>
      <p:cxnSp>
        <p:nvCxnSpPr>
          <p:cNvPr id="8803" name="Google Shape;8803;p50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04" name="Google Shape;8804;p50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05" name="Google Shape;8805;p50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806" name="Google Shape;8806;p50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07" name="Google Shape;8807;p50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808" name="Google Shape;8808;p50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809" name="Google Shape;8809;p50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810" name="Google Shape;8810;p50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811" name="Google Shape;8811;p50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812" name="Google Shape;8812;p50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813" name="Google Shape;8813;p50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814" name="Google Shape;8814;p50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815" name="Google Shape;8815;p502"/>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816" name="Google Shape;8816;p502"/>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Improving the Collections Experience</a:t>
            </a:r>
            <a:endParaRPr sz="2400"/>
          </a:p>
        </p:txBody>
      </p:sp>
      <p:sp>
        <p:nvSpPr>
          <p:cNvPr id="8817" name="Google Shape;8817;p5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22" name="Shape 8822"/>
        <p:cNvGrpSpPr/>
        <p:nvPr/>
      </p:nvGrpSpPr>
      <p:grpSpPr>
        <a:xfrm>
          <a:off x="0" y="0"/>
          <a:ext cx="0" cy="0"/>
          <a:chOff x="0" y="0"/>
          <a:chExt cx="0" cy="0"/>
        </a:xfrm>
      </p:grpSpPr>
      <p:cxnSp>
        <p:nvCxnSpPr>
          <p:cNvPr id="8823" name="Google Shape;8823;p50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24" name="Google Shape;8824;p50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25" name="Google Shape;8825;p50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826" name="Google Shape;8826;p50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27" name="Google Shape;8827;p50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828" name="Google Shape;8828;p50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829" name="Google Shape;8829;p50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830" name="Google Shape;8830;p50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831" name="Google Shape;8831;p50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832" name="Google Shape;8832;p50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833" name="Google Shape;8833;p50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834" name="Google Shape;8834;p50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835" name="Google Shape;8835;p503"/>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836" name="Google Shape;8836;p503"/>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Collections Analytics</a:t>
            </a:r>
            <a:endParaRPr sz="2400"/>
          </a:p>
        </p:txBody>
      </p:sp>
      <p:sp>
        <p:nvSpPr>
          <p:cNvPr id="8837" name="Google Shape;8837;p5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47" name="Shape 8847"/>
        <p:cNvGrpSpPr/>
        <p:nvPr/>
      </p:nvGrpSpPr>
      <p:grpSpPr>
        <a:xfrm>
          <a:off x="0" y="0"/>
          <a:ext cx="0" cy="0"/>
          <a:chOff x="0" y="0"/>
          <a:chExt cx="0" cy="0"/>
        </a:xfrm>
      </p:grpSpPr>
      <p:sp>
        <p:nvSpPr>
          <p:cNvPr id="8848" name="Google Shape;8848;p505"/>
          <p:cNvSpPr txBox="1"/>
          <p:nvPr>
            <p:ph idx="2" type="body"/>
          </p:nvPr>
        </p:nvSpPr>
        <p:spPr>
          <a:xfrm>
            <a:off x="438098" y="768734"/>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Security and Fraud</a:t>
            </a:r>
            <a:endParaRPr sz="1600"/>
          </a:p>
        </p:txBody>
      </p:sp>
      <p:sp>
        <p:nvSpPr>
          <p:cNvPr id="8849" name="Google Shape;8849;p505"/>
          <p:cNvSpPr txBox="1"/>
          <p:nvPr>
            <p:ph type="title"/>
          </p:nvPr>
        </p:nvSpPr>
        <p:spPr>
          <a:xfrm>
            <a:off x="425396" y="200719"/>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Business Value Framework – Security and Fraud</a:t>
            </a:r>
            <a:endParaRPr sz="2400"/>
          </a:p>
        </p:txBody>
      </p:sp>
      <p:sp>
        <p:nvSpPr>
          <p:cNvPr id="8850" name="Google Shape;8850;p505"/>
          <p:cNvSpPr/>
          <p:nvPr/>
        </p:nvSpPr>
        <p:spPr>
          <a:xfrm>
            <a:off x="459950" y="1314448"/>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51" name="Google Shape;8851;p505">
            <a:hlinkClick action="ppaction://hlinksldjump" r:id="rId3"/>
          </p:cNvPr>
          <p:cNvSpPr/>
          <p:nvPr/>
        </p:nvSpPr>
        <p:spPr>
          <a:xfrm>
            <a:off x="565151" y="1428749"/>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Security and Fraud</a:t>
            </a:r>
            <a:endParaRPr sz="800">
              <a:solidFill>
                <a:srgbClr val="FFFFFF"/>
              </a:solidFill>
              <a:latin typeface="Century Gothic"/>
              <a:ea typeface="Century Gothic"/>
              <a:cs typeface="Century Gothic"/>
              <a:sym typeface="Century Gothic"/>
            </a:endParaRPr>
          </a:p>
        </p:txBody>
      </p:sp>
      <p:sp>
        <p:nvSpPr>
          <p:cNvPr id="8852" name="Google Shape;8852;p505">
            <a:hlinkClick action="ppaction://hlinksldjump" r:id="rId4"/>
          </p:cNvPr>
          <p:cNvSpPr/>
          <p:nvPr/>
        </p:nvSpPr>
        <p:spPr>
          <a:xfrm>
            <a:off x="4300766"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Employee Fraud</a:t>
            </a:r>
            <a:endParaRPr sz="1100">
              <a:solidFill>
                <a:srgbClr val="FFFFFF"/>
              </a:solidFill>
              <a:latin typeface="Century Gothic"/>
              <a:ea typeface="Century Gothic"/>
              <a:cs typeface="Century Gothic"/>
              <a:sym typeface="Century Gothic"/>
            </a:endParaRPr>
          </a:p>
        </p:txBody>
      </p:sp>
      <p:sp>
        <p:nvSpPr>
          <p:cNvPr id="8853" name="Google Shape;8853;p505">
            <a:hlinkClick action="ppaction://hlinksldjump" r:id="rId5"/>
          </p:cNvPr>
          <p:cNvSpPr/>
          <p:nvPr/>
        </p:nvSpPr>
        <p:spPr>
          <a:xfrm>
            <a:off x="2099735"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Fraud Analytics</a:t>
            </a:r>
            <a:endParaRPr sz="1100">
              <a:solidFill>
                <a:srgbClr val="FFFFFF"/>
              </a:solidFill>
              <a:latin typeface="Century Gothic"/>
              <a:ea typeface="Century Gothic"/>
              <a:cs typeface="Century Gothic"/>
              <a:sym typeface="Century Gothic"/>
            </a:endParaRPr>
          </a:p>
        </p:txBody>
      </p:sp>
      <p:sp>
        <p:nvSpPr>
          <p:cNvPr id="8854" name="Google Shape;8854;p505">
            <a:hlinkClick action="ppaction://hlinksldjump" r:id="rId6"/>
          </p:cNvPr>
          <p:cNvSpPr/>
          <p:nvPr/>
        </p:nvSpPr>
        <p:spPr>
          <a:xfrm>
            <a:off x="6476968"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Fraud</a:t>
            </a:r>
            <a:endParaRPr sz="1100">
              <a:solidFill>
                <a:srgbClr val="FFFFFF"/>
              </a:solidFill>
              <a:latin typeface="Century Gothic"/>
              <a:ea typeface="Century Gothic"/>
              <a:cs typeface="Century Gothic"/>
              <a:sym typeface="Century Gothic"/>
            </a:endParaRPr>
          </a:p>
        </p:txBody>
      </p:sp>
      <p:sp>
        <p:nvSpPr>
          <p:cNvPr id="8855" name="Google Shape;8855;p505"/>
          <p:cNvSpPr/>
          <p:nvPr/>
        </p:nvSpPr>
        <p:spPr>
          <a:xfrm>
            <a:off x="2073748" y="1410517"/>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8856" name="Google Shape;8856;p505">
            <a:hlinkClick action="ppaction://hlinksldjump" r:id="rId7"/>
          </p:cNvPr>
          <p:cNvSpPr/>
          <p:nvPr/>
        </p:nvSpPr>
        <p:spPr>
          <a:xfrm>
            <a:off x="567549" y="4086467"/>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grpSp>
        <p:nvGrpSpPr>
          <p:cNvPr id="8857" name="Google Shape;8857;p505"/>
          <p:cNvGrpSpPr/>
          <p:nvPr/>
        </p:nvGrpSpPr>
        <p:grpSpPr>
          <a:xfrm>
            <a:off x="7717533" y="4487376"/>
            <a:ext cx="1058348" cy="347375"/>
            <a:chOff x="7651698" y="4287227"/>
            <a:chExt cx="1058348" cy="347375"/>
          </a:xfrm>
        </p:grpSpPr>
        <p:grpSp>
          <p:nvGrpSpPr>
            <p:cNvPr id="8858" name="Google Shape;8858;p505"/>
            <p:cNvGrpSpPr/>
            <p:nvPr/>
          </p:nvGrpSpPr>
          <p:grpSpPr>
            <a:xfrm>
              <a:off x="7714163" y="4337598"/>
              <a:ext cx="995883" cy="297004"/>
              <a:chOff x="7711013" y="3986494"/>
              <a:chExt cx="995883" cy="297004"/>
            </a:xfrm>
          </p:grpSpPr>
          <p:sp>
            <p:nvSpPr>
              <p:cNvPr id="8859" name="Google Shape;8859;p50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860" name="Google Shape;8860;p505"/>
              <p:cNvGrpSpPr/>
              <p:nvPr/>
            </p:nvGrpSpPr>
            <p:grpSpPr>
              <a:xfrm>
                <a:off x="7711013" y="4002615"/>
                <a:ext cx="281520" cy="241973"/>
                <a:chOff x="5652748" y="4066000"/>
                <a:chExt cx="906498" cy="747974"/>
              </a:xfrm>
            </p:grpSpPr>
            <p:sp>
              <p:nvSpPr>
                <p:cNvPr id="8861" name="Google Shape;8861;p50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862" name="Google Shape;8862;p50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63" name="Google Shape;8863;p50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864" name="Google Shape;8864;p505">
              <a:hlinkClick action="ppaction://hlinksldjump" r:id="rId8"/>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8865" name="Google Shape;8865;p505">
            <a:hlinkClick action="ppaction://hlinksldjump" r:id="rId9"/>
          </p:cNvPr>
          <p:cNvSpPr/>
          <p:nvPr/>
        </p:nvSpPr>
        <p:spPr>
          <a:xfrm>
            <a:off x="2099735" y="2726350"/>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Information and Cyber Security</a:t>
            </a:r>
            <a:endParaRPr sz="1100">
              <a:solidFill>
                <a:srgbClr val="FFFFFF"/>
              </a:solidFill>
              <a:latin typeface="Century Gothic"/>
              <a:ea typeface="Century Gothic"/>
              <a:cs typeface="Century Gothic"/>
              <a:sym typeface="Century Gothic"/>
            </a:endParaRPr>
          </a:p>
        </p:txBody>
      </p:sp>
      <p:sp>
        <p:nvSpPr>
          <p:cNvPr id="8866" name="Google Shape;8866;p505">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71" name="Shape 8871"/>
        <p:cNvGrpSpPr/>
        <p:nvPr/>
      </p:nvGrpSpPr>
      <p:grpSpPr>
        <a:xfrm>
          <a:off x="0" y="0"/>
          <a:ext cx="0" cy="0"/>
          <a:chOff x="0" y="0"/>
          <a:chExt cx="0" cy="0"/>
        </a:xfrm>
      </p:grpSpPr>
      <p:sp>
        <p:nvSpPr>
          <p:cNvPr id="8872" name="Google Shape;8872;p506"/>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73" name="Google Shape;8873;p506">
            <a:hlinkClick action="ppaction://hlinksldjump" r:id="rId3"/>
          </p:cNvPr>
          <p:cNvSpPr/>
          <p:nvPr/>
        </p:nvSpPr>
        <p:spPr>
          <a:xfrm>
            <a:off x="565902" y="1762240"/>
            <a:ext cx="1395519" cy="1142621"/>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Fraud Analytics</a:t>
            </a:r>
            <a:endParaRPr sz="1100">
              <a:solidFill>
                <a:srgbClr val="FFFFFF"/>
              </a:solidFill>
              <a:latin typeface="Century Gothic"/>
              <a:ea typeface="Century Gothic"/>
              <a:cs typeface="Century Gothic"/>
              <a:sym typeface="Century Gothic"/>
            </a:endParaRPr>
          </a:p>
        </p:txBody>
      </p:sp>
      <p:sp>
        <p:nvSpPr>
          <p:cNvPr id="8874" name="Google Shape;8874;p50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8875" name="Google Shape;8875;p506">
            <a:hlinkClick action="ppaction://hlinksldjump" r:id="rId4"/>
          </p:cNvPr>
          <p:cNvSpPr/>
          <p:nvPr/>
        </p:nvSpPr>
        <p:spPr>
          <a:xfrm>
            <a:off x="567549" y="2663121"/>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876" name="Google Shape;8876;p50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Real-Time Threat Detection and Mitigation</a:t>
            </a:r>
            <a:endParaRPr sz="1100">
              <a:solidFill>
                <a:srgbClr val="FF0000"/>
              </a:solidFill>
              <a:latin typeface="Century Gothic"/>
              <a:ea typeface="Century Gothic"/>
              <a:cs typeface="Century Gothic"/>
              <a:sym typeface="Century Gothic"/>
            </a:endParaRPr>
          </a:p>
        </p:txBody>
      </p:sp>
      <p:sp>
        <p:nvSpPr>
          <p:cNvPr id="8877" name="Google Shape;8877;p506">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Risk Assessment</a:t>
            </a:r>
            <a:endParaRPr sz="1100">
              <a:solidFill>
                <a:srgbClr val="FF0000"/>
              </a:solidFill>
              <a:latin typeface="Century Gothic"/>
              <a:ea typeface="Century Gothic"/>
              <a:cs typeface="Century Gothic"/>
              <a:sym typeface="Century Gothic"/>
            </a:endParaRPr>
          </a:p>
        </p:txBody>
      </p:sp>
      <p:sp>
        <p:nvSpPr>
          <p:cNvPr id="8878" name="Google Shape;8878;p506">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Incident Management</a:t>
            </a:r>
            <a:endParaRPr sz="1100">
              <a:solidFill>
                <a:srgbClr val="FF0000"/>
              </a:solidFill>
              <a:latin typeface="Century Gothic"/>
              <a:ea typeface="Century Gothic"/>
              <a:cs typeface="Century Gothic"/>
              <a:sym typeface="Century Gothic"/>
            </a:endParaRPr>
          </a:p>
        </p:txBody>
      </p:sp>
      <p:sp>
        <p:nvSpPr>
          <p:cNvPr id="8879" name="Google Shape;8879;p506">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Investigations and Forensics</a:t>
            </a:r>
            <a:endParaRPr sz="1100">
              <a:solidFill>
                <a:srgbClr val="FF0000"/>
              </a:solidFill>
              <a:latin typeface="Century Gothic"/>
              <a:ea typeface="Century Gothic"/>
              <a:cs typeface="Century Gothic"/>
              <a:sym typeface="Century Gothic"/>
            </a:endParaRPr>
          </a:p>
        </p:txBody>
      </p:sp>
      <p:sp>
        <p:nvSpPr>
          <p:cNvPr id="8880" name="Google Shape;8880;p506"/>
          <p:cNvSpPr txBox="1"/>
          <p:nvPr>
            <p:ph idx="2" type="body"/>
          </p:nvPr>
        </p:nvSpPr>
        <p:spPr>
          <a:xfrm>
            <a:off x="438098" y="782845"/>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Security and Fraud</a:t>
            </a:r>
            <a:endParaRPr sz="1600"/>
          </a:p>
        </p:txBody>
      </p:sp>
      <p:sp>
        <p:nvSpPr>
          <p:cNvPr id="8881" name="Google Shape;8881;p506"/>
          <p:cNvSpPr txBox="1"/>
          <p:nvPr>
            <p:ph type="title"/>
          </p:nvPr>
        </p:nvSpPr>
        <p:spPr>
          <a:xfrm>
            <a:off x="425396" y="214830"/>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Capabilities</a:t>
            </a:r>
            <a:endParaRPr sz="2400"/>
          </a:p>
        </p:txBody>
      </p:sp>
      <p:sp>
        <p:nvSpPr>
          <p:cNvPr id="8882" name="Google Shape;8882;p506"/>
          <p:cNvSpPr/>
          <p:nvPr/>
        </p:nvSpPr>
        <p:spPr>
          <a:xfrm>
            <a:off x="2409056" y="-392520"/>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883" name="Google Shape;8883;p50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884" name="Google Shape;8884;p506"/>
          <p:cNvGrpSpPr/>
          <p:nvPr/>
        </p:nvGrpSpPr>
        <p:grpSpPr>
          <a:xfrm>
            <a:off x="7717533" y="4360377"/>
            <a:ext cx="1058348" cy="347375"/>
            <a:chOff x="7651698" y="4287227"/>
            <a:chExt cx="1058348" cy="347375"/>
          </a:xfrm>
        </p:grpSpPr>
        <p:grpSp>
          <p:nvGrpSpPr>
            <p:cNvPr id="8885" name="Google Shape;8885;p506"/>
            <p:cNvGrpSpPr/>
            <p:nvPr/>
          </p:nvGrpSpPr>
          <p:grpSpPr>
            <a:xfrm>
              <a:off x="7714163" y="4337598"/>
              <a:ext cx="995883" cy="297004"/>
              <a:chOff x="7711013" y="3986494"/>
              <a:chExt cx="995883" cy="297004"/>
            </a:xfrm>
          </p:grpSpPr>
          <p:sp>
            <p:nvSpPr>
              <p:cNvPr id="8886" name="Google Shape;8886;p50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887" name="Google Shape;8887;p506"/>
              <p:cNvGrpSpPr/>
              <p:nvPr/>
            </p:nvGrpSpPr>
            <p:grpSpPr>
              <a:xfrm>
                <a:off x="7711013" y="4002615"/>
                <a:ext cx="281520" cy="241973"/>
                <a:chOff x="5652748" y="4066000"/>
                <a:chExt cx="906498" cy="747974"/>
              </a:xfrm>
            </p:grpSpPr>
            <p:sp>
              <p:nvSpPr>
                <p:cNvPr id="8888" name="Google Shape;8888;p50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889" name="Google Shape;8889;p50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90" name="Google Shape;8890;p50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891" name="Google Shape;8891;p506">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8892" name="Google Shape;8892;p506">
            <a:hlinkClick action="ppaction://hlinksldjump" r:id="rId10"/>
          </p:cNvPr>
          <p:cNvSpPr/>
          <p:nvPr/>
        </p:nvSpPr>
        <p:spPr>
          <a:xfrm>
            <a:off x="4302265" y="2383397"/>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Loss Recovery</a:t>
            </a:r>
            <a:endParaRPr sz="1100">
              <a:solidFill>
                <a:srgbClr val="FF0000"/>
              </a:solidFill>
              <a:latin typeface="Century Gothic"/>
              <a:ea typeface="Century Gothic"/>
              <a:cs typeface="Century Gothic"/>
              <a:sym typeface="Century Gothic"/>
            </a:endParaRPr>
          </a:p>
        </p:txBody>
      </p:sp>
      <p:sp>
        <p:nvSpPr>
          <p:cNvPr id="8893" name="Google Shape;8893;p506">
            <a:hlinkClick action="ppaction://hlinksldjump" r:id="rId11"/>
          </p:cNvPr>
          <p:cNvSpPr/>
          <p:nvPr/>
        </p:nvSpPr>
        <p:spPr>
          <a:xfrm>
            <a:off x="6475527" y="2385668"/>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Fraud Model and Rule Development</a:t>
            </a:r>
            <a:endParaRPr sz="1100">
              <a:solidFill>
                <a:schemeClr val="accent1"/>
              </a:solidFill>
              <a:latin typeface="Century Gothic"/>
              <a:ea typeface="Century Gothic"/>
              <a:cs typeface="Century Gothic"/>
              <a:sym typeface="Century Gothic"/>
            </a:endParaRPr>
          </a:p>
        </p:txBody>
      </p:sp>
      <p:sp>
        <p:nvSpPr>
          <p:cNvPr id="8894" name="Google Shape;8894;p506">
            <a:hlinkClick action="ppaction://hlinksldjump" r:id="rId12"/>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Employee Fraud</a:t>
            </a:r>
            <a:endParaRPr sz="1100">
              <a:solidFill>
                <a:srgbClr val="FFFFFF"/>
              </a:solidFill>
              <a:latin typeface="Century Gothic"/>
              <a:ea typeface="Century Gothic"/>
              <a:cs typeface="Century Gothic"/>
              <a:sym typeface="Century Gothic"/>
            </a:endParaRPr>
          </a:p>
        </p:txBody>
      </p:sp>
      <p:sp>
        <p:nvSpPr>
          <p:cNvPr id="8895" name="Google Shape;8895;p506">
            <a:hlinkClick action="ppaction://hlinksldjump" r:id="rId13"/>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896" name="Google Shape;8896;p506">
            <a:hlinkClick action="ppaction://hlinksldjump" r:id="rId14"/>
          </p:cNvPr>
          <p:cNvSpPr/>
          <p:nvPr/>
        </p:nvSpPr>
        <p:spPr>
          <a:xfrm>
            <a:off x="2099732" y="302024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Sales and Value-Based Compensation</a:t>
            </a:r>
            <a:endParaRPr sz="1100">
              <a:solidFill>
                <a:schemeClr val="accent1"/>
              </a:solidFill>
              <a:latin typeface="Century Gothic"/>
              <a:ea typeface="Century Gothic"/>
              <a:cs typeface="Century Gothic"/>
              <a:sym typeface="Century Gothic"/>
            </a:endParaRPr>
          </a:p>
        </p:txBody>
      </p:sp>
      <p:sp>
        <p:nvSpPr>
          <p:cNvPr id="8897" name="Google Shape;8897;p506">
            <a:hlinkClick action="ppaction://hlinksldjump" r:id="rId15"/>
          </p:cNvPr>
          <p:cNvSpPr/>
          <p:nvPr/>
        </p:nvSpPr>
        <p:spPr>
          <a:xfrm>
            <a:off x="4290976" y="302024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Insider Trading</a:t>
            </a:r>
            <a:endParaRPr sz="1100">
              <a:solidFill>
                <a:schemeClr val="accent1"/>
              </a:solidFill>
              <a:latin typeface="Century Gothic"/>
              <a:ea typeface="Century Gothic"/>
              <a:cs typeface="Century Gothic"/>
              <a:sym typeface="Century Gothic"/>
            </a:endParaRPr>
          </a:p>
        </p:txBody>
      </p:sp>
      <p:sp>
        <p:nvSpPr>
          <p:cNvPr id="8898" name="Google Shape;8898;p506">
            <a:hlinkClick action="ppaction://hlinksldjump" r:id="rId16"/>
          </p:cNvPr>
          <p:cNvSpPr/>
          <p:nvPr/>
        </p:nvSpPr>
        <p:spPr>
          <a:xfrm>
            <a:off x="6475528" y="302024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Document Fraud</a:t>
            </a:r>
            <a:endParaRPr sz="1100">
              <a:solidFill>
                <a:schemeClr val="accent1"/>
              </a:solidFill>
              <a:latin typeface="Century Gothic"/>
              <a:ea typeface="Century Gothic"/>
              <a:cs typeface="Century Gothic"/>
              <a:sym typeface="Century Gothic"/>
            </a:endParaRPr>
          </a:p>
        </p:txBody>
      </p:sp>
      <p:sp>
        <p:nvSpPr>
          <p:cNvPr id="8899" name="Google Shape;8899;p506">
            <a:hlinkClick action="ppaction://hlinksldjump" r:id="rId17"/>
          </p:cNvPr>
          <p:cNvSpPr/>
          <p:nvPr/>
        </p:nvSpPr>
        <p:spPr>
          <a:xfrm>
            <a:off x="2099732" y="3651407"/>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Insider Threat</a:t>
            </a:r>
            <a:endParaRPr sz="1100">
              <a:solidFill>
                <a:schemeClr val="accent1"/>
              </a:solidFill>
              <a:latin typeface="Century Gothic"/>
              <a:ea typeface="Century Gothic"/>
              <a:cs typeface="Century Gothic"/>
              <a:sym typeface="Century Gothic"/>
            </a:endParaRPr>
          </a:p>
        </p:txBody>
      </p:sp>
      <p:sp>
        <p:nvSpPr>
          <p:cNvPr id="8900" name="Google Shape;8900;p506">
            <a:hlinkClick action="ppaction://hlinksldjump" r:id="rId18"/>
          </p:cNvPr>
          <p:cNvSpPr/>
          <p:nvPr/>
        </p:nvSpPr>
        <p:spPr>
          <a:xfrm>
            <a:off x="4302265" y="365242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Internal Theft, Shrinkage or Embezzlement, </a:t>
            </a:r>
            <a:endParaRPr sz="1100">
              <a:solidFill>
                <a:srgbClr val="FF0000"/>
              </a:solidFill>
              <a:latin typeface="Century Gothic"/>
              <a:ea typeface="Century Gothic"/>
              <a:cs typeface="Century Gothic"/>
              <a:sym typeface="Century Gothic"/>
            </a:endParaRPr>
          </a:p>
        </p:txBody>
      </p:sp>
      <p:sp>
        <p:nvSpPr>
          <p:cNvPr id="8901" name="Google Shape;8901;p506">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06" name="Shape 8906"/>
        <p:cNvGrpSpPr/>
        <p:nvPr/>
      </p:nvGrpSpPr>
      <p:grpSpPr>
        <a:xfrm>
          <a:off x="0" y="0"/>
          <a:ext cx="0" cy="0"/>
          <a:chOff x="0" y="0"/>
          <a:chExt cx="0" cy="0"/>
        </a:xfrm>
      </p:grpSpPr>
      <p:sp>
        <p:nvSpPr>
          <p:cNvPr id="8907" name="Google Shape;8907;p507"/>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08" name="Google Shape;8908;p507">
            <a:hlinkClick action="ppaction://hlinksldjump" r:id="rId3"/>
          </p:cNvPr>
          <p:cNvSpPr/>
          <p:nvPr/>
        </p:nvSpPr>
        <p:spPr>
          <a:xfrm>
            <a:off x="565902" y="1751219"/>
            <a:ext cx="1395519" cy="115364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Fraud</a:t>
            </a:r>
            <a:endParaRPr sz="1100">
              <a:solidFill>
                <a:srgbClr val="FFFFFF"/>
              </a:solidFill>
              <a:latin typeface="Century Gothic"/>
              <a:ea typeface="Century Gothic"/>
              <a:cs typeface="Century Gothic"/>
              <a:sym typeface="Century Gothic"/>
            </a:endParaRPr>
          </a:p>
        </p:txBody>
      </p:sp>
      <p:sp>
        <p:nvSpPr>
          <p:cNvPr id="8909" name="Google Shape;8909;p50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8910" name="Google Shape;8910;p507">
            <a:hlinkClick action="ppaction://hlinksldjump" r:id="rId4"/>
          </p:cNvPr>
          <p:cNvSpPr/>
          <p:nvPr/>
        </p:nvSpPr>
        <p:spPr>
          <a:xfrm>
            <a:off x="567549" y="270468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911" name="Google Shape;8911;p507">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Loss Prevention</a:t>
            </a:r>
            <a:endParaRPr sz="1100">
              <a:solidFill>
                <a:srgbClr val="FF0000"/>
              </a:solidFill>
              <a:latin typeface="Century Gothic"/>
              <a:ea typeface="Century Gothic"/>
              <a:cs typeface="Century Gothic"/>
              <a:sym typeface="Century Gothic"/>
            </a:endParaRPr>
          </a:p>
        </p:txBody>
      </p:sp>
      <p:sp>
        <p:nvSpPr>
          <p:cNvPr id="8912" name="Google Shape;8912;p507">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Identity Fraud</a:t>
            </a:r>
            <a:endParaRPr sz="1100">
              <a:solidFill>
                <a:schemeClr val="accent1"/>
              </a:solidFill>
              <a:latin typeface="Century Gothic"/>
              <a:ea typeface="Century Gothic"/>
              <a:cs typeface="Century Gothic"/>
              <a:sym typeface="Century Gothic"/>
            </a:endParaRPr>
          </a:p>
        </p:txBody>
      </p:sp>
      <p:sp>
        <p:nvSpPr>
          <p:cNvPr id="8913" name="Google Shape;8913;p507">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External Theft and Shrinkage</a:t>
            </a:r>
            <a:endParaRPr sz="1100">
              <a:solidFill>
                <a:schemeClr val="accent1"/>
              </a:solidFill>
              <a:latin typeface="Century Gothic"/>
              <a:ea typeface="Century Gothic"/>
              <a:cs typeface="Century Gothic"/>
              <a:sym typeface="Century Gothic"/>
            </a:endParaRPr>
          </a:p>
        </p:txBody>
      </p:sp>
      <p:sp>
        <p:nvSpPr>
          <p:cNvPr id="8914" name="Google Shape;8914;p507">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Claim Fraud</a:t>
            </a:r>
            <a:endParaRPr sz="1100">
              <a:solidFill>
                <a:schemeClr val="accent1"/>
              </a:solidFill>
              <a:latin typeface="Century Gothic"/>
              <a:ea typeface="Century Gothic"/>
              <a:cs typeface="Century Gothic"/>
              <a:sym typeface="Century Gothic"/>
            </a:endParaRPr>
          </a:p>
        </p:txBody>
      </p:sp>
      <p:sp>
        <p:nvSpPr>
          <p:cNvPr id="8915" name="Google Shape;8915;p507"/>
          <p:cNvSpPr txBox="1"/>
          <p:nvPr>
            <p:ph idx="2" type="body"/>
          </p:nvPr>
        </p:nvSpPr>
        <p:spPr>
          <a:xfrm>
            <a:off x="438098" y="684068"/>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Security and Fraud</a:t>
            </a:r>
            <a:endParaRPr sz="1600"/>
          </a:p>
        </p:txBody>
      </p:sp>
      <p:sp>
        <p:nvSpPr>
          <p:cNvPr id="8916" name="Google Shape;8916;p507"/>
          <p:cNvSpPr txBox="1"/>
          <p:nvPr>
            <p:ph type="title"/>
          </p:nvPr>
        </p:nvSpPr>
        <p:spPr>
          <a:xfrm>
            <a:off x="425396" y="116053"/>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Capabilities</a:t>
            </a:r>
            <a:endParaRPr sz="2400"/>
          </a:p>
        </p:txBody>
      </p:sp>
      <p:sp>
        <p:nvSpPr>
          <p:cNvPr id="8917" name="Google Shape;8917;p507"/>
          <p:cNvSpPr/>
          <p:nvPr/>
        </p:nvSpPr>
        <p:spPr>
          <a:xfrm>
            <a:off x="2251220" y="-48950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918" name="Google Shape;8918;p507"/>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919" name="Google Shape;8919;p507"/>
          <p:cNvGrpSpPr/>
          <p:nvPr/>
        </p:nvGrpSpPr>
        <p:grpSpPr>
          <a:xfrm>
            <a:off x="7717533" y="4360377"/>
            <a:ext cx="1058348" cy="347375"/>
            <a:chOff x="7651698" y="4287227"/>
            <a:chExt cx="1058348" cy="347375"/>
          </a:xfrm>
        </p:grpSpPr>
        <p:grpSp>
          <p:nvGrpSpPr>
            <p:cNvPr id="8920" name="Google Shape;8920;p507"/>
            <p:cNvGrpSpPr/>
            <p:nvPr/>
          </p:nvGrpSpPr>
          <p:grpSpPr>
            <a:xfrm>
              <a:off x="7714163" y="4337598"/>
              <a:ext cx="995883" cy="297004"/>
              <a:chOff x="7711013" y="3986494"/>
              <a:chExt cx="995883" cy="297004"/>
            </a:xfrm>
          </p:grpSpPr>
          <p:sp>
            <p:nvSpPr>
              <p:cNvPr id="8921" name="Google Shape;8921;p50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922" name="Google Shape;8922;p507"/>
              <p:cNvGrpSpPr/>
              <p:nvPr/>
            </p:nvGrpSpPr>
            <p:grpSpPr>
              <a:xfrm>
                <a:off x="7711013" y="4002615"/>
                <a:ext cx="281520" cy="241973"/>
                <a:chOff x="5652748" y="4066000"/>
                <a:chExt cx="906498" cy="747974"/>
              </a:xfrm>
            </p:grpSpPr>
            <p:sp>
              <p:nvSpPr>
                <p:cNvPr id="8923" name="Google Shape;8923;p50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24" name="Google Shape;8924;p50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25" name="Google Shape;8925;p50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926" name="Google Shape;8926;p507">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8927" name="Google Shape;8927;p507">
            <a:hlinkClick action="ppaction://hlinksldjump" r:id="rId10"/>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Information and Cyber Security</a:t>
            </a:r>
            <a:endParaRPr sz="1100">
              <a:solidFill>
                <a:srgbClr val="FFFFFF"/>
              </a:solidFill>
              <a:latin typeface="Century Gothic"/>
              <a:ea typeface="Century Gothic"/>
              <a:cs typeface="Century Gothic"/>
              <a:sym typeface="Century Gothic"/>
            </a:endParaRPr>
          </a:p>
        </p:txBody>
      </p:sp>
      <p:sp>
        <p:nvSpPr>
          <p:cNvPr id="8928" name="Google Shape;8928;p507">
            <a:hlinkClick action="ppaction://hlinksldjump" r:id="rId11"/>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929" name="Google Shape;8929;p507">
            <a:hlinkClick action="ppaction://hlinksldjump" r:id="rId12"/>
          </p:cNvPr>
          <p:cNvSpPr/>
          <p:nvPr/>
        </p:nvSpPr>
        <p:spPr>
          <a:xfrm>
            <a:off x="2099731"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Access Controls</a:t>
            </a:r>
            <a:endParaRPr sz="1100">
              <a:solidFill>
                <a:schemeClr val="accent1"/>
              </a:solidFill>
              <a:latin typeface="Century Gothic"/>
              <a:ea typeface="Century Gothic"/>
              <a:cs typeface="Century Gothic"/>
              <a:sym typeface="Century Gothic"/>
            </a:endParaRPr>
          </a:p>
        </p:txBody>
      </p:sp>
      <p:sp>
        <p:nvSpPr>
          <p:cNvPr id="8930" name="Google Shape;8930;p507">
            <a:hlinkClick action="ppaction://hlinksldjump" r:id="rId13"/>
          </p:cNvPr>
          <p:cNvSpPr/>
          <p:nvPr/>
        </p:nvSpPr>
        <p:spPr>
          <a:xfrm>
            <a:off x="4290975"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Governance</a:t>
            </a:r>
            <a:endParaRPr sz="1100">
              <a:solidFill>
                <a:srgbClr val="FF0000"/>
              </a:solidFill>
              <a:latin typeface="Century Gothic"/>
              <a:ea typeface="Century Gothic"/>
              <a:cs typeface="Century Gothic"/>
              <a:sym typeface="Century Gothic"/>
            </a:endParaRPr>
          </a:p>
        </p:txBody>
      </p:sp>
      <p:sp>
        <p:nvSpPr>
          <p:cNvPr id="8931" name="Google Shape;8931;p507">
            <a:hlinkClick action="ppaction://hlinksldjump" r:id="rId14"/>
          </p:cNvPr>
          <p:cNvSpPr/>
          <p:nvPr/>
        </p:nvSpPr>
        <p:spPr>
          <a:xfrm>
            <a:off x="6468744"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Physical Controls</a:t>
            </a:r>
            <a:endParaRPr sz="1100">
              <a:solidFill>
                <a:schemeClr val="accent1"/>
              </a:solidFill>
              <a:latin typeface="Century Gothic"/>
              <a:ea typeface="Century Gothic"/>
              <a:cs typeface="Century Gothic"/>
              <a:sym typeface="Century Gothic"/>
            </a:endParaRPr>
          </a:p>
        </p:txBody>
      </p:sp>
      <p:sp>
        <p:nvSpPr>
          <p:cNvPr id="8932" name="Google Shape;8932;p507">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37" name="Shape 8937"/>
        <p:cNvGrpSpPr/>
        <p:nvPr/>
      </p:nvGrpSpPr>
      <p:grpSpPr>
        <a:xfrm>
          <a:off x="0" y="0"/>
          <a:ext cx="0" cy="0"/>
          <a:chOff x="0" y="0"/>
          <a:chExt cx="0" cy="0"/>
        </a:xfrm>
      </p:grpSpPr>
      <p:sp>
        <p:nvSpPr>
          <p:cNvPr id="8938" name="Google Shape;8938;p508"/>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39" name="Google Shape;8939;p508">
            <a:hlinkClick action="ppaction://hlinksldjump" r:id="rId3"/>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Fraud Flag Automation</a:t>
            </a:r>
            <a:endParaRPr sz="700">
              <a:solidFill>
                <a:srgbClr val="FF0000"/>
              </a:solidFill>
              <a:latin typeface="Century Gothic"/>
              <a:ea typeface="Century Gothic"/>
              <a:cs typeface="Century Gothic"/>
              <a:sym typeface="Century Gothic"/>
            </a:endParaRPr>
          </a:p>
        </p:txBody>
      </p:sp>
      <p:sp>
        <p:nvSpPr>
          <p:cNvPr id="8940" name="Google Shape;8940;p508">
            <a:hlinkClick action="ppaction://hlinksldjump" r:id="rId4"/>
          </p:cNvPr>
          <p:cNvSpPr/>
          <p:nvPr/>
        </p:nvSpPr>
        <p:spPr>
          <a:xfrm>
            <a:off x="701463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False Positive Detection</a:t>
            </a:r>
            <a:endParaRPr sz="700">
              <a:solidFill>
                <a:srgbClr val="FF0000"/>
              </a:solidFill>
              <a:latin typeface="Century Gothic"/>
              <a:ea typeface="Century Gothic"/>
              <a:cs typeface="Century Gothic"/>
              <a:sym typeface="Century Gothic"/>
            </a:endParaRPr>
          </a:p>
        </p:txBody>
      </p:sp>
      <p:sp>
        <p:nvSpPr>
          <p:cNvPr id="8941" name="Google Shape;8941;p508">
            <a:hlinkClick action="ppaction://hlinksldjump" r:id="rId5"/>
          </p:cNvPr>
          <p:cNvSpPr/>
          <p:nvPr/>
        </p:nvSpPr>
        <p:spPr>
          <a:xfrm>
            <a:off x="373490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Path to Fraud</a:t>
            </a:r>
            <a:endParaRPr sz="700">
              <a:solidFill>
                <a:srgbClr val="FF0000"/>
              </a:solidFill>
              <a:latin typeface="Century Gothic"/>
              <a:ea typeface="Century Gothic"/>
              <a:cs typeface="Century Gothic"/>
              <a:sym typeface="Century Gothic"/>
            </a:endParaRPr>
          </a:p>
        </p:txBody>
      </p:sp>
      <p:sp>
        <p:nvSpPr>
          <p:cNvPr id="8942" name="Google Shape;8942;p508">
            <a:hlinkClick action="ppaction://hlinksldjump" r:id="rId6"/>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Connections Risk – Consumer and B2B Networks</a:t>
            </a:r>
            <a:endParaRPr sz="1000">
              <a:solidFill>
                <a:srgbClr val="FF0000"/>
              </a:solidFill>
              <a:latin typeface="Century Gothic"/>
              <a:ea typeface="Century Gothic"/>
              <a:cs typeface="Century Gothic"/>
              <a:sym typeface="Century Gothic"/>
            </a:endParaRPr>
          </a:p>
        </p:txBody>
      </p:sp>
      <p:sp>
        <p:nvSpPr>
          <p:cNvPr id="8943" name="Google Shape;8943;p508">
            <a:hlinkClick action="ppaction://hlinksldjump" r:id="rId7"/>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Fraud Networks</a:t>
            </a:r>
            <a:endParaRPr sz="1000">
              <a:solidFill>
                <a:srgbClr val="FF0000"/>
              </a:solidFill>
              <a:latin typeface="Century Gothic"/>
              <a:ea typeface="Century Gothic"/>
              <a:cs typeface="Century Gothic"/>
              <a:sym typeface="Century Gothic"/>
            </a:endParaRPr>
          </a:p>
        </p:txBody>
      </p:sp>
      <p:sp>
        <p:nvSpPr>
          <p:cNvPr id="8944" name="Google Shape;8944;p508">
            <a:hlinkClick action="ppaction://hlinksldjump" r:id="rId8"/>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and Sizing for Fraud Loss Recovery</a:t>
            </a:r>
            <a:endParaRPr sz="1000">
              <a:solidFill>
                <a:srgbClr val="FF0000"/>
              </a:solidFill>
              <a:latin typeface="Century Gothic"/>
              <a:ea typeface="Century Gothic"/>
              <a:cs typeface="Century Gothic"/>
              <a:sym typeface="Century Gothic"/>
            </a:endParaRPr>
          </a:p>
        </p:txBody>
      </p:sp>
      <p:sp>
        <p:nvSpPr>
          <p:cNvPr id="8945" name="Google Shape;8945;p508">
            <a:hlinkClick action="ppaction://hlinksldjump" r:id="rId9"/>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Fraud Investigations and Forensics</a:t>
            </a:r>
            <a:endParaRPr sz="1000">
              <a:solidFill>
                <a:srgbClr val="FF0000"/>
              </a:solidFill>
              <a:latin typeface="Century Gothic"/>
              <a:ea typeface="Century Gothic"/>
              <a:cs typeface="Century Gothic"/>
              <a:sym typeface="Century Gothic"/>
            </a:endParaRPr>
          </a:p>
        </p:txBody>
      </p:sp>
      <p:sp>
        <p:nvSpPr>
          <p:cNvPr id="8946" name="Google Shape;8946;p508">
            <a:hlinkClick action="ppaction://hlinksldjump" r:id="rId10"/>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Fraud Incident Management</a:t>
            </a:r>
            <a:endParaRPr sz="1000">
              <a:solidFill>
                <a:srgbClr val="FF0000"/>
              </a:solidFill>
              <a:latin typeface="Century Gothic"/>
              <a:ea typeface="Century Gothic"/>
              <a:cs typeface="Century Gothic"/>
              <a:sym typeface="Century Gothic"/>
            </a:endParaRPr>
          </a:p>
        </p:txBody>
      </p:sp>
      <p:sp>
        <p:nvSpPr>
          <p:cNvPr id="8947" name="Google Shape;8947;p508">
            <a:hlinkClick action="ppaction://hlinksldjump" r:id="rId11"/>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Intelligent Fraud Risk Assessment</a:t>
            </a:r>
            <a:endParaRPr sz="1000">
              <a:solidFill>
                <a:srgbClr val="FF0000"/>
              </a:solidFill>
              <a:latin typeface="Century Gothic"/>
              <a:ea typeface="Century Gothic"/>
              <a:cs typeface="Century Gothic"/>
              <a:sym typeface="Century Gothic"/>
            </a:endParaRPr>
          </a:p>
        </p:txBody>
      </p:sp>
      <p:sp>
        <p:nvSpPr>
          <p:cNvPr id="8948" name="Google Shape;8948;p508">
            <a:hlinkClick action="ppaction://hlinksldjump" r:id="rId12"/>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Real-Time Threat Detection and Mitigation</a:t>
            </a:r>
            <a:endParaRPr sz="700">
              <a:solidFill>
                <a:srgbClr val="FF0000"/>
              </a:solidFill>
              <a:latin typeface="Century Gothic"/>
              <a:ea typeface="Century Gothic"/>
              <a:cs typeface="Century Gothic"/>
              <a:sym typeface="Century Gothic"/>
            </a:endParaRPr>
          </a:p>
        </p:txBody>
      </p:sp>
      <p:sp>
        <p:nvSpPr>
          <p:cNvPr id="8949" name="Google Shape;8949;p50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8950" name="Google Shape;8950;p508"/>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951" name="Google Shape;8951;p508"/>
          <p:cNvGrpSpPr/>
          <p:nvPr/>
        </p:nvGrpSpPr>
        <p:grpSpPr>
          <a:xfrm>
            <a:off x="2100364" y="1348315"/>
            <a:ext cx="281520" cy="241973"/>
            <a:chOff x="5652748" y="4066000"/>
            <a:chExt cx="906498" cy="747974"/>
          </a:xfrm>
        </p:grpSpPr>
        <p:sp>
          <p:nvSpPr>
            <p:cNvPr id="8952" name="Google Shape;8952;p50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53" name="Google Shape;8953;p50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54" name="Google Shape;8954;p50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8955" name="Google Shape;8955;p508"/>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956" name="Google Shape;8956;p50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8957" name="Google Shape;8957;p508"/>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Common Core for Fraud Analytics</a:t>
            </a:r>
            <a:endParaRPr sz="1600"/>
          </a:p>
        </p:txBody>
      </p:sp>
      <p:sp>
        <p:nvSpPr>
          <p:cNvPr id="8958" name="Google Shape;8958;p508">
            <a:hlinkClick action="ppaction://hlinksldjump" r:id="rId13"/>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Fraud Analytics</a:t>
            </a:r>
            <a:endParaRPr sz="1100">
              <a:solidFill>
                <a:srgbClr val="FFFFFF"/>
              </a:solidFill>
              <a:latin typeface="Century Gothic"/>
              <a:ea typeface="Century Gothic"/>
              <a:cs typeface="Century Gothic"/>
              <a:sym typeface="Century Gothic"/>
            </a:endParaRPr>
          </a:p>
        </p:txBody>
      </p:sp>
      <p:sp>
        <p:nvSpPr>
          <p:cNvPr id="8959" name="Google Shape;8959;p508">
            <a:hlinkClick action="ppaction://hlinksldjump" r:id="rId14"/>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508"/>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4</a:t>
            </a:r>
            <a:endParaRPr sz="800">
              <a:solidFill>
                <a:srgbClr val="FFFFFF"/>
              </a:solidFill>
              <a:latin typeface="Century Gothic"/>
              <a:ea typeface="Century Gothic"/>
              <a:cs typeface="Century Gothic"/>
              <a:sym typeface="Century Gothic"/>
            </a:endParaRPr>
          </a:p>
        </p:txBody>
      </p:sp>
      <p:sp>
        <p:nvSpPr>
          <p:cNvPr id="8961" name="Google Shape;8961;p508">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66" name="Shape 8966"/>
        <p:cNvGrpSpPr/>
        <p:nvPr/>
      </p:nvGrpSpPr>
      <p:grpSpPr>
        <a:xfrm>
          <a:off x="0" y="0"/>
          <a:ext cx="0" cy="0"/>
          <a:chOff x="0" y="0"/>
          <a:chExt cx="0" cy="0"/>
        </a:xfrm>
      </p:grpSpPr>
      <p:sp>
        <p:nvSpPr>
          <p:cNvPr id="8967" name="Google Shape;8967;p509"/>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68" name="Google Shape;8968;p509">
            <a:hlinkClick action="ppaction://hlinksldjump" r:id="rId3"/>
          </p:cNvPr>
          <p:cNvSpPr/>
          <p:nvPr/>
        </p:nvSpPr>
        <p:spPr>
          <a:xfrm>
            <a:off x="537207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Manipulation of Marketing Spend</a:t>
            </a:r>
            <a:endParaRPr sz="700">
              <a:solidFill>
                <a:srgbClr val="FF0000"/>
              </a:solidFill>
              <a:latin typeface="Century Gothic"/>
              <a:ea typeface="Century Gothic"/>
              <a:cs typeface="Century Gothic"/>
              <a:sym typeface="Century Gothic"/>
            </a:endParaRPr>
          </a:p>
        </p:txBody>
      </p:sp>
      <p:sp>
        <p:nvSpPr>
          <p:cNvPr id="8969" name="Google Shape;8969;p509">
            <a:hlinkClick action="ppaction://hlinksldjump" r:id="rId4"/>
          </p:cNvPr>
          <p:cNvSpPr/>
          <p:nvPr/>
        </p:nvSpPr>
        <p:spPr>
          <a:xfrm>
            <a:off x="374035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Document Fraud</a:t>
            </a:r>
            <a:endParaRPr sz="700">
              <a:solidFill>
                <a:srgbClr val="FF0000"/>
              </a:solidFill>
              <a:latin typeface="Century Gothic"/>
              <a:ea typeface="Century Gothic"/>
              <a:cs typeface="Century Gothic"/>
              <a:sym typeface="Century Gothic"/>
            </a:endParaRPr>
          </a:p>
        </p:txBody>
      </p:sp>
      <p:sp>
        <p:nvSpPr>
          <p:cNvPr id="8970" name="Google Shape;8970;p509">
            <a:hlinkClick action="ppaction://hlinksldjump" r:id="rId5"/>
          </p:cNvPr>
          <p:cNvSpPr/>
          <p:nvPr/>
        </p:nvSpPr>
        <p:spPr>
          <a:xfrm>
            <a:off x="7006620"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Staff Fraud (Internal Process Audit)</a:t>
            </a:r>
            <a:endParaRPr sz="700">
              <a:solidFill>
                <a:srgbClr val="FF0000"/>
              </a:solidFill>
              <a:latin typeface="Century Gothic"/>
              <a:ea typeface="Century Gothic"/>
              <a:cs typeface="Century Gothic"/>
              <a:sym typeface="Century Gothic"/>
            </a:endParaRPr>
          </a:p>
        </p:txBody>
      </p:sp>
      <p:sp>
        <p:nvSpPr>
          <p:cNvPr id="8971" name="Google Shape;8971;p509">
            <a:hlinkClick action="ppaction://hlinksldjump" r:id="rId6"/>
          </p:cNvPr>
          <p:cNvSpPr/>
          <p:nvPr/>
        </p:nvSpPr>
        <p:spPr>
          <a:xfrm>
            <a:off x="2101863"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Insider Trading</a:t>
            </a:r>
            <a:endParaRPr sz="1000">
              <a:solidFill>
                <a:srgbClr val="FF0000"/>
              </a:solidFill>
              <a:latin typeface="Century Gothic"/>
              <a:ea typeface="Century Gothic"/>
              <a:cs typeface="Century Gothic"/>
              <a:sym typeface="Century Gothic"/>
            </a:endParaRPr>
          </a:p>
        </p:txBody>
      </p:sp>
      <p:sp>
        <p:nvSpPr>
          <p:cNvPr id="8972" name="Google Shape;8972;p509">
            <a:hlinkClick action="ppaction://hlinksldjump" r:id="rId7"/>
          </p:cNvPr>
          <p:cNvSpPr/>
          <p:nvPr/>
        </p:nvSpPr>
        <p:spPr>
          <a:xfrm>
            <a:off x="7016135"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Loyalty Card / Member Fraud</a:t>
            </a:r>
            <a:endParaRPr sz="1000">
              <a:solidFill>
                <a:srgbClr val="FF0000"/>
              </a:solidFill>
              <a:latin typeface="Century Gothic"/>
              <a:ea typeface="Century Gothic"/>
              <a:cs typeface="Century Gothic"/>
              <a:sym typeface="Century Gothic"/>
            </a:endParaRPr>
          </a:p>
        </p:txBody>
      </p:sp>
      <p:sp>
        <p:nvSpPr>
          <p:cNvPr id="8973" name="Google Shape;8973;p509">
            <a:hlinkClick action="ppaction://hlinksldjump" r:id="rId8"/>
          </p:cNvPr>
          <p:cNvSpPr/>
          <p:nvPr/>
        </p:nvSpPr>
        <p:spPr>
          <a:xfrm>
            <a:off x="537614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”Internal Fraud Detection”</a:t>
            </a:r>
            <a:endParaRPr sz="1000">
              <a:solidFill>
                <a:srgbClr val="FF0000"/>
              </a:solidFill>
              <a:latin typeface="Century Gothic"/>
              <a:ea typeface="Century Gothic"/>
              <a:cs typeface="Century Gothic"/>
              <a:sym typeface="Century Gothic"/>
            </a:endParaRPr>
          </a:p>
        </p:txBody>
      </p:sp>
      <p:sp>
        <p:nvSpPr>
          <p:cNvPr id="8974" name="Google Shape;8974;p509">
            <a:hlinkClick action="ppaction://hlinksldjump" r:id="rId9"/>
          </p:cNvPr>
          <p:cNvSpPr/>
          <p:nvPr/>
        </p:nvSpPr>
        <p:spPr>
          <a:xfrm>
            <a:off x="374035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Undisclosed Commission</a:t>
            </a:r>
            <a:endParaRPr sz="1000">
              <a:solidFill>
                <a:srgbClr val="FF0000"/>
              </a:solidFill>
              <a:latin typeface="Century Gothic"/>
              <a:ea typeface="Century Gothic"/>
              <a:cs typeface="Century Gothic"/>
              <a:sym typeface="Century Gothic"/>
            </a:endParaRPr>
          </a:p>
        </p:txBody>
      </p:sp>
      <p:sp>
        <p:nvSpPr>
          <p:cNvPr id="8975" name="Google Shape;8975;p509">
            <a:hlinkClick action="ppaction://hlinksldjump" r:id="rId10"/>
          </p:cNvPr>
          <p:cNvSpPr/>
          <p:nvPr/>
        </p:nvSpPr>
        <p:spPr>
          <a:xfrm>
            <a:off x="210036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Insurance Broker Fraud</a:t>
            </a:r>
            <a:endParaRPr sz="1000">
              <a:solidFill>
                <a:srgbClr val="FF0000"/>
              </a:solidFill>
              <a:latin typeface="Century Gothic"/>
              <a:ea typeface="Century Gothic"/>
              <a:cs typeface="Century Gothic"/>
              <a:sym typeface="Century Gothic"/>
            </a:endParaRPr>
          </a:p>
        </p:txBody>
      </p:sp>
      <p:sp>
        <p:nvSpPr>
          <p:cNvPr id="8976" name="Google Shape;8976;p509"/>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8977" name="Google Shape;8977;p509"/>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978" name="Google Shape;8978;p509"/>
          <p:cNvGrpSpPr/>
          <p:nvPr/>
        </p:nvGrpSpPr>
        <p:grpSpPr>
          <a:xfrm>
            <a:off x="2100364" y="1348315"/>
            <a:ext cx="281520" cy="241973"/>
            <a:chOff x="5652748" y="4066000"/>
            <a:chExt cx="906498" cy="747974"/>
          </a:xfrm>
        </p:grpSpPr>
        <p:sp>
          <p:nvSpPr>
            <p:cNvPr id="8979" name="Google Shape;8979;p50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80" name="Google Shape;8980;p50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81" name="Google Shape;8981;p50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8982" name="Google Shape;8982;p509"/>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983" name="Google Shape;8983;p509"/>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8984" name="Google Shape;8984;p509"/>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Employee Fraud</a:t>
            </a:r>
            <a:endParaRPr sz="1600"/>
          </a:p>
        </p:txBody>
      </p:sp>
      <p:sp>
        <p:nvSpPr>
          <p:cNvPr id="8985" name="Google Shape;8985;p509">
            <a:hlinkClick action="ppaction://hlinksldjump" r:id="rId11"/>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Employee Fraud</a:t>
            </a:r>
            <a:endParaRPr sz="1100">
              <a:solidFill>
                <a:srgbClr val="FFFFFF"/>
              </a:solidFill>
              <a:latin typeface="Century Gothic"/>
              <a:ea typeface="Century Gothic"/>
              <a:cs typeface="Century Gothic"/>
              <a:sym typeface="Century Gothic"/>
            </a:endParaRPr>
          </a:p>
        </p:txBody>
      </p:sp>
      <p:sp>
        <p:nvSpPr>
          <p:cNvPr id="8986" name="Google Shape;8986;p509">
            <a:hlinkClick action="ppaction://hlinksldjump" r:id="rId12"/>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509"/>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4</a:t>
            </a:r>
            <a:endParaRPr/>
          </a:p>
        </p:txBody>
      </p:sp>
      <p:sp>
        <p:nvSpPr>
          <p:cNvPr id="8988" name="Google Shape;8988;p509">
            <a:hlinkClick action="ppaction://hlinksldjump" r:id="rId13"/>
          </p:cNvPr>
          <p:cNvSpPr/>
          <p:nvPr/>
        </p:nvSpPr>
        <p:spPr>
          <a:xfrm>
            <a:off x="5372076"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Worker’s Compensation</a:t>
            </a:r>
            <a:endParaRPr sz="1000">
              <a:solidFill>
                <a:srgbClr val="FF0000"/>
              </a:solidFill>
              <a:latin typeface="Century Gothic"/>
              <a:ea typeface="Century Gothic"/>
              <a:cs typeface="Century Gothic"/>
              <a:sym typeface="Century Gothic"/>
            </a:endParaRPr>
          </a:p>
        </p:txBody>
      </p:sp>
      <p:sp>
        <p:nvSpPr>
          <p:cNvPr id="8989" name="Google Shape;8989;p509">
            <a:hlinkClick action="ppaction://hlinksldjump" r:id="rId14"/>
          </p:cNvPr>
          <p:cNvSpPr/>
          <p:nvPr/>
        </p:nvSpPr>
        <p:spPr>
          <a:xfrm>
            <a:off x="2096719"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Insider Threat Identifcation</a:t>
            </a:r>
            <a:endParaRPr sz="1000">
              <a:solidFill>
                <a:srgbClr val="FF0000"/>
              </a:solidFill>
              <a:latin typeface="Century Gothic"/>
              <a:ea typeface="Century Gothic"/>
              <a:cs typeface="Century Gothic"/>
              <a:sym typeface="Century Gothic"/>
            </a:endParaRPr>
          </a:p>
        </p:txBody>
      </p:sp>
      <p:sp>
        <p:nvSpPr>
          <p:cNvPr id="8990" name="Google Shape;8990;p509">
            <a:hlinkClick action="ppaction://hlinksldjump" r:id="rId15"/>
          </p:cNvPr>
          <p:cNvSpPr/>
          <p:nvPr/>
        </p:nvSpPr>
        <p:spPr>
          <a:xfrm>
            <a:off x="3745135"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Time and Expense Reporting</a:t>
            </a:r>
            <a:endParaRPr sz="1000">
              <a:solidFill>
                <a:srgbClr val="FF0000"/>
              </a:solidFill>
              <a:latin typeface="Century Gothic"/>
              <a:ea typeface="Century Gothic"/>
              <a:cs typeface="Century Gothic"/>
              <a:sym typeface="Century Gothic"/>
            </a:endParaRPr>
          </a:p>
        </p:txBody>
      </p:sp>
      <p:sp>
        <p:nvSpPr>
          <p:cNvPr id="8991" name="Google Shape;8991;p509">
            <a:hlinkClick action="ppaction://hlinksldjump" r:id="rId16"/>
          </p:cNvPr>
          <p:cNvSpPr/>
          <p:nvPr/>
        </p:nvSpPr>
        <p:spPr>
          <a:xfrm>
            <a:off x="7016135"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Data Leakage - Exfiltration</a:t>
            </a:r>
            <a:endParaRPr sz="1000">
              <a:solidFill>
                <a:srgbClr val="FF0000"/>
              </a:solidFill>
              <a:latin typeface="Century Gothic"/>
              <a:ea typeface="Century Gothic"/>
              <a:cs typeface="Century Gothic"/>
              <a:sym typeface="Century Gothic"/>
            </a:endParaRPr>
          </a:p>
        </p:txBody>
      </p:sp>
      <p:sp>
        <p:nvSpPr>
          <p:cNvPr id="8992" name="Google Shape;8992;p509">
            <a:hlinkClick action="ppaction://hlinksldjump" r:id="rId17"/>
          </p:cNvPr>
          <p:cNvSpPr/>
          <p:nvPr/>
        </p:nvSpPr>
        <p:spPr>
          <a:xfrm>
            <a:off x="2101863" y="392747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Early Detection of Fraud</a:t>
            </a:r>
            <a:endParaRPr sz="1000">
              <a:solidFill>
                <a:srgbClr val="FF0000"/>
              </a:solidFill>
              <a:latin typeface="Century Gothic"/>
              <a:ea typeface="Century Gothic"/>
              <a:cs typeface="Century Gothic"/>
              <a:sym typeface="Century Gothic"/>
            </a:endParaRPr>
          </a:p>
        </p:txBody>
      </p:sp>
      <p:sp>
        <p:nvSpPr>
          <p:cNvPr id="8993" name="Google Shape;8993;p509">
            <a:hlinkClick action="ppaction://hlinksldjump" r:id="rId18"/>
          </p:cNvPr>
          <p:cNvSpPr/>
          <p:nvPr/>
        </p:nvSpPr>
        <p:spPr>
          <a:xfrm flipH="1" rot="5400000">
            <a:off x="5064095" y="790297"/>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509"/>
          <p:cNvSpPr txBox="1"/>
          <p:nvPr/>
        </p:nvSpPr>
        <p:spPr>
          <a:xfrm flipH="1">
            <a:off x="4868417" y="10366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4</a:t>
            </a:r>
            <a:endParaRPr/>
          </a:p>
        </p:txBody>
      </p:sp>
      <p:sp>
        <p:nvSpPr>
          <p:cNvPr id="8995" name="Google Shape;8995;p509">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00" name="Shape 9000"/>
        <p:cNvGrpSpPr/>
        <p:nvPr/>
      </p:nvGrpSpPr>
      <p:grpSpPr>
        <a:xfrm>
          <a:off x="0" y="0"/>
          <a:ext cx="0" cy="0"/>
          <a:chOff x="0" y="0"/>
          <a:chExt cx="0" cy="0"/>
        </a:xfrm>
      </p:grpSpPr>
      <p:sp>
        <p:nvSpPr>
          <p:cNvPr id="9001" name="Google Shape;9001;p510"/>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02" name="Google Shape;9002;p510">
            <a:hlinkClick action="ppaction://hlinksldjump" r:id="rId3"/>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Identity Fraud Insights</a:t>
            </a:r>
            <a:endParaRPr sz="700">
              <a:solidFill>
                <a:srgbClr val="FF0000"/>
              </a:solidFill>
              <a:latin typeface="Century Gothic"/>
              <a:ea typeface="Century Gothic"/>
              <a:cs typeface="Century Gothic"/>
              <a:sym typeface="Century Gothic"/>
            </a:endParaRPr>
          </a:p>
        </p:txBody>
      </p:sp>
      <p:sp>
        <p:nvSpPr>
          <p:cNvPr id="9003" name="Google Shape;9003;p510">
            <a:hlinkClick action="ppaction://hlinksldjump" r:id="rId4"/>
          </p:cNvPr>
          <p:cNvSpPr/>
          <p:nvPr/>
        </p:nvSpPr>
        <p:spPr>
          <a:xfrm>
            <a:off x="3737648"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Account Takeover Fraud Detection</a:t>
            </a:r>
            <a:endParaRPr sz="1000">
              <a:solidFill>
                <a:srgbClr val="FF0000"/>
              </a:solidFill>
              <a:latin typeface="Century Gothic"/>
              <a:ea typeface="Century Gothic"/>
              <a:cs typeface="Century Gothic"/>
              <a:sym typeface="Century Gothic"/>
            </a:endParaRPr>
          </a:p>
        </p:txBody>
      </p:sp>
      <p:sp>
        <p:nvSpPr>
          <p:cNvPr id="9004" name="Google Shape;9004;p510">
            <a:hlinkClick action="ppaction://hlinksldjump" r:id="rId5"/>
          </p:cNvPr>
          <p:cNvSpPr/>
          <p:nvPr/>
        </p:nvSpPr>
        <p:spPr>
          <a:xfrm>
            <a:off x="2096413"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Payment Fraud – Synthetic Identity</a:t>
            </a:r>
            <a:endParaRPr sz="1000">
              <a:solidFill>
                <a:srgbClr val="FF0000"/>
              </a:solidFill>
              <a:latin typeface="Century Gothic"/>
              <a:ea typeface="Century Gothic"/>
              <a:cs typeface="Century Gothic"/>
              <a:sym typeface="Century Gothic"/>
            </a:endParaRPr>
          </a:p>
        </p:txBody>
      </p:sp>
      <p:sp>
        <p:nvSpPr>
          <p:cNvPr id="9005" name="Google Shape;9005;p510">
            <a:hlinkClick action="ppaction://hlinksldjump" r:id="rId6"/>
          </p:cNvPr>
          <p:cNvSpPr/>
          <p:nvPr/>
        </p:nvSpPr>
        <p:spPr>
          <a:xfrm>
            <a:off x="7014636" y="1695741"/>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Provider and Supplier Fraud</a:t>
            </a:r>
            <a:endParaRPr sz="1000">
              <a:solidFill>
                <a:srgbClr val="FF0000"/>
              </a:solidFill>
              <a:latin typeface="Century Gothic"/>
              <a:ea typeface="Century Gothic"/>
              <a:cs typeface="Century Gothic"/>
              <a:sym typeface="Century Gothic"/>
            </a:endParaRPr>
          </a:p>
        </p:txBody>
      </p:sp>
      <p:sp>
        <p:nvSpPr>
          <p:cNvPr id="9006" name="Google Shape;9006;p510">
            <a:hlinkClick action="ppaction://hlinksldjump" r:id="rId7"/>
          </p:cNvPr>
          <p:cNvSpPr/>
          <p:nvPr/>
        </p:nvSpPr>
        <p:spPr>
          <a:xfrm>
            <a:off x="5374898"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and Payment Fraud</a:t>
            </a:r>
            <a:endParaRPr sz="1000">
              <a:solidFill>
                <a:schemeClr val="dk1"/>
              </a:solidFill>
              <a:latin typeface="Century Gothic"/>
              <a:ea typeface="Century Gothic"/>
              <a:cs typeface="Century Gothic"/>
              <a:sym typeface="Century Gothic"/>
            </a:endParaRPr>
          </a:p>
        </p:txBody>
      </p:sp>
      <p:sp>
        <p:nvSpPr>
          <p:cNvPr id="9007" name="Google Shape;9007;p510">
            <a:hlinkClick action="ppaction://hlinksldjump" r:id="rId8"/>
          </p:cNvPr>
          <p:cNvSpPr/>
          <p:nvPr/>
        </p:nvSpPr>
        <p:spPr>
          <a:xfrm>
            <a:off x="3734905"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Application Fraud (Loan)</a:t>
            </a:r>
            <a:endParaRPr sz="1000">
              <a:solidFill>
                <a:srgbClr val="FF0000"/>
              </a:solidFill>
              <a:latin typeface="Century Gothic"/>
              <a:ea typeface="Century Gothic"/>
              <a:cs typeface="Century Gothic"/>
              <a:sym typeface="Century Gothic"/>
            </a:endParaRPr>
          </a:p>
        </p:txBody>
      </p:sp>
      <p:sp>
        <p:nvSpPr>
          <p:cNvPr id="9008" name="Google Shape;9008;p510">
            <a:hlinkClick action="ppaction://hlinksldjump" r:id="rId9"/>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Merchant or ATM System Compromise</a:t>
            </a:r>
            <a:endParaRPr sz="700">
              <a:solidFill>
                <a:srgbClr val="FF0000"/>
              </a:solidFill>
              <a:latin typeface="Century Gothic"/>
              <a:ea typeface="Century Gothic"/>
              <a:cs typeface="Century Gothic"/>
              <a:sym typeface="Century Gothic"/>
            </a:endParaRPr>
          </a:p>
        </p:txBody>
      </p:sp>
      <p:sp>
        <p:nvSpPr>
          <p:cNvPr id="9009" name="Google Shape;9009;p510"/>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9010" name="Google Shape;9010;p510"/>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9011" name="Google Shape;9011;p510"/>
          <p:cNvGrpSpPr/>
          <p:nvPr/>
        </p:nvGrpSpPr>
        <p:grpSpPr>
          <a:xfrm>
            <a:off x="2100364" y="1348315"/>
            <a:ext cx="281520" cy="241973"/>
            <a:chOff x="5652748" y="4066000"/>
            <a:chExt cx="906498" cy="747974"/>
          </a:xfrm>
        </p:grpSpPr>
        <p:sp>
          <p:nvSpPr>
            <p:cNvPr id="9012" name="Google Shape;9012;p51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013" name="Google Shape;9013;p51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14" name="Google Shape;9014;p51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9015" name="Google Shape;9015;p510"/>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9016" name="Google Shape;9016;p51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9017" name="Google Shape;9017;p51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Customer Fraud</a:t>
            </a:r>
            <a:endParaRPr sz="1600"/>
          </a:p>
        </p:txBody>
      </p:sp>
      <p:sp>
        <p:nvSpPr>
          <p:cNvPr id="9018" name="Google Shape;9018;p510">
            <a:hlinkClick action="ppaction://hlinksldjump" r:id="rId10"/>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Fraud</a:t>
            </a:r>
            <a:endParaRPr sz="1100">
              <a:solidFill>
                <a:srgbClr val="FFFFFF"/>
              </a:solidFill>
              <a:latin typeface="Century Gothic"/>
              <a:ea typeface="Century Gothic"/>
              <a:cs typeface="Century Gothic"/>
              <a:sym typeface="Century Gothic"/>
            </a:endParaRPr>
          </a:p>
        </p:txBody>
      </p:sp>
      <p:sp>
        <p:nvSpPr>
          <p:cNvPr id="9019" name="Google Shape;9019;p510">
            <a:hlinkClick action="ppaction://hlinksldjump" r:id="rId11"/>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510"/>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4</a:t>
            </a:r>
            <a:endParaRPr sz="800">
              <a:solidFill>
                <a:srgbClr val="FFFFFF"/>
              </a:solidFill>
              <a:latin typeface="Century Gothic"/>
              <a:ea typeface="Century Gothic"/>
              <a:cs typeface="Century Gothic"/>
              <a:sym typeface="Century Gothic"/>
            </a:endParaRPr>
          </a:p>
        </p:txBody>
      </p:sp>
      <p:sp>
        <p:nvSpPr>
          <p:cNvPr id="9021" name="Google Shape;9021;p510">
            <a:hlinkClick action="ppaction://hlinksldjump" r:id="rId12"/>
          </p:cNvPr>
          <p:cNvSpPr/>
          <p:nvPr/>
        </p:nvSpPr>
        <p:spPr>
          <a:xfrm flipH="1" rot="5400000">
            <a:off x="5064095" y="790297"/>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510"/>
          <p:cNvSpPr txBox="1"/>
          <p:nvPr/>
        </p:nvSpPr>
        <p:spPr>
          <a:xfrm flipH="1">
            <a:off x="4868417" y="10366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4</a:t>
            </a:r>
            <a:endParaRPr/>
          </a:p>
        </p:txBody>
      </p:sp>
      <p:sp>
        <p:nvSpPr>
          <p:cNvPr id="9023" name="Google Shape;9023;p510">
            <a:hlinkClick action="ppaction://hlinksldjump" r:id="rId13"/>
          </p:cNvPr>
          <p:cNvSpPr/>
          <p:nvPr/>
        </p:nvSpPr>
        <p:spPr>
          <a:xfrm>
            <a:off x="7014635"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On-Line Fraud</a:t>
            </a:r>
            <a:endParaRPr sz="700">
              <a:solidFill>
                <a:schemeClr val="dk1"/>
              </a:solidFill>
              <a:latin typeface="Century Gothic"/>
              <a:ea typeface="Century Gothic"/>
              <a:cs typeface="Century Gothic"/>
              <a:sym typeface="Century Gothic"/>
            </a:endParaRPr>
          </a:p>
        </p:txBody>
      </p:sp>
      <p:sp>
        <p:nvSpPr>
          <p:cNvPr id="9024" name="Google Shape;9024;p510">
            <a:hlinkClick action="ppaction://hlinksldjump" r:id="rId14"/>
          </p:cNvPr>
          <p:cNvSpPr/>
          <p:nvPr/>
        </p:nvSpPr>
        <p:spPr>
          <a:xfrm>
            <a:off x="2100364"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Claim Fraud - Auto</a:t>
            </a:r>
            <a:endParaRPr sz="1000">
              <a:solidFill>
                <a:schemeClr val="dk1"/>
              </a:solidFill>
              <a:latin typeface="Century Gothic"/>
              <a:ea typeface="Century Gothic"/>
              <a:cs typeface="Century Gothic"/>
              <a:sym typeface="Century Gothic"/>
            </a:endParaRPr>
          </a:p>
        </p:txBody>
      </p:sp>
      <p:sp>
        <p:nvSpPr>
          <p:cNvPr id="9025" name="Google Shape;9025;p510">
            <a:hlinkClick action="ppaction://hlinksldjump" r:id="rId15"/>
          </p:cNvPr>
          <p:cNvSpPr/>
          <p:nvPr/>
        </p:nvSpPr>
        <p:spPr>
          <a:xfrm>
            <a:off x="3737648"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Claim Fraud – Text Analytics for Property and Casualty</a:t>
            </a:r>
            <a:endParaRPr sz="1000">
              <a:solidFill>
                <a:schemeClr val="dk1"/>
              </a:solidFill>
              <a:latin typeface="Century Gothic"/>
              <a:ea typeface="Century Gothic"/>
              <a:cs typeface="Century Gothic"/>
              <a:sym typeface="Century Gothic"/>
            </a:endParaRPr>
          </a:p>
        </p:txBody>
      </p:sp>
      <p:sp>
        <p:nvSpPr>
          <p:cNvPr id="9026" name="Google Shape;9026;p510">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31" name="Shape 9031"/>
        <p:cNvGrpSpPr/>
        <p:nvPr/>
      </p:nvGrpSpPr>
      <p:grpSpPr>
        <a:xfrm>
          <a:off x="0" y="0"/>
          <a:ext cx="0" cy="0"/>
          <a:chOff x="0" y="0"/>
          <a:chExt cx="0" cy="0"/>
        </a:xfrm>
      </p:grpSpPr>
      <p:sp>
        <p:nvSpPr>
          <p:cNvPr id="9032" name="Google Shape;9032;p511"/>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33" name="Google Shape;9033;p511">
            <a:hlinkClick action="ppaction://hlinksldjump" r:id="rId3"/>
          </p:cNvPr>
          <p:cNvSpPr/>
          <p:nvPr/>
        </p:nvSpPr>
        <p:spPr>
          <a:xfrm>
            <a:off x="7014636" y="1695741"/>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Packet Capture and Detection</a:t>
            </a:r>
            <a:endParaRPr sz="700">
              <a:solidFill>
                <a:srgbClr val="FF0000"/>
              </a:solidFill>
              <a:latin typeface="Century Gothic"/>
              <a:ea typeface="Century Gothic"/>
              <a:cs typeface="Century Gothic"/>
              <a:sym typeface="Century Gothic"/>
            </a:endParaRPr>
          </a:p>
        </p:txBody>
      </p:sp>
      <p:sp>
        <p:nvSpPr>
          <p:cNvPr id="9034" name="Google Shape;9034;p511">
            <a:hlinkClick action="ppaction://hlinksldjump" r:id="rId4"/>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Stolen Credentials</a:t>
            </a:r>
            <a:endParaRPr sz="1000">
              <a:solidFill>
                <a:srgbClr val="FF0000"/>
              </a:solidFill>
              <a:latin typeface="Century Gothic"/>
              <a:ea typeface="Century Gothic"/>
              <a:cs typeface="Century Gothic"/>
              <a:sym typeface="Century Gothic"/>
            </a:endParaRPr>
          </a:p>
        </p:txBody>
      </p:sp>
      <p:sp>
        <p:nvSpPr>
          <p:cNvPr id="9035" name="Google Shape;9035;p511">
            <a:hlinkClick action="ppaction://hlinksldjump" r:id="rId5"/>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Vulnerability Analysis and Remediation </a:t>
            </a:r>
            <a:endParaRPr sz="1000">
              <a:solidFill>
                <a:srgbClr val="FF0000"/>
              </a:solidFill>
              <a:latin typeface="Century Gothic"/>
              <a:ea typeface="Century Gothic"/>
              <a:cs typeface="Century Gothic"/>
              <a:sym typeface="Century Gothic"/>
            </a:endParaRPr>
          </a:p>
        </p:txBody>
      </p:sp>
      <p:sp>
        <p:nvSpPr>
          <p:cNvPr id="9036" name="Google Shape;9036;p511">
            <a:hlinkClick action="ppaction://hlinksldjump" r:id="rId6"/>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Date Leakage - Exfiltration</a:t>
            </a:r>
            <a:endParaRPr sz="700">
              <a:solidFill>
                <a:srgbClr val="FF0000"/>
              </a:solidFill>
              <a:latin typeface="Century Gothic"/>
              <a:ea typeface="Century Gothic"/>
              <a:cs typeface="Century Gothic"/>
              <a:sym typeface="Century Gothic"/>
            </a:endParaRPr>
          </a:p>
        </p:txBody>
      </p:sp>
      <p:sp>
        <p:nvSpPr>
          <p:cNvPr id="9037" name="Google Shape;9037;p51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9038" name="Google Shape;9038;p511"/>
          <p:cNvSpPr/>
          <p:nvPr/>
        </p:nvSpPr>
        <p:spPr>
          <a:xfrm>
            <a:off x="1974453" y="-294629"/>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9039" name="Google Shape;9039;p511"/>
          <p:cNvGrpSpPr/>
          <p:nvPr/>
        </p:nvGrpSpPr>
        <p:grpSpPr>
          <a:xfrm>
            <a:off x="2100364" y="1348315"/>
            <a:ext cx="281520" cy="241973"/>
            <a:chOff x="5652748" y="4066000"/>
            <a:chExt cx="906498" cy="747974"/>
          </a:xfrm>
        </p:grpSpPr>
        <p:sp>
          <p:nvSpPr>
            <p:cNvPr id="9040" name="Google Shape;9040;p51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041" name="Google Shape;9041;p51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42" name="Google Shape;9042;p51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9043" name="Google Shape;9043;p511"/>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9044" name="Google Shape;9044;p511"/>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9045" name="Google Shape;9045;p511"/>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Information and Cyber Security</a:t>
            </a:r>
            <a:endParaRPr sz="1600"/>
          </a:p>
        </p:txBody>
      </p:sp>
      <p:sp>
        <p:nvSpPr>
          <p:cNvPr id="9046" name="Google Shape;9046;p511">
            <a:hlinkClick action="ppaction://hlinksldjump" r:id="rId7"/>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Information and Cyber Security</a:t>
            </a:r>
            <a:endParaRPr sz="1100">
              <a:solidFill>
                <a:srgbClr val="FFFFFF"/>
              </a:solidFill>
              <a:latin typeface="Century Gothic"/>
              <a:ea typeface="Century Gothic"/>
              <a:cs typeface="Century Gothic"/>
              <a:sym typeface="Century Gothic"/>
            </a:endParaRPr>
          </a:p>
        </p:txBody>
      </p:sp>
      <p:sp>
        <p:nvSpPr>
          <p:cNvPr id="9047" name="Google Shape;9047;p511">
            <a:hlinkClick action="ppaction://hlinksldjump" r:id="rId8"/>
          </p:cNvPr>
          <p:cNvSpPr/>
          <p:nvPr/>
        </p:nvSpPr>
        <p:spPr>
          <a:xfrm>
            <a:off x="2094914" y="24556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Cyber Security</a:t>
            </a:r>
            <a:endParaRPr sz="700">
              <a:solidFill>
                <a:srgbClr val="FF0000"/>
              </a:solidFill>
              <a:latin typeface="Century Gothic"/>
              <a:ea typeface="Century Gothic"/>
              <a:cs typeface="Century Gothic"/>
              <a:sym typeface="Century Gothic"/>
            </a:endParaRPr>
          </a:p>
        </p:txBody>
      </p:sp>
      <p:sp>
        <p:nvSpPr>
          <p:cNvPr id="9048" name="Google Shape;9048;p511">
            <a:hlinkClick action="ppaction://hlinksldjump" r:id="rId9"/>
          </p:cNvPr>
          <p:cNvSpPr/>
          <p:nvPr/>
        </p:nvSpPr>
        <p:spPr>
          <a:xfrm flipH="1" rot="5400000">
            <a:off x="5064095" y="790297"/>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511"/>
          <p:cNvSpPr txBox="1"/>
          <p:nvPr/>
        </p:nvSpPr>
        <p:spPr>
          <a:xfrm flipH="1">
            <a:off x="4868417" y="10366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4 of 4</a:t>
            </a:r>
            <a:endParaRPr/>
          </a:p>
        </p:txBody>
      </p:sp>
      <p:sp>
        <p:nvSpPr>
          <p:cNvPr id="9050" name="Google Shape;9050;p511">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54" name="Shape 9054"/>
        <p:cNvGrpSpPr/>
        <p:nvPr/>
      </p:nvGrpSpPr>
      <p:grpSpPr>
        <a:xfrm>
          <a:off x="0" y="0"/>
          <a:ext cx="0" cy="0"/>
          <a:chOff x="0" y="0"/>
          <a:chExt cx="0" cy="0"/>
        </a:xfrm>
      </p:grpSpPr>
      <p:pic>
        <p:nvPicPr>
          <p:cNvPr descr="DIS-1001-H.jpg" id="9055" name="Google Shape;9055;p512"/>
          <p:cNvPicPr preferRelativeResize="0"/>
          <p:nvPr/>
        </p:nvPicPr>
        <p:blipFill rotWithShape="1">
          <a:blip r:embed="rId3">
            <a:alphaModFix/>
          </a:blip>
          <a:srcRect b="14847" l="5604" r="39964" t="5507"/>
          <a:stretch/>
        </p:blipFill>
        <p:spPr>
          <a:xfrm flipH="1">
            <a:off x="5082638" y="297669"/>
            <a:ext cx="3816000" cy="4392000"/>
          </a:xfrm>
          <a:prstGeom prst="rect">
            <a:avLst/>
          </a:prstGeom>
          <a:noFill/>
          <a:ln>
            <a:noFill/>
          </a:ln>
        </p:spPr>
      </p:pic>
      <p:sp>
        <p:nvSpPr>
          <p:cNvPr id="9056" name="Google Shape;9056;p512"/>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Security &amp; Fraud</a:t>
            </a:r>
            <a:endParaRPr/>
          </a:p>
        </p:txBody>
      </p:sp>
      <p:sp>
        <p:nvSpPr>
          <p:cNvPr id="9057" name="Google Shape;9057;p512"/>
          <p:cNvSpPr txBox="1"/>
          <p:nvPr>
            <p:ph idx="1" type="body"/>
          </p:nvPr>
        </p:nvSpPr>
        <p:spPr>
          <a:xfrm>
            <a:off x="475378" y="1191801"/>
            <a:ext cx="6609407"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chemeClr val="lt1"/>
              </a:buClr>
              <a:buSzPts val="1800"/>
              <a:buNone/>
            </a:pPr>
            <a:r>
              <a:rPr lang="en-GB">
                <a:solidFill>
                  <a:schemeClr val="lt1"/>
                </a:solidFill>
              </a:rPr>
              <a:t>Definition</a:t>
            </a:r>
            <a:endParaRPr b="1">
              <a:solidFill>
                <a:schemeClr val="lt1"/>
              </a:solidFill>
            </a:endParaRPr>
          </a:p>
        </p:txBody>
      </p:sp>
      <p:sp>
        <p:nvSpPr>
          <p:cNvPr id="9058" name="Google Shape;9058;p512"/>
          <p:cNvSpPr txBox="1"/>
          <p:nvPr/>
        </p:nvSpPr>
        <p:spPr>
          <a:xfrm>
            <a:off x="458289" y="2652301"/>
            <a:ext cx="3858530" cy="2211033"/>
          </a:xfrm>
          <a:prstGeom prst="rect">
            <a:avLst/>
          </a:prstGeom>
          <a:noFill/>
          <a:ln>
            <a:noFill/>
          </a:ln>
        </p:spPr>
        <p:txBody>
          <a:bodyPr anchorCtr="0" anchor="t" bIns="0" lIns="0" spcFirstLastPara="1" rIns="0" wrap="square" tIns="0">
            <a:noAutofit/>
          </a:bodyPr>
          <a:lstStyle/>
          <a:p>
            <a:pPr indent="0" lvl="0" marL="0" marR="0" rtl="0" algn="l">
              <a:lnSpc>
                <a:spcPct val="110000"/>
              </a:lnSpc>
              <a:spcBef>
                <a:spcPts val="0"/>
              </a:spcBef>
              <a:spcAft>
                <a:spcPts val="0"/>
              </a:spcAft>
              <a:buClr>
                <a:srgbClr val="0079DB"/>
              </a:buClr>
              <a:buSzPts val="1800"/>
              <a:buFont typeface="Arial"/>
              <a:buNone/>
            </a:pPr>
            <a:r>
              <a:rPr b="0" lang="en-GB" sz="1800">
                <a:solidFill>
                  <a:srgbClr val="0079DB"/>
                </a:solidFill>
                <a:latin typeface="Century Gothic"/>
                <a:ea typeface="Century Gothic"/>
                <a:cs typeface="Century Gothic"/>
                <a:sym typeface="Century Gothic"/>
              </a:rPr>
              <a:t>Why is it important?</a:t>
            </a:r>
            <a:endParaRPr/>
          </a:p>
          <a:p>
            <a:pPr indent="-169863" lvl="0" marL="169863" marR="0" rtl="0" algn="l">
              <a:lnSpc>
                <a:spcPct val="100000"/>
              </a:lnSpc>
              <a:spcBef>
                <a:spcPts val="5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The trust of the customer can be negatively impacted if they believe a company can’t protect itself</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Financial impacts can be significant in the form of fines, class action lawsuits, market capital impairment and business losses</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This area can widely distort the “true cost” of doing business</a:t>
            </a:r>
            <a:endParaRPr/>
          </a:p>
        </p:txBody>
      </p:sp>
      <p:sp>
        <p:nvSpPr>
          <p:cNvPr id="9059" name="Google Shape;9059;p512"/>
          <p:cNvSpPr/>
          <p:nvPr/>
        </p:nvSpPr>
        <p:spPr>
          <a:xfrm>
            <a:off x="0" y="1144565"/>
            <a:ext cx="7205662" cy="1289729"/>
          </a:xfrm>
          <a:prstGeom prst="rect">
            <a:avLst/>
          </a:prstGeom>
          <a:solidFill>
            <a:schemeClr val="dk2"/>
          </a:solidFill>
          <a:ln>
            <a:noFill/>
          </a:ln>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b="1" lang="en-GB" sz="1800">
                <a:solidFill>
                  <a:srgbClr val="FFFFFF"/>
                </a:solidFill>
                <a:latin typeface="Century Gothic"/>
                <a:ea typeface="Century Gothic"/>
                <a:cs typeface="Century Gothic"/>
                <a:sym typeface="Century Gothic"/>
              </a:rPr>
              <a:t>Security &amp; Fraud </a:t>
            </a:r>
            <a:r>
              <a:rPr lang="en-GB" sz="1600">
                <a:solidFill>
                  <a:srgbClr val="FFFFFF"/>
                </a:solidFill>
                <a:latin typeface="Century Gothic"/>
                <a:ea typeface="Century Gothic"/>
                <a:cs typeface="Century Gothic"/>
                <a:sym typeface="Century Gothic"/>
              </a:rPr>
              <a:t>encompasses the execution and optimization of  all activities involved in protecting all physical, financial and intellectual assets from misuse by internal and external threats.</a:t>
            </a:r>
            <a:endParaRPr sz="1600">
              <a:solidFill>
                <a:srgbClr val="FFFFFF"/>
              </a:solidFill>
              <a:latin typeface="Century Gothic"/>
              <a:ea typeface="Century Gothic"/>
              <a:cs typeface="Century Gothic"/>
              <a:sym typeface="Century Gothic"/>
            </a:endParaRPr>
          </a:p>
        </p:txBody>
      </p:sp>
      <p:sp>
        <p:nvSpPr>
          <p:cNvPr id="9060" name="Google Shape;9060;p512">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85" name="Shape 9085"/>
        <p:cNvGrpSpPr/>
        <p:nvPr/>
      </p:nvGrpSpPr>
      <p:grpSpPr>
        <a:xfrm>
          <a:off x="0" y="0"/>
          <a:ext cx="0" cy="0"/>
          <a:chOff x="0" y="0"/>
          <a:chExt cx="0" cy="0"/>
        </a:xfrm>
      </p:grpSpPr>
      <p:pic>
        <p:nvPicPr>
          <p:cNvPr id="9086" name="Google Shape;9086;p516"/>
          <p:cNvPicPr preferRelativeResize="0"/>
          <p:nvPr/>
        </p:nvPicPr>
        <p:blipFill rotWithShape="1">
          <a:blip r:embed="rId3">
            <a:alphaModFix/>
          </a:blip>
          <a:srcRect b="11045" l="0" r="0" t="0"/>
          <a:stretch/>
        </p:blipFill>
        <p:spPr>
          <a:xfrm>
            <a:off x="5289202" y="-1"/>
            <a:ext cx="3854798" cy="5143501"/>
          </a:xfrm>
          <a:prstGeom prst="rect">
            <a:avLst/>
          </a:prstGeom>
          <a:noFill/>
          <a:ln>
            <a:noFill/>
          </a:ln>
          <a:effectLst>
            <a:outerShdw blurRad="50800" rotWithShape="0" algn="tr" dir="8100000" dist="38100">
              <a:srgbClr val="000000">
                <a:alpha val="40000"/>
              </a:srgbClr>
            </a:outerShdw>
          </a:effectLst>
        </p:spPr>
      </p:pic>
      <p:sp>
        <p:nvSpPr>
          <p:cNvPr id="9087" name="Google Shape;9087;p516"/>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just">
              <a:lnSpc>
                <a:spcPct val="95000"/>
              </a:lnSpc>
              <a:spcBef>
                <a:spcPts val="200"/>
              </a:spcBef>
              <a:spcAft>
                <a:spcPts val="0"/>
              </a:spcAft>
              <a:buClr>
                <a:schemeClr val="dk1"/>
              </a:buClr>
              <a:buSzPts val="1400"/>
              <a:buChar char="•"/>
            </a:pPr>
            <a:r>
              <a:rPr lang="en-GB" sz="1400"/>
              <a:t>Fraudster modus operandi changes from one moment to the next, quickly rendering static deterrents  useless. </a:t>
            </a:r>
            <a:endParaRPr/>
          </a:p>
          <a:p>
            <a:pPr indent="-169863" lvl="0" marL="169863" rtl="0" algn="just">
              <a:lnSpc>
                <a:spcPct val="95000"/>
              </a:lnSpc>
              <a:spcBef>
                <a:spcPts val="600"/>
              </a:spcBef>
              <a:spcAft>
                <a:spcPts val="0"/>
              </a:spcAft>
              <a:buClr>
                <a:schemeClr val="dk1"/>
              </a:buClr>
              <a:buSzPts val="1400"/>
              <a:buChar char="•"/>
            </a:pPr>
            <a:r>
              <a:rPr lang="en-GB" sz="1400"/>
              <a:t>Fraud is usually executed by a network of parties silently operating within an institution’s supply chain. </a:t>
            </a:r>
            <a:endParaRPr/>
          </a:p>
          <a:p>
            <a:pPr indent="-169863" lvl="0" marL="169863" rtl="0" algn="just">
              <a:lnSpc>
                <a:spcPct val="95000"/>
              </a:lnSpc>
              <a:spcBef>
                <a:spcPts val="600"/>
              </a:spcBef>
              <a:spcAft>
                <a:spcPts val="0"/>
              </a:spcAft>
              <a:buClr>
                <a:schemeClr val="dk1"/>
              </a:buClr>
              <a:buSzPts val="1400"/>
              <a:buChar char="•"/>
            </a:pPr>
            <a:r>
              <a:rPr lang="en-GB" sz="1400"/>
              <a:t>Fraud is a silent loss for most companies. Losses from fraudulent activity can go undetected for years, unnecessarily bringing up business costs. </a:t>
            </a:r>
            <a:endParaRPr/>
          </a:p>
          <a:p>
            <a:pPr indent="-169863" lvl="0" marL="169863" rtl="0" algn="just">
              <a:lnSpc>
                <a:spcPct val="95000"/>
              </a:lnSpc>
              <a:spcBef>
                <a:spcPts val="600"/>
              </a:spcBef>
              <a:spcAft>
                <a:spcPts val="0"/>
              </a:spcAft>
              <a:buClr>
                <a:schemeClr val="dk1"/>
              </a:buClr>
              <a:buSzPts val="1400"/>
              <a:buChar char="•"/>
            </a:pPr>
            <a:r>
              <a:rPr lang="en-GB" sz="1400"/>
              <a:t>Fraud complicity, even unintended can result in significant legal fines and reputational loss for management and companies. </a:t>
            </a:r>
            <a:endParaRPr/>
          </a:p>
          <a:p>
            <a:pPr indent="-80963" lvl="0" marL="169863" rtl="0" algn="just">
              <a:lnSpc>
                <a:spcPct val="95000"/>
              </a:lnSpc>
              <a:spcBef>
                <a:spcPts val="600"/>
              </a:spcBef>
              <a:spcAft>
                <a:spcPts val="0"/>
              </a:spcAft>
              <a:buClr>
                <a:schemeClr val="dk1"/>
              </a:buClr>
              <a:buSzPts val="1400"/>
              <a:buNone/>
            </a:pPr>
            <a:r>
              <a:t/>
            </a:r>
            <a:endParaRPr sz="1400"/>
          </a:p>
        </p:txBody>
      </p:sp>
      <p:sp>
        <p:nvSpPr>
          <p:cNvPr id="9088" name="Google Shape;9088;p516"/>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Common Core for Fraud Analytics</a:t>
            </a:r>
            <a:br>
              <a:rPr lang="en-GB"/>
            </a:br>
            <a:endParaRPr/>
          </a:p>
        </p:txBody>
      </p:sp>
      <p:sp>
        <p:nvSpPr>
          <p:cNvPr id="9089" name="Google Shape;9089;p516"/>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Key capabilities that enable companies to effectively deal with fraud both from internal parties and external parties. Effective deterrence requires mechanisms that allow companies to quickly detect potentially fraudulent activity, identify and trace perpetrators and anticipate future activity. </a:t>
            </a:r>
            <a:endParaRPr b="0" i="0" sz="1400" u="none" cap="none" strike="noStrike">
              <a:solidFill>
                <a:srgbClr val="FFFFFF"/>
              </a:solidFill>
              <a:latin typeface="Century Gothic"/>
              <a:ea typeface="Century Gothic"/>
              <a:cs typeface="Century Gothic"/>
              <a:sym typeface="Century Gothic"/>
            </a:endParaRPr>
          </a:p>
        </p:txBody>
      </p:sp>
      <p:sp>
        <p:nvSpPr>
          <p:cNvPr id="9090" name="Google Shape;9090;p516">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29" name="Shape 9129"/>
        <p:cNvGrpSpPr/>
        <p:nvPr/>
      </p:nvGrpSpPr>
      <p:grpSpPr>
        <a:xfrm>
          <a:off x="0" y="0"/>
          <a:ext cx="0" cy="0"/>
          <a:chOff x="0" y="0"/>
          <a:chExt cx="0" cy="0"/>
        </a:xfrm>
      </p:grpSpPr>
      <p:cxnSp>
        <p:nvCxnSpPr>
          <p:cNvPr id="9130" name="Google Shape;9130;p519"/>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131" name="Google Shape;9131;p519"/>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132" name="Google Shape;9132;p519"/>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Real-Time Threat Detection and Mitigation</a:t>
            </a:r>
            <a:endParaRPr b="1"/>
          </a:p>
        </p:txBody>
      </p:sp>
      <p:grpSp>
        <p:nvGrpSpPr>
          <p:cNvPr id="9133" name="Google Shape;9133;p519"/>
          <p:cNvGrpSpPr/>
          <p:nvPr/>
        </p:nvGrpSpPr>
        <p:grpSpPr>
          <a:xfrm>
            <a:off x="7717533" y="4360387"/>
            <a:ext cx="1058348" cy="347375"/>
            <a:chOff x="7651698" y="4287227"/>
            <a:chExt cx="1058348" cy="347374"/>
          </a:xfrm>
        </p:grpSpPr>
        <p:grpSp>
          <p:nvGrpSpPr>
            <p:cNvPr id="9134" name="Google Shape;9134;p519"/>
            <p:cNvGrpSpPr/>
            <p:nvPr/>
          </p:nvGrpSpPr>
          <p:grpSpPr>
            <a:xfrm>
              <a:off x="7714163" y="4337598"/>
              <a:ext cx="995883" cy="297003"/>
              <a:chOff x="7711013" y="3986494"/>
              <a:chExt cx="995883" cy="297003"/>
            </a:xfrm>
          </p:grpSpPr>
          <p:sp>
            <p:nvSpPr>
              <p:cNvPr id="9135" name="Google Shape;9135;p519"/>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136" name="Google Shape;9136;p519"/>
              <p:cNvGrpSpPr/>
              <p:nvPr/>
            </p:nvGrpSpPr>
            <p:grpSpPr>
              <a:xfrm>
                <a:off x="7711013" y="4002615"/>
                <a:ext cx="281520" cy="241973"/>
                <a:chOff x="5652748" y="4066000"/>
                <a:chExt cx="906498" cy="747974"/>
              </a:xfrm>
            </p:grpSpPr>
            <p:sp>
              <p:nvSpPr>
                <p:cNvPr id="9137" name="Google Shape;9137;p51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138" name="Google Shape;9138;p51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139" name="Google Shape;9139;p51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140" name="Google Shape;9140;p51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141" name="Google Shape;9141;p51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60" name="Shape 9160"/>
        <p:cNvGrpSpPr/>
        <p:nvPr/>
      </p:nvGrpSpPr>
      <p:grpSpPr>
        <a:xfrm>
          <a:off x="0" y="0"/>
          <a:ext cx="0" cy="0"/>
          <a:chOff x="0" y="0"/>
          <a:chExt cx="0" cy="0"/>
        </a:xfrm>
      </p:grpSpPr>
      <p:cxnSp>
        <p:nvCxnSpPr>
          <p:cNvPr id="9161" name="Google Shape;9161;p521"/>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162" name="Google Shape;9162;p521"/>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163" name="Google Shape;9163;p521"/>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Risk Assessment</a:t>
            </a:r>
            <a:endParaRPr b="1"/>
          </a:p>
        </p:txBody>
      </p:sp>
      <p:grpSp>
        <p:nvGrpSpPr>
          <p:cNvPr id="9164" name="Google Shape;9164;p521"/>
          <p:cNvGrpSpPr/>
          <p:nvPr/>
        </p:nvGrpSpPr>
        <p:grpSpPr>
          <a:xfrm>
            <a:off x="7717533" y="4360387"/>
            <a:ext cx="1058348" cy="347375"/>
            <a:chOff x="7651698" y="4287227"/>
            <a:chExt cx="1058348" cy="347374"/>
          </a:xfrm>
        </p:grpSpPr>
        <p:grpSp>
          <p:nvGrpSpPr>
            <p:cNvPr id="9165" name="Google Shape;9165;p521"/>
            <p:cNvGrpSpPr/>
            <p:nvPr/>
          </p:nvGrpSpPr>
          <p:grpSpPr>
            <a:xfrm>
              <a:off x="7714163" y="4337598"/>
              <a:ext cx="995883" cy="297003"/>
              <a:chOff x="7711013" y="3986494"/>
              <a:chExt cx="995883" cy="297003"/>
            </a:xfrm>
          </p:grpSpPr>
          <p:sp>
            <p:nvSpPr>
              <p:cNvPr id="9166" name="Google Shape;9166;p521"/>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167" name="Google Shape;9167;p521"/>
              <p:cNvGrpSpPr/>
              <p:nvPr/>
            </p:nvGrpSpPr>
            <p:grpSpPr>
              <a:xfrm>
                <a:off x="7711013" y="4002615"/>
                <a:ext cx="281520" cy="241973"/>
                <a:chOff x="5652748" y="4066000"/>
                <a:chExt cx="906498" cy="747974"/>
              </a:xfrm>
            </p:grpSpPr>
            <p:sp>
              <p:nvSpPr>
                <p:cNvPr id="9168" name="Google Shape;9168;p52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169" name="Google Shape;9169;p52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170" name="Google Shape;9170;p52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171" name="Google Shape;9171;p521"/>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172" name="Google Shape;9172;p52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91" name="Shape 9191"/>
        <p:cNvGrpSpPr/>
        <p:nvPr/>
      </p:nvGrpSpPr>
      <p:grpSpPr>
        <a:xfrm>
          <a:off x="0" y="0"/>
          <a:ext cx="0" cy="0"/>
          <a:chOff x="0" y="0"/>
          <a:chExt cx="0" cy="0"/>
        </a:xfrm>
      </p:grpSpPr>
      <p:cxnSp>
        <p:nvCxnSpPr>
          <p:cNvPr id="9192" name="Google Shape;9192;p523"/>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193" name="Google Shape;9193;p523"/>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194" name="Google Shape;9194;p523"/>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Incident Management</a:t>
            </a:r>
            <a:endParaRPr b="1"/>
          </a:p>
        </p:txBody>
      </p:sp>
      <p:grpSp>
        <p:nvGrpSpPr>
          <p:cNvPr id="9195" name="Google Shape;9195;p523"/>
          <p:cNvGrpSpPr/>
          <p:nvPr/>
        </p:nvGrpSpPr>
        <p:grpSpPr>
          <a:xfrm>
            <a:off x="7717533" y="4360387"/>
            <a:ext cx="1058348" cy="347375"/>
            <a:chOff x="7651698" y="4287227"/>
            <a:chExt cx="1058348" cy="347374"/>
          </a:xfrm>
        </p:grpSpPr>
        <p:grpSp>
          <p:nvGrpSpPr>
            <p:cNvPr id="9196" name="Google Shape;9196;p523"/>
            <p:cNvGrpSpPr/>
            <p:nvPr/>
          </p:nvGrpSpPr>
          <p:grpSpPr>
            <a:xfrm>
              <a:off x="7714163" y="4337598"/>
              <a:ext cx="995883" cy="297003"/>
              <a:chOff x="7711013" y="3986494"/>
              <a:chExt cx="995883" cy="297003"/>
            </a:xfrm>
          </p:grpSpPr>
          <p:sp>
            <p:nvSpPr>
              <p:cNvPr id="9197" name="Google Shape;9197;p523"/>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198" name="Google Shape;9198;p523"/>
              <p:cNvGrpSpPr/>
              <p:nvPr/>
            </p:nvGrpSpPr>
            <p:grpSpPr>
              <a:xfrm>
                <a:off x="7711013" y="4002615"/>
                <a:ext cx="281520" cy="241973"/>
                <a:chOff x="5652748" y="4066000"/>
                <a:chExt cx="906498" cy="747974"/>
              </a:xfrm>
            </p:grpSpPr>
            <p:sp>
              <p:nvSpPr>
                <p:cNvPr id="9199" name="Google Shape;9199;p52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00" name="Google Shape;9200;p52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201" name="Google Shape;9201;p52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202" name="Google Shape;9202;p523"/>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203" name="Google Shape;9203;p52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22" name="Shape 9222"/>
        <p:cNvGrpSpPr/>
        <p:nvPr/>
      </p:nvGrpSpPr>
      <p:grpSpPr>
        <a:xfrm>
          <a:off x="0" y="0"/>
          <a:ext cx="0" cy="0"/>
          <a:chOff x="0" y="0"/>
          <a:chExt cx="0" cy="0"/>
        </a:xfrm>
      </p:grpSpPr>
      <p:cxnSp>
        <p:nvCxnSpPr>
          <p:cNvPr id="9223" name="Google Shape;9223;p525"/>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224" name="Google Shape;9224;p525"/>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225" name="Google Shape;9225;p525"/>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Investigations and Forensics</a:t>
            </a:r>
            <a:endParaRPr b="1"/>
          </a:p>
        </p:txBody>
      </p:sp>
      <p:grpSp>
        <p:nvGrpSpPr>
          <p:cNvPr id="9226" name="Google Shape;9226;p525"/>
          <p:cNvGrpSpPr/>
          <p:nvPr/>
        </p:nvGrpSpPr>
        <p:grpSpPr>
          <a:xfrm>
            <a:off x="7717533" y="4360387"/>
            <a:ext cx="1058348" cy="347375"/>
            <a:chOff x="7651698" y="4287227"/>
            <a:chExt cx="1058348" cy="347374"/>
          </a:xfrm>
        </p:grpSpPr>
        <p:grpSp>
          <p:nvGrpSpPr>
            <p:cNvPr id="9227" name="Google Shape;9227;p525"/>
            <p:cNvGrpSpPr/>
            <p:nvPr/>
          </p:nvGrpSpPr>
          <p:grpSpPr>
            <a:xfrm>
              <a:off x="7714163" y="4337598"/>
              <a:ext cx="995883" cy="297003"/>
              <a:chOff x="7711013" y="3986494"/>
              <a:chExt cx="995883" cy="297003"/>
            </a:xfrm>
          </p:grpSpPr>
          <p:sp>
            <p:nvSpPr>
              <p:cNvPr id="9228" name="Google Shape;9228;p525"/>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229" name="Google Shape;9229;p525"/>
              <p:cNvGrpSpPr/>
              <p:nvPr/>
            </p:nvGrpSpPr>
            <p:grpSpPr>
              <a:xfrm>
                <a:off x="7711013" y="4002615"/>
                <a:ext cx="281520" cy="241973"/>
                <a:chOff x="5652748" y="4066000"/>
                <a:chExt cx="906498" cy="747974"/>
              </a:xfrm>
            </p:grpSpPr>
            <p:sp>
              <p:nvSpPr>
                <p:cNvPr id="9230" name="Google Shape;9230;p52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31" name="Google Shape;9231;p52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232" name="Google Shape;9232;p52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233" name="Google Shape;9233;p525"/>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234" name="Google Shape;9234;p52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53" name="Shape 9253"/>
        <p:cNvGrpSpPr/>
        <p:nvPr/>
      </p:nvGrpSpPr>
      <p:grpSpPr>
        <a:xfrm>
          <a:off x="0" y="0"/>
          <a:ext cx="0" cy="0"/>
          <a:chOff x="0" y="0"/>
          <a:chExt cx="0" cy="0"/>
        </a:xfrm>
      </p:grpSpPr>
      <p:cxnSp>
        <p:nvCxnSpPr>
          <p:cNvPr id="9254" name="Google Shape;9254;p527"/>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255" name="Google Shape;9255;p527"/>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256" name="Google Shape;9256;p527"/>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Loss Recovery</a:t>
            </a:r>
            <a:endParaRPr b="1"/>
          </a:p>
        </p:txBody>
      </p:sp>
      <p:grpSp>
        <p:nvGrpSpPr>
          <p:cNvPr id="9257" name="Google Shape;9257;p527"/>
          <p:cNvGrpSpPr/>
          <p:nvPr/>
        </p:nvGrpSpPr>
        <p:grpSpPr>
          <a:xfrm>
            <a:off x="7717533" y="4360387"/>
            <a:ext cx="1058348" cy="347375"/>
            <a:chOff x="7651698" y="4287227"/>
            <a:chExt cx="1058348" cy="347374"/>
          </a:xfrm>
        </p:grpSpPr>
        <p:grpSp>
          <p:nvGrpSpPr>
            <p:cNvPr id="9258" name="Google Shape;9258;p527"/>
            <p:cNvGrpSpPr/>
            <p:nvPr/>
          </p:nvGrpSpPr>
          <p:grpSpPr>
            <a:xfrm>
              <a:off x="7714163" y="4337598"/>
              <a:ext cx="995883" cy="297003"/>
              <a:chOff x="7711013" y="3986494"/>
              <a:chExt cx="995883" cy="297003"/>
            </a:xfrm>
          </p:grpSpPr>
          <p:sp>
            <p:nvSpPr>
              <p:cNvPr id="9259" name="Google Shape;9259;p527"/>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260" name="Google Shape;9260;p527"/>
              <p:cNvGrpSpPr/>
              <p:nvPr/>
            </p:nvGrpSpPr>
            <p:grpSpPr>
              <a:xfrm>
                <a:off x="7711013" y="4002615"/>
                <a:ext cx="281520" cy="241973"/>
                <a:chOff x="5652748" y="4066000"/>
                <a:chExt cx="906498" cy="747974"/>
              </a:xfrm>
            </p:grpSpPr>
            <p:sp>
              <p:nvSpPr>
                <p:cNvPr id="9261" name="Google Shape;9261;p52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62" name="Google Shape;9262;p52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263" name="Google Shape;9263;p52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264" name="Google Shape;9264;p527"/>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265" name="Google Shape;9265;p52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84" name="Shape 9284"/>
        <p:cNvGrpSpPr/>
        <p:nvPr/>
      </p:nvGrpSpPr>
      <p:grpSpPr>
        <a:xfrm>
          <a:off x="0" y="0"/>
          <a:ext cx="0" cy="0"/>
          <a:chOff x="0" y="0"/>
          <a:chExt cx="0" cy="0"/>
        </a:xfrm>
      </p:grpSpPr>
      <p:pic>
        <p:nvPicPr>
          <p:cNvPr descr="BIZ-1042-L.jpg" id="9285" name="Google Shape;9285;p529"/>
          <p:cNvPicPr preferRelativeResize="0"/>
          <p:nvPr/>
        </p:nvPicPr>
        <p:blipFill rotWithShape="1">
          <a:blip r:embed="rId3">
            <a:alphaModFix/>
          </a:blip>
          <a:srcRect b="0" l="-185" r="142" t="0"/>
          <a:stretch/>
        </p:blipFill>
        <p:spPr>
          <a:xfrm>
            <a:off x="6612147" y="1"/>
            <a:ext cx="2567299" cy="1714756"/>
          </a:xfrm>
          <a:prstGeom prst="rect">
            <a:avLst/>
          </a:prstGeom>
          <a:noFill/>
          <a:ln>
            <a:noFill/>
          </a:ln>
          <a:effectLst>
            <a:outerShdw blurRad="50800" rotWithShape="0" algn="tl" dir="2700000" dist="38100">
              <a:srgbClr val="000000">
                <a:alpha val="40000"/>
              </a:srgbClr>
            </a:outerShdw>
          </a:effectLst>
        </p:spPr>
      </p:pic>
      <p:cxnSp>
        <p:nvCxnSpPr>
          <p:cNvPr id="9286" name="Google Shape;9286;p52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287" name="Google Shape;9287;p529"/>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288" name="Google Shape;9288;p529"/>
          <p:cNvGrpSpPr/>
          <p:nvPr/>
        </p:nvGrpSpPr>
        <p:grpSpPr>
          <a:xfrm rot="10800000">
            <a:off x="8402201" y="2375927"/>
            <a:ext cx="446523" cy="372936"/>
            <a:chOff x="4492625" y="3451225"/>
            <a:chExt cx="992188" cy="828675"/>
          </a:xfrm>
        </p:grpSpPr>
        <p:sp>
          <p:nvSpPr>
            <p:cNvPr id="9289" name="Google Shape;9289;p529"/>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90" name="Google Shape;9290;p529"/>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291" name="Google Shape;9291;p529"/>
          <p:cNvGrpSpPr/>
          <p:nvPr/>
        </p:nvGrpSpPr>
        <p:grpSpPr>
          <a:xfrm>
            <a:off x="6027116" y="1367367"/>
            <a:ext cx="446523" cy="372936"/>
            <a:chOff x="4492625" y="3451225"/>
            <a:chExt cx="992188" cy="828675"/>
          </a:xfrm>
        </p:grpSpPr>
        <p:sp>
          <p:nvSpPr>
            <p:cNvPr id="9292" name="Google Shape;9292;p529"/>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93" name="Google Shape;9293;p529"/>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294" name="Google Shape;9294;p529"/>
          <p:cNvGraphicFramePr/>
          <p:nvPr/>
        </p:nvGraphicFramePr>
        <p:xfrm>
          <a:off x="267610" y="848846"/>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2270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causes, drivers and likelihood of fraud events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business lines, customer segments, operational processes most likely to produce fraud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risk incidents, events, and factors leading to fraud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groups, networks, and entity associations prone to or source of fraud </a:t>
                      </a:r>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Transactional data / Payment data </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 or counterparty demographic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Process data, operational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External data, such as credit bureau / social media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Digital and traditional channel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Risk events and incidents</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Statistical models to determine scores, probabilities and propensities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Path and Event analysis to unearth sequences, root-causes, and likely outcomes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Network, Graph and Association analysis to determine affinities, relationships, and concentrations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Text and log analysis to unearth sentiment, and patterns from semi-structured data</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Geospatial and location analysis to correlate risk events and factors to physical locations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Decision trees and monte-carlo analysis to perform stress tests and risk simulations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Clear and transparent fraud propensity scores, incidence rates, factors and triggers leading to fraud incidence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Evidence-based inputs to fraud alerts, triggers, and rules for operationalization.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Quantification of fraud likelihood and concentrations within business lines, portfolios, customer segments, business processes.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295" name="Google Shape;9295;p52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Fraud Model and Rule Development</a:t>
            </a:r>
            <a:endParaRPr sz="1600"/>
          </a:p>
        </p:txBody>
      </p:sp>
      <p:grpSp>
        <p:nvGrpSpPr>
          <p:cNvPr id="9296" name="Google Shape;9296;p529"/>
          <p:cNvGrpSpPr/>
          <p:nvPr/>
        </p:nvGrpSpPr>
        <p:grpSpPr>
          <a:xfrm>
            <a:off x="7717533" y="4360377"/>
            <a:ext cx="1058348" cy="347375"/>
            <a:chOff x="7651698" y="4287227"/>
            <a:chExt cx="1058348" cy="347375"/>
          </a:xfrm>
        </p:grpSpPr>
        <p:grpSp>
          <p:nvGrpSpPr>
            <p:cNvPr id="9297" name="Google Shape;9297;p529"/>
            <p:cNvGrpSpPr/>
            <p:nvPr/>
          </p:nvGrpSpPr>
          <p:grpSpPr>
            <a:xfrm>
              <a:off x="7714163" y="4337598"/>
              <a:ext cx="995883" cy="297004"/>
              <a:chOff x="7711013" y="3986494"/>
              <a:chExt cx="995883" cy="297004"/>
            </a:xfrm>
          </p:grpSpPr>
          <p:sp>
            <p:nvSpPr>
              <p:cNvPr id="9298" name="Google Shape;9298;p52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299" name="Google Shape;9299;p529"/>
              <p:cNvGrpSpPr/>
              <p:nvPr/>
            </p:nvGrpSpPr>
            <p:grpSpPr>
              <a:xfrm>
                <a:off x="7711013" y="4002615"/>
                <a:ext cx="281520" cy="241973"/>
                <a:chOff x="5652748" y="4066000"/>
                <a:chExt cx="906498" cy="747974"/>
              </a:xfrm>
            </p:grpSpPr>
            <p:sp>
              <p:nvSpPr>
                <p:cNvPr id="9300" name="Google Shape;9300;p52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301" name="Google Shape;9301;p52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302" name="Google Shape;9302;p52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303" name="Google Shape;9303;p52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304" name="Google Shape;9304;p52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22" name="Shape 9322"/>
        <p:cNvGrpSpPr/>
        <p:nvPr/>
      </p:nvGrpSpPr>
      <p:grpSpPr>
        <a:xfrm>
          <a:off x="0" y="0"/>
          <a:ext cx="0" cy="0"/>
          <a:chOff x="0" y="0"/>
          <a:chExt cx="0" cy="0"/>
        </a:xfrm>
      </p:grpSpPr>
      <p:sp>
        <p:nvSpPr>
          <p:cNvPr id="9323" name="Google Shape;9323;p531"/>
          <p:cNvSpPr txBox="1"/>
          <p:nvPr>
            <p:ph idx="1" type="body"/>
          </p:nvPr>
        </p:nvSpPr>
        <p:spPr>
          <a:xfrm>
            <a:off x="350402" y="1496481"/>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Point 1</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2</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3</a:t>
            </a:r>
            <a:endParaRPr/>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p:txBody>
      </p:sp>
      <p:sp>
        <p:nvSpPr>
          <p:cNvPr id="9324" name="Google Shape;9324;p531"/>
          <p:cNvSpPr txBox="1"/>
          <p:nvPr>
            <p:ph type="title"/>
          </p:nvPr>
        </p:nvSpPr>
        <p:spPr>
          <a:xfrm>
            <a:off x="173080" y="353481"/>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Employee Fraud</a:t>
            </a:r>
            <a:endParaRPr/>
          </a:p>
        </p:txBody>
      </p:sp>
      <p:pic>
        <p:nvPicPr>
          <p:cNvPr descr="iStock_000055909600_Full.jpg" id="9325" name="Google Shape;9325;p531"/>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9326" name="Google Shape;9326;p531"/>
          <p:cNvSpPr/>
          <p:nvPr/>
        </p:nvSpPr>
        <p:spPr>
          <a:xfrm>
            <a:off x="76200" y="639230"/>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Description</a:t>
            </a:r>
            <a:endParaRPr b="0" i="0" sz="1100" u="none" cap="none" strike="noStrike">
              <a:solidFill>
                <a:schemeClr val="lt1"/>
              </a:solidFill>
              <a:latin typeface="Century Gothic"/>
              <a:ea typeface="Century Gothic"/>
              <a:cs typeface="Century Gothic"/>
              <a:sym typeface="Century Gothic"/>
            </a:endParaRPr>
          </a:p>
        </p:txBody>
      </p:sp>
      <p:sp>
        <p:nvSpPr>
          <p:cNvPr id="9327" name="Google Shape;9327;p53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57" name="Shape 9357"/>
        <p:cNvGrpSpPr/>
        <p:nvPr/>
      </p:nvGrpSpPr>
      <p:grpSpPr>
        <a:xfrm>
          <a:off x="0" y="0"/>
          <a:ext cx="0" cy="0"/>
          <a:chOff x="0" y="0"/>
          <a:chExt cx="0" cy="0"/>
        </a:xfrm>
      </p:grpSpPr>
      <p:cxnSp>
        <p:nvCxnSpPr>
          <p:cNvPr id="9358" name="Google Shape;9358;p533"/>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359" name="Google Shape;9359;p533"/>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analytic</a:t>
                      </a:r>
                      <a:r>
                        <a:rPr b="1" lang="en-GB" sz="900">
                          <a:solidFill>
                            <a:schemeClr val="dk1"/>
                          </a:solidFill>
                        </a:rPr>
                        <a:t> processes to monitor the appropriate application of sales and incentive compensation</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Increase</a:t>
                      </a:r>
                      <a:r>
                        <a:rPr b="0" lang="en-GB" sz="900">
                          <a:solidFill>
                            <a:schemeClr val="dk1"/>
                          </a:solidFill>
                        </a:rPr>
                        <a:t> systematic process to detect employee  behavior anomalies outside of predetermined bounds that might be suggestive of potential operational risk and/or fraud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risk of regulatory scrutiny and/or public disclosure if internal process or controls breaks and exposes operational risks and/or fraud</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HR data and Sales &amp; Service (incentives)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GL Organizational hierarchies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execution to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 level details &amp;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System access &amp; usage data, web data access (internal click stream)</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Internal procurement (expense reports)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Sensor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Other internal / external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Proactive detection of potential operational risk threats suggestive of value leakage, fraud, and/or capital impairment </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Identification of training needs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Detection of broken business processes in need of redesign, approval steps, and/or review steps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Maintain efficient straight-thru process flow </a:t>
                      </a:r>
                      <a:endParaRPr/>
                    </a:p>
                    <a:p>
                      <a:pPr indent="0" lvl="0" marL="0" marR="0" rtl="0" algn="l">
                        <a:lnSpc>
                          <a:spcPct val="10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360" name="Google Shape;9360;p533"/>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Sales / Value-based Compensation</a:t>
            </a:r>
            <a:endParaRPr b="1" sz="1800"/>
          </a:p>
        </p:txBody>
      </p:sp>
      <p:grpSp>
        <p:nvGrpSpPr>
          <p:cNvPr id="9361" name="Google Shape;9361;p533"/>
          <p:cNvGrpSpPr/>
          <p:nvPr/>
        </p:nvGrpSpPr>
        <p:grpSpPr>
          <a:xfrm>
            <a:off x="7717533" y="4360387"/>
            <a:ext cx="1058348" cy="347375"/>
            <a:chOff x="7651698" y="4287227"/>
            <a:chExt cx="1058348" cy="347374"/>
          </a:xfrm>
        </p:grpSpPr>
        <p:grpSp>
          <p:nvGrpSpPr>
            <p:cNvPr id="9362" name="Google Shape;9362;p533"/>
            <p:cNvGrpSpPr/>
            <p:nvPr/>
          </p:nvGrpSpPr>
          <p:grpSpPr>
            <a:xfrm>
              <a:off x="7714163" y="4337598"/>
              <a:ext cx="995883" cy="297003"/>
              <a:chOff x="7711013" y="3986494"/>
              <a:chExt cx="995883" cy="297003"/>
            </a:xfrm>
          </p:grpSpPr>
          <p:sp>
            <p:nvSpPr>
              <p:cNvPr id="9363" name="Google Shape;9363;p533"/>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364" name="Google Shape;9364;p533"/>
              <p:cNvGrpSpPr/>
              <p:nvPr/>
            </p:nvGrpSpPr>
            <p:grpSpPr>
              <a:xfrm>
                <a:off x="7711013" y="4002615"/>
                <a:ext cx="281520" cy="241973"/>
                <a:chOff x="5652748" y="4066000"/>
                <a:chExt cx="906498" cy="747974"/>
              </a:xfrm>
            </p:grpSpPr>
            <p:sp>
              <p:nvSpPr>
                <p:cNvPr id="9365" name="Google Shape;9365;p53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366" name="Google Shape;9366;p53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367" name="Google Shape;9367;p53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368" name="Google Shape;9368;p533"/>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369" name="Google Shape;9369;p53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88" name="Shape 9388"/>
        <p:cNvGrpSpPr/>
        <p:nvPr/>
      </p:nvGrpSpPr>
      <p:grpSpPr>
        <a:xfrm>
          <a:off x="0" y="0"/>
          <a:ext cx="0" cy="0"/>
          <a:chOff x="0" y="0"/>
          <a:chExt cx="0" cy="0"/>
        </a:xfrm>
      </p:grpSpPr>
      <p:cxnSp>
        <p:nvCxnSpPr>
          <p:cNvPr id="9389" name="Google Shape;9389;p535"/>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390" name="Google Shape;9390;p535"/>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surveillance </a:t>
                      </a:r>
                      <a:r>
                        <a:rPr b="1" lang="en-GB" sz="900">
                          <a:solidFill>
                            <a:schemeClr val="dk1"/>
                          </a:solidFill>
                        </a:rPr>
                        <a:t>processes to detect activity suggestive of potential insider trading</a:t>
                      </a:r>
                      <a:endParaRPr b="1"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operational risks associated with failed detection of insider trading and public disclosure, which would have a negative impact on market capital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risk of regulatory scrutiny and/or public disclosure if internal process or controls breaks exposes operational risks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Front-office communications  logs (IM/Chat, email, voice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trading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Stock-based compensation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life-cycle data through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Real-time and historical market data, including price, announcements</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Text (email,  IM/Chat, voice-to-text)</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and pattern matching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Graph</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Proactive detection of potential suspicious activity suggestive of insider trading</a:t>
                      </a:r>
                      <a:endParaRPr sz="800">
                        <a:solidFill>
                          <a:srgbClr val="3C3C3B"/>
                        </a:solidFill>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Reduced</a:t>
                      </a:r>
                      <a:r>
                        <a:rPr lang="en-GB" sz="800">
                          <a:solidFill>
                            <a:srgbClr val="3C3C3B"/>
                          </a:solidFill>
                        </a:rPr>
                        <a:t> </a:t>
                      </a:r>
                      <a:r>
                        <a:rPr lang="en-GB" sz="800">
                          <a:solidFill>
                            <a:srgbClr val="3C3C3B"/>
                          </a:solidFill>
                        </a:rPr>
                        <a:t>operational risk and/or capital impairment  with regulatory fines and/or</a:t>
                      </a:r>
                      <a:r>
                        <a:rPr lang="en-GB" sz="800">
                          <a:solidFill>
                            <a:srgbClr val="3C3C3B"/>
                          </a:solidFill>
                        </a:rPr>
                        <a:t> public disclosure and subsequent impact on brand value</a:t>
                      </a:r>
                      <a:endParaRPr sz="800">
                        <a:solidFill>
                          <a:srgbClr val="3C3C3B"/>
                        </a:solidFill>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Identification of internal training needs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Detection of broken business processes in need of redesign, approval steps, and/or review steps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391" name="Google Shape;9391;p535"/>
          <p:cNvSpPr txBox="1"/>
          <p:nvPr>
            <p:ph type="title"/>
          </p:nvPr>
        </p:nvSpPr>
        <p:spPr>
          <a:xfrm>
            <a:off x="396787" y="72499"/>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Insider Trading</a:t>
            </a:r>
            <a:endParaRPr b="1"/>
          </a:p>
        </p:txBody>
      </p:sp>
      <p:sp>
        <p:nvSpPr>
          <p:cNvPr id="9392" name="Google Shape;9392;p53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11" name="Shape 9411"/>
        <p:cNvGrpSpPr/>
        <p:nvPr/>
      </p:nvGrpSpPr>
      <p:grpSpPr>
        <a:xfrm>
          <a:off x="0" y="0"/>
          <a:ext cx="0" cy="0"/>
          <a:chOff x="0" y="0"/>
          <a:chExt cx="0" cy="0"/>
        </a:xfrm>
      </p:grpSpPr>
      <p:cxnSp>
        <p:nvCxnSpPr>
          <p:cNvPr id="9412" name="Google Shape;9412;p53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413" name="Google Shape;9413;p537"/>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414" name="Google Shape;9414;p537"/>
          <p:cNvGrpSpPr/>
          <p:nvPr/>
        </p:nvGrpSpPr>
        <p:grpSpPr>
          <a:xfrm rot="10800000">
            <a:off x="8402201" y="2375927"/>
            <a:ext cx="446523" cy="372936"/>
            <a:chOff x="4492625" y="3451225"/>
            <a:chExt cx="992188" cy="828675"/>
          </a:xfrm>
        </p:grpSpPr>
        <p:sp>
          <p:nvSpPr>
            <p:cNvPr id="9415" name="Google Shape;9415;p537"/>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16" name="Google Shape;9416;p537"/>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417" name="Google Shape;9417;p537"/>
          <p:cNvGrpSpPr/>
          <p:nvPr/>
        </p:nvGrpSpPr>
        <p:grpSpPr>
          <a:xfrm>
            <a:off x="6027116" y="1367367"/>
            <a:ext cx="446523" cy="372936"/>
            <a:chOff x="4492625" y="3451225"/>
            <a:chExt cx="992188" cy="828675"/>
          </a:xfrm>
        </p:grpSpPr>
        <p:sp>
          <p:nvSpPr>
            <p:cNvPr id="9418" name="Google Shape;9418;p537"/>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19" name="Google Shape;9419;p537"/>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420" name="Google Shape;9420;p537"/>
          <p:cNvGraphicFramePr/>
          <p:nvPr/>
        </p:nvGraphicFramePr>
        <p:xfrm>
          <a:off x="267610" y="11159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97225">
                <a:tc>
                  <a:txBody>
                    <a:bodyPr/>
                    <a:lstStyle/>
                    <a:p>
                      <a:pPr indent="-108000" lvl="0" marL="108000" marR="0" rtl="0" algn="l">
                        <a:lnSpc>
                          <a:spcPct val="90000"/>
                        </a:lnSpc>
                        <a:spcBef>
                          <a:spcPts val="0"/>
                        </a:spcBef>
                        <a:spcAft>
                          <a:spcPts val="0"/>
                        </a:spcAft>
                        <a:buClr>
                          <a:schemeClr val="dk1"/>
                        </a:buClr>
                        <a:buSzPts val="900"/>
                        <a:buFont typeface="Arial"/>
                        <a:buChar char="•"/>
                      </a:pPr>
                      <a:r>
                        <a:rPr lang="en-GB" sz="900"/>
                        <a:t>Monitor documents provided by customers and suppliers to detect fraudulent anomalies quickly and avoid losses.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Customer and supplier data undergoes comprehensive analytical review to ensure quality  and validity in order to avoid operational problems.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Documents are reviewed to Identity similarity to previous fraudulent activity.  Advanced analytics detect and avoid new fraud patterns </a:t>
                      </a:r>
                      <a:endParaRPr b="0" sz="900">
                        <a:solidFill>
                          <a:schemeClr val="dk1"/>
                        </a:solidFill>
                        <a:latin typeface="Century Gothic"/>
                        <a:ea typeface="Century Gothic"/>
                        <a:cs typeface="Century Gothic"/>
                        <a:sym typeface="Century Gothic"/>
                      </a:endParaRPr>
                    </a:p>
                    <a:p>
                      <a:pPr indent="0" lvl="0" marL="0" marR="0" rtl="0" algn="l">
                        <a:lnSpc>
                          <a:spcPct val="100000"/>
                        </a:lnSpc>
                        <a:spcBef>
                          <a:spcPts val="30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08000" lvl="0" marL="108000" marR="0" rtl="0" algn="l">
                        <a:lnSpc>
                          <a:spcPct val="90000"/>
                        </a:lnSpc>
                        <a:spcBef>
                          <a:spcPts val="0"/>
                        </a:spcBef>
                        <a:spcAft>
                          <a:spcPts val="0"/>
                        </a:spcAft>
                        <a:buClr>
                          <a:schemeClr val="dk1"/>
                        </a:buClr>
                        <a:buSzPts val="900"/>
                        <a:buFont typeface="Arial"/>
                        <a:buChar char="•"/>
                      </a:pPr>
                      <a:r>
                        <a:rPr lang="en-GB" sz="900">
                          <a:solidFill>
                            <a:schemeClr val="dk1"/>
                          </a:solidFill>
                        </a:rPr>
                        <a:t>Digital</a:t>
                      </a:r>
                      <a:r>
                        <a:rPr lang="en-GB" sz="900">
                          <a:solidFill>
                            <a:schemeClr val="dk1"/>
                          </a:solidFill>
                        </a:rPr>
                        <a:t> versions (pdf, TIFF, JPEG, etc.) of c</a:t>
                      </a:r>
                      <a:r>
                        <a:rPr lang="en-GB" sz="900">
                          <a:solidFill>
                            <a:schemeClr val="dk1"/>
                          </a:solidFill>
                        </a:rPr>
                        <a:t>ustomer and supplier documents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rPr>
                        <a:t>Customer supplier and account data from internal</a:t>
                      </a:r>
                      <a:r>
                        <a:rPr lang="en-GB" sz="900">
                          <a:solidFill>
                            <a:schemeClr val="dk1"/>
                          </a:solidFill>
                        </a:rPr>
                        <a:t> systems</a:t>
                      </a:r>
                      <a:endParaRPr sz="900">
                        <a:solidFill>
                          <a:schemeClr val="dk1"/>
                        </a:solidFill>
                      </a:endParaRPr>
                    </a:p>
                    <a:p>
                      <a:pPr indent="-108000" lvl="0" marL="108000" marR="0" rtl="0" algn="l">
                        <a:lnSpc>
                          <a:spcPct val="90000"/>
                        </a:lnSpc>
                        <a:spcBef>
                          <a:spcPts val="300"/>
                        </a:spcBef>
                        <a:spcAft>
                          <a:spcPts val="0"/>
                        </a:spcAft>
                        <a:buClr>
                          <a:schemeClr val="dk1"/>
                        </a:buClr>
                        <a:buSzPts val="900"/>
                        <a:buFont typeface="Arial"/>
                        <a:buChar char="•"/>
                      </a:pPr>
                      <a:r>
                        <a:rPr lang="en-GB" sz="900"/>
                        <a:t>Purchased customer and supplier information to highlight potential conflicts or activity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Cross match document content and signature patterns</a:t>
                      </a:r>
                      <a:endParaRPr/>
                    </a:p>
                    <a:p>
                      <a:pPr indent="0" lvl="0" marL="0" marR="0" rtl="0" algn="l">
                        <a:spcBef>
                          <a:spcPts val="300"/>
                        </a:spcBef>
                        <a:spcAft>
                          <a:spcPts val="0"/>
                        </a:spcAft>
                        <a:buClr>
                          <a:schemeClr val="dk1"/>
                        </a:buClr>
                        <a:buSzPts val="900"/>
                        <a:buFont typeface="Century Gothic"/>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08000" lvl="0" marL="108000" marR="0" rtl="0" algn="l">
                        <a:spcBef>
                          <a:spcPts val="0"/>
                        </a:spcBef>
                        <a:spcAft>
                          <a:spcPts val="0"/>
                        </a:spcAft>
                        <a:buClr>
                          <a:srgbClr val="3C3C3B"/>
                        </a:buClr>
                        <a:buSzPts val="900"/>
                        <a:buFont typeface="Arial"/>
                        <a:buChar char="•"/>
                      </a:pPr>
                      <a:r>
                        <a:rPr lang="en-GB" sz="900"/>
                        <a:t>Predictive analytics combined with text analytics, to flag high risk documents</a:t>
                      </a:r>
                      <a:endParaRPr/>
                    </a:p>
                    <a:p>
                      <a:pPr indent="-108000" lvl="0" marL="108000" marR="0" rtl="0" algn="l">
                        <a:spcBef>
                          <a:spcPts val="200"/>
                        </a:spcBef>
                        <a:spcAft>
                          <a:spcPts val="0"/>
                        </a:spcAft>
                        <a:buClr>
                          <a:srgbClr val="3C3C3B"/>
                        </a:buClr>
                        <a:buSzPts val="900"/>
                        <a:buFont typeface="Arial"/>
                        <a:buChar char="•"/>
                      </a:pPr>
                      <a:r>
                        <a:rPr lang="en-GB" sz="900"/>
                        <a:t>Graph Analytics to identify common fraudulent patterns   </a:t>
                      </a:r>
                      <a:endParaRPr/>
                    </a:p>
                    <a:p>
                      <a:pPr indent="-108000" lvl="0" marL="108000" marR="0" rtl="0" algn="l">
                        <a:spcBef>
                          <a:spcPts val="200"/>
                        </a:spcBef>
                        <a:spcAft>
                          <a:spcPts val="0"/>
                        </a:spcAft>
                        <a:buClr>
                          <a:srgbClr val="3C3C3B"/>
                        </a:buClr>
                        <a:buSzPts val="900"/>
                        <a:buFont typeface="Arial"/>
                        <a:buChar char="•"/>
                      </a:pPr>
                      <a:r>
                        <a:rPr lang="en-GB" sz="900"/>
                        <a:t>Pattern detection to enable comparison of signature patterns </a:t>
                      </a:r>
                      <a:endParaRPr/>
                    </a:p>
                    <a:p>
                      <a:pPr indent="-50849" lvl="0" marL="108000" marR="0" rtl="0" algn="l">
                        <a:spcBef>
                          <a:spcPts val="200"/>
                        </a:spcBef>
                        <a:spcAft>
                          <a:spcPts val="0"/>
                        </a:spcAft>
                        <a:buClr>
                          <a:srgbClr val="3C3C3B"/>
                        </a:buClr>
                        <a:buSzPts val="900"/>
                        <a:buFont typeface="Arial"/>
                        <a:buNone/>
                      </a:pPr>
                      <a:r>
                        <a:t/>
                      </a:r>
                      <a:endParaRPr sz="900"/>
                    </a:p>
                    <a:p>
                      <a:pPr indent="-122238" lvl="0" marL="179388" marR="0" rtl="0" algn="l">
                        <a:spcBef>
                          <a:spcPts val="20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08000" lvl="0" marL="108000" marR="0" rtl="0" algn="l">
                        <a:lnSpc>
                          <a:spcPct val="100000"/>
                        </a:lnSpc>
                        <a:spcBef>
                          <a:spcPts val="0"/>
                        </a:spcBef>
                        <a:spcAft>
                          <a:spcPts val="0"/>
                        </a:spcAft>
                        <a:buClr>
                          <a:srgbClr val="3C3C3B"/>
                        </a:buClr>
                        <a:buSzPts val="900"/>
                        <a:buFont typeface="Arial"/>
                        <a:buChar char="•"/>
                      </a:pPr>
                      <a:r>
                        <a:rPr lang="en-GB" sz="900">
                          <a:solidFill>
                            <a:srgbClr val="3C3C3B"/>
                          </a:solidFill>
                        </a:rPr>
                        <a:t>Analytics are used to score documents so that manual review of documents below the established threshold can be conducted.  This will prevent operational problems and fraud losses from customers and suppliers as well as reducing processing costs.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421" name="Google Shape;9421;p53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Document Fraud </a:t>
            </a:r>
            <a:endParaRPr sz="1600"/>
          </a:p>
        </p:txBody>
      </p:sp>
      <p:grpSp>
        <p:nvGrpSpPr>
          <p:cNvPr id="9422" name="Google Shape;9422;p537"/>
          <p:cNvGrpSpPr/>
          <p:nvPr/>
        </p:nvGrpSpPr>
        <p:grpSpPr>
          <a:xfrm>
            <a:off x="7717533" y="4360377"/>
            <a:ext cx="1058348" cy="347375"/>
            <a:chOff x="7651698" y="4287227"/>
            <a:chExt cx="1058348" cy="347375"/>
          </a:xfrm>
        </p:grpSpPr>
        <p:grpSp>
          <p:nvGrpSpPr>
            <p:cNvPr id="9423" name="Google Shape;9423;p537"/>
            <p:cNvGrpSpPr/>
            <p:nvPr/>
          </p:nvGrpSpPr>
          <p:grpSpPr>
            <a:xfrm>
              <a:off x="7714163" y="4337598"/>
              <a:ext cx="995883" cy="297004"/>
              <a:chOff x="7711013" y="3986494"/>
              <a:chExt cx="995883" cy="297004"/>
            </a:xfrm>
          </p:grpSpPr>
          <p:sp>
            <p:nvSpPr>
              <p:cNvPr id="9424" name="Google Shape;9424;p53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425" name="Google Shape;9425;p537"/>
              <p:cNvGrpSpPr/>
              <p:nvPr/>
            </p:nvGrpSpPr>
            <p:grpSpPr>
              <a:xfrm>
                <a:off x="7711013" y="4002615"/>
                <a:ext cx="281520" cy="241973"/>
                <a:chOff x="5652748" y="4066000"/>
                <a:chExt cx="906498" cy="747974"/>
              </a:xfrm>
            </p:grpSpPr>
            <p:sp>
              <p:nvSpPr>
                <p:cNvPr id="9426" name="Google Shape;9426;p53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27" name="Google Shape;9427;p53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428" name="Google Shape;9428;p53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429" name="Google Shape;9429;p537"/>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430" name="Google Shape;9430;p537"/>
          <p:cNvPicPr preferRelativeResize="0"/>
          <p:nvPr/>
        </p:nvPicPr>
        <p:blipFill rotWithShape="1">
          <a:blip r:embed="rId3">
            <a:alphaModFix/>
          </a:blip>
          <a:srcRect b="0" l="0" r="0" t="0"/>
          <a:stretch/>
        </p:blipFill>
        <p:spPr>
          <a:xfrm>
            <a:off x="6734175" y="195327"/>
            <a:ext cx="2409825" cy="1649348"/>
          </a:xfrm>
          <a:prstGeom prst="rect">
            <a:avLst/>
          </a:prstGeom>
          <a:noFill/>
          <a:ln>
            <a:noFill/>
          </a:ln>
        </p:spPr>
      </p:pic>
      <p:sp>
        <p:nvSpPr>
          <p:cNvPr id="9431" name="Google Shape;9431;p53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50" name="Shape 9450"/>
        <p:cNvGrpSpPr/>
        <p:nvPr/>
      </p:nvGrpSpPr>
      <p:grpSpPr>
        <a:xfrm>
          <a:off x="0" y="0"/>
          <a:ext cx="0" cy="0"/>
          <a:chOff x="0" y="0"/>
          <a:chExt cx="0" cy="0"/>
        </a:xfrm>
      </p:grpSpPr>
      <p:pic>
        <p:nvPicPr>
          <p:cNvPr descr="C:\Users\WG185011\Downloads\RS913_GOV-1033-H-scr.jpg" id="9451" name="Google Shape;9451;p539"/>
          <p:cNvPicPr preferRelativeResize="0"/>
          <p:nvPr/>
        </p:nvPicPr>
        <p:blipFill rotWithShape="1">
          <a:blip r:embed="rId3">
            <a:alphaModFix/>
          </a:blip>
          <a:srcRect b="0" l="0" r="0" t="0"/>
          <a:stretch/>
        </p:blipFill>
        <p:spPr>
          <a:xfrm>
            <a:off x="4999101" y="20898"/>
            <a:ext cx="3508248" cy="2438400"/>
          </a:xfrm>
          <a:prstGeom prst="rect">
            <a:avLst/>
          </a:prstGeom>
          <a:noFill/>
          <a:ln>
            <a:noFill/>
          </a:ln>
        </p:spPr>
      </p:pic>
      <p:cxnSp>
        <p:nvCxnSpPr>
          <p:cNvPr id="9452" name="Google Shape;9452;p53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453" name="Google Shape;9453;p539"/>
          <p:cNvGraphicFramePr/>
          <p:nvPr/>
        </p:nvGraphicFramePr>
        <p:xfrm>
          <a:off x="225786" y="872066"/>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chemeClr val="dk1"/>
                        </a:buClr>
                        <a:buSzPts val="900"/>
                        <a:buFont typeface="Century Gothic"/>
                        <a:buNone/>
                      </a:pPr>
                      <a:r>
                        <a:rPr lang="en-GB" sz="900">
                          <a:solidFill>
                            <a:schemeClr val="dk1"/>
                          </a:solidFill>
                        </a:rPr>
                        <a:t>Sensitive data is increasingly accessible and distributed throughout an organization. Hackers</a:t>
                      </a:r>
                      <a:r>
                        <a:rPr lang="en-GB" sz="900">
                          <a:solidFill>
                            <a:schemeClr val="dk1"/>
                          </a:solidFill>
                        </a:rPr>
                        <a:t> </a:t>
                      </a:r>
                      <a:r>
                        <a:rPr lang="en-GB" sz="900">
                          <a:solidFill>
                            <a:schemeClr val="dk1"/>
                          </a:solidFill>
                        </a:rPr>
                        <a:t>get the headlines; but insiders are the bigger risk. A 2012 report published by Carnegie Mellon notes that 80% of all malicious acts were committed by insiders at work during working hours</a:t>
                      </a:r>
                      <a:r>
                        <a:rPr lang="en-GB" sz="900">
                          <a:solidFill>
                            <a:schemeClr val="dk1"/>
                          </a:solidFill>
                        </a:rPr>
                        <a:t> and </a:t>
                      </a:r>
                      <a:r>
                        <a:rPr lang="en-GB" sz="900">
                          <a:solidFill>
                            <a:schemeClr val="dk1"/>
                          </a:solidFill>
                        </a:rPr>
                        <a:t>81% of the perpetrators planned their actions beforehand. Companies</a:t>
                      </a:r>
                      <a:r>
                        <a:rPr lang="en-GB" sz="900">
                          <a:solidFill>
                            <a:schemeClr val="dk1"/>
                          </a:solidFill>
                        </a:rPr>
                        <a:t> must:</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Safeguard against data leakage and malicious 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Proactively detect potential</a:t>
                      </a:r>
                      <a:r>
                        <a:rPr lang="en-GB" sz="900">
                          <a:solidFill>
                            <a:schemeClr val="dk1"/>
                          </a:solidFill>
                        </a:rPr>
                        <a:t>  internal fraud (operational risk)</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Get a comprehensive view of an insider’s activity and the context in which it occurs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HR/Personnel profile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Facility access records and VPN access logs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Travel itineraries and expense records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Device, system, and application logs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Sales and Service data (incentive systems)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Customer profile data (outside coordinated collusion)</a:t>
                      </a:r>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nPath analysis to sessionize across multiple log inputs and construct a comprehensive record of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Relate Structured and Unstructured Data to intelligently score an insider threat event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Graph analytics to reveal the context of information flow and detect anomalous patterns of behavior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Text Analytics to Screen and flag messages at scale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Early detection of unusual insider behaviour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Fraud</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Theft of confidential or commercially valuable information</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Theft of intellectual property</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Sabotage of computer systems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Risk of malicious software infection</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Operational risk</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454" name="Google Shape;9454;p53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Insider Threat</a:t>
            </a:r>
            <a:endParaRPr sz="1600"/>
          </a:p>
        </p:txBody>
      </p:sp>
      <p:grpSp>
        <p:nvGrpSpPr>
          <p:cNvPr id="9455" name="Google Shape;9455;p539"/>
          <p:cNvGrpSpPr/>
          <p:nvPr/>
        </p:nvGrpSpPr>
        <p:grpSpPr>
          <a:xfrm>
            <a:off x="7717533" y="4360377"/>
            <a:ext cx="1058348" cy="347375"/>
            <a:chOff x="7651698" y="4287227"/>
            <a:chExt cx="1058348" cy="347375"/>
          </a:xfrm>
        </p:grpSpPr>
        <p:grpSp>
          <p:nvGrpSpPr>
            <p:cNvPr id="9456" name="Google Shape;9456;p539"/>
            <p:cNvGrpSpPr/>
            <p:nvPr/>
          </p:nvGrpSpPr>
          <p:grpSpPr>
            <a:xfrm>
              <a:off x="7714163" y="4337598"/>
              <a:ext cx="995883" cy="297004"/>
              <a:chOff x="7711013" y="3986494"/>
              <a:chExt cx="995883" cy="297004"/>
            </a:xfrm>
          </p:grpSpPr>
          <p:sp>
            <p:nvSpPr>
              <p:cNvPr id="9457" name="Google Shape;9457;p53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458" name="Google Shape;9458;p539"/>
              <p:cNvGrpSpPr/>
              <p:nvPr/>
            </p:nvGrpSpPr>
            <p:grpSpPr>
              <a:xfrm>
                <a:off x="7711013" y="4002615"/>
                <a:ext cx="281520" cy="241973"/>
                <a:chOff x="5652748" y="4066000"/>
                <a:chExt cx="906498" cy="747974"/>
              </a:xfrm>
            </p:grpSpPr>
            <p:sp>
              <p:nvSpPr>
                <p:cNvPr id="9459" name="Google Shape;9459;p53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60" name="Google Shape;9460;p53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461" name="Google Shape;9461;p53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462" name="Google Shape;9462;p53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463" name="Google Shape;9463;p53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82" name="Shape 9482"/>
        <p:cNvGrpSpPr/>
        <p:nvPr/>
      </p:nvGrpSpPr>
      <p:grpSpPr>
        <a:xfrm>
          <a:off x="0" y="0"/>
          <a:ext cx="0" cy="0"/>
          <a:chOff x="0" y="0"/>
          <a:chExt cx="0" cy="0"/>
        </a:xfrm>
      </p:grpSpPr>
      <p:cxnSp>
        <p:nvCxnSpPr>
          <p:cNvPr id="9483" name="Google Shape;9483;p541"/>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484" name="Google Shape;9484;p541"/>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485" name="Google Shape;9485;p541"/>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Internal Theft</a:t>
            </a:r>
            <a:r>
              <a:rPr lang="en-GB"/>
              <a:t>, Shrinkage, Embezzlement</a:t>
            </a:r>
            <a:endParaRPr b="1"/>
          </a:p>
        </p:txBody>
      </p:sp>
      <p:grpSp>
        <p:nvGrpSpPr>
          <p:cNvPr id="9486" name="Google Shape;9486;p541"/>
          <p:cNvGrpSpPr/>
          <p:nvPr/>
        </p:nvGrpSpPr>
        <p:grpSpPr>
          <a:xfrm>
            <a:off x="7717533" y="4360387"/>
            <a:ext cx="1058348" cy="347375"/>
            <a:chOff x="7651698" y="4287227"/>
            <a:chExt cx="1058348" cy="347374"/>
          </a:xfrm>
        </p:grpSpPr>
        <p:grpSp>
          <p:nvGrpSpPr>
            <p:cNvPr id="9487" name="Google Shape;9487;p541"/>
            <p:cNvGrpSpPr/>
            <p:nvPr/>
          </p:nvGrpSpPr>
          <p:grpSpPr>
            <a:xfrm>
              <a:off x="7714163" y="4337598"/>
              <a:ext cx="995883" cy="297003"/>
              <a:chOff x="7711013" y="3986494"/>
              <a:chExt cx="995883" cy="297003"/>
            </a:xfrm>
          </p:grpSpPr>
          <p:sp>
            <p:nvSpPr>
              <p:cNvPr id="9488" name="Google Shape;9488;p541"/>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489" name="Google Shape;9489;p541"/>
              <p:cNvGrpSpPr/>
              <p:nvPr/>
            </p:nvGrpSpPr>
            <p:grpSpPr>
              <a:xfrm>
                <a:off x="7711013" y="4002615"/>
                <a:ext cx="281520" cy="241973"/>
                <a:chOff x="5652748" y="4066000"/>
                <a:chExt cx="906498" cy="747974"/>
              </a:xfrm>
            </p:grpSpPr>
            <p:sp>
              <p:nvSpPr>
                <p:cNvPr id="9490" name="Google Shape;9490;p54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91" name="Google Shape;9491;p54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492" name="Google Shape;9492;p54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493" name="Google Shape;9493;p541"/>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494" name="Google Shape;9494;p54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12" name="Shape 9512"/>
        <p:cNvGrpSpPr/>
        <p:nvPr/>
      </p:nvGrpSpPr>
      <p:grpSpPr>
        <a:xfrm>
          <a:off x="0" y="0"/>
          <a:ext cx="0" cy="0"/>
          <a:chOff x="0" y="0"/>
          <a:chExt cx="0" cy="0"/>
        </a:xfrm>
      </p:grpSpPr>
      <p:sp>
        <p:nvSpPr>
          <p:cNvPr id="9513" name="Google Shape;9513;p543"/>
          <p:cNvSpPr txBox="1"/>
          <p:nvPr>
            <p:ph idx="1" type="body"/>
          </p:nvPr>
        </p:nvSpPr>
        <p:spPr>
          <a:xfrm>
            <a:off x="350402" y="1496481"/>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Point 1</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2</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3</a:t>
            </a:r>
            <a:endParaRPr/>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p:txBody>
      </p:sp>
      <p:sp>
        <p:nvSpPr>
          <p:cNvPr id="9514" name="Google Shape;9514;p543"/>
          <p:cNvSpPr txBox="1"/>
          <p:nvPr>
            <p:ph type="title"/>
          </p:nvPr>
        </p:nvSpPr>
        <p:spPr>
          <a:xfrm>
            <a:off x="173080" y="353481"/>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Fraud</a:t>
            </a:r>
            <a:endParaRPr/>
          </a:p>
        </p:txBody>
      </p:sp>
      <p:pic>
        <p:nvPicPr>
          <p:cNvPr descr="iStock_000055909600_Full.jpg" id="9515" name="Google Shape;9515;p543"/>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9516" name="Google Shape;9516;p543"/>
          <p:cNvSpPr/>
          <p:nvPr/>
        </p:nvSpPr>
        <p:spPr>
          <a:xfrm>
            <a:off x="76200" y="639230"/>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Description</a:t>
            </a:r>
            <a:endParaRPr b="0" i="0" sz="1100" u="none" cap="none" strike="noStrike">
              <a:solidFill>
                <a:schemeClr val="lt1"/>
              </a:solidFill>
              <a:latin typeface="Century Gothic"/>
              <a:ea typeface="Century Gothic"/>
              <a:cs typeface="Century Gothic"/>
              <a:sym typeface="Century Gothic"/>
            </a:endParaRPr>
          </a:p>
        </p:txBody>
      </p:sp>
      <p:sp>
        <p:nvSpPr>
          <p:cNvPr id="9517" name="Google Shape;9517;p54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65" name="Shape 9565"/>
        <p:cNvGrpSpPr/>
        <p:nvPr/>
      </p:nvGrpSpPr>
      <p:grpSpPr>
        <a:xfrm>
          <a:off x="0" y="0"/>
          <a:ext cx="0" cy="0"/>
          <a:chOff x="0" y="0"/>
          <a:chExt cx="0" cy="0"/>
        </a:xfrm>
      </p:grpSpPr>
      <p:pic>
        <p:nvPicPr>
          <p:cNvPr id="9566" name="Google Shape;9566;p547"/>
          <p:cNvPicPr preferRelativeResize="0"/>
          <p:nvPr/>
        </p:nvPicPr>
        <p:blipFill rotWithShape="1">
          <a:blip r:embed="rId3">
            <a:alphaModFix/>
          </a:blip>
          <a:srcRect b="0" l="0" r="0" t="0"/>
          <a:stretch/>
        </p:blipFill>
        <p:spPr>
          <a:xfrm>
            <a:off x="6636556" y="17193"/>
            <a:ext cx="2517586" cy="1760807"/>
          </a:xfrm>
          <a:prstGeom prst="rect">
            <a:avLst/>
          </a:prstGeom>
          <a:noFill/>
          <a:ln>
            <a:noFill/>
          </a:ln>
        </p:spPr>
      </p:pic>
      <p:cxnSp>
        <p:nvCxnSpPr>
          <p:cNvPr id="9567" name="Google Shape;9567;p54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568" name="Google Shape;9568;p547"/>
          <p:cNvGraphicFramePr/>
          <p:nvPr/>
        </p:nvGraphicFramePr>
        <p:xfrm>
          <a:off x="232504" y="11430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a:t>
                      </a:r>
                      <a:r>
                        <a:rPr b="1" lang="en-GB" sz="1400">
                          <a:solidFill>
                            <a:schemeClr val="dk2"/>
                          </a:solidFill>
                        </a:rPr>
                        <a:t>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Institute policies, programs  and business practices to prevent loss or theft</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vulnerabilities prior to any type of loss occurrences</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application fraud through early identification of red flags indicating  illegal behavior</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Curtail synthetic identity  credit card and payment fraud  </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Lower provider and supplier identity theft in Healthcare</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Decrease return receipt fraud</a:t>
                      </a:r>
                      <a:endParaRPr/>
                    </a:p>
                    <a:p>
                      <a:pPr indent="-114300" lvl="0" marL="171450" marR="0" rtl="0" algn="l">
                        <a:lnSpc>
                          <a:spcPct val="108888"/>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lnSpc>
                          <a:spcPct val="70000"/>
                        </a:lnSpc>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8888"/>
                        </a:lnSpc>
                        <a:spcBef>
                          <a:spcPts val="0"/>
                        </a:spcBef>
                        <a:spcAft>
                          <a:spcPts val="0"/>
                        </a:spcAft>
                        <a:buNone/>
                      </a:pPr>
                      <a:r>
                        <a:rPr b="1" lang="en-GB" sz="900">
                          <a:solidFill>
                            <a:schemeClr val="dk1"/>
                          </a:solidFill>
                        </a:rPr>
                        <a:t>Data</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Customer profiles</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Transaction Data</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Payment History</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Credit Bureau</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Demographic</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Text  / Social</a:t>
                      </a:r>
                      <a:endParaRPr/>
                    </a:p>
                    <a:p>
                      <a:pPr indent="-122238" lvl="0" marL="179388" marR="0" rtl="0" algn="l">
                        <a:lnSpc>
                          <a:spcPct val="108888"/>
                        </a:lnSpc>
                        <a:spcBef>
                          <a:spcPts val="0"/>
                        </a:spcBef>
                        <a:spcAft>
                          <a:spcPts val="0"/>
                        </a:spcAft>
                        <a:buClr>
                          <a:schemeClr val="dk1"/>
                        </a:buClr>
                        <a:buSzPts val="900"/>
                        <a:buFont typeface="Arial"/>
                        <a:buNone/>
                      </a:pPr>
                      <a:r>
                        <a:t/>
                      </a:r>
                      <a:endParaRPr sz="900">
                        <a:solidFill>
                          <a:schemeClr val="dk1"/>
                        </a:solidFill>
                      </a:endParaRPr>
                    </a:p>
                    <a:p>
                      <a:pPr indent="0" lvl="0" marL="0" marR="0" rtl="0" algn="l">
                        <a:lnSpc>
                          <a:spcPct val="108888"/>
                        </a:lnSpc>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Predictive Modeling to determine indicators  of highest likelihood of  fraud</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Behavior path and pattern analysis  </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Cluster analysis and outlier identification</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 time match of purchase transactions to returns with receipts</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Text analytics</a:t>
                      </a:r>
                      <a:endParaRPr/>
                    </a:p>
                    <a:p>
                      <a:pPr indent="0" lvl="0" marL="0" marR="0" rtl="0" algn="l">
                        <a:lnSpc>
                          <a:spcPct val="108888"/>
                        </a:lnSpc>
                        <a:spcBef>
                          <a:spcPts val="0"/>
                        </a:spcBef>
                        <a:spcAft>
                          <a:spcPts val="0"/>
                        </a:spcAft>
                        <a:buClr>
                          <a:schemeClr val="dk1"/>
                        </a:buClr>
                        <a:buSzPts val="900"/>
                        <a:buFont typeface="Arial"/>
                        <a:buNone/>
                      </a:pPr>
                      <a:r>
                        <a:t/>
                      </a:r>
                      <a:endParaRPr b="1"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Early detection of unusual activity (loan applications, credit card applications, payments, returns,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Quickly shut down fraudulent behavior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loss prevention awareness to prevent identity theft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identity theft (synthetic ID risk)</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569" name="Google Shape;9569;p54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Loss Prevention</a:t>
            </a:r>
            <a:endParaRPr sz="1600"/>
          </a:p>
        </p:txBody>
      </p:sp>
      <p:grpSp>
        <p:nvGrpSpPr>
          <p:cNvPr id="9570" name="Google Shape;9570;p547"/>
          <p:cNvGrpSpPr/>
          <p:nvPr/>
        </p:nvGrpSpPr>
        <p:grpSpPr>
          <a:xfrm>
            <a:off x="7717533" y="4360377"/>
            <a:ext cx="1058348" cy="347375"/>
            <a:chOff x="7651698" y="4287227"/>
            <a:chExt cx="1058348" cy="347375"/>
          </a:xfrm>
        </p:grpSpPr>
        <p:grpSp>
          <p:nvGrpSpPr>
            <p:cNvPr id="9571" name="Google Shape;9571;p547"/>
            <p:cNvGrpSpPr/>
            <p:nvPr/>
          </p:nvGrpSpPr>
          <p:grpSpPr>
            <a:xfrm>
              <a:off x="7714163" y="4337598"/>
              <a:ext cx="995883" cy="297004"/>
              <a:chOff x="7711013" y="3986494"/>
              <a:chExt cx="995883" cy="297004"/>
            </a:xfrm>
          </p:grpSpPr>
          <p:sp>
            <p:nvSpPr>
              <p:cNvPr id="9572" name="Google Shape;9572;p54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573" name="Google Shape;9573;p547"/>
              <p:cNvGrpSpPr/>
              <p:nvPr/>
            </p:nvGrpSpPr>
            <p:grpSpPr>
              <a:xfrm>
                <a:off x="7711013" y="4002615"/>
                <a:ext cx="281520" cy="241973"/>
                <a:chOff x="5652748" y="4066000"/>
                <a:chExt cx="906498" cy="747974"/>
              </a:xfrm>
            </p:grpSpPr>
            <p:sp>
              <p:nvSpPr>
                <p:cNvPr id="9574" name="Google Shape;9574;p54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575" name="Google Shape;9575;p54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576" name="Google Shape;9576;p54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577" name="Google Shape;9577;p547"/>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578" name="Google Shape;9578;p54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97" name="Shape 9597"/>
        <p:cNvGrpSpPr/>
        <p:nvPr/>
      </p:nvGrpSpPr>
      <p:grpSpPr>
        <a:xfrm>
          <a:off x="0" y="0"/>
          <a:ext cx="0" cy="0"/>
          <a:chOff x="0" y="0"/>
          <a:chExt cx="0" cy="0"/>
        </a:xfrm>
      </p:grpSpPr>
      <p:cxnSp>
        <p:nvCxnSpPr>
          <p:cNvPr id="9598" name="Google Shape;9598;p54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599" name="Google Shape;9599;p549"/>
          <p:cNvGraphicFramePr/>
          <p:nvPr/>
        </p:nvGraphicFramePr>
        <p:xfrm>
          <a:off x="225786" y="1308998"/>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spcBef>
                          <a:spcPts val="0"/>
                        </a:spcBef>
                        <a:spcAft>
                          <a:spcPts val="0"/>
                        </a:spcAft>
                        <a:buClr>
                          <a:srgbClr val="3C3C3B"/>
                        </a:buClr>
                        <a:buSzPts val="900"/>
                        <a:buFont typeface="Century Gothic"/>
                        <a:buNone/>
                      </a:pPr>
                      <a:r>
                        <a:rPr lang="en-GB" sz="900"/>
                        <a:t>The theft of a persons identity is common in todays digital  world.</a:t>
                      </a:r>
                      <a:r>
                        <a:rPr lang="en-GB" sz="900"/>
                        <a:t> Identity </a:t>
                      </a:r>
                      <a:r>
                        <a:rPr lang="en-GB" sz="900"/>
                        <a:t>fraud involves criminals using a combination of real &amp; fake consumer identifying information to open up a new account</a:t>
                      </a:r>
                      <a:r>
                        <a:rPr lang="en-GB" sz="900"/>
                        <a:t> or secure a loan</a:t>
                      </a:r>
                      <a:r>
                        <a:rPr lang="en-GB" sz="900"/>
                        <a:t>. </a:t>
                      </a:r>
                      <a:r>
                        <a:rPr lang="en-GB" sz="900"/>
                        <a:t> To counter this risk organizations must:</a:t>
                      </a:r>
                      <a:endParaRPr sz="900"/>
                    </a:p>
                    <a:p>
                      <a:pPr indent="-171450" lvl="0" marL="171450" marR="0" rtl="0" algn="l">
                        <a:lnSpc>
                          <a:spcPct val="10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 and decline fraudulent applications at point of origination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Monitor active accounts for characteristics of bust out fraud, shut down account prior to incurring bust out losses</a:t>
                      </a:r>
                      <a:r>
                        <a:rPr lang="en-GB" sz="900">
                          <a:solidFill>
                            <a:srgbClr val="FF0000"/>
                          </a:solidFill>
                          <a:latin typeface="Century Gothic"/>
                          <a:ea typeface="Century Gothic"/>
                          <a:cs typeface="Century Gothic"/>
                          <a:sym typeface="Century Gothic"/>
                        </a:rPr>
                        <a: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Demographic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Credit Bureau, Public, &amp; Non-Public 3rd Party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Behavioural &amp; Social</a:t>
                      </a:r>
                      <a:endParaRPr sz="900">
                        <a:solidFill>
                          <a:schemeClr val="dk1"/>
                        </a:solidFill>
                        <a:latin typeface="Century Gothic"/>
                        <a:ea typeface="Century Gothic"/>
                        <a:cs typeface="Century Gothic"/>
                        <a:sym typeface="Century Gothic"/>
                      </a:endParaRPr>
                    </a:p>
                    <a:p>
                      <a:pPr indent="0" lvl="0" marL="0" marR="0" rtl="0" algn="l">
                        <a:spcBef>
                          <a:spcPts val="0"/>
                        </a:spcBef>
                        <a:spcAft>
                          <a:spcPts val="0"/>
                        </a:spcAft>
                        <a:buClr>
                          <a:schemeClr val="dk1"/>
                        </a:buClr>
                        <a:buSzPts val="900"/>
                        <a:buFont typeface="Arial"/>
                        <a:buNone/>
                      </a:pPr>
                      <a:r>
                        <a:t/>
                      </a:r>
                      <a:endParaRPr b="1"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Statistical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Entity Graph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Path &amp; Pattern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Graph Analytics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Text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Confirmation that the applicants personally identifiable information (PII) is valid and matches only the applicant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score that is indicative of  the identity fraud risk for this customer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fraud losses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Fewer false positives</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600" name="Google Shape;9600;p54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Identity Fraud (incl. Synthetic) </a:t>
            </a:r>
            <a:endParaRPr sz="1600"/>
          </a:p>
        </p:txBody>
      </p:sp>
      <p:grpSp>
        <p:nvGrpSpPr>
          <p:cNvPr id="9601" name="Google Shape;9601;p549"/>
          <p:cNvGrpSpPr/>
          <p:nvPr/>
        </p:nvGrpSpPr>
        <p:grpSpPr>
          <a:xfrm>
            <a:off x="7717533" y="4360377"/>
            <a:ext cx="1058348" cy="347375"/>
            <a:chOff x="7651698" y="4287227"/>
            <a:chExt cx="1058348" cy="347375"/>
          </a:xfrm>
        </p:grpSpPr>
        <p:grpSp>
          <p:nvGrpSpPr>
            <p:cNvPr id="9602" name="Google Shape;9602;p549"/>
            <p:cNvGrpSpPr/>
            <p:nvPr/>
          </p:nvGrpSpPr>
          <p:grpSpPr>
            <a:xfrm>
              <a:off x="7714163" y="4337598"/>
              <a:ext cx="995883" cy="297004"/>
              <a:chOff x="7711013" y="3986494"/>
              <a:chExt cx="995883" cy="297004"/>
            </a:xfrm>
          </p:grpSpPr>
          <p:sp>
            <p:nvSpPr>
              <p:cNvPr id="9603" name="Google Shape;9603;p54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604" name="Google Shape;9604;p549"/>
              <p:cNvGrpSpPr/>
              <p:nvPr/>
            </p:nvGrpSpPr>
            <p:grpSpPr>
              <a:xfrm>
                <a:off x="7711013" y="4002615"/>
                <a:ext cx="281520" cy="241973"/>
                <a:chOff x="5652748" y="4066000"/>
                <a:chExt cx="906498" cy="747974"/>
              </a:xfrm>
            </p:grpSpPr>
            <p:sp>
              <p:nvSpPr>
                <p:cNvPr id="9605" name="Google Shape;9605;p54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06" name="Google Shape;9606;p54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07" name="Google Shape;9607;p54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608" name="Google Shape;9608;p54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609" name="Google Shape;9609;p549"/>
          <p:cNvPicPr preferRelativeResize="0"/>
          <p:nvPr/>
        </p:nvPicPr>
        <p:blipFill rotWithShape="1">
          <a:blip r:embed="rId3">
            <a:alphaModFix/>
          </a:blip>
          <a:srcRect b="0" l="0" r="0" t="0"/>
          <a:stretch/>
        </p:blipFill>
        <p:spPr>
          <a:xfrm>
            <a:off x="4910634" y="188382"/>
            <a:ext cx="3960456" cy="2496453"/>
          </a:xfrm>
          <a:prstGeom prst="rect">
            <a:avLst/>
          </a:prstGeom>
          <a:noFill/>
          <a:ln>
            <a:noFill/>
          </a:ln>
        </p:spPr>
      </p:pic>
      <p:sp>
        <p:nvSpPr>
          <p:cNvPr id="9610" name="Google Shape;9610;p54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29" name="Shape 9629"/>
        <p:cNvGrpSpPr/>
        <p:nvPr/>
      </p:nvGrpSpPr>
      <p:grpSpPr>
        <a:xfrm>
          <a:off x="0" y="0"/>
          <a:ext cx="0" cy="0"/>
          <a:chOff x="0" y="0"/>
          <a:chExt cx="0" cy="0"/>
        </a:xfrm>
      </p:grpSpPr>
      <p:pic>
        <p:nvPicPr>
          <p:cNvPr descr="C:\Users\KE151000\AppData\Local\Microsoft\Windows\Temporary Internet Files\Content.IE5\HAY7AELR\RS259_FIN-1015-H-scr.jpg" id="9630" name="Google Shape;9630;p551"/>
          <p:cNvPicPr preferRelativeResize="0"/>
          <p:nvPr/>
        </p:nvPicPr>
        <p:blipFill rotWithShape="1">
          <a:blip r:embed="rId3">
            <a:alphaModFix/>
          </a:blip>
          <a:srcRect b="0" l="0" r="0" t="0"/>
          <a:stretch/>
        </p:blipFill>
        <p:spPr>
          <a:xfrm>
            <a:off x="6576408" y="-7235"/>
            <a:ext cx="2579406" cy="1741490"/>
          </a:xfrm>
          <a:prstGeom prst="rect">
            <a:avLst/>
          </a:prstGeom>
          <a:noFill/>
          <a:ln>
            <a:noFill/>
          </a:ln>
        </p:spPr>
      </p:pic>
      <p:cxnSp>
        <p:nvCxnSpPr>
          <p:cNvPr id="9631" name="Google Shape;9631;p55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632" name="Google Shape;9632;p551"/>
          <p:cNvGraphicFramePr/>
          <p:nvPr/>
        </p:nvGraphicFramePr>
        <p:xfrm>
          <a:off x="232504" y="11430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1778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Real time  and proactive identification of fraudulent behavior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examine cross channel behavior and patterns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Want ability to continuously monitor and profile customer accounts and behaviors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theft and shrinkage from external sources – customers and crime rings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Transaction Data (sales and returns)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 log browsing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profile and purchase history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Geospatial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Credit Bureau</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Pattern analysis to highlight unusual activity and outliers from the norm</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Ngram – search for terms correlated to deceptive activity using text and speech patterns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percentage of theft and increase profit margin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a:t>
                      </a:r>
                      <a:r>
                        <a:rPr b="0" lang="en-GB" sz="900">
                          <a:solidFill>
                            <a:schemeClr val="dk1"/>
                          </a:solidFill>
                          <a:latin typeface="Century Gothic"/>
                          <a:ea typeface="Century Gothic"/>
                          <a:cs typeface="Century Gothic"/>
                          <a:sym typeface="Century Gothic"/>
                        </a:rPr>
                        <a:t>dentify collusion with internal staff</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Validate authenticity of purchasers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Detection of stolen account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Intervene and stop the transactions prior to theft occurrence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offenders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Revise policies to protect company assets e.g. set purchase limits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633" name="Google Shape;9633;p55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External Theft and Shrinkage </a:t>
            </a:r>
            <a:endParaRPr sz="1600"/>
          </a:p>
        </p:txBody>
      </p:sp>
      <p:grpSp>
        <p:nvGrpSpPr>
          <p:cNvPr id="9634" name="Google Shape;9634;p551"/>
          <p:cNvGrpSpPr/>
          <p:nvPr/>
        </p:nvGrpSpPr>
        <p:grpSpPr>
          <a:xfrm>
            <a:off x="7717533" y="4360377"/>
            <a:ext cx="1058348" cy="347375"/>
            <a:chOff x="7651698" y="4287227"/>
            <a:chExt cx="1058348" cy="347375"/>
          </a:xfrm>
        </p:grpSpPr>
        <p:grpSp>
          <p:nvGrpSpPr>
            <p:cNvPr id="9635" name="Google Shape;9635;p551"/>
            <p:cNvGrpSpPr/>
            <p:nvPr/>
          </p:nvGrpSpPr>
          <p:grpSpPr>
            <a:xfrm>
              <a:off x="7714163" y="4337598"/>
              <a:ext cx="995883" cy="297004"/>
              <a:chOff x="7711013" y="3986494"/>
              <a:chExt cx="995883" cy="297004"/>
            </a:xfrm>
          </p:grpSpPr>
          <p:sp>
            <p:nvSpPr>
              <p:cNvPr id="9636" name="Google Shape;9636;p55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637" name="Google Shape;9637;p551"/>
              <p:cNvGrpSpPr/>
              <p:nvPr/>
            </p:nvGrpSpPr>
            <p:grpSpPr>
              <a:xfrm>
                <a:off x="7711013" y="4002615"/>
                <a:ext cx="281520" cy="241973"/>
                <a:chOff x="5652748" y="4066000"/>
                <a:chExt cx="906498" cy="747974"/>
              </a:xfrm>
            </p:grpSpPr>
            <p:sp>
              <p:nvSpPr>
                <p:cNvPr id="9638" name="Google Shape;9638;p55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39" name="Google Shape;9639;p55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40" name="Google Shape;9640;p55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641" name="Google Shape;9641;p551"/>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642" name="Google Shape;9642;p55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61" name="Shape 9661"/>
        <p:cNvGrpSpPr/>
        <p:nvPr/>
      </p:nvGrpSpPr>
      <p:grpSpPr>
        <a:xfrm>
          <a:off x="0" y="0"/>
          <a:ext cx="0" cy="0"/>
          <a:chOff x="0" y="0"/>
          <a:chExt cx="0" cy="0"/>
        </a:xfrm>
      </p:grpSpPr>
      <p:cxnSp>
        <p:nvCxnSpPr>
          <p:cNvPr id="9662" name="Google Shape;9662;p55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663" name="Google Shape;9663;p553"/>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a:p>
        </p:txBody>
      </p:sp>
      <p:grpSp>
        <p:nvGrpSpPr>
          <p:cNvPr id="9664" name="Google Shape;9664;p553"/>
          <p:cNvGrpSpPr/>
          <p:nvPr/>
        </p:nvGrpSpPr>
        <p:grpSpPr>
          <a:xfrm rot="10800000">
            <a:off x="8402201" y="2375927"/>
            <a:ext cx="446523" cy="372936"/>
            <a:chOff x="4492625" y="3451225"/>
            <a:chExt cx="992188" cy="828675"/>
          </a:xfrm>
        </p:grpSpPr>
        <p:sp>
          <p:nvSpPr>
            <p:cNvPr id="9665" name="Google Shape;9665;p553"/>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66" name="Google Shape;9666;p553"/>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667" name="Google Shape;9667;p553"/>
          <p:cNvGrpSpPr/>
          <p:nvPr/>
        </p:nvGrpSpPr>
        <p:grpSpPr>
          <a:xfrm>
            <a:off x="6027116" y="1367367"/>
            <a:ext cx="446523" cy="372936"/>
            <a:chOff x="4492625" y="3451225"/>
            <a:chExt cx="992188" cy="828675"/>
          </a:xfrm>
        </p:grpSpPr>
        <p:sp>
          <p:nvSpPr>
            <p:cNvPr id="9668" name="Google Shape;9668;p553"/>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69" name="Google Shape;9669;p553"/>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670" name="Google Shape;9670;p55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rgbClr val="3C3C3B"/>
                        </a:buClr>
                        <a:buSzPts val="900"/>
                        <a:buFont typeface="Arial"/>
                        <a:buChar char="•"/>
                      </a:pPr>
                      <a:r>
                        <a:rPr b="1" lang="en-GB" sz="900">
                          <a:solidFill>
                            <a:srgbClr val="3C3C3B"/>
                          </a:solidFill>
                        </a:rPr>
                        <a:t>Measure and monitor</a:t>
                      </a:r>
                      <a:r>
                        <a:rPr b="1" lang="en-GB" sz="900">
                          <a:solidFill>
                            <a:srgbClr val="3C3C3B"/>
                          </a:solidFill>
                        </a:rPr>
                        <a:t> the risk associated with insurance policies along with the proper pricing of the associated risk</a:t>
                      </a:r>
                      <a:endParaRPr/>
                    </a:p>
                    <a:p>
                      <a:pPr indent="-171450" lvl="1" marL="628650" marR="0" rtl="0" algn="l">
                        <a:lnSpc>
                          <a:spcPct val="100000"/>
                        </a:lnSpc>
                        <a:spcBef>
                          <a:spcPts val="300"/>
                        </a:spcBef>
                        <a:spcAft>
                          <a:spcPts val="0"/>
                        </a:spcAft>
                        <a:buClr>
                          <a:srgbClr val="3C3C3B"/>
                        </a:buClr>
                        <a:buSzPts val="900"/>
                        <a:buFont typeface="Arial"/>
                        <a:buChar char="•"/>
                      </a:pPr>
                      <a:r>
                        <a:rPr lang="en-GB" sz="900" u="none" cap="none" strike="noStrike">
                          <a:solidFill>
                            <a:srgbClr val="3C3C3B"/>
                          </a:solidFill>
                        </a:rPr>
                        <a:t>Reduction of insurance claims fraud for all lines of insurance</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analysis due to changing fraud patterns to gain a better understanding of emerging fraud scenarios</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granular insurance data third-party fraud data, and textual data for improved predictive capability</a:t>
                      </a:r>
                      <a:endParaRPr sz="900" u="none" cap="none" strike="noStrike">
                        <a:solidFill>
                          <a:srgbClr val="3C3C3B"/>
                        </a:solidFill>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Reduce false positives to reduce unnecessary impact on innocent customers and claimants</a:t>
                      </a:r>
                      <a:endParaRPr sz="900" u="none" cap="none" strike="noStrike">
                        <a:solidFill>
                          <a:srgbClr val="3C3C3B"/>
                        </a:solidFill>
                      </a:endParaRPr>
                    </a:p>
                    <a:p>
                      <a:pPr indent="-171450" lvl="1" marL="628650" marR="0" rtl="0" algn="l">
                        <a:spcBef>
                          <a:spcPts val="30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Iterate constantly on identifying new patterns of fraud to get ahead of the fraudsters. </a:t>
                      </a:r>
                      <a:endParaRPr/>
                    </a:p>
                    <a:p>
                      <a:pPr indent="-171450" lvl="1" marL="628650" marR="0" rtl="0" algn="l">
                        <a:spcBef>
                          <a:spcPts val="30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Leverage real/right time data to maximize proactive analysis</a:t>
                      </a:r>
                      <a:endParaRPr/>
                    </a:p>
                    <a:p>
                      <a:pPr indent="0" lvl="0" marL="0" marR="0" rtl="0" algn="l">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spcBef>
                          <a:spcPts val="0"/>
                        </a:spcBef>
                        <a:spcAft>
                          <a:spcPts val="0"/>
                        </a:spcAft>
                        <a:buClr>
                          <a:srgbClr val="3C3C3B"/>
                        </a:buClr>
                        <a:buSzPts val="900"/>
                        <a:buFont typeface="Arial"/>
                        <a:buChar char="•"/>
                      </a:pPr>
                      <a:r>
                        <a:rPr b="1" lang="en-GB" sz="900">
                          <a:solidFill>
                            <a:srgbClr val="3C3C3B"/>
                          </a:solidFill>
                        </a:rPr>
                        <a:t>Solution Analytics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Reduce-eliminate summarized data used by claims and Special Investigation Units (SIUs) for richer analysis</a:t>
                      </a:r>
                      <a:endParaRPr sz="900" u="none" cap="none" strike="noStrike">
                        <a:solidFill>
                          <a:srgbClr val="3C3C3B"/>
                        </a:solidFill>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Increase use of granular data for analysis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Leveraging both text and traditional data in analysis work</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Claims and SIU access to analytics &amp;I integration with claims operational systems. Enable BI &amp; AI solutions for self-service</a:t>
                      </a:r>
                      <a:endParaRPr sz="900" u="none" cap="none" strike="noStrike">
                        <a:solidFill>
                          <a:srgbClr val="3C3C3B"/>
                        </a:solidFill>
                      </a:endParaRPr>
                    </a:p>
                    <a:p>
                      <a:pPr indent="-171450" lvl="0" marL="171450" marR="0" rtl="0" algn="l">
                        <a:spcBef>
                          <a:spcPts val="0"/>
                        </a:spcBef>
                        <a:spcAft>
                          <a:spcPts val="0"/>
                        </a:spcAft>
                        <a:buClr>
                          <a:srgbClr val="3C3C3B"/>
                        </a:buClr>
                        <a:buSzPts val="900"/>
                        <a:buFont typeface="Arial"/>
                        <a:buChar char="•"/>
                      </a:pPr>
                      <a:r>
                        <a:rPr b="1" lang="en-GB" sz="900">
                          <a:solidFill>
                            <a:srgbClr val="3C3C3B"/>
                          </a:solidFill>
                        </a:rPr>
                        <a:t>Data</a:t>
                      </a:r>
                      <a:endParaRPr/>
                    </a:p>
                    <a:p>
                      <a:pPr indent="-171450" lvl="1" marL="628650" marR="0" rtl="0" algn="l">
                        <a:spcBef>
                          <a:spcPts val="0"/>
                        </a:spcBef>
                        <a:spcAft>
                          <a:spcPts val="0"/>
                        </a:spcAft>
                        <a:buClr>
                          <a:srgbClr val="3C3C3B"/>
                        </a:buClr>
                        <a:buSzPts val="900"/>
                        <a:buFont typeface="Arial"/>
                        <a:buChar char="•"/>
                      </a:pPr>
                      <a:r>
                        <a:rPr b="0" lang="en-GB" sz="900" u="none" cap="none" strike="noStrike">
                          <a:solidFill>
                            <a:srgbClr val="3C3C3B"/>
                          </a:solidFill>
                        </a:rPr>
                        <a:t>Underwriting, Claims, Policy, Third-Party Fraud Data and Unstructured Data including Claims Notes</a:t>
                      </a:r>
                      <a:endParaRPr b="0" sz="900" u="none" cap="none" strike="noStrike">
                        <a:solidFill>
                          <a:srgbClr val="3C3C3B"/>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Proactive fraud approach with reduced time to fraud identification</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Create better time efficiencies for Claims and SIU to enable the identification of more fraud</a:t>
                      </a:r>
                      <a:endParaRPr sz="900">
                        <a:solidFill>
                          <a:srgbClr val="3C3C3B"/>
                        </a:solidFill>
                      </a:endParaRPr>
                    </a:p>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Enable</a:t>
                      </a:r>
                      <a:r>
                        <a:rPr lang="en-GB" sz="900">
                          <a:solidFill>
                            <a:srgbClr val="3C3C3B"/>
                          </a:solidFill>
                        </a:rPr>
                        <a:t> t</a:t>
                      </a:r>
                      <a:r>
                        <a:rPr lang="en-GB" sz="900">
                          <a:solidFill>
                            <a:srgbClr val="3C3C3B"/>
                          </a:solidFill>
                        </a:rPr>
                        <a:t>he ability to visualize fraud</a:t>
                      </a:r>
                      <a:r>
                        <a:rPr lang="en-GB" sz="900">
                          <a:solidFill>
                            <a:srgbClr val="3C3C3B"/>
                          </a:solidFill>
                        </a:rPr>
                        <a:t> types such as vendor collusion</a:t>
                      </a:r>
                      <a:endParaRPr sz="900">
                        <a:solidFill>
                          <a:srgbClr val="3C3C3B"/>
                        </a:solidFill>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rPr>
                        <a:t>Enablement of deeper and wider fraud  analysis through the integration of traditional and big data with advanced analytics</a:t>
                      </a:r>
                      <a:endParaRPr/>
                    </a:p>
                    <a:p>
                      <a:pPr indent="0" lvl="0" marL="0" marR="0" rtl="0" algn="l">
                        <a:lnSpc>
                          <a:spcPct val="100000"/>
                        </a:lnSpc>
                        <a:spcBef>
                          <a:spcPts val="300"/>
                        </a:spcBef>
                        <a:spcAft>
                          <a:spcPts val="0"/>
                        </a:spcAft>
                        <a:buClr>
                          <a:schemeClr val="dk1"/>
                        </a:buClr>
                        <a:buSzPts val="900"/>
                        <a:buFont typeface="Arial"/>
                        <a:buNone/>
                      </a:pPr>
                      <a:r>
                        <a:t/>
                      </a:r>
                      <a:endParaRPr sz="900">
                        <a:solidFill>
                          <a:srgbClr val="3C3C3B"/>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671" name="Google Shape;9671;p553"/>
          <p:cNvSpPr txBox="1"/>
          <p:nvPr>
            <p:ph type="title"/>
          </p:nvPr>
        </p:nvSpPr>
        <p:spPr>
          <a:xfrm>
            <a:off x="381000" y="285750"/>
            <a:ext cx="4284503"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Claim Fraud</a:t>
            </a:r>
            <a:endParaRPr sz="1600"/>
          </a:p>
        </p:txBody>
      </p:sp>
      <p:grpSp>
        <p:nvGrpSpPr>
          <p:cNvPr id="9672" name="Google Shape;9672;p553"/>
          <p:cNvGrpSpPr/>
          <p:nvPr/>
        </p:nvGrpSpPr>
        <p:grpSpPr>
          <a:xfrm>
            <a:off x="7717533" y="4360377"/>
            <a:ext cx="1058348" cy="347375"/>
            <a:chOff x="7651698" y="4287227"/>
            <a:chExt cx="1058348" cy="347375"/>
          </a:xfrm>
        </p:grpSpPr>
        <p:grpSp>
          <p:nvGrpSpPr>
            <p:cNvPr id="9673" name="Google Shape;9673;p553"/>
            <p:cNvGrpSpPr/>
            <p:nvPr/>
          </p:nvGrpSpPr>
          <p:grpSpPr>
            <a:xfrm>
              <a:off x="7714163" y="4337598"/>
              <a:ext cx="995883" cy="297004"/>
              <a:chOff x="7711013" y="3986494"/>
              <a:chExt cx="995883" cy="297004"/>
            </a:xfrm>
          </p:grpSpPr>
          <p:sp>
            <p:nvSpPr>
              <p:cNvPr id="9674" name="Google Shape;9674;p55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9675" name="Google Shape;9675;p553"/>
              <p:cNvGrpSpPr/>
              <p:nvPr/>
            </p:nvGrpSpPr>
            <p:grpSpPr>
              <a:xfrm>
                <a:off x="7711013" y="4002615"/>
                <a:ext cx="281520" cy="241973"/>
                <a:chOff x="5652748" y="4066000"/>
                <a:chExt cx="906498" cy="747974"/>
              </a:xfrm>
            </p:grpSpPr>
            <p:sp>
              <p:nvSpPr>
                <p:cNvPr id="9676" name="Google Shape;9676;p55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77" name="Google Shape;9677;p55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78" name="Google Shape;9678;p55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679" name="Google Shape;9679;p553"/>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680" name="Google Shape;9680;p553"/>
          <p:cNvPicPr preferRelativeResize="0"/>
          <p:nvPr/>
        </p:nvPicPr>
        <p:blipFill rotWithShape="1">
          <a:blip r:embed="rId3">
            <a:alphaModFix/>
          </a:blip>
          <a:srcRect b="0" l="0" r="0" t="0"/>
          <a:stretch/>
        </p:blipFill>
        <p:spPr>
          <a:xfrm>
            <a:off x="6633309" y="215968"/>
            <a:ext cx="2510691" cy="1549702"/>
          </a:xfrm>
          <a:prstGeom prst="rect">
            <a:avLst/>
          </a:prstGeom>
          <a:noFill/>
          <a:ln>
            <a:noFill/>
          </a:ln>
        </p:spPr>
      </p:pic>
      <p:pic>
        <p:nvPicPr>
          <p:cNvPr id="9681" name="Google Shape;9681;p553"/>
          <p:cNvPicPr preferRelativeResize="0"/>
          <p:nvPr/>
        </p:nvPicPr>
        <p:blipFill rotWithShape="1">
          <a:blip r:embed="rId4">
            <a:alphaModFix/>
          </a:blip>
          <a:srcRect b="0" l="0" r="0" t="0"/>
          <a:stretch/>
        </p:blipFill>
        <p:spPr>
          <a:xfrm>
            <a:off x="6633309" y="182032"/>
            <a:ext cx="2510691" cy="1617575"/>
          </a:xfrm>
          <a:prstGeom prst="rect">
            <a:avLst/>
          </a:prstGeom>
          <a:noFill/>
          <a:ln>
            <a:noFill/>
          </a:ln>
        </p:spPr>
      </p:pic>
      <p:sp>
        <p:nvSpPr>
          <p:cNvPr id="9682" name="Google Shape;9682;p553">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00" name="Shape 9700"/>
        <p:cNvGrpSpPr/>
        <p:nvPr/>
      </p:nvGrpSpPr>
      <p:grpSpPr>
        <a:xfrm>
          <a:off x="0" y="0"/>
          <a:ext cx="0" cy="0"/>
          <a:chOff x="0" y="0"/>
          <a:chExt cx="0" cy="0"/>
        </a:xfrm>
      </p:grpSpPr>
      <p:sp>
        <p:nvSpPr>
          <p:cNvPr id="9701" name="Google Shape;9701;p555"/>
          <p:cNvSpPr txBox="1"/>
          <p:nvPr>
            <p:ph idx="1" type="body"/>
          </p:nvPr>
        </p:nvSpPr>
        <p:spPr>
          <a:xfrm>
            <a:off x="455485" y="2054578"/>
            <a:ext cx="4737404" cy="308892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600"/>
              <a:buChar char="•"/>
            </a:pPr>
            <a:r>
              <a:rPr b="1" lang="en-GB" sz="1600"/>
              <a:t>Brand Erosion</a:t>
            </a:r>
            <a:r>
              <a:rPr lang="en-GB" sz="1400"/>
              <a:t>, lost clients, lower revenue, lower profitability and market share impact </a:t>
            </a:r>
            <a:endParaRPr/>
          </a:p>
          <a:p>
            <a:pPr indent="-169863" lvl="0" marL="169863" rtl="0" algn="just">
              <a:lnSpc>
                <a:spcPct val="95000"/>
              </a:lnSpc>
              <a:spcBef>
                <a:spcPts val="600"/>
              </a:spcBef>
              <a:spcAft>
                <a:spcPts val="0"/>
              </a:spcAft>
              <a:buClr>
                <a:schemeClr val="dk1"/>
              </a:buClr>
              <a:buSzPts val="1600"/>
              <a:buChar char="•"/>
            </a:pPr>
            <a:r>
              <a:rPr b="1" lang="en-GB" sz="1600"/>
              <a:t>Regulatory fines </a:t>
            </a:r>
            <a:r>
              <a:rPr lang="en-GB" sz="1400"/>
              <a:t>- In the U.S. the Federal Trade Commission now has authority to fine companies for data breaches</a:t>
            </a:r>
            <a:endParaRPr/>
          </a:p>
          <a:p>
            <a:pPr indent="-169863" lvl="0" marL="169863" rtl="0" algn="just">
              <a:lnSpc>
                <a:spcPct val="95000"/>
              </a:lnSpc>
              <a:spcBef>
                <a:spcPts val="600"/>
              </a:spcBef>
              <a:spcAft>
                <a:spcPts val="0"/>
              </a:spcAft>
              <a:buClr>
                <a:schemeClr val="dk1"/>
              </a:buClr>
              <a:buSzPts val="1600"/>
              <a:buChar char="•"/>
            </a:pPr>
            <a:r>
              <a:rPr b="1" lang="en-GB" sz="1600"/>
              <a:t>Management Disruption -</a:t>
            </a:r>
            <a:r>
              <a:rPr lang="en-GB" sz="1400"/>
              <a:t> CEO’s, CIO’s and other executives have lost their jobs </a:t>
            </a:r>
            <a:endParaRPr sz="1400"/>
          </a:p>
          <a:p>
            <a:pPr indent="-169863" lvl="0" marL="169863" rtl="0" algn="just">
              <a:lnSpc>
                <a:spcPct val="95000"/>
              </a:lnSpc>
              <a:spcBef>
                <a:spcPts val="600"/>
              </a:spcBef>
              <a:spcAft>
                <a:spcPts val="0"/>
              </a:spcAft>
              <a:buClr>
                <a:schemeClr val="dk1"/>
              </a:buClr>
              <a:buSzPts val="1600"/>
              <a:buChar char="•"/>
            </a:pPr>
            <a:r>
              <a:rPr b="1" lang="en-GB" sz="1600"/>
              <a:t>Legal repercussions </a:t>
            </a:r>
            <a:r>
              <a:rPr lang="en-GB" sz="1600"/>
              <a:t>such as class action Lawsuits</a:t>
            </a:r>
            <a:endParaRPr/>
          </a:p>
          <a:p>
            <a:pPr indent="-169863" lvl="0" marL="169863" rtl="0" algn="just">
              <a:lnSpc>
                <a:spcPct val="95000"/>
              </a:lnSpc>
              <a:spcBef>
                <a:spcPts val="600"/>
              </a:spcBef>
              <a:spcAft>
                <a:spcPts val="0"/>
              </a:spcAft>
              <a:buClr>
                <a:schemeClr val="dk1"/>
              </a:buClr>
              <a:buSzPts val="1400"/>
              <a:buChar char="•"/>
            </a:pPr>
            <a:r>
              <a:rPr lang="en-GB" sz="1400"/>
              <a:t> </a:t>
            </a:r>
            <a:endParaRPr sz="1400"/>
          </a:p>
          <a:p>
            <a:pPr indent="-80963" lvl="0" marL="169863" rtl="0" algn="just">
              <a:lnSpc>
                <a:spcPct val="95000"/>
              </a:lnSpc>
              <a:spcBef>
                <a:spcPts val="600"/>
              </a:spcBef>
              <a:spcAft>
                <a:spcPts val="0"/>
              </a:spcAft>
              <a:buClr>
                <a:schemeClr val="dk1"/>
              </a:buClr>
              <a:buSzPts val="1400"/>
              <a:buNone/>
            </a:pPr>
            <a:r>
              <a:t/>
            </a:r>
            <a:endParaRPr sz="1400"/>
          </a:p>
        </p:txBody>
      </p:sp>
      <p:sp>
        <p:nvSpPr>
          <p:cNvPr id="9702" name="Google Shape;9702;p555"/>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Information and Cyber Security</a:t>
            </a:r>
            <a:br>
              <a:rPr lang="en-GB"/>
            </a:br>
            <a:endParaRPr/>
          </a:p>
        </p:txBody>
      </p:sp>
      <p:pic>
        <p:nvPicPr>
          <p:cNvPr id="9703" name="Google Shape;9703;p555"/>
          <p:cNvPicPr preferRelativeResize="0"/>
          <p:nvPr/>
        </p:nvPicPr>
        <p:blipFill rotWithShape="1">
          <a:blip r:embed="rId3">
            <a:alphaModFix/>
          </a:blip>
          <a:srcRect b="0" l="0" r="41172" t="0"/>
          <a:stretch/>
        </p:blipFill>
        <p:spPr>
          <a:xfrm>
            <a:off x="5554133" y="0"/>
            <a:ext cx="3589867" cy="5143500"/>
          </a:xfrm>
          <a:prstGeom prst="rect">
            <a:avLst/>
          </a:prstGeom>
          <a:noFill/>
          <a:ln>
            <a:noFill/>
          </a:ln>
        </p:spPr>
      </p:pic>
      <p:sp>
        <p:nvSpPr>
          <p:cNvPr id="9704" name="Google Shape;9704;p555"/>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CyberSecurity is focused on protecting the corporations data from internal and external digital attacks.  The loss of sensitive data such as customer or intellectual property can have a devastating impact on an enterprise. Recent large data breaches have caused impacts of $100,000,000 or more for several Fortune 500 firms.</a:t>
            </a:r>
            <a:endParaRPr/>
          </a:p>
        </p:txBody>
      </p:sp>
      <p:sp>
        <p:nvSpPr>
          <p:cNvPr id="9705" name="Google Shape;9705;p55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43" name="Shape 9743"/>
        <p:cNvGrpSpPr/>
        <p:nvPr/>
      </p:nvGrpSpPr>
      <p:grpSpPr>
        <a:xfrm>
          <a:off x="0" y="0"/>
          <a:ext cx="0" cy="0"/>
          <a:chOff x="0" y="0"/>
          <a:chExt cx="0" cy="0"/>
        </a:xfrm>
      </p:grpSpPr>
      <p:cxnSp>
        <p:nvCxnSpPr>
          <p:cNvPr id="9744" name="Google Shape;9744;p55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745" name="Google Shape;9745;p558"/>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746" name="Google Shape;9746;p558"/>
          <p:cNvGrpSpPr/>
          <p:nvPr/>
        </p:nvGrpSpPr>
        <p:grpSpPr>
          <a:xfrm rot="10800000">
            <a:off x="8402201" y="2375927"/>
            <a:ext cx="446523" cy="372936"/>
            <a:chOff x="4492625" y="3451225"/>
            <a:chExt cx="992188" cy="828675"/>
          </a:xfrm>
        </p:grpSpPr>
        <p:sp>
          <p:nvSpPr>
            <p:cNvPr id="9747" name="Google Shape;9747;p55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48" name="Google Shape;9748;p55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749" name="Google Shape;9749;p558"/>
          <p:cNvGrpSpPr/>
          <p:nvPr/>
        </p:nvGrpSpPr>
        <p:grpSpPr>
          <a:xfrm>
            <a:off x="6027116" y="1367367"/>
            <a:ext cx="446523" cy="372936"/>
            <a:chOff x="4492625" y="3451225"/>
            <a:chExt cx="992188" cy="828675"/>
          </a:xfrm>
        </p:grpSpPr>
        <p:sp>
          <p:nvSpPr>
            <p:cNvPr id="9750" name="Google Shape;9750;p55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51" name="Google Shape;9751;p55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752" name="Google Shape;9752;p558"/>
          <p:cNvGraphicFramePr/>
          <p:nvPr/>
        </p:nvGraphicFramePr>
        <p:xfrm>
          <a:off x="267610" y="11159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9722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Internal access to privileged information and systems must be restricted to support only the required roles of individuals.  Procedures and monitoring of access requires constant analysis and monitoring. This applies to employees, partners and contractors.</a:t>
                      </a:r>
                      <a:endParaRPr/>
                    </a:p>
                    <a:p>
                      <a:pPr indent="-171450" lvl="0" marL="171450" marR="0" rtl="0" algn="l">
                        <a:lnSpc>
                          <a:spcPct val="100000"/>
                        </a:lnSpc>
                        <a:spcBef>
                          <a:spcPts val="0"/>
                        </a:spcBef>
                        <a:spcAft>
                          <a:spcPts val="0"/>
                        </a:spcAft>
                        <a:buClr>
                          <a:schemeClr val="dk1"/>
                        </a:buClr>
                        <a:buSzPts val="900"/>
                        <a:buFont typeface="Arial"/>
                        <a:buChar char="•"/>
                      </a:pPr>
                      <a:r>
                        <a:rPr lang="en-GB" sz="900"/>
                        <a:t>The threat environment is constantly evolving and threats are becoming more sophisticated.  Routine vulnerability reviews should be conducted to ensure potential weaknesses are identified and remediated.</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08000" lvl="0" marL="108000" marR="0" rtl="0" algn="l">
                        <a:lnSpc>
                          <a:spcPct val="90000"/>
                        </a:lnSpc>
                        <a:spcBef>
                          <a:spcPts val="0"/>
                        </a:spcBef>
                        <a:spcAft>
                          <a:spcPts val="0"/>
                        </a:spcAft>
                        <a:buClr>
                          <a:schemeClr val="dk1"/>
                        </a:buClr>
                        <a:buSzPts val="900"/>
                        <a:buFont typeface="Arial"/>
                        <a:buChar char="•"/>
                      </a:pPr>
                      <a:r>
                        <a:rPr lang="en-GB" sz="900"/>
                        <a:t>VPN data and system log files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Security violation logs and data loss prevention logs</a:t>
                      </a:r>
                      <a:endParaRPr/>
                    </a:p>
                    <a:p>
                      <a:pPr indent="-108000" lvl="0" marL="108000" marR="0" rtl="0" algn="l">
                        <a:lnSpc>
                          <a:spcPct val="90000"/>
                        </a:lnSpc>
                        <a:spcBef>
                          <a:spcPts val="300"/>
                        </a:spcBef>
                        <a:spcAft>
                          <a:spcPts val="0"/>
                        </a:spcAft>
                        <a:buClr>
                          <a:schemeClr val="dk1"/>
                        </a:buClr>
                        <a:buSzPts val="900"/>
                        <a:buFont typeface="Arial"/>
                        <a:buChar char="•"/>
                      </a:pPr>
                      <a:r>
                        <a:rPr lang="en-GB" sz="900"/>
                        <a:t>Access authorization files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rPr>
                        <a:t>Personal file</a:t>
                      </a:r>
                      <a:r>
                        <a:rPr lang="en-GB" sz="900">
                          <a:solidFill>
                            <a:schemeClr val="dk1"/>
                          </a:solidFill>
                        </a:rPr>
                        <a:t> information and organizational hierarchy</a:t>
                      </a:r>
                      <a:endParaRPr sz="900">
                        <a:solidFill>
                          <a:schemeClr val="dk1"/>
                        </a:solidFill>
                      </a:endParaRPr>
                    </a:p>
                    <a:p>
                      <a:pPr indent="0" lvl="0" marL="0" marR="0" rtl="0" algn="l">
                        <a:lnSpc>
                          <a:spcPct val="90000"/>
                        </a:lnSpc>
                        <a:spcBef>
                          <a:spcPts val="300"/>
                        </a:spcBef>
                        <a:spcAft>
                          <a:spcPts val="0"/>
                        </a:spcAft>
                        <a:buClr>
                          <a:schemeClr val="dk1"/>
                        </a:buClr>
                        <a:buSzPts val="800"/>
                        <a:buFont typeface="Century Gothic"/>
                        <a:buNone/>
                      </a:pPr>
                      <a:r>
                        <a:t/>
                      </a:r>
                      <a:endParaRPr sz="800"/>
                    </a:p>
                    <a:p>
                      <a:pPr indent="0" lvl="0" marL="0" marR="0" rtl="0" algn="l">
                        <a:spcBef>
                          <a:spcPts val="300"/>
                        </a:spcBef>
                        <a:spcAft>
                          <a:spcPts val="0"/>
                        </a:spcAft>
                        <a:buClr>
                          <a:schemeClr val="dk1"/>
                        </a:buClr>
                        <a:buSzPts val="900"/>
                        <a:buFont typeface="Arial"/>
                        <a:buNone/>
                      </a:pPr>
                      <a:r>
                        <a:rPr b="1" lang="en-GB" sz="900">
                          <a:solidFill>
                            <a:schemeClr val="dk1"/>
                          </a:solidFill>
                        </a:rPr>
                        <a:t>Solution / Analytics</a:t>
                      </a:r>
                      <a:endParaRPr/>
                    </a:p>
                    <a:p>
                      <a:pPr indent="-108000" lvl="0" marL="108000" marR="0" rtl="0" algn="l">
                        <a:spcBef>
                          <a:spcPts val="0"/>
                        </a:spcBef>
                        <a:spcAft>
                          <a:spcPts val="0"/>
                        </a:spcAft>
                        <a:buClr>
                          <a:srgbClr val="3C3C3B"/>
                        </a:buClr>
                        <a:buSzPts val="900"/>
                        <a:buFont typeface="Arial"/>
                        <a:buChar char="•"/>
                      </a:pPr>
                      <a:r>
                        <a:rPr lang="en-GB" sz="900"/>
                        <a:t>Graph analytics to identify patterns between and among users</a:t>
                      </a:r>
                      <a:endParaRPr/>
                    </a:p>
                    <a:p>
                      <a:pPr indent="-108000" lvl="0" marL="108000" marR="0" rtl="0" algn="l">
                        <a:spcBef>
                          <a:spcPts val="200"/>
                        </a:spcBef>
                        <a:spcAft>
                          <a:spcPts val="0"/>
                        </a:spcAft>
                        <a:buClr>
                          <a:srgbClr val="3C3C3B"/>
                        </a:buClr>
                        <a:buSzPts val="900"/>
                        <a:buFont typeface="Arial"/>
                        <a:buChar char="•"/>
                      </a:pPr>
                      <a:r>
                        <a:rPr lang="en-GB" sz="900"/>
                        <a:t>Access attempt similarity</a:t>
                      </a:r>
                      <a:endParaRPr/>
                    </a:p>
                    <a:p>
                      <a:pPr indent="-108000" lvl="0" marL="108000" marR="0" rtl="0" algn="l">
                        <a:spcBef>
                          <a:spcPts val="200"/>
                        </a:spcBef>
                        <a:spcAft>
                          <a:spcPts val="0"/>
                        </a:spcAft>
                        <a:buClr>
                          <a:srgbClr val="3C3C3B"/>
                        </a:buClr>
                        <a:buSzPts val="900"/>
                        <a:buFont typeface="Arial"/>
                        <a:buChar char="•"/>
                      </a:pPr>
                      <a:r>
                        <a:rPr lang="en-GB" sz="900"/>
                        <a:t>Behavioral clustering</a:t>
                      </a:r>
                      <a:endParaRPr/>
                    </a:p>
                    <a:p>
                      <a:pPr indent="-108000" lvl="0" marL="108000" marR="0" rtl="0" algn="l">
                        <a:spcBef>
                          <a:spcPts val="200"/>
                        </a:spcBef>
                        <a:spcAft>
                          <a:spcPts val="0"/>
                        </a:spcAft>
                        <a:buClr>
                          <a:srgbClr val="3C3C3B"/>
                        </a:buClr>
                        <a:buSzPts val="900"/>
                        <a:buFont typeface="Arial"/>
                        <a:buChar char="•"/>
                      </a:pPr>
                      <a:r>
                        <a:rPr lang="en-GB" sz="900"/>
                        <a:t>Outlier detection</a:t>
                      </a:r>
                      <a:endParaRPr/>
                    </a:p>
                    <a:p>
                      <a:pPr indent="-108000" lvl="0" marL="108000" marR="0" rtl="0" algn="l">
                        <a:spcBef>
                          <a:spcPts val="200"/>
                        </a:spcBef>
                        <a:spcAft>
                          <a:spcPts val="0"/>
                        </a:spcAft>
                        <a:buClr>
                          <a:srgbClr val="3C3C3B"/>
                        </a:buClr>
                        <a:buSzPts val="900"/>
                        <a:buFont typeface="Arial"/>
                        <a:buChar char="•"/>
                      </a:pPr>
                      <a:r>
                        <a:rPr lang="en-GB" sz="900"/>
                        <a:t>Machine Learning</a:t>
                      </a:r>
                      <a:endParaRPr sz="900"/>
                    </a:p>
                    <a:p>
                      <a:pPr indent="-50849" lvl="0" marL="108000" marR="0" rtl="0" algn="l">
                        <a:spcBef>
                          <a:spcPts val="200"/>
                        </a:spcBef>
                        <a:spcAft>
                          <a:spcPts val="0"/>
                        </a:spcAft>
                        <a:buClr>
                          <a:srgbClr val="3C3C3B"/>
                        </a:buClr>
                        <a:buSzPts val="900"/>
                        <a:buFont typeface="Arial"/>
                        <a:buNone/>
                      </a:pPr>
                      <a:r>
                        <a:t/>
                      </a:r>
                      <a:endParaRPr sz="900"/>
                    </a:p>
                    <a:p>
                      <a:pPr indent="-122238" lvl="0" marL="179388" marR="0" rtl="0" algn="l">
                        <a:spcBef>
                          <a:spcPts val="20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08000" lvl="0" marL="108000" marR="0" rtl="0" algn="l">
                        <a:lnSpc>
                          <a:spcPct val="100000"/>
                        </a:lnSpc>
                        <a:spcBef>
                          <a:spcPts val="0"/>
                        </a:spcBef>
                        <a:spcAft>
                          <a:spcPts val="0"/>
                        </a:spcAft>
                        <a:buClr>
                          <a:srgbClr val="3C3C3B"/>
                        </a:buClr>
                        <a:buSzPts val="900"/>
                        <a:buFont typeface="Arial"/>
                        <a:buChar char="•"/>
                      </a:pPr>
                      <a:r>
                        <a:rPr lang="en-GB" sz="900">
                          <a:solidFill>
                            <a:srgbClr val="3C3C3B"/>
                          </a:solidFill>
                        </a:rPr>
                        <a:t>Analytics are used to analyze access and identify threats in near real time, Valid employee and customer access is allowed and fraudulent access from both internal and external sources is prevented.</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753" name="Google Shape;9753;p55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Access Controls </a:t>
            </a:r>
            <a:endParaRPr sz="1600"/>
          </a:p>
        </p:txBody>
      </p:sp>
      <p:grpSp>
        <p:nvGrpSpPr>
          <p:cNvPr id="9754" name="Google Shape;9754;p558"/>
          <p:cNvGrpSpPr/>
          <p:nvPr/>
        </p:nvGrpSpPr>
        <p:grpSpPr>
          <a:xfrm>
            <a:off x="7717533" y="4360377"/>
            <a:ext cx="1058348" cy="347375"/>
            <a:chOff x="7651698" y="4287227"/>
            <a:chExt cx="1058348" cy="347375"/>
          </a:xfrm>
        </p:grpSpPr>
        <p:grpSp>
          <p:nvGrpSpPr>
            <p:cNvPr id="9755" name="Google Shape;9755;p558"/>
            <p:cNvGrpSpPr/>
            <p:nvPr/>
          </p:nvGrpSpPr>
          <p:grpSpPr>
            <a:xfrm>
              <a:off x="7714163" y="4337598"/>
              <a:ext cx="995883" cy="297004"/>
              <a:chOff x="7711013" y="3986494"/>
              <a:chExt cx="995883" cy="297004"/>
            </a:xfrm>
          </p:grpSpPr>
          <p:sp>
            <p:nvSpPr>
              <p:cNvPr id="9756" name="Google Shape;9756;p55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757" name="Google Shape;9757;p558"/>
              <p:cNvGrpSpPr/>
              <p:nvPr/>
            </p:nvGrpSpPr>
            <p:grpSpPr>
              <a:xfrm>
                <a:off x="7711013" y="4002615"/>
                <a:ext cx="281520" cy="241973"/>
                <a:chOff x="5652748" y="4066000"/>
                <a:chExt cx="906498" cy="747974"/>
              </a:xfrm>
            </p:grpSpPr>
            <p:sp>
              <p:nvSpPr>
                <p:cNvPr id="9758" name="Google Shape;9758;p55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59" name="Google Shape;9759;p55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760" name="Google Shape;9760;p55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761" name="Google Shape;9761;p558"/>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762" name="Google Shape;9762;p558"/>
          <p:cNvPicPr preferRelativeResize="0"/>
          <p:nvPr/>
        </p:nvPicPr>
        <p:blipFill rotWithShape="1">
          <a:blip r:embed="rId3">
            <a:alphaModFix/>
          </a:blip>
          <a:srcRect b="0" l="0" r="0" t="0"/>
          <a:stretch/>
        </p:blipFill>
        <p:spPr>
          <a:xfrm>
            <a:off x="6734175" y="195327"/>
            <a:ext cx="2409825" cy="1649348"/>
          </a:xfrm>
          <a:prstGeom prst="rect">
            <a:avLst/>
          </a:prstGeom>
          <a:noFill/>
          <a:ln>
            <a:noFill/>
          </a:ln>
        </p:spPr>
      </p:pic>
      <p:sp>
        <p:nvSpPr>
          <p:cNvPr id="9763" name="Google Shape;9763;p558">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82" name="Shape 9782"/>
        <p:cNvGrpSpPr/>
        <p:nvPr/>
      </p:nvGrpSpPr>
      <p:grpSpPr>
        <a:xfrm>
          <a:off x="0" y="0"/>
          <a:ext cx="0" cy="0"/>
          <a:chOff x="0" y="0"/>
          <a:chExt cx="0" cy="0"/>
        </a:xfrm>
      </p:grpSpPr>
      <p:cxnSp>
        <p:nvCxnSpPr>
          <p:cNvPr id="9783" name="Google Shape;9783;p56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784" name="Google Shape;9784;p56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785" name="Google Shape;9785;p56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Governance</a:t>
            </a:r>
            <a:endParaRPr b="1"/>
          </a:p>
        </p:txBody>
      </p:sp>
      <p:grpSp>
        <p:nvGrpSpPr>
          <p:cNvPr id="9786" name="Google Shape;9786;p560"/>
          <p:cNvGrpSpPr/>
          <p:nvPr/>
        </p:nvGrpSpPr>
        <p:grpSpPr>
          <a:xfrm>
            <a:off x="7717533" y="4360387"/>
            <a:ext cx="1058348" cy="347375"/>
            <a:chOff x="7651698" y="4287227"/>
            <a:chExt cx="1058348" cy="347374"/>
          </a:xfrm>
        </p:grpSpPr>
        <p:grpSp>
          <p:nvGrpSpPr>
            <p:cNvPr id="9787" name="Google Shape;9787;p560"/>
            <p:cNvGrpSpPr/>
            <p:nvPr/>
          </p:nvGrpSpPr>
          <p:grpSpPr>
            <a:xfrm>
              <a:off x="7714163" y="4337598"/>
              <a:ext cx="995883" cy="297003"/>
              <a:chOff x="7711013" y="3986494"/>
              <a:chExt cx="995883" cy="297003"/>
            </a:xfrm>
          </p:grpSpPr>
          <p:sp>
            <p:nvSpPr>
              <p:cNvPr id="9788" name="Google Shape;9788;p560"/>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789" name="Google Shape;9789;p560"/>
              <p:cNvGrpSpPr/>
              <p:nvPr/>
            </p:nvGrpSpPr>
            <p:grpSpPr>
              <a:xfrm>
                <a:off x="7711013" y="4002615"/>
                <a:ext cx="281520" cy="241973"/>
                <a:chOff x="5652748" y="4066000"/>
                <a:chExt cx="906498" cy="747974"/>
              </a:xfrm>
            </p:grpSpPr>
            <p:sp>
              <p:nvSpPr>
                <p:cNvPr id="9790" name="Google Shape;9790;p56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91" name="Google Shape;9791;p56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792" name="Google Shape;9792;p56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793" name="Google Shape;9793;p560"/>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794" name="Google Shape;9794;p56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13" name="Shape 9813"/>
        <p:cNvGrpSpPr/>
        <p:nvPr/>
      </p:nvGrpSpPr>
      <p:grpSpPr>
        <a:xfrm>
          <a:off x="0" y="0"/>
          <a:ext cx="0" cy="0"/>
          <a:chOff x="0" y="0"/>
          <a:chExt cx="0" cy="0"/>
        </a:xfrm>
      </p:grpSpPr>
      <p:cxnSp>
        <p:nvCxnSpPr>
          <p:cNvPr id="9814" name="Google Shape;9814;p56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815" name="Google Shape;9815;p562"/>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816" name="Google Shape;9816;p562"/>
          <p:cNvGrpSpPr/>
          <p:nvPr/>
        </p:nvGrpSpPr>
        <p:grpSpPr>
          <a:xfrm rot="10800000">
            <a:off x="8402201" y="2375927"/>
            <a:ext cx="446523" cy="372936"/>
            <a:chOff x="4492625" y="3451225"/>
            <a:chExt cx="992188" cy="828675"/>
          </a:xfrm>
        </p:grpSpPr>
        <p:sp>
          <p:nvSpPr>
            <p:cNvPr id="9817" name="Google Shape;9817;p562"/>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818" name="Google Shape;9818;p562"/>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819" name="Google Shape;9819;p562"/>
          <p:cNvGrpSpPr/>
          <p:nvPr/>
        </p:nvGrpSpPr>
        <p:grpSpPr>
          <a:xfrm>
            <a:off x="6027116" y="1367367"/>
            <a:ext cx="446523" cy="372936"/>
            <a:chOff x="4492625" y="3451225"/>
            <a:chExt cx="992188" cy="828675"/>
          </a:xfrm>
        </p:grpSpPr>
        <p:sp>
          <p:nvSpPr>
            <p:cNvPr id="9820" name="Google Shape;9820;p562"/>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821" name="Google Shape;9821;p562"/>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822" name="Google Shape;9822;p562"/>
          <p:cNvGraphicFramePr/>
          <p:nvPr/>
        </p:nvGraphicFramePr>
        <p:xfrm>
          <a:off x="267610" y="11159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9722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t>Ensure sensitive data is encrypted to render it unusable in the event of theft.  As threats are becoming more sophisticated, it is imperative that data is encrypted.  Portable devices should also encrypt sensitive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t>Ensure regulatory compliance with procedures for protection of sensitive data.</a:t>
                      </a:r>
                      <a:endParaRPr/>
                    </a:p>
                    <a:p>
                      <a:pPr indent="0" lvl="0" marL="0" marR="0" rtl="0" algn="l">
                        <a:lnSpc>
                          <a:spcPct val="100000"/>
                        </a:lnSpc>
                        <a:spcBef>
                          <a:spcPts val="0"/>
                        </a:spcBef>
                        <a:spcAft>
                          <a:spcPts val="0"/>
                        </a:spcAft>
                        <a:buClr>
                          <a:schemeClr val="dk1"/>
                        </a:buClr>
                        <a:buSzPts val="900"/>
                        <a:buFont typeface="Century Gothic"/>
                        <a:buNone/>
                      </a:pPr>
                      <a:r>
                        <a:t/>
                      </a:r>
                      <a:endParaRPr sz="900"/>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08000" lvl="0" marL="108000" marR="0" rtl="0" algn="l">
                        <a:lnSpc>
                          <a:spcPct val="90000"/>
                        </a:lnSpc>
                        <a:spcBef>
                          <a:spcPts val="0"/>
                        </a:spcBef>
                        <a:spcAft>
                          <a:spcPts val="0"/>
                        </a:spcAft>
                        <a:buClr>
                          <a:schemeClr val="dk1"/>
                        </a:buClr>
                        <a:buSzPts val="900"/>
                        <a:buFont typeface="Arial"/>
                        <a:buChar char="•"/>
                      </a:pPr>
                      <a:r>
                        <a:rPr lang="en-GB" sz="900"/>
                        <a:t>Personally Identified Information (PII) or </a:t>
                      </a:r>
                      <a:r>
                        <a:rPr b="0" lang="en-GB" sz="900">
                          <a:solidFill>
                            <a:schemeClr val="dk1"/>
                          </a:solidFill>
                          <a:latin typeface="Century Gothic"/>
                          <a:ea typeface="Century Gothic"/>
                          <a:cs typeface="Century Gothic"/>
                          <a:sym typeface="Century Gothic"/>
                        </a:rPr>
                        <a:t>sensitive personal information (SPI)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Loss prevention logs</a:t>
                      </a:r>
                      <a:endParaRPr/>
                    </a:p>
                    <a:p>
                      <a:pPr indent="-108000" lvl="0" marL="108000" marR="0" rtl="0" algn="l">
                        <a:lnSpc>
                          <a:spcPct val="90000"/>
                        </a:lnSpc>
                        <a:spcBef>
                          <a:spcPts val="300"/>
                        </a:spcBef>
                        <a:spcAft>
                          <a:spcPts val="0"/>
                        </a:spcAft>
                        <a:buClr>
                          <a:schemeClr val="dk1"/>
                        </a:buClr>
                        <a:buSzPts val="900"/>
                        <a:buFont typeface="Arial"/>
                        <a:buChar char="•"/>
                      </a:pPr>
                      <a:r>
                        <a:rPr lang="en-GB" sz="900"/>
                        <a:t>Access Logs</a:t>
                      </a:r>
                      <a:endParaRPr/>
                    </a:p>
                    <a:p>
                      <a:pPr indent="-50849" lvl="0" marL="108000" marR="0" rtl="0" algn="l">
                        <a:lnSpc>
                          <a:spcPct val="90000"/>
                        </a:lnSpc>
                        <a:spcBef>
                          <a:spcPts val="300"/>
                        </a:spcBef>
                        <a:spcAft>
                          <a:spcPts val="0"/>
                        </a:spcAft>
                        <a:buClr>
                          <a:schemeClr val="dk1"/>
                        </a:buClr>
                        <a:buSzPts val="900"/>
                        <a:buFont typeface="Arial"/>
                        <a:buNone/>
                      </a:pPr>
                      <a:r>
                        <a:t/>
                      </a:r>
                      <a:endParaRPr sz="900"/>
                    </a:p>
                    <a:p>
                      <a:pPr indent="0" lvl="0" marL="0" marR="0" rtl="0" algn="l">
                        <a:spcBef>
                          <a:spcPts val="300"/>
                        </a:spcBef>
                        <a:spcAft>
                          <a:spcPts val="0"/>
                        </a:spcAft>
                        <a:buClr>
                          <a:schemeClr val="dk1"/>
                        </a:buClr>
                        <a:buSzPts val="900"/>
                        <a:buFont typeface="Arial"/>
                        <a:buNone/>
                      </a:pPr>
                      <a:r>
                        <a:rPr b="1" lang="en-GB" sz="900">
                          <a:solidFill>
                            <a:schemeClr val="dk1"/>
                          </a:solidFill>
                        </a:rPr>
                        <a:t>Solution / Analytics</a:t>
                      </a:r>
                      <a:endParaRPr/>
                    </a:p>
                    <a:p>
                      <a:pPr indent="-108000" lvl="0" marL="108000" marR="0" rtl="0" algn="l">
                        <a:spcBef>
                          <a:spcPts val="0"/>
                        </a:spcBef>
                        <a:spcAft>
                          <a:spcPts val="0"/>
                        </a:spcAft>
                        <a:buClr>
                          <a:srgbClr val="3C3C3B"/>
                        </a:buClr>
                        <a:buSzPts val="900"/>
                        <a:buFont typeface="Arial"/>
                        <a:buChar char="•"/>
                      </a:pPr>
                      <a:r>
                        <a:rPr lang="en-GB" sz="900"/>
                        <a:t>Graph analytics to identify patterns of behaviour</a:t>
                      </a:r>
                      <a:endParaRPr/>
                    </a:p>
                    <a:p>
                      <a:pPr indent="-108000" lvl="0" marL="108000" marR="0" rtl="0" algn="l">
                        <a:spcBef>
                          <a:spcPts val="200"/>
                        </a:spcBef>
                        <a:spcAft>
                          <a:spcPts val="0"/>
                        </a:spcAft>
                        <a:buClr>
                          <a:srgbClr val="3C3C3B"/>
                        </a:buClr>
                        <a:buSzPts val="900"/>
                        <a:buFont typeface="Arial"/>
                        <a:buChar char="•"/>
                      </a:pPr>
                      <a:r>
                        <a:rPr lang="en-GB" sz="900"/>
                        <a:t>Access attempt similarity</a:t>
                      </a:r>
                      <a:endParaRPr/>
                    </a:p>
                    <a:p>
                      <a:pPr indent="-108000" lvl="0" marL="108000" marR="0" rtl="0" algn="l">
                        <a:spcBef>
                          <a:spcPts val="200"/>
                        </a:spcBef>
                        <a:spcAft>
                          <a:spcPts val="0"/>
                        </a:spcAft>
                        <a:buClr>
                          <a:srgbClr val="3C3C3B"/>
                        </a:buClr>
                        <a:buSzPts val="900"/>
                        <a:buFont typeface="Arial"/>
                        <a:buChar char="•"/>
                      </a:pPr>
                      <a:r>
                        <a:rPr lang="en-GB" sz="900"/>
                        <a:t>Behavioral clustering</a:t>
                      </a:r>
                      <a:endParaRPr/>
                    </a:p>
                    <a:p>
                      <a:pPr indent="-108000" lvl="0" marL="108000" marR="0" rtl="0" algn="l">
                        <a:spcBef>
                          <a:spcPts val="200"/>
                        </a:spcBef>
                        <a:spcAft>
                          <a:spcPts val="0"/>
                        </a:spcAft>
                        <a:buClr>
                          <a:srgbClr val="3C3C3B"/>
                        </a:buClr>
                        <a:buSzPts val="900"/>
                        <a:buFont typeface="Arial"/>
                        <a:buChar char="•"/>
                      </a:pPr>
                      <a:r>
                        <a:rPr lang="en-GB" sz="900"/>
                        <a:t>Outlier detection</a:t>
                      </a:r>
                      <a:endParaRPr/>
                    </a:p>
                    <a:p>
                      <a:pPr indent="-108000" lvl="0" marL="108000" marR="0" rtl="0" algn="l">
                        <a:spcBef>
                          <a:spcPts val="200"/>
                        </a:spcBef>
                        <a:spcAft>
                          <a:spcPts val="0"/>
                        </a:spcAft>
                        <a:buClr>
                          <a:srgbClr val="3C3C3B"/>
                        </a:buClr>
                        <a:buSzPts val="900"/>
                        <a:buFont typeface="Arial"/>
                        <a:buChar char="•"/>
                      </a:pPr>
                      <a:r>
                        <a:rPr lang="en-GB" sz="900"/>
                        <a:t>Machine Learning</a:t>
                      </a:r>
                      <a:endParaRPr sz="900"/>
                    </a:p>
                    <a:p>
                      <a:pPr indent="-50849" lvl="0" marL="108000" marR="0" rtl="0" algn="l">
                        <a:spcBef>
                          <a:spcPts val="200"/>
                        </a:spcBef>
                        <a:spcAft>
                          <a:spcPts val="0"/>
                        </a:spcAft>
                        <a:buClr>
                          <a:srgbClr val="3C3C3B"/>
                        </a:buClr>
                        <a:buSzPts val="900"/>
                        <a:buFont typeface="Arial"/>
                        <a:buNone/>
                      </a:pPr>
                      <a:r>
                        <a:t/>
                      </a:r>
                      <a:endParaRPr sz="900"/>
                    </a:p>
                    <a:p>
                      <a:pPr indent="-122238" lvl="0" marL="179388" marR="0" rtl="0" algn="l">
                        <a:spcBef>
                          <a:spcPts val="20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08000" lvl="0" marL="108000" marR="0" rtl="0" algn="l">
                        <a:lnSpc>
                          <a:spcPct val="100000"/>
                        </a:lnSpc>
                        <a:spcBef>
                          <a:spcPts val="0"/>
                        </a:spcBef>
                        <a:spcAft>
                          <a:spcPts val="0"/>
                        </a:spcAft>
                        <a:buClr>
                          <a:srgbClr val="3C3C3B"/>
                        </a:buClr>
                        <a:buSzPts val="900"/>
                        <a:buFont typeface="Arial"/>
                        <a:buChar char="•"/>
                      </a:pPr>
                      <a:r>
                        <a:rPr lang="en-GB" sz="900">
                          <a:solidFill>
                            <a:srgbClr val="3C3C3B"/>
                          </a:solidFill>
                        </a:rPr>
                        <a:t>Sensitive data is encrypted on all platforms and devices </a:t>
                      </a:r>
                      <a:endParaRPr/>
                    </a:p>
                    <a:p>
                      <a:pPr indent="-108000" lvl="0" marL="108000" marR="0" rtl="0" algn="l">
                        <a:lnSpc>
                          <a:spcPct val="100000"/>
                        </a:lnSpc>
                        <a:spcBef>
                          <a:spcPts val="300"/>
                        </a:spcBef>
                        <a:spcAft>
                          <a:spcPts val="0"/>
                        </a:spcAft>
                        <a:buClr>
                          <a:srgbClr val="3C3C3B"/>
                        </a:buClr>
                        <a:buSzPts val="900"/>
                        <a:buFont typeface="Arial"/>
                        <a:buChar char="•"/>
                      </a:pPr>
                      <a:r>
                        <a:rPr lang="en-GB" sz="900">
                          <a:solidFill>
                            <a:srgbClr val="3C3C3B"/>
                          </a:solidFill>
                        </a:rPr>
                        <a:t>Periodic and frequent audits along with employee training are conducted to maintain vigilance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823" name="Google Shape;9823;p56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Physical Controls </a:t>
            </a:r>
            <a:endParaRPr sz="1600"/>
          </a:p>
        </p:txBody>
      </p:sp>
      <p:grpSp>
        <p:nvGrpSpPr>
          <p:cNvPr id="9824" name="Google Shape;9824;p562"/>
          <p:cNvGrpSpPr/>
          <p:nvPr/>
        </p:nvGrpSpPr>
        <p:grpSpPr>
          <a:xfrm>
            <a:off x="7717533" y="4360377"/>
            <a:ext cx="1058348" cy="347375"/>
            <a:chOff x="7651698" y="4287227"/>
            <a:chExt cx="1058348" cy="347375"/>
          </a:xfrm>
        </p:grpSpPr>
        <p:grpSp>
          <p:nvGrpSpPr>
            <p:cNvPr id="9825" name="Google Shape;9825;p562"/>
            <p:cNvGrpSpPr/>
            <p:nvPr/>
          </p:nvGrpSpPr>
          <p:grpSpPr>
            <a:xfrm>
              <a:off x="7714163" y="4337598"/>
              <a:ext cx="995883" cy="297004"/>
              <a:chOff x="7711013" y="3986494"/>
              <a:chExt cx="995883" cy="297004"/>
            </a:xfrm>
          </p:grpSpPr>
          <p:sp>
            <p:nvSpPr>
              <p:cNvPr id="9826" name="Google Shape;9826;p56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827" name="Google Shape;9827;p562"/>
              <p:cNvGrpSpPr/>
              <p:nvPr/>
            </p:nvGrpSpPr>
            <p:grpSpPr>
              <a:xfrm>
                <a:off x="7711013" y="4002615"/>
                <a:ext cx="281520" cy="241973"/>
                <a:chOff x="5652748" y="4066000"/>
                <a:chExt cx="906498" cy="747974"/>
              </a:xfrm>
            </p:grpSpPr>
            <p:sp>
              <p:nvSpPr>
                <p:cNvPr id="9828" name="Google Shape;9828;p56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829" name="Google Shape;9829;p56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830" name="Google Shape;9830;p56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831" name="Google Shape;9831;p562"/>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832" name="Google Shape;9832;p562"/>
          <p:cNvPicPr preferRelativeResize="0"/>
          <p:nvPr/>
        </p:nvPicPr>
        <p:blipFill rotWithShape="1">
          <a:blip r:embed="rId3">
            <a:alphaModFix/>
          </a:blip>
          <a:srcRect b="0" l="0" r="0" t="0"/>
          <a:stretch/>
        </p:blipFill>
        <p:spPr>
          <a:xfrm>
            <a:off x="6734175" y="195327"/>
            <a:ext cx="2409825" cy="1649348"/>
          </a:xfrm>
          <a:prstGeom prst="rect">
            <a:avLst/>
          </a:prstGeom>
          <a:noFill/>
          <a:ln>
            <a:noFill/>
          </a:ln>
        </p:spPr>
      </p:pic>
      <p:sp>
        <p:nvSpPr>
          <p:cNvPr id="9833" name="Google Shape;9833;p562">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58" name="Shape 9858"/>
        <p:cNvGrpSpPr/>
        <p:nvPr/>
      </p:nvGrpSpPr>
      <p:grpSpPr>
        <a:xfrm>
          <a:off x="0" y="0"/>
          <a:ext cx="0" cy="0"/>
          <a:chOff x="0" y="0"/>
          <a:chExt cx="0" cy="0"/>
        </a:xfrm>
      </p:grpSpPr>
      <p:cxnSp>
        <p:nvCxnSpPr>
          <p:cNvPr id="9859" name="Google Shape;9859;p56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60" name="Google Shape;9860;p56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61" name="Google Shape;9861;p56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862" name="Google Shape;9862;p56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863" name="Google Shape;9863;p56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864" name="Google Shape;9864;p56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865" name="Google Shape;9865;p56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866" name="Google Shape;9866;p56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867" name="Google Shape;9867;p56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868" name="Google Shape;9868;p56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869" name="Google Shape;9869;p56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870" name="Google Shape;9870;p56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871" name="Google Shape;9871;p56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
        <p:nvSpPr>
          <p:cNvPr id="9872" name="Google Shape;9872;p56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873" name="Google Shape;9873;p56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Real-time Threat Detection and Mitigation</a:t>
            </a:r>
            <a:endParaRPr sz="2400"/>
          </a:p>
        </p:txBody>
      </p:sp>
    </p:spTree>
  </p:cSld>
  <p:clrMapOvr>
    <a:masterClrMapping/>
  </p:clrMapOvr>
</p:sld>
</file>

<file path=ppt/slides/slide5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78" name="Shape 9878"/>
        <p:cNvGrpSpPr/>
        <p:nvPr/>
      </p:nvGrpSpPr>
      <p:grpSpPr>
        <a:xfrm>
          <a:off x="0" y="0"/>
          <a:ext cx="0" cy="0"/>
          <a:chOff x="0" y="0"/>
          <a:chExt cx="0" cy="0"/>
        </a:xfrm>
      </p:grpSpPr>
      <p:cxnSp>
        <p:nvCxnSpPr>
          <p:cNvPr id="9879" name="Google Shape;9879;p56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80" name="Google Shape;9880;p56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81" name="Google Shape;9881;p56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882" name="Google Shape;9882;p56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883" name="Google Shape;9883;p56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884" name="Google Shape;9884;p56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885" name="Google Shape;9885;p56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886" name="Google Shape;9886;p56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887" name="Google Shape;9887;p56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888" name="Google Shape;9888;p56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889" name="Google Shape;9889;p56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890" name="Google Shape;9890;p56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891" name="Google Shape;9891;p566"/>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892" name="Google Shape;9892;p566"/>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Intelligent Fraud Risk Assessment</a:t>
            </a:r>
            <a:endParaRPr sz="2400"/>
          </a:p>
        </p:txBody>
      </p:sp>
      <p:sp>
        <p:nvSpPr>
          <p:cNvPr id="9893" name="Google Shape;9893;p56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98" name="Shape 9898"/>
        <p:cNvGrpSpPr/>
        <p:nvPr/>
      </p:nvGrpSpPr>
      <p:grpSpPr>
        <a:xfrm>
          <a:off x="0" y="0"/>
          <a:ext cx="0" cy="0"/>
          <a:chOff x="0" y="0"/>
          <a:chExt cx="0" cy="0"/>
        </a:xfrm>
      </p:grpSpPr>
      <p:cxnSp>
        <p:nvCxnSpPr>
          <p:cNvPr id="9899" name="Google Shape;9899;p56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00" name="Google Shape;9900;p56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01" name="Google Shape;9901;p56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02" name="Google Shape;9902;p56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03" name="Google Shape;9903;p56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04" name="Google Shape;9904;p56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05" name="Google Shape;9905;p56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06" name="Google Shape;9906;p56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07" name="Google Shape;9907;p56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08" name="Google Shape;9908;p56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09" name="Google Shape;9909;p56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10" name="Google Shape;9910;p56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11" name="Google Shape;9911;p56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12" name="Google Shape;9912;p56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Fraud Incident Management</a:t>
            </a:r>
            <a:endParaRPr sz="2400"/>
          </a:p>
        </p:txBody>
      </p:sp>
      <p:sp>
        <p:nvSpPr>
          <p:cNvPr id="9913" name="Google Shape;9913;p56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18" name="Shape 9918"/>
        <p:cNvGrpSpPr/>
        <p:nvPr/>
      </p:nvGrpSpPr>
      <p:grpSpPr>
        <a:xfrm>
          <a:off x="0" y="0"/>
          <a:ext cx="0" cy="0"/>
          <a:chOff x="0" y="0"/>
          <a:chExt cx="0" cy="0"/>
        </a:xfrm>
      </p:grpSpPr>
      <p:cxnSp>
        <p:nvCxnSpPr>
          <p:cNvPr id="9919" name="Google Shape;9919;p56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20" name="Google Shape;9920;p56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21" name="Google Shape;9921;p56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22" name="Google Shape;9922;p56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23" name="Google Shape;9923;p56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24" name="Google Shape;9924;p56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25" name="Google Shape;9925;p56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26" name="Google Shape;9926;p56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27" name="Google Shape;9927;p56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28" name="Google Shape;9928;p56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29" name="Google Shape;9929;p56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30" name="Google Shape;9930;p56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31" name="Google Shape;9931;p56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32" name="Google Shape;9932;p56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Fraud Investigations and Forensics</a:t>
            </a:r>
            <a:endParaRPr sz="2400"/>
          </a:p>
        </p:txBody>
      </p:sp>
      <p:sp>
        <p:nvSpPr>
          <p:cNvPr id="9933" name="Google Shape;9933;p5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38" name="Shape 9938"/>
        <p:cNvGrpSpPr/>
        <p:nvPr/>
      </p:nvGrpSpPr>
      <p:grpSpPr>
        <a:xfrm>
          <a:off x="0" y="0"/>
          <a:ext cx="0" cy="0"/>
          <a:chOff x="0" y="0"/>
          <a:chExt cx="0" cy="0"/>
        </a:xfrm>
      </p:grpSpPr>
      <p:cxnSp>
        <p:nvCxnSpPr>
          <p:cNvPr id="9939" name="Google Shape;9939;p56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40" name="Google Shape;9940;p56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41" name="Google Shape;9941;p56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42" name="Google Shape;9942;p56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43" name="Google Shape;9943;p56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44" name="Google Shape;9944;p56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45" name="Google Shape;9945;p56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46" name="Google Shape;9946;p56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47" name="Google Shape;9947;p56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48" name="Google Shape;9948;p56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49" name="Google Shape;9949;p56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50" name="Google Shape;9950;p56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51" name="Google Shape;9951;p56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52" name="Google Shape;9952;p56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and Sizing for Fraud Loss Recovery</a:t>
            </a:r>
            <a:endParaRPr sz="2400"/>
          </a:p>
        </p:txBody>
      </p:sp>
      <p:sp>
        <p:nvSpPr>
          <p:cNvPr id="9953" name="Google Shape;9953;p56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58" name="Shape 9958"/>
        <p:cNvGrpSpPr/>
        <p:nvPr/>
      </p:nvGrpSpPr>
      <p:grpSpPr>
        <a:xfrm>
          <a:off x="0" y="0"/>
          <a:ext cx="0" cy="0"/>
          <a:chOff x="0" y="0"/>
          <a:chExt cx="0" cy="0"/>
        </a:xfrm>
      </p:grpSpPr>
      <p:cxnSp>
        <p:nvCxnSpPr>
          <p:cNvPr id="9959" name="Google Shape;9959;p57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60" name="Google Shape;9960;p57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61" name="Google Shape;9961;p57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62" name="Google Shape;9962;p57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63" name="Google Shape;9963;p57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64" name="Google Shape;9964;p57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65" name="Google Shape;9965;p57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66" name="Google Shape;9966;p57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67" name="Google Shape;9967;p57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68" name="Google Shape;9968;p57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69" name="Google Shape;9969;p57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70" name="Google Shape;9970;p57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71" name="Google Shape;9971;p570"/>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72" name="Google Shape;9972;p570"/>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Fraud Networks</a:t>
            </a:r>
            <a:endParaRPr sz="2400"/>
          </a:p>
        </p:txBody>
      </p:sp>
      <p:sp>
        <p:nvSpPr>
          <p:cNvPr id="9973" name="Google Shape;9973;p57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78" name="Shape 9978"/>
        <p:cNvGrpSpPr/>
        <p:nvPr/>
      </p:nvGrpSpPr>
      <p:grpSpPr>
        <a:xfrm>
          <a:off x="0" y="0"/>
          <a:ext cx="0" cy="0"/>
          <a:chOff x="0" y="0"/>
          <a:chExt cx="0" cy="0"/>
        </a:xfrm>
      </p:grpSpPr>
      <p:cxnSp>
        <p:nvCxnSpPr>
          <p:cNvPr id="9979" name="Google Shape;9979;p57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80" name="Google Shape;9980;p57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81" name="Google Shape;9981;p57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82" name="Google Shape;9982;p57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83" name="Google Shape;9983;p57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84" name="Google Shape;9984;p57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85" name="Google Shape;9985;p57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86" name="Google Shape;9986;p57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87" name="Google Shape;9987;p57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88" name="Google Shape;9988;p57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89" name="Google Shape;9989;p57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90" name="Google Shape;9990;p57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91" name="Google Shape;9991;p57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92" name="Google Shape;9992;p57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Connections Risk – Consumer and B2B Networks</a:t>
            </a:r>
            <a:endParaRPr sz="2400"/>
          </a:p>
        </p:txBody>
      </p:sp>
      <p:sp>
        <p:nvSpPr>
          <p:cNvPr id="9993" name="Google Shape;9993;p57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98" name="Shape 9998"/>
        <p:cNvGrpSpPr/>
        <p:nvPr/>
      </p:nvGrpSpPr>
      <p:grpSpPr>
        <a:xfrm>
          <a:off x="0" y="0"/>
          <a:ext cx="0" cy="0"/>
          <a:chOff x="0" y="0"/>
          <a:chExt cx="0" cy="0"/>
        </a:xfrm>
      </p:grpSpPr>
      <p:cxnSp>
        <p:nvCxnSpPr>
          <p:cNvPr id="9999" name="Google Shape;9999;p57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00" name="Google Shape;10000;p57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01" name="Google Shape;10001;p57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02" name="Google Shape;10002;p57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03" name="Google Shape;10003;p57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04" name="Google Shape;10004;p57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05" name="Google Shape;10005;p57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06" name="Google Shape;10006;p57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07" name="Google Shape;10007;p57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08" name="Google Shape;10008;p57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09" name="Google Shape;10009;p57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10" name="Google Shape;10010;p57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11" name="Google Shape;10011;p57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12" name="Google Shape;10012;p57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False Positive Detection</a:t>
            </a:r>
            <a:endParaRPr sz="2400"/>
          </a:p>
        </p:txBody>
      </p:sp>
      <p:sp>
        <p:nvSpPr>
          <p:cNvPr id="10013" name="Google Shape;10013;p57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18" name="Shape 10018"/>
        <p:cNvGrpSpPr/>
        <p:nvPr/>
      </p:nvGrpSpPr>
      <p:grpSpPr>
        <a:xfrm>
          <a:off x="0" y="0"/>
          <a:ext cx="0" cy="0"/>
          <a:chOff x="0" y="0"/>
          <a:chExt cx="0" cy="0"/>
        </a:xfrm>
      </p:grpSpPr>
      <p:cxnSp>
        <p:nvCxnSpPr>
          <p:cNvPr id="10019" name="Google Shape;10019;p57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20" name="Google Shape;10020;p57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21" name="Google Shape;10021;p57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22" name="Google Shape;10022;p57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23" name="Google Shape;10023;p57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24" name="Google Shape;10024;p57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25" name="Google Shape;10025;p57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26" name="Google Shape;10026;p57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27" name="Google Shape;10027;p57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28" name="Google Shape;10028;p57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29" name="Google Shape;10029;p57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30" name="Google Shape;10030;p57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31" name="Google Shape;10031;p57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32" name="Google Shape;10032;p57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Fraud Flag Automation</a:t>
            </a:r>
            <a:endParaRPr sz="2400"/>
          </a:p>
        </p:txBody>
      </p:sp>
      <p:sp>
        <p:nvSpPr>
          <p:cNvPr id="10033" name="Google Shape;10033;p57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38" name="Shape 10038"/>
        <p:cNvGrpSpPr/>
        <p:nvPr/>
      </p:nvGrpSpPr>
      <p:grpSpPr>
        <a:xfrm>
          <a:off x="0" y="0"/>
          <a:ext cx="0" cy="0"/>
          <a:chOff x="0" y="0"/>
          <a:chExt cx="0" cy="0"/>
        </a:xfrm>
      </p:grpSpPr>
      <p:cxnSp>
        <p:nvCxnSpPr>
          <p:cNvPr id="10039" name="Google Shape;10039;p57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40" name="Google Shape;10040;p57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41" name="Google Shape;10041;p57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42" name="Google Shape;10042;p57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43" name="Google Shape;10043;p57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44" name="Google Shape;10044;p57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45" name="Google Shape;10045;p57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46" name="Google Shape;10046;p57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47" name="Google Shape;10047;p57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48" name="Google Shape;10048;p57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49" name="Google Shape;10049;p57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50" name="Google Shape;10050;p57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51" name="Google Shape;10051;p57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52" name="Google Shape;10052;p57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Path to Fraud</a:t>
            </a:r>
            <a:endParaRPr sz="2400"/>
          </a:p>
        </p:txBody>
      </p:sp>
      <p:sp>
        <p:nvSpPr>
          <p:cNvPr id="10053" name="Google Shape;10053;p5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58" name="Shape 10058"/>
        <p:cNvGrpSpPr/>
        <p:nvPr/>
      </p:nvGrpSpPr>
      <p:grpSpPr>
        <a:xfrm>
          <a:off x="0" y="0"/>
          <a:ext cx="0" cy="0"/>
          <a:chOff x="0" y="0"/>
          <a:chExt cx="0" cy="0"/>
        </a:xfrm>
      </p:grpSpPr>
      <p:cxnSp>
        <p:nvCxnSpPr>
          <p:cNvPr id="10059" name="Google Shape;10059;p57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60" name="Google Shape;10060;p57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61" name="Google Shape;10061;p57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62" name="Google Shape;10062;p57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63" name="Google Shape;10063;p57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64" name="Google Shape;10064;p57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65" name="Google Shape;10065;p57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66" name="Google Shape;10066;p57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67" name="Google Shape;10067;p57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68" name="Google Shape;10068;p57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69" name="Google Shape;10069;p57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70" name="Google Shape;10070;p57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71" name="Google Shape;10071;p57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72" name="Google Shape;10072;p57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Insurance Broker Fraud</a:t>
            </a:r>
            <a:endParaRPr sz="2400"/>
          </a:p>
        </p:txBody>
      </p:sp>
      <p:sp>
        <p:nvSpPr>
          <p:cNvPr id="10073" name="Google Shape;10073;p57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78" name="Shape 10078"/>
        <p:cNvGrpSpPr/>
        <p:nvPr/>
      </p:nvGrpSpPr>
      <p:grpSpPr>
        <a:xfrm>
          <a:off x="0" y="0"/>
          <a:ext cx="0" cy="0"/>
          <a:chOff x="0" y="0"/>
          <a:chExt cx="0" cy="0"/>
        </a:xfrm>
      </p:grpSpPr>
      <p:cxnSp>
        <p:nvCxnSpPr>
          <p:cNvPr id="10079" name="Google Shape;10079;p57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80" name="Google Shape;10080;p57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81" name="Google Shape;10081;p57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82" name="Google Shape;10082;p57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83" name="Google Shape;10083;p57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84" name="Google Shape;10084;p57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85" name="Google Shape;10085;p57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86" name="Google Shape;10086;p57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87" name="Google Shape;10087;p57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88" name="Google Shape;10088;p57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89" name="Google Shape;10089;p57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90" name="Google Shape;10090;p57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91" name="Google Shape;10091;p576"/>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92" name="Google Shape;10092;p576"/>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Undisclosed Commission</a:t>
            </a:r>
            <a:endParaRPr sz="2400"/>
          </a:p>
        </p:txBody>
      </p:sp>
      <p:sp>
        <p:nvSpPr>
          <p:cNvPr id="10093" name="Google Shape;10093;p57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98" name="Shape 10098"/>
        <p:cNvGrpSpPr/>
        <p:nvPr/>
      </p:nvGrpSpPr>
      <p:grpSpPr>
        <a:xfrm>
          <a:off x="0" y="0"/>
          <a:ext cx="0" cy="0"/>
          <a:chOff x="0" y="0"/>
          <a:chExt cx="0" cy="0"/>
        </a:xfrm>
      </p:grpSpPr>
      <p:cxnSp>
        <p:nvCxnSpPr>
          <p:cNvPr id="10099" name="Google Shape;10099;p57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00" name="Google Shape;10100;p57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01" name="Google Shape;10101;p57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02" name="Google Shape;10102;p57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03" name="Google Shape;10103;p57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04" name="Google Shape;10104;p57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05" name="Google Shape;10105;p57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06" name="Google Shape;10106;p57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07" name="Google Shape;10107;p57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08" name="Google Shape;10108;p57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09" name="Google Shape;10109;p57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10" name="Google Shape;10110;p57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11" name="Google Shape;10111;p57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12" name="Google Shape;10112;p57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“Internal Fraud Detection”</a:t>
            </a:r>
            <a:endParaRPr sz="2400"/>
          </a:p>
        </p:txBody>
      </p:sp>
      <p:sp>
        <p:nvSpPr>
          <p:cNvPr id="10113" name="Google Shape;10113;p5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18" name="Shape 10118"/>
        <p:cNvGrpSpPr/>
        <p:nvPr/>
      </p:nvGrpSpPr>
      <p:grpSpPr>
        <a:xfrm>
          <a:off x="0" y="0"/>
          <a:ext cx="0" cy="0"/>
          <a:chOff x="0" y="0"/>
          <a:chExt cx="0" cy="0"/>
        </a:xfrm>
      </p:grpSpPr>
      <p:cxnSp>
        <p:nvCxnSpPr>
          <p:cNvPr id="10119" name="Google Shape;10119;p57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20" name="Google Shape;10120;p57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21" name="Google Shape;10121;p57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22" name="Google Shape;10122;p57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23" name="Google Shape;10123;p57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24" name="Google Shape;10124;p57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25" name="Google Shape;10125;p57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26" name="Google Shape;10126;p57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27" name="Google Shape;10127;p57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28" name="Google Shape;10128;p57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29" name="Google Shape;10129;p57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30" name="Google Shape;10130;p57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31" name="Google Shape;10131;p57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32" name="Google Shape;10132;p57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Loyalty Card / Member Fraud</a:t>
            </a:r>
            <a:endParaRPr sz="2400"/>
          </a:p>
        </p:txBody>
      </p:sp>
      <p:sp>
        <p:nvSpPr>
          <p:cNvPr id="10133" name="Google Shape;10133;p5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38" name="Shape 10138"/>
        <p:cNvGrpSpPr/>
        <p:nvPr/>
      </p:nvGrpSpPr>
      <p:grpSpPr>
        <a:xfrm>
          <a:off x="0" y="0"/>
          <a:ext cx="0" cy="0"/>
          <a:chOff x="0" y="0"/>
          <a:chExt cx="0" cy="0"/>
        </a:xfrm>
      </p:grpSpPr>
      <p:cxnSp>
        <p:nvCxnSpPr>
          <p:cNvPr id="10139" name="Google Shape;10139;p57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40" name="Google Shape;10140;p57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41" name="Google Shape;10141;p57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42" name="Google Shape;10142;p57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43" name="Google Shape;10143;p57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44" name="Google Shape;10144;p57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45" name="Google Shape;10145;p57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46" name="Google Shape;10146;p57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47" name="Google Shape;10147;p57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48" name="Google Shape;10148;p57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49" name="Google Shape;10149;p57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50" name="Google Shape;10150;p57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51" name="Google Shape;10151;p57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52" name="Google Shape;10152;p57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Insider Trading</a:t>
            </a:r>
            <a:endParaRPr sz="2400"/>
          </a:p>
        </p:txBody>
      </p:sp>
      <p:sp>
        <p:nvSpPr>
          <p:cNvPr id="10153" name="Google Shape;10153;p57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58" name="Shape 10158"/>
        <p:cNvGrpSpPr/>
        <p:nvPr/>
      </p:nvGrpSpPr>
      <p:grpSpPr>
        <a:xfrm>
          <a:off x="0" y="0"/>
          <a:ext cx="0" cy="0"/>
          <a:chOff x="0" y="0"/>
          <a:chExt cx="0" cy="0"/>
        </a:xfrm>
      </p:grpSpPr>
      <p:cxnSp>
        <p:nvCxnSpPr>
          <p:cNvPr id="10159" name="Google Shape;10159;p58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60" name="Google Shape;10160;p58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61" name="Google Shape;10161;p58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62" name="Google Shape;10162;p58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63" name="Google Shape;10163;p58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64" name="Google Shape;10164;p58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65" name="Google Shape;10165;p58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66" name="Google Shape;10166;p58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67" name="Google Shape;10167;p58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68" name="Google Shape;10168;p58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69" name="Google Shape;10169;p58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70" name="Google Shape;10170;p58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71" name="Google Shape;10171;p580"/>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72" name="Google Shape;10172;p580"/>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Document Fraud</a:t>
            </a:r>
            <a:endParaRPr sz="2400"/>
          </a:p>
        </p:txBody>
      </p:sp>
      <p:sp>
        <p:nvSpPr>
          <p:cNvPr id="10173" name="Google Shape;10173;p58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78" name="Shape 10178"/>
        <p:cNvGrpSpPr/>
        <p:nvPr/>
      </p:nvGrpSpPr>
      <p:grpSpPr>
        <a:xfrm>
          <a:off x="0" y="0"/>
          <a:ext cx="0" cy="0"/>
          <a:chOff x="0" y="0"/>
          <a:chExt cx="0" cy="0"/>
        </a:xfrm>
      </p:grpSpPr>
      <p:cxnSp>
        <p:nvCxnSpPr>
          <p:cNvPr id="10179" name="Google Shape;10179;p58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80" name="Google Shape;10180;p58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81" name="Google Shape;10181;p58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82" name="Google Shape;10182;p58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83" name="Google Shape;10183;p58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84" name="Google Shape;10184;p58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85" name="Google Shape;10185;p58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86" name="Google Shape;10186;p58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87" name="Google Shape;10187;p58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88" name="Google Shape;10188;p58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89" name="Google Shape;10189;p58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90" name="Google Shape;10190;p58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91" name="Google Shape;10191;p58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92" name="Google Shape;10192;p58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Manipulation of Marketing Spend</a:t>
            </a:r>
            <a:endParaRPr sz="2400"/>
          </a:p>
        </p:txBody>
      </p:sp>
      <p:sp>
        <p:nvSpPr>
          <p:cNvPr id="10193" name="Google Shape;10193;p58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98" name="Shape 10198"/>
        <p:cNvGrpSpPr/>
        <p:nvPr/>
      </p:nvGrpSpPr>
      <p:grpSpPr>
        <a:xfrm>
          <a:off x="0" y="0"/>
          <a:ext cx="0" cy="0"/>
          <a:chOff x="0" y="0"/>
          <a:chExt cx="0" cy="0"/>
        </a:xfrm>
      </p:grpSpPr>
      <p:cxnSp>
        <p:nvCxnSpPr>
          <p:cNvPr id="10199" name="Google Shape;10199;p58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00" name="Google Shape;10200;p58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01" name="Google Shape;10201;p58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02" name="Google Shape;10202;p58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03" name="Google Shape;10203;p58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04" name="Google Shape;10204;p58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05" name="Google Shape;10205;p58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06" name="Google Shape;10206;p58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07" name="Google Shape;10207;p58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08" name="Google Shape;10208;p58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09" name="Google Shape;10209;p58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10" name="Google Shape;10210;p58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11" name="Google Shape;10211;p58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12" name="Google Shape;10212;p58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Staff Fraud (Internal Process Audit)</a:t>
            </a:r>
            <a:endParaRPr sz="2400"/>
          </a:p>
        </p:txBody>
      </p:sp>
      <p:sp>
        <p:nvSpPr>
          <p:cNvPr id="10213" name="Google Shape;10213;p58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18" name="Shape 10218"/>
        <p:cNvGrpSpPr/>
        <p:nvPr/>
      </p:nvGrpSpPr>
      <p:grpSpPr>
        <a:xfrm>
          <a:off x="0" y="0"/>
          <a:ext cx="0" cy="0"/>
          <a:chOff x="0" y="0"/>
          <a:chExt cx="0" cy="0"/>
        </a:xfrm>
      </p:grpSpPr>
      <p:cxnSp>
        <p:nvCxnSpPr>
          <p:cNvPr id="10219" name="Google Shape;10219;p58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20" name="Google Shape;10220;p58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21" name="Google Shape;10221;p58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22" name="Google Shape;10222;p58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23" name="Google Shape;10223;p58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24" name="Google Shape;10224;p58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25" name="Google Shape;10225;p58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26" name="Google Shape;10226;p58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27" name="Google Shape;10227;p58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28" name="Google Shape;10228;p58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29" name="Google Shape;10229;p58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30" name="Google Shape;10230;p58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31" name="Google Shape;10231;p58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32" name="Google Shape;10232;p58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Insider Threat Identification</a:t>
            </a:r>
            <a:endParaRPr sz="2400"/>
          </a:p>
        </p:txBody>
      </p:sp>
      <p:sp>
        <p:nvSpPr>
          <p:cNvPr id="10233" name="Google Shape;10233;p58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38" name="Shape 10238"/>
        <p:cNvGrpSpPr/>
        <p:nvPr/>
      </p:nvGrpSpPr>
      <p:grpSpPr>
        <a:xfrm>
          <a:off x="0" y="0"/>
          <a:ext cx="0" cy="0"/>
          <a:chOff x="0" y="0"/>
          <a:chExt cx="0" cy="0"/>
        </a:xfrm>
      </p:grpSpPr>
      <p:cxnSp>
        <p:nvCxnSpPr>
          <p:cNvPr id="10239" name="Google Shape;10239;p58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40" name="Google Shape;10240;p58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41" name="Google Shape;10241;p58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42" name="Google Shape;10242;p58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43" name="Google Shape;10243;p58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44" name="Google Shape;10244;p58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45" name="Google Shape;10245;p58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46" name="Google Shape;10246;p58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47" name="Google Shape;10247;p58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48" name="Google Shape;10248;p58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49" name="Google Shape;10249;p58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50" name="Google Shape;10250;p58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51" name="Google Shape;10251;p58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52" name="Google Shape;10252;p58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Time and Expense Reporting</a:t>
            </a:r>
            <a:endParaRPr sz="2400"/>
          </a:p>
        </p:txBody>
      </p:sp>
      <p:sp>
        <p:nvSpPr>
          <p:cNvPr id="10253" name="Google Shape;10253;p5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58" name="Shape 10258"/>
        <p:cNvGrpSpPr/>
        <p:nvPr/>
      </p:nvGrpSpPr>
      <p:grpSpPr>
        <a:xfrm>
          <a:off x="0" y="0"/>
          <a:ext cx="0" cy="0"/>
          <a:chOff x="0" y="0"/>
          <a:chExt cx="0" cy="0"/>
        </a:xfrm>
      </p:grpSpPr>
      <p:cxnSp>
        <p:nvCxnSpPr>
          <p:cNvPr id="10259" name="Google Shape;10259;p58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60" name="Google Shape;10260;p58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61" name="Google Shape;10261;p58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62" name="Google Shape;10262;p58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63" name="Google Shape;10263;p58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64" name="Google Shape;10264;p58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65" name="Google Shape;10265;p58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66" name="Google Shape;10266;p58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67" name="Google Shape;10267;p58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68" name="Google Shape;10268;p58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69" name="Google Shape;10269;p58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70" name="Google Shape;10270;p58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71" name="Google Shape;10271;p58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72" name="Google Shape;10272;p58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Worker’s Compensation</a:t>
            </a:r>
            <a:endParaRPr sz="2400"/>
          </a:p>
        </p:txBody>
      </p:sp>
      <p:sp>
        <p:nvSpPr>
          <p:cNvPr id="10273" name="Google Shape;10273;p58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78" name="Shape 10278"/>
        <p:cNvGrpSpPr/>
        <p:nvPr/>
      </p:nvGrpSpPr>
      <p:grpSpPr>
        <a:xfrm>
          <a:off x="0" y="0"/>
          <a:ext cx="0" cy="0"/>
          <a:chOff x="0" y="0"/>
          <a:chExt cx="0" cy="0"/>
        </a:xfrm>
      </p:grpSpPr>
      <p:cxnSp>
        <p:nvCxnSpPr>
          <p:cNvPr id="10279" name="Google Shape;10279;p58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80" name="Google Shape;10280;p58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81" name="Google Shape;10281;p58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82" name="Google Shape;10282;p58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83" name="Google Shape;10283;p58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84" name="Google Shape;10284;p58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85" name="Google Shape;10285;p58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86" name="Google Shape;10286;p58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87" name="Google Shape;10287;p58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88" name="Google Shape;10288;p58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89" name="Google Shape;10289;p58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90" name="Google Shape;10290;p58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91" name="Google Shape;10291;p586"/>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92" name="Google Shape;10292;p586"/>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Data Leakage - Exfiltration</a:t>
            </a:r>
            <a:endParaRPr sz="2400"/>
          </a:p>
        </p:txBody>
      </p:sp>
      <p:sp>
        <p:nvSpPr>
          <p:cNvPr id="10293" name="Google Shape;10293;p5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98" name="Shape 10298"/>
        <p:cNvGrpSpPr/>
        <p:nvPr/>
      </p:nvGrpSpPr>
      <p:grpSpPr>
        <a:xfrm>
          <a:off x="0" y="0"/>
          <a:ext cx="0" cy="0"/>
          <a:chOff x="0" y="0"/>
          <a:chExt cx="0" cy="0"/>
        </a:xfrm>
      </p:grpSpPr>
      <p:cxnSp>
        <p:nvCxnSpPr>
          <p:cNvPr id="10299" name="Google Shape;10299;p58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00" name="Google Shape;10300;p58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01" name="Google Shape;10301;p58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302" name="Google Shape;10302;p58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03" name="Google Shape;10303;p58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04" name="Google Shape;10304;p58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305" name="Google Shape;10305;p58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06" name="Google Shape;10306;p58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07" name="Google Shape;10307;p58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308" name="Google Shape;10308;p58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09" name="Google Shape;10309;p58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10" name="Google Shape;10310;p58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311" name="Google Shape;10311;p58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12" name="Google Shape;10312;p58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Early Detection of Fraud</a:t>
            </a:r>
            <a:endParaRPr sz="2400"/>
          </a:p>
        </p:txBody>
      </p:sp>
      <p:sp>
        <p:nvSpPr>
          <p:cNvPr id="10313" name="Google Shape;10313;p5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18" name="Shape 10318"/>
        <p:cNvGrpSpPr/>
        <p:nvPr/>
      </p:nvGrpSpPr>
      <p:grpSpPr>
        <a:xfrm>
          <a:off x="0" y="0"/>
          <a:ext cx="0" cy="0"/>
          <a:chOff x="0" y="0"/>
          <a:chExt cx="0" cy="0"/>
        </a:xfrm>
      </p:grpSpPr>
      <p:cxnSp>
        <p:nvCxnSpPr>
          <p:cNvPr id="10319" name="Google Shape;10319;p58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20" name="Google Shape;10320;p58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21" name="Google Shape;10321;p58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322" name="Google Shape;10322;p58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23" name="Google Shape;10323;p58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24" name="Google Shape;10324;p58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325" name="Google Shape;10325;p58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26" name="Google Shape;10326;p58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27" name="Google Shape;10327;p58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328" name="Google Shape;10328;p58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29" name="Google Shape;10329;p58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30" name="Google Shape;10330;p58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331" name="Google Shape;10331;p58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32" name="Google Shape;10332;p58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Merchant or ATM System Compromise</a:t>
            </a:r>
            <a:endParaRPr sz="2400"/>
          </a:p>
        </p:txBody>
      </p:sp>
      <p:sp>
        <p:nvSpPr>
          <p:cNvPr id="10333" name="Google Shape;10333;p5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38" name="Shape 10338"/>
        <p:cNvGrpSpPr/>
        <p:nvPr/>
      </p:nvGrpSpPr>
      <p:grpSpPr>
        <a:xfrm>
          <a:off x="0" y="0"/>
          <a:ext cx="0" cy="0"/>
          <a:chOff x="0" y="0"/>
          <a:chExt cx="0" cy="0"/>
        </a:xfrm>
      </p:grpSpPr>
      <p:cxnSp>
        <p:nvCxnSpPr>
          <p:cNvPr id="10339" name="Google Shape;10339;p58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40" name="Google Shape;10340;p58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41" name="Google Shape;10341;p58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342" name="Google Shape;10342;p58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43" name="Google Shape;10343;p58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44" name="Google Shape;10344;p58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345" name="Google Shape;10345;p58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46" name="Google Shape;10346;p58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47" name="Google Shape;10347;p58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348" name="Google Shape;10348;p58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49" name="Google Shape;10349;p58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50" name="Google Shape;10350;p58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351" name="Google Shape;10351;p58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52" name="Google Shape;10352;p58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Application Fraud (Loan)</a:t>
            </a:r>
            <a:endParaRPr sz="2400"/>
          </a:p>
        </p:txBody>
      </p:sp>
      <p:sp>
        <p:nvSpPr>
          <p:cNvPr id="10353" name="Google Shape;10353;p5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58" name="Shape 10358"/>
        <p:cNvGrpSpPr/>
        <p:nvPr/>
      </p:nvGrpSpPr>
      <p:grpSpPr>
        <a:xfrm>
          <a:off x="0" y="0"/>
          <a:ext cx="0" cy="0"/>
          <a:chOff x="0" y="0"/>
          <a:chExt cx="0" cy="0"/>
        </a:xfrm>
      </p:grpSpPr>
      <p:cxnSp>
        <p:nvCxnSpPr>
          <p:cNvPr id="10359" name="Google Shape;10359;p59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60" name="Google Shape;10360;p59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61" name="Google Shape;10361;p59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0362" name="Google Shape;10362;p59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63" name="Google Shape;10363;p59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React quickly on Fraud happening just after any new subscription to reduce revenue loss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internal and external potential Fraudsters impacting business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64" name="Google Shape;10364;p59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Help to detect and limit amount of payment which can be made through a credit card, as well as monitor the payments of multiple bills using the same credit card number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65" name="Google Shape;10365;p59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 initial list of potential Fraudsters for validation by the Fraud team</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Confirmation of new Fraudsters detected</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66" name="Google Shape;10366;p59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Discovery process based on 3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Initial analysis based on default KPIs (28)</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Initial insights used to define key dimensions and KPIs for further analysis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67" name="Google Shape;10367;p59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Iterative process requiring strong involvement of customer Fraud team on initial insights (analysis/validation of initial outliers, selected KPIs,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Definition of the propensity score requires several passes and validation</a:t>
            </a:r>
            <a:endParaRPr/>
          </a:p>
        </p:txBody>
      </p:sp>
      <p:sp>
        <p:nvSpPr>
          <p:cNvPr id="10368" name="Google Shape;10368;p59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Details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Daily Activation Report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CDRs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69" name="Google Shape;10369;p59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Credit Card Fraud occurs when someone uses a credit card as a fraudulent source of funds in a transaction to obtain goods without paying or to obtain unauthorized funds from an account.</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Original card holder receives their bill and notices the charges, they’ll typically dispute the charges and refuse to pay.</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70" name="Google Shape;10370;p59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ICs: Jon Penrose, L. Laisney</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0371" name="Google Shape;10371;p59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72" name="Google Shape;10372;p59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and Payment Fraud</a:t>
            </a:r>
            <a:endParaRPr sz="2400"/>
          </a:p>
        </p:txBody>
      </p:sp>
      <p:sp>
        <p:nvSpPr>
          <p:cNvPr id="10373" name="Google Shape;10373;p5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98" name="Shape 10398"/>
        <p:cNvGrpSpPr/>
        <p:nvPr/>
      </p:nvGrpSpPr>
      <p:grpSpPr>
        <a:xfrm>
          <a:off x="0" y="0"/>
          <a:ext cx="0" cy="0"/>
          <a:chOff x="0" y="0"/>
          <a:chExt cx="0" cy="0"/>
        </a:xfrm>
      </p:grpSpPr>
      <p:cxnSp>
        <p:nvCxnSpPr>
          <p:cNvPr id="10399" name="Google Shape;10399;p59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00" name="Google Shape;10400;p59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01" name="Google Shape;10401;p59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02" name="Google Shape;10402;p59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03" name="Google Shape;10403;p59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04" name="Google Shape;10404;p59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05" name="Google Shape;10405;p59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06" name="Google Shape;10406;p59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07" name="Google Shape;10407;p59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08" name="Google Shape;10408;p59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09" name="Google Shape;10409;p59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10" name="Google Shape;10410;p59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11" name="Google Shape;10411;p59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12" name="Google Shape;10412;p59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Provider and Supplier Fraud</a:t>
            </a:r>
            <a:endParaRPr sz="2400"/>
          </a:p>
        </p:txBody>
      </p:sp>
      <p:sp>
        <p:nvSpPr>
          <p:cNvPr id="10413" name="Google Shape;10413;p5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18" name="Shape 10418"/>
        <p:cNvGrpSpPr/>
        <p:nvPr/>
      </p:nvGrpSpPr>
      <p:grpSpPr>
        <a:xfrm>
          <a:off x="0" y="0"/>
          <a:ext cx="0" cy="0"/>
          <a:chOff x="0" y="0"/>
          <a:chExt cx="0" cy="0"/>
        </a:xfrm>
      </p:grpSpPr>
      <p:cxnSp>
        <p:nvCxnSpPr>
          <p:cNvPr id="10419" name="Google Shape;10419;p59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20" name="Google Shape;10420;p59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21" name="Google Shape;10421;p59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22" name="Google Shape;10422;p59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23" name="Google Shape;10423;p59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24" name="Google Shape;10424;p59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25" name="Google Shape;10425;p59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26" name="Google Shape;10426;p59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27" name="Google Shape;10427;p59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28" name="Google Shape;10428;p59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29" name="Google Shape;10429;p59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30" name="Google Shape;10430;p59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31" name="Google Shape;10431;p59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32" name="Google Shape;10432;p59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Payment Fraud – Synthetic Identity</a:t>
            </a:r>
            <a:endParaRPr sz="2400"/>
          </a:p>
        </p:txBody>
      </p:sp>
      <p:sp>
        <p:nvSpPr>
          <p:cNvPr id="10433" name="Google Shape;10433;p59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38" name="Shape 10438"/>
        <p:cNvGrpSpPr/>
        <p:nvPr/>
      </p:nvGrpSpPr>
      <p:grpSpPr>
        <a:xfrm>
          <a:off x="0" y="0"/>
          <a:ext cx="0" cy="0"/>
          <a:chOff x="0" y="0"/>
          <a:chExt cx="0" cy="0"/>
        </a:xfrm>
      </p:grpSpPr>
      <p:cxnSp>
        <p:nvCxnSpPr>
          <p:cNvPr id="10439" name="Google Shape;10439;p59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40" name="Google Shape;10440;p59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41" name="Google Shape;10441;p59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42" name="Google Shape;10442;p59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43" name="Google Shape;10443;p59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44" name="Google Shape;10444;p59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45" name="Google Shape;10445;p59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46" name="Google Shape;10446;p59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47" name="Google Shape;10447;p59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48" name="Google Shape;10448;p59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49" name="Google Shape;10449;p59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50" name="Google Shape;10450;p59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51" name="Google Shape;10451;p59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52" name="Google Shape;10452;p59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Account Takeover Fraud Detection</a:t>
            </a:r>
            <a:endParaRPr sz="2400"/>
          </a:p>
        </p:txBody>
      </p:sp>
      <p:sp>
        <p:nvSpPr>
          <p:cNvPr id="10453" name="Google Shape;10453;p5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58" name="Shape 10458"/>
        <p:cNvGrpSpPr/>
        <p:nvPr/>
      </p:nvGrpSpPr>
      <p:grpSpPr>
        <a:xfrm>
          <a:off x="0" y="0"/>
          <a:ext cx="0" cy="0"/>
          <a:chOff x="0" y="0"/>
          <a:chExt cx="0" cy="0"/>
        </a:xfrm>
      </p:grpSpPr>
      <p:cxnSp>
        <p:nvCxnSpPr>
          <p:cNvPr id="10459" name="Google Shape;10459;p59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60" name="Google Shape;10460;p59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61" name="Google Shape;10461;p59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62" name="Google Shape;10462;p59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63" name="Google Shape;10463;p59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64" name="Google Shape;10464;p59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65" name="Google Shape;10465;p59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66" name="Google Shape;10466;p59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67" name="Google Shape;10467;p59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68" name="Google Shape;10468;p59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69" name="Google Shape;10469;p59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70" name="Google Shape;10470;p59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71" name="Google Shape;10471;p59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72" name="Google Shape;10472;p59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Identity Fraud Insights</a:t>
            </a:r>
            <a:endParaRPr sz="2400"/>
          </a:p>
        </p:txBody>
      </p:sp>
      <p:sp>
        <p:nvSpPr>
          <p:cNvPr id="10473" name="Google Shape;10473;p59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78" name="Shape 10478"/>
        <p:cNvGrpSpPr/>
        <p:nvPr/>
      </p:nvGrpSpPr>
      <p:grpSpPr>
        <a:xfrm>
          <a:off x="0" y="0"/>
          <a:ext cx="0" cy="0"/>
          <a:chOff x="0" y="0"/>
          <a:chExt cx="0" cy="0"/>
        </a:xfrm>
      </p:grpSpPr>
      <p:cxnSp>
        <p:nvCxnSpPr>
          <p:cNvPr id="10479" name="Google Shape;10479;p59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80" name="Google Shape;10480;p59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81" name="Google Shape;10481;p59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0482" name="Google Shape;10482;p596"/>
          <p:cNvSpPr/>
          <p:nvPr/>
        </p:nvSpPr>
        <p:spPr>
          <a:xfrm rot="5400000">
            <a:off x="-86832" y="2518301"/>
            <a:ext cx="299641" cy="130284"/>
          </a:xfrm>
          <a:prstGeom prst="triangle">
            <a:avLst>
              <a:gd fmla="val 50000" name="adj"/>
            </a:avLst>
          </a:prstGeom>
          <a:solidFill>
            <a:srgbClr val="FF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83" name="Google Shape;10483;p59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1" marL="108000" marR="0" rtl="0" algn="l">
              <a:lnSpc>
                <a:spcPct val="90000"/>
              </a:lnSpc>
              <a:spcBef>
                <a:spcPts val="5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Reduction in levels of fraud</a:t>
            </a:r>
            <a:endParaRPr/>
          </a:p>
          <a:p>
            <a:pPr indent="-108000" lvl="1" marL="108000" marR="0" rtl="0" algn="l">
              <a:lnSpc>
                <a:spcPct val="90000"/>
              </a:lnSpc>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Increase revenue and profitability</a:t>
            </a:r>
            <a:endParaRPr/>
          </a:p>
          <a:p>
            <a:pPr indent="-108000" lvl="1" marL="108000" marR="0" rtl="0" algn="l">
              <a:lnSpc>
                <a:spcPct val="90000"/>
              </a:lnSpc>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Identify offenders and suspend transaction prior to completion</a:t>
            </a:r>
            <a:endParaRPr b="0" i="0" sz="900" u="none" cap="none" strike="noStrike">
              <a:solidFill>
                <a:schemeClr val="dk1"/>
              </a:solidFill>
              <a:latin typeface="Century Gothic"/>
              <a:ea typeface="Century Gothic"/>
              <a:cs typeface="Century Gothic"/>
              <a:sym typeface="Century Gothic"/>
            </a:endParaRPr>
          </a:p>
        </p:txBody>
      </p:sp>
      <p:sp>
        <p:nvSpPr>
          <p:cNvPr id="10484" name="Google Shape;10484;p59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Suspend transactions if behavior  outside of range of typical behavior  patterns(outliers)</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Trigger contact to the purchases to validate authenticity of the purchasers and intended purchase</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Ability to detect new accounts  set up by existing user</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Ability to detect when someone’s account information has been stolen</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Set purchase limits</a:t>
            </a:r>
            <a:endParaRPr/>
          </a:p>
        </p:txBody>
      </p:sp>
      <p:sp>
        <p:nvSpPr>
          <p:cNvPr id="10485" name="Google Shape;10485;p596"/>
          <p:cNvSpPr/>
          <p:nvPr/>
        </p:nvSpPr>
        <p:spPr>
          <a:xfrm>
            <a:off x="3271845" y="340995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71450" lvl="0" marL="17145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Race Relevant deliverables – in order  for the POV to be done a short period of time the initial scope should be contained to a small subset of the customer base or  for customers intending to purchase certain high theft product / product lines</a:t>
            </a:r>
            <a:endParaRPr/>
          </a:p>
          <a:p>
            <a:pPr indent="-171450" lvl="1" marL="628650" marR="0" rtl="0" algn="l">
              <a:spcBef>
                <a:spcPts val="300"/>
              </a:spcBef>
              <a:spcAft>
                <a:spcPts val="0"/>
              </a:spcAft>
              <a:buClr>
                <a:srgbClr val="3C3C3B"/>
              </a:buClr>
              <a:buSzPts val="700"/>
              <a:buFont typeface="Arial"/>
              <a:buChar char="‒"/>
            </a:pPr>
            <a:r>
              <a:rPr b="0" i="0" lang="en-GB" sz="700" u="none" cap="none" strike="noStrike">
                <a:solidFill>
                  <a:schemeClr val="dk1"/>
                </a:solidFill>
                <a:latin typeface="Century Gothic"/>
                <a:ea typeface="Century Gothic"/>
                <a:cs typeface="Century Gothic"/>
                <a:sym typeface="Century Gothic"/>
              </a:rPr>
              <a:t>For the subset agreed upon, will identify typical behavior, so to outliers can be flagged</a:t>
            </a:r>
            <a:endParaRPr/>
          </a:p>
          <a:p>
            <a:pPr indent="-171450" lvl="0" marL="17145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Typical Engagements</a:t>
            </a:r>
            <a:endParaRPr/>
          </a:p>
          <a:p>
            <a:pPr indent="0" lvl="1" marL="457200" marR="0" rtl="0" algn="l">
              <a:spcBef>
                <a:spcPts val="300"/>
              </a:spcBef>
              <a:spcAft>
                <a:spcPts val="0"/>
              </a:spcAft>
              <a:buNone/>
            </a:pPr>
            <a:r>
              <a:rPr b="0" i="0" lang="en-GB" sz="800" u="none" cap="none" strike="noStrike">
                <a:solidFill>
                  <a:schemeClr val="dk1"/>
                </a:solidFill>
                <a:latin typeface="Century Gothic"/>
                <a:ea typeface="Century Gothic"/>
                <a:cs typeface="Century Gothic"/>
                <a:sym typeface="Century Gothic"/>
              </a:rPr>
              <a:t>Expand  scope to larger segments of product lines and customers</a:t>
            </a:r>
            <a:endParaRPr b="0" i="0" sz="800" u="none" cap="none" strike="noStrike">
              <a:solidFill>
                <a:schemeClr val="dk1"/>
              </a:solidFill>
              <a:latin typeface="Century Gothic"/>
              <a:ea typeface="Century Gothic"/>
              <a:cs typeface="Century Gothic"/>
              <a:sym typeface="Century Gothic"/>
            </a:endParaRPr>
          </a:p>
        </p:txBody>
      </p:sp>
      <p:sp>
        <p:nvSpPr>
          <p:cNvPr id="10486" name="Google Shape;10486;p59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Npath analysis of browsing and shopping behaviour to identify potential  fraudulent behaviour (e.g. overnight shipping requests)</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Machine Learning</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Ngrams – (Text and speech patterns)</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rgbClr val="BBBCBE"/>
              </a:buClr>
              <a:buSzPts val="800"/>
              <a:buFont typeface="Noto Sans Symbols"/>
              <a:buNone/>
            </a:pPr>
            <a:r>
              <a:t/>
            </a:r>
            <a:endParaRPr i="1" sz="800">
              <a:solidFill>
                <a:srgbClr val="3C3C3B"/>
              </a:solidFill>
              <a:latin typeface="Century Gothic"/>
              <a:ea typeface="Century Gothic"/>
              <a:cs typeface="Century Gothic"/>
              <a:sym typeface="Century Gothic"/>
            </a:endParaRPr>
          </a:p>
        </p:txBody>
      </p:sp>
      <p:sp>
        <p:nvSpPr>
          <p:cNvPr id="10487" name="Google Shape;10487;p596"/>
          <p:cNvSpPr/>
          <p:nvPr/>
        </p:nvSpPr>
        <p:spPr>
          <a:xfrm>
            <a:off x="423863" y="340995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The capture, storage and analysis of large volumes of web log data</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The need for real time information</a:t>
            </a:r>
            <a:endParaRPr sz="800">
              <a:solidFill>
                <a:schemeClr val="dk1"/>
              </a:solidFill>
              <a:latin typeface="Century Gothic"/>
              <a:ea typeface="Century Gothic"/>
              <a:cs typeface="Century Gothic"/>
              <a:sym typeface="Century Gothic"/>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The identification of new fraudulent behaviors and patterns that commonly lead to fraud</a:t>
            </a:r>
            <a:endParaRPr sz="800">
              <a:solidFill>
                <a:schemeClr val="dk1"/>
              </a:solidFill>
              <a:latin typeface="Century Gothic"/>
              <a:ea typeface="Century Gothic"/>
              <a:cs typeface="Century Gothic"/>
              <a:sym typeface="Century Gothic"/>
            </a:endParaRPr>
          </a:p>
        </p:txBody>
      </p:sp>
      <p:sp>
        <p:nvSpPr>
          <p:cNvPr id="10488" name="Google Shape;10488;p59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 log browsing data  (e.g. Celebrus)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profile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Purchase History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Geospatial (geolocation)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Phishing (fraudulent emails)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Public records e.g. credit reports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89" name="Google Shape;10489;p59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1" marL="108000" marR="0" rtl="0" algn="l">
              <a:spcBef>
                <a:spcPts val="5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On-line Fraud (OFD) spans  web, mobile, call center, and voice response transaction activity</a:t>
            </a:r>
            <a:endParaRPr/>
          </a:p>
          <a:p>
            <a:pPr indent="-108000" lvl="1" marL="108000"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Companies want to identify unusual behavior patterns which proactively highlight potential fraudulent activities so actions can be taken to prevent further loss . Want the ability to continuously monitor and profile users, accounts </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90" name="Google Shape;10490;p59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Yasmeen Ahmed/ Karen Layfield</a:t>
            </a:r>
            <a:endParaRPr sz="900">
              <a:solidFill>
                <a:schemeClr val="accent6"/>
              </a:solidFill>
              <a:latin typeface="Century Gothic"/>
              <a:ea typeface="Century Gothic"/>
              <a:cs typeface="Century Gothic"/>
              <a:sym typeface="Century Gothic"/>
            </a:endParaRPr>
          </a:p>
        </p:txBody>
      </p:sp>
      <p:sp>
        <p:nvSpPr>
          <p:cNvPr id="10491" name="Google Shape;10491;p59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92" name="Google Shape;10492;p59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On-Line Fraud</a:t>
            </a:r>
            <a:endParaRPr sz="2400"/>
          </a:p>
        </p:txBody>
      </p:sp>
      <p:sp>
        <p:nvSpPr>
          <p:cNvPr id="10493" name="Google Shape;10493;p5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14" name="Shape 10514"/>
        <p:cNvGrpSpPr/>
        <p:nvPr/>
      </p:nvGrpSpPr>
      <p:grpSpPr>
        <a:xfrm>
          <a:off x="0" y="0"/>
          <a:ext cx="0" cy="0"/>
          <a:chOff x="0" y="0"/>
          <a:chExt cx="0" cy="0"/>
        </a:xfrm>
      </p:grpSpPr>
      <p:cxnSp>
        <p:nvCxnSpPr>
          <p:cNvPr id="10515" name="Google Shape;10515;p59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16" name="Google Shape;10516;p59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17" name="Google Shape;10517;p59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18" name="Google Shape;10518;p59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19" name="Google Shape;10519;p59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520" name="Google Shape;10520;p59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521" name="Google Shape;10521;p59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522" name="Google Shape;10522;p59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523" name="Google Shape;10523;p59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524" name="Google Shape;10524;p59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525" name="Google Shape;10525;p59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526" name="Google Shape;10526;p59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527" name="Google Shape;10527;p59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528" name="Google Shape;10528;p59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Claims Fraud – Auto</a:t>
            </a:r>
            <a:endParaRPr sz="2400"/>
          </a:p>
        </p:txBody>
      </p:sp>
      <p:sp>
        <p:nvSpPr>
          <p:cNvPr id="10529" name="Google Shape;10529;p5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54" name="Shape 10554"/>
        <p:cNvGrpSpPr/>
        <p:nvPr/>
      </p:nvGrpSpPr>
      <p:grpSpPr>
        <a:xfrm>
          <a:off x="0" y="0"/>
          <a:ext cx="0" cy="0"/>
          <a:chOff x="0" y="0"/>
          <a:chExt cx="0" cy="0"/>
        </a:xfrm>
      </p:grpSpPr>
      <p:cxnSp>
        <p:nvCxnSpPr>
          <p:cNvPr id="10555" name="Google Shape;10555;p60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56" name="Google Shape;10556;p60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57" name="Google Shape;10557;p60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58" name="Google Shape;10558;p60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59" name="Google Shape;10559;p60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560" name="Google Shape;10560;p60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561" name="Google Shape;10561;p60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562" name="Google Shape;10562;p60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563" name="Google Shape;10563;p60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564" name="Google Shape;10564;p60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565" name="Google Shape;10565;p60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566" name="Google Shape;10566;p60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567" name="Google Shape;10567;p600"/>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568" name="Google Shape;10568;p600"/>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Data Leakage - Exfiltration</a:t>
            </a:r>
            <a:endParaRPr sz="2400"/>
          </a:p>
        </p:txBody>
      </p:sp>
      <p:sp>
        <p:nvSpPr>
          <p:cNvPr id="10569" name="Google Shape;10569;p6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74" name="Shape 10574"/>
        <p:cNvGrpSpPr/>
        <p:nvPr/>
      </p:nvGrpSpPr>
      <p:grpSpPr>
        <a:xfrm>
          <a:off x="0" y="0"/>
          <a:ext cx="0" cy="0"/>
          <a:chOff x="0" y="0"/>
          <a:chExt cx="0" cy="0"/>
        </a:xfrm>
      </p:grpSpPr>
      <p:cxnSp>
        <p:nvCxnSpPr>
          <p:cNvPr id="10575" name="Google Shape;10575;p60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76" name="Google Shape;10576;p60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77" name="Google Shape;10577;p60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78" name="Google Shape;10578;p60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79" name="Google Shape;10579;p60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580" name="Google Shape;10580;p60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581" name="Google Shape;10581;p60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582" name="Google Shape;10582;p60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583" name="Google Shape;10583;p60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584" name="Google Shape;10584;p60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585" name="Google Shape;10585;p60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586" name="Google Shape;10586;p60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587" name="Google Shape;10587;p60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588" name="Google Shape;10588;p60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Vulnerability, Analysis and Remediation</a:t>
            </a:r>
            <a:endParaRPr sz="2400"/>
          </a:p>
        </p:txBody>
      </p:sp>
      <p:sp>
        <p:nvSpPr>
          <p:cNvPr id="10589" name="Google Shape;10589;p60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94" name="Shape 10594"/>
        <p:cNvGrpSpPr/>
        <p:nvPr/>
      </p:nvGrpSpPr>
      <p:grpSpPr>
        <a:xfrm>
          <a:off x="0" y="0"/>
          <a:ext cx="0" cy="0"/>
          <a:chOff x="0" y="0"/>
          <a:chExt cx="0" cy="0"/>
        </a:xfrm>
      </p:grpSpPr>
      <p:cxnSp>
        <p:nvCxnSpPr>
          <p:cNvPr id="10595" name="Google Shape;10595;p60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96" name="Google Shape;10596;p60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97" name="Google Shape;10597;p60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98" name="Google Shape;10598;p60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99" name="Google Shape;10599;p60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600" name="Google Shape;10600;p60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601" name="Google Shape;10601;p60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602" name="Google Shape;10602;p60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603" name="Google Shape;10603;p60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604" name="Google Shape;10604;p60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605" name="Google Shape;10605;p60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606" name="Google Shape;10606;p60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607" name="Google Shape;10607;p60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608" name="Google Shape;10608;p60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Stolen Credentials</a:t>
            </a:r>
            <a:endParaRPr sz="2400"/>
          </a:p>
        </p:txBody>
      </p:sp>
      <p:sp>
        <p:nvSpPr>
          <p:cNvPr id="10609" name="Google Shape;10609;p6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14" name="Shape 10614"/>
        <p:cNvGrpSpPr/>
        <p:nvPr/>
      </p:nvGrpSpPr>
      <p:grpSpPr>
        <a:xfrm>
          <a:off x="0" y="0"/>
          <a:ext cx="0" cy="0"/>
          <a:chOff x="0" y="0"/>
          <a:chExt cx="0" cy="0"/>
        </a:xfrm>
      </p:grpSpPr>
      <p:cxnSp>
        <p:nvCxnSpPr>
          <p:cNvPr id="10615" name="Google Shape;10615;p60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16" name="Google Shape;10616;p60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17" name="Google Shape;10617;p60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618" name="Google Shape;10618;p60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19" name="Google Shape;10619;p60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620" name="Google Shape;10620;p60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621" name="Google Shape;10621;p60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622" name="Google Shape;10622;p60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623" name="Google Shape;10623;p60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624" name="Google Shape;10624;p60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625" name="Google Shape;10625;p60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626" name="Google Shape;10626;p60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627" name="Google Shape;10627;p60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628" name="Google Shape;10628;p60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Packet Capture and Detection</a:t>
            </a:r>
            <a:endParaRPr sz="2400"/>
          </a:p>
        </p:txBody>
      </p:sp>
      <p:sp>
        <p:nvSpPr>
          <p:cNvPr id="10629" name="Google Shape;10629;p6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34" name="Shape 10634"/>
        <p:cNvGrpSpPr/>
        <p:nvPr/>
      </p:nvGrpSpPr>
      <p:grpSpPr>
        <a:xfrm>
          <a:off x="0" y="0"/>
          <a:ext cx="0" cy="0"/>
          <a:chOff x="0" y="0"/>
          <a:chExt cx="0" cy="0"/>
        </a:xfrm>
      </p:grpSpPr>
      <p:cxnSp>
        <p:nvCxnSpPr>
          <p:cNvPr id="10635" name="Google Shape;10635;p60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36" name="Google Shape;10636;p60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37" name="Google Shape;10637;p60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638" name="Google Shape;10638;p60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39" name="Google Shape;10639;p60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640" name="Google Shape;10640;p60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641" name="Google Shape;10641;p60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642" name="Google Shape;10642;p60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643" name="Google Shape;10643;p60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644" name="Google Shape;10644;p60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645" name="Google Shape;10645;p60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646" name="Google Shape;10646;p60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647" name="Google Shape;10647;p60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648" name="Google Shape;10648;p60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Cyber Security</a:t>
            </a:r>
            <a:endParaRPr sz="2400"/>
          </a:p>
        </p:txBody>
      </p:sp>
      <p:sp>
        <p:nvSpPr>
          <p:cNvPr id="10649" name="Google Shape;10649;p6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54" name="Shape 10654"/>
        <p:cNvGrpSpPr/>
        <p:nvPr/>
      </p:nvGrpSpPr>
      <p:grpSpPr>
        <a:xfrm>
          <a:off x="0" y="0"/>
          <a:ext cx="0" cy="0"/>
          <a:chOff x="0" y="0"/>
          <a:chExt cx="0" cy="0"/>
        </a:xfrm>
      </p:grpSpPr>
      <p:sp>
        <p:nvSpPr>
          <p:cNvPr id="10655" name="Google Shape;10655;p605"/>
          <p:cNvSpPr txBox="1"/>
          <p:nvPr>
            <p:ph idx="2" type="body"/>
          </p:nvPr>
        </p:nvSpPr>
        <p:spPr>
          <a:xfrm>
            <a:off x="438098" y="768734"/>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Regulatory Compliance</a:t>
            </a:r>
            <a:endParaRPr sz="1600"/>
          </a:p>
        </p:txBody>
      </p:sp>
      <p:sp>
        <p:nvSpPr>
          <p:cNvPr id="10656" name="Google Shape;10656;p605"/>
          <p:cNvSpPr txBox="1"/>
          <p:nvPr>
            <p:ph type="title"/>
          </p:nvPr>
        </p:nvSpPr>
        <p:spPr>
          <a:xfrm>
            <a:off x="425396" y="200719"/>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Complaince</a:t>
            </a:r>
            <a:endParaRPr sz="2400"/>
          </a:p>
        </p:txBody>
      </p:sp>
      <p:sp>
        <p:nvSpPr>
          <p:cNvPr id="10657" name="Google Shape;10657;p605"/>
          <p:cNvSpPr/>
          <p:nvPr/>
        </p:nvSpPr>
        <p:spPr>
          <a:xfrm>
            <a:off x="459950" y="1314448"/>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58" name="Google Shape;10658;p605">
            <a:hlinkClick action="ppaction://hlinksldjump" r:id="rId3"/>
          </p:cNvPr>
          <p:cNvSpPr/>
          <p:nvPr/>
        </p:nvSpPr>
        <p:spPr>
          <a:xfrm>
            <a:off x="565151" y="1428749"/>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Legal and Regulatory Compliance</a:t>
            </a:r>
            <a:endParaRPr sz="800">
              <a:solidFill>
                <a:srgbClr val="FFFFFF"/>
              </a:solidFill>
              <a:latin typeface="Century Gothic"/>
              <a:ea typeface="Century Gothic"/>
              <a:cs typeface="Century Gothic"/>
              <a:sym typeface="Century Gothic"/>
            </a:endParaRPr>
          </a:p>
        </p:txBody>
      </p:sp>
      <p:sp>
        <p:nvSpPr>
          <p:cNvPr id="10659" name="Google Shape;10659;p605">
            <a:hlinkClick action="ppaction://hlinksldjump" r:id="rId4"/>
          </p:cNvPr>
          <p:cNvSpPr/>
          <p:nvPr/>
        </p:nvSpPr>
        <p:spPr>
          <a:xfrm>
            <a:off x="2099735"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and Regulatory</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Compliance</a:t>
            </a:r>
            <a:endParaRPr sz="1100">
              <a:solidFill>
                <a:srgbClr val="FFFFFF"/>
              </a:solidFill>
              <a:latin typeface="Century Gothic"/>
              <a:ea typeface="Century Gothic"/>
              <a:cs typeface="Century Gothic"/>
              <a:sym typeface="Century Gothic"/>
            </a:endParaRPr>
          </a:p>
        </p:txBody>
      </p:sp>
      <p:sp>
        <p:nvSpPr>
          <p:cNvPr id="10660" name="Google Shape;10660;p605"/>
          <p:cNvSpPr/>
          <p:nvPr/>
        </p:nvSpPr>
        <p:spPr>
          <a:xfrm>
            <a:off x="2073748" y="1410517"/>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10661" name="Google Shape;10661;p605">
            <a:hlinkClick action="ppaction://hlinksldjump" r:id="rId5"/>
          </p:cNvPr>
          <p:cNvSpPr/>
          <p:nvPr/>
        </p:nvSpPr>
        <p:spPr>
          <a:xfrm>
            <a:off x="567549" y="4086467"/>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grpSp>
        <p:nvGrpSpPr>
          <p:cNvPr id="10662" name="Google Shape;10662;p605"/>
          <p:cNvGrpSpPr/>
          <p:nvPr/>
        </p:nvGrpSpPr>
        <p:grpSpPr>
          <a:xfrm>
            <a:off x="7717533" y="4487376"/>
            <a:ext cx="1058348" cy="347375"/>
            <a:chOff x="7651698" y="4287227"/>
            <a:chExt cx="1058348" cy="347375"/>
          </a:xfrm>
        </p:grpSpPr>
        <p:grpSp>
          <p:nvGrpSpPr>
            <p:cNvPr id="10663" name="Google Shape;10663;p605"/>
            <p:cNvGrpSpPr/>
            <p:nvPr/>
          </p:nvGrpSpPr>
          <p:grpSpPr>
            <a:xfrm>
              <a:off x="7714163" y="4337598"/>
              <a:ext cx="995883" cy="297004"/>
              <a:chOff x="7711013" y="3986494"/>
              <a:chExt cx="995883" cy="297004"/>
            </a:xfrm>
          </p:grpSpPr>
          <p:sp>
            <p:nvSpPr>
              <p:cNvPr id="10664" name="Google Shape;10664;p60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665" name="Google Shape;10665;p605"/>
              <p:cNvGrpSpPr/>
              <p:nvPr/>
            </p:nvGrpSpPr>
            <p:grpSpPr>
              <a:xfrm>
                <a:off x="7711013" y="4002615"/>
                <a:ext cx="281520" cy="241973"/>
                <a:chOff x="5652748" y="4066000"/>
                <a:chExt cx="906498" cy="747974"/>
              </a:xfrm>
            </p:grpSpPr>
            <p:sp>
              <p:nvSpPr>
                <p:cNvPr id="10666" name="Google Shape;10666;p60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667" name="Google Shape;10667;p60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68" name="Google Shape;10668;p60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669" name="Google Shape;10669;p605">
              <a:hlinkClick action="ppaction://hlinksldjump" r:id="rId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10670" name="Google Shape;10670;p605">
            <a:hlinkClick action="ppaction://hlinksldjump" r:id="rId7"/>
          </p:cNvPr>
          <p:cNvSpPr/>
          <p:nvPr/>
        </p:nvSpPr>
        <p:spPr>
          <a:xfrm>
            <a:off x="4300766"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Consumer Protection</a:t>
            </a:r>
            <a:endParaRPr sz="1100">
              <a:solidFill>
                <a:srgbClr val="FFFFFF"/>
              </a:solidFill>
              <a:latin typeface="Century Gothic"/>
              <a:ea typeface="Century Gothic"/>
              <a:cs typeface="Century Gothic"/>
              <a:sym typeface="Century Gothic"/>
            </a:endParaRPr>
          </a:p>
        </p:txBody>
      </p:sp>
      <p:sp>
        <p:nvSpPr>
          <p:cNvPr id="10671" name="Google Shape;10671;p605">
            <a:hlinkClick action="ppaction://hlinksldjump" r:id="rId8"/>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76" name="Shape 10676"/>
        <p:cNvGrpSpPr/>
        <p:nvPr/>
      </p:nvGrpSpPr>
      <p:grpSpPr>
        <a:xfrm>
          <a:off x="0" y="0"/>
          <a:ext cx="0" cy="0"/>
          <a:chOff x="0" y="0"/>
          <a:chExt cx="0" cy="0"/>
        </a:xfrm>
      </p:grpSpPr>
      <p:sp>
        <p:nvSpPr>
          <p:cNvPr id="10677" name="Google Shape;10677;p606"/>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78" name="Google Shape;10678;p606">
            <a:hlinkClick action="ppaction://hlinksldjump" r:id="rId3"/>
          </p:cNvPr>
          <p:cNvSpPr/>
          <p:nvPr/>
        </p:nvSpPr>
        <p:spPr>
          <a:xfrm>
            <a:off x="565902" y="1751218"/>
            <a:ext cx="1395519" cy="1153643"/>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and Regulatory Compliance</a:t>
            </a:r>
            <a:endParaRPr sz="1100">
              <a:solidFill>
                <a:srgbClr val="FFFFFF"/>
              </a:solidFill>
              <a:latin typeface="Century Gothic"/>
              <a:ea typeface="Century Gothic"/>
              <a:cs typeface="Century Gothic"/>
              <a:sym typeface="Century Gothic"/>
            </a:endParaRPr>
          </a:p>
        </p:txBody>
      </p:sp>
      <p:sp>
        <p:nvSpPr>
          <p:cNvPr id="10679" name="Google Shape;10679;p60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10680" name="Google Shape;10680;p606">
            <a:hlinkClick action="ppaction://hlinksldjump" r:id="rId4"/>
          </p:cNvPr>
          <p:cNvSpPr/>
          <p:nvPr/>
        </p:nvSpPr>
        <p:spPr>
          <a:xfrm>
            <a:off x="567549" y="270468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10681" name="Google Shape;10681;p60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Anti-Money Laundering</a:t>
            </a:r>
            <a:endParaRPr sz="1100">
              <a:solidFill>
                <a:schemeClr val="dk1"/>
              </a:solidFill>
              <a:latin typeface="Century Gothic"/>
              <a:ea typeface="Century Gothic"/>
              <a:cs typeface="Century Gothic"/>
              <a:sym typeface="Century Gothic"/>
            </a:endParaRPr>
          </a:p>
        </p:txBody>
      </p:sp>
      <p:sp>
        <p:nvSpPr>
          <p:cNvPr id="10682" name="Google Shape;10682;p606">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Capital Management</a:t>
            </a:r>
            <a:endParaRPr sz="1100">
              <a:solidFill>
                <a:schemeClr val="dk1"/>
              </a:solidFill>
              <a:latin typeface="Century Gothic"/>
              <a:ea typeface="Century Gothic"/>
              <a:cs typeface="Century Gothic"/>
              <a:sym typeface="Century Gothic"/>
            </a:endParaRPr>
          </a:p>
        </p:txBody>
      </p:sp>
      <p:sp>
        <p:nvSpPr>
          <p:cNvPr id="10683" name="Google Shape;10683;p606">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Financial Reporting Regulation</a:t>
            </a:r>
            <a:endParaRPr sz="1100">
              <a:solidFill>
                <a:srgbClr val="FF0000"/>
              </a:solidFill>
              <a:latin typeface="Century Gothic"/>
              <a:ea typeface="Century Gothic"/>
              <a:cs typeface="Century Gothic"/>
              <a:sym typeface="Century Gothic"/>
            </a:endParaRPr>
          </a:p>
        </p:txBody>
      </p:sp>
      <p:sp>
        <p:nvSpPr>
          <p:cNvPr id="10684" name="Google Shape;10684;p606">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Disclosure</a:t>
            </a:r>
            <a:endParaRPr sz="1100">
              <a:solidFill>
                <a:srgbClr val="FF0000"/>
              </a:solidFill>
              <a:latin typeface="Century Gothic"/>
              <a:ea typeface="Century Gothic"/>
              <a:cs typeface="Century Gothic"/>
              <a:sym typeface="Century Gothic"/>
            </a:endParaRPr>
          </a:p>
        </p:txBody>
      </p:sp>
      <p:sp>
        <p:nvSpPr>
          <p:cNvPr id="10685" name="Google Shape;10685;p606"/>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 A portfolio of analytical capabilities to deliver effective and efficient compliance with regulations</a:t>
            </a:r>
            <a:endParaRPr/>
          </a:p>
        </p:txBody>
      </p:sp>
      <p:sp>
        <p:nvSpPr>
          <p:cNvPr id="10686" name="Google Shape;10686;p60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Compliance</a:t>
            </a:r>
            <a:endParaRPr sz="2400"/>
          </a:p>
        </p:txBody>
      </p:sp>
      <p:sp>
        <p:nvSpPr>
          <p:cNvPr id="10687" name="Google Shape;10687;p606"/>
          <p:cNvSpPr/>
          <p:nvPr/>
        </p:nvSpPr>
        <p:spPr>
          <a:xfrm>
            <a:off x="2232501" y="-657203"/>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10688" name="Google Shape;10688;p60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10689" name="Google Shape;10689;p606"/>
          <p:cNvGrpSpPr/>
          <p:nvPr/>
        </p:nvGrpSpPr>
        <p:grpSpPr>
          <a:xfrm>
            <a:off x="7717533" y="4360377"/>
            <a:ext cx="1058348" cy="347375"/>
            <a:chOff x="7651698" y="4287227"/>
            <a:chExt cx="1058348" cy="347375"/>
          </a:xfrm>
        </p:grpSpPr>
        <p:grpSp>
          <p:nvGrpSpPr>
            <p:cNvPr id="10690" name="Google Shape;10690;p606"/>
            <p:cNvGrpSpPr/>
            <p:nvPr/>
          </p:nvGrpSpPr>
          <p:grpSpPr>
            <a:xfrm>
              <a:off x="7714163" y="4337598"/>
              <a:ext cx="995883" cy="297004"/>
              <a:chOff x="7711013" y="3986494"/>
              <a:chExt cx="995883" cy="297004"/>
            </a:xfrm>
          </p:grpSpPr>
          <p:sp>
            <p:nvSpPr>
              <p:cNvPr id="10691" name="Google Shape;10691;p60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692" name="Google Shape;10692;p606"/>
              <p:cNvGrpSpPr/>
              <p:nvPr/>
            </p:nvGrpSpPr>
            <p:grpSpPr>
              <a:xfrm>
                <a:off x="7711013" y="4002615"/>
                <a:ext cx="281520" cy="241973"/>
                <a:chOff x="5652748" y="4066000"/>
                <a:chExt cx="906498" cy="747974"/>
              </a:xfrm>
            </p:grpSpPr>
            <p:sp>
              <p:nvSpPr>
                <p:cNvPr id="10693" name="Google Shape;10693;p60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694" name="Google Shape;10694;p60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95" name="Google Shape;10695;p60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696" name="Google Shape;10696;p606">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10697" name="Google Shape;10697;p606">
            <a:hlinkClick action="ppaction://hlinksldjump" r:id="rId10"/>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Consumer Protection</a:t>
            </a:r>
            <a:endParaRPr sz="1100">
              <a:solidFill>
                <a:srgbClr val="FFFFFF"/>
              </a:solidFill>
              <a:latin typeface="Century Gothic"/>
              <a:ea typeface="Century Gothic"/>
              <a:cs typeface="Century Gothic"/>
              <a:sym typeface="Century Gothic"/>
            </a:endParaRPr>
          </a:p>
        </p:txBody>
      </p:sp>
      <p:sp>
        <p:nvSpPr>
          <p:cNvPr id="10698" name="Google Shape;10698;p606">
            <a:hlinkClick action="ppaction://hlinksldjump" r:id="rId11"/>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10699" name="Google Shape;10699;p606">
            <a:hlinkClick action="ppaction://hlinksldjump" r:id="rId12"/>
          </p:cNvPr>
          <p:cNvSpPr/>
          <p:nvPr/>
        </p:nvSpPr>
        <p:spPr>
          <a:xfrm>
            <a:off x="2099732" y="302806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Truth-in-Advertising</a:t>
            </a:r>
            <a:endParaRPr sz="1100">
              <a:solidFill>
                <a:srgbClr val="FF0000"/>
              </a:solidFill>
              <a:latin typeface="Century Gothic"/>
              <a:ea typeface="Century Gothic"/>
              <a:cs typeface="Century Gothic"/>
              <a:sym typeface="Century Gothic"/>
            </a:endParaRPr>
          </a:p>
        </p:txBody>
      </p:sp>
      <p:sp>
        <p:nvSpPr>
          <p:cNvPr id="10700" name="Google Shape;10700;p606">
            <a:hlinkClick action="ppaction://hlinksldjump" r:id="rId13"/>
          </p:cNvPr>
          <p:cNvSpPr/>
          <p:nvPr/>
        </p:nvSpPr>
        <p:spPr>
          <a:xfrm>
            <a:off x="4302265" y="302806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Predatory Practices</a:t>
            </a:r>
            <a:endParaRPr sz="1100">
              <a:solidFill>
                <a:srgbClr val="FF0000"/>
              </a:solidFill>
              <a:latin typeface="Century Gothic"/>
              <a:ea typeface="Century Gothic"/>
              <a:cs typeface="Century Gothic"/>
              <a:sym typeface="Century Gothic"/>
            </a:endParaRPr>
          </a:p>
        </p:txBody>
      </p:sp>
      <p:sp>
        <p:nvSpPr>
          <p:cNvPr id="10701" name="Google Shape;10701;p606">
            <a:hlinkClick action="ppaction://hlinksldjump" r:id="rId14"/>
          </p:cNvPr>
          <p:cNvSpPr/>
          <p:nvPr/>
        </p:nvSpPr>
        <p:spPr>
          <a:xfrm>
            <a:off x="6475528"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Privacy Protection</a:t>
            </a:r>
            <a:endParaRPr sz="1100">
              <a:solidFill>
                <a:srgbClr val="FF0000"/>
              </a:solidFill>
              <a:latin typeface="Century Gothic"/>
              <a:ea typeface="Century Gothic"/>
              <a:cs typeface="Century Gothic"/>
              <a:sym typeface="Century Gothic"/>
            </a:endParaRPr>
          </a:p>
        </p:txBody>
      </p:sp>
      <p:sp>
        <p:nvSpPr>
          <p:cNvPr id="10702" name="Google Shape;10702;p606">
            <a:hlinkClick action="ppaction://hlinksldjump" r:id="rId15"/>
          </p:cNvPr>
          <p:cNvSpPr/>
          <p:nvPr/>
        </p:nvSpPr>
        <p:spPr>
          <a:xfrm>
            <a:off x="2099732" y="364312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Do-Not-Solicit</a:t>
            </a:r>
            <a:endParaRPr sz="1100">
              <a:solidFill>
                <a:srgbClr val="FF0000"/>
              </a:solidFill>
              <a:latin typeface="Century Gothic"/>
              <a:ea typeface="Century Gothic"/>
              <a:cs typeface="Century Gothic"/>
              <a:sym typeface="Century Gothic"/>
            </a:endParaRPr>
          </a:p>
        </p:txBody>
      </p:sp>
      <p:sp>
        <p:nvSpPr>
          <p:cNvPr id="10703" name="Google Shape;10703;p606">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08" name="Shape 10708"/>
        <p:cNvGrpSpPr/>
        <p:nvPr/>
      </p:nvGrpSpPr>
      <p:grpSpPr>
        <a:xfrm>
          <a:off x="0" y="0"/>
          <a:ext cx="0" cy="0"/>
          <a:chOff x="0" y="0"/>
          <a:chExt cx="0" cy="0"/>
        </a:xfrm>
      </p:grpSpPr>
      <p:sp>
        <p:nvSpPr>
          <p:cNvPr id="10709" name="Google Shape;10709;p607"/>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10" name="Google Shape;10710;p607">
            <a:hlinkClick action="ppaction://hlinksldjump" r:id="rId3"/>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Sarbanes-Oxley</a:t>
            </a:r>
            <a:endParaRPr sz="700">
              <a:solidFill>
                <a:schemeClr val="dk1"/>
              </a:solidFill>
              <a:latin typeface="Century Gothic"/>
              <a:ea typeface="Century Gothic"/>
              <a:cs typeface="Century Gothic"/>
              <a:sym typeface="Century Gothic"/>
            </a:endParaRPr>
          </a:p>
        </p:txBody>
      </p:sp>
      <p:sp>
        <p:nvSpPr>
          <p:cNvPr id="10711" name="Google Shape;10711;p607">
            <a:hlinkClick action="ppaction://hlinksldjump" r:id="rId4"/>
          </p:cNvPr>
          <p:cNvSpPr/>
          <p:nvPr/>
        </p:nvSpPr>
        <p:spPr>
          <a:xfrm>
            <a:off x="701463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Volcker Rule</a:t>
            </a:r>
            <a:endParaRPr sz="700">
              <a:solidFill>
                <a:schemeClr val="dk1"/>
              </a:solidFill>
              <a:latin typeface="Century Gothic"/>
              <a:ea typeface="Century Gothic"/>
              <a:cs typeface="Century Gothic"/>
              <a:sym typeface="Century Gothic"/>
            </a:endParaRPr>
          </a:p>
        </p:txBody>
      </p:sp>
      <p:sp>
        <p:nvSpPr>
          <p:cNvPr id="10712" name="Google Shape;10712;p607">
            <a:hlinkClick action="ppaction://hlinksldjump" r:id="rId5"/>
          </p:cNvPr>
          <p:cNvSpPr/>
          <p:nvPr/>
        </p:nvSpPr>
        <p:spPr>
          <a:xfrm>
            <a:off x="373490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Regulatory Disclosure Efficiency</a:t>
            </a:r>
            <a:endParaRPr sz="700">
              <a:solidFill>
                <a:srgbClr val="FF0000"/>
              </a:solidFill>
              <a:latin typeface="Century Gothic"/>
              <a:ea typeface="Century Gothic"/>
              <a:cs typeface="Century Gothic"/>
              <a:sym typeface="Century Gothic"/>
            </a:endParaRPr>
          </a:p>
        </p:txBody>
      </p:sp>
      <p:sp>
        <p:nvSpPr>
          <p:cNvPr id="10713" name="Google Shape;10713;p607">
            <a:hlinkClick action="ppaction://hlinksldjump" r:id="rId6"/>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IFRS 15</a:t>
            </a:r>
            <a:endParaRPr sz="1000">
              <a:solidFill>
                <a:schemeClr val="dk1"/>
              </a:solidFill>
              <a:latin typeface="Century Gothic"/>
              <a:ea typeface="Century Gothic"/>
              <a:cs typeface="Century Gothic"/>
              <a:sym typeface="Century Gothic"/>
            </a:endParaRPr>
          </a:p>
        </p:txBody>
      </p:sp>
      <p:sp>
        <p:nvSpPr>
          <p:cNvPr id="10714" name="Google Shape;10714;p607">
            <a:hlinkClick action="ppaction://hlinksldjump" r:id="rId7"/>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Solvency II</a:t>
            </a:r>
            <a:endParaRPr sz="1000">
              <a:solidFill>
                <a:schemeClr val="dk1"/>
              </a:solidFill>
              <a:latin typeface="Century Gothic"/>
              <a:ea typeface="Century Gothic"/>
              <a:cs typeface="Century Gothic"/>
              <a:sym typeface="Century Gothic"/>
            </a:endParaRPr>
          </a:p>
        </p:txBody>
      </p:sp>
      <p:sp>
        <p:nvSpPr>
          <p:cNvPr id="10715" name="Google Shape;10715;p607">
            <a:hlinkClick action="ppaction://hlinksldjump" r:id="rId8"/>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IFRS 9</a:t>
            </a:r>
            <a:endParaRPr sz="1000">
              <a:solidFill>
                <a:srgbClr val="FF0000"/>
              </a:solidFill>
              <a:latin typeface="Century Gothic"/>
              <a:ea typeface="Century Gothic"/>
              <a:cs typeface="Century Gothic"/>
              <a:sym typeface="Century Gothic"/>
            </a:endParaRPr>
          </a:p>
        </p:txBody>
      </p:sp>
      <p:sp>
        <p:nvSpPr>
          <p:cNvPr id="10716" name="Google Shape;10716;p607">
            <a:hlinkClick action="ppaction://hlinksldjump" r:id="rId9"/>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Comprehensive Capital Analysis and Review (CCAR)</a:t>
            </a:r>
            <a:endParaRPr sz="1000">
              <a:solidFill>
                <a:schemeClr val="dk1"/>
              </a:solidFill>
              <a:latin typeface="Century Gothic"/>
              <a:ea typeface="Century Gothic"/>
              <a:cs typeface="Century Gothic"/>
              <a:sym typeface="Century Gothic"/>
            </a:endParaRPr>
          </a:p>
        </p:txBody>
      </p:sp>
      <p:sp>
        <p:nvSpPr>
          <p:cNvPr id="10717" name="Google Shape;10717;p607">
            <a:hlinkClick action="ppaction://hlinksldjump" r:id="rId10"/>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BASEL II</a:t>
            </a:r>
            <a:endParaRPr sz="1000">
              <a:solidFill>
                <a:srgbClr val="FF0000"/>
              </a:solidFill>
              <a:latin typeface="Century Gothic"/>
              <a:ea typeface="Century Gothic"/>
              <a:cs typeface="Century Gothic"/>
              <a:sym typeface="Century Gothic"/>
            </a:endParaRPr>
          </a:p>
        </p:txBody>
      </p:sp>
      <p:sp>
        <p:nvSpPr>
          <p:cNvPr id="10718" name="Google Shape;10718;p607">
            <a:hlinkClick action="ppaction://hlinksldjump" r:id="rId11"/>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BASEL (BCBS 239)</a:t>
            </a:r>
            <a:endParaRPr sz="1000">
              <a:solidFill>
                <a:schemeClr val="dk1"/>
              </a:solidFill>
              <a:latin typeface="Century Gothic"/>
              <a:ea typeface="Century Gothic"/>
              <a:cs typeface="Century Gothic"/>
              <a:sym typeface="Century Gothic"/>
            </a:endParaRPr>
          </a:p>
        </p:txBody>
      </p:sp>
      <p:sp>
        <p:nvSpPr>
          <p:cNvPr id="10719" name="Google Shape;10719;p607">
            <a:hlinkClick action="ppaction://hlinksldjump" r:id="rId12"/>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Anti-Money Laundering, Suspicious Activity and KYC</a:t>
            </a:r>
            <a:endParaRPr sz="700">
              <a:solidFill>
                <a:schemeClr val="dk1"/>
              </a:solidFill>
              <a:latin typeface="Century Gothic"/>
              <a:ea typeface="Century Gothic"/>
              <a:cs typeface="Century Gothic"/>
              <a:sym typeface="Century Gothic"/>
            </a:endParaRPr>
          </a:p>
        </p:txBody>
      </p:sp>
      <p:sp>
        <p:nvSpPr>
          <p:cNvPr id="10720" name="Google Shape;10720;p60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10721" name="Google Shape;10721;p607"/>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10722" name="Google Shape;10722;p607"/>
          <p:cNvGrpSpPr/>
          <p:nvPr/>
        </p:nvGrpSpPr>
        <p:grpSpPr>
          <a:xfrm>
            <a:off x="2100364" y="1348315"/>
            <a:ext cx="281520" cy="241973"/>
            <a:chOff x="5652748" y="4066000"/>
            <a:chExt cx="906498" cy="747974"/>
          </a:xfrm>
        </p:grpSpPr>
        <p:sp>
          <p:nvSpPr>
            <p:cNvPr id="10723" name="Google Shape;10723;p60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724" name="Google Shape;10724;p60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25" name="Google Shape;10725;p60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10726" name="Google Shape;10726;p607"/>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10727" name="Google Shape;10727;p607"/>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Compliance Use Cases</a:t>
            </a:r>
            <a:endParaRPr sz="2400"/>
          </a:p>
        </p:txBody>
      </p:sp>
      <p:sp>
        <p:nvSpPr>
          <p:cNvPr id="10728" name="Google Shape;10728;p607"/>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Uses cases to deliver enhanced Regulation and Compliance</a:t>
            </a:r>
            <a:endParaRPr sz="1600"/>
          </a:p>
        </p:txBody>
      </p:sp>
      <p:sp>
        <p:nvSpPr>
          <p:cNvPr id="10729" name="Google Shape;10729;p607">
            <a:hlinkClick action="ppaction://hlinksldjump" r:id="rId13"/>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Financal and Regulatory Compliance</a:t>
            </a:r>
            <a:endParaRPr sz="1100">
              <a:solidFill>
                <a:srgbClr val="FFFFFF"/>
              </a:solidFill>
              <a:latin typeface="Century Gothic"/>
              <a:ea typeface="Century Gothic"/>
              <a:cs typeface="Century Gothic"/>
              <a:sym typeface="Century Gothic"/>
            </a:endParaRPr>
          </a:p>
        </p:txBody>
      </p:sp>
      <p:sp>
        <p:nvSpPr>
          <p:cNvPr id="10730" name="Google Shape;10730;p607">
            <a:hlinkClick action="ppaction://hlinksldjump" r:id="rId14"/>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607"/>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2</a:t>
            </a:r>
            <a:endParaRPr/>
          </a:p>
        </p:txBody>
      </p:sp>
      <p:sp>
        <p:nvSpPr>
          <p:cNvPr id="10732" name="Google Shape;10732;p607">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37" name="Shape 10737"/>
        <p:cNvGrpSpPr/>
        <p:nvPr/>
      </p:nvGrpSpPr>
      <p:grpSpPr>
        <a:xfrm>
          <a:off x="0" y="0"/>
          <a:ext cx="0" cy="0"/>
          <a:chOff x="0" y="0"/>
          <a:chExt cx="0" cy="0"/>
        </a:xfrm>
      </p:grpSpPr>
      <p:sp>
        <p:nvSpPr>
          <p:cNvPr id="10738" name="Google Shape;10738;p608"/>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39" name="Google Shape;10739;p608">
            <a:hlinkClick action="ppaction://hlinksldjump" r:id="rId3"/>
          </p:cNvPr>
          <p:cNvSpPr/>
          <p:nvPr/>
        </p:nvSpPr>
        <p:spPr>
          <a:xfrm>
            <a:off x="70151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Do-Not-Solicit Compliance Insights</a:t>
            </a:r>
            <a:endParaRPr sz="1000">
              <a:solidFill>
                <a:srgbClr val="FF0000"/>
              </a:solidFill>
              <a:latin typeface="Century Gothic"/>
              <a:ea typeface="Century Gothic"/>
              <a:cs typeface="Century Gothic"/>
              <a:sym typeface="Century Gothic"/>
            </a:endParaRPr>
          </a:p>
        </p:txBody>
      </p:sp>
      <p:sp>
        <p:nvSpPr>
          <p:cNvPr id="10740" name="Google Shape;10740;p608">
            <a:hlinkClick action="ppaction://hlinksldjump" r:id="rId4"/>
          </p:cNvPr>
          <p:cNvSpPr/>
          <p:nvPr/>
        </p:nvSpPr>
        <p:spPr>
          <a:xfrm>
            <a:off x="537395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Privacy Protections Insights on HIPPA</a:t>
            </a:r>
            <a:endParaRPr sz="1000">
              <a:solidFill>
                <a:srgbClr val="FF0000"/>
              </a:solidFill>
              <a:latin typeface="Century Gothic"/>
              <a:ea typeface="Century Gothic"/>
              <a:cs typeface="Century Gothic"/>
              <a:sym typeface="Century Gothic"/>
            </a:endParaRPr>
          </a:p>
        </p:txBody>
      </p:sp>
      <p:sp>
        <p:nvSpPr>
          <p:cNvPr id="10741" name="Google Shape;10741;p608">
            <a:hlinkClick action="ppaction://hlinksldjump" r:id="rId5"/>
          </p:cNvPr>
          <p:cNvSpPr/>
          <p:nvPr/>
        </p:nvSpPr>
        <p:spPr>
          <a:xfrm>
            <a:off x="373396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Predatory Practices for Credit</a:t>
            </a:r>
            <a:endParaRPr sz="1000">
              <a:solidFill>
                <a:srgbClr val="FF0000"/>
              </a:solidFill>
              <a:latin typeface="Century Gothic"/>
              <a:ea typeface="Century Gothic"/>
              <a:cs typeface="Century Gothic"/>
              <a:sym typeface="Century Gothic"/>
            </a:endParaRPr>
          </a:p>
        </p:txBody>
      </p:sp>
      <p:sp>
        <p:nvSpPr>
          <p:cNvPr id="10742" name="Google Shape;10742;p608">
            <a:hlinkClick action="ppaction://hlinksldjump" r:id="rId6"/>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Communications Compliance</a:t>
            </a:r>
            <a:endParaRPr sz="700">
              <a:solidFill>
                <a:schemeClr val="dk1"/>
              </a:solidFill>
              <a:latin typeface="Century Gothic"/>
              <a:ea typeface="Century Gothic"/>
              <a:cs typeface="Century Gothic"/>
              <a:sym typeface="Century Gothic"/>
            </a:endParaRPr>
          </a:p>
        </p:txBody>
      </p:sp>
      <p:sp>
        <p:nvSpPr>
          <p:cNvPr id="10743" name="Google Shape;10743;p60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10744" name="Google Shape;10744;p608"/>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10745" name="Google Shape;10745;p608"/>
          <p:cNvGrpSpPr/>
          <p:nvPr/>
        </p:nvGrpSpPr>
        <p:grpSpPr>
          <a:xfrm>
            <a:off x="2100364" y="1348315"/>
            <a:ext cx="281520" cy="241973"/>
            <a:chOff x="5652748" y="4066000"/>
            <a:chExt cx="906498" cy="747974"/>
          </a:xfrm>
        </p:grpSpPr>
        <p:sp>
          <p:nvSpPr>
            <p:cNvPr id="10746" name="Google Shape;10746;p60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747" name="Google Shape;10747;p60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48" name="Google Shape;10748;p60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10749" name="Google Shape;10749;p608"/>
          <p:cNvSpPr/>
          <p:nvPr/>
        </p:nvSpPr>
        <p:spPr>
          <a:xfrm rot="5400000">
            <a:off x="8467536" y="864750"/>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10750" name="Google Shape;10750;p60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Compliance Use Cases</a:t>
            </a:r>
            <a:endParaRPr sz="2400"/>
          </a:p>
        </p:txBody>
      </p:sp>
      <p:sp>
        <p:nvSpPr>
          <p:cNvPr id="10751" name="Google Shape;10751;p608">
            <a:hlinkClick action="ppaction://hlinksldjump" r:id="rId7"/>
          </p:cNvPr>
          <p:cNvSpPr/>
          <p:nvPr/>
        </p:nvSpPr>
        <p:spPr>
          <a:xfrm>
            <a:off x="565902" y="1695741"/>
            <a:ext cx="1395519" cy="1593559"/>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Consumer Protection</a:t>
            </a:r>
            <a:endParaRPr sz="1100">
              <a:solidFill>
                <a:srgbClr val="FFFFFF"/>
              </a:solidFill>
              <a:latin typeface="Century Gothic"/>
              <a:ea typeface="Century Gothic"/>
              <a:cs typeface="Century Gothic"/>
              <a:sym typeface="Century Gothic"/>
            </a:endParaRPr>
          </a:p>
        </p:txBody>
      </p:sp>
      <p:sp>
        <p:nvSpPr>
          <p:cNvPr id="10752" name="Google Shape;10752;p608">
            <a:hlinkClick action="ppaction://hlinksldjump" r:id="rId8"/>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608"/>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2</a:t>
            </a:r>
            <a:endParaRPr/>
          </a:p>
        </p:txBody>
      </p:sp>
      <p:sp>
        <p:nvSpPr>
          <p:cNvPr id="10754" name="Google Shape;10754;p608"/>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Uses cases to deliver enhanced Regulation and Compliance</a:t>
            </a:r>
            <a:endParaRPr sz="1600"/>
          </a:p>
        </p:txBody>
      </p:sp>
      <p:sp>
        <p:nvSpPr>
          <p:cNvPr id="10755" name="Google Shape;10755;p608">
            <a:hlinkClick action="ppaction://hlinksldjump" r:id="rId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90" name="Shape 10790"/>
        <p:cNvGrpSpPr/>
        <p:nvPr/>
      </p:nvGrpSpPr>
      <p:grpSpPr>
        <a:xfrm>
          <a:off x="0" y="0"/>
          <a:ext cx="0" cy="0"/>
          <a:chOff x="0" y="0"/>
          <a:chExt cx="0" cy="0"/>
        </a:xfrm>
      </p:grpSpPr>
      <p:pic>
        <p:nvPicPr>
          <p:cNvPr id="10791" name="Google Shape;10791;p613"/>
          <p:cNvPicPr preferRelativeResize="0"/>
          <p:nvPr/>
        </p:nvPicPr>
        <p:blipFill rotWithShape="1">
          <a:blip r:embed="rId3">
            <a:alphaModFix/>
          </a:blip>
          <a:srcRect b="0" l="0" r="19512" t="0"/>
          <a:stretch/>
        </p:blipFill>
        <p:spPr>
          <a:xfrm>
            <a:off x="5378994" y="0"/>
            <a:ext cx="3765006" cy="5143500"/>
          </a:xfrm>
          <a:prstGeom prst="rect">
            <a:avLst/>
          </a:prstGeom>
          <a:noFill/>
          <a:ln>
            <a:noFill/>
          </a:ln>
        </p:spPr>
      </p:pic>
      <p:sp>
        <p:nvSpPr>
          <p:cNvPr id="10792" name="Google Shape;10792;p613"/>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1" marL="169863" rtl="0" algn="just">
              <a:lnSpc>
                <a:spcPct val="95000"/>
              </a:lnSpc>
              <a:spcBef>
                <a:spcPts val="200"/>
              </a:spcBef>
              <a:spcAft>
                <a:spcPts val="0"/>
              </a:spcAft>
              <a:buClr>
                <a:schemeClr val="dk1"/>
              </a:buClr>
              <a:buSzPts val="1300"/>
              <a:buFont typeface="Arial"/>
              <a:buChar char="•"/>
            </a:pPr>
            <a:r>
              <a:rPr lang="en-GB" sz="1300"/>
              <a:t>Regulators, investors and other external stakeholders expect to see consistency and transparency in the information which the organisation provides.</a:t>
            </a:r>
            <a:endParaRPr/>
          </a:p>
          <a:p>
            <a:pPr indent="-169863" lvl="1" marL="169863" rtl="0" algn="just">
              <a:lnSpc>
                <a:spcPct val="95000"/>
              </a:lnSpc>
              <a:spcBef>
                <a:spcPts val="600"/>
              </a:spcBef>
              <a:spcAft>
                <a:spcPts val="0"/>
              </a:spcAft>
              <a:buClr>
                <a:schemeClr val="dk1"/>
              </a:buClr>
              <a:buSzPts val="1300"/>
              <a:buFont typeface="Arial"/>
              <a:buChar char="•"/>
            </a:pPr>
            <a:r>
              <a:rPr lang="en-GB" sz="1300"/>
              <a:t>Information which organisations need to provide to Regulators is becoming more detailed and granular, and discrepancies caused by information siloes are more apparent.</a:t>
            </a:r>
            <a:endParaRPr/>
          </a:p>
          <a:p>
            <a:pPr indent="-169863" lvl="1" marL="169863" rtl="0" algn="just">
              <a:lnSpc>
                <a:spcPct val="95000"/>
              </a:lnSpc>
              <a:spcBef>
                <a:spcPts val="600"/>
              </a:spcBef>
              <a:spcAft>
                <a:spcPts val="0"/>
              </a:spcAft>
              <a:buClr>
                <a:schemeClr val="dk1"/>
              </a:buClr>
              <a:buSzPts val="1300"/>
              <a:buFont typeface="Arial"/>
              <a:buChar char="•"/>
            </a:pPr>
            <a:r>
              <a:rPr lang="en-GB" sz="1300"/>
              <a:t>In some industries, specific regulations focused on the </a:t>
            </a:r>
            <a:r>
              <a:rPr b="1" lang="en-GB" sz="1300"/>
              <a:t>quality</a:t>
            </a:r>
            <a:r>
              <a:rPr lang="en-GB" sz="1300"/>
              <a:t> of data and analytical infrastructures which are used for Regulatory and Compliance calculations and reporting are being introduced (e.g. BCBS239 for Financial Services).</a:t>
            </a:r>
            <a:endParaRPr/>
          </a:p>
        </p:txBody>
      </p:sp>
      <p:sp>
        <p:nvSpPr>
          <p:cNvPr id="10793" name="Google Shape;10793;p613"/>
          <p:cNvSpPr txBox="1"/>
          <p:nvPr>
            <p:ph type="title"/>
          </p:nvPr>
        </p:nvSpPr>
        <p:spPr>
          <a:xfrm>
            <a:off x="477880" y="3779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and Regulatory</a:t>
            </a:r>
            <a:br>
              <a:rPr lang="en-GB"/>
            </a:br>
            <a:r>
              <a:rPr lang="en-GB"/>
              <a:t>Compliance</a:t>
            </a:r>
            <a:endParaRPr/>
          </a:p>
        </p:txBody>
      </p:sp>
      <p:sp>
        <p:nvSpPr>
          <p:cNvPr id="10794" name="Google Shape;10794;p613"/>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0000" lIns="91425" spcFirstLastPara="1" rIns="180000" wrap="square" tIns="90000">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Many aspects of Regulation and Compliance now span the Risk and Finance functions. Risk metrics feed into Financial calculations and statements, and financial methods are being applied to estimates of Risk and volatility. </a:t>
            </a:r>
            <a:endParaRPr/>
          </a:p>
        </p:txBody>
      </p:sp>
      <p:sp>
        <p:nvSpPr>
          <p:cNvPr id="10795" name="Google Shape;10795;p61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34" name="Shape 10834"/>
        <p:cNvGrpSpPr/>
        <p:nvPr/>
      </p:nvGrpSpPr>
      <p:grpSpPr>
        <a:xfrm>
          <a:off x="0" y="0"/>
          <a:ext cx="0" cy="0"/>
          <a:chOff x="0" y="0"/>
          <a:chExt cx="0" cy="0"/>
        </a:xfrm>
      </p:grpSpPr>
      <p:cxnSp>
        <p:nvCxnSpPr>
          <p:cNvPr id="10835" name="Google Shape;10835;p616"/>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836" name="Google Shape;10836;p616"/>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analytic</a:t>
                      </a:r>
                      <a:r>
                        <a:rPr b="1" lang="en-GB" sz="900">
                          <a:solidFill>
                            <a:schemeClr val="dk1"/>
                          </a:solidFill>
                        </a:rPr>
                        <a:t> processes to monitor customer activity suggestive of potential attempt to launder money</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Increase</a:t>
                      </a:r>
                      <a:r>
                        <a:rPr b="0" lang="en-GB" sz="900">
                          <a:solidFill>
                            <a:schemeClr val="dk1"/>
                          </a:solidFill>
                        </a:rPr>
                        <a:t> systematic process to detect customer (retail, small business, commercial and corporate) behavior and behavior anomalies suggestive of anti-money laundering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operational risks associated with failed detection anti-money laundering and public disclosure, which would have a negative impact on market capital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risk of regulatory scrutiny and/or public disclosure if internal process or controls breaks exposes operational risks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Maintain best practices detection and reporting processes, acknowledging that this will drive regulatory compliance mandates (versus being reactive to mandates)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information file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 level details &amp;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HR data and Sales &amp; Service (potential internal collusion)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GL Organizational hierarchies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execution to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Other internal / external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Proactive detection of potential suspicious activity suggestive of money</a:t>
                      </a:r>
                      <a:r>
                        <a:rPr lang="en-GB" sz="800">
                          <a:solidFill>
                            <a:srgbClr val="3C3C3B"/>
                          </a:solidFill>
                        </a:rPr>
                        <a:t> laundering</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Reduced</a:t>
                      </a:r>
                      <a:r>
                        <a:rPr lang="en-GB" sz="800">
                          <a:solidFill>
                            <a:srgbClr val="3C3C3B"/>
                          </a:solidFill>
                        </a:rPr>
                        <a:t> </a:t>
                      </a:r>
                      <a:r>
                        <a:rPr lang="en-GB" sz="800">
                          <a:solidFill>
                            <a:srgbClr val="3C3C3B"/>
                          </a:solidFill>
                        </a:rPr>
                        <a:t>operational risk and/or capital impairment  with regulatory fines and/or</a:t>
                      </a:r>
                      <a:r>
                        <a:rPr lang="en-GB" sz="800">
                          <a:solidFill>
                            <a:srgbClr val="3C3C3B"/>
                          </a:solidFill>
                        </a:rPr>
                        <a:t> public disclosure and subsequent impact on brand value</a:t>
                      </a:r>
                      <a:endParaRPr sz="800">
                        <a:solidFill>
                          <a:srgbClr val="3C3C3B"/>
                        </a:solidFill>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Identification of internal training needs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Detection of broken business processes in need of redesign, approval steps, and/or review steps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Maintain efficient straight-thru process flow </a:t>
                      </a:r>
                      <a:endParaRPr/>
                    </a:p>
                    <a:p>
                      <a:pPr indent="0" lvl="0" marL="0" marR="0" rtl="0" algn="l">
                        <a:lnSpc>
                          <a:spcPct val="10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837" name="Google Shape;10837;p616"/>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Anti-Money Laundering</a:t>
            </a:r>
            <a:endParaRPr/>
          </a:p>
        </p:txBody>
      </p:sp>
      <p:sp>
        <p:nvSpPr>
          <p:cNvPr id="10838" name="Google Shape;10838;p61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839" name="Google Shape;10839;p616"/>
          <p:cNvGrpSpPr/>
          <p:nvPr/>
        </p:nvGrpSpPr>
        <p:grpSpPr>
          <a:xfrm>
            <a:off x="7717533" y="4360377"/>
            <a:ext cx="1058348" cy="347375"/>
            <a:chOff x="7651698" y="4287227"/>
            <a:chExt cx="1058348" cy="347375"/>
          </a:xfrm>
        </p:grpSpPr>
        <p:grpSp>
          <p:nvGrpSpPr>
            <p:cNvPr id="10840" name="Google Shape;10840;p616"/>
            <p:cNvGrpSpPr/>
            <p:nvPr/>
          </p:nvGrpSpPr>
          <p:grpSpPr>
            <a:xfrm>
              <a:off x="7714163" y="4337598"/>
              <a:ext cx="995883" cy="297004"/>
              <a:chOff x="7711013" y="3986494"/>
              <a:chExt cx="995883" cy="297004"/>
            </a:xfrm>
          </p:grpSpPr>
          <p:sp>
            <p:nvSpPr>
              <p:cNvPr id="10841" name="Google Shape;10841;p61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842" name="Google Shape;10842;p616"/>
              <p:cNvGrpSpPr/>
              <p:nvPr/>
            </p:nvGrpSpPr>
            <p:grpSpPr>
              <a:xfrm>
                <a:off x="7711013" y="4002615"/>
                <a:ext cx="281520" cy="241973"/>
                <a:chOff x="5652748" y="4066000"/>
                <a:chExt cx="906498" cy="747974"/>
              </a:xfrm>
            </p:grpSpPr>
            <p:sp>
              <p:nvSpPr>
                <p:cNvPr id="10843" name="Google Shape;10843;p61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44" name="Google Shape;10844;p61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845" name="Google Shape;10845;p61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846" name="Google Shape;10846;p61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65" name="Shape 10865"/>
        <p:cNvGrpSpPr/>
        <p:nvPr/>
      </p:nvGrpSpPr>
      <p:grpSpPr>
        <a:xfrm>
          <a:off x="0" y="0"/>
          <a:ext cx="0" cy="0"/>
          <a:chOff x="0" y="0"/>
          <a:chExt cx="0" cy="0"/>
        </a:xfrm>
      </p:grpSpPr>
      <p:pic>
        <p:nvPicPr>
          <p:cNvPr descr="BIZ-1037-L.jpg" id="10866" name="Google Shape;10866;p618"/>
          <p:cNvPicPr preferRelativeResize="0"/>
          <p:nvPr/>
        </p:nvPicPr>
        <p:blipFill rotWithShape="1">
          <a:blip r:embed="rId3">
            <a:alphaModFix/>
          </a:blip>
          <a:srcRect b="9176" l="-44" r="-443" t="0"/>
          <a:stretch/>
        </p:blipFill>
        <p:spPr>
          <a:xfrm>
            <a:off x="6612147" y="1"/>
            <a:ext cx="2567299" cy="1740302"/>
          </a:xfrm>
          <a:prstGeom prst="rect">
            <a:avLst/>
          </a:prstGeom>
          <a:noFill/>
          <a:ln>
            <a:noFill/>
          </a:ln>
          <a:effectLst>
            <a:outerShdw blurRad="50800" rotWithShape="0" algn="tl" dir="2700000" dist="38100">
              <a:srgbClr val="000000">
                <a:alpha val="40000"/>
              </a:srgbClr>
            </a:outerShdw>
          </a:effectLst>
        </p:spPr>
      </p:pic>
      <p:cxnSp>
        <p:nvCxnSpPr>
          <p:cNvPr id="10867" name="Google Shape;10867;p61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0868" name="Google Shape;10868;p618"/>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10869" name="Google Shape;10869;p618"/>
          <p:cNvGrpSpPr/>
          <p:nvPr/>
        </p:nvGrpSpPr>
        <p:grpSpPr>
          <a:xfrm rot="10800000">
            <a:off x="8402201" y="2375927"/>
            <a:ext cx="446523" cy="372936"/>
            <a:chOff x="4492625" y="3451225"/>
            <a:chExt cx="992188" cy="828675"/>
          </a:xfrm>
        </p:grpSpPr>
        <p:sp>
          <p:nvSpPr>
            <p:cNvPr id="10870" name="Google Shape;10870;p61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71" name="Google Shape;10871;p61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10872" name="Google Shape;10872;p618"/>
          <p:cNvGrpSpPr/>
          <p:nvPr/>
        </p:nvGrpSpPr>
        <p:grpSpPr>
          <a:xfrm>
            <a:off x="6027116" y="1367367"/>
            <a:ext cx="446523" cy="372936"/>
            <a:chOff x="4492625" y="3451225"/>
            <a:chExt cx="992188" cy="828675"/>
          </a:xfrm>
        </p:grpSpPr>
        <p:sp>
          <p:nvSpPr>
            <p:cNvPr id="10873" name="Google Shape;10873;p61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74" name="Google Shape;10874;p61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10875" name="Google Shape;10875;p618"/>
          <p:cNvGraphicFramePr/>
          <p:nvPr/>
        </p:nvGraphicFramePr>
        <p:xfrm>
          <a:off x="225786" y="838522"/>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Plan capital need and respective measures, allocate capital within organization, and et cost of capital</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Calculate (risk-adjusted) return on capital  and economic capital</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Support RWA calculation and capital adequacy reporting</a:t>
                      </a:r>
                      <a:endParaRPr/>
                    </a:p>
                    <a:p>
                      <a:pPr indent="-114300" lvl="1"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1"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Challenges: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Capital needs are growing, while sources of capital are ever more elusive/expensive/scarce</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Regulatory and economic capital models/calculations often not aligned, increasing complexity for management decisions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Regulatory impact on capital efficiency often not reflected in product development and capital allocation process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Selective agreement, customer, and collateral data; rating and market data for VaR calculation and stress scenarios; internal organization data (business units, profit centers etc)</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40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and calculate Regulatory and Economic Capital</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Calculate chosen Capital KPIs on single deal as well as on portfolio level</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and calculate stress scenarios (regulatory as well as economic)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Ability to evaluate the bank‘s long-term viability under different forward-looking strategies, including stress scenarios</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Efficient capital planning process taking into account projected balance sheets, income statements and risk-weighted assets on group level enabled</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Support fullfilment of regulatory stress testing requirements (e.g. CCAR, EBA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876" name="Google Shape;10876;p61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Capital Management</a:t>
            </a:r>
            <a:endParaRPr sz="1600"/>
          </a:p>
        </p:txBody>
      </p:sp>
      <p:sp>
        <p:nvSpPr>
          <p:cNvPr id="10877" name="Google Shape;10877;p618">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878" name="Google Shape;10878;p618"/>
          <p:cNvGrpSpPr/>
          <p:nvPr/>
        </p:nvGrpSpPr>
        <p:grpSpPr>
          <a:xfrm>
            <a:off x="7717533" y="4360377"/>
            <a:ext cx="1058348" cy="347375"/>
            <a:chOff x="7651698" y="4287227"/>
            <a:chExt cx="1058348" cy="347375"/>
          </a:xfrm>
        </p:grpSpPr>
        <p:grpSp>
          <p:nvGrpSpPr>
            <p:cNvPr id="10879" name="Google Shape;10879;p618"/>
            <p:cNvGrpSpPr/>
            <p:nvPr/>
          </p:nvGrpSpPr>
          <p:grpSpPr>
            <a:xfrm>
              <a:off x="7714163" y="4337598"/>
              <a:ext cx="995883" cy="297004"/>
              <a:chOff x="7711013" y="3986494"/>
              <a:chExt cx="995883" cy="297004"/>
            </a:xfrm>
          </p:grpSpPr>
          <p:sp>
            <p:nvSpPr>
              <p:cNvPr id="10880" name="Google Shape;10880;p61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881" name="Google Shape;10881;p618"/>
              <p:cNvGrpSpPr/>
              <p:nvPr/>
            </p:nvGrpSpPr>
            <p:grpSpPr>
              <a:xfrm>
                <a:off x="7711013" y="4002615"/>
                <a:ext cx="281520" cy="241973"/>
                <a:chOff x="5652748" y="4066000"/>
                <a:chExt cx="906498" cy="747974"/>
              </a:xfrm>
            </p:grpSpPr>
            <p:sp>
              <p:nvSpPr>
                <p:cNvPr id="10882" name="Google Shape;10882;p61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83" name="Google Shape;10883;p61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884" name="Google Shape;10884;p61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885" name="Google Shape;10885;p61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04" name="Shape 10904"/>
        <p:cNvGrpSpPr/>
        <p:nvPr/>
      </p:nvGrpSpPr>
      <p:grpSpPr>
        <a:xfrm>
          <a:off x="0" y="0"/>
          <a:ext cx="0" cy="0"/>
          <a:chOff x="0" y="0"/>
          <a:chExt cx="0" cy="0"/>
        </a:xfrm>
      </p:grpSpPr>
      <p:cxnSp>
        <p:nvCxnSpPr>
          <p:cNvPr id="10905" name="Google Shape;10905;p62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906" name="Google Shape;10906;p62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907" name="Google Shape;10907;p62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Financial Reporting Regulation</a:t>
            </a:r>
            <a:endParaRPr b="1"/>
          </a:p>
        </p:txBody>
      </p:sp>
      <p:sp>
        <p:nvSpPr>
          <p:cNvPr id="10908" name="Google Shape;10908;p62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909" name="Google Shape;10909;p620"/>
          <p:cNvGrpSpPr/>
          <p:nvPr/>
        </p:nvGrpSpPr>
        <p:grpSpPr>
          <a:xfrm>
            <a:off x="7717533" y="4360377"/>
            <a:ext cx="1058348" cy="347375"/>
            <a:chOff x="7651698" y="4287227"/>
            <a:chExt cx="1058348" cy="347375"/>
          </a:xfrm>
        </p:grpSpPr>
        <p:grpSp>
          <p:nvGrpSpPr>
            <p:cNvPr id="10910" name="Google Shape;10910;p620"/>
            <p:cNvGrpSpPr/>
            <p:nvPr/>
          </p:nvGrpSpPr>
          <p:grpSpPr>
            <a:xfrm>
              <a:off x="7714163" y="4337598"/>
              <a:ext cx="995883" cy="297004"/>
              <a:chOff x="7711013" y="3986494"/>
              <a:chExt cx="995883" cy="297004"/>
            </a:xfrm>
          </p:grpSpPr>
          <p:sp>
            <p:nvSpPr>
              <p:cNvPr id="10911" name="Google Shape;10911;p62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912" name="Google Shape;10912;p620"/>
              <p:cNvGrpSpPr/>
              <p:nvPr/>
            </p:nvGrpSpPr>
            <p:grpSpPr>
              <a:xfrm>
                <a:off x="7711013" y="4002615"/>
                <a:ext cx="281520" cy="241973"/>
                <a:chOff x="5652748" y="4066000"/>
                <a:chExt cx="906498" cy="747974"/>
              </a:xfrm>
            </p:grpSpPr>
            <p:sp>
              <p:nvSpPr>
                <p:cNvPr id="10913" name="Google Shape;10913;p6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914" name="Google Shape;10914;p6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915" name="Google Shape;10915;p6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916" name="Google Shape;10916;p62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35" name="Shape 10935"/>
        <p:cNvGrpSpPr/>
        <p:nvPr/>
      </p:nvGrpSpPr>
      <p:grpSpPr>
        <a:xfrm>
          <a:off x="0" y="0"/>
          <a:ext cx="0" cy="0"/>
          <a:chOff x="0" y="0"/>
          <a:chExt cx="0" cy="0"/>
        </a:xfrm>
      </p:grpSpPr>
      <p:cxnSp>
        <p:nvCxnSpPr>
          <p:cNvPr id="10936" name="Google Shape;10936;p622"/>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937" name="Google Shape;10937;p622"/>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938" name="Google Shape;10938;p622"/>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Disclosure</a:t>
            </a:r>
            <a:endParaRPr b="1"/>
          </a:p>
        </p:txBody>
      </p:sp>
      <p:sp>
        <p:nvSpPr>
          <p:cNvPr id="10939" name="Google Shape;10939;p62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940" name="Google Shape;10940;p622"/>
          <p:cNvGrpSpPr/>
          <p:nvPr/>
        </p:nvGrpSpPr>
        <p:grpSpPr>
          <a:xfrm>
            <a:off x="7717533" y="4360377"/>
            <a:ext cx="1058348" cy="347375"/>
            <a:chOff x="7651698" y="4287227"/>
            <a:chExt cx="1058348" cy="347375"/>
          </a:xfrm>
        </p:grpSpPr>
        <p:grpSp>
          <p:nvGrpSpPr>
            <p:cNvPr id="10941" name="Google Shape;10941;p622"/>
            <p:cNvGrpSpPr/>
            <p:nvPr/>
          </p:nvGrpSpPr>
          <p:grpSpPr>
            <a:xfrm>
              <a:off x="7714163" y="4337598"/>
              <a:ext cx="995883" cy="297004"/>
              <a:chOff x="7711013" y="3986494"/>
              <a:chExt cx="995883" cy="297004"/>
            </a:xfrm>
          </p:grpSpPr>
          <p:sp>
            <p:nvSpPr>
              <p:cNvPr id="10942" name="Google Shape;10942;p62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943" name="Google Shape;10943;p622"/>
              <p:cNvGrpSpPr/>
              <p:nvPr/>
            </p:nvGrpSpPr>
            <p:grpSpPr>
              <a:xfrm>
                <a:off x="7711013" y="4002615"/>
                <a:ext cx="281520" cy="241973"/>
                <a:chOff x="5652748" y="4066000"/>
                <a:chExt cx="906498" cy="747974"/>
              </a:xfrm>
            </p:grpSpPr>
            <p:sp>
              <p:nvSpPr>
                <p:cNvPr id="10944" name="Google Shape;10944;p62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945" name="Google Shape;10945;p62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946" name="Google Shape;10946;p62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947" name="Google Shape;10947;p62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65" name="Shape 10965"/>
        <p:cNvGrpSpPr/>
        <p:nvPr/>
      </p:nvGrpSpPr>
      <p:grpSpPr>
        <a:xfrm>
          <a:off x="0" y="0"/>
          <a:ext cx="0" cy="0"/>
          <a:chOff x="0" y="0"/>
          <a:chExt cx="0" cy="0"/>
        </a:xfrm>
      </p:grpSpPr>
      <p:sp>
        <p:nvSpPr>
          <p:cNvPr id="10966" name="Google Shape;10966;p624"/>
          <p:cNvSpPr txBox="1"/>
          <p:nvPr>
            <p:ph idx="1" type="body"/>
          </p:nvPr>
        </p:nvSpPr>
        <p:spPr>
          <a:xfrm>
            <a:off x="350402" y="1496481"/>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Point 1</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2</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3</a:t>
            </a:r>
            <a:endParaRPr/>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6363" lvl="0" marL="169863" rtl="0" algn="l">
              <a:lnSpc>
                <a:spcPct val="110000"/>
              </a:lnSpc>
              <a:spcBef>
                <a:spcPts val="800"/>
              </a:spcBef>
              <a:spcAft>
                <a:spcPts val="0"/>
              </a:spcAft>
              <a:buClr>
                <a:schemeClr val="dk1"/>
              </a:buClr>
              <a:buSzPts val="1000"/>
              <a:buNone/>
            </a:pPr>
            <a:r>
              <a:t/>
            </a:r>
            <a:endParaRPr sz="1000"/>
          </a:p>
          <a:p>
            <a:pPr indent="-106363" lvl="0" marL="169863" rtl="0" algn="l">
              <a:lnSpc>
                <a:spcPct val="110000"/>
              </a:lnSpc>
              <a:spcBef>
                <a:spcPts val="800"/>
              </a:spcBef>
              <a:spcAft>
                <a:spcPts val="0"/>
              </a:spcAft>
              <a:buClr>
                <a:schemeClr val="dk1"/>
              </a:buClr>
              <a:buSzPts val="1000"/>
              <a:buNone/>
            </a:pPr>
            <a:r>
              <a:t/>
            </a:r>
            <a:endParaRPr sz="1000"/>
          </a:p>
          <a:p>
            <a:pPr indent="-106363" lvl="0" marL="169863" rtl="0" algn="l">
              <a:lnSpc>
                <a:spcPct val="110000"/>
              </a:lnSpc>
              <a:spcBef>
                <a:spcPts val="800"/>
              </a:spcBef>
              <a:spcAft>
                <a:spcPts val="0"/>
              </a:spcAft>
              <a:buClr>
                <a:schemeClr val="dk1"/>
              </a:buClr>
              <a:buSzPts val="1000"/>
              <a:buNone/>
            </a:pPr>
            <a:r>
              <a:t/>
            </a:r>
            <a:endParaRPr sz="1000"/>
          </a:p>
          <a:p>
            <a:pPr indent="0" lvl="2" marL="0" rtl="0" algn="l">
              <a:lnSpc>
                <a:spcPct val="110000"/>
              </a:lnSpc>
              <a:spcBef>
                <a:spcPts val="200"/>
              </a:spcBef>
              <a:spcAft>
                <a:spcPts val="0"/>
              </a:spcAft>
              <a:buClr>
                <a:schemeClr val="lt1"/>
              </a:buClr>
              <a:buSzPts val="1100"/>
              <a:buNone/>
            </a:pPr>
            <a:r>
              <a:rPr lang="en-GB" sz="1100">
                <a:solidFill>
                  <a:schemeClr val="lt1"/>
                </a:solidFill>
              </a:rPr>
              <a:t>and Forecasting.</a:t>
            </a:r>
            <a:endParaRPr sz="1100">
              <a:solidFill>
                <a:schemeClr val="lt1"/>
              </a:solidFill>
            </a:endParaRPr>
          </a:p>
        </p:txBody>
      </p:sp>
      <p:sp>
        <p:nvSpPr>
          <p:cNvPr id="10967" name="Google Shape;10967;p624"/>
          <p:cNvSpPr txBox="1"/>
          <p:nvPr>
            <p:ph type="title"/>
          </p:nvPr>
        </p:nvSpPr>
        <p:spPr>
          <a:xfrm>
            <a:off x="173080" y="353481"/>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Consumer Protection</a:t>
            </a:r>
            <a:endParaRPr/>
          </a:p>
        </p:txBody>
      </p:sp>
      <p:pic>
        <p:nvPicPr>
          <p:cNvPr descr="iStock_000055909600_Full.jpg" id="10968" name="Google Shape;10968;p624"/>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10969" name="Google Shape;10969;p624"/>
          <p:cNvSpPr/>
          <p:nvPr/>
        </p:nvSpPr>
        <p:spPr>
          <a:xfrm>
            <a:off x="76200" y="639230"/>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Revenue Integrity is defined as</a:t>
            </a:r>
            <a:endParaRPr/>
          </a:p>
        </p:txBody>
      </p:sp>
      <p:sp>
        <p:nvSpPr>
          <p:cNvPr id="10970" name="Google Shape;10970;p62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00" name="Shape 11000"/>
        <p:cNvGrpSpPr/>
        <p:nvPr/>
      </p:nvGrpSpPr>
      <p:grpSpPr>
        <a:xfrm>
          <a:off x="0" y="0"/>
          <a:ext cx="0" cy="0"/>
          <a:chOff x="0" y="0"/>
          <a:chExt cx="0" cy="0"/>
        </a:xfrm>
      </p:grpSpPr>
      <p:cxnSp>
        <p:nvCxnSpPr>
          <p:cNvPr id="11001" name="Google Shape;11001;p626"/>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02" name="Google Shape;11002;p626"/>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03" name="Google Shape;11003;p626"/>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Truth-in-Advertising</a:t>
            </a:r>
            <a:endParaRPr b="1"/>
          </a:p>
        </p:txBody>
      </p:sp>
      <p:sp>
        <p:nvSpPr>
          <p:cNvPr id="11004" name="Google Shape;11004;p62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05" name="Google Shape;11005;p626"/>
          <p:cNvGrpSpPr/>
          <p:nvPr/>
        </p:nvGrpSpPr>
        <p:grpSpPr>
          <a:xfrm>
            <a:off x="7717533" y="4360377"/>
            <a:ext cx="1058348" cy="347375"/>
            <a:chOff x="7651698" y="4287227"/>
            <a:chExt cx="1058348" cy="347375"/>
          </a:xfrm>
        </p:grpSpPr>
        <p:grpSp>
          <p:nvGrpSpPr>
            <p:cNvPr id="11006" name="Google Shape;11006;p626"/>
            <p:cNvGrpSpPr/>
            <p:nvPr/>
          </p:nvGrpSpPr>
          <p:grpSpPr>
            <a:xfrm>
              <a:off x="7714163" y="4337598"/>
              <a:ext cx="995883" cy="297004"/>
              <a:chOff x="7711013" y="3986494"/>
              <a:chExt cx="995883" cy="297004"/>
            </a:xfrm>
          </p:grpSpPr>
          <p:sp>
            <p:nvSpPr>
              <p:cNvPr id="11007" name="Google Shape;11007;p62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008" name="Google Shape;11008;p626"/>
              <p:cNvGrpSpPr/>
              <p:nvPr/>
            </p:nvGrpSpPr>
            <p:grpSpPr>
              <a:xfrm>
                <a:off x="7711013" y="4002615"/>
                <a:ext cx="281520" cy="241973"/>
                <a:chOff x="5652748" y="4066000"/>
                <a:chExt cx="906498" cy="747974"/>
              </a:xfrm>
            </p:grpSpPr>
            <p:sp>
              <p:nvSpPr>
                <p:cNvPr id="11009" name="Google Shape;11009;p62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010" name="Google Shape;11010;p62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011" name="Google Shape;11011;p62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012" name="Google Shape;11012;p62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31" name="Shape 11031"/>
        <p:cNvGrpSpPr/>
        <p:nvPr/>
      </p:nvGrpSpPr>
      <p:grpSpPr>
        <a:xfrm>
          <a:off x="0" y="0"/>
          <a:ext cx="0" cy="0"/>
          <a:chOff x="0" y="0"/>
          <a:chExt cx="0" cy="0"/>
        </a:xfrm>
      </p:grpSpPr>
      <p:cxnSp>
        <p:nvCxnSpPr>
          <p:cNvPr id="11032" name="Google Shape;11032;p628"/>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33" name="Google Shape;11033;p628"/>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34" name="Google Shape;11034;p628"/>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Predatory Practices</a:t>
            </a:r>
            <a:endParaRPr b="1"/>
          </a:p>
        </p:txBody>
      </p:sp>
      <p:sp>
        <p:nvSpPr>
          <p:cNvPr id="11035" name="Google Shape;11035;p62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36" name="Google Shape;11036;p628"/>
          <p:cNvGrpSpPr/>
          <p:nvPr/>
        </p:nvGrpSpPr>
        <p:grpSpPr>
          <a:xfrm>
            <a:off x="7717533" y="4360377"/>
            <a:ext cx="1058348" cy="347375"/>
            <a:chOff x="7651698" y="4287227"/>
            <a:chExt cx="1058348" cy="347375"/>
          </a:xfrm>
        </p:grpSpPr>
        <p:grpSp>
          <p:nvGrpSpPr>
            <p:cNvPr id="11037" name="Google Shape;11037;p628"/>
            <p:cNvGrpSpPr/>
            <p:nvPr/>
          </p:nvGrpSpPr>
          <p:grpSpPr>
            <a:xfrm>
              <a:off x="7714163" y="4337598"/>
              <a:ext cx="995883" cy="297004"/>
              <a:chOff x="7711013" y="3986494"/>
              <a:chExt cx="995883" cy="297004"/>
            </a:xfrm>
          </p:grpSpPr>
          <p:sp>
            <p:nvSpPr>
              <p:cNvPr id="11038" name="Google Shape;11038;p62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039" name="Google Shape;11039;p628"/>
              <p:cNvGrpSpPr/>
              <p:nvPr/>
            </p:nvGrpSpPr>
            <p:grpSpPr>
              <a:xfrm>
                <a:off x="7711013" y="4002615"/>
                <a:ext cx="281520" cy="241973"/>
                <a:chOff x="5652748" y="4066000"/>
                <a:chExt cx="906498" cy="747974"/>
              </a:xfrm>
            </p:grpSpPr>
            <p:sp>
              <p:nvSpPr>
                <p:cNvPr id="11040" name="Google Shape;11040;p62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041" name="Google Shape;11041;p62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042" name="Google Shape;11042;p62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043" name="Google Shape;11043;p62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62" name="Shape 11062"/>
        <p:cNvGrpSpPr/>
        <p:nvPr/>
      </p:nvGrpSpPr>
      <p:grpSpPr>
        <a:xfrm>
          <a:off x="0" y="0"/>
          <a:ext cx="0" cy="0"/>
          <a:chOff x="0" y="0"/>
          <a:chExt cx="0" cy="0"/>
        </a:xfrm>
      </p:grpSpPr>
      <p:cxnSp>
        <p:nvCxnSpPr>
          <p:cNvPr id="11063" name="Google Shape;11063;p63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64" name="Google Shape;11064;p63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65" name="Google Shape;11065;p63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Privacy Protections</a:t>
            </a:r>
            <a:endParaRPr b="1"/>
          </a:p>
        </p:txBody>
      </p:sp>
      <p:sp>
        <p:nvSpPr>
          <p:cNvPr id="11066" name="Google Shape;11066;p63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67" name="Google Shape;11067;p630"/>
          <p:cNvGrpSpPr/>
          <p:nvPr/>
        </p:nvGrpSpPr>
        <p:grpSpPr>
          <a:xfrm>
            <a:off x="7717533" y="4360377"/>
            <a:ext cx="1058348" cy="347375"/>
            <a:chOff x="7651698" y="4287227"/>
            <a:chExt cx="1058348" cy="347375"/>
          </a:xfrm>
        </p:grpSpPr>
        <p:grpSp>
          <p:nvGrpSpPr>
            <p:cNvPr id="11068" name="Google Shape;11068;p630"/>
            <p:cNvGrpSpPr/>
            <p:nvPr/>
          </p:nvGrpSpPr>
          <p:grpSpPr>
            <a:xfrm>
              <a:off x="7714163" y="4337598"/>
              <a:ext cx="995883" cy="297004"/>
              <a:chOff x="7711013" y="3986494"/>
              <a:chExt cx="995883" cy="297004"/>
            </a:xfrm>
          </p:grpSpPr>
          <p:sp>
            <p:nvSpPr>
              <p:cNvPr id="11069" name="Google Shape;11069;p63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070" name="Google Shape;11070;p630"/>
              <p:cNvGrpSpPr/>
              <p:nvPr/>
            </p:nvGrpSpPr>
            <p:grpSpPr>
              <a:xfrm>
                <a:off x="7711013" y="4002615"/>
                <a:ext cx="281520" cy="241973"/>
                <a:chOff x="5652748" y="4066000"/>
                <a:chExt cx="906498" cy="747974"/>
              </a:xfrm>
            </p:grpSpPr>
            <p:sp>
              <p:nvSpPr>
                <p:cNvPr id="11071" name="Google Shape;11071;p63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072" name="Google Shape;11072;p63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073" name="Google Shape;11073;p63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074" name="Google Shape;11074;p63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93" name="Shape 11093"/>
        <p:cNvGrpSpPr/>
        <p:nvPr/>
      </p:nvGrpSpPr>
      <p:grpSpPr>
        <a:xfrm>
          <a:off x="0" y="0"/>
          <a:ext cx="0" cy="0"/>
          <a:chOff x="0" y="0"/>
          <a:chExt cx="0" cy="0"/>
        </a:xfrm>
      </p:grpSpPr>
      <p:cxnSp>
        <p:nvCxnSpPr>
          <p:cNvPr id="11094" name="Google Shape;11094;p632"/>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95" name="Google Shape;11095;p632"/>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96" name="Google Shape;11096;p632"/>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Do-Not-Solicit</a:t>
            </a:r>
            <a:endParaRPr b="1"/>
          </a:p>
        </p:txBody>
      </p:sp>
      <p:sp>
        <p:nvSpPr>
          <p:cNvPr id="11097" name="Google Shape;11097;p63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98" name="Google Shape;11098;p632"/>
          <p:cNvGrpSpPr/>
          <p:nvPr/>
        </p:nvGrpSpPr>
        <p:grpSpPr>
          <a:xfrm>
            <a:off x="7717533" y="4360377"/>
            <a:ext cx="1058348" cy="347375"/>
            <a:chOff x="7651698" y="4287227"/>
            <a:chExt cx="1058348" cy="347375"/>
          </a:xfrm>
        </p:grpSpPr>
        <p:grpSp>
          <p:nvGrpSpPr>
            <p:cNvPr id="11099" name="Google Shape;11099;p632"/>
            <p:cNvGrpSpPr/>
            <p:nvPr/>
          </p:nvGrpSpPr>
          <p:grpSpPr>
            <a:xfrm>
              <a:off x="7714163" y="4337598"/>
              <a:ext cx="995883" cy="297004"/>
              <a:chOff x="7711013" y="3986494"/>
              <a:chExt cx="995883" cy="297004"/>
            </a:xfrm>
          </p:grpSpPr>
          <p:sp>
            <p:nvSpPr>
              <p:cNvPr id="11100" name="Google Shape;11100;p63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101" name="Google Shape;11101;p632"/>
              <p:cNvGrpSpPr/>
              <p:nvPr/>
            </p:nvGrpSpPr>
            <p:grpSpPr>
              <a:xfrm>
                <a:off x="7711013" y="4002615"/>
                <a:ext cx="281520" cy="241973"/>
                <a:chOff x="5652748" y="4066000"/>
                <a:chExt cx="906498" cy="747974"/>
              </a:xfrm>
            </p:grpSpPr>
            <p:sp>
              <p:nvSpPr>
                <p:cNvPr id="11102" name="Google Shape;11102;p63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103" name="Google Shape;11103;p63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04" name="Google Shape;11104;p63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105" name="Google Shape;11105;p63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30" name="Shape 11130"/>
        <p:cNvGrpSpPr/>
        <p:nvPr/>
      </p:nvGrpSpPr>
      <p:grpSpPr>
        <a:xfrm>
          <a:off x="0" y="0"/>
          <a:ext cx="0" cy="0"/>
          <a:chOff x="0" y="0"/>
          <a:chExt cx="0" cy="0"/>
        </a:xfrm>
      </p:grpSpPr>
      <p:cxnSp>
        <p:nvCxnSpPr>
          <p:cNvPr id="11131" name="Google Shape;11131;p63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32" name="Google Shape;11132;p63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33" name="Google Shape;11133;p63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134" name="Google Shape;11134;p63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35" name="Google Shape;11135;p635"/>
          <p:cNvSpPr/>
          <p:nvPr/>
        </p:nvSpPr>
        <p:spPr>
          <a:xfrm>
            <a:off x="4820082" y="807897"/>
            <a:ext cx="4237654"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institutions have been assessed about $12 billion in fines, penalties, and forfeitures for violations of BSA/AML/KYC</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Using data analytics and a real-time AML compliance dashboard can help institutions address needs around transaction monitoring.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Global governance program, resolving periodic review deficiencies and keeping ahead of proposed regulations can ease challenges around KYC and Customer Due Diligence concerns and avoiding fines.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36" name="Google Shape;11136;p635"/>
          <p:cNvSpPr/>
          <p:nvPr/>
        </p:nvSpPr>
        <p:spPr>
          <a:xfrm>
            <a:off x="6148806" y="2022851"/>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Fraud rules - Modelling outcomes feed to establish fraud and money laundering detection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Authorization score – rules for real-time transaction approval/authorization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Early threat detection – Adverse external triggers (social, web, mobile, logs) indicating fraud and money laundering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Related activity –  Infer threats from related entities indicating likelihood of fraud and money laundering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37" name="Google Shape;11137;p635"/>
          <p:cNvSpPr/>
          <p:nvPr/>
        </p:nvSpPr>
        <p:spPr>
          <a:xfrm>
            <a:off x="3271845" y="3493771"/>
            <a:ext cx="278610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Detect customers exhibiting behavior patterns suggestive of potential  money laundering and suspicious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Incidents, events, sequences of events, and risk factors leading to suspicious activity.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payment/payoff behavior within and across credit product.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Loans in high-risk areas, or those that have characteristics in common with previously detected fraudulent transactions.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38" name="Google Shape;11138;p635"/>
          <p:cNvSpPr/>
          <p:nvPr/>
        </p:nvSpPr>
        <p:spPr>
          <a:xfrm>
            <a:off x="3271845" y="2022851"/>
            <a:ext cx="278610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Regression models – high-propensity for fraud transactions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Association analysis – related loss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 event and incident sequences, sequence leading to magnitude of fraud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 text and logs sentiment leading to fraud and money laundering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Monte Carlo Simulation – simulate fraud and money laundering incidents</a:t>
            </a:r>
            <a:endParaRPr sz="800">
              <a:solidFill>
                <a:srgbClr val="3C3C3B"/>
              </a:solidFill>
              <a:latin typeface="Century Gothic"/>
              <a:ea typeface="Century Gothic"/>
              <a:cs typeface="Century Gothic"/>
              <a:sym typeface="Century Gothic"/>
            </a:endParaRPr>
          </a:p>
        </p:txBody>
      </p:sp>
      <p:sp>
        <p:nvSpPr>
          <p:cNvPr id="11139" name="Google Shape;11139;p635"/>
          <p:cNvSpPr/>
          <p:nvPr/>
        </p:nvSpPr>
        <p:spPr>
          <a:xfrm>
            <a:off x="423863" y="3493771"/>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Security departments are also frequently challenged to justify additional IT spends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High volume of data and investigations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Staff level capacity constraints</a:t>
            </a:r>
            <a:endParaRPr/>
          </a:p>
        </p:txBody>
      </p:sp>
      <p:sp>
        <p:nvSpPr>
          <p:cNvPr id="11140" name="Google Shape;11140;p635"/>
          <p:cNvSpPr/>
          <p:nvPr/>
        </p:nvSpPr>
        <p:spPr>
          <a:xfrm>
            <a:off x="423863" y="2022851"/>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Fraud and money laundering incidents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Regulatory, legal, compliance and policy rules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 logs, contact center logs, social media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41" name="Google Shape;11141;p63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Determine evidenced based detection, mitigation and prevention strategies for fraud and money laundering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Determine effective process interventions for addressing fraud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high-likelihood event sequences for rapid fraud and money laundering detection rules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142" name="Google Shape;11142;p63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Owners:  William Bishop</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11143" name="Google Shape;11143;p63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11144" name="Google Shape;11144;p63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Anti-Money Laundering, Suspicious Activity &amp; KYC</a:t>
            </a:r>
            <a:endParaRPr sz="2000"/>
          </a:p>
        </p:txBody>
      </p:sp>
      <p:sp>
        <p:nvSpPr>
          <p:cNvPr id="11145" name="Google Shape;11145;p63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50" name="Shape 11150"/>
        <p:cNvGrpSpPr/>
        <p:nvPr/>
      </p:nvGrpSpPr>
      <p:grpSpPr>
        <a:xfrm>
          <a:off x="0" y="0"/>
          <a:ext cx="0" cy="0"/>
          <a:chOff x="0" y="0"/>
          <a:chExt cx="0" cy="0"/>
        </a:xfrm>
      </p:grpSpPr>
      <p:cxnSp>
        <p:nvCxnSpPr>
          <p:cNvPr id="11151" name="Google Shape;11151;p63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52" name="Google Shape;11152;p63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53" name="Google Shape;11153;p63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154" name="Google Shape;11154;p63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55" name="Google Shape;11155;p63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BCBS 239 will assist banks to coordinate investment in people, process, technology and data, with the right approach and steer from the top and support their decision-making needs fully.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Banks need to deliver: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common view of business activity across risk and finance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control standards in line with their finance counterparts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Sustainable operating models to manage increased frequency, volumes and governance expectations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 radically improved data quality and transparency across the management of risk life cycle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56" name="Google Shape;11156;p63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End-to-End data lineage and governance ensures quality, transparency and traceability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Governance processes to ensure data quality and consistent use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Flexible architecture facilitated rapid scaling, adaptability and timeliness of risk &amp; regulatory reporting, portfolio level decisions reporting.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57" name="Google Shape;11157;p63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required data available from a single source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reconciled to GL and transactional systems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Analytic applications source and return enriched data to common DW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reports and analysis produced from the DW with common portal, hierarchies and delivery processes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58" name="Google Shape;11158;p63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explorations and data discovery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 /Data warehousing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Descriptive Statistics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regression, vintage, roll rates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Multivariate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59" name="Google Shape;11159;p63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client lacked a common integrated risk framework, data store, data lineage and quality monitoring, which resulted in decentralized, inefficient and inconsistent risk reporting.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60" name="Google Shape;11160;p63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Pipeline Data including time stamp of activities  during underwriting and approval process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level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and regulatory reporting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models (CCAR, Pricing, ALM) output and input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Dimensions and Fact Tables from all customer activity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161" name="Google Shape;11161;p63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 14 principles-based regulations of BCBS 239 on risk are intended to measure their risk performance. In response, banks must develop compliance metrics. This is part of Basel Committee on Banking Supervision (BCBS).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 document issued by the Basel Committee in Jan 2013.</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Significantly increases the stakes on quality of organizational, data and analytic infrastructure.</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162" name="Google Shape;11162;p63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163" name="Google Shape;11163;p63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164" name="Google Shape;11164;p63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BASEL (BCBS 239)</a:t>
            </a:r>
            <a:endParaRPr sz="2400"/>
          </a:p>
        </p:txBody>
      </p:sp>
      <p:sp>
        <p:nvSpPr>
          <p:cNvPr id="11165" name="Google Shape;11165;p6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70" name="Shape 11170"/>
        <p:cNvGrpSpPr/>
        <p:nvPr/>
      </p:nvGrpSpPr>
      <p:grpSpPr>
        <a:xfrm>
          <a:off x="0" y="0"/>
          <a:ext cx="0" cy="0"/>
          <a:chOff x="0" y="0"/>
          <a:chExt cx="0" cy="0"/>
        </a:xfrm>
      </p:grpSpPr>
      <p:cxnSp>
        <p:nvCxnSpPr>
          <p:cNvPr id="11171" name="Google Shape;11171;p63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72" name="Google Shape;11172;p63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73" name="Google Shape;11173;p63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174" name="Google Shape;11174;p63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75" name="Google Shape;11175;p63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76" name="Google Shape;11176;p63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177" name="Google Shape;11177;p63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78" name="Google Shape;11178;p63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79" name="Google Shape;11179;p63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180" name="Google Shape;11180;p63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181" name="Google Shape;11181;p63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182" name="Google Shape;11182;p63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183" name="Google Shape;11183;p63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184" name="Google Shape;11184;p63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BASEL II</a:t>
            </a:r>
            <a:endParaRPr sz="2400"/>
          </a:p>
        </p:txBody>
      </p:sp>
      <p:sp>
        <p:nvSpPr>
          <p:cNvPr id="11185" name="Google Shape;11185;p63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90" name="Shape 11190"/>
        <p:cNvGrpSpPr/>
        <p:nvPr/>
      </p:nvGrpSpPr>
      <p:grpSpPr>
        <a:xfrm>
          <a:off x="0" y="0"/>
          <a:ext cx="0" cy="0"/>
          <a:chOff x="0" y="0"/>
          <a:chExt cx="0" cy="0"/>
        </a:xfrm>
      </p:grpSpPr>
      <p:cxnSp>
        <p:nvCxnSpPr>
          <p:cNvPr id="11191" name="Google Shape;11191;p63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92" name="Google Shape;11192;p63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93" name="Google Shape;11193;p63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194" name="Google Shape;11194;p63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95" name="Google Shape;11195;p63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Meet regulatory requirements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Capital Management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What-if capabilities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development and implementation time</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96" name="Google Shape;11196;p63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Active integration with risk application to improve models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Statistical capabilities across results, models and aggregate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Rapid ingestion and standardization of data, aggregation of risk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 warehouse risk calculations to minimize risk engine processing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risk engines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97" name="Google Shape;11197;p63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FED CCAR (Comprehensive Capital Adequacy Review) Data consistency and completeness across applications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Financial reconciliation B/S and P&amp;L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master data and metadata Support all types of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Efficient workflows including no manual intervention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98" name="Google Shape;11198;p63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Models (Account Level, regression and roll rates, vintage,  credit rating migration,)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 Models (RAROC, Greeks)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PPNR Models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Prepayment Models</a:t>
            </a:r>
            <a:endParaRPr sz="800">
              <a:solidFill>
                <a:srgbClr val="3C3C3B"/>
              </a:solidFill>
              <a:latin typeface="Century Gothic"/>
              <a:ea typeface="Century Gothic"/>
              <a:cs typeface="Century Gothic"/>
              <a:sym typeface="Century Gothic"/>
            </a:endParaRPr>
          </a:p>
        </p:txBody>
      </p:sp>
      <p:sp>
        <p:nvSpPr>
          <p:cNvPr id="11199" name="Google Shape;11199;p63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Frequency and latency for complete risk aggregation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Reduction of manual intervention in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Flexibility of risk aggregation and underlying process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00" name="Google Shape;11200;p63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customer/counter party, agreement,  risk rating, collateral, servicing, losses, loss forecast, economic (external data) by Line of Business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Pre-Provision Net Revenue (PPNR), Income Statement and Balance Sheet  reconciled to atomic level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Source systems examples: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 ALS, FIS, ACBS, AFS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01" name="Google Shape;11201;p63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CCAR is a regulatory framework introduced by the Federal Reserve in order to assess, regulate, and supervise large banks and financial institutions - collectively referred to in the framework as Bank Holding Companies (BHCs).  The assessment is conducted annually and consists of two related programs:  (1) Comprehensive Capital Analysis and Review and (2) Dodd-Frank Act supervisory stress testing. Various source data and forecasting techniques are utilized along with regulatory  </a:t>
            </a:r>
            <a:br>
              <a:rPr lang="en-GB" sz="900">
                <a:solidFill>
                  <a:schemeClr val="dk1"/>
                </a:solidFill>
                <a:latin typeface="Century Gothic"/>
                <a:ea typeface="Century Gothic"/>
                <a:cs typeface="Century Gothic"/>
                <a:sym typeface="Century Gothic"/>
              </a:rPr>
            </a:b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02" name="Google Shape;11202;p63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Owners:  Shelly Biggs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03" name="Google Shape;11203;p63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04" name="Google Shape;11204;p63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Comprehensive Capital Analysis &amp; Review (CCAR)</a:t>
            </a:r>
            <a:endParaRPr sz="1800"/>
          </a:p>
        </p:txBody>
      </p:sp>
      <p:sp>
        <p:nvSpPr>
          <p:cNvPr id="11205" name="Google Shape;11205;p6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10" name="Shape 11210"/>
        <p:cNvGrpSpPr/>
        <p:nvPr/>
      </p:nvGrpSpPr>
      <p:grpSpPr>
        <a:xfrm>
          <a:off x="0" y="0"/>
          <a:ext cx="0" cy="0"/>
          <a:chOff x="0" y="0"/>
          <a:chExt cx="0" cy="0"/>
        </a:xfrm>
      </p:grpSpPr>
      <p:cxnSp>
        <p:nvCxnSpPr>
          <p:cNvPr id="11211" name="Google Shape;11211;p63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12" name="Google Shape;11212;p63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13" name="Google Shape;11213;p63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214" name="Google Shape;11214;p63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15" name="Google Shape;11215;p63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16" name="Google Shape;11216;p63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217" name="Google Shape;11217;p63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18" name="Google Shape;11218;p63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19" name="Google Shape;11219;p63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220" name="Google Shape;11220;p63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21" name="Google Shape;11221;p63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22" name="Google Shape;11222;p63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223" name="Google Shape;11223;p63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24" name="Google Shape;11224;p63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IFRS 9</a:t>
            </a:r>
            <a:endParaRPr sz="2400"/>
          </a:p>
        </p:txBody>
      </p:sp>
      <p:sp>
        <p:nvSpPr>
          <p:cNvPr id="11225" name="Google Shape;11225;p63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30" name="Shape 11230"/>
        <p:cNvGrpSpPr/>
        <p:nvPr/>
      </p:nvGrpSpPr>
      <p:grpSpPr>
        <a:xfrm>
          <a:off x="0" y="0"/>
          <a:ext cx="0" cy="0"/>
          <a:chOff x="0" y="0"/>
          <a:chExt cx="0" cy="0"/>
        </a:xfrm>
      </p:grpSpPr>
      <p:cxnSp>
        <p:nvCxnSpPr>
          <p:cNvPr id="11231" name="Google Shape;11231;p64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32" name="Google Shape;11232;p64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33" name="Google Shape;11233;p64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234" name="Google Shape;11234;p64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35" name="Google Shape;11235;p64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Compliance with Solvency II</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Financial optimization of analytics and data</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36" name="Google Shape;11236;p64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have one business truth relative to the requirements of Solvency II</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Delivering comprehensive results from solvency and risk calculations such as capital adequacy, market risk module aggregation, interest, equity, property and market risk, etc. </a:t>
            </a:r>
            <a:endParaRPr sz="800">
              <a:solidFill>
                <a:srgbClr val="3C3C3B"/>
              </a:solidFill>
              <a:latin typeface="Century Gothic"/>
              <a:ea typeface="Century Gothic"/>
              <a:cs typeface="Century Gothic"/>
              <a:sym typeface="Century Gothic"/>
            </a:endParaRPr>
          </a:p>
        </p:txBody>
      </p:sp>
      <p:sp>
        <p:nvSpPr>
          <p:cNvPr id="11237" name="Google Shape;11237;p64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all data that will serve solvency, governance, and reporting requirements of solvency II</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Consistent analytic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Fast time to results of queries to meet reporting and disclosure needs.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38" name="Google Shape;11238;p64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Standard mathematical financial calculations as referenced in Expected Outcomes.</a:t>
            </a:r>
            <a:endParaRPr sz="800">
              <a:solidFill>
                <a:srgbClr val="3C3C3B"/>
              </a:solidFill>
              <a:latin typeface="Century Gothic"/>
              <a:ea typeface="Century Gothic"/>
              <a:cs typeface="Century Gothic"/>
              <a:sym typeface="Century Gothic"/>
            </a:endParaRPr>
          </a:p>
        </p:txBody>
      </p:sp>
      <p:sp>
        <p:nvSpPr>
          <p:cNvPr id="11239" name="Google Shape;11239;p64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Financial data integration where it is many times siloed across organizations and brought together with antiquated technologies and limited BI maturity and tools.</a:t>
            </a:r>
            <a:endParaRPr sz="800">
              <a:solidFill>
                <a:srgbClr val="3C3C3B"/>
              </a:solidFill>
              <a:latin typeface="Century Gothic"/>
              <a:ea typeface="Century Gothic"/>
              <a:cs typeface="Century Gothic"/>
              <a:sym typeface="Century Gothic"/>
            </a:endParaRPr>
          </a:p>
        </p:txBody>
      </p:sp>
      <p:sp>
        <p:nvSpPr>
          <p:cNvPr id="11240" name="Google Shape;11240;p64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Claim and reserve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Batch or better latency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41" name="Google Shape;11241;p64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Carriers with operations and sales in Europe are subject to the three pillars of Solvency II which enforce financial requirements (solvency capital requirements &amp; minimum capital requirements), governance &amp; supervision, reporting &amp; disclosure.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To be able to respond to these regulations, insurers need to have a single platform for asset, capital, liability, risk and accounting to give a single view of the business finance and risk.</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42" name="Google Shape;11242;p64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Georges Prouty</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43" name="Google Shape;11243;p64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44" name="Google Shape;11244;p64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Solvency II </a:t>
            </a:r>
            <a:endParaRPr sz="2400"/>
          </a:p>
        </p:txBody>
      </p:sp>
      <p:sp>
        <p:nvSpPr>
          <p:cNvPr id="11245" name="Google Shape;11245;p6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50" name="Shape 11250"/>
        <p:cNvGrpSpPr/>
        <p:nvPr/>
      </p:nvGrpSpPr>
      <p:grpSpPr>
        <a:xfrm>
          <a:off x="0" y="0"/>
          <a:ext cx="0" cy="0"/>
          <a:chOff x="0" y="0"/>
          <a:chExt cx="0" cy="0"/>
        </a:xfrm>
      </p:grpSpPr>
      <p:cxnSp>
        <p:nvCxnSpPr>
          <p:cNvPr id="11251" name="Google Shape;11251;p64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52" name="Google Shape;11252;p64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53" name="Google Shape;11253;p64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254" name="Google Shape;11254;p64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55" name="Google Shape;11255;p64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No redesign of existing ERP’s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IFRS15 at Customer contract level can become the foundation for customer/product profitability analysis, Internal mgt reporting, financial reporting, and Revenue assurance.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56" name="Google Shape;11256;p64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Transition from a Cash perspective to a “life of the contract” perspective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Opportunity to view and analyze data at portfolio level as well as Customer level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57" name="Google Shape;11257;p64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 contracts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Separate performance obligations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Determine transaction price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Allocate transaction price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Recognise revenue &amp; costs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58" name="Google Shape;11258;p64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In-database calculation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Predefined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 implementation of Terdata Value Analyser or Aptitude softwares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59" name="Google Shape;11259;p64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For Telco’s not having a mature IDW it will take time to implement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Required data from relevant sources to apply business rules at the most granular data level (Customer level)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60" name="Google Shape;11260;p64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EBU and CBU</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Contract Centric Data sources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Codes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61" name="Google Shape;11261;p64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Align revenue recognition with the delivery of contract performance obligations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Revenue and directly related costs (i.e. headsets, tv boxes etc.) have to be unbundled, and to be spread across the life time of the contract per customer</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62" name="Google Shape;11262;p64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ICs: Jon Penrose, L. Laisney</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63" name="Google Shape;11263;p64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64" name="Google Shape;11264;p64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br>
              <a:rPr lang="en-GB" sz="2400"/>
            </a:br>
            <a:r>
              <a:rPr lang="en-GB" sz="2400"/>
              <a:t>IFRS15</a:t>
            </a:r>
            <a:endParaRPr sz="2400"/>
          </a:p>
        </p:txBody>
      </p:sp>
      <p:sp>
        <p:nvSpPr>
          <p:cNvPr id="11265" name="Google Shape;11265;p641"/>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 Regulation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89" name="Shape 11289"/>
        <p:cNvGrpSpPr/>
        <p:nvPr/>
      </p:nvGrpSpPr>
      <p:grpSpPr>
        <a:xfrm>
          <a:off x="0" y="0"/>
          <a:ext cx="0" cy="0"/>
          <a:chOff x="0" y="0"/>
          <a:chExt cx="0" cy="0"/>
        </a:xfrm>
      </p:grpSpPr>
      <p:cxnSp>
        <p:nvCxnSpPr>
          <p:cNvPr id="11290" name="Google Shape;11290;p64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91" name="Google Shape;11291;p64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92" name="Google Shape;11292;p64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293" name="Google Shape;11293;p64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94" name="Google Shape;11294;p64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all types of analytics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operational complexity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Data consistency and completeness across applications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Financial reconciliation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Become the single point of truth for Controllers, with extensive granularity of detail.</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95" name="Google Shape;11295;p64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Banking entity must furnish the following quantitative measurements for each trading desk, calculated in accordance with:  Risk and Position Limits and Usage; Risk Factor Sensitivities;  Value-at-Risk (VaR) and Stress VaR;  Comprehensive Profit and Loss Attribution;  Inventory Turnover;  Inventory Aging; and  Customer-Facing Trade Ratio</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96" name="Google Shape;11296;p64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 phased data management architectural simplification leading to a consolidated/ integrated data environment with around the clock data feeds across the globe supporting 1-2M queries per day.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97" name="Google Shape;11297;p64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Pattern Detection to enable comparison of patterns.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re common phrases, address, phone or other match data &amp; fuzz matching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Graphing by trade desk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Basket Analysis to identify potentially contradictory information that looks wrong</a:t>
            </a:r>
            <a:endParaRPr sz="800">
              <a:solidFill>
                <a:srgbClr val="3C3C3B"/>
              </a:solidFill>
              <a:latin typeface="Century Gothic"/>
              <a:ea typeface="Century Gothic"/>
              <a:cs typeface="Century Gothic"/>
              <a:sym typeface="Century Gothic"/>
            </a:endParaRPr>
          </a:p>
        </p:txBody>
      </p:sp>
      <p:sp>
        <p:nvSpPr>
          <p:cNvPr id="11298" name="Google Shape;11298;p64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analytics and quantitative metrics play a significant role in complying with the Volker Rule – because they have to be proven that their trading is not proprietary.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Large asset managers on the scale of Pimco, BlackRock or DE Shaw will also need to make technology investments to ensure that their systems are able to maintain control over the information flow for trading and clearing swaps.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99" name="Google Shape;11299;p64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Equity Derivative, Treasury, Agency, Whole loan, FX, and Structured products  for P&amp;L and transaction level data from systems such as: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Calypso, Imagine, Impact, WSS, PCFS, NFS, Bloomberg, TRS Admin, tradeweb</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00" name="Google Shape;11300;p64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Prevents banks from engaging in speculative investments such as proprietary trading, and sponsoring or investing in hedge funds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Requires banks to sell or wind down existing trading desks of this type and to set up self-monitoring processes to make sure that they are in compliance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Requires banks to publicly disclose any permitted exposure to hedge funds and private equity funds.</a:t>
            </a:r>
            <a:br>
              <a:rPr lang="en-GB" sz="900">
                <a:solidFill>
                  <a:schemeClr val="dk1"/>
                </a:solidFill>
                <a:latin typeface="Century Gothic"/>
                <a:ea typeface="Century Gothic"/>
                <a:cs typeface="Century Gothic"/>
                <a:sym typeface="Century Gothic"/>
              </a:rPr>
            </a:b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01" name="Google Shape;11301;p64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Owners:  Shelly Biggs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302" name="Google Shape;11302;p64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03" name="Google Shape;11303;p64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Volcker Rule</a:t>
            </a:r>
            <a:endParaRPr sz="2400"/>
          </a:p>
        </p:txBody>
      </p:sp>
      <p:sp>
        <p:nvSpPr>
          <p:cNvPr id="11304" name="Google Shape;11304;p64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09" name="Shape 11309"/>
        <p:cNvGrpSpPr/>
        <p:nvPr/>
      </p:nvGrpSpPr>
      <p:grpSpPr>
        <a:xfrm>
          <a:off x="0" y="0"/>
          <a:ext cx="0" cy="0"/>
          <a:chOff x="0" y="0"/>
          <a:chExt cx="0" cy="0"/>
        </a:xfrm>
      </p:grpSpPr>
      <p:cxnSp>
        <p:nvCxnSpPr>
          <p:cNvPr id="11310" name="Google Shape;11310;p64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11" name="Google Shape;11311;p64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12" name="Google Shape;11312;p64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313" name="Google Shape;11313;p64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14" name="Google Shape;11314;p64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Systematic correction of known inaccurate monthly GL postings from servicing system</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Distribute financial analysts time throughout the month; thereby avoiding intensive resources at month and quarter end</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Save nearly $2.5M over three years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 more granular operational performance analysis and sharing of best practices across operations offices </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15" name="Google Shape;11315;p64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accuracy of GL postings and integrity of financial performance reporting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Redeploy resources from manual data hunting, gathering, and preparation activities to more intricate and valuable performance analysis to improve overall financial performance.</a:t>
            </a:r>
            <a:endParaRPr sz="800">
              <a:solidFill>
                <a:srgbClr val="3C3C3B"/>
              </a:solidFill>
              <a:latin typeface="Century Gothic"/>
              <a:ea typeface="Century Gothic"/>
              <a:cs typeface="Century Gothic"/>
              <a:sym typeface="Century Gothic"/>
            </a:endParaRPr>
          </a:p>
        </p:txBody>
      </p:sp>
      <p:sp>
        <p:nvSpPr>
          <p:cNvPr id="11316" name="Google Shape;11316;p64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Systematically connect operational activities to GL postings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Remove  25 distinct manual processes that have arisen over the years requiring nearly 42k  manual data file pulls and manipulations annually in order to validate (and correct) legacy source system activity to aggregated GL postings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17" name="Google Shape;11317;p64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rules developed on detailed transaction data to create aggregated GL postings; thereby, enabling seamless analysis from the lowest level of granular detail to the GL.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18" name="Google Shape;11318;p64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Building a business case to secure investment in sub-ledger (accounting hub), given Finance is a cost center.  This was overcome by combining redeployment of resources (efficiency metrics) to more advanced and valuable analytic activities (effectiveness metrics).  Business case was fully quantified.  </a:t>
            </a:r>
            <a:endParaRPr sz="800">
              <a:solidFill>
                <a:srgbClr val="3C3C3B"/>
              </a:solidFill>
              <a:latin typeface="Century Gothic"/>
              <a:ea typeface="Century Gothic"/>
              <a:cs typeface="Century Gothic"/>
              <a:sym typeface="Century Gothic"/>
            </a:endParaRPr>
          </a:p>
        </p:txBody>
      </p:sp>
      <p:sp>
        <p:nvSpPr>
          <p:cNvPr id="11319" name="Google Shape;11319;p64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Mortgage servicing  system  transaction detail, customer, account, and agreement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Mortgage origination systems (8 distinct) transaction detail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management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Capital Markets (warehouse) data</a:t>
            </a:r>
            <a:endParaRPr sz="800">
              <a:solidFill>
                <a:schemeClr val="dk1"/>
              </a:solidFill>
              <a:latin typeface="Century Gothic"/>
              <a:ea typeface="Century Gothic"/>
              <a:cs typeface="Century Gothic"/>
              <a:sym typeface="Century Gothic"/>
            </a:endParaRPr>
          </a:p>
        </p:txBody>
      </p:sp>
      <p:sp>
        <p:nvSpPr>
          <p:cNvPr id="11320" name="Google Shape;11320;p64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Deliver transparent and seamless lineage from operational activities  to the aggregated GL postings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this new seamless transparency without replacing or impacting the current GL application </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21" name="Google Shape;11321;p64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Large U.S. Financial Institution</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William V Bishop</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322" name="Google Shape;11322;p64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23" name="Google Shape;11323;p64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Sarbanes Oxley</a:t>
            </a:r>
            <a:endParaRPr sz="2400"/>
          </a:p>
        </p:txBody>
      </p:sp>
      <p:sp>
        <p:nvSpPr>
          <p:cNvPr id="11324" name="Google Shape;11324;p64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29" name="Shape 11329"/>
        <p:cNvGrpSpPr/>
        <p:nvPr/>
      </p:nvGrpSpPr>
      <p:grpSpPr>
        <a:xfrm>
          <a:off x="0" y="0"/>
          <a:ext cx="0" cy="0"/>
          <a:chOff x="0" y="0"/>
          <a:chExt cx="0" cy="0"/>
        </a:xfrm>
      </p:grpSpPr>
      <p:cxnSp>
        <p:nvCxnSpPr>
          <p:cNvPr id="11330" name="Google Shape;11330;p64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31" name="Google Shape;11331;p64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32" name="Google Shape;11332;p64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333" name="Google Shape;11333;p64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34" name="Google Shape;11334;p64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35" name="Google Shape;11335;p64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336" name="Google Shape;11336;p64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37" name="Google Shape;11337;p64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38" name="Google Shape;11338;p64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339" name="Google Shape;11339;p64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40" name="Google Shape;11340;p64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41" name="Google Shape;11341;p64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342" name="Google Shape;11342;p64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43" name="Google Shape;11343;p64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Regulatory Disclosure Efficiency</a:t>
            </a:r>
            <a:endParaRPr sz="2400"/>
          </a:p>
        </p:txBody>
      </p:sp>
      <p:sp>
        <p:nvSpPr>
          <p:cNvPr id="11344" name="Google Shape;11344;p64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49" name="Shape 11349"/>
        <p:cNvGrpSpPr/>
        <p:nvPr/>
      </p:nvGrpSpPr>
      <p:grpSpPr>
        <a:xfrm>
          <a:off x="0" y="0"/>
          <a:ext cx="0" cy="0"/>
          <a:chOff x="0" y="0"/>
          <a:chExt cx="0" cy="0"/>
        </a:xfrm>
      </p:grpSpPr>
      <p:sp>
        <p:nvSpPr>
          <p:cNvPr id="11350" name="Google Shape;11350;p64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cxnSp>
        <p:nvCxnSpPr>
          <p:cNvPr id="11351" name="Google Shape;11351;p64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52" name="Google Shape;11352;p64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53" name="Google Shape;11353;p64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354" name="Google Shape;11354;p64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55" name="Google Shape;11355;p64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$4M+ reduction in compliance surveillance labor costs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Avoidance of FINRA &amp; SEC fines ranging up to $9 million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capital reserves for compliance infringement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 of litigation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Protection of reputation and brand equity</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56" name="Google Shape;11356;p64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Ingestion and parsing of all communications that need to be monitored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Supervised learning from examples of communications that pose a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Application of the organization’s rules for spotting potential violations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Output is the set of suspicious communications that need review</a:t>
            </a:r>
            <a:endParaRPr sz="800">
              <a:solidFill>
                <a:srgbClr val="3C3C3B"/>
              </a:solidFill>
              <a:latin typeface="Century Gothic"/>
              <a:ea typeface="Century Gothic"/>
              <a:cs typeface="Century Gothic"/>
              <a:sym typeface="Century Gothic"/>
            </a:endParaRPr>
          </a:p>
        </p:txBody>
      </p:sp>
      <p:sp>
        <p:nvSpPr>
          <p:cNvPr id="11357" name="Google Shape;11357;p64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Capture emails from clients &amp; understand content &amp; sentiment within email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Efficiently &amp; effectively monitor interactions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a thorough and persistent understanding of the agent, client, portfolio, and their interactions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58" name="Google Shape;11358;p64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Sessionization and regular expression analysis to remove spam and email echoes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classification using Naïve Bayes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Time series nPath modeling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Levenshtein distance functions</a:t>
            </a:r>
            <a:endParaRPr sz="800">
              <a:solidFill>
                <a:srgbClr val="3C3C3B"/>
              </a:solidFill>
              <a:latin typeface="Century Gothic"/>
              <a:ea typeface="Century Gothic"/>
              <a:cs typeface="Century Gothic"/>
              <a:sym typeface="Century Gothic"/>
            </a:endParaRPr>
          </a:p>
        </p:txBody>
      </p:sp>
      <p:sp>
        <p:nvSpPr>
          <p:cNvPr id="11359" name="Google Shape;11359;p64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Manual review is slow, and the costs are growing with data volume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High volumes of unstructured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content within a communication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Correlating diverse data sets across time</a:t>
            </a:r>
            <a:endParaRPr sz="800">
              <a:solidFill>
                <a:srgbClr val="3C3C3B"/>
              </a:solidFill>
              <a:latin typeface="Century Gothic"/>
              <a:ea typeface="Century Gothic"/>
              <a:cs typeface="Century Gothic"/>
              <a:sym typeface="Century Gothic"/>
            </a:endParaRPr>
          </a:p>
        </p:txBody>
      </p:sp>
      <p:sp>
        <p:nvSpPr>
          <p:cNvPr id="11360" name="Google Shape;11360;p64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profile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Email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Instant messaging logs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Call center voice to text transcripts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Client transaction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Advisor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61" name="Google Shape;11361;p64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Greater internal and external (regulatory) pressure to ensure there is “appropriate and ethical”  dialogue between agents of an organization and their clients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FINRA requiers broker client communications surveillance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Current processes labor intensive with high percentage of false positives.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Need to evolve to more targeted risk-based monitoring</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62" name="Google Shape;11362;p64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Services Firm</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Will Griffith/Matt Mazzarell</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363" name="Google Shape;11363;p64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64" name="Google Shape;11364;p64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Communications Compliance</a:t>
            </a:r>
            <a:endParaRPr sz="2400"/>
          </a:p>
        </p:txBody>
      </p:sp>
    </p:spTree>
  </p:cSld>
  <p:clrMapOvr>
    <a:masterClrMapping/>
  </p:clrMapOvr>
</p:sld>
</file>

<file path=ppt/slides/slide6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69" name="Shape 11369"/>
        <p:cNvGrpSpPr/>
        <p:nvPr/>
      </p:nvGrpSpPr>
      <p:grpSpPr>
        <a:xfrm>
          <a:off x="0" y="0"/>
          <a:ext cx="0" cy="0"/>
          <a:chOff x="0" y="0"/>
          <a:chExt cx="0" cy="0"/>
        </a:xfrm>
      </p:grpSpPr>
      <p:cxnSp>
        <p:nvCxnSpPr>
          <p:cNvPr id="11370" name="Google Shape;11370;p64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71" name="Google Shape;11371;p64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72" name="Google Shape;11372;p64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373" name="Google Shape;11373;p64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74" name="Google Shape;11374;p64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75" name="Google Shape;11375;p64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376" name="Google Shape;11376;p64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77" name="Google Shape;11377;p64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78" name="Google Shape;11378;p64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379" name="Google Shape;11379;p64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80" name="Google Shape;11380;p64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81" name="Google Shape;11381;p64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382" name="Google Shape;11382;p64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83" name="Google Shape;11383;p64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Predatory Practices for Credit</a:t>
            </a:r>
            <a:endParaRPr sz="2400"/>
          </a:p>
        </p:txBody>
      </p:sp>
      <p:sp>
        <p:nvSpPr>
          <p:cNvPr id="11384" name="Google Shape;11384;p64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89" name="Shape 11389"/>
        <p:cNvGrpSpPr/>
        <p:nvPr/>
      </p:nvGrpSpPr>
      <p:grpSpPr>
        <a:xfrm>
          <a:off x="0" y="0"/>
          <a:ext cx="0" cy="0"/>
          <a:chOff x="0" y="0"/>
          <a:chExt cx="0" cy="0"/>
        </a:xfrm>
      </p:grpSpPr>
      <p:cxnSp>
        <p:nvCxnSpPr>
          <p:cNvPr id="11390" name="Google Shape;11390;p64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91" name="Google Shape;11391;p64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92" name="Google Shape;11392;p64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393" name="Google Shape;11393;p64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94" name="Google Shape;11394;p64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95" name="Google Shape;11395;p64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396" name="Google Shape;11396;p64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97" name="Google Shape;11397;p64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98" name="Google Shape;11398;p64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399" name="Google Shape;11399;p64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400" name="Google Shape;11400;p64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401" name="Google Shape;11401;p64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402" name="Google Shape;11402;p64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403" name="Google Shape;11403;p64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Privacy Protection Insights on HIPAA</a:t>
            </a:r>
            <a:endParaRPr sz="2400"/>
          </a:p>
        </p:txBody>
      </p:sp>
      <p:sp>
        <p:nvSpPr>
          <p:cNvPr id="11404" name="Google Shape;11404;p6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09" name="Shape 11409"/>
        <p:cNvGrpSpPr/>
        <p:nvPr/>
      </p:nvGrpSpPr>
      <p:grpSpPr>
        <a:xfrm>
          <a:off x="0" y="0"/>
          <a:ext cx="0" cy="0"/>
          <a:chOff x="0" y="0"/>
          <a:chExt cx="0" cy="0"/>
        </a:xfrm>
      </p:grpSpPr>
      <p:cxnSp>
        <p:nvCxnSpPr>
          <p:cNvPr id="11410" name="Google Shape;11410;p64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411" name="Google Shape;11411;p64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412" name="Google Shape;11412;p64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413" name="Google Shape;11413;p64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414" name="Google Shape;11414;p64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415" name="Google Shape;11415;p64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416" name="Google Shape;11416;p64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417" name="Google Shape;11417;p64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418" name="Google Shape;11418;p64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419" name="Google Shape;11419;p64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420" name="Google Shape;11420;p64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421" name="Google Shape;11421;p64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422" name="Google Shape;11422;p64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423" name="Google Shape;11423;p64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Do-Not-Solicit Compliance Insights</a:t>
            </a:r>
            <a:endParaRPr sz="2400"/>
          </a:p>
        </p:txBody>
      </p:sp>
      <p:sp>
        <p:nvSpPr>
          <p:cNvPr id="11424" name="Google Shape;11424;p64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theme/theme1.xml><?xml version="1.0" encoding="utf-8"?>
<a:theme xmlns:a="http://schemas.openxmlformats.org/drawingml/2006/main" xmlns:r="http://schemas.openxmlformats.org/officeDocument/2006/relationships" name="Office Theme">
  <a:themeElements>
    <a:clrScheme name="Teradata">
      <a:dk1>
        <a:srgbClr val="000000"/>
      </a:dk1>
      <a:lt1>
        <a:srgbClr val="FFFFFF"/>
      </a:lt1>
      <a:dk2>
        <a:srgbClr val="0079DB"/>
      </a:dk2>
      <a:lt2>
        <a:srgbClr val="D8D8D8"/>
      </a:lt2>
      <a:accent1>
        <a:srgbClr val="D56D23"/>
      </a:accent1>
      <a:accent2>
        <a:srgbClr val="BBBCBE"/>
      </a:accent2>
      <a:accent3>
        <a:srgbClr val="5F6062"/>
      </a:accent3>
      <a:accent4>
        <a:srgbClr val="0088A8"/>
      </a:accent4>
      <a:accent5>
        <a:srgbClr val="703092"/>
      </a:accent5>
      <a:accent6>
        <a:srgbClr val="CD391F"/>
      </a:accent6>
      <a:hlink>
        <a:srgbClr val="0079DB"/>
      </a:hlink>
      <a:folHlink>
        <a:srgbClr val="70309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1_TDC_PPT_16-9_1014-lite">
  <a:themeElements>
    <a:clrScheme name="TeradataPPT2014">
      <a:dk1>
        <a:srgbClr val="3C3C3B"/>
      </a:dk1>
      <a:lt1>
        <a:srgbClr val="FFFFFF"/>
      </a:lt1>
      <a:dk2>
        <a:srgbClr val="0079DB"/>
      </a:dk2>
      <a:lt2>
        <a:srgbClr val="D8D8D8"/>
      </a:lt2>
      <a:accent1>
        <a:srgbClr val="EC881D"/>
      </a:accent1>
      <a:accent2>
        <a:srgbClr val="0079DB"/>
      </a:accent2>
      <a:accent3>
        <a:srgbClr val="CD391F"/>
      </a:accent3>
      <a:accent4>
        <a:srgbClr val="0088A8"/>
      </a:accent4>
      <a:accent5>
        <a:srgbClr val="703092"/>
      </a:accent5>
      <a:accent6>
        <a:srgbClr val="5F6062"/>
      </a:accent6>
      <a:hlink>
        <a:srgbClr val="0079DB"/>
      </a:hlink>
      <a:folHlink>
        <a:srgbClr val="70309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