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p3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80" name="Google Shape;880;p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p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06" name="Google Shape;906;p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07" name="Google Shape;907;p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p4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 name="Google Shape;938;p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9" name="Google Shape;939;p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p4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1" name="Google Shape;961;p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p4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 name="Google Shape;969;p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 name="Shape 1005"/>
        <p:cNvGrpSpPr/>
        <p:nvPr/>
      </p:nvGrpSpPr>
      <p:grpSpPr>
        <a:xfrm>
          <a:off x="0" y="0"/>
          <a:ext cx="0" cy="0"/>
          <a:chOff x="0" y="0"/>
          <a:chExt cx="0" cy="0"/>
        </a:xfrm>
      </p:grpSpPr>
      <p:sp>
        <p:nvSpPr>
          <p:cNvPr id="1006" name="Google Shape;1006;p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07" name="Google Shape;1007;p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8" name="Google Shape;1008;p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 name="Shape 1049"/>
        <p:cNvGrpSpPr/>
        <p:nvPr/>
      </p:nvGrpSpPr>
      <p:grpSpPr>
        <a:xfrm>
          <a:off x="0" y="0"/>
          <a:ext cx="0" cy="0"/>
          <a:chOff x="0" y="0"/>
          <a:chExt cx="0" cy="0"/>
        </a:xfrm>
      </p:grpSpPr>
      <p:sp>
        <p:nvSpPr>
          <p:cNvPr id="1050" name="Google Shape;1050;p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51" name="Google Shape;1051;p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2" name="Google Shape;1052;p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 name="Shape 1093"/>
        <p:cNvGrpSpPr/>
        <p:nvPr/>
      </p:nvGrpSpPr>
      <p:grpSpPr>
        <a:xfrm>
          <a:off x="0" y="0"/>
          <a:ext cx="0" cy="0"/>
          <a:chOff x="0" y="0"/>
          <a:chExt cx="0" cy="0"/>
        </a:xfrm>
      </p:grpSpPr>
      <p:sp>
        <p:nvSpPr>
          <p:cNvPr id="1094" name="Google Shape;1094;p49: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5" name="Google Shape;1095;p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6" name="Google Shape;1096;p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p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39" name="Google Shape;1139;p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 name="Google Shape;1140;p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p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83" name="Google Shape;1183;p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84" name="Google Shape;1184;p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 name="Shape 1225"/>
        <p:cNvGrpSpPr/>
        <p:nvPr/>
      </p:nvGrpSpPr>
      <p:grpSpPr>
        <a:xfrm>
          <a:off x="0" y="0"/>
          <a:ext cx="0" cy="0"/>
          <a:chOff x="0" y="0"/>
          <a:chExt cx="0" cy="0"/>
        </a:xfrm>
      </p:grpSpPr>
      <p:sp>
        <p:nvSpPr>
          <p:cNvPr id="1226" name="Google Shape;1226;p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27" name="Google Shape;1227;p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28" name="Google Shape;1228;p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 name="Shape 1269"/>
        <p:cNvGrpSpPr/>
        <p:nvPr/>
      </p:nvGrpSpPr>
      <p:grpSpPr>
        <a:xfrm>
          <a:off x="0" y="0"/>
          <a:ext cx="0" cy="0"/>
          <a:chOff x="0" y="0"/>
          <a:chExt cx="0" cy="0"/>
        </a:xfrm>
      </p:grpSpPr>
      <p:sp>
        <p:nvSpPr>
          <p:cNvPr id="1270" name="Google Shape;1270;p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71" name="Google Shape;1271;p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72" name="Google Shape;1272;p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3" name="Shape 1313"/>
        <p:cNvGrpSpPr/>
        <p:nvPr/>
      </p:nvGrpSpPr>
      <p:grpSpPr>
        <a:xfrm>
          <a:off x="0" y="0"/>
          <a:ext cx="0" cy="0"/>
          <a:chOff x="0" y="0"/>
          <a:chExt cx="0" cy="0"/>
        </a:xfrm>
      </p:grpSpPr>
      <p:sp>
        <p:nvSpPr>
          <p:cNvPr id="1314" name="Google Shape;1314;p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15" name="Google Shape;1315;p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16" name="Google Shape;1316;p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p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59" name="Google Shape;1359;p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60" name="Google Shape;1360;p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 name="Shape 1401"/>
        <p:cNvGrpSpPr/>
        <p:nvPr/>
      </p:nvGrpSpPr>
      <p:grpSpPr>
        <a:xfrm>
          <a:off x="0" y="0"/>
          <a:ext cx="0" cy="0"/>
          <a:chOff x="0" y="0"/>
          <a:chExt cx="0" cy="0"/>
        </a:xfrm>
      </p:grpSpPr>
      <p:sp>
        <p:nvSpPr>
          <p:cNvPr id="1402" name="Google Shape;1402;p6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03" name="Google Shape;1403;p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04" name="Google Shape;1404;p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p6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26" name="Google Shape;1426;p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6.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8.xml"/><Relationship Id="rId3" Type="http://schemas.openxmlformats.org/officeDocument/2006/relationships/slide" Target="slide1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xml"/><Relationship Id="rId3" Type="http://schemas.openxmlformats.org/officeDocument/2006/relationships/slide" Target="slide1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2.xml"/><Relationship Id="rId3" Type="http://schemas.openxmlformats.org/officeDocument/2006/relationships/image" Target="../media/image21.jpg"/><Relationship Id="rId4" Type="http://schemas.openxmlformats.org/officeDocument/2006/relationships/slide" Target="slide1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3.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5.xml"/><Relationship Id="rId3" Type="http://schemas.openxmlformats.org/officeDocument/2006/relationships/slide" Target="slide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7.xml"/><Relationship Id="rId3" Type="http://schemas.openxmlformats.org/officeDocument/2006/relationships/slide" Target="slide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xml"/><Relationship Id="rId3" Type="http://schemas.openxmlformats.org/officeDocument/2006/relationships/slide" Target="slide1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xml"/><Relationship Id="rId3" Type="http://schemas.openxmlformats.org/officeDocument/2006/relationships/slide" Target="slide1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xml"/><Relationship Id="rId3" Type="http://schemas.openxmlformats.org/officeDocument/2006/relationships/slide" Target="slide1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5.xml"/><Relationship Id="rId3" Type="http://schemas.openxmlformats.org/officeDocument/2006/relationships/slide" Target="slide1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7.xml"/><Relationship Id="rId3" Type="http://schemas.openxmlformats.org/officeDocument/2006/relationships/slide" Target="slide1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xml"/><Relationship Id="rId3" Type="http://schemas.openxmlformats.org/officeDocument/2006/relationships/slide" Target="slide1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1.xml"/><Relationship Id="rId3" Type="http://schemas.openxmlformats.org/officeDocument/2006/relationships/slide" Target="slide1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3.xml"/><Relationship Id="rId3" Type="http://schemas.openxmlformats.org/officeDocument/2006/relationships/slide" Target="slide1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5.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 name="Shape 881"/>
        <p:cNvGrpSpPr/>
        <p:nvPr/>
      </p:nvGrpSpPr>
      <p:grpSpPr>
        <a:xfrm>
          <a:off x="0" y="0"/>
          <a:ext cx="0" cy="0"/>
          <a:chOff x="0" y="0"/>
          <a:chExt cx="0" cy="0"/>
        </a:xfrm>
      </p:grpSpPr>
      <p:sp>
        <p:nvSpPr>
          <p:cNvPr id="882" name="Google Shape;882;p66"/>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169863" lvl="0" marL="169863" rtl="0" algn="l">
              <a:lnSpc>
                <a:spcPct val="110000"/>
              </a:lnSpc>
              <a:spcBef>
                <a:spcPts val="800"/>
              </a:spcBef>
              <a:spcAft>
                <a:spcPts val="0"/>
              </a:spcAft>
              <a:buClr>
                <a:schemeClr val="dk1"/>
              </a:buClr>
              <a:buSzPts val="1400"/>
              <a:buChar char="•"/>
            </a:pPr>
            <a:r>
              <a:rPr lang="en-GB" sz="1400"/>
              <a:t>Single View Of Customer</a:t>
            </a:r>
            <a:endParaRPr/>
          </a:p>
          <a:p>
            <a:pPr indent="-230187" lvl="1" marL="515938" rtl="0" algn="l">
              <a:lnSpc>
                <a:spcPct val="110000"/>
              </a:lnSpc>
              <a:spcBef>
                <a:spcPts val="400"/>
              </a:spcBef>
              <a:spcAft>
                <a:spcPts val="0"/>
              </a:spcAft>
              <a:buClr>
                <a:schemeClr val="dk1"/>
              </a:buClr>
              <a:buSzPts val="1200"/>
              <a:buChar char="–"/>
            </a:pPr>
            <a:r>
              <a:rPr lang="en-GB" sz="1200"/>
              <a:t>Effectively manage customer relationships through a single customer view across business units, brands, channels and third party relationships</a:t>
            </a:r>
            <a:endParaRPr/>
          </a:p>
          <a:p>
            <a:pPr indent="-169863" lvl="0" marL="169863" rtl="0" algn="l">
              <a:lnSpc>
                <a:spcPct val="110000"/>
              </a:lnSpc>
              <a:spcBef>
                <a:spcPts val="800"/>
              </a:spcBef>
              <a:spcAft>
                <a:spcPts val="0"/>
              </a:spcAft>
              <a:buClr>
                <a:schemeClr val="dk1"/>
              </a:buClr>
              <a:buSzPts val="1400"/>
              <a:buChar char="•"/>
            </a:pPr>
            <a:r>
              <a:rPr lang="en-GB" sz="1400"/>
              <a:t>Multi-Dimensional Customer View</a:t>
            </a:r>
            <a:endParaRPr/>
          </a:p>
          <a:p>
            <a:pPr indent="-230187" lvl="1" marL="515938" rtl="0" algn="l">
              <a:lnSpc>
                <a:spcPct val="110000"/>
              </a:lnSpc>
              <a:spcBef>
                <a:spcPts val="400"/>
              </a:spcBef>
              <a:spcAft>
                <a:spcPts val="0"/>
              </a:spcAft>
              <a:buClr>
                <a:schemeClr val="dk1"/>
              </a:buClr>
              <a:buSzPts val="1200"/>
              <a:buChar char="–"/>
            </a:pPr>
            <a:r>
              <a:rPr lang="en-GB" sz="1200"/>
              <a:t>Create a robust 360 degree view of the customer across all channels and interactions including a rich set of customer events</a:t>
            </a:r>
            <a:endParaRPr/>
          </a:p>
          <a:p>
            <a:pPr indent="-153987" lvl="1" marL="515938" rtl="0" algn="l">
              <a:lnSpc>
                <a:spcPct val="110000"/>
              </a:lnSpc>
              <a:spcBef>
                <a:spcPts val="400"/>
              </a:spcBef>
              <a:spcAft>
                <a:spcPts val="0"/>
              </a:spcAft>
              <a:buClr>
                <a:schemeClr val="dk1"/>
              </a:buClr>
              <a:buSzPts val="1200"/>
              <a:buNone/>
            </a:pPr>
            <a:r>
              <a:t/>
            </a:r>
            <a:endParaRPr sz="1200"/>
          </a:p>
        </p:txBody>
      </p:sp>
      <p:sp>
        <p:nvSpPr>
          <p:cNvPr id="883" name="Google Shape;883;p66"/>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pic>
        <p:nvPicPr>
          <p:cNvPr descr="COM-1013-L.jpg" id="884" name="Google Shape;884;p66"/>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85" name="Google Shape;885;p6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 name="Shape 908"/>
        <p:cNvGrpSpPr/>
        <p:nvPr/>
      </p:nvGrpSpPr>
      <p:grpSpPr>
        <a:xfrm>
          <a:off x="0" y="0"/>
          <a:ext cx="0" cy="0"/>
          <a:chOff x="0" y="0"/>
          <a:chExt cx="0" cy="0"/>
        </a:xfrm>
      </p:grpSpPr>
      <p:graphicFrame>
        <p:nvGraphicFramePr>
          <p:cNvPr id="909" name="Google Shape;909;p6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definition of a customer (and its associated hierarchies) across the enterprise, regardless of functional application. A large percentage of customers are identified and the channel experience is coordinated across all channels. Able to determine the customers value and depth of relationship across the company and by business unit.  Interactions of unknown customer is captured and leveraged for personalization. Ability to resolve known and unknown customers and merge customer records using a variety of core customer data attributes and matching techniques.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and organisation. Customer is identified and addressed the same across the company. A significant percentage of customers can be identified by recent transaction, interactions and segment and treated consistently across channels. Near real time updating of customer identity following changes to core customer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and organisation. Customer is identified and addressed the same across the company. Interactions are captured for both known (identified) customers and unknown  (cookie or device ID). Includes additional data such as demographics. Customers are identified individually and by household. Batch updates of changes leads to data latency in the single customer view.</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widely accepted, but still with some non-associated functions having differing definitions. All transactions are identified by customer id. Batch updates of changes leads to data latency in the single customer view.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No clean source of integrated customer information. View of the customer is not well defined and is inconsistent across business units. Many definitions of organisation and associated subject areas such as channel. Interactions are not captured across all channels.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10" name="Google Shape;910;p68"/>
          <p:cNvGrpSpPr/>
          <p:nvPr/>
        </p:nvGrpSpPr>
        <p:grpSpPr>
          <a:xfrm>
            <a:off x="469900" y="3839136"/>
            <a:ext cx="8455025" cy="732866"/>
            <a:chOff x="211138" y="3972860"/>
            <a:chExt cx="8713787" cy="642437"/>
          </a:xfrm>
        </p:grpSpPr>
        <p:sp>
          <p:nvSpPr>
            <p:cNvPr id="911" name="Google Shape;911;p6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2" name="Google Shape;912;p6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13" name="Google Shape;913;p68"/>
          <p:cNvGrpSpPr/>
          <p:nvPr/>
        </p:nvGrpSpPr>
        <p:grpSpPr>
          <a:xfrm>
            <a:off x="7971865" y="980278"/>
            <a:ext cx="949325" cy="2867825"/>
            <a:chOff x="7941888" y="1062037"/>
            <a:chExt cx="983037" cy="2695575"/>
          </a:xfrm>
        </p:grpSpPr>
        <p:sp>
          <p:nvSpPr>
            <p:cNvPr id="914" name="Google Shape;914;p6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 name="Google Shape;915;p6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16" name="Google Shape;916;p6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solidFill>
                <a:schemeClr val="accent6"/>
              </a:solidFill>
            </a:endParaRPr>
          </a:p>
        </p:txBody>
      </p:sp>
      <p:sp>
        <p:nvSpPr>
          <p:cNvPr id="917" name="Google Shape;917;p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 name="Shape 940"/>
        <p:cNvGrpSpPr/>
        <p:nvPr/>
      </p:nvGrpSpPr>
      <p:grpSpPr>
        <a:xfrm>
          <a:off x="0" y="0"/>
          <a:ext cx="0" cy="0"/>
          <a:chOff x="0" y="0"/>
          <a:chExt cx="0" cy="0"/>
        </a:xfrm>
      </p:grpSpPr>
      <p:graphicFrame>
        <p:nvGraphicFramePr>
          <p:cNvPr id="941" name="Google Shape;941;p7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 transactional data is loaded. Detailed clickstream data is loaded in near real time. A wide variety of events and interactions are captured and made available for analytics. Additional text sources such as social media, click to chat and reviews are loaded.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 level clickstream data is loaded intraday. Event table is defined and automated feeds of some types of interactions and events are loaded daily.  Capture and load limited text data sources such as call center transcripts and customer emails and surveys. Additional derived customer attributes such as lifetime value and satisfactions are added.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Some transactional and product data feeds move to intra-day. Click stream data from core sites is loaded at the detail level daily. Advanced analytics are leveraged to calculate and store derived attributes such as customer revenue and propensity to purchase products. Begin to identify key events and interactions to be integrated into the multi-dimensional view.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Core feeds of product and transactional data on a daily basis. Daily loading of click stream data from core sites including tagging and ability to identify user sessions. Data is aggregated to allow summary and dashboard reporting. Interaction data continues to be stored separately</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core feeds of product and transactional data  on weekly basis. Summary online channel data available for both authenticated and non-authenticated sites also loaded on a weekly basis. Detailed click stream not collected or loaded. Interaction data, such as marketing, often stored separately. All data loaded by traditional batch methods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2" name="Google Shape;942;p70"/>
          <p:cNvGrpSpPr/>
          <p:nvPr/>
        </p:nvGrpSpPr>
        <p:grpSpPr>
          <a:xfrm>
            <a:off x="469900" y="3839136"/>
            <a:ext cx="8455025" cy="732866"/>
            <a:chOff x="211138" y="3972860"/>
            <a:chExt cx="8713787" cy="642437"/>
          </a:xfrm>
        </p:grpSpPr>
        <p:sp>
          <p:nvSpPr>
            <p:cNvPr id="943" name="Google Shape;943;p7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 name="Google Shape;944;p7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5" name="Google Shape;945;p70"/>
          <p:cNvGrpSpPr/>
          <p:nvPr/>
        </p:nvGrpSpPr>
        <p:grpSpPr>
          <a:xfrm>
            <a:off x="7971865" y="980278"/>
            <a:ext cx="949325" cy="2867825"/>
            <a:chOff x="7941888" y="1062037"/>
            <a:chExt cx="983037" cy="2695575"/>
          </a:xfrm>
        </p:grpSpPr>
        <p:sp>
          <p:nvSpPr>
            <p:cNvPr id="946" name="Google Shape;946;p7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 name="Google Shape;947;p7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8" name="Google Shape;948;p7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solidFill>
                <a:schemeClr val="accent6"/>
              </a:solidFill>
            </a:endParaRPr>
          </a:p>
        </p:txBody>
      </p:sp>
      <p:sp>
        <p:nvSpPr>
          <p:cNvPr id="949" name="Google Shape;949;p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72"/>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Value &amp; Profitability </a:t>
            </a:r>
            <a:r>
              <a:rPr lang="en-GB" sz="1100"/>
              <a:t>targeting new prospects, and manage existing customers based on their current &amp; future value potential</a:t>
            </a:r>
            <a:endParaRPr/>
          </a:p>
          <a:p>
            <a:pPr indent="0" lvl="0" marL="0" rtl="0" algn="l">
              <a:lnSpc>
                <a:spcPct val="110000"/>
              </a:lnSpc>
              <a:spcBef>
                <a:spcPts val="800"/>
              </a:spcBef>
              <a:spcAft>
                <a:spcPts val="0"/>
              </a:spcAft>
              <a:buClr>
                <a:schemeClr val="dk1"/>
              </a:buClr>
              <a:buSzPts val="1200"/>
              <a:buNone/>
            </a:pPr>
            <a:r>
              <a:rPr b="1" lang="en-GB" sz="1200"/>
              <a:t>Customer Satisfaction Indexing </a:t>
            </a:r>
            <a:r>
              <a:rPr lang="en-GB" sz="1100"/>
              <a:t>measuring and managing the impact of interactions on customer satisfaction and experience</a:t>
            </a:r>
            <a:endParaRPr/>
          </a:p>
          <a:p>
            <a:pPr indent="0" lvl="0" marL="0" rtl="0" algn="l">
              <a:lnSpc>
                <a:spcPct val="110000"/>
              </a:lnSpc>
              <a:spcBef>
                <a:spcPts val="800"/>
              </a:spcBef>
              <a:spcAft>
                <a:spcPts val="0"/>
              </a:spcAft>
              <a:buClr>
                <a:schemeClr val="dk1"/>
              </a:buClr>
              <a:buSzPts val="1200"/>
              <a:buNone/>
            </a:pPr>
            <a:r>
              <a:rPr b="1" lang="en-GB" sz="1200"/>
              <a:t>Customer Experience Analytics </a:t>
            </a:r>
            <a:r>
              <a:rPr lang="en-GB" sz="1100"/>
              <a:t>measuring and predicting the customer´s perception of a service or product </a:t>
            </a:r>
            <a:endParaRPr sz="1100"/>
          </a:p>
          <a:p>
            <a:pPr indent="0" lvl="0" marL="0" rtl="0" algn="l">
              <a:lnSpc>
                <a:spcPct val="110000"/>
              </a:lnSpc>
              <a:spcBef>
                <a:spcPts val="800"/>
              </a:spcBef>
              <a:spcAft>
                <a:spcPts val="0"/>
              </a:spcAft>
              <a:buClr>
                <a:schemeClr val="dk1"/>
              </a:buClr>
              <a:buSzPts val="1200"/>
              <a:buNone/>
            </a:pPr>
            <a:r>
              <a:rPr b="1" lang="en-GB" sz="1200"/>
              <a:t>Transactional Classification </a:t>
            </a:r>
            <a:r>
              <a:rPr lang="en-GB" sz="1100"/>
              <a:t>classifying account transactions (e.g., salary payments, channel usage, purchase history, etc.) to better understand customer behaviour, life stage, channel usage and preferences</a:t>
            </a:r>
            <a:endParaRPr/>
          </a:p>
          <a:p>
            <a:pPr indent="0" lvl="0" marL="0" rtl="0" algn="l">
              <a:lnSpc>
                <a:spcPct val="110000"/>
              </a:lnSpc>
              <a:spcBef>
                <a:spcPts val="800"/>
              </a:spcBef>
              <a:spcAft>
                <a:spcPts val="0"/>
              </a:spcAft>
              <a:buClr>
                <a:schemeClr val="dk1"/>
              </a:buClr>
              <a:buSzPts val="1200"/>
              <a:buNone/>
            </a:pPr>
            <a:r>
              <a:rPr b="1" lang="en-GB" sz="1200"/>
              <a:t>Customer Journey Analysis </a:t>
            </a:r>
            <a:r>
              <a:rPr lang="en-GB" sz="1100"/>
              <a:t>identifying of sequences of events and patterns  which lead to or follow on from key customer  events  </a:t>
            </a:r>
            <a:endParaRPr sz="1100"/>
          </a:p>
          <a:p>
            <a:pPr indent="0" lvl="0" marL="0" rtl="0" algn="l">
              <a:lnSpc>
                <a:spcPct val="110000"/>
              </a:lnSpc>
              <a:spcBef>
                <a:spcPts val="800"/>
              </a:spcBef>
              <a:spcAft>
                <a:spcPts val="0"/>
              </a:spcAft>
              <a:buClr>
                <a:schemeClr val="dk1"/>
              </a:buClr>
              <a:buSzPts val="1200"/>
              <a:buNone/>
            </a:pPr>
            <a:r>
              <a:rPr b="1" lang="en-GB" sz="1200"/>
              <a:t>Event Analytics </a:t>
            </a:r>
            <a:r>
              <a:rPr lang="en-GB" sz="1100"/>
              <a:t>identifying customer events to drive highly relevant interactions</a:t>
            </a:r>
            <a:endParaRPr/>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964" name="Google Shape;964;p72"/>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endParaRPr/>
          </a:p>
        </p:txBody>
      </p:sp>
      <p:pic>
        <p:nvPicPr>
          <p:cNvPr descr="COM-1010-L.jpg" id="965" name="Google Shape;965;p72"/>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66" name="Google Shape;966;p7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73"/>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Segmentation </a:t>
            </a:r>
            <a:r>
              <a:rPr lang="en-GB" sz="1100"/>
              <a:t>defining and subdividing the customer base into a number of clearly identifiable segments that have similar needs, behaviours, or communication characteristics</a:t>
            </a:r>
            <a:endParaRPr/>
          </a:p>
          <a:p>
            <a:pPr indent="0" lvl="1" marL="0" rtl="0" algn="l">
              <a:lnSpc>
                <a:spcPct val="110000"/>
              </a:lnSpc>
              <a:spcBef>
                <a:spcPts val="800"/>
              </a:spcBef>
              <a:spcAft>
                <a:spcPts val="0"/>
              </a:spcAft>
              <a:buClr>
                <a:schemeClr val="dk1"/>
              </a:buClr>
              <a:buSzPts val="1200"/>
              <a:buNone/>
            </a:pPr>
            <a:r>
              <a:rPr b="1" lang="en-GB" sz="1200"/>
              <a:t>Customer Connection Analytics </a:t>
            </a:r>
            <a:r>
              <a:rPr lang="en-GB" sz="1100"/>
              <a:t>understanding the network a customer is in to capture the most influential person, forces and patterns of a social network</a:t>
            </a:r>
            <a:endParaRPr/>
          </a:p>
          <a:p>
            <a:pPr indent="0" lvl="1" marL="0" rtl="0" algn="l">
              <a:lnSpc>
                <a:spcPct val="110000"/>
              </a:lnSpc>
              <a:spcBef>
                <a:spcPts val="800"/>
              </a:spcBef>
              <a:spcAft>
                <a:spcPts val="0"/>
              </a:spcAft>
              <a:buClr>
                <a:schemeClr val="dk1"/>
              </a:buClr>
              <a:buSzPts val="1200"/>
              <a:buNone/>
            </a:pPr>
            <a:r>
              <a:rPr b="1" lang="en-GB" sz="1200"/>
              <a:t>Behavioral/Preference Analytics </a:t>
            </a:r>
            <a:r>
              <a:rPr lang="en-GB" sz="1100"/>
              <a:t>translating observable customer interactions into actionable insights around their overall behaviour and product/service preferences</a:t>
            </a:r>
            <a:endParaRPr/>
          </a:p>
          <a:p>
            <a:pPr indent="0" lvl="1" marL="0" rtl="0" algn="l">
              <a:lnSpc>
                <a:spcPct val="110000"/>
              </a:lnSpc>
              <a:spcBef>
                <a:spcPts val="800"/>
              </a:spcBef>
              <a:spcAft>
                <a:spcPts val="0"/>
              </a:spcAft>
              <a:buClr>
                <a:schemeClr val="dk1"/>
              </a:buClr>
              <a:buSzPts val="1200"/>
              <a:buNone/>
            </a:pPr>
            <a:r>
              <a:rPr b="1" lang="en-GB" sz="1200"/>
              <a:t>Customer Life Stage </a:t>
            </a:r>
            <a:r>
              <a:rPr lang="en-GB" sz="1100"/>
              <a:t>utilizing customer transactions, interactions and self-reported information to develop a full understanding of where they are in their relevant life stages (e.g., starting out, married with small children, empty nesters, retired, etc.) </a:t>
            </a:r>
            <a:endParaRPr b="1" sz="1100"/>
          </a:p>
          <a:p>
            <a:pPr indent="0" lvl="1" marL="0" rtl="0" algn="l">
              <a:lnSpc>
                <a:spcPct val="110000"/>
              </a:lnSpc>
              <a:spcBef>
                <a:spcPts val="800"/>
              </a:spcBef>
              <a:spcAft>
                <a:spcPts val="0"/>
              </a:spcAft>
              <a:buClr>
                <a:schemeClr val="dk1"/>
              </a:buClr>
              <a:buSzPts val="1200"/>
              <a:buNone/>
            </a:pPr>
            <a:r>
              <a:t/>
            </a:r>
            <a:endParaRPr sz="1200"/>
          </a:p>
          <a:p>
            <a:pPr indent="0" lvl="0" marL="0" rtl="0" algn="l">
              <a:lnSpc>
                <a:spcPct val="110000"/>
              </a:lnSpc>
              <a:spcBef>
                <a:spcPts val="800"/>
              </a:spcBef>
              <a:spcAft>
                <a:spcPts val="0"/>
              </a:spcAft>
              <a:buClr>
                <a:schemeClr val="dk1"/>
              </a:buClr>
              <a:buSzPts val="1400"/>
              <a:buNone/>
            </a:pPr>
            <a:r>
              <a:t/>
            </a:r>
            <a:endParaRPr sz="1400"/>
          </a:p>
          <a:p>
            <a:pPr indent="-153987" lvl="1" marL="515938" rtl="0" algn="l">
              <a:lnSpc>
                <a:spcPct val="110000"/>
              </a:lnSpc>
              <a:spcBef>
                <a:spcPts val="400"/>
              </a:spcBef>
              <a:spcAft>
                <a:spcPts val="0"/>
              </a:spcAft>
              <a:buClr>
                <a:schemeClr val="dk1"/>
              </a:buClr>
              <a:buSzPts val="1200"/>
              <a:buNone/>
            </a:pPr>
            <a:r>
              <a:t/>
            </a:r>
            <a:endParaRPr sz="1200"/>
          </a:p>
        </p:txBody>
      </p:sp>
      <p:sp>
        <p:nvSpPr>
          <p:cNvPr id="972" name="Google Shape;972;p73"/>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endParaRPr/>
          </a:p>
        </p:txBody>
      </p:sp>
      <p:pic>
        <p:nvPicPr>
          <p:cNvPr descr="COM-1010-L.jpg" id="973" name="Google Shape;973;p73"/>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74" name="Google Shape;974;p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graphicFrame>
        <p:nvGraphicFramePr>
          <p:cNvPr id="1010" name="Google Shape;1010;p7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used extensively across the organisation to support a wide range of strategic, tactical and operational decision-making, including all of the below, plus: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Performance management and Staff incentivisation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Channel management / channel migration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Use of advanced analytics techniques (e.g.  Clustering, behavioural analysis / path to increased profit)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operationally to deliver information and guidance to staff on customer retention, customer experience, pricing and other operational decisions (e.g. fee refunds)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Organization develops sophistication around sunk profits vs. at-risk profits, when to fully-allocated costs and when to use marginally-allocated costs, etc.  Lifetime Value (LTV) begins to be part of decision processes, though not yet at an advanced level.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Activity-based Profitability results are used to make decisions across products and customer segments, but not yet on individual customers or activities.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Customer Profitability capabilities just starting to emerge: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Activity-based costing not available, so value is product focused– e.g., total sales, balances, #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Calculations based on “averages” used to manage at the customer and product portfolio levels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11" name="Google Shape;1011;p75"/>
          <p:cNvGrpSpPr/>
          <p:nvPr/>
        </p:nvGrpSpPr>
        <p:grpSpPr>
          <a:xfrm>
            <a:off x="469900" y="3839136"/>
            <a:ext cx="8455025" cy="732866"/>
            <a:chOff x="211138" y="3972860"/>
            <a:chExt cx="8713787" cy="642437"/>
          </a:xfrm>
        </p:grpSpPr>
        <p:sp>
          <p:nvSpPr>
            <p:cNvPr id="1012" name="Google Shape;1012;p7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13" name="Google Shape;1013;p7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14" name="Google Shape;1014;p75"/>
          <p:cNvGrpSpPr/>
          <p:nvPr/>
        </p:nvGrpSpPr>
        <p:grpSpPr>
          <a:xfrm>
            <a:off x="7971865" y="980278"/>
            <a:ext cx="949325" cy="2867825"/>
            <a:chOff x="7941888" y="1062037"/>
            <a:chExt cx="983037" cy="2695575"/>
          </a:xfrm>
        </p:grpSpPr>
        <p:sp>
          <p:nvSpPr>
            <p:cNvPr id="1015" name="Google Shape;1015;p7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16" name="Google Shape;1016;p7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17" name="Google Shape;1017;p7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solidFill>
                <a:schemeClr val="accent6"/>
              </a:solidFill>
            </a:endParaRPr>
          </a:p>
        </p:txBody>
      </p:sp>
      <p:sp>
        <p:nvSpPr>
          <p:cNvPr id="1018" name="Google Shape;1018;p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 name="Shape 1053"/>
        <p:cNvGrpSpPr/>
        <p:nvPr/>
      </p:nvGrpSpPr>
      <p:grpSpPr>
        <a:xfrm>
          <a:off x="0" y="0"/>
          <a:ext cx="0" cy="0"/>
          <a:chOff x="0" y="0"/>
          <a:chExt cx="0" cy="0"/>
        </a:xfrm>
      </p:grpSpPr>
      <p:graphicFrame>
        <p:nvGraphicFramePr>
          <p:cNvPr id="1054" name="Google Shape;1054;p7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Incorporate sentiment analysis, multi genre analytics in combination with business rules to calculate customer satisfaction. Scores are operationalized and drive actions to improve processes and customer experience. Active monitoring and alerting on increases and decreases of scores.   CSI becomes integrated with Customer Profitability/Value Management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Build robust cross channel interactions, and touch points. Analyze customer s across touch points to identify interactions that drive positive  or negative  outcomes.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Experiment  with  text analytic capabilities (may be outsourced) to understand customer comments on products, service and experience. Limited ability to react to negative comments. Call center is key to identifying customer issues. Advanced analytics deployed to identify limited set of key interactions  </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Begin to collect and integrate customer interactions across two or more channels.  Customer satisfaction measurement is still primarily survey based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satisfaction measurement is primarily survey based. Unable to connect customer events and interactions across channels. Customer experience is analysed and managed by channel (stores, online, call center,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55" name="Google Shape;1055;p77"/>
          <p:cNvGrpSpPr/>
          <p:nvPr/>
        </p:nvGrpSpPr>
        <p:grpSpPr>
          <a:xfrm>
            <a:off x="469900" y="3839136"/>
            <a:ext cx="8455025" cy="732866"/>
            <a:chOff x="211138" y="3972860"/>
            <a:chExt cx="8713787" cy="642437"/>
          </a:xfrm>
        </p:grpSpPr>
        <p:sp>
          <p:nvSpPr>
            <p:cNvPr id="1056" name="Google Shape;1056;p7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57" name="Google Shape;1057;p7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58" name="Google Shape;1058;p77"/>
          <p:cNvGrpSpPr/>
          <p:nvPr/>
        </p:nvGrpSpPr>
        <p:grpSpPr>
          <a:xfrm>
            <a:off x="7971865" y="980278"/>
            <a:ext cx="949325" cy="2867825"/>
            <a:chOff x="7941888" y="1062037"/>
            <a:chExt cx="983037" cy="2695575"/>
          </a:xfrm>
        </p:grpSpPr>
        <p:sp>
          <p:nvSpPr>
            <p:cNvPr id="1059" name="Google Shape;1059;p7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60" name="Google Shape;1060;p7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61" name="Google Shape;1061;p7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a:solidFill>
                <a:schemeClr val="accent6"/>
              </a:solidFill>
            </a:endParaRPr>
          </a:p>
        </p:txBody>
      </p:sp>
      <p:sp>
        <p:nvSpPr>
          <p:cNvPr id="1062" name="Google Shape;1062;p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graphicFrame>
        <p:nvGraphicFramePr>
          <p:cNvPr id="1098" name="Google Shape;1098;p7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as perceived by the customer is predicted and acted upon on a constant basis and alarms are automatically set to  trigger both communications to the customers and remedial measures for customer problems. Companies put the real customer experience at the forefront of their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measures and insights are used to predict direct customer related indicators like churn, etc. Internal performance indicators are fed by customer experience indicators. Both internal data and voice of the customer data including external social media data are used to assess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measures and insights are used to measure direct customer related indicators like churn, etc. Internal performance indicators are fed by customer experience indicators measured from internal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Apart from internal functional area measurements of customer indicators, there are customer surveys that are carried out to understand qualitative aspects of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information is measured from functional company silos such as Customer care, Marketing, operations, fiinance, etc. And customer-related indicators are only measured in how they reflect on internal systems, e.g. Complaints, churn,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99" name="Google Shape;1099;p79"/>
          <p:cNvGrpSpPr/>
          <p:nvPr/>
        </p:nvGrpSpPr>
        <p:grpSpPr>
          <a:xfrm>
            <a:off x="469900" y="3839136"/>
            <a:ext cx="8455025" cy="732866"/>
            <a:chOff x="211138" y="3972860"/>
            <a:chExt cx="8713787" cy="642437"/>
          </a:xfrm>
        </p:grpSpPr>
        <p:sp>
          <p:nvSpPr>
            <p:cNvPr id="1100" name="Google Shape;1100;p7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1" name="Google Shape;1101;p7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2" name="Google Shape;1102;p79"/>
          <p:cNvGrpSpPr/>
          <p:nvPr/>
        </p:nvGrpSpPr>
        <p:grpSpPr>
          <a:xfrm>
            <a:off x="7971865" y="980278"/>
            <a:ext cx="949325" cy="2867825"/>
            <a:chOff x="7941888" y="1062037"/>
            <a:chExt cx="983037" cy="2695575"/>
          </a:xfrm>
        </p:grpSpPr>
        <p:sp>
          <p:nvSpPr>
            <p:cNvPr id="1103" name="Google Shape;1103;p7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4" name="Google Shape;1104;p7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5" name="Google Shape;1105;p7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a:solidFill>
                <a:schemeClr val="accent6"/>
              </a:solidFill>
            </a:endParaRPr>
          </a:p>
        </p:txBody>
      </p:sp>
      <p:sp>
        <p:nvSpPr>
          <p:cNvPr id="1106" name="Google Shape;1106;p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graphicFrame>
        <p:nvGraphicFramePr>
          <p:cNvPr id="1142" name="Google Shape;1142;p8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Significant transactions classified in near-real-time for continual use in customer understanding and decisioning.   Automatic classification of new transaction types via customer self classification.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Scheduled and automated process classifies the most significant transactions on a daily basis. Fully maintained reference library with manual process to add / update new transactions and insights.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Some transactional classification undertaken for a few transaction types and use cases. Process is manual and run monthly or on an ad-hoc basis.  Insights are added to the customer record.</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Raw transactional data collected but no systematic classification undertaken.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Summarised transactional data collected that does not have required level of detail to enable granular classification.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143" name="Google Shape;1143;p81"/>
          <p:cNvGrpSpPr/>
          <p:nvPr/>
        </p:nvGrpSpPr>
        <p:grpSpPr>
          <a:xfrm>
            <a:off x="469900" y="3839136"/>
            <a:ext cx="8455025" cy="732866"/>
            <a:chOff x="211138" y="3972860"/>
            <a:chExt cx="8713787" cy="642437"/>
          </a:xfrm>
        </p:grpSpPr>
        <p:sp>
          <p:nvSpPr>
            <p:cNvPr id="1144" name="Google Shape;1144;p8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45" name="Google Shape;1145;p8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46" name="Google Shape;1146;p81"/>
          <p:cNvGrpSpPr/>
          <p:nvPr/>
        </p:nvGrpSpPr>
        <p:grpSpPr>
          <a:xfrm>
            <a:off x="7971865" y="980278"/>
            <a:ext cx="949325" cy="2867825"/>
            <a:chOff x="7941888" y="1062037"/>
            <a:chExt cx="983037" cy="2695575"/>
          </a:xfrm>
        </p:grpSpPr>
        <p:sp>
          <p:nvSpPr>
            <p:cNvPr id="1147" name="Google Shape;1147;p8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48" name="Google Shape;1148;p8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49" name="Google Shape;1149;p8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a:solidFill>
                <a:schemeClr val="accent6"/>
              </a:solidFill>
            </a:endParaRPr>
          </a:p>
        </p:txBody>
      </p:sp>
      <p:sp>
        <p:nvSpPr>
          <p:cNvPr id="1150" name="Google Shape;1150;p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graphicFrame>
        <p:nvGraphicFramePr>
          <p:cNvPr id="1186" name="Google Shape;1186;p8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Near real-time analysis of cross-channel customer journeys prompting automatic messaging and intercessions with specific business objectives in mind . Also providing input into propensity models. Journey analytics utilized for both driving personalized customer interactions and to identify process issues and opportunities to improve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Using path analytics to identify or discover unexpected or unusual patterns of behaviour that were not expected through usual hypotheses. Extensive event table to capture multiple types of events and interactions.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Additional events are collected and identified including cross channel interactions, marketing contacts and responses. Path analytics embedded in business units with defined actions driven by specific business rules. Linkage into more traditional contact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Core cross channel interactions (web browsing, purchasing) are collected and customers identified across channels. Begin to analyze multi-channel journeys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Relatively simplistic analysis of single channel journeys (eg journey through web)</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187" name="Google Shape;1187;p83"/>
          <p:cNvGrpSpPr/>
          <p:nvPr/>
        </p:nvGrpSpPr>
        <p:grpSpPr>
          <a:xfrm>
            <a:off x="469900" y="3839136"/>
            <a:ext cx="8455025" cy="732866"/>
            <a:chOff x="211138" y="3972860"/>
            <a:chExt cx="8713787" cy="642437"/>
          </a:xfrm>
        </p:grpSpPr>
        <p:sp>
          <p:nvSpPr>
            <p:cNvPr id="1188" name="Google Shape;1188;p8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89" name="Google Shape;1189;p8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90" name="Google Shape;1190;p83"/>
          <p:cNvGrpSpPr/>
          <p:nvPr/>
        </p:nvGrpSpPr>
        <p:grpSpPr>
          <a:xfrm>
            <a:off x="7971865" y="980278"/>
            <a:ext cx="949325" cy="2867825"/>
            <a:chOff x="7941888" y="1062037"/>
            <a:chExt cx="983037" cy="2695575"/>
          </a:xfrm>
        </p:grpSpPr>
        <p:sp>
          <p:nvSpPr>
            <p:cNvPr id="1191" name="Google Shape;1191;p8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92" name="Google Shape;1192;p8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93" name="Google Shape;1193;p8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a:solidFill>
                <a:schemeClr val="accent6"/>
              </a:solidFill>
            </a:endParaRPr>
          </a:p>
        </p:txBody>
      </p:sp>
      <p:sp>
        <p:nvSpPr>
          <p:cNvPr id="1194" name="Google Shape;1194;p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graphicFrame>
        <p:nvGraphicFramePr>
          <p:cNvPr id="1230" name="Google Shape;1230;p8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Large portfolio of events detected on a real-time / intraday / daily basis from a rich variety of data sources including transactions, interactions and external data. Advanced event detection routines such as machine learning finds unusual patterns of behaviour and detects changes in behaviour over time. Events are combined to specialise customer treatment and increase response. Active test and  learn methodology continuously trials new event types.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Medium to large portfolio of events, mostly detected on daily basis from an expanding range of data sources including transactions and interactions. (Including online). Some intra-day event detection performed, particularly for digital channels. Established set of event detection methodologies are utilised depending on timeliness and complexity of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Medium portfolio of events covering a wider range of business objectives /  data sources incl. history and using more sophisticated transactional event detection routines. Data latency constraints have been addressed and most are now executed on a daily basis.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Expanding portfolio of events covering a limited range of business objectives /  data sources incl. history and using more sophisticated transactional event detection routines. Data latency constraints being addressed to improve performance of events – daily / weekly</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Small portfolio of events detected using static traditional data sources. e.g. Key Birthdays  Events detected on weekly / monthly basis with dependency on load of core data feeds.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231" name="Google Shape;1231;p85"/>
          <p:cNvGrpSpPr/>
          <p:nvPr/>
        </p:nvGrpSpPr>
        <p:grpSpPr>
          <a:xfrm>
            <a:off x="469900" y="3839136"/>
            <a:ext cx="8455025" cy="732866"/>
            <a:chOff x="211138" y="3972860"/>
            <a:chExt cx="8713787" cy="642437"/>
          </a:xfrm>
        </p:grpSpPr>
        <p:sp>
          <p:nvSpPr>
            <p:cNvPr id="1232" name="Google Shape;1232;p8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33" name="Google Shape;1233;p8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234" name="Google Shape;1234;p85"/>
          <p:cNvGrpSpPr/>
          <p:nvPr/>
        </p:nvGrpSpPr>
        <p:grpSpPr>
          <a:xfrm>
            <a:off x="7971865" y="980278"/>
            <a:ext cx="949325" cy="2867825"/>
            <a:chOff x="7941888" y="1062037"/>
            <a:chExt cx="983037" cy="2695575"/>
          </a:xfrm>
        </p:grpSpPr>
        <p:sp>
          <p:nvSpPr>
            <p:cNvPr id="1235" name="Google Shape;1235;p8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36" name="Google Shape;1236;p8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237" name="Google Shape;1237;p8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a:solidFill>
                <a:schemeClr val="accent6"/>
              </a:solidFill>
            </a:endParaRPr>
          </a:p>
        </p:txBody>
      </p:sp>
      <p:sp>
        <p:nvSpPr>
          <p:cNvPr id="1238" name="Google Shape;1238;p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graphicFrame>
        <p:nvGraphicFramePr>
          <p:cNvPr id="1274" name="Google Shape;1274;p8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Multiple customer segmentations tightly linked to customer, product and channel strategies. Segments based on a wide range of attributes such as value, depth of relationship, behaviour and need. Segmentation used for both strategic and operational uses. Monitoring of outcomes linked to strategic direction. Primary segmentation embedded into day to day business decisions and used widely across key functional areas.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Range of clearly defined segmentations linked to business objectives. Wide range of usage including product development, campaign targeting, strategy enablement, service delivery. Automated monitoring of segment movement and business outcomes. Primary segmentation starting to be embedded into day to day business decisions and used by most some key functional areas.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Increased number of clear segmentation, with regular refresh (monthly)</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Segment  not only product focus but include customer life stage based on marketing and non marketing data (such as customer LTV)</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Segments generally included within offer targeting and refresh on a regular basis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Small number of basic statistical segmentation models based on customer demographics, product holding or business sector.. Mainly product  and revenuue focussed and within the marketing function.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No consistent definition of segmentation objectives across business.  Very few rules based segmentation models mainly based on demographic data with limited use to support product centric activity. No periodic refresh.</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275" name="Google Shape;1275;p87"/>
          <p:cNvGrpSpPr/>
          <p:nvPr/>
        </p:nvGrpSpPr>
        <p:grpSpPr>
          <a:xfrm>
            <a:off x="689024" y="4646343"/>
            <a:ext cx="8454987" cy="732892"/>
            <a:chOff x="211138" y="3972860"/>
            <a:chExt cx="8713787" cy="642437"/>
          </a:xfrm>
        </p:grpSpPr>
        <p:sp>
          <p:nvSpPr>
            <p:cNvPr id="1276" name="Google Shape;1276;p8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77" name="Google Shape;1277;p8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278" name="Google Shape;1278;p87"/>
          <p:cNvGrpSpPr/>
          <p:nvPr/>
        </p:nvGrpSpPr>
        <p:grpSpPr>
          <a:xfrm>
            <a:off x="7971865" y="980278"/>
            <a:ext cx="949325" cy="2867825"/>
            <a:chOff x="7941888" y="1062037"/>
            <a:chExt cx="983037" cy="2695575"/>
          </a:xfrm>
        </p:grpSpPr>
        <p:sp>
          <p:nvSpPr>
            <p:cNvPr id="1279" name="Google Shape;1279;p8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80" name="Google Shape;1280;p8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281" name="Google Shape;1281;p8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a:solidFill>
                <a:schemeClr val="accent6"/>
              </a:solidFill>
            </a:endParaRPr>
          </a:p>
        </p:txBody>
      </p:sp>
      <p:sp>
        <p:nvSpPr>
          <p:cNvPr id="1282" name="Google Shape;1282;p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 name="Shape 1317"/>
        <p:cNvGrpSpPr/>
        <p:nvPr/>
      </p:nvGrpSpPr>
      <p:grpSpPr>
        <a:xfrm>
          <a:off x="0" y="0"/>
          <a:ext cx="0" cy="0"/>
          <a:chOff x="0" y="0"/>
          <a:chExt cx="0" cy="0"/>
        </a:xfrm>
      </p:grpSpPr>
      <p:graphicFrame>
        <p:nvGraphicFramePr>
          <p:cNvPr id="1318" name="Google Shape;1318;p8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Embed knowledge of social network into forecasting analytics and create scenarios for retention, cluster build and central network expansion for multiple business use cases (marketing/promotion, product adaptation,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Embedding the knowledge of the influencer within a social network to special treatment and personal campaigns to ensure retention.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Find similar influencers with people-like-me techniques to expand and understand the influencer as a separate segment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Find the key influencers in a micro-segment through graph and advanced clustering techniques. Calculating the strength of the relationship and how strong a role the influencer is playing</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Clusters of micro-segments with common interest and behaviour</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319" name="Google Shape;1319;p89"/>
          <p:cNvGrpSpPr/>
          <p:nvPr/>
        </p:nvGrpSpPr>
        <p:grpSpPr>
          <a:xfrm>
            <a:off x="469900" y="3818588"/>
            <a:ext cx="8455025" cy="732866"/>
            <a:chOff x="211138" y="3972860"/>
            <a:chExt cx="8713787" cy="642437"/>
          </a:xfrm>
        </p:grpSpPr>
        <p:sp>
          <p:nvSpPr>
            <p:cNvPr id="1320" name="Google Shape;1320;p8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21" name="Google Shape;1321;p8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322" name="Google Shape;1322;p89"/>
          <p:cNvGrpSpPr/>
          <p:nvPr/>
        </p:nvGrpSpPr>
        <p:grpSpPr>
          <a:xfrm>
            <a:off x="7971865" y="980278"/>
            <a:ext cx="949325" cy="2867825"/>
            <a:chOff x="7941888" y="1062037"/>
            <a:chExt cx="983037" cy="2695575"/>
          </a:xfrm>
        </p:grpSpPr>
        <p:sp>
          <p:nvSpPr>
            <p:cNvPr id="1323" name="Google Shape;1323;p8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24" name="Google Shape;1324;p8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325" name="Google Shape;1325;p8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a:t>
            </a:r>
            <a:endParaRPr>
              <a:solidFill>
                <a:schemeClr val="accent6"/>
              </a:solidFill>
            </a:endParaRPr>
          </a:p>
        </p:txBody>
      </p:sp>
      <p:sp>
        <p:nvSpPr>
          <p:cNvPr id="1326" name="Google Shape;1326;p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graphicFrame>
        <p:nvGraphicFramePr>
          <p:cNvPr id="1362" name="Google Shape;1362;p9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Enterprise-accessible repository of customer behaviours and segments, both current and predicted.  Ability to predict, test and measure likely customer preferences for new situations ((e.g. how they may react to a newly available channel or product set) based on their demographic, behavioral and customer journey attributes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customize customer communications and treatment strategies based on these insights as well as the financial implications of different treatment strategies.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assign priorities to different customer preferences, across channel and product.  Systemic ability to modify offerings and customer treatment strategies based on current set of exhibited behaviours.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impute customer preferences without direct evidence on that customer, based on the observed preferences and priorities of similar customers over time.</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understanding of current customer preferences regarding products, categories, and interaction channels.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363" name="Google Shape;1363;p91"/>
          <p:cNvGrpSpPr/>
          <p:nvPr/>
        </p:nvGrpSpPr>
        <p:grpSpPr>
          <a:xfrm>
            <a:off x="469900" y="3818588"/>
            <a:ext cx="8455025" cy="732866"/>
            <a:chOff x="211138" y="3972860"/>
            <a:chExt cx="8713787" cy="642437"/>
          </a:xfrm>
        </p:grpSpPr>
        <p:sp>
          <p:nvSpPr>
            <p:cNvPr id="1364" name="Google Shape;1364;p9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65" name="Google Shape;1365;p9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366" name="Google Shape;1366;p91"/>
          <p:cNvGrpSpPr/>
          <p:nvPr/>
        </p:nvGrpSpPr>
        <p:grpSpPr>
          <a:xfrm>
            <a:off x="7971865" y="980278"/>
            <a:ext cx="949325" cy="2867825"/>
            <a:chOff x="7941888" y="1062037"/>
            <a:chExt cx="983037" cy="2695575"/>
          </a:xfrm>
        </p:grpSpPr>
        <p:sp>
          <p:nvSpPr>
            <p:cNvPr id="1367" name="Google Shape;1367;p9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68" name="Google Shape;1368;p9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369" name="Google Shape;1369;p9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sp>
        <p:nvSpPr>
          <p:cNvPr id="1370" name="Google Shape;1370;p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graphicFrame>
        <p:nvGraphicFramePr>
          <p:cNvPr id="1406" name="Google Shape;1406;p9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Life Stage insight informs all aspects of customer analytics and individual customer treatment strategies. Longer term customer strategy can be made more relevant.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Development of innovative, non-traditional Life Stages that address specific customer needs for the industry – e.g., targeting sports cars to empty-nesters or Honeymoon Banking packages to newly engaged couples. Utilize external data such as demographic data in addition to self reported life stage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Identification and utilization of Customer Life Stage insight for targeting offers and messages to specific Life Stage-based customer segments.  Some understanding of which Life Stages are particularly relevant for the industry.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Rudimentary understanding of Customer Life Stage based on self-reported status of customer. Data captured from customer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Little or no understanding of which Customer Life Stages are relevant to the industry and limited ability to understand where customers are other than by direct conversation.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407" name="Google Shape;1407;p93"/>
          <p:cNvGrpSpPr/>
          <p:nvPr/>
        </p:nvGrpSpPr>
        <p:grpSpPr>
          <a:xfrm>
            <a:off x="469900" y="3818588"/>
            <a:ext cx="8455025" cy="732866"/>
            <a:chOff x="211138" y="3972860"/>
            <a:chExt cx="8713787" cy="642437"/>
          </a:xfrm>
        </p:grpSpPr>
        <p:sp>
          <p:nvSpPr>
            <p:cNvPr id="1408" name="Google Shape;1408;p9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09" name="Google Shape;1409;p9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410" name="Google Shape;1410;p93"/>
          <p:cNvGrpSpPr/>
          <p:nvPr/>
        </p:nvGrpSpPr>
        <p:grpSpPr>
          <a:xfrm>
            <a:off x="7971865" y="980278"/>
            <a:ext cx="949325" cy="2867825"/>
            <a:chOff x="7941888" y="1062037"/>
            <a:chExt cx="983037" cy="2695575"/>
          </a:xfrm>
        </p:grpSpPr>
        <p:sp>
          <p:nvSpPr>
            <p:cNvPr id="1411" name="Google Shape;1411;p9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12" name="Google Shape;1412;p9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413" name="Google Shape;1413;p9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a:solidFill>
                <a:schemeClr val="accent6"/>
              </a:solidFill>
            </a:endParaRPr>
          </a:p>
        </p:txBody>
      </p:sp>
      <p:sp>
        <p:nvSpPr>
          <p:cNvPr id="1414" name="Google Shape;1414;p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sp>
        <p:nvSpPr>
          <p:cNvPr id="1428" name="Google Shape;1428;p95"/>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Acquisition </a:t>
            </a:r>
            <a:r>
              <a:rPr lang="en-GB" sz="1100"/>
              <a:t>increasing the efficiency of the customer acquisition process to ensure cost effective recruitment of desired new customers</a:t>
            </a:r>
            <a:endParaRPr/>
          </a:p>
          <a:p>
            <a:pPr indent="0" lvl="0" marL="0" rtl="0" algn="l">
              <a:lnSpc>
                <a:spcPct val="110000"/>
              </a:lnSpc>
              <a:spcBef>
                <a:spcPts val="800"/>
              </a:spcBef>
              <a:spcAft>
                <a:spcPts val="0"/>
              </a:spcAft>
              <a:buClr>
                <a:schemeClr val="dk1"/>
              </a:buClr>
              <a:buSzPts val="1200"/>
              <a:buNone/>
            </a:pPr>
            <a:r>
              <a:rPr b="1" lang="en-GB" sz="1200"/>
              <a:t>Customer On-Boarding and Development </a:t>
            </a:r>
            <a:r>
              <a:rPr lang="en-GB" sz="1100"/>
              <a:t>developing profitable future relationships</a:t>
            </a:r>
            <a:endParaRPr sz="1100"/>
          </a:p>
          <a:p>
            <a:pPr indent="0" lvl="0" marL="0" rtl="0" algn="l">
              <a:lnSpc>
                <a:spcPct val="95000"/>
              </a:lnSpc>
              <a:spcBef>
                <a:spcPts val="800"/>
              </a:spcBef>
              <a:spcAft>
                <a:spcPts val="0"/>
              </a:spcAft>
              <a:buClr>
                <a:schemeClr val="dk1"/>
              </a:buClr>
              <a:buSzPts val="1200"/>
              <a:buNone/>
            </a:pPr>
            <a:r>
              <a:rPr b="1" lang="en-GB" sz="1200"/>
              <a:t>Customer Retention </a:t>
            </a:r>
            <a:r>
              <a:rPr lang="en-GB" sz="1200"/>
              <a:t>d</a:t>
            </a:r>
            <a:r>
              <a:rPr lang="en-GB" sz="1100"/>
              <a:t>eveloping strategies to retain declining customers</a:t>
            </a:r>
            <a:endParaRPr sz="1100"/>
          </a:p>
          <a:p>
            <a:pPr indent="0" lvl="0" marL="0" rtl="0" algn="l">
              <a:lnSpc>
                <a:spcPct val="100000"/>
              </a:lnSpc>
              <a:spcBef>
                <a:spcPts val="200"/>
              </a:spcBef>
              <a:spcAft>
                <a:spcPts val="0"/>
              </a:spcAft>
              <a:buClr>
                <a:srgbClr val="3C3C3B"/>
              </a:buClr>
              <a:buSzPts val="1200"/>
              <a:buNone/>
            </a:pPr>
            <a:r>
              <a:rPr b="1" lang="en-GB" sz="1200"/>
              <a:t>Customer Churn </a:t>
            </a:r>
            <a:r>
              <a:rPr lang="en-GB" sz="1100"/>
              <a:t>Predict customers who are likely to churn and react to potential churn events</a:t>
            </a:r>
            <a:endParaRPr sz="1100">
              <a:solidFill>
                <a:srgbClr val="3C3C3B"/>
              </a:solidFill>
            </a:endParaRPr>
          </a:p>
          <a:p>
            <a:pPr indent="0" lvl="0" marL="0" rtl="0" algn="l">
              <a:lnSpc>
                <a:spcPct val="110000"/>
              </a:lnSpc>
              <a:spcBef>
                <a:spcPts val="900"/>
              </a:spcBef>
              <a:spcAft>
                <a:spcPts val="0"/>
              </a:spcAft>
              <a:buClr>
                <a:schemeClr val="dk1"/>
              </a:buClr>
              <a:buSzPts val="1200"/>
              <a:buNone/>
            </a:pPr>
            <a:r>
              <a:rPr b="1" lang="en-GB" sz="1200"/>
              <a:t>Customer Re-engagement </a:t>
            </a:r>
            <a:r>
              <a:rPr lang="en-GB" sz="1100"/>
              <a:t>responding to early warning signs of reduced customer activity and enact strategies to re-engage customer relationships </a:t>
            </a:r>
            <a:endParaRPr/>
          </a:p>
          <a:p>
            <a:pPr indent="0" lvl="0" marL="0" rtl="0" algn="l">
              <a:lnSpc>
                <a:spcPct val="100000"/>
              </a:lnSpc>
              <a:spcBef>
                <a:spcPts val="200"/>
              </a:spcBef>
              <a:spcAft>
                <a:spcPts val="0"/>
              </a:spcAft>
              <a:buClr>
                <a:schemeClr val="dk1"/>
              </a:buClr>
              <a:buSzPts val="1200"/>
              <a:buNone/>
            </a:pPr>
            <a:r>
              <a:rPr b="1" lang="en-GB" sz="1200"/>
              <a:t>Customer Loyalty </a:t>
            </a:r>
            <a:r>
              <a:rPr lang="en-GB" sz="1100"/>
              <a:t>attracting profitable members and creating long term brand engagement</a:t>
            </a:r>
            <a:endParaRPr/>
          </a:p>
          <a:p>
            <a:pPr indent="0" lvl="0" marL="0" rtl="0" algn="l">
              <a:lnSpc>
                <a:spcPct val="110000"/>
              </a:lnSpc>
              <a:spcBef>
                <a:spcPts val="600"/>
              </a:spcBef>
              <a:spcAft>
                <a:spcPts val="0"/>
              </a:spcAft>
              <a:buClr>
                <a:schemeClr val="dk1"/>
              </a:buClr>
              <a:buSzPts val="1200"/>
              <a:buNone/>
            </a:pPr>
            <a:r>
              <a:rPr b="1" lang="en-GB" sz="1200"/>
              <a:t>Cross Sell/Up Sell </a:t>
            </a:r>
            <a:r>
              <a:rPr lang="en-GB" sz="1100"/>
              <a:t>identifying and executing  the best opportunities of upselling  and cross selling  to increase organisation profit and individual customer value</a:t>
            </a:r>
            <a:endParaRPr/>
          </a:p>
          <a:p>
            <a:pPr indent="0" lvl="0" marL="0" rtl="0" algn="l">
              <a:lnSpc>
                <a:spcPct val="110000"/>
              </a:lnSpc>
              <a:spcBef>
                <a:spcPts val="800"/>
              </a:spcBef>
              <a:spcAft>
                <a:spcPts val="0"/>
              </a:spcAft>
              <a:buClr>
                <a:schemeClr val="dk1"/>
              </a:buClr>
              <a:buSzPts val="1100"/>
              <a:buNone/>
            </a:pPr>
            <a:r>
              <a:t/>
            </a:r>
            <a:endParaRPr sz="1100"/>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1429" name="Google Shape;1429;p9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endParaRPr/>
          </a:p>
        </p:txBody>
      </p:sp>
      <p:pic>
        <p:nvPicPr>
          <p:cNvPr descr="COM-1008-L.jpg" id="1430" name="Google Shape;1430;p9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31" name="Google Shape;1431;p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