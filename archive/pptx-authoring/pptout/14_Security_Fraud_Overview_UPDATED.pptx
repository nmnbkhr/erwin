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08.xml" ContentType="application/vnd.openxmlformats-officedocument.presentationml.notesSlide+xml"/>
  <Override PartName="/ppt/notesSlides/notesSlide509.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14.xml" ContentType="application/vnd.openxmlformats-officedocument.presentationml.notesSlide+xml"/>
  <Override PartName="/ppt/notesSlides/notesSlide515.xml" ContentType="application/vnd.openxmlformats-officedocument.presentationml.notesSlide+xml"/>
  <Override PartName="/ppt/notesSlides/notesSlide516.xml" ContentType="application/vnd.openxmlformats-officedocument.presentationml.notesSlide+xml"/>
  <Override PartName="/ppt/notesSlides/notesSlide517.xml" ContentType="application/vnd.openxmlformats-officedocument.presentationml.notesSlide+xml"/>
  <Override PartName="/ppt/notesSlides/notesSlide518.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0.xml" ContentType="application/vnd.openxmlformats-officedocument.presentationml.notesSlide+xml"/>
  <Override PartName="/ppt/notesSlides/notesSlide521.xml" ContentType="application/vnd.openxmlformats-officedocument.presentationml.notesSlide+xml"/>
  <Override PartName="/ppt/notesSlides/notesSlide522.xml" ContentType="application/vnd.openxmlformats-officedocument.presentationml.notesSlide+xml"/>
  <Override PartName="/ppt/notesSlides/notesSlide523.xml" ContentType="application/vnd.openxmlformats-officedocument.presentationml.notesSlide+xml"/>
  <Override PartName="/ppt/notesSlides/notesSlide524.xml" ContentType="application/vnd.openxmlformats-officedocument.presentationml.notesSlide+xml"/>
  <Override PartName="/ppt/notesSlides/notesSlide525.xml" ContentType="application/vnd.openxmlformats-officedocument.presentationml.notesSlide+xml"/>
  <Override PartName="/ppt/notesSlides/notesSlide526.xml" ContentType="application/vnd.openxmlformats-officedocument.presentationml.notesSlide+xml"/>
  <Override PartName="/ppt/notesSlides/notesSlide527.xml" ContentType="application/vnd.openxmlformats-officedocument.presentationml.notesSlide+xml"/>
  <Override PartName="/ppt/notesSlides/notesSlide528.xml" ContentType="application/vnd.openxmlformats-officedocument.presentationml.notesSlide+xml"/>
  <Override PartName="/ppt/notesSlides/notesSlide529.xml" ContentType="application/vnd.openxmlformats-officedocument.presentationml.notesSlide+xml"/>
  <Override PartName="/ppt/notesSlides/notesSlide530.xml" ContentType="application/vnd.openxmlformats-officedocument.presentationml.notesSlide+xml"/>
  <Override PartName="/ppt/notesSlides/notesSlide531.xml" ContentType="application/vnd.openxmlformats-officedocument.presentationml.notesSlide+xml"/>
  <Override PartName="/ppt/notesSlides/notesSlide532.xml" ContentType="application/vnd.openxmlformats-officedocument.presentationml.notesSlide+xml"/>
  <Override PartName="/ppt/notesSlides/notesSlide533.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729" r:id="rId480"/>
    <p:sldId id="730" r:id="rId481"/>
    <p:sldId id="731" r:id="rId482"/>
    <p:sldId id="732" r:id="rId483"/>
    <p:sldId id="733" r:id="rId484"/>
    <p:sldId id="734" r:id="rId485"/>
    <p:sldId id="735" r:id="rId486"/>
    <p:sldId id="736" r:id="rId487"/>
    <p:sldId id="737" r:id="rId488"/>
    <p:sldId id="738" r:id="rId489"/>
    <p:sldId id="739" r:id="rId490"/>
    <p:sldId id="740" r:id="rId491"/>
    <p:sldId id="741" r:id="rId492"/>
    <p:sldId id="742" r:id="rId493"/>
    <p:sldId id="743" r:id="rId494"/>
    <p:sldId id="744" r:id="rId495"/>
    <p:sldId id="745" r:id="rId496"/>
    <p:sldId id="746" r:id="rId497"/>
    <p:sldId id="747" r:id="rId498"/>
    <p:sldId id="748" r:id="rId499"/>
    <p:sldId id="749" r:id="rId500"/>
    <p:sldId id="750" r:id="rId501"/>
    <p:sldId id="751" r:id="rId502"/>
    <p:sldId id="752" r:id="rId503"/>
    <p:sldId id="753" r:id="rId504"/>
    <p:sldId id="754" r:id="rId505"/>
    <p:sldId id="755" r:id="rId506"/>
    <p:sldId id="756" r:id="rId507"/>
    <p:sldId id="757" r:id="rId508"/>
    <p:sldId id="758" r:id="rId509"/>
    <p:sldId id="759" r:id="rId510"/>
    <p:sldId id="760" r:id="rId511"/>
    <p:sldId id="761" r:id="rId512"/>
    <p:sldId id="762" r:id="rId513"/>
    <p:sldId id="763" r:id="rId514"/>
    <p:sldId id="764" r:id="rId515"/>
    <p:sldId id="765" r:id="rId516"/>
    <p:sldId id="766" r:id="rId517"/>
    <p:sldId id="767" r:id="rId518"/>
    <p:sldId id="768" r:id="rId519"/>
    <p:sldId id="769" r:id="rId520"/>
    <p:sldId id="770" r:id="rId521"/>
    <p:sldId id="771" r:id="rId522"/>
    <p:sldId id="772" r:id="rId523"/>
    <p:sldId id="773" r:id="rId524"/>
    <p:sldId id="774" r:id="rId525"/>
    <p:sldId id="775" r:id="rId526"/>
    <p:sldId id="776" r:id="rId527"/>
    <p:sldId id="777" r:id="rId528"/>
    <p:sldId id="778" r:id="rId529"/>
    <p:sldId id="779" r:id="rId530"/>
    <p:sldId id="780" r:id="rId531"/>
    <p:sldId id="781" r:id="rId532"/>
    <p:sldId id="782" r:id="rId533"/>
    <p:sldId id="783" r:id="rId534"/>
    <p:sldId id="784" r:id="rId535"/>
    <p:sldId id="785" r:id="rId536"/>
    <p:sldId id="786" r:id="rId537"/>
    <p:sldId id="787" r:id="rId538"/>
    <p:sldId id="788" r:id="rId539"/>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480" Type="http://schemas.openxmlformats.org/officeDocument/2006/relationships/slide" Target="slides/slide474.xml"/><Relationship Id="rId481" Type="http://schemas.openxmlformats.org/officeDocument/2006/relationships/slide" Target="slides/slide475.xml"/><Relationship Id="rId482" Type="http://schemas.openxmlformats.org/officeDocument/2006/relationships/slide" Target="slides/slide476.xml"/><Relationship Id="rId483" Type="http://schemas.openxmlformats.org/officeDocument/2006/relationships/slide" Target="slides/slide477.xml"/><Relationship Id="rId484" Type="http://schemas.openxmlformats.org/officeDocument/2006/relationships/slide" Target="slides/slide478.xml"/><Relationship Id="rId485" Type="http://schemas.openxmlformats.org/officeDocument/2006/relationships/slide" Target="slides/slide479.xml"/><Relationship Id="rId486" Type="http://schemas.openxmlformats.org/officeDocument/2006/relationships/slide" Target="slides/slide480.xml"/><Relationship Id="rId487" Type="http://schemas.openxmlformats.org/officeDocument/2006/relationships/slide" Target="slides/slide481.xml"/><Relationship Id="rId488" Type="http://schemas.openxmlformats.org/officeDocument/2006/relationships/slide" Target="slides/slide482.xml"/><Relationship Id="rId489" Type="http://schemas.openxmlformats.org/officeDocument/2006/relationships/slide" Target="slides/slide483.xml"/><Relationship Id="rId490" Type="http://schemas.openxmlformats.org/officeDocument/2006/relationships/slide" Target="slides/slide484.xml"/><Relationship Id="rId491" Type="http://schemas.openxmlformats.org/officeDocument/2006/relationships/slide" Target="slides/slide485.xml"/><Relationship Id="rId492" Type="http://schemas.openxmlformats.org/officeDocument/2006/relationships/slide" Target="slides/slide486.xml"/><Relationship Id="rId493" Type="http://schemas.openxmlformats.org/officeDocument/2006/relationships/slide" Target="slides/slide487.xml"/><Relationship Id="rId494" Type="http://schemas.openxmlformats.org/officeDocument/2006/relationships/slide" Target="slides/slide488.xml"/><Relationship Id="rId495" Type="http://schemas.openxmlformats.org/officeDocument/2006/relationships/slide" Target="slides/slide489.xml"/><Relationship Id="rId496" Type="http://schemas.openxmlformats.org/officeDocument/2006/relationships/slide" Target="slides/slide490.xml"/><Relationship Id="rId497" Type="http://schemas.openxmlformats.org/officeDocument/2006/relationships/slide" Target="slides/slide491.xml"/><Relationship Id="rId498" Type="http://schemas.openxmlformats.org/officeDocument/2006/relationships/slide" Target="slides/slide492.xml"/><Relationship Id="rId499" Type="http://schemas.openxmlformats.org/officeDocument/2006/relationships/slide" Target="slides/slide493.xml"/><Relationship Id="rId500" Type="http://schemas.openxmlformats.org/officeDocument/2006/relationships/slide" Target="slides/slide494.xml"/><Relationship Id="rId501" Type="http://schemas.openxmlformats.org/officeDocument/2006/relationships/slide" Target="slides/slide495.xml"/><Relationship Id="rId502" Type="http://schemas.openxmlformats.org/officeDocument/2006/relationships/slide" Target="slides/slide496.xml"/><Relationship Id="rId503" Type="http://schemas.openxmlformats.org/officeDocument/2006/relationships/slide" Target="slides/slide497.xml"/><Relationship Id="rId504" Type="http://schemas.openxmlformats.org/officeDocument/2006/relationships/slide" Target="slides/slide498.xml"/><Relationship Id="rId505" Type="http://schemas.openxmlformats.org/officeDocument/2006/relationships/slide" Target="slides/slide499.xml"/><Relationship Id="rId506" Type="http://schemas.openxmlformats.org/officeDocument/2006/relationships/slide" Target="slides/slide500.xml"/><Relationship Id="rId507" Type="http://schemas.openxmlformats.org/officeDocument/2006/relationships/slide" Target="slides/slide501.xml"/><Relationship Id="rId508" Type="http://schemas.openxmlformats.org/officeDocument/2006/relationships/slide" Target="slides/slide502.xml"/><Relationship Id="rId509" Type="http://schemas.openxmlformats.org/officeDocument/2006/relationships/slide" Target="slides/slide503.xml"/><Relationship Id="rId510" Type="http://schemas.openxmlformats.org/officeDocument/2006/relationships/slide" Target="slides/slide504.xml"/><Relationship Id="rId511" Type="http://schemas.openxmlformats.org/officeDocument/2006/relationships/slide" Target="slides/slide505.xml"/><Relationship Id="rId512" Type="http://schemas.openxmlformats.org/officeDocument/2006/relationships/slide" Target="slides/slide506.xml"/><Relationship Id="rId513" Type="http://schemas.openxmlformats.org/officeDocument/2006/relationships/slide" Target="slides/slide507.xml"/><Relationship Id="rId514" Type="http://schemas.openxmlformats.org/officeDocument/2006/relationships/slide" Target="slides/slide508.xml"/><Relationship Id="rId515" Type="http://schemas.openxmlformats.org/officeDocument/2006/relationships/slide" Target="slides/slide509.xml"/><Relationship Id="rId516" Type="http://schemas.openxmlformats.org/officeDocument/2006/relationships/slide" Target="slides/slide510.xml"/><Relationship Id="rId517" Type="http://schemas.openxmlformats.org/officeDocument/2006/relationships/slide" Target="slides/slide511.xml"/><Relationship Id="rId518" Type="http://schemas.openxmlformats.org/officeDocument/2006/relationships/slide" Target="slides/slide512.xml"/><Relationship Id="rId519" Type="http://schemas.openxmlformats.org/officeDocument/2006/relationships/slide" Target="slides/slide513.xml"/><Relationship Id="rId520" Type="http://schemas.openxmlformats.org/officeDocument/2006/relationships/slide" Target="slides/slide514.xml"/><Relationship Id="rId521" Type="http://schemas.openxmlformats.org/officeDocument/2006/relationships/slide" Target="slides/slide515.xml"/><Relationship Id="rId522" Type="http://schemas.openxmlformats.org/officeDocument/2006/relationships/slide" Target="slides/slide516.xml"/><Relationship Id="rId523" Type="http://schemas.openxmlformats.org/officeDocument/2006/relationships/slide" Target="slides/slide517.xml"/><Relationship Id="rId524" Type="http://schemas.openxmlformats.org/officeDocument/2006/relationships/slide" Target="slides/slide518.xml"/><Relationship Id="rId525" Type="http://schemas.openxmlformats.org/officeDocument/2006/relationships/slide" Target="slides/slide519.xml"/><Relationship Id="rId526" Type="http://schemas.openxmlformats.org/officeDocument/2006/relationships/slide" Target="slides/slide520.xml"/><Relationship Id="rId527" Type="http://schemas.openxmlformats.org/officeDocument/2006/relationships/slide" Target="slides/slide521.xml"/><Relationship Id="rId528" Type="http://schemas.openxmlformats.org/officeDocument/2006/relationships/slide" Target="slides/slide522.xml"/><Relationship Id="rId529" Type="http://schemas.openxmlformats.org/officeDocument/2006/relationships/slide" Target="slides/slide523.xml"/><Relationship Id="rId530" Type="http://schemas.openxmlformats.org/officeDocument/2006/relationships/slide" Target="slides/slide524.xml"/><Relationship Id="rId531" Type="http://schemas.openxmlformats.org/officeDocument/2006/relationships/slide" Target="slides/slide525.xml"/><Relationship Id="rId532" Type="http://schemas.openxmlformats.org/officeDocument/2006/relationships/slide" Target="slides/slide526.xml"/><Relationship Id="rId533" Type="http://schemas.openxmlformats.org/officeDocument/2006/relationships/slide" Target="slides/slide527.xml"/><Relationship Id="rId534" Type="http://schemas.openxmlformats.org/officeDocument/2006/relationships/slide" Target="slides/slide528.xml"/><Relationship Id="rId535" Type="http://schemas.openxmlformats.org/officeDocument/2006/relationships/slide" Target="slides/slide529.xml"/><Relationship Id="rId536" Type="http://schemas.openxmlformats.org/officeDocument/2006/relationships/slide" Target="slides/slide530.xml"/><Relationship Id="rId537" Type="http://schemas.openxmlformats.org/officeDocument/2006/relationships/slide" Target="slides/slide531.xml"/><Relationship Id="rId538" Type="http://schemas.openxmlformats.org/officeDocument/2006/relationships/slide" Target="slides/slide532.xml"/><Relationship Id="rId539" Type="http://schemas.openxmlformats.org/officeDocument/2006/relationships/slide" Target="slides/slide533.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38" name="Shape 8838"/>
        <p:cNvGrpSpPr/>
        <p:nvPr/>
      </p:nvGrpSpPr>
      <p:grpSpPr>
        <a:xfrm>
          <a:off x="0" y="0"/>
          <a:ext cx="0" cy="0"/>
          <a:chOff x="0" y="0"/>
          <a:chExt cx="0" cy="0"/>
        </a:xfrm>
      </p:grpSpPr>
      <p:sp>
        <p:nvSpPr>
          <p:cNvPr id="8839" name="Google Shape;8839;p47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840" name="Google Shape;8840;p4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1" name="Shape 9061"/>
        <p:cNvGrpSpPr/>
        <p:nvPr/>
      </p:nvGrpSpPr>
      <p:grpSpPr>
        <a:xfrm>
          <a:off x="0" y="0"/>
          <a:ext cx="0" cy="0"/>
          <a:chOff x="0" y="0"/>
          <a:chExt cx="0" cy="0"/>
        </a:xfrm>
      </p:grpSpPr>
      <p:sp>
        <p:nvSpPr>
          <p:cNvPr id="9062" name="Google Shape;9062;p4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63" name="Google Shape;9063;p4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9" name="Shape 9069"/>
        <p:cNvGrpSpPr/>
        <p:nvPr/>
      </p:nvGrpSpPr>
      <p:grpSpPr>
        <a:xfrm>
          <a:off x="0" y="0"/>
          <a:ext cx="0" cy="0"/>
          <a:chOff x="0" y="0"/>
          <a:chExt cx="0" cy="0"/>
        </a:xfrm>
      </p:grpSpPr>
      <p:sp>
        <p:nvSpPr>
          <p:cNvPr id="9070" name="Google Shape;9070;p48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Security and Fraud Are You Able To: Three strategic questions testing the bank's analytical maturity for real-time fraud detection, entity resolution, and total fraud exposure quantification across all channels.</a:t>
            </a:r>
            <a:endParaRPr/>
          </a:p>
          <a:p>
            <a:pPr indent="0" lvl="0" marL="0" rtl="0" algn="l">
              <a:spcBef>
                <a:spcPts val="400"/>
              </a:spcBef>
              <a:spcAft>
                <a:spcPts val="0"/>
              </a:spcAft>
              <a:buNone/>
            </a:pPr>
            <a:r>
              <a:rPr lang="en-GB" sz="1200"/>
              <a:t>First question addresses sub-second decisioning across 50M+ daily transactions covering card, digital, and RAAST channels. Second question tests graph analytics capability for fraud ring detection using CNIC-based entity resolution. Third question assesses ability to demonstrate AML/CFT compliance to SBP and FATF evaluators.</a:t>
            </a:r>
            <a:endParaRPr/>
          </a:p>
          <a:p>
            <a:pPr indent="0" lvl="0" marL="0" rtl="0" algn="l">
              <a:spcBef>
                <a:spcPts val="400"/>
              </a:spcBef>
              <a:spcAft>
                <a:spcPts val="0"/>
              </a:spcAft>
              <a:buNone/>
            </a:pPr>
            <a:r>
              <a:rPr lang="en-GB" sz="1200"/>
              <a:t>FSDM Security domain provides 200+ entities for fraud analytics. BACR maturity assessment for Security and Fraud covers 14 sub-capabilities. Pakistan context: RAAST PKR 9.8T+ in 2024, JazzCash 40M+ wallets, Easypaisa 30M+ wallets.</a:t>
            </a:r>
            <a:endParaRPr/>
          </a:p>
        </p:txBody>
      </p:sp>
      <p:sp>
        <p:nvSpPr>
          <p:cNvPr id="9071" name="Google Shape;9071;p4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7" name="Shape 9077"/>
        <p:cNvGrpSpPr/>
        <p:nvPr/>
      </p:nvGrpSpPr>
      <p:grpSpPr>
        <a:xfrm>
          <a:off x="0" y="0"/>
          <a:ext cx="0" cy="0"/>
          <a:chOff x="0" y="0"/>
          <a:chExt cx="0" cy="0"/>
        </a:xfrm>
      </p:grpSpPr>
      <p:sp>
        <p:nvSpPr>
          <p:cNvPr id="9078" name="Google Shape;9078;p48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79" name="Google Shape;9079;p4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1" name="Shape 9091"/>
        <p:cNvGrpSpPr/>
        <p:nvPr/>
      </p:nvGrpSpPr>
      <p:grpSpPr>
        <a:xfrm>
          <a:off x="0" y="0"/>
          <a:ext cx="0" cy="0"/>
          <a:chOff x="0" y="0"/>
          <a:chExt cx="0" cy="0"/>
        </a:xfrm>
      </p:grpSpPr>
      <p:sp>
        <p:nvSpPr>
          <p:cNvPr id="9092" name="Google Shape;9092;p48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93" name="Google Shape;9093;p4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00" name="Shape 9100"/>
        <p:cNvGrpSpPr/>
        <p:nvPr/>
      </p:nvGrpSpPr>
      <p:grpSpPr>
        <a:xfrm>
          <a:off x="0" y="0"/>
          <a:ext cx="0" cy="0"/>
          <a:chOff x="0" y="0"/>
          <a:chExt cx="0" cy="0"/>
        </a:xfrm>
      </p:grpSpPr>
      <p:sp>
        <p:nvSpPr>
          <p:cNvPr id="9101" name="Google Shape;9101;p48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102" name="Google Shape;9102;p4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Common Core for Fraud Analytics challenges: Four key influences affecting enterprise fraud detection capability — evolving fraud landscape, data silos across channels, false positive burden, and FATF/APG compliance pressure.</a:t>
            </a:r>
            <a:endParaRPr/>
          </a:p>
          <a:p>
            <a:pPr indent="0" lvl="0" marL="0" rtl="0" algn="l">
              <a:spcBef>
                <a:spcPts val="400"/>
              </a:spcBef>
              <a:spcAft>
                <a:spcPts val="0"/>
              </a:spcAft>
              <a:buNone/>
            </a:pPr>
            <a:r>
              <a:rPr lang="en-GB" sz="1200"/>
              <a:t>Pakistan's rapid digital payment growth has created new fraud vectors. Fraud data sits in separate silos (card, digital, branch, AML). Industry false positive rates average 95-98%. FATF grey-listing (2018-2022) and ongoing APG scrutiny require sophisticated detection capabilities.</a:t>
            </a:r>
            <a:endParaRPr/>
          </a:p>
          <a:p>
            <a:pPr indent="0" lvl="0" marL="0" rtl="0" algn="l">
              <a:spcBef>
                <a:spcPts val="400"/>
              </a:spcBef>
              <a:spcAft>
                <a:spcPts val="0"/>
              </a:spcAft>
              <a:buNone/>
            </a:pPr>
            <a:r>
              <a:rPr lang="en-GB" sz="1200"/>
              <a:t>FSDM provides 200+ Security domain entities for unified fraud data warehouse. SBP AML/CFT Guidelines mandate automated transaction monitoring, sanctions screening, and STR reporting. Advanced analytics (ML models, network analysis) can reduce false positives by 50-70%.</a:t>
            </a:r>
            <a:endParaRPr/>
          </a:p>
        </p:txBody>
      </p:sp>
      <p:sp>
        <p:nvSpPr>
          <p:cNvPr id="9103" name="Google Shape;9103;p4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Real-Time Threat Detection and Mitigation: Business objectives focus on sub-second fraud detection across all payment channels (ATM, POS, e-commerce, IBFT, RAAST, mobile wallet) with &gt;80% detection rates and &lt;2% false positive rates.</a:t>
            </a:r>
            <a:endParaRPr/>
          </a:p>
          <a:p>
            <a:pPr indent="0" lvl="0" marL="0" rtl="0" algn="l">
              <a:spcBef>
                <a:spcPts val="400"/>
              </a:spcBef>
              <a:spcAft>
                <a:spcPts val="0"/>
              </a:spcAft>
              <a:buNone/>
            </a:pPr>
            <a:r>
              <a:rPr lang="en-GB" sz="1200"/>
              <a:t>Data sources include real-time transaction streams (50M+ daily), customer behavioral profiles, merchant risk profiles, sanctions lists, CNIC/NADRA biometric data. Analytics: gradient-boosted ensemble models, velocity checks, geospatial anomaly detection, network analytics, behavioral profiling.</a:t>
            </a:r>
            <a:endParaRPr/>
          </a:p>
          <a:p>
            <a:pPr indent="0" lvl="0" marL="0" rtl="0" algn="l">
              <a:spcBef>
                <a:spcPts val="400"/>
              </a:spcBef>
              <a:spcAft>
                <a:spcPts val="0"/>
              </a:spcAft>
              <a:buNone/>
            </a:pPr>
            <a:r>
              <a:rPr lang="en-GB" sz="1200"/>
              <a:t>Measurable outcomes: Sub-second scoring on 100% of transactions, real-time block/allow/review decisioning, automated case creation, 50-70% false positive reduction. FSDM Event and Transaction entities support real-time streaming analytics.</a:t>
            </a:r>
            <a:endParaRPr/>
          </a:p>
        </p:txBody>
      </p:sp>
    </p:spTree>
  </p:cSld>
  <p:clrMapOvr>
    <a:masterClrMapping/>
  </p:clrMapOvr>
</p:notes>
</file>

<file path=ppt/notesSlides/notesSlide4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2" name="Shape 9142"/>
        <p:cNvGrpSpPr/>
        <p:nvPr/>
      </p:nvGrpSpPr>
      <p:grpSpPr>
        <a:xfrm>
          <a:off x="0" y="0"/>
          <a:ext cx="0" cy="0"/>
          <a:chOff x="0" y="0"/>
          <a:chExt cx="0" cy="0"/>
        </a:xfrm>
      </p:grpSpPr>
      <p:sp>
        <p:nvSpPr>
          <p:cNvPr id="9143" name="Google Shape;9143;p4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144" name="Google Shape;9144;p4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45" name="Google Shape;9145;p4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for Real-Time Threat Detection: Five levels from Emerging (customer complaints and manual reconciliation) to Leading (fully automated AI/ML detection with sub-100ms response time and continuous learning).</a:t>
            </a:r>
            <a:endParaRPr/>
          </a:p>
          <a:p>
            <a:pPr indent="0" lvl="0" marL="0" rtl="0" algn="l">
              <a:spcBef>
                <a:spcPts val="400"/>
              </a:spcBef>
              <a:spcAft>
                <a:spcPts val="0"/>
              </a:spcAft>
              <a:buNone/>
            </a:pPr>
            <a:r>
              <a:rPr lang="en-GB" sz="1200"/>
              <a:t>Most Pakistan banks currently operate at Developing level (rule-based card fraud detection) with aspirations to reach Practicing level (ML augmentation, real-time cards). Leading organizations integrate fraud, AML, and cyber security with behavioral biometrics.</a:t>
            </a:r>
            <a:endParaRPr/>
          </a:p>
          <a:p>
            <a:pPr indent="0" lvl="0" marL="0" rtl="0" algn="l">
              <a:spcBef>
                <a:spcPts val="400"/>
              </a:spcBef>
              <a:spcAft>
                <a:spcPts val="0"/>
              </a:spcAft>
              <a:buNone/>
            </a:pPr>
            <a:r>
              <a:rPr lang="en-GB" sz="1200"/>
              <a:t>Key advancement path: Move from rule-based to ML-based scoring, expand from card-only to all channels, reduce false positive rates from 20%+ to &lt;5%. Investment in Teradata-based real-time scoring infrastructure is critical enabler.</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Fraud Risk Assessment: Comprehensive framework for identifying, measuring, and monitoring fraud exposure across all products, channels, and customer segments. Supports SBP annual fraud risk assessment requirements and FATF risk-based approach.</a:t>
            </a:r>
            <a:endParaRPr/>
          </a:p>
          <a:p>
            <a:pPr indent="0" lvl="0" marL="0" rtl="0" algn="l">
              <a:spcBef>
                <a:spcPts val="400"/>
              </a:spcBef>
              <a:spcAft>
                <a:spcPts val="0"/>
              </a:spcAft>
              <a:buNone/>
            </a:pPr>
            <a:r>
              <a:rPr lang="en-GB" sz="1200"/>
              <a:t>Data includes historical fraud loss data, transaction patterns, customer complaints, audit findings, industry benchmarks (SBP statistics, PBA reports). Analytics: fraud risk scoring by product-channel combination, heat maps, trend analysis, Monte Carlo simulation.</a:t>
            </a:r>
            <a:endParaRPr/>
          </a:p>
          <a:p>
            <a:pPr indent="0" lvl="0" marL="0" rtl="0" algn="l">
              <a:spcBef>
                <a:spcPts val="400"/>
              </a:spcBef>
              <a:spcAft>
                <a:spcPts val="0"/>
              </a:spcAft>
              <a:buNone/>
            </a:pPr>
            <a:r>
              <a:rPr lang="en-GB" sz="1200"/>
              <a:t>Deliverables: Annual fraud risk assessment report, fraud risk heat map, control gap analysis, emerging threat intelligence report, Board-level fraud risk dashboard for Audit Committee. BACR Level 2-3 target for most Pakistan banks.</a:t>
            </a:r>
            <a:endParaRPr/>
          </a:p>
        </p:txBody>
      </p:sp>
    </p:spTree>
  </p:cSld>
  <p:clrMapOvr>
    <a:masterClrMapping/>
  </p:clrMapOvr>
</p:notes>
</file>

<file path=ppt/notesSlides/notesSlide4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3" name="Shape 9173"/>
        <p:cNvGrpSpPr/>
        <p:nvPr/>
      </p:nvGrpSpPr>
      <p:grpSpPr>
        <a:xfrm>
          <a:off x="0" y="0"/>
          <a:ext cx="0" cy="0"/>
          <a:chOff x="0" y="0"/>
          <a:chExt cx="0" cy="0"/>
        </a:xfrm>
      </p:grpSpPr>
      <p:sp>
        <p:nvSpPr>
          <p:cNvPr id="9174" name="Google Shape;9174;p4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175" name="Google Shape;9175;p4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76" name="Google Shape;9176;p4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for Fraud Risk Assessment: From Emerging (no formal process, fraud as operational issue) to Leading (continuous automated assessment with real-time risk scores and predictive threat modeling).</a:t>
            </a:r>
            <a:endParaRPr/>
          </a:p>
          <a:p>
            <a:pPr indent="0" lvl="0" marL="0" rtl="0" algn="l">
              <a:spcBef>
                <a:spcPts val="400"/>
              </a:spcBef>
              <a:spcAft>
                <a:spcPts val="0"/>
              </a:spcAft>
              <a:buNone/>
            </a:pPr>
            <a:r>
              <a:rPr lang="en-GB" sz="1200"/>
              <a:t>Pakistan banks typically at Developing level (ad-hoc assessments driven by incidents). Target: Practicing level (annual assessment, historical loss-based scoring, control effectiveness testing). Leading organizations have fully quantified fraud risk appetite cascaded to business units.</a:t>
            </a:r>
            <a:endParaRPr/>
          </a:p>
          <a:p>
            <a:pPr indent="0" lvl="0" marL="0" rtl="0" algn="l">
              <a:spcBef>
                <a:spcPts val="400"/>
              </a:spcBef>
              <a:spcAft>
                <a:spcPts val="0"/>
              </a:spcAft>
              <a:buNone/>
            </a:pPr>
            <a:r>
              <a:rPr lang="en-GB" sz="1200"/>
              <a:t>Key enabler: Historical fraud loss database with sufficient depth for statistical analysis. FSDM Fraud_Event and Loss_Event entities provide the data foundation. SBP operational risk guidelines require loss event categorization.</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Fraud Incident Management: End-to-end lifecycle from detection/alert through investigation, resolution, recovery, and regulatory reporting. Ensures SBP/FIA compliance and builds fraud knowledge base through feedback loops.</a:t>
            </a:r>
            <a:endParaRPr/>
          </a:p>
          <a:p>
            <a:pPr indent="0" lvl="0" marL="0" rtl="0" algn="l">
              <a:spcBef>
                <a:spcPts val="400"/>
              </a:spcBef>
              <a:spcAft>
                <a:spcPts val="0"/>
              </a:spcAft>
              <a:buNone/>
            </a:pPr>
            <a:r>
              <a:rPr lang="en-GB" sz="1200"/>
              <a:t>Data: Alert/case management, transaction data, customer communications, evidence documentation, recovery outcomes, regulatory submissions (STRs, CTRs to FMU). Analytics: case prioritization scoring, SLA monitoring, root cause analysis, recovery probability scoring.</a:t>
            </a:r>
            <a:endParaRPr/>
          </a:p>
          <a:p>
            <a:pPr indent="0" lvl="0" marL="0" rtl="0" algn="l">
              <a:spcBef>
                <a:spcPts val="400"/>
              </a:spcBef>
              <a:spcAft>
                <a:spcPts val="0"/>
              </a:spcAft>
              <a:buNone/>
            </a:pPr>
            <a:r>
              <a:rPr lang="en-GB" sz="1200"/>
              <a:t>Outcomes: Unified case management platform, automated SLA monitoring with escalation, SBP/FMU report generation with audit trail, fraud loss database meeting SBP operational risk requirements. Management dashboard for incident volumes and compliance metrics.</a:t>
            </a:r>
            <a:endParaRPr/>
          </a:p>
        </p:txBody>
      </p:sp>
    </p:spTree>
  </p:cSld>
  <p:clrMapOvr>
    <a:masterClrMapping/>
  </p:clrMapOvr>
</p:notes>
</file>

<file path=ppt/notesSlides/notesSlide4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4" name="Shape 9204"/>
        <p:cNvGrpSpPr/>
        <p:nvPr/>
      </p:nvGrpSpPr>
      <p:grpSpPr>
        <a:xfrm>
          <a:off x="0" y="0"/>
          <a:ext cx="0" cy="0"/>
          <a:chOff x="0" y="0"/>
          <a:chExt cx="0" cy="0"/>
        </a:xfrm>
      </p:grpSpPr>
      <p:sp>
        <p:nvSpPr>
          <p:cNvPr id="9205" name="Google Shape;9205;p49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206" name="Google Shape;9206;p494: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07" name="Google Shape;9207;p4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for Fraud Incident Management: From Emerging (no formal process, reactive handling) to Leading (fully automated with AI-assisted investigation and direct SBP/FMU electronic submission).</a:t>
            </a:r>
            <a:endParaRPr/>
          </a:p>
          <a:p>
            <a:pPr indent="0" lvl="0" marL="0" rtl="0" algn="l">
              <a:spcBef>
                <a:spcPts val="400"/>
              </a:spcBef>
              <a:spcAft>
                <a:spcPts val="0"/>
              </a:spcAft>
              <a:buNone/>
            </a:pPr>
            <a:r>
              <a:rPr lang="en-GB" sz="1200"/>
              <a:t>Most Pakistan banks at Developing to Practicing level. Key gaps: manual case tracking, inconsistent investigation processes, manual regulatory reporting. Target: automated alert-to-case conversion, investigation playbooks, feedback loops to detection models.</a:t>
            </a:r>
            <a:endParaRPr/>
          </a:p>
          <a:p>
            <a:pPr indent="0" lvl="0" marL="0" rtl="0" algn="l">
              <a:spcBef>
                <a:spcPts val="400"/>
              </a:spcBef>
              <a:spcAft>
                <a:spcPts val="0"/>
              </a:spcAft>
              <a:buNone/>
            </a:pPr>
            <a:r>
              <a:rPr lang="en-GB" sz="1200"/>
              <a:t>Critical improvement: Reduce average case resolution from 15+ business days to 5 days through structured workflows and prioritization. SBP requires quarterly operational risk event reporting for banks with assets exceeding PKR 500B.</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Fraud Investigations and Forensics: Advanced analytics tools to reduce investigation time from weeks to days while improving evidence quality for FIA/law enforcement referrals and recovery actions.</a:t>
            </a:r>
            <a:endParaRPr/>
          </a:p>
          <a:p>
            <a:pPr indent="0" lvl="0" marL="0" rtl="0" algn="l">
              <a:spcBef>
                <a:spcPts val="400"/>
              </a:spcBef>
              <a:spcAft>
                <a:spcPts val="0"/>
              </a:spcAft>
              <a:buNone/>
            </a:pPr>
            <a:r>
              <a:rPr lang="en-GB" sz="1200"/>
              <a:t>Data: Full transaction history, KYC records, CNIC/NADRA verification trail, communication records, CCTV/surveillance, digital forensics, third-party data (ECIB, credit bureau). Analytics: entity resolution, graph analytics, timeline analysis (nPath), text analytics, geospatial analysis.</a:t>
            </a:r>
            <a:endParaRPr/>
          </a:p>
          <a:p>
            <a:pPr indent="0" lvl="0" marL="0" rtl="0" algn="l">
              <a:spcBef>
                <a:spcPts val="400"/>
              </a:spcBef>
              <a:spcAft>
                <a:spcPts val="0"/>
              </a:spcAft>
              <a:buNone/>
            </a:pPr>
            <a:r>
              <a:rPr lang="en-GB" sz="1200"/>
              <a:t>Key deliverable: Investigation workbench with 360-degree view of suspect entities, visual network maps, automated evidence packages for FIA referral, timeline reconstruction. FSDM INDVDL and CNTCT entities enable entity resolution across CNIC identities.</a:t>
            </a:r>
            <a:endParaRPr/>
          </a:p>
        </p:txBody>
      </p:sp>
    </p:spTree>
  </p:cSld>
  <p:clrMapOvr>
    <a:masterClrMapping/>
  </p:clrMapOvr>
</p:notes>
</file>

<file path=ppt/notesSlides/notesSlide4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5" name="Shape 9235"/>
        <p:cNvGrpSpPr/>
        <p:nvPr/>
      </p:nvGrpSpPr>
      <p:grpSpPr>
        <a:xfrm>
          <a:off x="0" y="0"/>
          <a:ext cx="0" cy="0"/>
          <a:chOff x="0" y="0"/>
          <a:chExt cx="0" cy="0"/>
        </a:xfrm>
      </p:grpSpPr>
      <p:sp>
        <p:nvSpPr>
          <p:cNvPr id="9236" name="Google Shape;9236;p4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237" name="Google Shape;9237;p4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38" name="Google Shape;9238;p4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for Fraud Investigations: From Emerging (no analytical tools, manual data gathering) to Leading (AI-assisted investigation with automated evidence gathering and prosecution-ready evidence packages in 2-3 days).</a:t>
            </a:r>
            <a:endParaRPr/>
          </a:p>
          <a:p>
            <a:pPr indent="0" lvl="0" marL="0" rtl="0" algn="l">
              <a:spcBef>
                <a:spcPts val="400"/>
              </a:spcBef>
              <a:spcAft>
                <a:spcPts val="0"/>
              </a:spcAft>
              <a:buNone/>
            </a:pPr>
            <a:r>
              <a:rPr lang="en-GB" sz="1200"/>
              <a:t>Pakistan banks typically at Developing level (manual data pulls, spreadsheet analysis, no entity resolution). Target: graph analytics and entity resolution tools, automated data extraction, investigation playbooks by fraud type.</a:t>
            </a:r>
            <a:endParaRPr/>
          </a:p>
          <a:p>
            <a:pPr indent="0" lvl="0" marL="0" rtl="0" algn="l">
              <a:spcBef>
                <a:spcPts val="400"/>
              </a:spcBef>
              <a:spcAft>
                <a:spcPts val="0"/>
              </a:spcAft>
              <a:buNone/>
            </a:pPr>
            <a:r>
              <a:rPr lang="en-GB" sz="1200"/>
              <a:t>Graph analytics is the key differentiator: enables fraud ring detection, money mule network identification, and synthetic identity cluster analysis. Teradata nPath and graph functions provide the analytical foundation.</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Fraud Loss Recovery: Systematic identification of recovery avenues — chargebacks, insurance, legal recovery, asset seizure, SBP dispute mechanisms. Pakistan banks currently recover only 15-25% of fraud losses; analytics-driven prioritization can increase rates by 30-50%.</a:t>
            </a:r>
            <a:endParaRPr/>
          </a:p>
          <a:p>
            <a:pPr indent="0" lvl="0" marL="0" rtl="0" algn="l">
              <a:spcBef>
                <a:spcPts val="400"/>
              </a:spcBef>
              <a:spcAft>
                <a:spcPts val="0"/>
              </a:spcAft>
              <a:buNone/>
            </a:pPr>
            <a:r>
              <a:rPr lang="en-GB" sz="1200"/>
              <a:t>Data: Confirmed fraud cases, chargeback eligibility, insurance coverage, legal case status, perpetrator assets, SBP mediation cases. Analytics: recovery probability scoring, chargeback optimization, cost-benefit analysis, network analysis for recoverable assets.</a:t>
            </a:r>
            <a:endParaRPr/>
          </a:p>
          <a:p>
            <a:pPr indent="0" lvl="0" marL="0" rtl="0" algn="l">
              <a:spcBef>
                <a:spcPts val="400"/>
              </a:spcBef>
              <a:spcAft>
                <a:spcPts val="0"/>
              </a:spcAft>
              <a:buNone/>
            </a:pPr>
            <a:r>
              <a:rPr lang="en-GB" sz="1200"/>
              <a:t>Outcomes: Automated multi-avenue recovery workflow, recovery dashboard by avenue, probability-based resource allocation, SBP dispute mechanism optimization. FSDM Loss_Event and Recovery entities track end-to-end recovery lifecycle.</a:t>
            </a:r>
            <a:endParaRPr/>
          </a:p>
        </p:txBody>
      </p:sp>
    </p:spTree>
  </p:cSld>
  <p:clrMapOvr>
    <a:masterClrMapping/>
  </p:clrMapOvr>
</p:notes>
</file>

<file path=ppt/notesSlides/notesSlide4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66" name="Shape 9266"/>
        <p:cNvGrpSpPr/>
        <p:nvPr/>
      </p:nvGrpSpPr>
      <p:grpSpPr>
        <a:xfrm>
          <a:off x="0" y="0"/>
          <a:ext cx="0" cy="0"/>
          <a:chOff x="0" y="0"/>
          <a:chExt cx="0" cy="0"/>
        </a:xfrm>
      </p:grpSpPr>
      <p:sp>
        <p:nvSpPr>
          <p:cNvPr id="9267" name="Google Shape;9267;p4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268" name="Google Shape;9268;p4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69" name="Google Shape;9269;p4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for Fraud Loss Recovery: From Emerging (no systematic process, losses absorbed) to Leading (automated multi-channel recovery within 24 hours, ML-based scoring, &gt;50% recovery rates).</a:t>
            </a:r>
            <a:endParaRPr/>
          </a:p>
          <a:p>
            <a:pPr indent="0" lvl="0" marL="0" rtl="0" algn="l">
              <a:spcBef>
                <a:spcPts val="400"/>
              </a:spcBef>
              <a:spcAft>
                <a:spcPts val="0"/>
              </a:spcAft>
              <a:buNone/>
            </a:pPr>
            <a:r>
              <a:rPr lang="en-GB" sz="1200"/>
              <a:t>Most Pakistan banks at Developing level (reactive, inconsistent recovery efforts, chargebacks for obvious cases only). Key gaps: insurance underutilization, no cost-benefit analysis for legal recovery, no systematic tracking of outcomes.</a:t>
            </a:r>
            <a:endParaRPr/>
          </a:p>
          <a:p>
            <a:pPr indent="0" lvl="0" marL="0" rtl="0" algn="l">
              <a:spcBef>
                <a:spcPts val="400"/>
              </a:spcBef>
              <a:spcAft>
                <a:spcPts val="0"/>
              </a:spcAft>
              <a:buNone/>
            </a:pPr>
            <a:r>
              <a:rPr lang="en-GB" sz="1200"/>
              <a:t>Target: Practicing to Innovating level (structured recovery with prioritization, optimized chargebacks, systematic insurance claims, 35-50% recovery rates). Annual fraud loss recovery improvement directly impacts bottom line.</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05" name="Shape 9305"/>
        <p:cNvGrpSpPr/>
        <p:nvPr/>
      </p:nvGrpSpPr>
      <p:grpSpPr>
        <a:xfrm>
          <a:off x="0" y="0"/>
          <a:ext cx="0" cy="0"/>
          <a:chOff x="0" y="0"/>
          <a:chExt cx="0" cy="0"/>
        </a:xfrm>
      </p:grpSpPr>
      <p:sp>
        <p:nvSpPr>
          <p:cNvPr id="9306" name="Google Shape;9306;p5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07" name="Google Shape;9307;p5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08" name="Google Shape;9308;p5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Employee Fraud overview: Internal fraud by bank employees including unauthorized transactions, embezzlement, collusion, document manipulation, and misuse of privileged system access. Unique risk due to insider knowledge and trusted access.</a:t>
            </a:r>
            <a:endParaRPr/>
          </a:p>
          <a:p>
            <a:pPr indent="0" lvl="0" marL="0" rtl="0" algn="l">
              <a:spcBef>
                <a:spcPts val="400"/>
              </a:spcBef>
              <a:spcAft>
                <a:spcPts val="0"/>
              </a:spcAft>
              <a:buNone/>
            </a:pPr>
            <a:r>
              <a:rPr lang="en-GB" sz="1200"/>
              <a:t>SBP inspection reports consistently cite internal fraud as top operational risk concern. Average internal fraud losses PKR 500M-1B annually for large Pakistan banks. Single insider can cause losses exceeding PKR 100M before detection.</a:t>
            </a:r>
            <a:endParaRPr/>
          </a:p>
          <a:p>
            <a:pPr indent="0" lvl="0" marL="0" rtl="0" algn="l">
              <a:spcBef>
                <a:spcPts val="400"/>
              </a:spcBef>
              <a:spcAft>
                <a:spcPts val="0"/>
              </a:spcAft>
              <a:buNone/>
            </a:pPr>
            <a:r>
              <a:rPr lang="en-GB" sz="1200"/>
              <a:t>Reputational damage from publicized employee fraud erodes customer trust. SBP requires reporting all internal fraud cases. Pakistan Banks Association (PBA) maintains blacklist of employees involved in fraud. Zero-tolerance policies mandated.</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28" name="Shape 9328"/>
        <p:cNvGrpSpPr/>
        <p:nvPr/>
      </p:nvGrpSpPr>
      <p:grpSpPr>
        <a:xfrm>
          <a:off x="0" y="0"/>
          <a:ext cx="0" cy="0"/>
          <a:chOff x="0" y="0"/>
          <a:chExt cx="0" cy="0"/>
        </a:xfrm>
      </p:grpSpPr>
      <p:sp>
        <p:nvSpPr>
          <p:cNvPr id="9329" name="Google Shape;9329;p5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330" name="Google Shape;9330;p5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Employee Fraud challenges: Four key influences — privileged access exploitation, collusion detection, cultural/organizational barriers, and manual-heavy operations in Pakistan's banking sector.</a:t>
            </a:r>
            <a:endParaRPr/>
          </a:p>
          <a:p>
            <a:pPr indent="0" lvl="0" marL="0" rtl="0" algn="l">
              <a:spcBef>
                <a:spcPts val="400"/>
              </a:spcBef>
              <a:spcAft>
                <a:spcPts val="0"/>
              </a:spcAft>
              <a:buNone/>
            </a:pPr>
            <a:r>
              <a:rPr lang="en-GB" sz="1200"/>
              <a:t>Branch managers and IT administrators have legitimate access making fraudulent use hard to detect. Collusion between employees and external parties requires graph analytics. Cultural resistance to reporting colleagues and limited whistleblower protections compound the challenge.</a:t>
            </a:r>
            <a:endParaRPr/>
          </a:p>
          <a:p>
            <a:pPr indent="0" lvl="0" marL="0" rtl="0" algn="l">
              <a:spcBef>
                <a:spcPts val="400"/>
              </a:spcBef>
              <a:spcAft>
                <a:spcPts val="0"/>
              </a:spcAft>
              <a:buNone/>
            </a:pPr>
            <a:r>
              <a:rPr lang="en-GB" sz="1200"/>
              <a:t>Pakistan's banking sector still relies on paper-based processes in many branches, creating opportunities for document fraud and cash pilferage. Behavioral analytics must establish baselines and detect deviations from peer norms.</a:t>
            </a:r>
            <a:endParaRPr/>
          </a:p>
        </p:txBody>
      </p:sp>
      <p:sp>
        <p:nvSpPr>
          <p:cNvPr id="9331" name="Google Shape;9331;p50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0" name="Shape 9370"/>
        <p:cNvGrpSpPr/>
        <p:nvPr/>
      </p:nvGrpSpPr>
      <p:grpSpPr>
        <a:xfrm>
          <a:off x="0" y="0"/>
          <a:ext cx="0" cy="0"/>
          <a:chOff x="0" y="0"/>
          <a:chExt cx="0" cy="0"/>
        </a:xfrm>
      </p:grpSpPr>
      <p:sp>
        <p:nvSpPr>
          <p:cNvPr id="9371" name="Google Shape;9371;p50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372" name="Google Shape;9372;p5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73" name="Google Shape;9373;p5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3" name="Shape 9393"/>
        <p:cNvGrpSpPr/>
        <p:nvPr/>
      </p:nvGrpSpPr>
      <p:grpSpPr>
        <a:xfrm>
          <a:off x="0" y="0"/>
          <a:ext cx="0" cy="0"/>
          <a:chOff x="0" y="0"/>
          <a:chExt cx="0" cy="0"/>
        </a:xfrm>
      </p:grpSpPr>
      <p:sp>
        <p:nvSpPr>
          <p:cNvPr id="9394" name="Google Shape;9394;p5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395" name="Google Shape;9395;p50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96" name="Google Shape;9396;p5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2" name="Shape 9432"/>
        <p:cNvGrpSpPr/>
        <p:nvPr/>
      </p:nvGrpSpPr>
      <p:grpSpPr>
        <a:xfrm>
          <a:off x="0" y="0"/>
          <a:ext cx="0" cy="0"/>
          <a:chOff x="0" y="0"/>
          <a:chExt cx="0" cy="0"/>
        </a:xfrm>
      </p:grpSpPr>
      <p:sp>
        <p:nvSpPr>
          <p:cNvPr id="9433" name="Google Shape;9433;p5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34" name="Google Shape;9434;p5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35" name="Google Shape;9435;p5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4" name="Shape 9464"/>
        <p:cNvGrpSpPr/>
        <p:nvPr/>
      </p:nvGrpSpPr>
      <p:grpSpPr>
        <a:xfrm>
          <a:off x="0" y="0"/>
          <a:ext cx="0" cy="0"/>
          <a:chOff x="0" y="0"/>
          <a:chExt cx="0" cy="0"/>
        </a:xfrm>
      </p:grpSpPr>
      <p:sp>
        <p:nvSpPr>
          <p:cNvPr id="9465" name="Google Shape;9465;p5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66" name="Google Shape;9466;p5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67" name="Google Shape;9467;p5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Internal Theft, Shrinkage, Embezzlement: Detect and prevent cash vault discrepancies, unauthorized transfers, fictitious account transactions, dormant account exploitation, and misappropriation of customer funds across the branch network.</a:t>
            </a:r>
            <a:endParaRPr/>
          </a:p>
          <a:p>
            <a:pPr indent="0" lvl="0" marL="0" rtl="0" algn="l">
              <a:spcBef>
                <a:spcPts val="400"/>
              </a:spcBef>
              <a:spcAft>
                <a:spcPts val="0"/>
              </a:spcAft>
              <a:buNone/>
            </a:pPr>
            <a:r>
              <a:rPr lang="en-GB" sz="1200"/>
              <a:t>Data: Cash vault data, teller transaction logs with biometric auth, inter-branch transfers, dormant account activity, GL reconciliation exceptions, employee access logs, physical security data. Analytics: Benford's Law, statistical anomaly detection, employee behavioral profiling, network analysis.</a:t>
            </a:r>
            <a:endParaRPr/>
          </a:p>
          <a:p>
            <a:pPr indent="0" lvl="0" marL="0" rtl="0" algn="l">
              <a:spcBef>
                <a:spcPts val="400"/>
              </a:spcBef>
              <a:spcAft>
                <a:spcPts val="0"/>
              </a:spcAft>
              <a:buNone/>
            </a:pPr>
            <a:r>
              <a:rPr lang="en-GB" sz="1200"/>
              <a:t>Outcomes: Automated daily monitoring of branch cash positions, employee behavioral risk scores, dormant account activation alerts, GL exception dashboard. Integration with HR disciplinary and legal processes. SBP operational loss event reporting compliance.</a:t>
            </a:r>
            <a:endParaRPr/>
          </a:p>
        </p:txBody>
      </p:sp>
    </p:spTree>
  </p:cSld>
  <p:clrMapOvr>
    <a:masterClrMapping/>
  </p:clrMapOvr>
</p:notes>
</file>

<file path=ppt/notesSlides/notesSlide5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95" name="Shape 9495"/>
        <p:cNvGrpSpPr/>
        <p:nvPr/>
      </p:nvGrpSpPr>
      <p:grpSpPr>
        <a:xfrm>
          <a:off x="0" y="0"/>
          <a:ext cx="0" cy="0"/>
          <a:chOff x="0" y="0"/>
          <a:chExt cx="0" cy="0"/>
        </a:xfrm>
      </p:grpSpPr>
      <p:sp>
        <p:nvSpPr>
          <p:cNvPr id="9496" name="Google Shape;9496;p51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497" name="Google Shape;9497;p51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98" name="Google Shape;9498;p5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for Internal Theft monitoring: From Emerging (annual audits and whistleblower reports only) to Leading (AI-driven continuous monitoring with predictive behavioral risk scoring).</a:t>
            </a:r>
            <a:endParaRPr/>
          </a:p>
          <a:p>
            <a:pPr indent="0" lvl="0" marL="0" rtl="0" algn="l">
              <a:spcBef>
                <a:spcPts val="400"/>
              </a:spcBef>
              <a:spcAft>
                <a:spcPts val="0"/>
              </a:spcAft>
              <a:buNone/>
            </a:pPr>
            <a:r>
              <a:rPr lang="en-GB" sz="1200"/>
              <a:t>Most Pakistan banks at Developing level (periodic branch audits, reactive cash shortage investigations). Key improvement: automated daily monitoring of cash positions and GL exceptions across entire branch network.</a:t>
            </a:r>
            <a:endParaRPr/>
          </a:p>
          <a:p>
            <a:pPr indent="0" lvl="0" marL="0" rtl="0" algn="l">
              <a:spcBef>
                <a:spcPts val="400"/>
              </a:spcBef>
              <a:spcAft>
                <a:spcPts val="0"/>
              </a:spcAft>
              <a:buNone/>
            </a:pPr>
            <a:r>
              <a:rPr lang="en-GB" sz="1200"/>
              <a:t>Target: Practicing to Innovating level (statistical anomaly detection across branches, quarterly behavioral risk scoring, automated dormant account monitoring). Benford's Law analysis and peer-baseline comparison are proven techniques for detecting embezzlement patterns.</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Customer Fraud overview: External fraud including application fraud, transaction fraud, identity theft, account takeover, and organized fraud rings targeting bank products, services, and customers.</a:t>
            </a:r>
            <a:endParaRPr/>
          </a:p>
          <a:p>
            <a:pPr indent="0" lvl="0" marL="0" rtl="0" algn="l">
              <a:spcBef>
                <a:spcPts val="400"/>
              </a:spcBef>
              <a:spcAft>
                <a:spcPts val="0"/>
              </a:spcAft>
              <a:buNone/>
            </a:pPr>
            <a:r>
              <a:rPr lang="en-GB" sz="1200"/>
              <a:t>Customer fraud losses exceed PKR 5B+ annually in Pakistan and growing rapidly with digital adoption. Card fraud, SIM-swap attacks, social engineering, and authorized push payment fraud are fastest-growing categories.</a:t>
            </a:r>
            <a:endParaRPr/>
          </a:p>
          <a:p>
            <a:pPr indent="0" lvl="0" marL="0" rtl="0" algn="l">
              <a:spcBef>
                <a:spcPts val="400"/>
              </a:spcBef>
              <a:spcAft>
                <a:spcPts val="0"/>
              </a:spcAft>
              <a:buNone/>
            </a:pPr>
            <a:r>
              <a:rPr lang="en-GB" sz="1200"/>
              <a:t>Digital channels (RAAST, IBFT, mobile wallets) process PKR 15T+ annually with real-time settlement — fraudulent transactions irrecoverable within seconds. FATF compliance mandates robust detection capabilities to avoid regulatory sanctions.</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18" name="Shape 9518"/>
        <p:cNvGrpSpPr/>
        <p:nvPr/>
      </p:nvGrpSpPr>
      <p:grpSpPr>
        <a:xfrm>
          <a:off x="0" y="0"/>
          <a:ext cx="0" cy="0"/>
          <a:chOff x="0" y="0"/>
          <a:chExt cx="0" cy="0"/>
        </a:xfrm>
      </p:grpSpPr>
      <p:sp>
        <p:nvSpPr>
          <p:cNvPr id="9519" name="Google Shape;9519;p51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0" name="Google Shape;9520;p5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7" name="Shape 9527"/>
        <p:cNvGrpSpPr/>
        <p:nvPr/>
      </p:nvGrpSpPr>
      <p:grpSpPr>
        <a:xfrm>
          <a:off x="0" y="0"/>
          <a:ext cx="0" cy="0"/>
          <a:chOff x="0" y="0"/>
          <a:chExt cx="0" cy="0"/>
        </a:xfrm>
      </p:grpSpPr>
      <p:sp>
        <p:nvSpPr>
          <p:cNvPr id="9528" name="Google Shape;9528;p51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9" name="Google Shape;9529;p5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36" name="Shape 9536"/>
        <p:cNvGrpSpPr/>
        <p:nvPr/>
      </p:nvGrpSpPr>
      <p:grpSpPr>
        <a:xfrm>
          <a:off x="0" y="0"/>
          <a:ext cx="0" cy="0"/>
          <a:chOff x="0" y="0"/>
          <a:chExt cx="0" cy="0"/>
        </a:xfrm>
      </p:grpSpPr>
      <p:sp>
        <p:nvSpPr>
          <p:cNvPr id="9537" name="Google Shape;9537;p51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538" name="Google Shape;9538;p5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Customer Fraud challenges: Four key influences — speed vs. security trade-off, evolving attack vectors, identity verification gaps, and cross-channel complexity in Pakistan's digital payments market.</a:t>
            </a:r>
            <a:endParaRPr/>
          </a:p>
          <a:p>
            <a:pPr indent="0" lvl="0" marL="0" rtl="0" algn="l">
              <a:spcBef>
                <a:spcPts val="400"/>
              </a:spcBef>
              <a:spcAft>
                <a:spcPts val="0"/>
              </a:spcAft>
              <a:buNone/>
            </a:pPr>
            <a:r>
              <a:rPr lang="en-GB" sz="1200"/>
              <a:t>RAAST/IBFT complete settlement in seconds requiring sub-second fraud detection. SIM-swap bypasses SMS OTP, deepfakes defeat biometrics, social engineering targets both employees and customers. CNIC infrastructure has gaps including deceased CNIC exploitation and synthetic identities.</a:t>
            </a:r>
            <a:endParaRPr/>
          </a:p>
          <a:p>
            <a:pPr indent="0" lvl="0" marL="0" rtl="0" algn="l">
              <a:spcBef>
                <a:spcPts val="400"/>
              </a:spcBef>
              <a:spcAft>
                <a:spcPts val="0"/>
              </a:spcAft>
              <a:buNone/>
            </a:pPr>
            <a:r>
              <a:rPr lang="en-GB" sz="1200"/>
              <a:t>Customers use 8+ channels — fraud prevention must monitor all coherently. FSDM INDVDL, EVNT, and CNTCT entities enable cross-channel customer fraud profiling. Integration with NADRA for real-time CNIC verification is critical.</a:t>
            </a:r>
            <a:endParaRPr/>
          </a:p>
        </p:txBody>
      </p:sp>
      <p:sp>
        <p:nvSpPr>
          <p:cNvPr id="9539" name="Google Shape;9539;p5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9" name="Shape 9579"/>
        <p:cNvGrpSpPr/>
        <p:nvPr/>
      </p:nvGrpSpPr>
      <p:grpSpPr>
        <a:xfrm>
          <a:off x="0" y="0"/>
          <a:ext cx="0" cy="0"/>
          <a:chOff x="0" y="0"/>
          <a:chExt cx="0" cy="0"/>
        </a:xfrm>
      </p:grpSpPr>
      <p:sp>
        <p:nvSpPr>
          <p:cNvPr id="9580" name="Google Shape;9580;p518: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81" name="Google Shape;9581;p5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82" name="Google Shape;9582;p5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1" name="Shape 9611"/>
        <p:cNvGrpSpPr/>
        <p:nvPr/>
      </p:nvGrpSpPr>
      <p:grpSpPr>
        <a:xfrm>
          <a:off x="0" y="0"/>
          <a:ext cx="0" cy="0"/>
          <a:chOff x="0" y="0"/>
          <a:chExt cx="0" cy="0"/>
        </a:xfrm>
      </p:grpSpPr>
      <p:sp>
        <p:nvSpPr>
          <p:cNvPr id="9612" name="Google Shape;9612;p52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13" name="Google Shape;9613;p5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14" name="Google Shape;9614;p5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3" name="Shape 9643"/>
        <p:cNvGrpSpPr/>
        <p:nvPr/>
      </p:nvGrpSpPr>
      <p:grpSpPr>
        <a:xfrm>
          <a:off x="0" y="0"/>
          <a:ext cx="0" cy="0"/>
          <a:chOff x="0" y="0"/>
          <a:chExt cx="0" cy="0"/>
        </a:xfrm>
      </p:grpSpPr>
      <p:sp>
        <p:nvSpPr>
          <p:cNvPr id="9644" name="Google Shape;9644;p522: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45" name="Google Shape;9645;p5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46" name="Google Shape;9646;p5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83" name="Shape 9683"/>
        <p:cNvGrpSpPr/>
        <p:nvPr/>
      </p:nvGrpSpPr>
      <p:grpSpPr>
        <a:xfrm>
          <a:off x="0" y="0"/>
          <a:ext cx="0" cy="0"/>
          <a:chOff x="0" y="0"/>
          <a:chExt cx="0" cy="0"/>
        </a:xfrm>
      </p:grpSpPr>
      <p:sp>
        <p:nvSpPr>
          <p:cNvPr id="9684" name="Google Shape;9684;p5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85" name="Google Shape;9685;p5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86" name="Google Shape;9686;p5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06" name="Shape 9706"/>
        <p:cNvGrpSpPr/>
        <p:nvPr/>
      </p:nvGrpSpPr>
      <p:grpSpPr>
        <a:xfrm>
          <a:off x="0" y="0"/>
          <a:ext cx="0" cy="0"/>
          <a:chOff x="0" y="0"/>
          <a:chExt cx="0" cy="0"/>
        </a:xfrm>
      </p:grpSpPr>
      <p:sp>
        <p:nvSpPr>
          <p:cNvPr id="9707" name="Google Shape;9707;p5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708" name="Google Shape;9708;p5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14" name="Shape 9714"/>
        <p:cNvGrpSpPr/>
        <p:nvPr/>
      </p:nvGrpSpPr>
      <p:grpSpPr>
        <a:xfrm>
          <a:off x="0" y="0"/>
          <a:ext cx="0" cy="0"/>
          <a:chOff x="0" y="0"/>
          <a:chExt cx="0" cy="0"/>
        </a:xfrm>
      </p:grpSpPr>
      <p:sp>
        <p:nvSpPr>
          <p:cNvPr id="9715" name="Google Shape;9715;p52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716" name="Google Shape;9716;p5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Information and Cyber Security challenges: Four key influences — expanding attack surface, talent shortage, third-party risk, and regulatory pressure in Pakistan's rapidly digitizing banking sector.</a:t>
            </a:r>
            <a:endParaRPr/>
          </a:p>
          <a:p>
            <a:pPr indent="0" lvl="0" marL="0" rtl="0" algn="l">
              <a:spcBef>
                <a:spcPts val="400"/>
              </a:spcBef>
              <a:spcAft>
                <a:spcPts val="0"/>
              </a:spcAft>
              <a:buNone/>
            </a:pPr>
            <a:r>
              <a:rPr lang="en-GB" sz="1200"/>
              <a:t>Digital banking adoption exponentially expands attack surface with 3x increase in cyber incidents (2020-2024). Pakistan has fewer than 5,000 qualified cybersecurity professionals. Banks increasingly rely on third-party vendors with potentially weaker security postures.</a:t>
            </a:r>
            <a:endParaRPr/>
          </a:p>
          <a:p>
            <a:pPr indent="0" lvl="0" marL="0" rtl="0" algn="l">
              <a:spcBef>
                <a:spcPts val="400"/>
              </a:spcBef>
              <a:spcAft>
                <a:spcPts val="0"/>
              </a:spcAft>
              <a:buNone/>
            </a:pPr>
            <a:r>
              <a:rPr lang="en-GB" sz="1200"/>
              <a:t>SBP IT Security Guidelines, PTA regulations, and PCI-DSS impose compliance requirements. Data localization mandates require Pakistan-based infrastructure. FSDM Security domain entities support security event logging and threat intelligence correlation.</a:t>
            </a:r>
            <a:endParaRPr/>
          </a:p>
        </p:txBody>
      </p:sp>
      <p:sp>
        <p:nvSpPr>
          <p:cNvPr id="9717" name="Google Shape;9717;p52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64" name="Shape 9764"/>
        <p:cNvGrpSpPr/>
        <p:nvPr/>
      </p:nvGrpSpPr>
      <p:grpSpPr>
        <a:xfrm>
          <a:off x="0" y="0"/>
          <a:ext cx="0" cy="0"/>
          <a:chOff x="0" y="0"/>
          <a:chExt cx="0" cy="0"/>
        </a:xfrm>
      </p:grpSpPr>
      <p:sp>
        <p:nvSpPr>
          <p:cNvPr id="9765" name="Google Shape;9765;p52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66" name="Google Shape;9766;p5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67" name="Google Shape;9767;p5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Information Security Governance: Comprehensive framework aligned with SBP IT Security Guidelines, ISO 27001, and NIST Cybersecurity Framework. Board-level oversight of cyber risk as strategic business risk.</a:t>
            </a:r>
            <a:endParaRPr/>
          </a:p>
          <a:p>
            <a:pPr indent="0" lvl="0" marL="0" rtl="0" algn="l">
              <a:spcBef>
                <a:spcPts val="400"/>
              </a:spcBef>
              <a:spcAft>
                <a:spcPts val="0"/>
              </a:spcAft>
              <a:buNone/>
            </a:pPr>
            <a:r>
              <a:rPr lang="en-GB" sz="1200"/>
              <a:t>Data: Security policy compliance, vulnerability assessments, incident logs, training completion, vendor security scores, regulatory compliance status. Analytics: security posture scoring, compliance gap analysis, risk-based investment prioritization, KRI monitoring.</a:t>
            </a:r>
            <a:endParaRPr/>
          </a:p>
          <a:p>
            <a:pPr indent="0" lvl="0" marL="0" rtl="0" algn="l">
              <a:spcBef>
                <a:spcPts val="400"/>
              </a:spcBef>
              <a:spcAft>
                <a:spcPts val="0"/>
              </a:spcAft>
              <a:buNone/>
            </a:pPr>
            <a:r>
              <a:rPr lang="en-GB" sz="1200"/>
              <a:t>Outcomes: Governance dashboard for Board/Audit Committee, automated compliance monitoring against SBP guidelines, risk-based investment recommendations, vendor risk management dashboard. Employee security awareness metrics tracking.</a:t>
            </a:r>
            <a:endParaRPr/>
          </a:p>
        </p:txBody>
      </p:sp>
    </p:spTree>
  </p:cSld>
  <p:clrMapOvr>
    <a:masterClrMapping/>
  </p:clrMapOvr>
</p:notes>
</file>

<file path=ppt/notesSlides/notesSlide5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95" name="Shape 9795"/>
        <p:cNvGrpSpPr/>
        <p:nvPr/>
      </p:nvGrpSpPr>
      <p:grpSpPr>
        <a:xfrm>
          <a:off x="0" y="0"/>
          <a:ext cx="0" cy="0"/>
          <a:chOff x="0" y="0"/>
          <a:chExt cx="0" cy="0"/>
        </a:xfrm>
      </p:grpSpPr>
      <p:sp>
        <p:nvSpPr>
          <p:cNvPr id="9796" name="Google Shape;9796;p53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797" name="Google Shape;9797;p53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98" name="Google Shape;9798;p5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for Security Governance: From Emerging (minimal governance, policies outdated, no compliance monitoring) to Leading (real-time posture monitoring, automated compliance, zero-trust architecture, security embedded in all processes).</a:t>
            </a:r>
            <a:endParaRPr/>
          </a:p>
          <a:p>
            <a:pPr indent="0" lvl="0" marL="0" rtl="0" algn="l">
              <a:spcBef>
                <a:spcPts val="400"/>
              </a:spcBef>
              <a:spcAft>
                <a:spcPts val="0"/>
              </a:spcAft>
              <a:buNone/>
            </a:pPr>
            <a:r>
              <a:rPr lang="en-GB" sz="1200"/>
              <a:t>Most Pakistan banks at Developing to Practicing level. Key gaps: inconsistent policy application, manual compliance checking, limited Board awareness, ad-hoc vendor assessments. SBP IT Security Guidelines provide minimum compliance baseline.</a:t>
            </a:r>
            <a:endParaRPr/>
          </a:p>
          <a:p>
            <a:pPr indent="0" lvl="0" marL="0" rtl="0" algn="l">
              <a:spcBef>
                <a:spcPts val="400"/>
              </a:spcBef>
              <a:spcAft>
                <a:spcPts val="0"/>
              </a:spcAft>
              <a:buNone/>
            </a:pPr>
            <a:r>
              <a:rPr lang="en-GB" sz="1200"/>
              <a:t>Target: Innovating level (ISO 27001-aligned governance, regular Board reporting, vendor risk management program, security metrics driving investment). Annual third-party assessment validates effectiveness. NIST Cybersecurity Framework provides maturity progression roadmap.</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34" name="Shape 9834"/>
        <p:cNvGrpSpPr/>
        <p:nvPr/>
      </p:nvGrpSpPr>
      <p:grpSpPr>
        <a:xfrm>
          <a:off x="0" y="0"/>
          <a:ext cx="0" cy="0"/>
          <a:chOff x="0" y="0"/>
          <a:chExt cx="0" cy="0"/>
        </a:xfrm>
      </p:grpSpPr>
      <p:sp>
        <p:nvSpPr>
          <p:cNvPr id="9835" name="Google Shape;9835;p533: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36" name="Google Shape;9836;p5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37" name="Google Shape;9837;p5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4.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3.xml"/><Relationship Id="rId3" Type="http://schemas.openxmlformats.org/officeDocument/2006/relationships/image" Target="../media/image78.jpg"/><Relationship Id="rId4" Type="http://schemas.openxmlformats.org/officeDocument/2006/relationships/slide" Target="slide475.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4.xml"/><Relationship Id="rId3" Type="http://schemas.openxmlformats.org/officeDocument/2006/relationships/image" Target="../media/image78.jpg"/><Relationship Id="rId4" Type="http://schemas.openxmlformats.org/officeDocument/2006/relationships/slide" Target="slide475.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8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87.xml"/><Relationship Id="rId3" Type="http://schemas.openxmlformats.org/officeDocument/2006/relationships/image" Target="../media/image90.jpg"/><Relationship Id="rId4" Type="http://schemas.openxmlformats.org/officeDocument/2006/relationships/slide" Target="slide476.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8.xml"/><Relationship Id="rId3"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90.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92.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94.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96.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98.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00.xml"/><Relationship Id="rId3"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2.xml"/><Relationship Id="rId3"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04.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06.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08.xml"/><Relationship Id="rId3"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10.xml"/><Relationship Id="rId3"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12.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14.xml"/><Relationship Id="rId3" Type="http://schemas.openxmlformats.org/officeDocument/2006/relationships/image" Target="../media/image104.png"/><Relationship Id="rId4" Type="http://schemas.openxmlformats.org/officeDocument/2006/relationships/slide" Target="slide477.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15.xml"/><Relationship Id="rId3" Type="http://schemas.openxmlformats.org/officeDocument/2006/relationships/image" Target="../media/image92.jpg"/><Relationship Id="rId4" Type="http://schemas.openxmlformats.org/officeDocument/2006/relationships/slide" Target="slide477.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6.xml"/><Relationship Id="rId3"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18.xml"/><Relationship Id="rId3"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20.xml"/><Relationship Id="rId3"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22.xml"/><Relationship Id="rId3"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24.xml"/><Relationship Id="rId3"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26.xml"/><Relationship Id="rId3" Type="http://schemas.openxmlformats.org/officeDocument/2006/relationships/image" Target="../media/image106.png"/><Relationship Id="rId4" Type="http://schemas.openxmlformats.org/officeDocument/2006/relationships/slide" Target="slide477.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27.xml"/><Relationship Id="rId3"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29.xml"/><Relationship Id="rId3"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31.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33.xml"/><Relationship Id="rId3"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1" name="Shape 8841"/>
        <p:cNvGrpSpPr/>
        <p:nvPr/>
      </p:nvGrpSpPr>
      <p:grpSpPr>
        <a:xfrm>
          <a:off x="0" y="0"/>
          <a:ext cx="0" cy="0"/>
          <a:chOff x="0" y="0"/>
          <a:chExt cx="0" cy="0"/>
        </a:xfrm>
      </p:grpSpPr>
      <p:sp>
        <p:nvSpPr>
          <p:cNvPr id="8842" name="Google Shape;8842;p504"/>
          <p:cNvSpPr txBox="1"/>
          <p:nvPr>
            <p:ph idx="1" type="body"/>
          </p:nvPr>
        </p:nvSpPr>
        <p:spPr>
          <a:xfrm>
            <a:off x="0" y="2700743"/>
            <a:ext cx="9144000" cy="1164421"/>
          </a:xfrm>
          <a:prstGeom prst="rect">
            <a:avLst/>
          </a:prstGeom>
          <a:solidFill>
            <a:schemeClr val="accent1">
              <a:alpha val="89803"/>
            </a:schemeClr>
          </a:solidFill>
          <a:ln>
            <a:noFill/>
          </a:ln>
        </p:spPr>
        <p:txBody>
          <a:bodyPr anchorCtr="1" anchor="ctr" bIns="137150" lIns="457200" spcFirstLastPara="1" rIns="457200" wrap="square" tIns="137150">
            <a:noAutofit/>
          </a:bodyPr>
          <a:lstStyle/>
          <a:p>
            <a:pPr indent="-152400" lvl="0" marL="0" rtl="0" algn="ctr">
              <a:lnSpc>
                <a:spcPct val="85000"/>
              </a:lnSpc>
              <a:spcBef>
                <a:spcPts val="0"/>
              </a:spcBef>
              <a:spcAft>
                <a:spcPts val="0"/>
              </a:spcAft>
              <a:buClr>
                <a:schemeClr val="lt1"/>
              </a:buClr>
              <a:buSzPts val="2400"/>
              <a:buFont typeface="Arial"/>
              <a:buChar char="​"/>
            </a:pPr>
            <a:r>
              <a:rPr lang="en-GB" sz="2400"/>
              <a:t>Teradata Business Value Framework</a:t>
            </a:r>
            <a:endParaRPr/>
          </a:p>
          <a:p>
            <a:pPr indent="-114300" lvl="0" marL="0" rtl="0" algn="ctr">
              <a:lnSpc>
                <a:spcPct val="85000"/>
              </a:lnSpc>
              <a:spcBef>
                <a:spcPts val="400"/>
              </a:spcBef>
              <a:spcAft>
                <a:spcPts val="0"/>
              </a:spcAft>
              <a:buClr>
                <a:schemeClr val="lt1"/>
              </a:buClr>
              <a:buSzPts val="1800"/>
              <a:buFont typeface="Arial"/>
              <a:buChar char="​"/>
            </a:pPr>
            <a:r>
              <a:rPr lang="en-GB" sz="1800"/>
              <a:t>Security and Fraud</a:t>
            </a:r>
            <a:endParaRPr/>
          </a:p>
          <a:p>
            <a:pPr indent="-114300" lvl="0" marL="0" rtl="0" algn="ctr">
              <a:lnSpc>
                <a:spcPct val="85000"/>
              </a:lnSpc>
              <a:spcBef>
                <a:spcPts val="400"/>
              </a:spcBef>
              <a:spcAft>
                <a:spcPts val="0"/>
              </a:spcAft>
              <a:buClr>
                <a:schemeClr val="lt1"/>
              </a:buClr>
              <a:buSzPts val="1800"/>
              <a:buFont typeface="Arial"/>
              <a:buChar char="​"/>
            </a:pPr>
            <a:r>
              <a:rPr lang="en-GB" sz="1800"/>
              <a:t>V1.1</a:t>
            </a:r>
            <a:endParaRPr sz="1800"/>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4" name="Shape 9064"/>
        <p:cNvGrpSpPr/>
        <p:nvPr/>
      </p:nvGrpSpPr>
      <p:grpSpPr>
        <a:xfrm>
          <a:off x="0" y="0"/>
          <a:ext cx="0" cy="0"/>
          <a:chOff x="0" y="0"/>
          <a:chExt cx="0" cy="0"/>
        </a:xfrm>
      </p:grpSpPr>
      <p:sp>
        <p:nvSpPr>
          <p:cNvPr id="9065" name="Google Shape;9065;p513"/>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169863" lvl="0" marL="169863" rtl="0" algn="l">
              <a:lnSpc>
                <a:spcPct val="110000"/>
              </a:lnSpc>
              <a:spcBef>
                <a:spcPts val="0"/>
              </a:spcBef>
              <a:spcAft>
                <a:spcPts val="0"/>
              </a:spcAft>
              <a:buClr>
                <a:schemeClr val="dk1"/>
              </a:buClr>
              <a:buSzPts val="1600"/>
              <a:buChar char="•"/>
            </a:pPr>
            <a:r>
              <a:rPr lang="en-GB" sz="1600"/>
              <a:t>Common Core for Fraud Analytics</a:t>
            </a:r>
            <a:endParaRPr/>
          </a:p>
          <a:p>
            <a:pPr indent="-169863" lvl="0" marL="169863" rtl="0" algn="l">
              <a:lnSpc>
                <a:spcPct val="110000"/>
              </a:lnSpc>
              <a:spcBef>
                <a:spcPts val="800"/>
              </a:spcBef>
              <a:spcAft>
                <a:spcPts val="0"/>
              </a:spcAft>
              <a:buClr>
                <a:schemeClr val="dk1"/>
              </a:buClr>
              <a:buSzPts val="1600"/>
              <a:buChar char="•"/>
            </a:pPr>
            <a:r>
              <a:rPr lang="en-GB" sz="1600"/>
              <a:t>Customer Fraud</a:t>
            </a:r>
            <a:endParaRPr/>
          </a:p>
          <a:p>
            <a:pPr indent="-169863" lvl="0" marL="169863" rtl="0" algn="l">
              <a:lnSpc>
                <a:spcPct val="110000"/>
              </a:lnSpc>
              <a:spcBef>
                <a:spcPts val="800"/>
              </a:spcBef>
              <a:spcAft>
                <a:spcPts val="0"/>
              </a:spcAft>
              <a:buClr>
                <a:schemeClr val="dk1"/>
              </a:buClr>
              <a:buSzPts val="1600"/>
              <a:buChar char="•"/>
            </a:pPr>
            <a:r>
              <a:rPr lang="en-GB" sz="1600"/>
              <a:t>Employee Fraud</a:t>
            </a:r>
            <a:endParaRPr/>
          </a:p>
          <a:p>
            <a:pPr indent="-169863" lvl="0" marL="169863" rtl="0" algn="l">
              <a:lnSpc>
                <a:spcPct val="110000"/>
              </a:lnSpc>
              <a:spcBef>
                <a:spcPts val="800"/>
              </a:spcBef>
              <a:spcAft>
                <a:spcPts val="0"/>
              </a:spcAft>
              <a:buClr>
                <a:schemeClr val="dk1"/>
              </a:buClr>
              <a:buSzPts val="1600"/>
              <a:buChar char="•"/>
            </a:pPr>
            <a:r>
              <a:rPr lang="en-GB" sz="1600"/>
              <a:t>Information and Cyber Security</a:t>
            </a:r>
            <a:endParaRPr sz="1600"/>
          </a:p>
        </p:txBody>
      </p:sp>
      <p:sp>
        <p:nvSpPr>
          <p:cNvPr id="9066" name="Google Shape;9066;p513"/>
          <p:cNvSpPr txBox="1"/>
          <p:nvPr>
            <p:ph type="title"/>
          </p:nvPr>
        </p:nvSpPr>
        <p:spPr>
          <a:xfrm>
            <a:off x="477880" y="174273"/>
            <a:ext cx="472912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Insights of Security &amp; Fraud</a:t>
            </a:r>
            <a:endParaRPr/>
          </a:p>
        </p:txBody>
      </p:sp>
      <p:pic>
        <p:nvPicPr>
          <p:cNvPr descr="DIS-1001-H.jpg" id="9067" name="Google Shape;9067;p513"/>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68" name="Google Shape;9068;p513">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72" name="Shape 9072"/>
        <p:cNvGrpSpPr/>
        <p:nvPr/>
      </p:nvGrpSpPr>
      <p:grpSpPr>
        <a:xfrm>
          <a:off x="0" y="0"/>
          <a:ext cx="0" cy="0"/>
          <a:chOff x="0" y="0"/>
          <a:chExt cx="0" cy="0"/>
        </a:xfrm>
      </p:grpSpPr>
      <p:sp>
        <p:nvSpPr>
          <p:cNvPr id="9073" name="Google Shape;9073;p514"/>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pic>
        <p:nvPicPr>
          <p:cNvPr descr="DIS-1001-H.jpg" id="9074" name="Google Shape;9074;p514"/>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75" name="Google Shape;9075;p514"/>
          <p:cNvSpPr txBox="1"/>
          <p:nvPr>
            <p:ph idx="4294967295" type="body"/>
          </p:nvPr>
        </p:nvSpPr>
        <p:spPr>
          <a:xfrm>
            <a:off x="295420" y="1017046"/>
            <a:ext cx="4844955" cy="3672000"/>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solidFill>
                  <a:schemeClr val="dk2"/>
                </a:solidFill>
              </a:rPr>
              <a:t>   Are You Able To…</a:t>
            </a:r>
            <a:endParaRPr/>
          </a:p>
          <a:p>
            <a:pPr indent="-228600" lvl="1" marL="457200" rtl="0" algn="l">
              <a:lnSpc>
                <a:spcPct val="85000"/>
              </a:lnSpc>
              <a:spcBef>
                <a:spcPts val="200"/>
              </a:spcBef>
              <a:spcAft>
                <a:spcPts val="0"/>
              </a:spcAft>
              <a:buClr>
                <a:schemeClr val="dk1"/>
              </a:buClr>
              <a:buSzPts val="1400"/>
              <a:buChar char="–"/>
            </a:pPr>
            <a:r>
              <a:rPr lang="en-GB" sz="1400"/>
              <a:t>How quickly can you detect and block a fraudulent transaction in real-time — from card-present POS/ATM fraud to digital channel takeover via JazzCash/Easypaisa/RAAST — before funds leave the bank, with sub-second decisioning across 50M+ daily transactions?</a:t>
            </a:r>
            <a:endParaRPr/>
          </a:p>
          <a:p>
            <a:pPr indent="-228600" lvl="1" marL="457200" rtl="0" algn="l">
              <a:lnSpc>
                <a:spcPct val="85000"/>
              </a:lnSpc>
              <a:spcBef>
                <a:spcPts val="200"/>
              </a:spcBef>
              <a:spcAft>
                <a:spcPts val="0"/>
              </a:spcAft>
              <a:buClr>
                <a:schemeClr val="dk1"/>
              </a:buClr>
              <a:buSzPts val="1400"/>
              <a:buChar char="–"/>
            </a:pPr>
            <a:r>
              <a:rPr lang="en-GB" sz="1400"/>
              <a:t>Can you perform entity resolution linking a single fraudster operating across multiple CNIC identities, accounts, and channels — using graph analytics to uncover fraud rings, money mule networks, and synthetic identity clusters that traditional rule-based systems miss?</a:t>
            </a:r>
            <a:endParaRPr/>
          </a:p>
          <a:p>
            <a:pPr indent="-228600" lvl="1" marL="457200" rtl="0" algn="l">
              <a:lnSpc>
                <a:spcPct val="85000"/>
              </a:lnSpc>
              <a:spcBef>
                <a:spcPts val="200"/>
              </a:spcBef>
              <a:spcAft>
                <a:spcPts val="0"/>
              </a:spcAft>
              <a:buClr>
                <a:schemeClr val="dk1"/>
              </a:buClr>
              <a:buSzPts val="1400"/>
              <a:buChar char="–"/>
            </a:pPr>
            <a:r>
              <a:rPr lang="en-GB" sz="1400"/>
              <a:t>Can you quantify your total fraud exposure in real-time across all channels (branch, ATM, POS, digital, RAAST, IBFT, international remittances) and demonstrate to SBP and FATF evaluators that your detection capabilities meet international standards for AML/CFT compliance?</a:t>
            </a:r>
            <a:endParaRPr sz="1200"/>
          </a:p>
          <a:p>
            <a:pPr indent="-152400" lvl="1" marL="457200" rtl="0" algn="l">
              <a:lnSpc>
                <a:spcPct val="85000"/>
              </a:lnSpc>
              <a:spcBef>
                <a:spcPts val="1400"/>
              </a:spcBef>
              <a:spcAft>
                <a:spcPts val="0"/>
              </a:spcAft>
              <a:buClr>
                <a:schemeClr val="dk1"/>
              </a:buClr>
              <a:buSzPts val="1200"/>
              <a:buNone/>
            </a:pPr>
            <a:r>
              <a:t/>
            </a:r>
            <a:endParaRPr sz="1200"/>
          </a:p>
          <a:p>
            <a:pPr indent="-152400" lvl="1" marL="457200" rtl="0" algn="l">
              <a:lnSpc>
                <a:spcPct val="85000"/>
              </a:lnSpc>
              <a:spcBef>
                <a:spcPts val="400"/>
              </a:spcBef>
              <a:spcAft>
                <a:spcPts val="0"/>
              </a:spcAft>
              <a:buClr>
                <a:schemeClr val="dk1"/>
              </a:buClr>
              <a:buSzPts val="1200"/>
              <a:buNone/>
            </a:pPr>
            <a:r>
              <a:t/>
            </a:r>
            <a:endParaRPr sz="1200"/>
          </a:p>
          <a:p>
            <a:pPr indent="-80963" lvl="0" marL="169863" rtl="0" algn="l">
              <a:lnSpc>
                <a:spcPct val="95000"/>
              </a:lnSpc>
              <a:spcBef>
                <a:spcPts val="800"/>
              </a:spcBef>
              <a:spcAft>
                <a:spcPts val="0"/>
              </a:spcAft>
              <a:buClr>
                <a:schemeClr val="dk1"/>
              </a:buClr>
              <a:buSzPts val="1400"/>
              <a:buNone/>
            </a:pPr>
            <a:r>
              <a:t/>
            </a:r>
            <a:endParaRPr sz="1400"/>
          </a:p>
        </p:txBody>
      </p:sp>
      <p:sp>
        <p:nvSpPr>
          <p:cNvPr id="9076" name="Google Shape;9076;p514">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0" name="Shape 9080"/>
        <p:cNvGrpSpPr/>
        <p:nvPr/>
      </p:nvGrpSpPr>
      <p:grpSpPr>
        <a:xfrm>
          <a:off x="0" y="0"/>
          <a:ext cx="0" cy="0"/>
          <a:chOff x="0" y="0"/>
          <a:chExt cx="0" cy="0"/>
        </a:xfrm>
      </p:grpSpPr>
      <p:sp>
        <p:nvSpPr>
          <p:cNvPr id="9081" name="Google Shape;9081;p515"/>
          <p:cNvSpPr txBox="1"/>
          <p:nvPr>
            <p:ph idx="1" type="body"/>
          </p:nvPr>
        </p:nvSpPr>
        <p:spPr>
          <a:xfrm>
            <a:off x="0" y="2142803"/>
            <a:ext cx="9144000" cy="857927"/>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Security &amp; Fraud</a:t>
            </a:r>
            <a:endParaRPr/>
          </a:p>
          <a:p>
            <a:pPr indent="0" lvl="0" marL="0" rtl="0" algn="ctr">
              <a:lnSpc>
                <a:spcPct val="110000"/>
              </a:lnSpc>
              <a:spcBef>
                <a:spcPts val="400"/>
              </a:spcBef>
              <a:spcAft>
                <a:spcPts val="0"/>
              </a:spcAft>
              <a:buClr>
                <a:schemeClr val="accent1"/>
              </a:buClr>
              <a:buSzPts val="2200"/>
              <a:buFont typeface="Century Gothic"/>
              <a:buNone/>
            </a:pPr>
            <a:r>
              <a:rPr lang="en-GB"/>
              <a:t>Capabilities</a:t>
            </a:r>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4" name="Shape 9094"/>
        <p:cNvGrpSpPr/>
        <p:nvPr/>
      </p:nvGrpSpPr>
      <p:grpSpPr>
        <a:xfrm>
          <a:off x="0" y="0"/>
          <a:ext cx="0" cy="0"/>
          <a:chOff x="0" y="0"/>
          <a:chExt cx="0" cy="0"/>
        </a:xfrm>
      </p:grpSpPr>
      <p:sp>
        <p:nvSpPr>
          <p:cNvPr id="9095" name="Google Shape;9095;p51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96" name="Google Shape;9096;p517"/>
          <p:cNvSpPr txBox="1"/>
          <p:nvPr>
            <p:ph idx="1" type="body"/>
          </p:nvPr>
        </p:nvSpPr>
        <p:spPr>
          <a:xfrm>
            <a:off x="270933" y="604172"/>
            <a:ext cx="5452534"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200"/>
              <a:buChar char="•"/>
            </a:pPr>
            <a:r>
              <a:rPr lang="en-GB" sz="1200"/>
              <a:t>Timely response triggered by real-time threat detection processes and automated alerts and mitigation. </a:t>
            </a:r>
            <a:endParaRPr/>
          </a:p>
          <a:p>
            <a:pPr indent="-169863" lvl="0" marL="169863" rtl="0" algn="just">
              <a:lnSpc>
                <a:spcPct val="95000"/>
              </a:lnSpc>
              <a:spcBef>
                <a:spcPts val="600"/>
              </a:spcBef>
              <a:spcAft>
                <a:spcPts val="0"/>
              </a:spcAft>
              <a:buClr>
                <a:schemeClr val="dk1"/>
              </a:buClr>
              <a:buSzPts val="1200"/>
              <a:buChar char="•"/>
            </a:pPr>
            <a:r>
              <a:rPr lang="en-GB" sz="1200"/>
              <a:t>Use of statistical, network, path, and big data methodologies for more predictive fraud propensity models and alerts. </a:t>
            </a:r>
            <a:endParaRPr/>
          </a:p>
          <a:p>
            <a:pPr indent="-169863" lvl="0" marL="169863" rtl="0" algn="just">
              <a:lnSpc>
                <a:spcPct val="95000"/>
              </a:lnSpc>
              <a:spcBef>
                <a:spcPts val="600"/>
              </a:spcBef>
              <a:spcAft>
                <a:spcPts val="0"/>
              </a:spcAft>
              <a:buClr>
                <a:schemeClr val="dk1"/>
              </a:buClr>
              <a:buSzPts val="1200"/>
              <a:buChar char="•"/>
            </a:pPr>
            <a:r>
              <a:rPr lang="en-GB" sz="1200"/>
              <a:t>Improved fraud risk management processes augmented by data management, efficient, and transparent reporting of fraud incidents. </a:t>
            </a:r>
            <a:endParaRPr/>
          </a:p>
          <a:p>
            <a:pPr indent="-169863" lvl="0" marL="169863" rtl="0" algn="just">
              <a:lnSpc>
                <a:spcPct val="95000"/>
              </a:lnSpc>
              <a:spcBef>
                <a:spcPts val="600"/>
              </a:spcBef>
              <a:spcAft>
                <a:spcPts val="0"/>
              </a:spcAft>
              <a:buClr>
                <a:schemeClr val="dk1"/>
              </a:buClr>
              <a:buSzPts val="1200"/>
              <a:buChar char="•"/>
            </a:pPr>
            <a:r>
              <a:rPr lang="en-GB" sz="1200"/>
              <a:t>Integration and correlation of data across the enterprise – providing for a unified view of the fraud across various lines of business, products, and transactions. </a:t>
            </a:r>
            <a:endParaRPr/>
          </a:p>
          <a:p>
            <a:pPr indent="-169863" lvl="0" marL="169863" rtl="0" algn="just">
              <a:lnSpc>
                <a:spcPct val="95000"/>
              </a:lnSpc>
              <a:spcBef>
                <a:spcPts val="600"/>
              </a:spcBef>
              <a:spcAft>
                <a:spcPts val="0"/>
              </a:spcAft>
              <a:buClr>
                <a:schemeClr val="dk1"/>
              </a:buClr>
              <a:buSzPts val="1200"/>
              <a:buChar char="•"/>
            </a:pPr>
            <a:r>
              <a:rPr lang="en-GB" sz="1200"/>
              <a:t>Multi-genre analytics and data foundation provides more accurate fraud trend analyses, forecasts, and anticipation of potential future modus operandi and identification of vulnerabilities in fraud audits and investigations. </a:t>
            </a:r>
            <a:endParaRPr/>
          </a:p>
          <a:p>
            <a:pPr indent="-100013" lvl="0" marL="169863" rtl="0" algn="just">
              <a:lnSpc>
                <a:spcPct val="95000"/>
              </a:lnSpc>
              <a:spcBef>
                <a:spcPts val="600"/>
              </a:spcBef>
              <a:spcAft>
                <a:spcPts val="0"/>
              </a:spcAft>
              <a:buClr>
                <a:schemeClr val="dk1"/>
              </a:buClr>
              <a:buSzPts val="1100"/>
              <a:buNone/>
            </a:pPr>
            <a:r>
              <a:t/>
            </a:r>
            <a:endParaRPr sz="1100"/>
          </a:p>
          <a:p>
            <a:pPr indent="-100013" lvl="0" marL="169863" rtl="0" algn="just">
              <a:lnSpc>
                <a:spcPct val="95000"/>
              </a:lnSpc>
              <a:spcBef>
                <a:spcPts val="600"/>
              </a:spcBef>
              <a:spcAft>
                <a:spcPts val="0"/>
              </a:spcAft>
              <a:buClr>
                <a:schemeClr val="dk1"/>
              </a:buClr>
              <a:buSzPts val="1100"/>
              <a:buNone/>
            </a:pPr>
            <a:r>
              <a:t/>
            </a:r>
            <a:endParaRPr sz="1100"/>
          </a:p>
          <a:p>
            <a:pPr indent="-100013" lvl="0" marL="169863" rtl="0" algn="just">
              <a:lnSpc>
                <a:spcPct val="95000"/>
              </a:lnSpc>
              <a:spcBef>
                <a:spcPts val="600"/>
              </a:spcBef>
              <a:spcAft>
                <a:spcPts val="0"/>
              </a:spcAft>
              <a:buClr>
                <a:schemeClr val="dk1"/>
              </a:buClr>
              <a:buSzPts val="1100"/>
              <a:buNone/>
            </a:pPr>
            <a:r>
              <a:t/>
            </a:r>
            <a:endParaRPr sz="1100"/>
          </a:p>
          <a:p>
            <a:pPr indent="-100013" lvl="0" marL="169863" rtl="0" algn="just">
              <a:lnSpc>
                <a:spcPct val="95000"/>
              </a:lnSpc>
              <a:spcBef>
                <a:spcPts val="600"/>
              </a:spcBef>
              <a:spcAft>
                <a:spcPts val="0"/>
              </a:spcAft>
              <a:buClr>
                <a:schemeClr val="dk1"/>
              </a:buClr>
              <a:buSzPts val="1100"/>
              <a:buNone/>
            </a:pPr>
            <a:r>
              <a:t/>
            </a:r>
            <a:endParaRPr sz="1100"/>
          </a:p>
          <a:p>
            <a:pPr indent="-100013" lvl="0" marL="169863" rtl="0" algn="just">
              <a:lnSpc>
                <a:spcPct val="95000"/>
              </a:lnSpc>
              <a:spcBef>
                <a:spcPts val="600"/>
              </a:spcBef>
              <a:spcAft>
                <a:spcPts val="0"/>
              </a:spcAft>
              <a:buClr>
                <a:schemeClr val="dk1"/>
              </a:buClr>
              <a:buSzPts val="1100"/>
              <a:buNone/>
            </a:pPr>
            <a:r>
              <a:t/>
            </a:r>
            <a:endParaRPr sz="1100"/>
          </a:p>
        </p:txBody>
      </p:sp>
      <p:sp>
        <p:nvSpPr>
          <p:cNvPr id="9097" name="Google Shape;9097;p51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pic>
        <p:nvPicPr>
          <p:cNvPr descr="GOV-1014-L.jpg" id="9098" name="Google Shape;9098;p517"/>
          <p:cNvPicPr preferRelativeResize="0"/>
          <p:nvPr/>
        </p:nvPicPr>
        <p:blipFill rotWithShape="1">
          <a:blip r:embed="rId3">
            <a:alphaModFix/>
          </a:blip>
          <a:srcRect b="0" l="7410" r="-68" t="0"/>
          <a:stretch/>
        </p:blipFill>
        <p:spPr>
          <a:xfrm>
            <a:off x="5813778" y="967317"/>
            <a:ext cx="3330221" cy="2396066"/>
          </a:xfrm>
          <a:prstGeom prst="rect">
            <a:avLst/>
          </a:prstGeom>
          <a:noFill/>
          <a:ln>
            <a:noFill/>
          </a:ln>
          <a:effectLst>
            <a:outerShdw blurRad="50800" rotWithShape="0" algn="tl" dir="2700000" dist="38100">
              <a:srgbClr val="000000">
                <a:alpha val="40000"/>
              </a:srgbClr>
            </a:outerShdw>
          </a:effectLst>
        </p:spPr>
      </p:pic>
      <p:sp>
        <p:nvSpPr>
          <p:cNvPr id="9099" name="Google Shape;9099;p51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04" name="Shape 9104"/>
        <p:cNvGrpSpPr/>
        <p:nvPr/>
      </p:nvGrpSpPr>
      <p:grpSpPr>
        <a:xfrm>
          <a:off x="0" y="0"/>
          <a:ext cx="0" cy="0"/>
          <a:chOff x="0" y="0"/>
          <a:chExt cx="0" cy="0"/>
        </a:xfrm>
      </p:grpSpPr>
      <p:sp>
        <p:nvSpPr>
          <p:cNvPr id="9105" name="Google Shape;9105;p518"/>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r>
              <a:rPr lang="en-GB"/>
              <a:t>What are the challenges?</a:t>
            </a:r>
            <a:endParaRPr/>
          </a:p>
        </p:txBody>
      </p:sp>
      <p:grpSp>
        <p:nvGrpSpPr>
          <p:cNvPr id="9106" name="Google Shape;9106;p518"/>
          <p:cNvGrpSpPr/>
          <p:nvPr/>
        </p:nvGrpSpPr>
        <p:grpSpPr>
          <a:xfrm>
            <a:off x="438691" y="2524118"/>
            <a:ext cx="8306242" cy="700743"/>
            <a:chOff x="456759" y="2468314"/>
            <a:chExt cx="8306242" cy="700743"/>
          </a:xfrm>
        </p:grpSpPr>
        <p:sp>
          <p:nvSpPr>
            <p:cNvPr id="9107" name="Google Shape;9107;p518"/>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Fraud data sits in separate systems — card fraud in switch/processor, digital fraud in app servers, branch fraud in core banking, AML alerts in compliance systems. Without a unified fraud data warehouse (FSDM provides 200+ Security domain entities), cross-channel fraud patterns go undetected.</a:t>
              </a:r>
              <a:endParaRPr sz="1000">
                <a:solidFill>
                  <a:srgbClr val="3C3C3B"/>
                </a:solidFill>
                <a:latin typeface="Century Gothic"/>
                <a:ea typeface="Century Gothic"/>
                <a:cs typeface="Century Gothic"/>
                <a:sym typeface="Century Gothic"/>
              </a:endParaRPr>
            </a:p>
          </p:txBody>
        </p:sp>
        <p:sp>
          <p:nvSpPr>
            <p:cNvPr id="9108" name="Google Shape;9108;p518"/>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109" name="Google Shape;9109;p518"/>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Data Silos Across Channels</a:t>
              </a:r>
              <a:endParaRPr b="1" sz="1200">
                <a:solidFill>
                  <a:srgbClr val="FFFFFF"/>
                </a:solidFill>
                <a:latin typeface="Century Gothic"/>
                <a:ea typeface="Century Gothic"/>
                <a:cs typeface="Century Gothic"/>
                <a:sym typeface="Century Gothic"/>
              </a:endParaRPr>
            </a:p>
          </p:txBody>
        </p:sp>
      </p:grpSp>
      <p:grpSp>
        <p:nvGrpSpPr>
          <p:cNvPr id="9110" name="Google Shape;9110;p518"/>
          <p:cNvGrpSpPr/>
          <p:nvPr/>
        </p:nvGrpSpPr>
        <p:grpSpPr>
          <a:xfrm>
            <a:off x="438690" y="1764058"/>
            <a:ext cx="8306240" cy="720600"/>
            <a:chOff x="456758" y="1764058"/>
            <a:chExt cx="8306240" cy="720600"/>
          </a:xfrm>
        </p:grpSpPr>
        <p:sp>
          <p:nvSpPr>
            <p:cNvPr id="9111" name="Google Shape;9111;p518"/>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Pakistan's rapid digital payment growth (RAAST PKR 9.8T+ in 2024, JazzCash 40M+ wallets, Easypaisa 30M+ wallets) has created new fraud vectors — SIM-swap fraud, social engineering via WhatsApp/SMS, QR code manipulation, and authorized push payment fraud. Traditional rule-based systems cannot keep pace with evolving modus operandi.</a:t>
              </a:r>
              <a:endParaRPr sz="1000">
                <a:solidFill>
                  <a:srgbClr val="3C3C3B"/>
                </a:solidFill>
                <a:latin typeface="Century Gothic"/>
                <a:ea typeface="Century Gothic"/>
                <a:cs typeface="Century Gothic"/>
                <a:sym typeface="Century Gothic"/>
              </a:endParaRPr>
            </a:p>
          </p:txBody>
        </p:sp>
        <p:sp>
          <p:nvSpPr>
            <p:cNvPr id="9112" name="Google Shape;9112;p518"/>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113" name="Google Shape;9113;p518"/>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Evolving Fraud Landscape</a:t>
              </a:r>
              <a:endParaRPr b="1" sz="1200">
                <a:solidFill>
                  <a:srgbClr val="FFFFFF"/>
                </a:solidFill>
                <a:latin typeface="Century Gothic"/>
                <a:ea typeface="Century Gothic"/>
                <a:cs typeface="Century Gothic"/>
                <a:sym typeface="Century Gothic"/>
              </a:endParaRPr>
            </a:p>
          </p:txBody>
        </p:sp>
      </p:grpSp>
      <p:sp>
        <p:nvSpPr>
          <p:cNvPr id="9114" name="Google Shape;9114;p518"/>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9115" name="Google Shape;9115;p518"/>
          <p:cNvGrpSpPr/>
          <p:nvPr/>
        </p:nvGrpSpPr>
        <p:grpSpPr>
          <a:xfrm>
            <a:off x="438691" y="4004525"/>
            <a:ext cx="8306242" cy="700825"/>
            <a:chOff x="456759" y="4004525"/>
            <a:chExt cx="8306242" cy="700825"/>
          </a:xfrm>
        </p:grpSpPr>
        <p:sp>
          <p:nvSpPr>
            <p:cNvPr id="9116" name="Google Shape;9116;p518"/>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Pakistan's FATF grey-listing (2018-2022) and ongoing APG scrutiny require banks to demonstrate sophisticated AML/CFT detection capabilities. SBP's AML/CFT Guidelines mandate automated transaction monitoring, sanctions screening, and suspicious transaction reporting (STRs).</a:t>
              </a:r>
              <a:endParaRPr sz="1000">
                <a:solidFill>
                  <a:schemeClr val="dk1"/>
                </a:solidFill>
                <a:latin typeface="Century Gothic"/>
                <a:ea typeface="Century Gothic"/>
                <a:cs typeface="Century Gothic"/>
                <a:sym typeface="Century Gothic"/>
              </a:endParaRPr>
            </a:p>
          </p:txBody>
        </p:sp>
        <p:sp>
          <p:nvSpPr>
            <p:cNvPr id="9117" name="Google Shape;9117;p518"/>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118" name="Google Shape;9118;p518"/>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FATF/APG Compliance Pressure</a:t>
              </a:r>
              <a:endParaRPr b="1" sz="1200">
                <a:solidFill>
                  <a:srgbClr val="FFFFFF"/>
                </a:solidFill>
                <a:latin typeface="Century Gothic"/>
                <a:ea typeface="Century Gothic"/>
                <a:cs typeface="Century Gothic"/>
                <a:sym typeface="Century Gothic"/>
              </a:endParaRPr>
            </a:p>
          </p:txBody>
        </p:sp>
      </p:grpSp>
      <p:grpSp>
        <p:nvGrpSpPr>
          <p:cNvPr id="9119" name="Google Shape;9119;p518"/>
          <p:cNvGrpSpPr/>
          <p:nvPr/>
        </p:nvGrpSpPr>
        <p:grpSpPr>
          <a:xfrm>
            <a:off x="438691" y="3264321"/>
            <a:ext cx="8306242" cy="700743"/>
            <a:chOff x="456759" y="3170400"/>
            <a:chExt cx="8306242" cy="700743"/>
          </a:xfrm>
        </p:grpSpPr>
        <p:sp>
          <p:nvSpPr>
            <p:cNvPr id="9120" name="Google Shape;9120;p518"/>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Industry false positive rates for fraud alerts average 95-98% — meaning investigators spend most of their time clearing legitimate transactions. Advanced analytics (ML models, network analysis) can reduce false positives by 50-70% while improving detection rates.</a:t>
              </a:r>
              <a:endParaRPr sz="1000">
                <a:solidFill>
                  <a:schemeClr val="dk1"/>
                </a:solidFill>
                <a:latin typeface="Century Gothic"/>
                <a:ea typeface="Century Gothic"/>
                <a:cs typeface="Century Gothic"/>
                <a:sym typeface="Century Gothic"/>
              </a:endParaRPr>
            </a:p>
          </p:txBody>
        </p:sp>
        <p:sp>
          <p:nvSpPr>
            <p:cNvPr id="9121" name="Google Shape;9121;p518"/>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122" name="Google Shape;9122;p518"/>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False Positive Burden</a:t>
              </a:r>
              <a:endParaRPr b="1" sz="1200">
                <a:solidFill>
                  <a:srgbClr val="FFFFFF"/>
                </a:solidFill>
                <a:latin typeface="Century Gothic"/>
                <a:ea typeface="Century Gothic"/>
                <a:cs typeface="Century Gothic"/>
                <a:sym typeface="Century Gothic"/>
              </a:endParaRPr>
            </a:p>
          </p:txBody>
        </p:sp>
      </p:grpSp>
      <p:sp>
        <p:nvSpPr>
          <p:cNvPr id="9123" name="Google Shape;9123;p518"/>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Building an enterprise-wide fraud analytics capability that detects increasingly sophisticated fraud patterns across physical and digital channels in real-time, while minimizing false positives that degrade customer experience and waste investigator capacity.</a:t>
            </a:r>
            <a:endParaRPr sz="1200">
              <a:solidFill>
                <a:srgbClr val="FFFFFF"/>
              </a:solidFill>
              <a:latin typeface="Century Gothic"/>
              <a:ea typeface="Century Gothic"/>
              <a:cs typeface="Century Gothic"/>
              <a:sym typeface="Century Gothic"/>
            </a:endParaRPr>
          </a:p>
        </p:txBody>
      </p:sp>
      <p:sp>
        <p:nvSpPr>
          <p:cNvPr id="9124" name="Google Shape;9124;p5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Real-Time Threat Detection and Mitigation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Detect and respond to fraud threats within milliseconds of transaction initiation — blocking fraudulent transactions before funds transfer while allowing legitimate transactions to proceed without friction.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Cover all payment channels: ATM, POS, e-commerce, IBFT, RAAST, international remittances, mobile wallet, and branch.</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Achieve detection rates &gt;80% for known fraud patterns while maintaining false positive rates &lt;2%.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transaction stream (50M+ daily across all channels). Customer behavioral profiles (spending patterns, geographic patterns, time-of-day patterns, device fingerprints).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Merchant risk profiles. Sanctions and watchlist data (OFAC, UN, SBP list). Historical fraud cases with confirmed labels.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Device and session data (IP, geolocation, browser fingerprint). CNIC/biometric verification data from NADRA.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Real-time scoring engine using gradient-boosted ensemble models. Velocity checks (transaction frequency, amount acceleration). Geospatial anomaly detection (impossible travel, unusual location).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Network analytics for fraud ring detection. Behavioral profiling with dynamic threshold adjustment. Sanctions screening with fuzzy name matching.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Sub-second fraud scoring on 100% of transactions across all channels. Real-time block/allow/review decisioning with configurable risk thresholds. Automated case creation for review queue with risk-ranked prioritization.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50-70% reduction in false positive rates vs. rule-based systems. Real-time fraud dashboard showing threat levels, blocked transactions, and detection rates by channel and fraud type.</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46" name="Shape 9146"/>
        <p:cNvGrpSpPr/>
        <p:nvPr/>
      </p:nvGrpSpPr>
      <p:grpSpPr>
        <a:xfrm>
          <a:off x="0" y="0"/>
          <a:ext cx="0" cy="0"/>
          <a:chOff x="0" y="0"/>
          <a:chExt cx="0" cy="0"/>
        </a:xfrm>
      </p:grpSpPr>
      <p:graphicFrame>
        <p:nvGraphicFramePr>
          <p:cNvPr id="9147" name="Google Shape;9147;p520"/>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Fully automated real-time fraud detection across all channels using AI/ML models with continuous learning. Sub-100ms response time. Models self-adapt to new fraud patterns within hours. Integrated across fraud, AML, and cyber security with unified threat intelligence.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ML-based fraud scoring operational on primary channels with model refresh quarterly. Near-real-time detection (&lt;5 seconds) on digital channels. Network analytics identify fraud rings. Integration between fraud and AML systems for shared intelligence.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Rule-based detection with periodic ML model augmentation. Batch-based detection for some channels, real-time for cards. Separate fraud systems per channel with manual cross-referencing. Monthly model performance review.</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Primarily rule-based detection focused on card fraud. Digital channels monitored reactively (post-incident analysis). No ML models in production. Alert investigation is manual with no prioritization.</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Fraud detection relies on customer complaints and manual reconciliation. No automated monitoring. Reactive investigation only. No systematic fraud analytics capability. Basic velocity rules on ATM/POS only.</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148" name="Google Shape;9148;p520"/>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Real-Time Threat Detection and Mitigation</a:t>
            </a:r>
            <a:endParaRPr b="1"/>
          </a:p>
        </p:txBody>
      </p:sp>
      <p:grpSp>
        <p:nvGrpSpPr>
          <p:cNvPr id="9149" name="Google Shape;9149;p520"/>
          <p:cNvGrpSpPr/>
          <p:nvPr/>
        </p:nvGrpSpPr>
        <p:grpSpPr>
          <a:xfrm>
            <a:off x="457200" y="4078841"/>
            <a:ext cx="8455025" cy="660717"/>
            <a:chOff x="211138" y="3972860"/>
            <a:chExt cx="8713787" cy="642437"/>
          </a:xfrm>
        </p:grpSpPr>
        <p:sp>
          <p:nvSpPr>
            <p:cNvPr id="9150" name="Google Shape;9150;p52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151" name="Google Shape;9151;p52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152" name="Google Shape;9152;p520"/>
          <p:cNvGrpSpPr/>
          <p:nvPr/>
        </p:nvGrpSpPr>
        <p:grpSpPr>
          <a:xfrm>
            <a:off x="7971865" y="781605"/>
            <a:ext cx="949325" cy="3191672"/>
            <a:chOff x="7941888" y="1062037"/>
            <a:chExt cx="983037" cy="2695575"/>
          </a:xfrm>
        </p:grpSpPr>
        <p:sp>
          <p:nvSpPr>
            <p:cNvPr id="9153" name="Google Shape;9153;p52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154" name="Google Shape;9154;p52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155" name="Google Shape;9155;p5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Fraud Risk Assessment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Establish a comprehensive fraud risk assessment framework that identifies, measures, and monitors fraud exposure across all products, channels, and customer segments.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Enable proactive fraud prevention by understanding vulnerability patterns before losses occur.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Support SBP's requirement for annual fraud risk assessments and FATF's recommendation for risk-based approach to financial crime prevention.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Historical fraud loss data by type, channel, product, and segment. Transaction volumes and patterns by channel. Customer complaint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audit findings on control weaknesses. Industry fraud benchmark data (SBP fraud statistics, PBA reports). Control effectiveness assessments.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New product/channel risk assessments. Third-party vendor risk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Fraud risk scoring by product-channel combination using historical loss rates and control assessments. Heat map generation for residual fraud risk after controls.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Trend analysis on fraud patterns and emerging threats. Benchmarking against industry loss rates. Monte Carlo simulation for potential fraud loss scenarios.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Annual fraud risk assessment report with quantified residual risk by product, channel, and fraud type. Fraud risk heat map showing highest-vulnerability areas for focused investment. Control gap analysis with prioritized remediation recommendations.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Emerging threat intelligence report covering new fraud vectors relevant to Pakistan's market. Board-level fraud risk dashboard for Audit Committee reporting.</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7" name="Shape 9177"/>
        <p:cNvGrpSpPr/>
        <p:nvPr/>
      </p:nvGrpSpPr>
      <p:grpSpPr>
        <a:xfrm>
          <a:off x="0" y="0"/>
          <a:ext cx="0" cy="0"/>
          <a:chOff x="0" y="0"/>
          <a:chExt cx="0" cy="0"/>
        </a:xfrm>
      </p:grpSpPr>
      <p:graphicFrame>
        <p:nvGraphicFramePr>
          <p:cNvPr id="9178" name="Google Shape;9178;p522"/>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Continuous, automated fraud risk assessment integrated into business operations. Risk scores updated in real-time as new data arrives. Predictive models anticipate emerging fraud threats before losses materialize. Risk appetite for fraud fully quantified and cascaded to business units.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Quarterly fraud risk assessments using statistical methods. Cross-channel risk correlation analysis. Emerging threat monitoring from industry and international sources. Fraud risk integrated into product development lifecycle.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Annual fraud risk assessment covering major products and channels. Risk scoring based on historical loss data. Control effectiveness testing integrated into assessment. Basic benchmarking against industry data.</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Ad-hoc fraud risk assessments driven by incidents or audit findings. Qualitative risk assessment without statistical rigor. Limited cross-channel view. Assessment focused on known fraud types with minimal emerging threat analysis.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formal fraud risk assessment process. Fraud risk perceived as operational issue, not strategic risk. Reactive approach — assessments conducted only after significant losses. No fraud risk metrics or KPIs.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179" name="Google Shape;9179;p522"/>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Risk Assessment</a:t>
            </a:r>
            <a:endParaRPr b="1"/>
          </a:p>
        </p:txBody>
      </p:sp>
      <p:grpSp>
        <p:nvGrpSpPr>
          <p:cNvPr id="9180" name="Google Shape;9180;p522"/>
          <p:cNvGrpSpPr/>
          <p:nvPr/>
        </p:nvGrpSpPr>
        <p:grpSpPr>
          <a:xfrm>
            <a:off x="457200" y="4078841"/>
            <a:ext cx="8455025" cy="660717"/>
            <a:chOff x="211138" y="3972860"/>
            <a:chExt cx="8713787" cy="642437"/>
          </a:xfrm>
        </p:grpSpPr>
        <p:sp>
          <p:nvSpPr>
            <p:cNvPr id="9181" name="Google Shape;9181;p52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182" name="Google Shape;9182;p52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183" name="Google Shape;9183;p522"/>
          <p:cNvGrpSpPr/>
          <p:nvPr/>
        </p:nvGrpSpPr>
        <p:grpSpPr>
          <a:xfrm>
            <a:off x="7971865" y="781605"/>
            <a:ext cx="949325" cy="3191672"/>
            <a:chOff x="7941888" y="1062037"/>
            <a:chExt cx="983037" cy="2695575"/>
          </a:xfrm>
        </p:grpSpPr>
        <p:sp>
          <p:nvSpPr>
            <p:cNvPr id="9184" name="Google Shape;9184;p52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185" name="Google Shape;9185;p52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186" name="Google Shape;9186;p5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Fraud Incident Management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Streamline the end-to-end fraud incident management lifecycle — from detection/alert through investigation, resolution, recovery, and regulatory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Ensure all fraud incidents are captured, classified, investigated within SLA, and reported to SBP/FIA as required.</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Build a fraud knowledge base that improves detection over time through feedback loops from confirmed fraud cases.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Alert and case management data (alerts generated, cases opened, investigation outcomes). Transaction data related to fraud incidents. Customer communication logs during investigation.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Evidence documentation (CCTV footage, digital forensics, customer statements). Recovery actions and outcomes.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reporting submissions (STRs, CTRs to FMU).</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Case prioritization scoring based on fraud amount, customer impact, and investigation complexity. SLA monitoring and escalation automation.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 of fraud incidents by type and channel. Recovery probability scoring for loss recovery prioritization. Trend analytics on incident volumes, types, and resolution times.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Unified fraud case management platform tracking all incidents from alert to closure. Automated SLA monitoring with escalation workflows. SBP/FMU regulatory report generation (STRs, CTRs) with complete audit trail.</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Fraud loss database meeting SBP operational risk loss event requirements. Management dashboard showing incident volumes, investigation throughput, recovery rates, and regulatory compliance metrics.</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08" name="Shape 9208"/>
        <p:cNvGrpSpPr/>
        <p:nvPr/>
      </p:nvGrpSpPr>
      <p:grpSpPr>
        <a:xfrm>
          <a:off x="0" y="0"/>
          <a:ext cx="0" cy="0"/>
          <a:chOff x="0" y="0"/>
          <a:chExt cx="0" cy="0"/>
        </a:xfrm>
      </p:grpSpPr>
      <p:graphicFrame>
        <p:nvGraphicFramePr>
          <p:cNvPr id="9209" name="Google Shape;9209;p524"/>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Fully automated incident management with AI-assisted investigation workflows. Real-time case routing to specialist investigators. Automated evidence gathering and documentation. Direct SBP/FMU electronic submission. Machine learning from resolved cases continuously improves detection models.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Automated alert-to-case conversion with intelligent deduplication. Investigation playbooks by fraud type guide investigators. Semi-automated regulatory reporting. Case outcome feedback loop to detection models quarterly. Average case resolution within 5 business days.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Structured case management system with defined workflows. Manual case assignment with basic prioritization. Monthly fraud reporting to management. Regulatory reports generated with manual data compilation. Average case resolution within 15 business days.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Spreadsheet or email-based case tracking. Ad-hoc investigation processes varying by investigator. Limited case documentation. Regulatory reporting is manual and time-consuming. No systematic feedback from investigation outcomes to detection systems.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formal incident management process. Fraud cases handled reactively with no tracking system. Investigation outcomes not documented systematically. Regulatory reporting at risk of non-compliance. No organizational learning from fraud incidents.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210" name="Google Shape;9210;p524"/>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Incident Management</a:t>
            </a:r>
            <a:endParaRPr b="1"/>
          </a:p>
        </p:txBody>
      </p:sp>
      <p:grpSp>
        <p:nvGrpSpPr>
          <p:cNvPr id="9211" name="Google Shape;9211;p524"/>
          <p:cNvGrpSpPr/>
          <p:nvPr/>
        </p:nvGrpSpPr>
        <p:grpSpPr>
          <a:xfrm>
            <a:off x="457200" y="4078841"/>
            <a:ext cx="8455025" cy="660717"/>
            <a:chOff x="211138" y="3972860"/>
            <a:chExt cx="8713787" cy="642437"/>
          </a:xfrm>
        </p:grpSpPr>
        <p:sp>
          <p:nvSpPr>
            <p:cNvPr id="9212" name="Google Shape;9212;p52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213" name="Google Shape;9213;p52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214" name="Google Shape;9214;p524"/>
          <p:cNvGrpSpPr/>
          <p:nvPr/>
        </p:nvGrpSpPr>
        <p:grpSpPr>
          <a:xfrm>
            <a:off x="7971865" y="781605"/>
            <a:ext cx="949325" cy="3191672"/>
            <a:chOff x="7941888" y="1062037"/>
            <a:chExt cx="983037" cy="2695575"/>
          </a:xfrm>
        </p:grpSpPr>
        <p:sp>
          <p:nvSpPr>
            <p:cNvPr id="9215" name="Google Shape;9215;p52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216" name="Google Shape;9216;p52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217" name="Google Shape;9217;p5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Fraud Investigations and Forensics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Equip fraud investigation teams with advanced analytics tools for rapid, thorough investigations — reducing average investigation time from weeks to days.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evidence quality for law enforcement referrals and recovery actions.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Enable investigators to trace complex fraud schemes across multiple accounts, entities, and channels using entity resolution and link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transaction history across all channels for suspect entities. Account opening documentation and KYC records. CNIC verification audit trail (NADRA checks).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Communication records (call logs, email, SMS where legally available). CCTV and branch surveillance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forensics data (device logs, IP addresses, session recordings). Third-party data (credit bureau, ECIB, commercial registries).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Entity resolution linking related accounts through shared attributes (phone, address, CNIC, device, beneficiary). Graph analytics visualizing transaction networks and fund flows. Timeline analysis reconstructing fraud event sequences (nPath).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analytics on investigation notes and customer communications. Geospatial analysis mapping physical locations to transaction patterns. Digital forensics for device and session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Investigation workbench providing 360-degree view of suspect entities with linked accounts and transaction history. Visual network maps showing fund flows and entity relationships. Automated evidence package generation for FIA/law enforcement referral.</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Investigation timeline reconstruction with chronological event mapping. Case documentation templates meeting legal and regulatory evidence standards.</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39" name="Shape 9239"/>
        <p:cNvGrpSpPr/>
        <p:nvPr/>
      </p:nvGrpSpPr>
      <p:grpSpPr>
        <a:xfrm>
          <a:off x="0" y="0"/>
          <a:ext cx="0" cy="0"/>
          <a:chOff x="0" y="0"/>
          <a:chExt cx="0" cy="0"/>
        </a:xfrm>
      </p:grpSpPr>
      <p:graphicFrame>
        <p:nvGraphicFramePr>
          <p:cNvPr id="9240" name="Google Shape;9240;p526"/>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AI-assisted investigation with automated evidence gathering, network visualization, and report generation. Investigators guided by ML-identified patterns. Real-time access to all data sources from single interface. Average investigation completed in 2-3 days with prosecution-ready evidence packages.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Graph analytics and entity resolution tools available to investigators. Automated data extraction from multiple source systems. Investigation templates and playbooks by fraud type. Digital forensics capability for cyber fraud cases. Cross-channel investigation capability.</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Investigation tools provide access to transaction data with basic search and filter. Manual data extraction from different systems required. Some visualization tools available for fund flow tracing. Investigation reports standardized but manually compiled.</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Investigators rely on manual data pulls from individual systems. Limited analytical tools — primarily spreadsheet-based analysis. No entity resolution or link analysis capability. Investigation quality depends heavily on individual investigator experience and effort.</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Investigations conducted without analytical tools. Data gathered manually through ad-hoc requests to operations teams. No systematic evidence management. Investigation outcomes poorly documented. Limited referrals to law enforcement due to weak evidence packages.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241" name="Google Shape;9241;p526"/>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Investigations and Forensics</a:t>
            </a:r>
            <a:endParaRPr b="1"/>
          </a:p>
        </p:txBody>
      </p:sp>
      <p:grpSp>
        <p:nvGrpSpPr>
          <p:cNvPr id="9242" name="Google Shape;9242;p526"/>
          <p:cNvGrpSpPr/>
          <p:nvPr/>
        </p:nvGrpSpPr>
        <p:grpSpPr>
          <a:xfrm>
            <a:off x="457200" y="4078841"/>
            <a:ext cx="8455025" cy="660717"/>
            <a:chOff x="211138" y="3972860"/>
            <a:chExt cx="8713787" cy="642437"/>
          </a:xfrm>
        </p:grpSpPr>
        <p:sp>
          <p:nvSpPr>
            <p:cNvPr id="9243" name="Google Shape;9243;p52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244" name="Google Shape;9244;p52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245" name="Google Shape;9245;p526"/>
          <p:cNvGrpSpPr/>
          <p:nvPr/>
        </p:nvGrpSpPr>
        <p:grpSpPr>
          <a:xfrm>
            <a:off x="7971865" y="781605"/>
            <a:ext cx="949325" cy="3191672"/>
            <a:chOff x="7941888" y="1062037"/>
            <a:chExt cx="983037" cy="2695575"/>
          </a:xfrm>
        </p:grpSpPr>
        <p:sp>
          <p:nvSpPr>
            <p:cNvPr id="9246" name="Google Shape;9246;p52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247" name="Google Shape;9247;p52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248" name="Google Shape;9248;p5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Fraud Loss Recovery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Maximize recovery of fraud losses through systematic identification of recovery avenues — chargeback processes, insurance claims, legal recovery, asset seizure, and cross-institution recovery via SBP dispute mechanisms.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Pakistan banks recover only 15-25% of fraud losses due to fragmented recovery processes and delayed 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Analytics-driven recovery prioritization can increase recovery rates by 30-50%.</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Confirmed fraud case data (amount, type, channel, perpetrator if known). Chargeback eligibility data (scheme rules, timeframes).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Insurance policy coverage and claims history. Legal case data (FIR status, court proceedings).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Asset/account data of identified perpetrators. Cross-bank recovery coordination data (SBP mediation cases).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Recovery probability scoring by fraud type and recovery avenue. Chargeback optimization (maximize recoveries within scheme timeframes). Cost-benefit analysis of legal recovery vs. write-off.</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Network analysis identifying recoverable assets of fraud ring participants. Time-value analysis of recovery — NPV of delayed recovery vs. immediate settlement.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Automated recovery workflow triggered upon fraud confirmation — parallel initiation of all applicable recovery avenues. Recovery dashboard tracking amounts by avenue (chargeback, insurance, legal, direct).</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Recovery probability scoring guiding resource allocation to highest-recovery cases. SBP dispute mechanism utilization optimization. Fraud loss and recovery reporting meeting SBP operational risk data requirements.</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70" name="Shape 9270"/>
        <p:cNvGrpSpPr/>
        <p:nvPr/>
      </p:nvGrpSpPr>
      <p:grpSpPr>
        <a:xfrm>
          <a:off x="0" y="0"/>
          <a:ext cx="0" cy="0"/>
          <a:chOff x="0" y="0"/>
          <a:chExt cx="0" cy="0"/>
        </a:xfrm>
      </p:grpSpPr>
      <p:graphicFrame>
        <p:nvGraphicFramePr>
          <p:cNvPr id="9271" name="Google Shape;9271;p528"/>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Automated multi-channel recovery initiation within 24 hours of fraud confirmation. ML-based recovery probability scoring drives resource allocation. Cross-institution recovery facilitated through automated SBP dispute mechanisms. Recovery rates exceed 50% of detected fraud losses.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Structured recovery process with prioritization based on recovery probability. Chargeback processes optimized within scheme timeframes. Insurance claims systematically filed. Legal recovery tracked with cost-benefit analysis. Recovery rates 35-50%.</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Recovery processes defined but manual. Chargeback management in place for card fraud. Insurance claims filed for eligible losses. Legal recovery pursued for material cases. Recovery tracking exists but not optimized. Recovery rates 20-35%.</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Recovery efforts are reactive and inconsistent. Chargebacks filed for obvious cases only. Insurance coverage underutilized. Legal recovery sporadic. No systematic tracking of recovery outcomes or recovery rate metrics.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systematic fraud loss recovery process. Losses absorbed without recovery effort except for very large cases. No chargeback optimization. Insurance claims not systematically filed. Fraud losses treated as cost of doing business.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272" name="Google Shape;9272;p528"/>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Loss Recovery</a:t>
            </a:r>
            <a:endParaRPr b="1"/>
          </a:p>
        </p:txBody>
      </p:sp>
      <p:grpSp>
        <p:nvGrpSpPr>
          <p:cNvPr id="9273" name="Google Shape;9273;p528"/>
          <p:cNvGrpSpPr/>
          <p:nvPr/>
        </p:nvGrpSpPr>
        <p:grpSpPr>
          <a:xfrm>
            <a:off x="457200" y="4078841"/>
            <a:ext cx="8455025" cy="660717"/>
            <a:chOff x="211138" y="3972860"/>
            <a:chExt cx="8713787" cy="642437"/>
          </a:xfrm>
        </p:grpSpPr>
        <p:sp>
          <p:nvSpPr>
            <p:cNvPr id="9274" name="Google Shape;9274;p52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275" name="Google Shape;9275;p52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276" name="Google Shape;9276;p528"/>
          <p:cNvGrpSpPr/>
          <p:nvPr/>
        </p:nvGrpSpPr>
        <p:grpSpPr>
          <a:xfrm>
            <a:off x="7971865" y="781605"/>
            <a:ext cx="949325" cy="3191672"/>
            <a:chOff x="7941888" y="1062037"/>
            <a:chExt cx="983037" cy="2695575"/>
          </a:xfrm>
        </p:grpSpPr>
        <p:sp>
          <p:nvSpPr>
            <p:cNvPr id="9277" name="Google Shape;9277;p52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278" name="Google Shape;9278;p52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279" name="Google Shape;9279;p5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09" name="Shape 9309"/>
        <p:cNvGrpSpPr/>
        <p:nvPr/>
      </p:nvGrpSpPr>
      <p:grpSpPr>
        <a:xfrm>
          <a:off x="0" y="0"/>
          <a:ext cx="0" cy="0"/>
          <a:chOff x="0" y="0"/>
          <a:chExt cx="0" cy="0"/>
        </a:xfrm>
      </p:grpSpPr>
      <p:graphicFrame>
        <p:nvGraphicFramePr>
          <p:cNvPr id="9310" name="Google Shape;9310;p53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Fraud models incorporate all data, channels, interactions, associations, and customer/entity networks. Models updated dynamically. Risks are monitored real-time across the enterprise and models are updated within 24 hours of occurrence or less.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Fraud models incorporate some unstructured data. Models validated every 3-6 months. Model factory institutionalized. Models utilize internal and external data. Fully data-based statistical models. Fraud risks are monitored real time across business and functional groups.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Fraud behavioral models using regression, retrospective probability models. Models validated every 12 months. Operational processes using scoring for automation. Rule-based and limited statistical models. Some fraud data integration performed upon exception driven by investigation activity.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No or limited fraud behavioral models. Models updated on an ad-hoc basis. Judgmental decision making is the norm. Fraud analyses are standalone, little integration with other functional units.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Fraud risk analysis performed by exception. Analysis and investigations done after the fact incorporating data gathered manually.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311" name="Google Shape;9311;p530"/>
          <p:cNvGrpSpPr/>
          <p:nvPr/>
        </p:nvGrpSpPr>
        <p:grpSpPr>
          <a:xfrm>
            <a:off x="469900" y="3819680"/>
            <a:ext cx="8455025" cy="732866"/>
            <a:chOff x="211138" y="3972860"/>
            <a:chExt cx="8713787" cy="642437"/>
          </a:xfrm>
        </p:grpSpPr>
        <p:sp>
          <p:nvSpPr>
            <p:cNvPr id="9312" name="Google Shape;9312;p53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313" name="Google Shape;9313;p53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314" name="Google Shape;9314;p530"/>
          <p:cNvGrpSpPr/>
          <p:nvPr/>
        </p:nvGrpSpPr>
        <p:grpSpPr>
          <a:xfrm>
            <a:off x="7971865" y="980278"/>
            <a:ext cx="949325" cy="2867825"/>
            <a:chOff x="7941888" y="1062037"/>
            <a:chExt cx="983037" cy="2695575"/>
          </a:xfrm>
        </p:grpSpPr>
        <p:sp>
          <p:nvSpPr>
            <p:cNvPr id="9315" name="Google Shape;9315;p53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316" name="Google Shape;9316;p53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317" name="Google Shape;9317;p53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a:solidFill>
                <a:schemeClr val="accent6"/>
              </a:solidFill>
            </a:endParaRPr>
          </a:p>
        </p:txBody>
      </p:sp>
      <p:sp>
        <p:nvSpPr>
          <p:cNvPr id="9318" name="Google Shape;9318;p5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Employee fraud causes disproportionate damage in Pakistan's banking sector where branch operations remain heavily manual. SBP inspection reports consistently cite internal fraud as a top operational risk concern, with average internal fraud losses of PKR 500M-1B annually for large banks.</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Insider knowledge of control gaps, override procedures, and customer data makes internal fraud harder to detect and potentially larger in magnitude than external fraud. A single insider can cause losses exceeding PKR 100M before detection.</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Reputational damage from publicized employee fraud cases erodes customer trust and regulatory confidence. SBP requires banks to report all internal fraud cases and maintain zero-tolerance policies with consequences including blacklisting through Pakistan Banks Association (PBA).</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Internal fraud by bank employees — including unauthorized transactions, embezzlement, collusion with external fraudsters, document manipulation, and misuse of privileged system access — poses unique risks due to insiders' knowledge of controls and trusted access to systems and data.</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32" name="Shape 9332"/>
        <p:cNvGrpSpPr/>
        <p:nvPr/>
      </p:nvGrpSpPr>
      <p:grpSpPr>
        <a:xfrm>
          <a:off x="0" y="0"/>
          <a:ext cx="0" cy="0"/>
          <a:chOff x="0" y="0"/>
          <a:chExt cx="0" cy="0"/>
        </a:xfrm>
      </p:grpSpPr>
      <p:sp>
        <p:nvSpPr>
          <p:cNvPr id="9333" name="Google Shape;9333;p532"/>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br>
              <a:rPr lang="en-GB"/>
            </a:br>
            <a:r>
              <a:rPr lang="en-GB"/>
              <a:t>What are the challenges?</a:t>
            </a:r>
            <a:endParaRPr/>
          </a:p>
        </p:txBody>
      </p:sp>
      <p:grpSp>
        <p:nvGrpSpPr>
          <p:cNvPr id="9334" name="Google Shape;9334;p532"/>
          <p:cNvGrpSpPr/>
          <p:nvPr/>
        </p:nvGrpSpPr>
        <p:grpSpPr>
          <a:xfrm>
            <a:off x="438691" y="2524118"/>
            <a:ext cx="8306242" cy="700743"/>
            <a:chOff x="456759" y="2468314"/>
            <a:chExt cx="8306242" cy="700743"/>
          </a:xfrm>
        </p:grpSpPr>
        <p:sp>
          <p:nvSpPr>
            <p:cNvPr id="9335" name="Google Shape;9335;p532"/>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Employee fraud often involves collusion — between employees, or between employees and external parties (customers, vendors). Collusion is inherently harder to detect because transactions appear individually legitimate but are collectively fraudulent. Graph analytics needed to identify suspicious relationship patterns.</a:t>
              </a:r>
              <a:endParaRPr sz="1000">
                <a:solidFill>
                  <a:srgbClr val="3C3C3B"/>
                </a:solidFill>
                <a:latin typeface="Century Gothic"/>
                <a:ea typeface="Century Gothic"/>
                <a:cs typeface="Century Gothic"/>
                <a:sym typeface="Century Gothic"/>
              </a:endParaRPr>
            </a:p>
          </p:txBody>
        </p:sp>
        <p:sp>
          <p:nvSpPr>
            <p:cNvPr id="9336" name="Google Shape;9336;p532"/>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337" name="Google Shape;9337;p532"/>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Collusion Detection</a:t>
              </a:r>
              <a:endParaRPr b="1" sz="1200">
                <a:solidFill>
                  <a:srgbClr val="FFFFFF"/>
                </a:solidFill>
                <a:latin typeface="Century Gothic"/>
                <a:ea typeface="Century Gothic"/>
                <a:cs typeface="Century Gothic"/>
                <a:sym typeface="Century Gothic"/>
              </a:endParaRPr>
            </a:p>
          </p:txBody>
        </p:sp>
      </p:grpSp>
      <p:grpSp>
        <p:nvGrpSpPr>
          <p:cNvPr id="9338" name="Google Shape;9338;p532"/>
          <p:cNvGrpSpPr/>
          <p:nvPr/>
        </p:nvGrpSpPr>
        <p:grpSpPr>
          <a:xfrm>
            <a:off x="438690" y="1764058"/>
            <a:ext cx="8306240" cy="720600"/>
            <a:chOff x="456758" y="1764058"/>
            <a:chExt cx="8306240" cy="720600"/>
          </a:xfrm>
        </p:grpSpPr>
        <p:sp>
          <p:nvSpPr>
            <p:cNvPr id="9339" name="Google Shape;9339;p532"/>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Branch managers, operations officers, and IT administrators have legitimate access to sensitive systems and data. Traditional access controls cannot distinguish between legitimate and fraudulent use of authorized privileges. Behavioral analytics must establish baselines and detect deviations.</a:t>
              </a:r>
              <a:endParaRPr sz="1000">
                <a:solidFill>
                  <a:srgbClr val="3C3C3B"/>
                </a:solidFill>
                <a:latin typeface="Century Gothic"/>
                <a:ea typeface="Century Gothic"/>
                <a:cs typeface="Century Gothic"/>
                <a:sym typeface="Century Gothic"/>
              </a:endParaRPr>
            </a:p>
          </p:txBody>
        </p:sp>
        <p:sp>
          <p:nvSpPr>
            <p:cNvPr id="9340" name="Google Shape;9340;p532"/>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341" name="Google Shape;9341;p532"/>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Privileged Access Exploitation</a:t>
              </a:r>
              <a:endParaRPr b="1" sz="1200">
                <a:solidFill>
                  <a:srgbClr val="FFFFFF"/>
                </a:solidFill>
                <a:latin typeface="Century Gothic"/>
                <a:ea typeface="Century Gothic"/>
                <a:cs typeface="Century Gothic"/>
                <a:sym typeface="Century Gothic"/>
              </a:endParaRPr>
            </a:p>
          </p:txBody>
        </p:sp>
      </p:grpSp>
      <p:sp>
        <p:nvSpPr>
          <p:cNvPr id="9342" name="Google Shape;9342;p532"/>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9343" name="Google Shape;9343;p532"/>
          <p:cNvGrpSpPr/>
          <p:nvPr/>
        </p:nvGrpSpPr>
        <p:grpSpPr>
          <a:xfrm>
            <a:off x="438691" y="4004525"/>
            <a:ext cx="8306242" cy="700825"/>
            <a:chOff x="456759" y="4004525"/>
            <a:chExt cx="8306242" cy="700825"/>
          </a:xfrm>
        </p:grpSpPr>
        <p:sp>
          <p:nvSpPr>
            <p:cNvPr id="9344" name="Google Shape;9344;p532"/>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Pakistan's banking sector still relies on paper-based processes, manual vouchers, and physical document handling in many branches — creating opportunities for document fraud, unauthorized transactions, and cash pilferage that purely digital monitoring cannot detect.</a:t>
              </a:r>
              <a:endParaRPr sz="1000">
                <a:solidFill>
                  <a:schemeClr val="dk1"/>
                </a:solidFill>
                <a:latin typeface="Century Gothic"/>
                <a:ea typeface="Century Gothic"/>
                <a:cs typeface="Century Gothic"/>
                <a:sym typeface="Century Gothic"/>
              </a:endParaRPr>
            </a:p>
          </p:txBody>
        </p:sp>
        <p:sp>
          <p:nvSpPr>
            <p:cNvPr id="9345" name="Google Shape;9345;p532"/>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346" name="Google Shape;9346;p532"/>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Manual-Heavy Operations</a:t>
              </a:r>
              <a:endParaRPr b="1" sz="1200">
                <a:solidFill>
                  <a:srgbClr val="FFFFFF"/>
                </a:solidFill>
                <a:latin typeface="Century Gothic"/>
                <a:ea typeface="Century Gothic"/>
                <a:cs typeface="Century Gothic"/>
                <a:sym typeface="Century Gothic"/>
              </a:endParaRPr>
            </a:p>
          </p:txBody>
        </p:sp>
      </p:grpSp>
      <p:grpSp>
        <p:nvGrpSpPr>
          <p:cNvPr id="9347" name="Google Shape;9347;p532"/>
          <p:cNvGrpSpPr/>
          <p:nvPr/>
        </p:nvGrpSpPr>
        <p:grpSpPr>
          <a:xfrm>
            <a:off x="438691" y="3264321"/>
            <a:ext cx="8306242" cy="700743"/>
            <a:chOff x="456759" y="3170400"/>
            <a:chExt cx="8306242" cy="700743"/>
          </a:xfrm>
        </p:grpSpPr>
        <p:sp>
          <p:nvSpPr>
            <p:cNvPr id="9348" name="Google Shape;9348;p532"/>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Reporting suspected colleagues faces cultural resistance in Pakistan's relationship-oriented workplace. Whistleblower protections are limited. Senior management fraud is particularly difficult to detect due to override authority and organizational hierarchy.</a:t>
              </a:r>
              <a:endParaRPr sz="1000">
                <a:solidFill>
                  <a:schemeClr val="dk1"/>
                </a:solidFill>
                <a:latin typeface="Century Gothic"/>
                <a:ea typeface="Century Gothic"/>
                <a:cs typeface="Century Gothic"/>
                <a:sym typeface="Century Gothic"/>
              </a:endParaRPr>
            </a:p>
          </p:txBody>
        </p:sp>
        <p:sp>
          <p:nvSpPr>
            <p:cNvPr id="9349" name="Google Shape;9349;p532"/>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350" name="Google Shape;9350;p532"/>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Cultural and Organizational Barriers</a:t>
              </a:r>
              <a:endParaRPr b="1" sz="1200">
                <a:solidFill>
                  <a:srgbClr val="FFFFFF"/>
                </a:solidFill>
                <a:latin typeface="Century Gothic"/>
                <a:ea typeface="Century Gothic"/>
                <a:cs typeface="Century Gothic"/>
                <a:sym typeface="Century Gothic"/>
              </a:endParaRPr>
            </a:p>
          </p:txBody>
        </p:sp>
      </p:grpSp>
      <p:sp>
        <p:nvSpPr>
          <p:cNvPr id="9351" name="Google Shape;9351;p532"/>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Detecting fraudulent behavior by trusted insiders who understand and can circumvent established controls — requiring behavioral analytics that identify anomalous patterns without generating excessive false positives that undermine employee trust and morale.</a:t>
            </a:r>
            <a:endParaRPr sz="1200">
              <a:solidFill>
                <a:srgbClr val="FFFFFF"/>
              </a:solidFill>
              <a:latin typeface="Century Gothic"/>
              <a:ea typeface="Century Gothic"/>
              <a:cs typeface="Century Gothic"/>
              <a:sym typeface="Century Gothic"/>
            </a:endParaRPr>
          </a:p>
        </p:txBody>
      </p:sp>
      <p:sp>
        <p:nvSpPr>
          <p:cNvPr id="9352" name="Google Shape;9352;p5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74" name="Shape 9374"/>
        <p:cNvGrpSpPr/>
        <p:nvPr/>
      </p:nvGrpSpPr>
      <p:grpSpPr>
        <a:xfrm>
          <a:off x="0" y="0"/>
          <a:ext cx="0" cy="0"/>
          <a:chOff x="0" y="0"/>
          <a:chExt cx="0" cy="0"/>
        </a:xfrm>
      </p:grpSpPr>
      <p:graphicFrame>
        <p:nvGraphicFramePr>
          <p:cNvPr id="9375" name="Google Shape;9375;p534"/>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Near real-time streaming of sales performance metrics.  Compensation based upon combination of expected and actual  performance value of product/service.  Sales contribution includes view into employee activity with regard to data access to sensitive information.  Application of advanced analytics to benchmark each employee’s sales/productivity in order to identify anomalies (automated alerts) outside of predefined parameters.  Analysis includes assessment of patterns suggestive of potential fraudulent behavior  before it occurs. Feeds training programs to ensure corrective action.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Regular use of sensor data in frequent  batches.  Application and management of advanced analytic techniques to support pricing models and regularly track performance and utilization of collateral financing commitments.</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Expanded use of historical sensor data using historic of granular transaction data and sensor data to benchmark  expected performance metrics and periodically assess health of inflight financial commitments.</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Utilizing some historical sensor data (batch result sets) to help estimate potential asset (collateral) impairment in pricing models.  Integrating deep transactional and behavioural data, segmented by customer/industry type. Incorporate customer/ client valuation metrics for relationship management and development.</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Mix  of systematic and manual processes to report and analyze incentive payments at defined periods of time.  Incentive compensation based upon volume or price and not on net value of product/service  conversion.</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376" name="Google Shape;9376;p534"/>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a:p>
        </p:txBody>
      </p:sp>
      <p:grpSp>
        <p:nvGrpSpPr>
          <p:cNvPr id="9377" name="Google Shape;9377;p534"/>
          <p:cNvGrpSpPr/>
          <p:nvPr/>
        </p:nvGrpSpPr>
        <p:grpSpPr>
          <a:xfrm>
            <a:off x="457200" y="3820877"/>
            <a:ext cx="8455025" cy="990600"/>
            <a:chOff x="211138" y="3972860"/>
            <a:chExt cx="8713787" cy="642437"/>
          </a:xfrm>
        </p:grpSpPr>
        <p:sp>
          <p:nvSpPr>
            <p:cNvPr id="9378" name="Google Shape;9378;p53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379" name="Google Shape;9379;p53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380" name="Google Shape;9380;p534"/>
          <p:cNvGrpSpPr/>
          <p:nvPr/>
        </p:nvGrpSpPr>
        <p:grpSpPr>
          <a:xfrm>
            <a:off x="7971865" y="781605"/>
            <a:ext cx="949325" cy="3191672"/>
            <a:chOff x="7941888" y="1062037"/>
            <a:chExt cx="983037" cy="2695575"/>
          </a:xfrm>
        </p:grpSpPr>
        <p:sp>
          <p:nvSpPr>
            <p:cNvPr id="9381" name="Google Shape;9381;p53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382" name="Google Shape;9382;p53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383" name="Google Shape;9383;p5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7" name="Shape 9397"/>
        <p:cNvGrpSpPr/>
        <p:nvPr/>
      </p:nvGrpSpPr>
      <p:grpSpPr>
        <a:xfrm>
          <a:off x="0" y="0"/>
          <a:ext cx="0" cy="0"/>
          <a:chOff x="0" y="0"/>
          <a:chExt cx="0" cy="0"/>
        </a:xfrm>
      </p:grpSpPr>
      <p:graphicFrame>
        <p:nvGraphicFramePr>
          <p:cNvPr id="9398" name="Google Shape;9398;p536"/>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Operationalized advanced analytic functions  to troll for emerging anomalies suggestive of potential insider trading(e.g. Path and Graph functions).  Text analysis applied on all  internal and external communications (voice and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6366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Piloting advanced behavioural analytic use cases combining voice-to-text, electronic communications, executive behaviors . Ability to detect exceptional returns as statistical anomalies compared to baseline performance internally and across markets.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Electronic communications monitoring automation in place but remain ‘stove-piped’ and focused on specific business events. Surveillance  processes enabled through specialized third party  applications.</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Basic email scanning using keyword searches etc. Surveillance remains largely manually based and focused on specific events – earnings announcements, M&amp;A activity, IPO pricing etc.</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Insider trading policies clearly defined and communicated with regular training and self-certification</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Voice and electronic communications logs maintained and accessible.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“Chinese walls” and security/confidentiality policies and procedures meet or exceed regulatory requirements.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Surveillance processes manually based, limited to targeted events (earnings announcements,  M&amp;A activity etc.)</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399" name="Google Shape;9399;p536"/>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grpSp>
        <p:nvGrpSpPr>
          <p:cNvPr id="9400" name="Google Shape;9400;p536"/>
          <p:cNvGrpSpPr/>
          <p:nvPr/>
        </p:nvGrpSpPr>
        <p:grpSpPr>
          <a:xfrm>
            <a:off x="457200" y="3806024"/>
            <a:ext cx="8455025" cy="1005453"/>
            <a:chOff x="211138" y="3972860"/>
            <a:chExt cx="8713787" cy="642437"/>
          </a:xfrm>
        </p:grpSpPr>
        <p:sp>
          <p:nvSpPr>
            <p:cNvPr id="9401" name="Google Shape;9401;p53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02" name="Google Shape;9402;p53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403" name="Google Shape;9403;p536"/>
          <p:cNvGrpSpPr/>
          <p:nvPr/>
        </p:nvGrpSpPr>
        <p:grpSpPr>
          <a:xfrm>
            <a:off x="7971865" y="781605"/>
            <a:ext cx="949325" cy="3191672"/>
            <a:chOff x="7941888" y="1062037"/>
            <a:chExt cx="983037" cy="2695575"/>
          </a:xfrm>
        </p:grpSpPr>
        <p:sp>
          <p:nvSpPr>
            <p:cNvPr id="9404" name="Google Shape;9404;p53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05" name="Google Shape;9405;p53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406" name="Google Shape;9406;p5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6" name="Shape 9436"/>
        <p:cNvGrpSpPr/>
        <p:nvPr/>
      </p:nvGrpSpPr>
      <p:grpSpPr>
        <a:xfrm>
          <a:off x="0" y="0"/>
          <a:ext cx="0" cy="0"/>
          <a:chOff x="0" y="0"/>
          <a:chExt cx="0" cy="0"/>
        </a:xfrm>
      </p:grpSpPr>
      <p:graphicFrame>
        <p:nvGraphicFramePr>
          <p:cNvPr id="9437" name="Google Shape;9437;p53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Customer documents undergo a comprehensive advanced analytical review to score them for potential operational and/or fraudulent situations.  Documents not meeting established score thresholds are reviewed prior to acceptance.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Improvements in document review  drives increasing improvements in operational efficiency and lower losses due to fraud.  Scoring methods are refined/enhanced with advanced analytics to improve accuracy and reduce false negatives based on actual fraud / document issues. Random checking using real-time detection models along with manual checks done on historical basis aided by predictive models</a:t>
                      </a:r>
                      <a:r>
                        <a:rPr b="0" lang="en-GB" sz="900">
                          <a:solidFill>
                            <a:schemeClr val="accent3"/>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Text analytics and other  analytic techniques are used to score documents.  Scoring is based on internal and external data.  Score results drive operational activity and acceptance of the document.  Review s are augmented by basic predictive models,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Analytical techniques are developed to look at historical data with the customer or supplier as well as external information such as credit bureau and other externally purchased data.  Manual checking used by exception and recurring reviews are done on fraud incidents.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Document review checks for basic problems such as valid customer and supplier and current situation with the customer or supplier such as transaction normalcy. Checking is done manually and on an exceptional basis.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438" name="Google Shape;9438;p538"/>
          <p:cNvGrpSpPr/>
          <p:nvPr/>
        </p:nvGrpSpPr>
        <p:grpSpPr>
          <a:xfrm>
            <a:off x="469900" y="3902808"/>
            <a:ext cx="8455025" cy="732866"/>
            <a:chOff x="211138" y="3972860"/>
            <a:chExt cx="8713787" cy="642437"/>
          </a:xfrm>
        </p:grpSpPr>
        <p:sp>
          <p:nvSpPr>
            <p:cNvPr id="9439" name="Google Shape;9439;p53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40" name="Google Shape;9440;p53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441" name="Google Shape;9441;p538"/>
          <p:cNvGrpSpPr/>
          <p:nvPr/>
        </p:nvGrpSpPr>
        <p:grpSpPr>
          <a:xfrm>
            <a:off x="7971865" y="980278"/>
            <a:ext cx="949325" cy="2867825"/>
            <a:chOff x="7941888" y="1062037"/>
            <a:chExt cx="983037" cy="2695575"/>
          </a:xfrm>
        </p:grpSpPr>
        <p:sp>
          <p:nvSpPr>
            <p:cNvPr id="9442" name="Google Shape;9442;p53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43" name="Google Shape;9443;p53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444" name="Google Shape;9444;p538"/>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a:t>
            </a:r>
            <a:endParaRPr>
              <a:solidFill>
                <a:schemeClr val="accent6"/>
              </a:solidFill>
            </a:endParaRPr>
          </a:p>
        </p:txBody>
      </p:sp>
      <p:sp>
        <p:nvSpPr>
          <p:cNvPr id="9445" name="Google Shape;9445;p5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8" name="Shape 9468"/>
        <p:cNvGrpSpPr/>
        <p:nvPr/>
      </p:nvGrpSpPr>
      <p:grpSpPr>
        <a:xfrm>
          <a:off x="0" y="0"/>
          <a:ext cx="0" cy="0"/>
          <a:chOff x="0" y="0"/>
          <a:chExt cx="0" cy="0"/>
        </a:xfrm>
      </p:grpSpPr>
      <p:graphicFrame>
        <p:nvGraphicFramePr>
          <p:cNvPr id="9469" name="Google Shape;9469;p54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Insider threat program fully integrated into the enterprise risk management strategy. Increased focus on proactively defending and responding to insider threats. Big data infrastructure that provides access to and integrates all required data sources across the organization.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Key performance indicators in place to assess program effectiveness. An iterative approach that</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provides continuous improvement. Leverages data analytics technologies, such as behavioral analytics, to identify  hidden relationships and motives.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Defined insider threat detection strategy. Activity inside the network is monitored. Incident response plans that incorporate insider threat event handling.</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Critical infrastructure, such as servers and databases, protected with activity logging and active monitoring. Limited forensic or investigatory analytics. Leverages existing security processes or functions to prevent insider threat, with no formal insider threat program.</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active monitoring of insider activity. Defences limited to static end point protections such as anti viral software. Largely reactive activities with minimal to no formal prevention strategy.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470" name="Google Shape;9470;p540"/>
          <p:cNvGrpSpPr/>
          <p:nvPr/>
        </p:nvGrpSpPr>
        <p:grpSpPr>
          <a:xfrm>
            <a:off x="469900" y="3819680"/>
            <a:ext cx="8455025" cy="732866"/>
            <a:chOff x="211138" y="3972860"/>
            <a:chExt cx="8713787" cy="642437"/>
          </a:xfrm>
        </p:grpSpPr>
        <p:sp>
          <p:nvSpPr>
            <p:cNvPr id="9471" name="Google Shape;9471;p54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72" name="Google Shape;9472;p54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473" name="Google Shape;9473;p540"/>
          <p:cNvGrpSpPr/>
          <p:nvPr/>
        </p:nvGrpSpPr>
        <p:grpSpPr>
          <a:xfrm>
            <a:off x="7971865" y="980278"/>
            <a:ext cx="949325" cy="2867825"/>
            <a:chOff x="7941888" y="1062037"/>
            <a:chExt cx="983037" cy="2695575"/>
          </a:xfrm>
        </p:grpSpPr>
        <p:sp>
          <p:nvSpPr>
            <p:cNvPr id="9474" name="Google Shape;9474;p54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75" name="Google Shape;9475;p54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476" name="Google Shape;9476;p54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a:solidFill>
                <a:schemeClr val="accent6"/>
              </a:solidFill>
            </a:endParaRPr>
          </a:p>
        </p:txBody>
      </p:sp>
      <p:sp>
        <p:nvSpPr>
          <p:cNvPr id="9477" name="Google Shape;9477;p5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Internal Theft, Shrinkage, Embezzlement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Detect and prevent internal theft, cash shortages, and embezzlement across the branch network — covering cash vault discrepancies, unauthorized inter-branch transfers, fictitious account transactions, dormant account exploitation, and misappropriation of customer funds.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Enable continuous monitoring rather than periodic audit-based detection.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Support SBP requirement for operational loss event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Branch-level cash vault data (opening/closing balances, cash movement). Teller transaction logs with biometric authentication. Inter-branch transfer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Dormant/unclaimed account activity. GL posting data and reconciliation exceptions. Employee access logs (system logins, after-hours access).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Expense claims and procurement data. Customer complaint data (missing deposits, unauthorized debits). Physical security data (vault access logs, CCTV).</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Statistical anomaly detection on cash position trends by branch. Benford's Law analysis on transaction amounts. Pattern detection on GL posting exceptions and reconciliation breaks.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Employee behavioral profiling (transaction volumes, timing, overrides vs. peer baseline). Network analysis linking employee transactions to related-party accounts. Dormant account activation monitoring with employee correlation.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Automated daily monitoring of all branch cash positions with anomaly alerting. Employee behavioral risk scores updated monthly identifying highest-risk individuals for enhanced monitoring. Dormant account activation alerts with mandatory independent verification.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GL reconciliation exception dashboard with aging and risk categorization. Internal fraud case management integrated with HR disciplinary and legal processes.</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99" name="Shape 9499"/>
        <p:cNvGrpSpPr/>
        <p:nvPr/>
      </p:nvGrpSpPr>
      <p:grpSpPr>
        <a:xfrm>
          <a:off x="0" y="0"/>
          <a:ext cx="0" cy="0"/>
          <a:chOff x="0" y="0"/>
          <a:chExt cx="0" cy="0"/>
        </a:xfrm>
      </p:grpSpPr>
      <p:graphicFrame>
        <p:nvGraphicFramePr>
          <p:cNvPr id="9500" name="Google Shape;9500;p542"/>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AI-driven continuous monitoring of all employee activities with behavioral risk scoring. Automated correlation of cash movements, transactions, and access patterns. Real-time alerts for anomalous behavior with investigation workflow triggers. Predictive models identify high-risk employees before losses occur.</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Automated daily monitoring of cash positions, GL exceptions, and employee transaction patterns. Statistical anomaly detection operational across branch network. Dormant account monitoring automated. Quarterly behavioral risk scoring of all employees in sensitive positions.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Periodic automated checks on cash positions and reconciliation exceptions. Branch audit analytics supplementing physical audits. Employee access reviews conducted semi-annually. Dormant account monitoring manual but systematic. Internal fraud reporting structure in place.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Detection relies primarily on periodic branch audits and customer complaints. Limited automated monitoring. Cash shortage investigations are reactive. Employee screening limited to hiring stage with no ongoing monitoring. Internal fraud reporting informal.</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systematic internal theft monitoring. Detection depends entirely on annual branch audits, customer complaints, or whistleblower reports. Cash shortages investigated ad-hoc. No employee behavioral analytics. Internal fraud treated as isolated incidents rather than systemic risk.</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501" name="Google Shape;9501;p542"/>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Internal Theft, Shrinkage, Embezzlement</a:t>
            </a:r>
            <a:endParaRPr b="1"/>
          </a:p>
        </p:txBody>
      </p:sp>
      <p:grpSp>
        <p:nvGrpSpPr>
          <p:cNvPr id="9502" name="Google Shape;9502;p542"/>
          <p:cNvGrpSpPr/>
          <p:nvPr/>
        </p:nvGrpSpPr>
        <p:grpSpPr>
          <a:xfrm>
            <a:off x="457200" y="4078841"/>
            <a:ext cx="8455025" cy="660717"/>
            <a:chOff x="211138" y="3972860"/>
            <a:chExt cx="8713787" cy="642437"/>
          </a:xfrm>
        </p:grpSpPr>
        <p:sp>
          <p:nvSpPr>
            <p:cNvPr id="9503" name="Google Shape;9503;p54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504" name="Google Shape;9504;p54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505" name="Google Shape;9505;p542"/>
          <p:cNvGrpSpPr/>
          <p:nvPr/>
        </p:nvGrpSpPr>
        <p:grpSpPr>
          <a:xfrm>
            <a:off x="7971865" y="781605"/>
            <a:ext cx="949325" cy="3191672"/>
            <a:chOff x="7941888" y="1062037"/>
            <a:chExt cx="983037" cy="2695575"/>
          </a:xfrm>
        </p:grpSpPr>
        <p:sp>
          <p:nvSpPr>
            <p:cNvPr id="9506" name="Google Shape;9506;p54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507" name="Google Shape;9507;p54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508" name="Google Shape;9508;p5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Customer fraud losses in Pakistan's banking sector exceed PKR 5B+ annually and are growing rapidly with digital channel adoption. Card fraud, SIM-swap attacks, social engineering, and authorized push payment fraud are the fastest-growing categories.</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Digital payment channels (RAAST, IBFT, mobile wallets) process PKR 15T+ annually with real-time settlement — fraudulent transactions are irrecoverable within seconds, unlike traditional branch transactions where reversal windows exist.</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FATF compliance requirements mandate robust customer fraud detection as part of the broader financial crime prevention framework. Banks failing to demonstrate adequate fraud detection capabilities face regulatory sanctions and potential correspondent banking relationship impacts.</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External fraud perpetrated by customers or third parties targeting the bank's products, services, and customers — including application fraud (false identity/income), transaction fraud (unauthorized card/digital payments), identity theft, account takeover, and organized fraud rings.</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21" name="Shape 9521"/>
        <p:cNvGrpSpPr/>
        <p:nvPr/>
      </p:nvGrpSpPr>
      <p:grpSpPr>
        <a:xfrm>
          <a:off x="0" y="0"/>
          <a:ext cx="0" cy="0"/>
          <a:chOff x="0" y="0"/>
          <a:chExt cx="0" cy="0"/>
        </a:xfrm>
      </p:grpSpPr>
      <p:pic>
        <p:nvPicPr>
          <p:cNvPr id="9522" name="Google Shape;9522;p544"/>
          <p:cNvPicPr preferRelativeResize="0"/>
          <p:nvPr/>
        </p:nvPicPr>
        <p:blipFill rotWithShape="1">
          <a:blip r:embed="rId3">
            <a:alphaModFix/>
          </a:blip>
          <a:srcRect b="0" l="0" r="0" t="0"/>
          <a:stretch/>
        </p:blipFill>
        <p:spPr>
          <a:xfrm>
            <a:off x="5327511" y="0"/>
            <a:ext cx="3816489" cy="5143500"/>
          </a:xfrm>
          <a:prstGeom prst="rect">
            <a:avLst/>
          </a:prstGeom>
          <a:noFill/>
          <a:ln>
            <a:noFill/>
          </a:ln>
        </p:spPr>
      </p:pic>
      <p:sp>
        <p:nvSpPr>
          <p:cNvPr id="9523" name="Google Shape;9523;p544"/>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Companies must determine the causes and fail points where customer theft  occurs in order to deter and prevent it</a:t>
            </a:r>
            <a:endParaRPr/>
          </a:p>
          <a:p>
            <a:pPr indent="-169863" lvl="0" marL="169863" rtl="0" algn="just">
              <a:lnSpc>
                <a:spcPct val="95000"/>
              </a:lnSpc>
              <a:spcBef>
                <a:spcPts val="600"/>
              </a:spcBef>
              <a:spcAft>
                <a:spcPts val="0"/>
              </a:spcAft>
              <a:buClr>
                <a:schemeClr val="dk1"/>
              </a:buClr>
              <a:buSzPts val="1400"/>
              <a:buChar char="•"/>
            </a:pPr>
            <a:r>
              <a:rPr lang="en-GB" sz="1400"/>
              <a:t>Failure to put policies in place to control external theft erodes profit margins</a:t>
            </a:r>
            <a:endParaRPr/>
          </a:p>
          <a:p>
            <a:pPr indent="-169863" lvl="0" marL="169863" rtl="0" algn="just">
              <a:lnSpc>
                <a:spcPct val="95000"/>
              </a:lnSpc>
              <a:spcBef>
                <a:spcPts val="600"/>
              </a:spcBef>
              <a:spcAft>
                <a:spcPts val="0"/>
              </a:spcAft>
              <a:buClr>
                <a:schemeClr val="dk1"/>
              </a:buClr>
              <a:buSzPts val="1400"/>
              <a:buChar char="•"/>
            </a:pPr>
            <a:r>
              <a:rPr lang="en-GB" sz="1400"/>
              <a:t>Early identification of offenders will result in suspending transactions and lose avoidance</a:t>
            </a:r>
            <a:endParaRPr/>
          </a:p>
          <a:p>
            <a:pPr indent="-169863" lvl="0" marL="169863" rtl="0" algn="just">
              <a:lnSpc>
                <a:spcPct val="95000"/>
              </a:lnSpc>
              <a:spcBef>
                <a:spcPts val="600"/>
              </a:spcBef>
              <a:spcAft>
                <a:spcPts val="0"/>
              </a:spcAft>
              <a:buClr>
                <a:schemeClr val="dk1"/>
              </a:buClr>
              <a:buSzPts val="1400"/>
              <a:buChar char="•"/>
            </a:pPr>
            <a:r>
              <a:rPr lang="en-GB" sz="1400"/>
              <a:t>Insights garnered from analysis should be use to train personnel to reduce the number of incidents</a:t>
            </a:r>
            <a:endParaRPr/>
          </a:p>
          <a:p>
            <a:pPr indent="-169863" lvl="0" marL="169863" rtl="0" algn="just">
              <a:lnSpc>
                <a:spcPct val="95000"/>
              </a:lnSpc>
              <a:spcBef>
                <a:spcPts val="600"/>
              </a:spcBef>
              <a:spcAft>
                <a:spcPts val="0"/>
              </a:spcAft>
              <a:buClr>
                <a:schemeClr val="dk1"/>
              </a:buClr>
              <a:buSzPts val="1400"/>
              <a:buChar char="•"/>
            </a:pPr>
            <a:r>
              <a:rPr lang="en-GB" sz="1400"/>
              <a:t>Reduced loss and theft will result in more available product to sell and increased revenues</a:t>
            </a:r>
            <a:endParaRPr/>
          </a:p>
        </p:txBody>
      </p:sp>
      <p:sp>
        <p:nvSpPr>
          <p:cNvPr id="9524" name="Google Shape;9524;p544"/>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br>
              <a:rPr lang="en-GB"/>
            </a:br>
            <a:endParaRPr/>
          </a:p>
        </p:txBody>
      </p:sp>
      <p:sp>
        <p:nvSpPr>
          <p:cNvPr id="9525" name="Google Shape;9525;p544"/>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There are many facets and faces of customer fraud. It is imperative that companies perform analytics to proactively recognize behavior indicative of  consumer theft to  reduce shrinkage, improve profitability and protect assets</a:t>
            </a:r>
            <a:endParaRPr/>
          </a:p>
        </p:txBody>
      </p:sp>
      <p:sp>
        <p:nvSpPr>
          <p:cNvPr id="9526" name="Google Shape;9526;p5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0" name="Shape 9530"/>
        <p:cNvGrpSpPr/>
        <p:nvPr/>
      </p:nvGrpSpPr>
      <p:grpSpPr>
        <a:xfrm>
          <a:off x="0" y="0"/>
          <a:ext cx="0" cy="0"/>
          <a:chOff x="0" y="0"/>
          <a:chExt cx="0" cy="0"/>
        </a:xfrm>
      </p:grpSpPr>
      <p:sp>
        <p:nvSpPr>
          <p:cNvPr id="9531" name="Google Shape;9531;p545"/>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32" name="Google Shape;9532;p545"/>
          <p:cNvSpPr txBox="1"/>
          <p:nvPr>
            <p:ph idx="1" type="body"/>
          </p:nvPr>
        </p:nvSpPr>
        <p:spPr>
          <a:xfrm>
            <a:off x="270933" y="604172"/>
            <a:ext cx="5452534"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100"/>
              <a:buChar char="•"/>
            </a:pPr>
            <a:r>
              <a:rPr lang="en-GB" sz="1100"/>
              <a:t>Provide Loss Prevention and front line teams with tools to spot return fraud, application fraud,  credit card fraud and vendor fraud in  in real time</a:t>
            </a:r>
            <a:endParaRPr/>
          </a:p>
          <a:p>
            <a:pPr indent="-169863" lvl="0" marL="169863" rtl="0" algn="just">
              <a:lnSpc>
                <a:spcPct val="95000"/>
              </a:lnSpc>
              <a:spcBef>
                <a:spcPts val="600"/>
              </a:spcBef>
              <a:spcAft>
                <a:spcPts val="0"/>
              </a:spcAft>
              <a:buClr>
                <a:schemeClr val="dk1"/>
              </a:buClr>
              <a:buSzPts val="1100"/>
              <a:buChar char="•"/>
            </a:pPr>
            <a:r>
              <a:rPr lang="en-GB" sz="1100"/>
              <a:t>Curtail identify fraud by leveraging credit reference data and performing cross matches to similar information on the database</a:t>
            </a:r>
            <a:endParaRPr/>
          </a:p>
          <a:p>
            <a:pPr indent="-169863" lvl="0" marL="169863" rtl="0" algn="just">
              <a:lnSpc>
                <a:spcPct val="95000"/>
              </a:lnSpc>
              <a:spcBef>
                <a:spcPts val="600"/>
              </a:spcBef>
              <a:spcAft>
                <a:spcPts val="0"/>
              </a:spcAft>
              <a:buClr>
                <a:schemeClr val="dk1"/>
              </a:buClr>
              <a:buSzPts val="1100"/>
              <a:buChar char="•"/>
            </a:pPr>
            <a:r>
              <a:rPr lang="en-GB" sz="1100"/>
              <a:t>Build profiles of fraudulent customer behavior  with transaction, account, inventory, and product data to determine patterns and intervene before the theft occurs</a:t>
            </a:r>
            <a:endParaRPr/>
          </a:p>
          <a:p>
            <a:pPr indent="-169863" lvl="0" marL="169863" rtl="0" algn="just">
              <a:lnSpc>
                <a:spcPct val="95000"/>
              </a:lnSpc>
              <a:spcBef>
                <a:spcPts val="600"/>
              </a:spcBef>
              <a:spcAft>
                <a:spcPts val="0"/>
              </a:spcAft>
              <a:buClr>
                <a:schemeClr val="dk1"/>
              </a:buClr>
              <a:buSzPts val="1100"/>
              <a:buChar char="•"/>
            </a:pPr>
            <a:r>
              <a:rPr lang="en-GB" sz="1100"/>
              <a:t>Leverage provider profiles, claim history, 3</a:t>
            </a:r>
            <a:r>
              <a:rPr baseline="30000" lang="en-GB" sz="1100"/>
              <a:t>rd</a:t>
            </a:r>
            <a:r>
              <a:rPr lang="en-GB" sz="1100"/>
              <a:t> party data  and text analytics to inhibit healthcare and insurance claim fraud. Use insights to revise business rules and policies</a:t>
            </a:r>
            <a:endParaRPr/>
          </a:p>
          <a:p>
            <a:pPr indent="-169863" lvl="0" marL="169863" rtl="0" algn="just">
              <a:lnSpc>
                <a:spcPct val="95000"/>
              </a:lnSpc>
              <a:spcBef>
                <a:spcPts val="600"/>
              </a:spcBef>
              <a:spcAft>
                <a:spcPts val="0"/>
              </a:spcAft>
              <a:buClr>
                <a:schemeClr val="dk1"/>
              </a:buClr>
              <a:buSzPts val="1100"/>
              <a:buChar char="•"/>
            </a:pPr>
            <a:r>
              <a:rPr lang="en-GB" sz="1100"/>
              <a:t>Quickly identify fraudulent returns due to receipt recycling and duplication, return of stolen goods, and price switching through validation of original purchase, purchase location, and inventory status</a:t>
            </a:r>
            <a:endParaRPr/>
          </a:p>
          <a:p>
            <a:pPr indent="-169863" lvl="0" marL="169863" rtl="0" algn="just">
              <a:lnSpc>
                <a:spcPct val="95000"/>
              </a:lnSpc>
              <a:spcBef>
                <a:spcPts val="600"/>
              </a:spcBef>
              <a:spcAft>
                <a:spcPts val="0"/>
              </a:spcAft>
              <a:buClr>
                <a:schemeClr val="dk1"/>
              </a:buClr>
              <a:buSzPts val="1100"/>
              <a:buChar char="•"/>
            </a:pPr>
            <a:r>
              <a:rPr lang="en-GB" sz="1100"/>
              <a:t>Reduce coupon and discount fraud through analysis of customer journey pathing, and text analytics to identify alterations and adjustments to pricing and  vouchers.  Segment segment customers as preferred or non-preferred based on path.  Add new data sources to enrich analytics as they become available e.g. digital and social and update usage in near real time to avoid duplicate usage</a:t>
            </a:r>
            <a:endParaRPr sz="1100"/>
          </a:p>
          <a:p>
            <a:pPr indent="-100013" lvl="0" marL="169863" rtl="0" algn="just">
              <a:lnSpc>
                <a:spcPct val="95000"/>
              </a:lnSpc>
              <a:spcBef>
                <a:spcPts val="600"/>
              </a:spcBef>
              <a:spcAft>
                <a:spcPts val="0"/>
              </a:spcAft>
              <a:buClr>
                <a:schemeClr val="dk1"/>
              </a:buClr>
              <a:buSzPts val="1100"/>
              <a:buNone/>
            </a:pPr>
            <a:r>
              <a:t/>
            </a:r>
            <a:endParaRPr sz="1100"/>
          </a:p>
        </p:txBody>
      </p:sp>
      <p:sp>
        <p:nvSpPr>
          <p:cNvPr id="9533" name="Google Shape;9533;p54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br>
              <a:rPr lang="en-GB"/>
            </a:br>
            <a:endParaRPr/>
          </a:p>
        </p:txBody>
      </p:sp>
      <p:pic>
        <p:nvPicPr>
          <p:cNvPr id="9534" name="Google Shape;9534;p545"/>
          <p:cNvPicPr preferRelativeResize="0"/>
          <p:nvPr/>
        </p:nvPicPr>
        <p:blipFill rotWithShape="1">
          <a:blip r:embed="rId3">
            <a:alphaModFix/>
          </a:blip>
          <a:srcRect b="0" l="0" r="0" t="0"/>
          <a:stretch/>
        </p:blipFill>
        <p:spPr>
          <a:xfrm>
            <a:off x="5813778" y="967317"/>
            <a:ext cx="3330222" cy="2396066"/>
          </a:xfrm>
          <a:prstGeom prst="rect">
            <a:avLst/>
          </a:prstGeom>
          <a:noFill/>
          <a:ln>
            <a:noFill/>
          </a:ln>
        </p:spPr>
      </p:pic>
      <p:sp>
        <p:nvSpPr>
          <p:cNvPr id="9535" name="Google Shape;9535;p54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40" name="Shape 9540"/>
        <p:cNvGrpSpPr/>
        <p:nvPr/>
      </p:nvGrpSpPr>
      <p:grpSpPr>
        <a:xfrm>
          <a:off x="0" y="0"/>
          <a:ext cx="0" cy="0"/>
          <a:chOff x="0" y="0"/>
          <a:chExt cx="0" cy="0"/>
        </a:xfrm>
      </p:grpSpPr>
      <p:sp>
        <p:nvSpPr>
          <p:cNvPr id="9541" name="Google Shape;9541;p546"/>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br>
              <a:rPr lang="en-GB"/>
            </a:br>
            <a:r>
              <a:rPr lang="en-GB"/>
              <a:t>What are the challenges?</a:t>
            </a:r>
            <a:endParaRPr/>
          </a:p>
        </p:txBody>
      </p:sp>
      <p:grpSp>
        <p:nvGrpSpPr>
          <p:cNvPr id="9542" name="Google Shape;9542;p546"/>
          <p:cNvGrpSpPr/>
          <p:nvPr/>
        </p:nvGrpSpPr>
        <p:grpSpPr>
          <a:xfrm>
            <a:off x="438691" y="2524118"/>
            <a:ext cx="8306242" cy="700743"/>
            <a:chOff x="456759" y="2468314"/>
            <a:chExt cx="8306242" cy="700743"/>
          </a:xfrm>
        </p:grpSpPr>
        <p:sp>
          <p:nvSpPr>
            <p:cNvPr id="9543" name="Google Shape;9543;p546"/>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Fraud techniques evolve continuously: SIM-swap fraud bypasses SMS OTP, deepfake voice/video defeats biometric verification, social engineering targets bank employees and customers simultaneously, and authorized push payment fraud exploits customer trust rather than system vulnerabilities.</a:t>
              </a:r>
              <a:endParaRPr sz="1000">
                <a:solidFill>
                  <a:srgbClr val="3C3C3B"/>
                </a:solidFill>
                <a:latin typeface="Century Gothic"/>
                <a:ea typeface="Century Gothic"/>
                <a:cs typeface="Century Gothic"/>
                <a:sym typeface="Century Gothic"/>
              </a:endParaRPr>
            </a:p>
          </p:txBody>
        </p:sp>
        <p:sp>
          <p:nvSpPr>
            <p:cNvPr id="9544" name="Google Shape;9544;p546"/>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545" name="Google Shape;9545;p546"/>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Evolving Attack Vectors</a:t>
              </a:r>
              <a:endParaRPr b="1" sz="1200">
                <a:solidFill>
                  <a:srgbClr val="FFFFFF"/>
                </a:solidFill>
                <a:latin typeface="Century Gothic"/>
                <a:ea typeface="Century Gothic"/>
                <a:cs typeface="Century Gothic"/>
                <a:sym typeface="Century Gothic"/>
              </a:endParaRPr>
            </a:p>
          </p:txBody>
        </p:sp>
      </p:grpSp>
      <p:grpSp>
        <p:nvGrpSpPr>
          <p:cNvPr id="9546" name="Google Shape;9546;p546"/>
          <p:cNvGrpSpPr/>
          <p:nvPr/>
        </p:nvGrpSpPr>
        <p:grpSpPr>
          <a:xfrm>
            <a:off x="438690" y="1764058"/>
            <a:ext cx="8306240" cy="720600"/>
            <a:chOff x="456758" y="1764058"/>
            <a:chExt cx="8306240" cy="720600"/>
          </a:xfrm>
        </p:grpSpPr>
        <p:sp>
          <p:nvSpPr>
            <p:cNvPr id="9547" name="Google Shape;9547;p546"/>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Real-time payment systems (RAAST, IBFT) complete settlement in seconds — fraud detection must operate within this window without adding customer-perceptible latency. Each millisecond of additional processing risks customer abandonment in competitive digital payments market.</a:t>
              </a:r>
              <a:endParaRPr sz="1000">
                <a:solidFill>
                  <a:srgbClr val="3C3C3B"/>
                </a:solidFill>
                <a:latin typeface="Century Gothic"/>
                <a:ea typeface="Century Gothic"/>
                <a:cs typeface="Century Gothic"/>
                <a:sym typeface="Century Gothic"/>
              </a:endParaRPr>
            </a:p>
          </p:txBody>
        </p:sp>
        <p:sp>
          <p:nvSpPr>
            <p:cNvPr id="9548" name="Google Shape;9548;p546"/>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549" name="Google Shape;9549;p546"/>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Speed vs. Security Trade-off</a:t>
              </a:r>
              <a:endParaRPr b="1" sz="1200">
                <a:solidFill>
                  <a:srgbClr val="FFFFFF"/>
                </a:solidFill>
                <a:latin typeface="Century Gothic"/>
                <a:ea typeface="Century Gothic"/>
                <a:cs typeface="Century Gothic"/>
                <a:sym typeface="Century Gothic"/>
              </a:endParaRPr>
            </a:p>
          </p:txBody>
        </p:sp>
      </p:grpSp>
      <p:sp>
        <p:nvSpPr>
          <p:cNvPr id="9550" name="Google Shape;9550;p546"/>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9551" name="Google Shape;9551;p546"/>
          <p:cNvGrpSpPr/>
          <p:nvPr/>
        </p:nvGrpSpPr>
        <p:grpSpPr>
          <a:xfrm>
            <a:off x="438691" y="4004525"/>
            <a:ext cx="8306242" cy="700825"/>
            <a:chOff x="456759" y="4004525"/>
            <a:chExt cx="8306242" cy="700825"/>
          </a:xfrm>
        </p:grpSpPr>
        <p:sp>
          <p:nvSpPr>
            <p:cNvPr id="9552" name="Google Shape;9552;p546"/>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Customers interact through 8+ channels (branch, ATM, POS, internet banking, mobile app, RAAST, IBFT, call center) — fraud prevention must monitor all channels coherently while fraudsters exploit the weakest link.</a:t>
              </a:r>
              <a:endParaRPr sz="1000">
                <a:solidFill>
                  <a:schemeClr val="dk1"/>
                </a:solidFill>
                <a:latin typeface="Century Gothic"/>
                <a:ea typeface="Century Gothic"/>
                <a:cs typeface="Century Gothic"/>
                <a:sym typeface="Century Gothic"/>
              </a:endParaRPr>
            </a:p>
          </p:txBody>
        </p:sp>
        <p:sp>
          <p:nvSpPr>
            <p:cNvPr id="9553" name="Google Shape;9553;p546"/>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554" name="Google Shape;9554;p546"/>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Cross-Channel Complexity</a:t>
              </a:r>
              <a:endParaRPr b="1" sz="1200">
                <a:solidFill>
                  <a:srgbClr val="FFFFFF"/>
                </a:solidFill>
                <a:latin typeface="Century Gothic"/>
                <a:ea typeface="Century Gothic"/>
                <a:cs typeface="Century Gothic"/>
                <a:sym typeface="Century Gothic"/>
              </a:endParaRPr>
            </a:p>
          </p:txBody>
        </p:sp>
      </p:grpSp>
      <p:grpSp>
        <p:nvGrpSpPr>
          <p:cNvPr id="9555" name="Google Shape;9555;p546"/>
          <p:cNvGrpSpPr/>
          <p:nvPr/>
        </p:nvGrpSpPr>
        <p:grpSpPr>
          <a:xfrm>
            <a:off x="438691" y="3264321"/>
            <a:ext cx="8306242" cy="700743"/>
            <a:chOff x="456759" y="3170400"/>
            <a:chExt cx="8306242" cy="700743"/>
          </a:xfrm>
        </p:grpSpPr>
        <p:sp>
          <p:nvSpPr>
            <p:cNvPr id="9556" name="Google Shape;9556;p546"/>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Despite CNIC-based KYC, Pakistan's identity infrastructure has gaps: deceased CNIC exploitation, NADRA database errors, synthetic identity construction using partial real data, and weak beneficial ownership verification for business accounts.</a:t>
              </a:r>
              <a:endParaRPr sz="1000">
                <a:solidFill>
                  <a:schemeClr val="dk1"/>
                </a:solidFill>
                <a:latin typeface="Century Gothic"/>
                <a:ea typeface="Century Gothic"/>
                <a:cs typeface="Century Gothic"/>
                <a:sym typeface="Century Gothic"/>
              </a:endParaRPr>
            </a:p>
          </p:txBody>
        </p:sp>
        <p:sp>
          <p:nvSpPr>
            <p:cNvPr id="9557" name="Google Shape;9557;p546"/>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558" name="Google Shape;9558;p546"/>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Identity Verification Gaps</a:t>
              </a:r>
              <a:endParaRPr b="1" sz="1200">
                <a:solidFill>
                  <a:srgbClr val="FFFFFF"/>
                </a:solidFill>
                <a:latin typeface="Century Gothic"/>
                <a:ea typeface="Century Gothic"/>
                <a:cs typeface="Century Gothic"/>
                <a:sym typeface="Century Gothic"/>
              </a:endParaRPr>
            </a:p>
          </p:txBody>
        </p:sp>
      </p:grpSp>
      <p:sp>
        <p:nvSpPr>
          <p:cNvPr id="9559" name="Google Shape;9559;p546"/>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Detecting fraudulent customer activity across rapidly multiplying digital channels while maintaining frictionless customer experience — balancing security with usability in a market where 100M+ mobile wallet users expect instant transactions.</a:t>
            </a:r>
            <a:endParaRPr sz="1200">
              <a:solidFill>
                <a:srgbClr val="FFFFFF"/>
              </a:solidFill>
              <a:latin typeface="Century Gothic"/>
              <a:ea typeface="Century Gothic"/>
              <a:cs typeface="Century Gothic"/>
              <a:sym typeface="Century Gothic"/>
            </a:endParaRPr>
          </a:p>
        </p:txBody>
      </p:sp>
      <p:sp>
        <p:nvSpPr>
          <p:cNvPr id="9560" name="Google Shape;9560;p5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3" name="Shape 9583"/>
        <p:cNvGrpSpPr/>
        <p:nvPr/>
      </p:nvGrpSpPr>
      <p:grpSpPr>
        <a:xfrm>
          <a:off x="0" y="0"/>
          <a:ext cx="0" cy="0"/>
          <a:chOff x="0" y="0"/>
          <a:chExt cx="0" cy="0"/>
        </a:xfrm>
      </p:grpSpPr>
      <p:graphicFrame>
        <p:nvGraphicFramePr>
          <p:cNvPr id="9584" name="Google Shape;9584;p54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585" name="Google Shape;9585;p548"/>
          <p:cNvGrpSpPr/>
          <p:nvPr/>
        </p:nvGrpSpPr>
        <p:grpSpPr>
          <a:xfrm>
            <a:off x="469900" y="3819680"/>
            <a:ext cx="8455025" cy="732866"/>
            <a:chOff x="211138" y="3972860"/>
            <a:chExt cx="8713787" cy="642437"/>
          </a:xfrm>
        </p:grpSpPr>
        <p:sp>
          <p:nvSpPr>
            <p:cNvPr id="9586" name="Google Shape;9586;p54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587" name="Google Shape;9587;p54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588" name="Google Shape;9588;p548"/>
          <p:cNvGrpSpPr/>
          <p:nvPr/>
        </p:nvGrpSpPr>
        <p:grpSpPr>
          <a:xfrm>
            <a:off x="7971865" y="980278"/>
            <a:ext cx="949325" cy="2867825"/>
            <a:chOff x="7941888" y="1062037"/>
            <a:chExt cx="983037" cy="2695575"/>
          </a:xfrm>
        </p:grpSpPr>
        <p:sp>
          <p:nvSpPr>
            <p:cNvPr id="9589" name="Google Shape;9589;p54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590" name="Google Shape;9590;p54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591" name="Google Shape;9591;p548"/>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a:solidFill>
                <a:schemeClr val="accent6"/>
              </a:solidFill>
            </a:endParaRPr>
          </a:p>
        </p:txBody>
      </p:sp>
      <p:sp>
        <p:nvSpPr>
          <p:cNvPr id="9592" name="Google Shape;9592;p5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15" name="Shape 9615"/>
        <p:cNvGrpSpPr/>
        <p:nvPr/>
      </p:nvGrpSpPr>
      <p:grpSpPr>
        <a:xfrm>
          <a:off x="0" y="0"/>
          <a:ext cx="0" cy="0"/>
          <a:chOff x="0" y="0"/>
          <a:chExt cx="0" cy="0"/>
        </a:xfrm>
      </p:grpSpPr>
      <p:graphicFrame>
        <p:nvGraphicFramePr>
          <p:cNvPr id="9616" name="Google Shape;9616;p55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Add machine learning to develop a predictive model to similarity/distance scoring process. Utilize graph analytics to determine if the information provided is associated with past fraudulent activity.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Utilize text and natural language processing (NLP) algorithms to generate a similarity/distance score for data source comparison between application and available PII data.</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Statistical-based analysis such as predictive modeling, anomaly detection, and clustering.</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Reactive posture, most instances of identity fraud uncovered by accident or outside reporting. Key metrics and basic reporting established with rules-based queries &amp; analytics such as matching, grouping, ordering, joining, and filtering known fraudulent identities.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standardized processes, instead, there are ad hoc approaches that tend to be applied on an individual or case-by-case basis. The overall approach to management is disorganized.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617" name="Google Shape;9617;p550"/>
          <p:cNvGrpSpPr/>
          <p:nvPr/>
        </p:nvGrpSpPr>
        <p:grpSpPr>
          <a:xfrm>
            <a:off x="469900" y="3819680"/>
            <a:ext cx="8455025" cy="732866"/>
            <a:chOff x="211138" y="3972860"/>
            <a:chExt cx="8713787" cy="642437"/>
          </a:xfrm>
        </p:grpSpPr>
        <p:sp>
          <p:nvSpPr>
            <p:cNvPr id="9618" name="Google Shape;9618;p55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619" name="Google Shape;9619;p55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620" name="Google Shape;9620;p550"/>
          <p:cNvGrpSpPr/>
          <p:nvPr/>
        </p:nvGrpSpPr>
        <p:grpSpPr>
          <a:xfrm>
            <a:off x="7971865" y="980278"/>
            <a:ext cx="949325" cy="2867825"/>
            <a:chOff x="7941888" y="1062037"/>
            <a:chExt cx="983037" cy="2695575"/>
          </a:xfrm>
        </p:grpSpPr>
        <p:sp>
          <p:nvSpPr>
            <p:cNvPr id="9621" name="Google Shape;9621;p55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622" name="Google Shape;9622;p55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623" name="Google Shape;9623;p55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a:t>
            </a:r>
            <a:endParaRPr>
              <a:solidFill>
                <a:schemeClr val="accent6"/>
              </a:solidFill>
            </a:endParaRPr>
          </a:p>
        </p:txBody>
      </p:sp>
      <p:sp>
        <p:nvSpPr>
          <p:cNvPr id="9624" name="Google Shape;9624;p5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47" name="Shape 9647"/>
        <p:cNvGrpSpPr/>
        <p:nvPr/>
      </p:nvGrpSpPr>
      <p:grpSpPr>
        <a:xfrm>
          <a:off x="0" y="0"/>
          <a:ext cx="0" cy="0"/>
          <a:chOff x="0" y="0"/>
          <a:chExt cx="0" cy="0"/>
        </a:xfrm>
      </p:grpSpPr>
      <p:graphicFrame>
        <p:nvGraphicFramePr>
          <p:cNvPr id="9648" name="Google Shape;9648;p552"/>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Initiate machine learning to automatically detect and revise patterns and pathing without programming.  Allow to update customer profiles, segments, watch list, and fraud indicators.  Revise operational procedures and policies based on new insights and learnings.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Incorporate speech and text pattern detection to  search for terms highly correlated to deceptive activity. Leverage data from call centers, on-line chats, return requests and forms, etc..</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Perform pathing analysis of browsing and shopping behavior to identify potential fraudulent behavior e.g.  overnight shipment request,  ship to different address than account holder,/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rgbClr val="FF0000"/>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Provide front line associates ands loss prevention personal with real time information to interject themselves into the return process.  As companies continue to make returns easier across channels, provide immediate checks of both on-line and in person purchase transactions.  Check returned ID and validate against credit bureau information and watch lists.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Leverage traditional Business Intelligence analytics to determine outliers to normal activity e.g. # of returns, frequency of returns, returns exceeding purchases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649" name="Google Shape;9649;p552"/>
          <p:cNvGrpSpPr/>
          <p:nvPr/>
        </p:nvGrpSpPr>
        <p:grpSpPr>
          <a:xfrm>
            <a:off x="469900" y="3819680"/>
            <a:ext cx="8455025" cy="732866"/>
            <a:chOff x="211138" y="3972860"/>
            <a:chExt cx="8713787" cy="642437"/>
          </a:xfrm>
        </p:grpSpPr>
        <p:sp>
          <p:nvSpPr>
            <p:cNvPr id="9650" name="Google Shape;9650;p55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651" name="Google Shape;9651;p55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652" name="Google Shape;9652;p552"/>
          <p:cNvGrpSpPr/>
          <p:nvPr/>
        </p:nvGrpSpPr>
        <p:grpSpPr>
          <a:xfrm>
            <a:off x="7971865" y="980278"/>
            <a:ext cx="949325" cy="2867825"/>
            <a:chOff x="7941888" y="1062037"/>
            <a:chExt cx="983037" cy="2695575"/>
          </a:xfrm>
        </p:grpSpPr>
        <p:sp>
          <p:nvSpPr>
            <p:cNvPr id="9653" name="Google Shape;9653;p55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654" name="Google Shape;9654;p55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655" name="Google Shape;9655;p552"/>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a:t>
            </a:r>
            <a:endParaRPr>
              <a:solidFill>
                <a:schemeClr val="accent6"/>
              </a:solidFill>
            </a:endParaRPr>
          </a:p>
        </p:txBody>
      </p:sp>
      <p:sp>
        <p:nvSpPr>
          <p:cNvPr id="9656" name="Google Shape;9656;p5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7" name="Shape 9687"/>
        <p:cNvGrpSpPr/>
        <p:nvPr/>
      </p:nvGrpSpPr>
      <p:grpSpPr>
        <a:xfrm>
          <a:off x="0" y="0"/>
          <a:ext cx="0" cy="0"/>
          <a:chOff x="0" y="0"/>
          <a:chExt cx="0" cy="0"/>
        </a:xfrm>
      </p:grpSpPr>
      <p:graphicFrame>
        <p:nvGraphicFramePr>
          <p:cNvPr id="9688" name="Google Shape;9688;p554"/>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u="sng">
                          <a:solidFill>
                            <a:schemeClr val="dk1"/>
                          </a:solidFill>
                          <a:latin typeface="Century Gothic"/>
                          <a:ea typeface="Century Gothic"/>
                          <a:cs typeface="Century Gothic"/>
                          <a:sym typeface="Century Gothic"/>
                        </a:rPr>
                        <a:t>Proactive</a:t>
                      </a:r>
                      <a:r>
                        <a:rPr b="0" lang="en-GB" sz="900">
                          <a:solidFill>
                            <a:schemeClr val="dk1"/>
                          </a:solidFill>
                          <a:latin typeface="Century Gothic"/>
                          <a:ea typeface="Century Gothic"/>
                          <a:cs typeface="Century Gothic"/>
                          <a:sym typeface="Century Gothic"/>
                        </a:rPr>
                        <a:t>: Claims fraud identification is largely automated (real/right-time alerts) leveraging a single, integrated source of validated data.  Decisions are faster and the SIU can focus on increasing proactive fraud identification and response through the use of advance analytic tools and textual analytics. Fraud model iteration is fully operationalized.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u="sng">
                          <a:solidFill>
                            <a:schemeClr val="dk1"/>
                          </a:solidFill>
                          <a:latin typeface="Century Gothic"/>
                          <a:ea typeface="Century Gothic"/>
                          <a:cs typeface="Century Gothic"/>
                          <a:sym typeface="Century Gothic"/>
                        </a:rPr>
                        <a:t>Proactive</a:t>
                      </a:r>
                      <a:r>
                        <a:rPr b="0" lang="en-GB" sz="900">
                          <a:solidFill>
                            <a:schemeClr val="dk1"/>
                          </a:solidFill>
                          <a:latin typeface="Century Gothic"/>
                          <a:ea typeface="Century Gothic"/>
                          <a:cs typeface="Century Gothic"/>
                          <a:sym typeface="Century Gothic"/>
                        </a:rPr>
                        <a:t>: Most of the required data is available from a single, integrated source, although a small number of other data sources may exist.  Regular reports &amp; extracts are available on a largely automated basis, as well as ad-hoc reports and queries and visualization.   Data is integrated into administration systems. Some triggers are used.</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u="sng">
                          <a:solidFill>
                            <a:schemeClr val="dk1"/>
                          </a:solidFill>
                          <a:latin typeface="Century Gothic"/>
                          <a:ea typeface="Century Gothic"/>
                          <a:cs typeface="Century Gothic"/>
                          <a:sym typeface="Century Gothic"/>
                        </a:rPr>
                        <a:t>Transitional</a:t>
                      </a:r>
                      <a:r>
                        <a:rPr b="0" lang="en-GB" sz="900">
                          <a:solidFill>
                            <a:schemeClr val="dk1"/>
                          </a:solidFill>
                          <a:latin typeface="Century Gothic"/>
                          <a:ea typeface="Century Gothic"/>
                          <a:cs typeface="Century Gothic"/>
                          <a:sym typeface="Century Gothic"/>
                        </a:rPr>
                        <a:t>: Data for core summary-level fraud analysis is available from a single source (based however on multiple data sources) using multiple tools and manual processes.  Data is not or partially integrated into claims or SIU administration systems. Shorter batch cycles for data are leveraged. Some model iteration is used.</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u="sng">
                          <a:solidFill>
                            <a:schemeClr val="dk1"/>
                          </a:solidFill>
                          <a:latin typeface="Century Gothic"/>
                          <a:ea typeface="Century Gothic"/>
                          <a:cs typeface="Century Gothic"/>
                          <a:sym typeface="Century Gothic"/>
                        </a:rPr>
                        <a:t>Reactive</a:t>
                      </a:r>
                      <a:r>
                        <a:rPr b="0" lang="en-GB" sz="900">
                          <a:solidFill>
                            <a:schemeClr val="dk1"/>
                          </a:solidFill>
                          <a:latin typeface="Century Gothic"/>
                          <a:ea typeface="Century Gothic"/>
                          <a:cs typeface="Century Gothic"/>
                          <a:sym typeface="Century Gothic"/>
                        </a:rPr>
                        <a:t>: Data for core fraud analysis  is available from multiple sources. Most other / more detailed data needs to be collected from multiple sources using multiple tools and is subject to manual processes before use. Analytics needs to be derived from multiple analytic systems. More ad hoc analysis is used, but is still looking at historical data based on batch cycles.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u="sng">
                          <a:solidFill>
                            <a:schemeClr val="dk1"/>
                          </a:solidFill>
                          <a:latin typeface="Century Gothic"/>
                          <a:ea typeface="Century Gothic"/>
                          <a:cs typeface="Century Gothic"/>
                          <a:sym typeface="Century Gothic"/>
                        </a:rPr>
                        <a:t>Reactive</a:t>
                      </a:r>
                      <a:r>
                        <a:rPr b="0" lang="en-GB" sz="900">
                          <a:solidFill>
                            <a:schemeClr val="dk1"/>
                          </a:solidFill>
                          <a:latin typeface="Century Gothic"/>
                          <a:ea typeface="Century Gothic"/>
                          <a:cs typeface="Century Gothic"/>
                          <a:sym typeface="Century Gothic"/>
                        </a:rPr>
                        <a:t>: Claims fraud data sources are siloed, not integrated for analysis, and/or incomplete. Considerable time is spent collecting, validating data prior to a fraud determination.  Multiple reporting, BI, spreadsheet tools are used—no integrated view. No visualization or text analytics is used.  Data is updated in daily batch cycles.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689" name="Google Shape;9689;p554"/>
          <p:cNvGrpSpPr/>
          <p:nvPr/>
        </p:nvGrpSpPr>
        <p:grpSpPr>
          <a:xfrm>
            <a:off x="470778" y="3943350"/>
            <a:ext cx="8455025" cy="732866"/>
            <a:chOff x="211138" y="3972860"/>
            <a:chExt cx="8713787" cy="642437"/>
          </a:xfrm>
        </p:grpSpPr>
        <p:sp>
          <p:nvSpPr>
            <p:cNvPr id="9690" name="Google Shape;9690;p55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691" name="Google Shape;9691;p55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692" name="Google Shape;9692;p554"/>
          <p:cNvGrpSpPr/>
          <p:nvPr/>
        </p:nvGrpSpPr>
        <p:grpSpPr>
          <a:xfrm>
            <a:off x="7971865" y="980278"/>
            <a:ext cx="949325" cy="2867825"/>
            <a:chOff x="7941888" y="1062037"/>
            <a:chExt cx="983037" cy="2695575"/>
          </a:xfrm>
        </p:grpSpPr>
        <p:sp>
          <p:nvSpPr>
            <p:cNvPr id="9693" name="Google Shape;9693;p55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694" name="Google Shape;9694;p55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695" name="Google Shape;9695;p554"/>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a:solidFill>
                <a:schemeClr val="accent6"/>
              </a:solidFill>
            </a:endParaRPr>
          </a:p>
        </p:txBody>
      </p:sp>
      <p:sp>
        <p:nvSpPr>
          <p:cNvPr id="9696" name="Google Shape;9696;p5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9" name="Shape 9709"/>
        <p:cNvGrpSpPr/>
        <p:nvPr/>
      </p:nvGrpSpPr>
      <p:grpSpPr>
        <a:xfrm>
          <a:off x="0" y="0"/>
          <a:ext cx="0" cy="0"/>
          <a:chOff x="0" y="0"/>
          <a:chExt cx="0" cy="0"/>
        </a:xfrm>
      </p:grpSpPr>
      <p:sp>
        <p:nvSpPr>
          <p:cNvPr id="9710" name="Google Shape;9710;p556"/>
          <p:cNvSpPr txBox="1"/>
          <p:nvPr>
            <p:ph idx="1" type="body"/>
          </p:nvPr>
        </p:nvSpPr>
        <p:spPr>
          <a:xfrm>
            <a:off x="270933" y="604172"/>
            <a:ext cx="5452534"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 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100"/>
              <a:buChar char="•"/>
            </a:pPr>
            <a:r>
              <a:rPr lang="en-GB" sz="1100"/>
              <a:t>Incoming network traffic is analyzed to prevent external attacks while not disrupting legitimate customer activity. Advanced analytic tools are employed to combat threats – i.e. access attempt similarity, behavioral clustering, path &amp; pattern analysis and graph analysis all in near real time frequency. </a:t>
            </a:r>
            <a:endParaRPr sz="1100"/>
          </a:p>
          <a:p>
            <a:pPr indent="-169863" lvl="0" marL="169863" rtl="0" algn="just">
              <a:lnSpc>
                <a:spcPct val="95000"/>
              </a:lnSpc>
              <a:spcBef>
                <a:spcPts val="600"/>
              </a:spcBef>
              <a:spcAft>
                <a:spcPts val="0"/>
              </a:spcAft>
              <a:buClr>
                <a:schemeClr val="dk1"/>
              </a:buClr>
              <a:buSzPts val="1100"/>
              <a:buChar char="•"/>
            </a:pPr>
            <a:r>
              <a:rPr lang="en-GB" sz="1100"/>
              <a:t>Insider threats are addressed with advanced analytics.  Multiple sources of data such as system log files, active directory, virtual private network, badge access, email and security violation logs are used to detect unusual activity by insiders (employees, partners, contractors and previous employees).</a:t>
            </a:r>
            <a:endParaRPr/>
          </a:p>
          <a:p>
            <a:pPr indent="-169863" lvl="0" marL="169863" rtl="0" algn="just">
              <a:lnSpc>
                <a:spcPct val="95000"/>
              </a:lnSpc>
              <a:spcBef>
                <a:spcPts val="600"/>
              </a:spcBef>
              <a:spcAft>
                <a:spcPts val="0"/>
              </a:spcAft>
              <a:buClr>
                <a:schemeClr val="dk1"/>
              </a:buClr>
              <a:buSzPts val="1100"/>
              <a:buChar char="•"/>
            </a:pPr>
            <a:r>
              <a:rPr lang="en-GB" sz="1100"/>
              <a:t>Detection of stolen or compromised credentials requires monitoring user behavior with similar data and methods as above to detect unusual or increasing levels of activity outside individual or department norms. </a:t>
            </a:r>
            <a:endParaRPr/>
          </a:p>
          <a:p>
            <a:pPr indent="-169863" lvl="0" marL="169863" rtl="0" algn="just">
              <a:lnSpc>
                <a:spcPct val="95000"/>
              </a:lnSpc>
              <a:spcBef>
                <a:spcPts val="600"/>
              </a:spcBef>
              <a:spcAft>
                <a:spcPts val="0"/>
              </a:spcAft>
              <a:buClr>
                <a:schemeClr val="dk1"/>
              </a:buClr>
              <a:buSzPts val="1100"/>
              <a:buChar char="•"/>
            </a:pPr>
            <a:r>
              <a:rPr lang="en-GB" sz="1100"/>
              <a:t>The threat environment is constantly evolving and threats are becoming more sophisticated,  Frequent situational reviews  should be conducted to ensure vulnerabilities are identified and remediated. </a:t>
            </a:r>
            <a:endParaRPr/>
          </a:p>
          <a:p>
            <a:pPr indent="-169863" lvl="0" marL="169863" rtl="0" algn="just">
              <a:lnSpc>
                <a:spcPct val="95000"/>
              </a:lnSpc>
              <a:spcBef>
                <a:spcPts val="600"/>
              </a:spcBef>
              <a:spcAft>
                <a:spcPts val="0"/>
              </a:spcAft>
              <a:buClr>
                <a:schemeClr val="dk1"/>
              </a:buClr>
              <a:buSzPts val="1100"/>
              <a:buChar char="•"/>
            </a:pPr>
            <a:r>
              <a:rPr lang="en-GB" sz="1100"/>
              <a:t>Compliance is another area with increasing levels of regulation with potential regulatory penalties for non-compliance. Cyber Compliance and Audit reviews  are necessary tools to avoid regulatory problems and fines.  </a:t>
            </a:r>
            <a:endParaRPr/>
          </a:p>
          <a:p>
            <a:pPr indent="-100013" lvl="0" marL="169863" rtl="0" algn="just">
              <a:lnSpc>
                <a:spcPct val="95000"/>
              </a:lnSpc>
              <a:spcBef>
                <a:spcPts val="600"/>
              </a:spcBef>
              <a:spcAft>
                <a:spcPts val="0"/>
              </a:spcAft>
              <a:buClr>
                <a:schemeClr val="dk1"/>
              </a:buClr>
              <a:buSzPts val="1100"/>
              <a:buNone/>
            </a:pPr>
            <a:r>
              <a:t/>
            </a:r>
            <a:endParaRPr sz="1100"/>
          </a:p>
        </p:txBody>
      </p:sp>
      <p:sp>
        <p:nvSpPr>
          <p:cNvPr id="9711" name="Google Shape;9711;p556"/>
          <p:cNvSpPr txBox="1"/>
          <p:nvPr>
            <p:ph type="title"/>
          </p:nvPr>
        </p:nvSpPr>
        <p:spPr>
          <a:xfrm>
            <a:off x="353701"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12" name="Google Shape;9712;p556"/>
          <p:cNvPicPr preferRelativeResize="0"/>
          <p:nvPr/>
        </p:nvPicPr>
        <p:blipFill rotWithShape="1">
          <a:blip r:embed="rId3">
            <a:alphaModFix/>
          </a:blip>
          <a:srcRect b="0" l="0" r="0" t="0"/>
          <a:stretch/>
        </p:blipFill>
        <p:spPr>
          <a:xfrm>
            <a:off x="6247166" y="449263"/>
            <a:ext cx="2790825" cy="3838575"/>
          </a:xfrm>
          <a:prstGeom prst="rect">
            <a:avLst/>
          </a:prstGeom>
          <a:noFill/>
          <a:ln>
            <a:noFill/>
          </a:ln>
        </p:spPr>
      </p:pic>
      <p:sp>
        <p:nvSpPr>
          <p:cNvPr id="9713" name="Google Shape;9713;p55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18" name="Shape 9718"/>
        <p:cNvGrpSpPr/>
        <p:nvPr/>
      </p:nvGrpSpPr>
      <p:grpSpPr>
        <a:xfrm>
          <a:off x="0" y="0"/>
          <a:ext cx="0" cy="0"/>
          <a:chOff x="0" y="0"/>
          <a:chExt cx="0" cy="0"/>
        </a:xfrm>
      </p:grpSpPr>
      <p:sp>
        <p:nvSpPr>
          <p:cNvPr id="9719" name="Google Shape;9719;p557"/>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r>
              <a:rPr lang="en-GB"/>
              <a:t>What are the challenges?</a:t>
            </a:r>
            <a:endParaRPr/>
          </a:p>
        </p:txBody>
      </p:sp>
      <p:grpSp>
        <p:nvGrpSpPr>
          <p:cNvPr id="9720" name="Google Shape;9720;p557"/>
          <p:cNvGrpSpPr/>
          <p:nvPr/>
        </p:nvGrpSpPr>
        <p:grpSpPr>
          <a:xfrm>
            <a:off x="438691" y="2524118"/>
            <a:ext cx="8306242" cy="700743"/>
            <a:chOff x="456759" y="2468314"/>
            <a:chExt cx="8306242" cy="700743"/>
          </a:xfrm>
        </p:grpSpPr>
        <p:sp>
          <p:nvSpPr>
            <p:cNvPr id="9721" name="Google Shape;9721;p557"/>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Pakistan has fewer than 5,000 qualified cybersecurity professionals for an economy with 35+ banks, hundreds of financial institutions, and critical national infrastructure. Banks compete with global employers for limited talent. In-house SOC capabilities are immature at most banks.</a:t>
              </a:r>
              <a:endParaRPr sz="1000">
                <a:solidFill>
                  <a:srgbClr val="3C3C3B"/>
                </a:solidFill>
                <a:latin typeface="Century Gothic"/>
                <a:ea typeface="Century Gothic"/>
                <a:cs typeface="Century Gothic"/>
                <a:sym typeface="Century Gothic"/>
              </a:endParaRPr>
            </a:p>
          </p:txBody>
        </p:sp>
        <p:sp>
          <p:nvSpPr>
            <p:cNvPr id="9722" name="Google Shape;9722;p557"/>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723" name="Google Shape;9723;p557"/>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Talent Shortage</a:t>
              </a:r>
              <a:endParaRPr b="1" sz="1200">
                <a:solidFill>
                  <a:srgbClr val="FFFFFF"/>
                </a:solidFill>
                <a:latin typeface="Century Gothic"/>
                <a:ea typeface="Century Gothic"/>
                <a:cs typeface="Century Gothic"/>
                <a:sym typeface="Century Gothic"/>
              </a:endParaRPr>
            </a:p>
          </p:txBody>
        </p:sp>
      </p:grpSp>
      <p:grpSp>
        <p:nvGrpSpPr>
          <p:cNvPr id="9724" name="Google Shape;9724;p557"/>
          <p:cNvGrpSpPr/>
          <p:nvPr/>
        </p:nvGrpSpPr>
        <p:grpSpPr>
          <a:xfrm>
            <a:off x="438690" y="1764058"/>
            <a:ext cx="8306240" cy="720600"/>
            <a:chOff x="456758" y="1764058"/>
            <a:chExt cx="8306240" cy="720600"/>
          </a:xfrm>
        </p:grpSpPr>
        <p:sp>
          <p:nvSpPr>
            <p:cNvPr id="9725" name="Google Shape;9725;p557"/>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Digital banking adoption (internet banking, mobile apps, API integrations, cloud services) exponentially expands the attack surface. Each new digital product or partner integration creates potential vulnerabilities. Pakistan banks reported 3x increase in cyber incidents between 2020-2024.</a:t>
              </a:r>
              <a:endParaRPr sz="1000">
                <a:solidFill>
                  <a:srgbClr val="3C3C3B"/>
                </a:solidFill>
                <a:latin typeface="Century Gothic"/>
                <a:ea typeface="Century Gothic"/>
                <a:cs typeface="Century Gothic"/>
                <a:sym typeface="Century Gothic"/>
              </a:endParaRPr>
            </a:p>
          </p:txBody>
        </p:sp>
        <p:sp>
          <p:nvSpPr>
            <p:cNvPr id="9726" name="Google Shape;9726;p557"/>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727" name="Google Shape;9727;p557"/>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Expanding Attack Surface</a:t>
              </a:r>
              <a:endParaRPr b="1" sz="1200">
                <a:solidFill>
                  <a:srgbClr val="FFFFFF"/>
                </a:solidFill>
                <a:latin typeface="Century Gothic"/>
                <a:ea typeface="Century Gothic"/>
                <a:cs typeface="Century Gothic"/>
                <a:sym typeface="Century Gothic"/>
              </a:endParaRPr>
            </a:p>
          </p:txBody>
        </p:sp>
      </p:grpSp>
      <p:sp>
        <p:nvSpPr>
          <p:cNvPr id="9728" name="Google Shape;9728;p557"/>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9729" name="Google Shape;9729;p557"/>
          <p:cNvGrpSpPr/>
          <p:nvPr/>
        </p:nvGrpSpPr>
        <p:grpSpPr>
          <a:xfrm>
            <a:off x="438691" y="4004525"/>
            <a:ext cx="8306242" cy="700825"/>
            <a:chOff x="456759" y="4004525"/>
            <a:chExt cx="8306242" cy="700825"/>
          </a:xfrm>
        </p:grpSpPr>
        <p:sp>
          <p:nvSpPr>
            <p:cNvPr id="9730" name="Google Shape;9730;p557"/>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SBP's IT Security Guidelines, PTA cybersecurity regulations, and international standards (PCI-DSS for card data) impose compliance requirements. Data localization mandates require Pakistan-based infrastructure, limiting options for global cybersecurity services.</a:t>
              </a:r>
              <a:endParaRPr sz="1000">
                <a:solidFill>
                  <a:schemeClr val="dk1"/>
                </a:solidFill>
                <a:latin typeface="Century Gothic"/>
                <a:ea typeface="Century Gothic"/>
                <a:cs typeface="Century Gothic"/>
                <a:sym typeface="Century Gothic"/>
              </a:endParaRPr>
            </a:p>
          </p:txBody>
        </p:sp>
        <p:sp>
          <p:nvSpPr>
            <p:cNvPr id="9731" name="Google Shape;9731;p557"/>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732" name="Google Shape;9732;p557"/>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Regulatory Pressure</a:t>
              </a:r>
              <a:endParaRPr b="1" sz="1200">
                <a:solidFill>
                  <a:srgbClr val="FFFFFF"/>
                </a:solidFill>
                <a:latin typeface="Century Gothic"/>
                <a:ea typeface="Century Gothic"/>
                <a:cs typeface="Century Gothic"/>
                <a:sym typeface="Century Gothic"/>
              </a:endParaRPr>
            </a:p>
          </p:txBody>
        </p:sp>
      </p:grpSp>
      <p:grpSp>
        <p:nvGrpSpPr>
          <p:cNvPr id="9733" name="Google Shape;9733;p557"/>
          <p:cNvGrpSpPr/>
          <p:nvPr/>
        </p:nvGrpSpPr>
        <p:grpSpPr>
          <a:xfrm>
            <a:off x="438691" y="3264321"/>
            <a:ext cx="8306242" cy="700743"/>
            <a:chOff x="456759" y="3170400"/>
            <a:chExt cx="8306242" cy="700743"/>
          </a:xfrm>
        </p:grpSpPr>
        <p:sp>
          <p:nvSpPr>
            <p:cNvPr id="9734" name="Google Shape;9734;p557"/>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Banks increasingly rely on third-party vendors (cloud providers, fintech partners, payment processors, ATM network operators) who may have weaker security postures. Supply chain attacks targeting bank vendors can bypass the bank's own defenses.</a:t>
              </a:r>
              <a:endParaRPr sz="1000">
                <a:solidFill>
                  <a:schemeClr val="dk1"/>
                </a:solidFill>
                <a:latin typeface="Century Gothic"/>
                <a:ea typeface="Century Gothic"/>
                <a:cs typeface="Century Gothic"/>
                <a:sym typeface="Century Gothic"/>
              </a:endParaRPr>
            </a:p>
          </p:txBody>
        </p:sp>
        <p:sp>
          <p:nvSpPr>
            <p:cNvPr id="9735" name="Google Shape;9735;p557"/>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736" name="Google Shape;9736;p557"/>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Third-Party Risk</a:t>
              </a:r>
              <a:endParaRPr b="1" sz="1200">
                <a:solidFill>
                  <a:srgbClr val="FFFFFF"/>
                </a:solidFill>
                <a:latin typeface="Century Gothic"/>
                <a:ea typeface="Century Gothic"/>
                <a:cs typeface="Century Gothic"/>
                <a:sym typeface="Century Gothic"/>
              </a:endParaRPr>
            </a:p>
          </p:txBody>
        </p:sp>
      </p:grpSp>
      <p:sp>
        <p:nvSpPr>
          <p:cNvPr id="9737" name="Google Shape;9737;p557"/>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Protecting the bank's digital infrastructure, customer data, and financial assets against increasingly sophisticated cyber threats — from nation-state actors and organized cybercrime groups to insider threats and supply chain compromises — while supporting rapid digital transformation.</a:t>
            </a:r>
            <a:endParaRPr sz="1200">
              <a:solidFill>
                <a:srgbClr val="FFFFFF"/>
              </a:solidFill>
              <a:latin typeface="Century Gothic"/>
              <a:ea typeface="Century Gothic"/>
              <a:cs typeface="Century Gothic"/>
              <a:sym typeface="Century Gothic"/>
            </a:endParaRPr>
          </a:p>
        </p:txBody>
      </p:sp>
      <p:sp>
        <p:nvSpPr>
          <p:cNvPr id="9738" name="Google Shape;9738;p5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68" name="Shape 9768"/>
        <p:cNvGrpSpPr/>
        <p:nvPr/>
      </p:nvGrpSpPr>
      <p:grpSpPr>
        <a:xfrm>
          <a:off x="0" y="0"/>
          <a:ext cx="0" cy="0"/>
          <a:chOff x="0" y="0"/>
          <a:chExt cx="0" cy="0"/>
        </a:xfrm>
      </p:grpSpPr>
      <p:graphicFrame>
        <p:nvGraphicFramePr>
          <p:cNvPr id="9769" name="Google Shape;9769;p55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Advanced Analytics are fully employed including machine learning to detect unusual access patterns in real time.  Procedures and policy for access control are fully adopted and supported by employees and senior management.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Improvements in access review reduces false positives.  Machine Learning begins to improve the sophistication of new fraud patterns in near real time.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Comprehensive data from various data sources is effective in identifying access fraud for customers and insiders. Threat detection is managed across multiple systems.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Analytical techniques are explored to review data from the various  point solutions  in a more comprehensive manner with emphasis on access behavior.  Threats are still managed on a siloed basis, but after the fact analysis are done across systems.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Multiple security tools detect problems based on previously identified problems.  This is effective to prevent reoccurrence of certain known situations, but does not address new attack patterns. Threats are managed on a siloed basis per system.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770" name="Google Shape;9770;p559"/>
          <p:cNvGrpSpPr/>
          <p:nvPr/>
        </p:nvGrpSpPr>
        <p:grpSpPr>
          <a:xfrm>
            <a:off x="469900" y="3819680"/>
            <a:ext cx="8455025" cy="732866"/>
            <a:chOff x="211138" y="3972860"/>
            <a:chExt cx="8713787" cy="642437"/>
          </a:xfrm>
        </p:grpSpPr>
        <p:sp>
          <p:nvSpPr>
            <p:cNvPr id="9771" name="Google Shape;9771;p55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772" name="Google Shape;9772;p55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773" name="Google Shape;9773;p559"/>
          <p:cNvGrpSpPr/>
          <p:nvPr/>
        </p:nvGrpSpPr>
        <p:grpSpPr>
          <a:xfrm>
            <a:off x="7971865" y="980278"/>
            <a:ext cx="949325" cy="2867825"/>
            <a:chOff x="7941888" y="1062037"/>
            <a:chExt cx="983037" cy="2695575"/>
          </a:xfrm>
        </p:grpSpPr>
        <p:sp>
          <p:nvSpPr>
            <p:cNvPr id="9774" name="Google Shape;9774;p55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775" name="Google Shape;9775;p55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776" name="Google Shape;9776;p55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a:t>
            </a:r>
            <a:endParaRPr>
              <a:solidFill>
                <a:schemeClr val="accent6"/>
              </a:solidFill>
            </a:endParaRPr>
          </a:p>
        </p:txBody>
      </p:sp>
      <p:sp>
        <p:nvSpPr>
          <p:cNvPr id="9777" name="Google Shape;9777;p55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Governance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Establish a comprehensive information security governance framework aligned with SBP IT Security Guidelines, ISO 27001, and NIST Cybersecurity Framework.</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Define clear roles, responsibilities, policies, and metrics for cybersecurity across the organization.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Enable Board-level oversight of cyber risk as a strategic business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Security policy compliance status across business units. Vulnerability assessment and penetration testing results. Security incident logs and response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Employee security awareness training completion rates. Third-party vendor security assessment scores.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status (SBP IT Security, PCI-DSS, data protection). Security investment and budget utilization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Security posture scoring combining multiple governance indicators. Compliance gap analysis against SBP/ISO/NIST frameworks. Risk-based prioritization of security investments.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Trend analysis on security incidents, vulnerabilities, and compliance metrics. Benchmarking against financial sector peers and international standards. KRI monitoring for governance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Information security governance dashboard for Board/Audit Committee with overall security posture score. Automated compliance monitoring against SBP IT Security Guidelines with gap alerts. Risk-based security investment recommendations with cost-benefit quantification.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Vendor risk management dashboard showing third-party security posture. Employee security awareness metrics and training effectiveness tracking.</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9" name="Shape 9799"/>
        <p:cNvGrpSpPr/>
        <p:nvPr/>
      </p:nvGrpSpPr>
      <p:grpSpPr>
        <a:xfrm>
          <a:off x="0" y="0"/>
          <a:ext cx="0" cy="0"/>
          <a:chOff x="0" y="0"/>
          <a:chExt cx="0" cy="0"/>
        </a:xfrm>
      </p:grpSpPr>
      <p:graphicFrame>
        <p:nvGraphicFramePr>
          <p:cNvPr id="9800" name="Google Shape;9800;p561"/>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Fully integrated security governance with real-time posture monitoring, automated compliance checking, and risk-based investment optimization. Cyber risk quantified in financial terms for Board reporting. Zero-trust architecture fully implemented. Security embedded in all business processes and product development.</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Comprehensive governance framework aligned to ISO 27001 and SBP guidelines. Regular Board reporting on cyber posture. Vendor risk management program operational. Security metrics drive investment decisions. Annual third-party assessment confirms effectiveness.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Documented security policies covering major risk areas. Periodic compliance assessments against SBP requirements. Board receives annual cybersecurity report. Basic vendor security assessments for critical vendors. Incident response plan documented and tested.</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Security policies exist but inconsistently applied. Compliance checking manual and periodic. Board awareness of cyber risk limited. Vendor security assessments ad-hoc. Incident response plan documented but untested. Security governance reporting fragmented.</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Minimal formal security governance. Policies outdated or absent. No systematic compliance monitoring. Board not regularly briefed on cyber risk. No vendor security program. Incident response capabilities improvised. Security treated as IT department responsibility only.</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801" name="Google Shape;9801;p561"/>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Governance</a:t>
            </a:r>
            <a:endParaRPr b="1"/>
          </a:p>
        </p:txBody>
      </p:sp>
      <p:grpSp>
        <p:nvGrpSpPr>
          <p:cNvPr id="9802" name="Google Shape;9802;p561"/>
          <p:cNvGrpSpPr/>
          <p:nvPr/>
        </p:nvGrpSpPr>
        <p:grpSpPr>
          <a:xfrm>
            <a:off x="457200" y="4078841"/>
            <a:ext cx="8455025" cy="660717"/>
            <a:chOff x="211138" y="3972860"/>
            <a:chExt cx="8713787" cy="642437"/>
          </a:xfrm>
        </p:grpSpPr>
        <p:sp>
          <p:nvSpPr>
            <p:cNvPr id="9803" name="Google Shape;9803;p56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804" name="Google Shape;9804;p56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805" name="Google Shape;9805;p561"/>
          <p:cNvGrpSpPr/>
          <p:nvPr/>
        </p:nvGrpSpPr>
        <p:grpSpPr>
          <a:xfrm>
            <a:off x="7971865" y="781605"/>
            <a:ext cx="949325" cy="3191672"/>
            <a:chOff x="7941888" y="1062037"/>
            <a:chExt cx="983037" cy="2695575"/>
          </a:xfrm>
        </p:grpSpPr>
        <p:sp>
          <p:nvSpPr>
            <p:cNvPr id="9806" name="Google Shape;9806;p56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807" name="Google Shape;9807;p56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808" name="Google Shape;9808;p5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38" name="Shape 9838"/>
        <p:cNvGrpSpPr/>
        <p:nvPr/>
      </p:nvGrpSpPr>
      <p:grpSpPr>
        <a:xfrm>
          <a:off x="0" y="0"/>
          <a:ext cx="0" cy="0"/>
          <a:chOff x="0" y="0"/>
          <a:chExt cx="0" cy="0"/>
        </a:xfrm>
      </p:grpSpPr>
      <p:graphicFrame>
        <p:nvGraphicFramePr>
          <p:cNvPr id="9839" name="Google Shape;9839;p56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Advanced Analytics are fully employed including machine learning to detect  threats in real time.  Sensitive data is encrypted  on all devices.  Ongoing education of employees is in place.  Routing audits are  conducted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Improvements  reduce false positives.  Machine Learning begins to improve detection of new sophistication fraud patterns in real time.  Sensitive data is encrypted.  Frequent compliance reviews are conducted  to identify and remediate weaknesses.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Comprehensive threat data from various data sources is effective with identifying sophisticated  fraud patterns.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Sensitive data is encrypted . Threat detection is managed across multiple systems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Analytical techniques are explored to review data from the various  point  solutions  in a more comprehensive manner.  Threats are still managed on a siloed basis, but after the fact analysis are done across systems.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Multiple security tools detect problems based on previously identified problems.  This is effective to prevent reoccurrence of certain known situations, but does not address new attack patterns.  Threats are managed on a siloed basis per system.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840" name="Google Shape;9840;p563"/>
          <p:cNvGrpSpPr/>
          <p:nvPr/>
        </p:nvGrpSpPr>
        <p:grpSpPr>
          <a:xfrm>
            <a:off x="469900" y="3819680"/>
            <a:ext cx="8455025" cy="732866"/>
            <a:chOff x="211138" y="3972860"/>
            <a:chExt cx="8713787" cy="642437"/>
          </a:xfrm>
        </p:grpSpPr>
        <p:sp>
          <p:nvSpPr>
            <p:cNvPr id="9841" name="Google Shape;9841;p56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842" name="Google Shape;9842;p56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843" name="Google Shape;9843;p563"/>
          <p:cNvGrpSpPr/>
          <p:nvPr/>
        </p:nvGrpSpPr>
        <p:grpSpPr>
          <a:xfrm>
            <a:off x="7971865" y="980278"/>
            <a:ext cx="949325" cy="2867825"/>
            <a:chOff x="7941888" y="1062037"/>
            <a:chExt cx="983037" cy="2695575"/>
          </a:xfrm>
        </p:grpSpPr>
        <p:sp>
          <p:nvSpPr>
            <p:cNvPr id="9844" name="Google Shape;9844;p56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845" name="Google Shape;9845;p56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846" name="Google Shape;9846;p56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a:t>
            </a:r>
            <a:endParaRPr>
              <a:solidFill>
                <a:schemeClr val="accent6"/>
              </a:solidFill>
            </a:endParaRPr>
          </a:p>
        </p:txBody>
      </p:sp>
      <p:sp>
        <p:nvSpPr>
          <p:cNvPr id="9847" name="Google Shape;9847;p5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