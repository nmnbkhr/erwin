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645" r:id="rId396"/>
    <p:sldId id="646" r:id="rId397"/>
    <p:sldId id="647" r:id="rId398"/>
    <p:sldId id="648" r:id="rId399"/>
    <p:sldId id="649" r:id="rId400"/>
    <p:sldId id="650" r:id="rId401"/>
    <p:sldId id="651" r:id="rId402"/>
    <p:sldId id="652" r:id="rId403"/>
    <p:sldId id="653" r:id="rId404"/>
    <p:sldId id="654" r:id="rId405"/>
    <p:sldId id="655" r:id="rId406"/>
    <p:sldId id="656" r:id="rId407"/>
    <p:sldId id="657" r:id="rId408"/>
    <p:sldId id="658" r:id="rId409"/>
    <p:sldId id="659" r:id="rId410"/>
    <p:sldId id="660" r:id="rId411"/>
    <p:sldId id="661" r:id="rId412"/>
    <p:sldId id="662" r:id="rId413"/>
    <p:sldId id="663" r:id="rId414"/>
    <p:sldId id="664" r:id="rId415"/>
    <p:sldId id="665" r:id="rId416"/>
    <p:sldId id="666" r:id="rId417"/>
    <p:sldId id="667" r:id="rId418"/>
    <p:sldId id="668" r:id="rId419"/>
    <p:sldId id="669" r:id="rId420"/>
    <p:sldId id="670" r:id="rId421"/>
    <p:sldId id="671" r:id="rId422"/>
    <p:sldId id="672" r:id="rId423"/>
    <p:sldId id="673" r:id="rId424"/>
    <p:sldId id="674" r:id="rId425"/>
    <p:sldId id="675" r:id="rId426"/>
    <p:sldId id="676" r:id="rId427"/>
    <p:sldId id="677" r:id="rId428"/>
    <p:sldId id="678" r:id="rId429"/>
    <p:sldId id="679" r:id="rId430"/>
    <p:sldId id="680" r:id="rId431"/>
    <p:sldId id="681" r:id="rId432"/>
    <p:sldId id="682" r:id="rId433"/>
    <p:sldId id="683" r:id="rId434"/>
    <p:sldId id="684" r:id="rId435"/>
    <p:sldId id="685" r:id="rId436"/>
    <p:sldId id="686" r:id="rId437"/>
    <p:sldId id="687" r:id="rId438"/>
    <p:sldId id="688" r:id="rId439"/>
    <p:sldId id="689" r:id="rId440"/>
    <p:sldId id="690" r:id="rId441"/>
    <p:sldId id="691" r:id="rId442"/>
    <p:sldId id="692" r:id="rId443"/>
    <p:sldId id="693" r:id="rId444"/>
    <p:sldId id="694" r:id="rId445"/>
    <p:sldId id="695" r:id="rId446"/>
    <p:sldId id="696" r:id="rId447"/>
    <p:sldId id="697" r:id="rId448"/>
    <p:sldId id="698" r:id="rId449"/>
    <p:sldId id="699" r:id="rId450"/>
    <p:sldId id="700" r:id="rId451"/>
    <p:sldId id="701" r:id="rId452"/>
    <p:sldId id="702" r:id="rId453"/>
    <p:sldId id="703" r:id="rId454"/>
    <p:sldId id="704" r:id="rId455"/>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396" Type="http://schemas.openxmlformats.org/officeDocument/2006/relationships/slide" Target="slides/slide390.xml"/><Relationship Id="rId397" Type="http://schemas.openxmlformats.org/officeDocument/2006/relationships/slide" Target="slides/slide391.xml"/><Relationship Id="rId398" Type="http://schemas.openxmlformats.org/officeDocument/2006/relationships/slide" Target="slides/slide392.xml"/><Relationship Id="rId399" Type="http://schemas.openxmlformats.org/officeDocument/2006/relationships/slide" Target="slides/slide393.xml"/><Relationship Id="rId400" Type="http://schemas.openxmlformats.org/officeDocument/2006/relationships/slide" Target="slides/slide394.xml"/><Relationship Id="rId401" Type="http://schemas.openxmlformats.org/officeDocument/2006/relationships/slide" Target="slides/slide395.xml"/><Relationship Id="rId402" Type="http://schemas.openxmlformats.org/officeDocument/2006/relationships/slide" Target="slides/slide396.xml"/><Relationship Id="rId403" Type="http://schemas.openxmlformats.org/officeDocument/2006/relationships/slide" Target="slides/slide397.xml"/><Relationship Id="rId404" Type="http://schemas.openxmlformats.org/officeDocument/2006/relationships/slide" Target="slides/slide398.xml"/><Relationship Id="rId405" Type="http://schemas.openxmlformats.org/officeDocument/2006/relationships/slide" Target="slides/slide399.xml"/><Relationship Id="rId406" Type="http://schemas.openxmlformats.org/officeDocument/2006/relationships/slide" Target="slides/slide400.xml"/><Relationship Id="rId407" Type="http://schemas.openxmlformats.org/officeDocument/2006/relationships/slide" Target="slides/slide401.xml"/><Relationship Id="rId408" Type="http://schemas.openxmlformats.org/officeDocument/2006/relationships/slide" Target="slides/slide402.xml"/><Relationship Id="rId409" Type="http://schemas.openxmlformats.org/officeDocument/2006/relationships/slide" Target="slides/slide403.xml"/><Relationship Id="rId410" Type="http://schemas.openxmlformats.org/officeDocument/2006/relationships/slide" Target="slides/slide404.xml"/><Relationship Id="rId411" Type="http://schemas.openxmlformats.org/officeDocument/2006/relationships/slide" Target="slides/slide405.xml"/><Relationship Id="rId412" Type="http://schemas.openxmlformats.org/officeDocument/2006/relationships/slide" Target="slides/slide406.xml"/><Relationship Id="rId413" Type="http://schemas.openxmlformats.org/officeDocument/2006/relationships/slide" Target="slides/slide407.xml"/><Relationship Id="rId414" Type="http://schemas.openxmlformats.org/officeDocument/2006/relationships/slide" Target="slides/slide408.xml"/><Relationship Id="rId415" Type="http://schemas.openxmlformats.org/officeDocument/2006/relationships/slide" Target="slides/slide409.xml"/><Relationship Id="rId416" Type="http://schemas.openxmlformats.org/officeDocument/2006/relationships/slide" Target="slides/slide410.xml"/><Relationship Id="rId417" Type="http://schemas.openxmlformats.org/officeDocument/2006/relationships/slide" Target="slides/slide411.xml"/><Relationship Id="rId418" Type="http://schemas.openxmlformats.org/officeDocument/2006/relationships/slide" Target="slides/slide412.xml"/><Relationship Id="rId419" Type="http://schemas.openxmlformats.org/officeDocument/2006/relationships/slide" Target="slides/slide413.xml"/><Relationship Id="rId420" Type="http://schemas.openxmlformats.org/officeDocument/2006/relationships/slide" Target="slides/slide414.xml"/><Relationship Id="rId421" Type="http://schemas.openxmlformats.org/officeDocument/2006/relationships/slide" Target="slides/slide415.xml"/><Relationship Id="rId422" Type="http://schemas.openxmlformats.org/officeDocument/2006/relationships/slide" Target="slides/slide416.xml"/><Relationship Id="rId423" Type="http://schemas.openxmlformats.org/officeDocument/2006/relationships/slide" Target="slides/slide417.xml"/><Relationship Id="rId424" Type="http://schemas.openxmlformats.org/officeDocument/2006/relationships/slide" Target="slides/slide418.xml"/><Relationship Id="rId425" Type="http://schemas.openxmlformats.org/officeDocument/2006/relationships/slide" Target="slides/slide419.xml"/><Relationship Id="rId426" Type="http://schemas.openxmlformats.org/officeDocument/2006/relationships/slide" Target="slides/slide420.xml"/><Relationship Id="rId427" Type="http://schemas.openxmlformats.org/officeDocument/2006/relationships/slide" Target="slides/slide421.xml"/><Relationship Id="rId428" Type="http://schemas.openxmlformats.org/officeDocument/2006/relationships/slide" Target="slides/slide422.xml"/><Relationship Id="rId429" Type="http://schemas.openxmlformats.org/officeDocument/2006/relationships/slide" Target="slides/slide423.xml"/><Relationship Id="rId430" Type="http://schemas.openxmlformats.org/officeDocument/2006/relationships/slide" Target="slides/slide424.xml"/><Relationship Id="rId431" Type="http://schemas.openxmlformats.org/officeDocument/2006/relationships/slide" Target="slides/slide425.xml"/><Relationship Id="rId432" Type="http://schemas.openxmlformats.org/officeDocument/2006/relationships/slide" Target="slides/slide426.xml"/><Relationship Id="rId433" Type="http://schemas.openxmlformats.org/officeDocument/2006/relationships/slide" Target="slides/slide427.xml"/><Relationship Id="rId434" Type="http://schemas.openxmlformats.org/officeDocument/2006/relationships/slide" Target="slides/slide428.xml"/><Relationship Id="rId435" Type="http://schemas.openxmlformats.org/officeDocument/2006/relationships/slide" Target="slides/slide429.xml"/><Relationship Id="rId436" Type="http://schemas.openxmlformats.org/officeDocument/2006/relationships/slide" Target="slides/slide430.xml"/><Relationship Id="rId437" Type="http://schemas.openxmlformats.org/officeDocument/2006/relationships/slide" Target="slides/slide431.xml"/><Relationship Id="rId438" Type="http://schemas.openxmlformats.org/officeDocument/2006/relationships/slide" Target="slides/slide432.xml"/><Relationship Id="rId439" Type="http://schemas.openxmlformats.org/officeDocument/2006/relationships/slide" Target="slides/slide433.xml"/><Relationship Id="rId440" Type="http://schemas.openxmlformats.org/officeDocument/2006/relationships/slide" Target="slides/slide434.xml"/><Relationship Id="rId441" Type="http://schemas.openxmlformats.org/officeDocument/2006/relationships/slide" Target="slides/slide435.xml"/><Relationship Id="rId442" Type="http://schemas.openxmlformats.org/officeDocument/2006/relationships/slide" Target="slides/slide436.xml"/><Relationship Id="rId443" Type="http://schemas.openxmlformats.org/officeDocument/2006/relationships/slide" Target="slides/slide437.xml"/><Relationship Id="rId444" Type="http://schemas.openxmlformats.org/officeDocument/2006/relationships/slide" Target="slides/slide438.xml"/><Relationship Id="rId445" Type="http://schemas.openxmlformats.org/officeDocument/2006/relationships/slide" Target="slides/slide439.xml"/><Relationship Id="rId446" Type="http://schemas.openxmlformats.org/officeDocument/2006/relationships/slide" Target="slides/slide440.xml"/><Relationship Id="rId447" Type="http://schemas.openxmlformats.org/officeDocument/2006/relationships/slide" Target="slides/slide441.xml"/><Relationship Id="rId448" Type="http://schemas.openxmlformats.org/officeDocument/2006/relationships/slide" Target="slides/slide442.xml"/><Relationship Id="rId449" Type="http://schemas.openxmlformats.org/officeDocument/2006/relationships/slide" Target="slides/slide443.xml"/><Relationship Id="rId450" Type="http://schemas.openxmlformats.org/officeDocument/2006/relationships/slide" Target="slides/slide444.xml"/><Relationship Id="rId451" Type="http://schemas.openxmlformats.org/officeDocument/2006/relationships/slide" Target="slides/slide445.xml"/><Relationship Id="rId452" Type="http://schemas.openxmlformats.org/officeDocument/2006/relationships/slide" Target="slides/slide446.xml"/><Relationship Id="rId453" Type="http://schemas.openxmlformats.org/officeDocument/2006/relationships/slide" Target="slides/slide447.xml"/><Relationship Id="rId454" Type="http://schemas.openxmlformats.org/officeDocument/2006/relationships/slide" Target="slides/slide448.xml"/><Relationship Id="rId455" Type="http://schemas.openxmlformats.org/officeDocument/2006/relationships/slide" Target="slides/slide449.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6" name="Shape 7596"/>
        <p:cNvGrpSpPr/>
        <p:nvPr/>
      </p:nvGrpSpPr>
      <p:grpSpPr>
        <a:xfrm>
          <a:off x="0" y="0"/>
          <a:ext cx="0" cy="0"/>
          <a:chOff x="0" y="0"/>
          <a:chExt cx="0" cy="0"/>
        </a:xfrm>
      </p:grpSpPr>
      <p:sp>
        <p:nvSpPr>
          <p:cNvPr id="7597" name="Google Shape;7597;p398: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98" name="Google Shape;7598;p3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4" name="Shape 7604"/>
        <p:cNvGrpSpPr/>
        <p:nvPr/>
      </p:nvGrpSpPr>
      <p:grpSpPr>
        <a:xfrm>
          <a:off x="0" y="0"/>
          <a:ext cx="0" cy="0"/>
          <a:chOff x="0" y="0"/>
          <a:chExt cx="0" cy="0"/>
        </a:xfrm>
      </p:grpSpPr>
      <p:sp>
        <p:nvSpPr>
          <p:cNvPr id="7605" name="Google Shape;7605;p3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06" name="Google Shape;7606;p3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2" name="Shape 7612"/>
        <p:cNvGrpSpPr/>
        <p:nvPr/>
      </p:nvGrpSpPr>
      <p:grpSpPr>
        <a:xfrm>
          <a:off x="0" y="0"/>
          <a:ext cx="0" cy="0"/>
          <a:chOff x="0" y="0"/>
          <a:chExt cx="0" cy="0"/>
        </a:xfrm>
      </p:grpSpPr>
      <p:sp>
        <p:nvSpPr>
          <p:cNvPr id="7613" name="Google Shape;7613;p40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4" name="Google Shape;7614;p4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6" name="Shape 7626"/>
        <p:cNvGrpSpPr/>
        <p:nvPr/>
      </p:nvGrpSpPr>
      <p:grpSpPr>
        <a:xfrm>
          <a:off x="0" y="0"/>
          <a:ext cx="0" cy="0"/>
          <a:chOff x="0" y="0"/>
          <a:chExt cx="0" cy="0"/>
        </a:xfrm>
      </p:grpSpPr>
      <p:sp>
        <p:nvSpPr>
          <p:cNvPr id="7627" name="Google Shape;7627;p40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28" name="Google Shape;7628;p4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5" name="Shape 7635"/>
        <p:cNvGrpSpPr/>
        <p:nvPr/>
      </p:nvGrpSpPr>
      <p:grpSpPr>
        <a:xfrm>
          <a:off x="0" y="0"/>
          <a:ext cx="0" cy="0"/>
          <a:chOff x="0" y="0"/>
          <a:chExt cx="0" cy="0"/>
        </a:xfrm>
      </p:grpSpPr>
      <p:sp>
        <p:nvSpPr>
          <p:cNvPr id="7636" name="Google Shape;7636;p403:notes"/>
          <p:cNvSpPr/>
          <p:nvPr>
            <p:ph idx="2" type="sldImg"/>
          </p:nvPr>
        </p:nvSpPr>
        <p:spPr>
          <a:xfrm>
            <a:off x="80816" y="745727"/>
            <a:ext cx="6696369" cy="3730233"/>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37" name="Google Shape;7637;p4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638" name="Google Shape;7638;p40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9" name="Shape 7659"/>
        <p:cNvGrpSpPr/>
        <p:nvPr/>
      </p:nvGrpSpPr>
      <p:grpSpPr>
        <a:xfrm>
          <a:off x="0" y="0"/>
          <a:ext cx="0" cy="0"/>
          <a:chOff x="0" y="0"/>
          <a:chExt cx="0" cy="0"/>
        </a:xfrm>
      </p:grpSpPr>
      <p:sp>
        <p:nvSpPr>
          <p:cNvPr id="7660" name="Google Shape;7660;p40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61" name="Google Shape;7661;p4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62" name="Google Shape;7662;p4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7" name="Shape 7677"/>
        <p:cNvGrpSpPr/>
        <p:nvPr/>
      </p:nvGrpSpPr>
      <p:grpSpPr>
        <a:xfrm>
          <a:off x="0" y="0"/>
          <a:ext cx="0" cy="0"/>
          <a:chOff x="0" y="0"/>
          <a:chExt cx="0" cy="0"/>
        </a:xfrm>
      </p:grpSpPr>
      <p:sp>
        <p:nvSpPr>
          <p:cNvPr id="7678" name="Google Shape;7678;p4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79" name="Google Shape;7679;p4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80" name="Google Shape;7680;p4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9" name="Shape 7709"/>
        <p:cNvGrpSpPr/>
        <p:nvPr/>
      </p:nvGrpSpPr>
      <p:grpSpPr>
        <a:xfrm>
          <a:off x="0" y="0"/>
          <a:ext cx="0" cy="0"/>
          <a:chOff x="0" y="0"/>
          <a:chExt cx="0" cy="0"/>
        </a:xfrm>
      </p:grpSpPr>
      <p:sp>
        <p:nvSpPr>
          <p:cNvPr id="7710" name="Google Shape;7710;p4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11" name="Google Shape;7711;p4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12" name="Google Shape;7712;p4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1" name="Shape 7741"/>
        <p:cNvGrpSpPr/>
        <p:nvPr/>
      </p:nvGrpSpPr>
      <p:grpSpPr>
        <a:xfrm>
          <a:off x="0" y="0"/>
          <a:ext cx="0" cy="0"/>
          <a:chOff x="0" y="0"/>
          <a:chExt cx="0" cy="0"/>
        </a:xfrm>
      </p:grpSpPr>
      <p:sp>
        <p:nvSpPr>
          <p:cNvPr id="7742" name="Google Shape;7742;p4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43" name="Google Shape;7743;p4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44" name="Google Shape;7744;p4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3" name="Shape 7773"/>
        <p:cNvGrpSpPr/>
        <p:nvPr/>
      </p:nvGrpSpPr>
      <p:grpSpPr>
        <a:xfrm>
          <a:off x="0" y="0"/>
          <a:ext cx="0" cy="0"/>
          <a:chOff x="0" y="0"/>
          <a:chExt cx="0" cy="0"/>
        </a:xfrm>
      </p:grpSpPr>
      <p:sp>
        <p:nvSpPr>
          <p:cNvPr id="7774" name="Google Shape;7774;p4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775" name="Google Shape;7775;p4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76" name="Google Shape;7776;p4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5" name="Shape 7805"/>
        <p:cNvGrpSpPr/>
        <p:nvPr/>
      </p:nvGrpSpPr>
      <p:grpSpPr>
        <a:xfrm>
          <a:off x="0" y="0"/>
          <a:ext cx="0" cy="0"/>
          <a:chOff x="0" y="0"/>
          <a:chExt cx="0" cy="0"/>
        </a:xfrm>
      </p:grpSpPr>
      <p:sp>
        <p:nvSpPr>
          <p:cNvPr id="7806" name="Google Shape;7806;p4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07" name="Google Shape;7807;p4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08" name="Google Shape;7808;p4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7" name="Shape 7837"/>
        <p:cNvGrpSpPr/>
        <p:nvPr/>
      </p:nvGrpSpPr>
      <p:grpSpPr>
        <a:xfrm>
          <a:off x="0" y="0"/>
          <a:ext cx="0" cy="0"/>
          <a:chOff x="0" y="0"/>
          <a:chExt cx="0" cy="0"/>
        </a:xfrm>
      </p:grpSpPr>
      <p:sp>
        <p:nvSpPr>
          <p:cNvPr id="7838" name="Google Shape;7838;p4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39" name="Google Shape;7839;p4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40" name="Google Shape;7840;p4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9" name="Shape 7869"/>
        <p:cNvGrpSpPr/>
        <p:nvPr/>
      </p:nvGrpSpPr>
      <p:grpSpPr>
        <a:xfrm>
          <a:off x="0" y="0"/>
          <a:ext cx="0" cy="0"/>
          <a:chOff x="0" y="0"/>
          <a:chExt cx="0" cy="0"/>
        </a:xfrm>
      </p:grpSpPr>
      <p:sp>
        <p:nvSpPr>
          <p:cNvPr id="7870" name="Google Shape;7870;p4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71" name="Google Shape;7871;p4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72" name="Google Shape;7872;p4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1" name="Shape 7901"/>
        <p:cNvGrpSpPr/>
        <p:nvPr/>
      </p:nvGrpSpPr>
      <p:grpSpPr>
        <a:xfrm>
          <a:off x="0" y="0"/>
          <a:ext cx="0" cy="0"/>
          <a:chOff x="0" y="0"/>
          <a:chExt cx="0" cy="0"/>
        </a:xfrm>
      </p:grpSpPr>
      <p:sp>
        <p:nvSpPr>
          <p:cNvPr id="7902" name="Google Shape;7902;p4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03" name="Google Shape;7903;p4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04" name="Google Shape;7904;p4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3" name="Shape 7933"/>
        <p:cNvGrpSpPr/>
        <p:nvPr/>
      </p:nvGrpSpPr>
      <p:grpSpPr>
        <a:xfrm>
          <a:off x="0" y="0"/>
          <a:ext cx="0" cy="0"/>
          <a:chOff x="0" y="0"/>
          <a:chExt cx="0" cy="0"/>
        </a:xfrm>
      </p:grpSpPr>
      <p:sp>
        <p:nvSpPr>
          <p:cNvPr id="7934" name="Google Shape;7934;p42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35" name="Google Shape;7935;p4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36" name="Google Shape;7936;p4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5" name="Shape 7955"/>
        <p:cNvGrpSpPr/>
        <p:nvPr/>
      </p:nvGrpSpPr>
      <p:grpSpPr>
        <a:xfrm>
          <a:off x="0" y="0"/>
          <a:ext cx="0" cy="0"/>
          <a:chOff x="0" y="0"/>
          <a:chExt cx="0" cy="0"/>
        </a:xfrm>
      </p:grpSpPr>
      <p:sp>
        <p:nvSpPr>
          <p:cNvPr id="7956" name="Google Shape;7956;p4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957" name="Google Shape;7957;p4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958" name="Google Shape;7958;p4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3" name="Shape 7983"/>
        <p:cNvGrpSpPr/>
        <p:nvPr/>
      </p:nvGrpSpPr>
      <p:grpSpPr>
        <a:xfrm>
          <a:off x="0" y="0"/>
          <a:ext cx="0" cy="0"/>
          <a:chOff x="0" y="0"/>
          <a:chExt cx="0" cy="0"/>
        </a:xfrm>
      </p:grpSpPr>
      <p:sp>
        <p:nvSpPr>
          <p:cNvPr id="7984" name="Google Shape;7984;p42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85" name="Google Shape;7985;p4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86" name="Google Shape;7986;p4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5" name="Shape 8015"/>
        <p:cNvGrpSpPr/>
        <p:nvPr/>
      </p:nvGrpSpPr>
      <p:grpSpPr>
        <a:xfrm>
          <a:off x="0" y="0"/>
          <a:ext cx="0" cy="0"/>
          <a:chOff x="0" y="0"/>
          <a:chExt cx="0" cy="0"/>
        </a:xfrm>
      </p:grpSpPr>
      <p:sp>
        <p:nvSpPr>
          <p:cNvPr id="8016" name="Google Shape;8016;p42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17" name="Google Shape;8017;p4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18" name="Google Shape;8018;p4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47" name="Shape 8047"/>
        <p:cNvGrpSpPr/>
        <p:nvPr/>
      </p:nvGrpSpPr>
      <p:grpSpPr>
        <a:xfrm>
          <a:off x="0" y="0"/>
          <a:ext cx="0" cy="0"/>
          <a:chOff x="0" y="0"/>
          <a:chExt cx="0" cy="0"/>
        </a:xfrm>
      </p:grpSpPr>
      <p:sp>
        <p:nvSpPr>
          <p:cNvPr id="8048" name="Google Shape;8048;p42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49" name="Google Shape;8049;p4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50" name="Google Shape;8050;p4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9" name="Shape 8079"/>
        <p:cNvGrpSpPr/>
        <p:nvPr/>
      </p:nvGrpSpPr>
      <p:grpSpPr>
        <a:xfrm>
          <a:off x="0" y="0"/>
          <a:ext cx="0" cy="0"/>
          <a:chOff x="0" y="0"/>
          <a:chExt cx="0" cy="0"/>
        </a:xfrm>
      </p:grpSpPr>
      <p:sp>
        <p:nvSpPr>
          <p:cNvPr id="8080" name="Google Shape;8080;p43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81" name="Google Shape;8081;p4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82" name="Google Shape;8082;p4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0" name="Shape 8110"/>
        <p:cNvGrpSpPr/>
        <p:nvPr/>
      </p:nvGrpSpPr>
      <p:grpSpPr>
        <a:xfrm>
          <a:off x="0" y="0"/>
          <a:ext cx="0" cy="0"/>
          <a:chOff x="0" y="0"/>
          <a:chExt cx="0" cy="0"/>
        </a:xfrm>
      </p:grpSpPr>
      <p:sp>
        <p:nvSpPr>
          <p:cNvPr id="8111" name="Google Shape;8111;p43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112" name="Google Shape;8112;p43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13" name="Google Shape;8113;p4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3" name="Shape 8133"/>
        <p:cNvGrpSpPr/>
        <p:nvPr/>
      </p:nvGrpSpPr>
      <p:grpSpPr>
        <a:xfrm>
          <a:off x="0" y="0"/>
          <a:ext cx="0" cy="0"/>
          <a:chOff x="0" y="0"/>
          <a:chExt cx="0" cy="0"/>
        </a:xfrm>
      </p:grpSpPr>
      <p:sp>
        <p:nvSpPr>
          <p:cNvPr id="8134" name="Google Shape;8134;p4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135" name="Google Shape;8135;p4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136" name="Google Shape;8136;p43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6" name="Shape 8176"/>
        <p:cNvGrpSpPr/>
        <p:nvPr/>
      </p:nvGrpSpPr>
      <p:grpSpPr>
        <a:xfrm>
          <a:off x="0" y="0"/>
          <a:ext cx="0" cy="0"/>
          <a:chOff x="0" y="0"/>
          <a:chExt cx="0" cy="0"/>
        </a:xfrm>
      </p:grpSpPr>
      <p:sp>
        <p:nvSpPr>
          <p:cNvPr id="8177" name="Google Shape;8177;p4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178" name="Google Shape;8178;p43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79" name="Google Shape;8179;p4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8" name="Shape 8208"/>
        <p:cNvGrpSpPr/>
        <p:nvPr/>
      </p:nvGrpSpPr>
      <p:grpSpPr>
        <a:xfrm>
          <a:off x="0" y="0"/>
          <a:ext cx="0" cy="0"/>
          <a:chOff x="0" y="0"/>
          <a:chExt cx="0" cy="0"/>
        </a:xfrm>
      </p:grpSpPr>
      <p:sp>
        <p:nvSpPr>
          <p:cNvPr id="8209" name="Google Shape;8209;p4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210" name="Google Shape;8210;p43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11" name="Google Shape;8211;p4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1" name="Shape 8231"/>
        <p:cNvGrpSpPr/>
        <p:nvPr/>
      </p:nvGrpSpPr>
      <p:grpSpPr>
        <a:xfrm>
          <a:off x="0" y="0"/>
          <a:ext cx="0" cy="0"/>
          <a:chOff x="0" y="0"/>
          <a:chExt cx="0" cy="0"/>
        </a:xfrm>
      </p:grpSpPr>
      <p:sp>
        <p:nvSpPr>
          <p:cNvPr id="8232" name="Google Shape;8232;p4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33" name="Google Shape;8233;p4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0" name="Shape 8240"/>
        <p:cNvGrpSpPr/>
        <p:nvPr/>
      </p:nvGrpSpPr>
      <p:grpSpPr>
        <a:xfrm>
          <a:off x="0" y="0"/>
          <a:ext cx="0" cy="0"/>
          <a:chOff x="0" y="0"/>
          <a:chExt cx="0" cy="0"/>
        </a:xfrm>
      </p:grpSpPr>
      <p:sp>
        <p:nvSpPr>
          <p:cNvPr id="8241" name="Google Shape;8241;p44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242" name="Google Shape;8242;p4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243" name="Google Shape;8243;p44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3" name="Shape 8283"/>
        <p:cNvGrpSpPr/>
        <p:nvPr/>
      </p:nvGrpSpPr>
      <p:grpSpPr>
        <a:xfrm>
          <a:off x="0" y="0"/>
          <a:ext cx="0" cy="0"/>
          <a:chOff x="0" y="0"/>
          <a:chExt cx="0" cy="0"/>
        </a:xfrm>
      </p:grpSpPr>
      <p:sp>
        <p:nvSpPr>
          <p:cNvPr id="8284" name="Google Shape;8284;p4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85" name="Google Shape;8285;p4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86" name="Google Shape;8286;p4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6" name="Shape 8306"/>
        <p:cNvGrpSpPr/>
        <p:nvPr/>
      </p:nvGrpSpPr>
      <p:grpSpPr>
        <a:xfrm>
          <a:off x="0" y="0"/>
          <a:ext cx="0" cy="0"/>
          <a:chOff x="0" y="0"/>
          <a:chExt cx="0" cy="0"/>
        </a:xfrm>
      </p:grpSpPr>
      <p:sp>
        <p:nvSpPr>
          <p:cNvPr id="8307" name="Google Shape;8307;p44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308" name="Google Shape;8308;p4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5" name="Shape 8315"/>
        <p:cNvGrpSpPr/>
        <p:nvPr/>
      </p:nvGrpSpPr>
      <p:grpSpPr>
        <a:xfrm>
          <a:off x="0" y="0"/>
          <a:ext cx="0" cy="0"/>
          <a:chOff x="0" y="0"/>
          <a:chExt cx="0" cy="0"/>
        </a:xfrm>
      </p:grpSpPr>
      <p:sp>
        <p:nvSpPr>
          <p:cNvPr id="8316" name="Google Shape;8316;p44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317" name="Google Shape;8317;p4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318" name="Google Shape;8318;p44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8" name="Shape 8358"/>
        <p:cNvGrpSpPr/>
        <p:nvPr/>
      </p:nvGrpSpPr>
      <p:grpSpPr>
        <a:xfrm>
          <a:off x="0" y="0"/>
          <a:ext cx="0" cy="0"/>
          <a:chOff x="0" y="0"/>
          <a:chExt cx="0" cy="0"/>
        </a:xfrm>
      </p:grpSpPr>
      <p:sp>
        <p:nvSpPr>
          <p:cNvPr id="8359" name="Google Shape;8359;p4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60" name="Google Shape;8360;p4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61" name="Google Shape;8361;p4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8.xml"/><Relationship Id="rId3" Type="http://schemas.openxmlformats.org/officeDocument/2006/relationships/image" Target="../media/image78.jpg"/><Relationship Id="rId4" Type="http://schemas.openxmlformats.org/officeDocument/2006/relationships/slide" Target="slide390.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9.xml"/><Relationship Id="rId3" Type="http://schemas.openxmlformats.org/officeDocument/2006/relationships/image" Target="../media/image78.jpg"/><Relationship Id="rId4" Type="http://schemas.openxmlformats.org/officeDocument/2006/relationships/slide" Target="slide390.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0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02.xml"/><Relationship Id="rId3" Type="http://schemas.openxmlformats.org/officeDocument/2006/relationships/image" Target="../media/image92.jpg"/><Relationship Id="rId4" Type="http://schemas.openxmlformats.org/officeDocument/2006/relationships/slide" Target="slide391.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03.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4.xml"/><Relationship Id="rId3" Type="http://schemas.openxmlformats.org/officeDocument/2006/relationships/slide" Target="slide394.xml"/><Relationship Id="rId4" Type="http://schemas.openxmlformats.org/officeDocument/2006/relationships/slide" Target="slide391.xml"/><Relationship Id="rId5" Type="http://schemas.openxmlformats.org/officeDocument/2006/relationships/image" Target="../media/image88.jpg"/></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05.xml"/><Relationship Id="rId3"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07.xml"/><Relationship Id="rId3" Type="http://schemas.openxmlformats.org/officeDocument/2006/relationships/slide" Target="slide391.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09.xml"/><Relationship Id="rId3" Type="http://schemas.openxmlformats.org/officeDocument/2006/relationships/slide" Target="slide391.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1.xml"/><Relationship Id="rId3" Type="http://schemas.openxmlformats.org/officeDocument/2006/relationships/slide" Target="slide391.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3.xml"/><Relationship Id="rId3" Type="http://schemas.openxmlformats.org/officeDocument/2006/relationships/slide" Target="slide391.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5.xml"/><Relationship Id="rId3" Type="http://schemas.openxmlformats.org/officeDocument/2006/relationships/slide" Target="slide391.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7.xml"/><Relationship Id="rId3" Type="http://schemas.openxmlformats.org/officeDocument/2006/relationships/slide" Target="slide391.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9.xml"/><Relationship Id="rId3" Type="http://schemas.openxmlformats.org/officeDocument/2006/relationships/slide" Target="slide391.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21.xml"/><Relationship Id="rId3" Type="http://schemas.openxmlformats.org/officeDocument/2006/relationships/slide" Target="slide391.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23.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25.xml"/><Relationship Id="rId3" Type="http://schemas.openxmlformats.org/officeDocument/2006/relationships/slide" Target="slide392.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27.xml"/><Relationship Id="rId3" Type="http://schemas.openxmlformats.org/officeDocument/2006/relationships/slide" Target="slide392.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29.xml"/><Relationship Id="rId3" Type="http://schemas.openxmlformats.org/officeDocument/2006/relationships/slide" Target="slide392.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31.xml"/><Relationship Id="rId3" Type="http://schemas.openxmlformats.org/officeDocument/2006/relationships/slide" Target="slide392.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33.xml"/><Relationship Id="rId3" Type="http://schemas.openxmlformats.org/officeDocument/2006/relationships/slide" Target="slide392.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5.xml"/><Relationship Id="rId3"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37.xml"/><Relationship Id="rId3" Type="http://schemas.openxmlformats.org/officeDocument/2006/relationships/slide" Target="slide392.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39.xml"/><Relationship Id="rId3" Type="http://schemas.openxmlformats.org/officeDocument/2006/relationships/slide" Target="slide392.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41.xml"/><Relationship Id="rId3" Type="http://schemas.openxmlformats.org/officeDocument/2006/relationships/image" Target="../media/image89.jpg"/><Relationship Id="rId4" Type="http://schemas.openxmlformats.org/officeDocument/2006/relationships/slide" Target="slide393.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42.xml"/><Relationship Id="rId3"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44.xml"/><Relationship Id="rId3" Type="http://schemas.openxmlformats.org/officeDocument/2006/relationships/slide" Target="slide393.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46.xml"/><Relationship Id="rId3" Type="http://schemas.openxmlformats.org/officeDocument/2006/relationships/image" Target="../media/image89.jpg"/><Relationship Id="rId4" Type="http://schemas.openxmlformats.org/officeDocument/2006/relationships/slide" Target="slide393.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47.xml"/><Relationship Id="rId3"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49.xml"/><Relationship Id="rId3" Type="http://schemas.openxmlformats.org/officeDocument/2006/relationships/slide" Target="slide393.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9" name="Shape 7599"/>
        <p:cNvGrpSpPr/>
        <p:nvPr/>
      </p:nvGrpSpPr>
      <p:grpSpPr>
        <a:xfrm>
          <a:off x="0" y="0"/>
          <a:ext cx="0" cy="0"/>
          <a:chOff x="0" y="0"/>
          <a:chExt cx="0" cy="0"/>
        </a:xfrm>
      </p:grpSpPr>
      <p:sp>
        <p:nvSpPr>
          <p:cNvPr id="7600" name="Google Shape;7600;p428"/>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169863" lvl="0" marL="169863" rtl="0" algn="l">
              <a:lnSpc>
                <a:spcPct val="110000"/>
              </a:lnSpc>
              <a:spcBef>
                <a:spcPts val="0"/>
              </a:spcBef>
              <a:spcAft>
                <a:spcPts val="0"/>
              </a:spcAft>
              <a:buClr>
                <a:schemeClr val="dk1"/>
              </a:buClr>
              <a:buSzPts val="1600"/>
              <a:buChar char="•"/>
            </a:pPr>
            <a:r>
              <a:rPr lang="en-GB" sz="1600"/>
              <a:t>Common Core for Risk Analytics</a:t>
            </a:r>
            <a:endParaRPr/>
          </a:p>
          <a:p>
            <a:pPr indent="-169863" lvl="0" marL="169863" rtl="0" algn="l">
              <a:lnSpc>
                <a:spcPct val="110000"/>
              </a:lnSpc>
              <a:spcBef>
                <a:spcPts val="800"/>
              </a:spcBef>
              <a:spcAft>
                <a:spcPts val="0"/>
              </a:spcAft>
              <a:buClr>
                <a:schemeClr val="dk1"/>
              </a:buClr>
              <a:buSzPts val="1600"/>
              <a:buChar char="•"/>
            </a:pPr>
            <a:r>
              <a:rPr lang="en-GB" sz="1600"/>
              <a:t>Credit Risk</a:t>
            </a:r>
            <a:endParaRPr/>
          </a:p>
          <a:p>
            <a:pPr indent="-169863" lvl="0" marL="169863" rtl="0" algn="l">
              <a:lnSpc>
                <a:spcPct val="110000"/>
              </a:lnSpc>
              <a:spcBef>
                <a:spcPts val="800"/>
              </a:spcBef>
              <a:spcAft>
                <a:spcPts val="0"/>
              </a:spcAft>
              <a:buClr>
                <a:schemeClr val="dk1"/>
              </a:buClr>
              <a:buSzPts val="1600"/>
              <a:buChar char="•"/>
            </a:pPr>
            <a:r>
              <a:rPr lang="en-GB" sz="1600"/>
              <a:t>Market Risk</a:t>
            </a:r>
            <a:endParaRPr/>
          </a:p>
          <a:p>
            <a:pPr indent="-169863" lvl="0" marL="169863" rtl="0" algn="l">
              <a:lnSpc>
                <a:spcPct val="110000"/>
              </a:lnSpc>
              <a:spcBef>
                <a:spcPts val="800"/>
              </a:spcBef>
              <a:spcAft>
                <a:spcPts val="0"/>
              </a:spcAft>
              <a:buClr>
                <a:schemeClr val="dk1"/>
              </a:buClr>
              <a:buSzPts val="1600"/>
              <a:buChar char="•"/>
            </a:pPr>
            <a:r>
              <a:rPr lang="en-GB" sz="1600"/>
              <a:t>Revenue Integrity</a:t>
            </a:r>
            <a:endParaRPr/>
          </a:p>
          <a:p>
            <a:pPr indent="-169863" lvl="0" marL="169863" rtl="0" algn="l">
              <a:lnSpc>
                <a:spcPct val="110000"/>
              </a:lnSpc>
              <a:spcBef>
                <a:spcPts val="800"/>
              </a:spcBef>
              <a:spcAft>
                <a:spcPts val="0"/>
              </a:spcAft>
              <a:buClr>
                <a:schemeClr val="dk1"/>
              </a:buClr>
              <a:buSzPts val="1600"/>
              <a:buChar char="•"/>
            </a:pPr>
            <a:r>
              <a:rPr lang="en-GB" sz="1600"/>
              <a:t>Collections</a:t>
            </a:r>
            <a:endParaRPr sz="1600"/>
          </a:p>
        </p:txBody>
      </p:sp>
      <p:sp>
        <p:nvSpPr>
          <p:cNvPr id="7601" name="Google Shape;7601;p428"/>
          <p:cNvSpPr txBox="1"/>
          <p:nvPr>
            <p:ph type="title"/>
          </p:nvPr>
        </p:nvSpPr>
        <p:spPr>
          <a:xfrm>
            <a:off x="477880" y="174273"/>
            <a:ext cx="472912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Insights of Risk Mitigation &amp; Management</a:t>
            </a:r>
            <a:endParaRPr/>
          </a:p>
        </p:txBody>
      </p:sp>
      <p:pic>
        <p:nvPicPr>
          <p:cNvPr descr="DIS-1001-H.jpg" id="7602" name="Google Shape;7602;p428"/>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603" name="Google Shape;7603;p428">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07" name="Shape 7607"/>
        <p:cNvGrpSpPr/>
        <p:nvPr/>
      </p:nvGrpSpPr>
      <p:grpSpPr>
        <a:xfrm>
          <a:off x="0" y="0"/>
          <a:ext cx="0" cy="0"/>
          <a:chOff x="0" y="0"/>
          <a:chExt cx="0" cy="0"/>
        </a:xfrm>
      </p:grpSpPr>
      <p:sp>
        <p:nvSpPr>
          <p:cNvPr id="7608" name="Google Shape;7608;p4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Mitigation &amp; Management</a:t>
            </a:r>
            <a:endParaRPr/>
          </a:p>
        </p:txBody>
      </p:sp>
      <p:pic>
        <p:nvPicPr>
          <p:cNvPr descr="DIS-1001-H.jpg" id="7609" name="Google Shape;7609;p429"/>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610" name="Google Shape;7610;p429"/>
          <p:cNvSpPr txBox="1"/>
          <p:nvPr>
            <p:ph idx="4294967295" type="body"/>
          </p:nvPr>
        </p:nvSpPr>
        <p:spPr>
          <a:xfrm>
            <a:off x="295420" y="1017046"/>
            <a:ext cx="4844955" cy="3672000"/>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solidFill>
                  <a:schemeClr val="dk2"/>
                </a:solidFill>
              </a:rPr>
              <a:t>   Are You Able To…</a:t>
            </a:r>
            <a:endParaRPr/>
          </a:p>
          <a:p>
            <a:pPr indent="-228600" lvl="1" marL="457200" rtl="0" algn="l">
              <a:lnSpc>
                <a:spcPct val="85000"/>
              </a:lnSpc>
              <a:spcBef>
                <a:spcPts val="200"/>
              </a:spcBef>
              <a:spcAft>
                <a:spcPts val="0"/>
              </a:spcAft>
              <a:buClr>
                <a:schemeClr val="dk1"/>
              </a:buClr>
              <a:buSzPts val="1400"/>
              <a:buChar char="–"/>
            </a:pPr>
            <a:r>
              <a:rPr lang="en-GB" sz="1400"/>
              <a:t>Question 1</a:t>
            </a:r>
            <a:endParaRPr/>
          </a:p>
          <a:p>
            <a:pPr indent="-228600" lvl="1" marL="457200" rtl="0" algn="l">
              <a:lnSpc>
                <a:spcPct val="85000"/>
              </a:lnSpc>
              <a:spcBef>
                <a:spcPts val="200"/>
              </a:spcBef>
              <a:spcAft>
                <a:spcPts val="0"/>
              </a:spcAft>
              <a:buClr>
                <a:schemeClr val="dk1"/>
              </a:buClr>
              <a:buSzPts val="1400"/>
              <a:buChar char="–"/>
            </a:pPr>
            <a:r>
              <a:rPr lang="en-GB" sz="1400"/>
              <a:t>Question 2</a:t>
            </a:r>
            <a:endParaRPr/>
          </a:p>
          <a:p>
            <a:pPr indent="-228600" lvl="1" marL="457200" rtl="0" algn="l">
              <a:lnSpc>
                <a:spcPct val="85000"/>
              </a:lnSpc>
              <a:spcBef>
                <a:spcPts val="200"/>
              </a:spcBef>
              <a:spcAft>
                <a:spcPts val="0"/>
              </a:spcAft>
              <a:buClr>
                <a:schemeClr val="dk1"/>
              </a:buClr>
              <a:buSzPts val="1400"/>
              <a:buChar char="–"/>
            </a:pPr>
            <a:r>
              <a:rPr lang="en-GB" sz="1400"/>
              <a:t>Question 3</a:t>
            </a:r>
            <a:endParaRPr sz="1200"/>
          </a:p>
          <a:p>
            <a:pPr indent="-152400" lvl="1" marL="457200" rtl="0" algn="l">
              <a:lnSpc>
                <a:spcPct val="85000"/>
              </a:lnSpc>
              <a:spcBef>
                <a:spcPts val="1400"/>
              </a:spcBef>
              <a:spcAft>
                <a:spcPts val="0"/>
              </a:spcAft>
              <a:buClr>
                <a:schemeClr val="dk1"/>
              </a:buClr>
              <a:buSzPts val="1200"/>
              <a:buNone/>
            </a:pPr>
            <a:r>
              <a:t/>
            </a:r>
            <a:endParaRPr sz="1200"/>
          </a:p>
          <a:p>
            <a:pPr indent="-152400" lvl="1" marL="457200" rtl="0" algn="l">
              <a:lnSpc>
                <a:spcPct val="85000"/>
              </a:lnSpc>
              <a:spcBef>
                <a:spcPts val="400"/>
              </a:spcBef>
              <a:spcAft>
                <a:spcPts val="0"/>
              </a:spcAft>
              <a:buClr>
                <a:schemeClr val="dk1"/>
              </a:buClr>
              <a:buSzPts val="1200"/>
              <a:buNone/>
            </a:pPr>
            <a:r>
              <a:t/>
            </a:r>
            <a:endParaRPr sz="1200"/>
          </a:p>
          <a:p>
            <a:pPr indent="-80963" lvl="0" marL="169863" rtl="0" algn="l">
              <a:lnSpc>
                <a:spcPct val="95000"/>
              </a:lnSpc>
              <a:spcBef>
                <a:spcPts val="800"/>
              </a:spcBef>
              <a:spcAft>
                <a:spcPts val="0"/>
              </a:spcAft>
              <a:buClr>
                <a:schemeClr val="dk1"/>
              </a:buClr>
              <a:buSzPts val="1400"/>
              <a:buNone/>
            </a:pPr>
            <a:r>
              <a:t/>
            </a:r>
            <a:endParaRPr sz="1400"/>
          </a:p>
        </p:txBody>
      </p:sp>
      <p:sp>
        <p:nvSpPr>
          <p:cNvPr id="7611" name="Google Shape;7611;p42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5" name="Shape 7615"/>
        <p:cNvGrpSpPr/>
        <p:nvPr/>
      </p:nvGrpSpPr>
      <p:grpSpPr>
        <a:xfrm>
          <a:off x="0" y="0"/>
          <a:ext cx="0" cy="0"/>
          <a:chOff x="0" y="0"/>
          <a:chExt cx="0" cy="0"/>
        </a:xfrm>
      </p:grpSpPr>
      <p:sp>
        <p:nvSpPr>
          <p:cNvPr id="7616" name="Google Shape;7616;p430"/>
          <p:cNvSpPr txBox="1"/>
          <p:nvPr>
            <p:ph idx="1" type="body"/>
          </p:nvPr>
        </p:nvSpPr>
        <p:spPr>
          <a:xfrm>
            <a:off x="0" y="2168451"/>
            <a:ext cx="9144000" cy="806631"/>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Risk Management &amp; Mitigation</a:t>
            </a:r>
            <a:br>
              <a:rPr lang="en-GB"/>
            </a:br>
            <a:r>
              <a:rPr lang="en-GB"/>
              <a:t>Capabilities</a:t>
            </a:r>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9" name="Shape 7629"/>
        <p:cNvGrpSpPr/>
        <p:nvPr/>
      </p:nvGrpSpPr>
      <p:grpSpPr>
        <a:xfrm>
          <a:off x="0" y="0"/>
          <a:ext cx="0" cy="0"/>
          <a:chOff x="0" y="0"/>
          <a:chExt cx="0" cy="0"/>
        </a:xfrm>
      </p:grpSpPr>
      <p:sp>
        <p:nvSpPr>
          <p:cNvPr id="7630" name="Google Shape;7630;p432"/>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1" name="Google Shape;7631;p432"/>
          <p:cNvSpPr txBox="1"/>
          <p:nvPr>
            <p:ph idx="1" type="body"/>
          </p:nvPr>
        </p:nvSpPr>
        <p:spPr>
          <a:xfrm>
            <a:off x="270933" y="604172"/>
            <a:ext cx="5226755"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400"/>
              <a:buChar char="•"/>
            </a:pPr>
            <a:r>
              <a:rPr lang="en-GB" sz="1400"/>
              <a:t>Provide all teams responsible for Risk Management, Fraud, Regulation and Compliance with access to a shared data and analytical infrastructure which:</a:t>
            </a:r>
            <a:endParaRPr/>
          </a:p>
          <a:p>
            <a:pPr indent="-230187" lvl="1" marL="515938" rtl="0" algn="just">
              <a:lnSpc>
                <a:spcPct val="85000"/>
              </a:lnSpc>
              <a:spcBef>
                <a:spcPts val="600"/>
              </a:spcBef>
              <a:spcAft>
                <a:spcPts val="0"/>
              </a:spcAft>
              <a:buClr>
                <a:schemeClr val="dk1"/>
              </a:buClr>
              <a:buSzPts val="1200"/>
              <a:buChar char="–"/>
            </a:pPr>
            <a:r>
              <a:rPr lang="en-GB" sz="1200"/>
              <a:t>Contains common, integrated data with agreed definitions and well-defined quality metrics</a:t>
            </a:r>
            <a:endParaRPr/>
          </a:p>
          <a:p>
            <a:pPr indent="-230187" lvl="1" marL="515938" rtl="0" algn="just">
              <a:lnSpc>
                <a:spcPct val="85000"/>
              </a:lnSpc>
              <a:spcBef>
                <a:spcPts val="600"/>
              </a:spcBef>
              <a:spcAft>
                <a:spcPts val="0"/>
              </a:spcAft>
              <a:buClr>
                <a:schemeClr val="dk1"/>
              </a:buClr>
              <a:buSzPts val="1200"/>
              <a:buChar char="–"/>
            </a:pPr>
            <a:r>
              <a:rPr lang="en-GB" sz="1200"/>
              <a:t>Supports both traditional structured data and multi-structured data such as web, logs, text, sensors, images etc.</a:t>
            </a:r>
            <a:endParaRPr/>
          </a:p>
          <a:p>
            <a:pPr indent="-230187" lvl="1" marL="515938" rtl="0" algn="just">
              <a:lnSpc>
                <a:spcPct val="85000"/>
              </a:lnSpc>
              <a:spcBef>
                <a:spcPts val="600"/>
              </a:spcBef>
              <a:spcAft>
                <a:spcPts val="0"/>
              </a:spcAft>
              <a:buClr>
                <a:schemeClr val="dk1"/>
              </a:buClr>
              <a:buSzPts val="1200"/>
              <a:buChar char="–"/>
            </a:pPr>
            <a:r>
              <a:rPr lang="en-GB" sz="1200"/>
              <a:t>Delivers access to data and analytical capabilities which can operate against all available data, and which meet the needs of diverse end-users e.g.</a:t>
            </a:r>
            <a:endParaRPr/>
          </a:p>
          <a:p>
            <a:pPr indent="-171450" lvl="2" marL="687388" rtl="0" algn="just">
              <a:lnSpc>
                <a:spcPct val="85000"/>
              </a:lnSpc>
              <a:spcBef>
                <a:spcPts val="600"/>
              </a:spcBef>
              <a:spcAft>
                <a:spcPts val="0"/>
              </a:spcAft>
              <a:buClr>
                <a:schemeClr val="dk1"/>
              </a:buClr>
              <a:buSzPts val="1000"/>
              <a:buChar char="-"/>
            </a:pPr>
            <a:r>
              <a:rPr lang="en-GB" sz="1000"/>
              <a:t>Reporting, BI and dashboards</a:t>
            </a:r>
            <a:endParaRPr/>
          </a:p>
          <a:p>
            <a:pPr indent="-171450" lvl="2" marL="687388" rtl="0" algn="just">
              <a:lnSpc>
                <a:spcPct val="85000"/>
              </a:lnSpc>
              <a:spcBef>
                <a:spcPts val="600"/>
              </a:spcBef>
              <a:spcAft>
                <a:spcPts val="0"/>
              </a:spcAft>
              <a:buClr>
                <a:schemeClr val="dk1"/>
              </a:buClr>
              <a:buSzPts val="1000"/>
              <a:buChar char="-"/>
            </a:pPr>
            <a:r>
              <a:rPr lang="en-GB" sz="1000"/>
              <a:t>Statistical and other traditional analytical tools and applications – often including the capability to execute in-database analytics for the highest performance</a:t>
            </a:r>
            <a:endParaRPr/>
          </a:p>
          <a:p>
            <a:pPr indent="-171450" lvl="2" marL="687388" rtl="0" algn="just">
              <a:lnSpc>
                <a:spcPct val="85000"/>
              </a:lnSpc>
              <a:spcBef>
                <a:spcPts val="600"/>
              </a:spcBef>
              <a:spcAft>
                <a:spcPts val="0"/>
              </a:spcAft>
              <a:buClr>
                <a:schemeClr val="dk1"/>
              </a:buClr>
              <a:buSzPts val="1000"/>
              <a:buChar char="-"/>
            </a:pPr>
            <a:r>
              <a:rPr lang="en-GB" sz="1000"/>
              <a:t>Modern analytical development tools and languages, such as R and Python</a:t>
            </a:r>
            <a:endParaRPr/>
          </a:p>
          <a:p>
            <a:pPr indent="-171450" lvl="2" marL="687388" rtl="0" algn="just">
              <a:lnSpc>
                <a:spcPct val="85000"/>
              </a:lnSpc>
              <a:spcBef>
                <a:spcPts val="600"/>
              </a:spcBef>
              <a:spcAft>
                <a:spcPts val="0"/>
              </a:spcAft>
              <a:buClr>
                <a:schemeClr val="dk1"/>
              </a:buClr>
              <a:buSzPts val="1000"/>
              <a:buChar char="-"/>
            </a:pPr>
            <a:r>
              <a:rPr lang="en-GB" sz="1000"/>
              <a:t>Multi-genre analytical tools which span structured and multi-structured data, and deliver new analytical and visualisation capabilities</a:t>
            </a:r>
            <a:endParaRPr/>
          </a:p>
          <a:p>
            <a:pPr indent="-230187" lvl="1" marL="515938" rtl="0" algn="just">
              <a:lnSpc>
                <a:spcPct val="85000"/>
              </a:lnSpc>
              <a:spcBef>
                <a:spcPts val="600"/>
              </a:spcBef>
              <a:spcAft>
                <a:spcPts val="0"/>
              </a:spcAft>
              <a:buClr>
                <a:schemeClr val="dk1"/>
              </a:buClr>
              <a:buSzPts val="1200"/>
              <a:buChar char="–"/>
            </a:pPr>
            <a:r>
              <a:rPr lang="en-GB" sz="1200"/>
              <a:t>Meets all critical business SLAs such as timeliness, quality, query and analytical performance</a:t>
            </a:r>
            <a:endParaRPr sz="1200"/>
          </a:p>
        </p:txBody>
      </p:sp>
      <p:sp>
        <p:nvSpPr>
          <p:cNvPr id="7632" name="Google Shape;7632;p432"/>
          <p:cNvSpPr txBox="1"/>
          <p:nvPr>
            <p:ph type="title"/>
          </p:nvPr>
        </p:nvSpPr>
        <p:spPr>
          <a:xfrm>
            <a:off x="259644" y="174273"/>
            <a:ext cx="5653476"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pic>
        <p:nvPicPr>
          <p:cNvPr id="7633" name="Google Shape;7633;p432"/>
          <p:cNvPicPr preferRelativeResize="0"/>
          <p:nvPr/>
        </p:nvPicPr>
        <p:blipFill rotWithShape="1">
          <a:blip r:embed="rId3">
            <a:alphaModFix/>
          </a:blip>
          <a:srcRect b="0" l="0" r="0" t="0"/>
          <a:stretch/>
        </p:blipFill>
        <p:spPr>
          <a:xfrm>
            <a:off x="5813778" y="967317"/>
            <a:ext cx="3330222" cy="2396066"/>
          </a:xfrm>
          <a:prstGeom prst="rect">
            <a:avLst/>
          </a:prstGeom>
          <a:noFill/>
          <a:ln>
            <a:noFill/>
          </a:ln>
        </p:spPr>
      </p:pic>
      <p:sp>
        <p:nvSpPr>
          <p:cNvPr id="7634" name="Google Shape;7634;p43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9" name="Shape 7639"/>
        <p:cNvGrpSpPr/>
        <p:nvPr/>
      </p:nvGrpSpPr>
      <p:grpSpPr>
        <a:xfrm>
          <a:off x="0" y="0"/>
          <a:ext cx="0" cy="0"/>
          <a:chOff x="0" y="0"/>
          <a:chExt cx="0" cy="0"/>
        </a:xfrm>
      </p:grpSpPr>
      <p:sp>
        <p:nvSpPr>
          <p:cNvPr id="7640" name="Google Shape;7640;p433"/>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r>
              <a:rPr lang="en-GB"/>
              <a:t>What are the challenges?</a:t>
            </a:r>
            <a:endParaRPr/>
          </a:p>
        </p:txBody>
      </p:sp>
      <p:grpSp>
        <p:nvGrpSpPr>
          <p:cNvPr id="7641" name="Google Shape;7641;p433"/>
          <p:cNvGrpSpPr/>
          <p:nvPr/>
        </p:nvGrpSpPr>
        <p:grpSpPr>
          <a:xfrm>
            <a:off x="438691" y="2524118"/>
            <a:ext cx="8306242" cy="700743"/>
            <a:chOff x="456759" y="2468314"/>
            <a:chExt cx="8306242" cy="700743"/>
          </a:xfrm>
        </p:grpSpPr>
        <p:sp>
          <p:nvSpPr>
            <p:cNvPr id="7642" name="Google Shape;7642;p433"/>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7643" name="Google Shape;7643;p433"/>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7644" name="Google Shape;7644;p433"/>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7645" name="Google Shape;7645;p433"/>
          <p:cNvGrpSpPr/>
          <p:nvPr/>
        </p:nvGrpSpPr>
        <p:grpSpPr>
          <a:xfrm>
            <a:off x="438690" y="1764058"/>
            <a:ext cx="8306240" cy="720600"/>
            <a:chOff x="456758" y="1764058"/>
            <a:chExt cx="8306240" cy="720600"/>
          </a:xfrm>
        </p:grpSpPr>
        <p:sp>
          <p:nvSpPr>
            <p:cNvPr id="7646" name="Google Shape;7646;p433"/>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7647" name="Google Shape;7647;p433"/>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7648" name="Google Shape;7648;p433"/>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7649" name="Google Shape;7649;p433"/>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7650" name="Google Shape;7650;p433"/>
          <p:cNvGrpSpPr/>
          <p:nvPr/>
        </p:nvGrpSpPr>
        <p:grpSpPr>
          <a:xfrm>
            <a:off x="438691" y="4004525"/>
            <a:ext cx="8306242" cy="700825"/>
            <a:chOff x="456759" y="4004525"/>
            <a:chExt cx="8306242" cy="700825"/>
          </a:xfrm>
        </p:grpSpPr>
        <p:sp>
          <p:nvSpPr>
            <p:cNvPr id="7651" name="Google Shape;7651;p433"/>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7652" name="Google Shape;7652;p433"/>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7653" name="Google Shape;7653;p433"/>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7654" name="Google Shape;7654;p433"/>
          <p:cNvGrpSpPr/>
          <p:nvPr/>
        </p:nvGrpSpPr>
        <p:grpSpPr>
          <a:xfrm>
            <a:off x="438691" y="3264321"/>
            <a:ext cx="8306242" cy="700743"/>
            <a:chOff x="456759" y="3170400"/>
            <a:chExt cx="8306242" cy="700743"/>
          </a:xfrm>
        </p:grpSpPr>
        <p:sp>
          <p:nvSpPr>
            <p:cNvPr id="7655" name="Google Shape;7655;p433"/>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7656" name="Google Shape;7656;p433"/>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7657" name="Google Shape;7657;p433"/>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7658" name="Google Shape;7658;p433"/>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Description</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4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3" name="Shape 7663"/>
        <p:cNvGrpSpPr/>
        <p:nvPr/>
      </p:nvGrpSpPr>
      <p:grpSpPr>
        <a:xfrm>
          <a:off x="0" y="0"/>
          <a:ext cx="0" cy="0"/>
          <a:chOff x="0" y="0"/>
          <a:chExt cx="0" cy="0"/>
        </a:xfrm>
      </p:grpSpPr>
      <p:cxnSp>
        <p:nvCxnSpPr>
          <p:cNvPr id="7664" name="Google Shape;7664;p4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65" name="Google Shape;7665;p434"/>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Propensity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propensity scores, incidence rates, factors and triggers leading to risk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66" name="Google Shape;7666;p4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Propensity Modelling and</a:t>
            </a:r>
            <a:br>
              <a:rPr lang="en-GB"/>
            </a:br>
            <a:r>
              <a:rPr lang="en-GB"/>
              <a:t>Analysis</a:t>
            </a:r>
            <a:endParaRPr sz="1600"/>
          </a:p>
        </p:txBody>
      </p:sp>
      <p:grpSp>
        <p:nvGrpSpPr>
          <p:cNvPr id="7667" name="Google Shape;7667;p434"/>
          <p:cNvGrpSpPr/>
          <p:nvPr/>
        </p:nvGrpSpPr>
        <p:grpSpPr>
          <a:xfrm>
            <a:off x="7717533" y="4360377"/>
            <a:ext cx="1058348" cy="347375"/>
            <a:chOff x="7651698" y="4287227"/>
            <a:chExt cx="1058348" cy="347375"/>
          </a:xfrm>
        </p:grpSpPr>
        <p:grpSp>
          <p:nvGrpSpPr>
            <p:cNvPr id="7668" name="Google Shape;7668;p434"/>
            <p:cNvGrpSpPr/>
            <p:nvPr/>
          </p:nvGrpSpPr>
          <p:grpSpPr>
            <a:xfrm>
              <a:off x="7714163" y="4337598"/>
              <a:ext cx="995883" cy="297004"/>
              <a:chOff x="7711013" y="3986494"/>
              <a:chExt cx="995883" cy="297004"/>
            </a:xfrm>
          </p:grpSpPr>
          <p:sp>
            <p:nvSpPr>
              <p:cNvPr id="7669" name="Google Shape;7669;p4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670" name="Google Shape;7670;p434"/>
              <p:cNvGrpSpPr/>
              <p:nvPr/>
            </p:nvGrpSpPr>
            <p:grpSpPr>
              <a:xfrm>
                <a:off x="7711013" y="4002615"/>
                <a:ext cx="281520" cy="241973"/>
                <a:chOff x="5652748" y="4066000"/>
                <a:chExt cx="906498" cy="747974"/>
              </a:xfrm>
            </p:grpSpPr>
            <p:sp>
              <p:nvSpPr>
                <p:cNvPr id="7671" name="Google Shape;7671;p4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672" name="Google Shape;7672;p4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73" name="Google Shape;7673;p4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674" name="Google Shape;7674;p434">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675" name="Google Shape;7675;p43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676" name="Google Shape;7676;p434"/>
          <p:cNvPicPr preferRelativeResize="0"/>
          <p:nvPr/>
        </p:nvPicPr>
        <p:blipFill rotWithShape="1">
          <a:blip r:embed="rId5">
            <a:alphaModFix/>
          </a:blip>
          <a:srcRect b="0" l="0" r="0" t="0"/>
          <a:stretch/>
        </p:blipFill>
        <p:spPr>
          <a:xfrm>
            <a:off x="5517080" y="269125"/>
            <a:ext cx="3447533" cy="2221159"/>
          </a:xfrm>
          <a:prstGeom prst="rect">
            <a:avLst/>
          </a:prstGeom>
          <a:noFill/>
          <a:ln>
            <a:noFill/>
          </a:ln>
        </p:spPr>
      </p:pic>
    </p:spTree>
  </p:cSld>
  <p:clrMapOvr>
    <a:masterClrMapping/>
  </p:clrMapOvr>
</p:sld>
</file>

<file path=ppt/slides/slide4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81" name="Shape 7681"/>
        <p:cNvGrpSpPr/>
        <p:nvPr/>
      </p:nvGrpSpPr>
      <p:grpSpPr>
        <a:xfrm>
          <a:off x="0" y="0"/>
          <a:ext cx="0" cy="0"/>
          <a:chOff x="0" y="0"/>
          <a:chExt cx="0" cy="0"/>
        </a:xfrm>
      </p:grpSpPr>
      <p:graphicFrame>
        <p:nvGraphicFramePr>
          <p:cNvPr id="7682" name="Google Shape;7682;p43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Models incorporate all data, channels, interactions, associations, and customer/entity networks. Models updated dynamically. All risk models harmonized with Finance, Marketing. Risks are monitored real-time across the enterprise and models are updated within 24 hours of occurrence or less.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Scorecards incorporate some unstructured data. Models validated every 3-6 months. Model factory institutionalized. Models utilize internal and external data. Fully data-based statistical models. Risks are monitored real time across business and functional groups.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Application and behavioral models using regression, retrospective probability models. Models validated every 12 months. Operational processes using scoring for automation. Rule-based and limited statistical models. Some risk data integration performed upon exception driven by investigation activity.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No or limited application or behavioral models. Models updated on an ad-hoc basis. Some pockets of automation. Judgmental decision making is the norm. Models and analyses are standalone, little integration with other functional units.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analysis performed by exception. Analysis and investigations done after the fact incorporating data gathered manually.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683" name="Google Shape;7683;p435"/>
          <p:cNvGrpSpPr/>
          <p:nvPr/>
        </p:nvGrpSpPr>
        <p:grpSpPr>
          <a:xfrm>
            <a:off x="469900" y="3819680"/>
            <a:ext cx="8455025" cy="732866"/>
            <a:chOff x="211138" y="3972860"/>
            <a:chExt cx="8713787" cy="642437"/>
          </a:xfrm>
        </p:grpSpPr>
        <p:sp>
          <p:nvSpPr>
            <p:cNvPr id="7684" name="Google Shape;7684;p43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685" name="Google Shape;7685;p43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686" name="Google Shape;7686;p435"/>
          <p:cNvGrpSpPr/>
          <p:nvPr/>
        </p:nvGrpSpPr>
        <p:grpSpPr>
          <a:xfrm>
            <a:off x="7971865" y="980278"/>
            <a:ext cx="949325" cy="2867825"/>
            <a:chOff x="7941888" y="1062037"/>
            <a:chExt cx="983037" cy="2695575"/>
          </a:xfrm>
        </p:grpSpPr>
        <p:sp>
          <p:nvSpPr>
            <p:cNvPr id="7687" name="Google Shape;7687;p43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688" name="Google Shape;7688;p43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689" name="Google Shape;7689;p43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Propensity Modelling and Analysis</a:t>
            </a:r>
            <a:endParaRPr>
              <a:solidFill>
                <a:schemeClr val="accent6"/>
              </a:solidFill>
            </a:endParaRPr>
          </a:p>
        </p:txBody>
      </p:sp>
      <p:sp>
        <p:nvSpPr>
          <p:cNvPr id="7690" name="Google Shape;7690;p4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3" name="Shape 7713"/>
        <p:cNvGrpSpPr/>
        <p:nvPr/>
      </p:nvGrpSpPr>
      <p:grpSpPr>
        <a:xfrm>
          <a:off x="0" y="0"/>
          <a:ext cx="0" cy="0"/>
          <a:chOff x="0" y="0"/>
          <a:chExt cx="0" cy="0"/>
        </a:xfrm>
      </p:grpSpPr>
      <p:graphicFrame>
        <p:nvGraphicFramePr>
          <p:cNvPr id="7714" name="Google Shape;7714;p43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Models incorporate all data, channels, interactions, associations, and customer/entity networks. Models updated dynamically. All risk models harmonized with Finance, Marketing. Risks are monitored real-time across the enterprise and models are updated within 24 hours of occurrence or less.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Scorecards incorporate some unstructured data. Models validated every 3-6 months. Model factory institutionalized. Models utilize internal and external data. Fully data-based statistical models. Risks are monitored real time across business and functional groups.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Application and behavioral models using regression, retrospective probability models. Models validated every 12 months. Operational processes using scoring for automation. Rule-based and limited statistical models. Some risk data integration performed upon exception driven by investigation activity.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No or limited application or behavioral models. Models updated on an ad-hoc basis. Some pockets of automation. Judgmental decision making is the norm. Models and analyses are standalone, little integration with other functional units.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analysis performed by exception. Analysis and investigations done after the fact incorporating data gathered manually.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715" name="Google Shape;7715;p437"/>
          <p:cNvGrpSpPr/>
          <p:nvPr/>
        </p:nvGrpSpPr>
        <p:grpSpPr>
          <a:xfrm>
            <a:off x="469900" y="3819680"/>
            <a:ext cx="8455025" cy="732866"/>
            <a:chOff x="211138" y="3972860"/>
            <a:chExt cx="8713787" cy="642437"/>
          </a:xfrm>
        </p:grpSpPr>
        <p:sp>
          <p:nvSpPr>
            <p:cNvPr id="7716" name="Google Shape;7716;p43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17" name="Google Shape;7717;p43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718" name="Google Shape;7718;p437"/>
          <p:cNvGrpSpPr/>
          <p:nvPr/>
        </p:nvGrpSpPr>
        <p:grpSpPr>
          <a:xfrm>
            <a:off x="7971865" y="980278"/>
            <a:ext cx="949325" cy="2867825"/>
            <a:chOff x="7941888" y="1062037"/>
            <a:chExt cx="983037" cy="2695575"/>
          </a:xfrm>
        </p:grpSpPr>
        <p:sp>
          <p:nvSpPr>
            <p:cNvPr id="7719" name="Google Shape;7719;p43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20" name="Google Shape;7720;p43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721" name="Google Shape;7721;p43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a:solidFill>
                <a:schemeClr val="accent6"/>
              </a:solidFill>
            </a:endParaRPr>
          </a:p>
        </p:txBody>
      </p:sp>
      <p:sp>
        <p:nvSpPr>
          <p:cNvPr id="7722" name="Google Shape;7722;p4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5" name="Shape 7745"/>
        <p:cNvGrpSpPr/>
        <p:nvPr/>
      </p:nvGrpSpPr>
      <p:grpSpPr>
        <a:xfrm>
          <a:off x="0" y="0"/>
          <a:ext cx="0" cy="0"/>
          <a:chOff x="0" y="0"/>
          <a:chExt cx="0" cy="0"/>
        </a:xfrm>
      </p:grpSpPr>
      <p:graphicFrame>
        <p:nvGraphicFramePr>
          <p:cNvPr id="7746" name="Google Shape;7746;p43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Underwriting is largely automated (no-touch/low touch) leveraging a single, integrated source of validated data.  Decisions are faster and Underwriters can focus on more complicated underwriting tasks through the use of advance analytic tools.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of the required data is available from a single, integrated source, although a small number of other data sources may exist.  Regular reports &amp; extracts are available on a largely automated basis , as well as ad-hoc reports and queries using a single reporting/BI tool.   Data is integrated into underwriting administration systems.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Data for core summary-level underwriting analysis is available from single source (based however on multiple data sources) using multiple tools and is subject to manual processes before use.  Data is not integrated into underwriting administration systems.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Data for core underwriting analysis  is available from multiple sources. Most other / more detailed data needs to be collected from multiple sources using multiple tools and is subject to manual processes before use. Analytics needs to be derived from multiple analytic systems.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Underwriting risk analysis  data sources are siloed and not integrated for analysis.  Considerable time is spent collecting, validating data prior to final risk assessment.  Multiple reporting, BI, spreadsheet tools are used not integrated into one view. Geospatial analysis relies on zip codes and not geospatial data.</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747" name="Google Shape;7747;p439"/>
          <p:cNvGrpSpPr/>
          <p:nvPr/>
        </p:nvGrpSpPr>
        <p:grpSpPr>
          <a:xfrm>
            <a:off x="470778" y="3943350"/>
            <a:ext cx="8455025" cy="732866"/>
            <a:chOff x="211138" y="3972860"/>
            <a:chExt cx="8713787" cy="642437"/>
          </a:xfrm>
        </p:grpSpPr>
        <p:sp>
          <p:nvSpPr>
            <p:cNvPr id="7748" name="Google Shape;7748;p43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49" name="Google Shape;7749;p43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750" name="Google Shape;7750;p439"/>
          <p:cNvGrpSpPr/>
          <p:nvPr/>
        </p:nvGrpSpPr>
        <p:grpSpPr>
          <a:xfrm>
            <a:off x="7971865" y="980278"/>
            <a:ext cx="949325" cy="2867825"/>
            <a:chOff x="7941888" y="1062037"/>
            <a:chExt cx="983037" cy="2695575"/>
          </a:xfrm>
        </p:grpSpPr>
        <p:sp>
          <p:nvSpPr>
            <p:cNvPr id="7751" name="Google Shape;7751;p43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52" name="Google Shape;7752;p43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753" name="Google Shape;7753;p43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a:solidFill>
                <a:schemeClr val="accent6"/>
              </a:solidFill>
            </a:endParaRPr>
          </a:p>
        </p:txBody>
      </p:sp>
      <p:sp>
        <p:nvSpPr>
          <p:cNvPr id="7754" name="Google Shape;7754;p4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7" name="Shape 7777"/>
        <p:cNvGrpSpPr/>
        <p:nvPr/>
      </p:nvGrpSpPr>
      <p:grpSpPr>
        <a:xfrm>
          <a:off x="0" y="0"/>
          <a:ext cx="0" cy="0"/>
          <a:chOff x="0" y="0"/>
          <a:chExt cx="0" cy="0"/>
        </a:xfrm>
      </p:grpSpPr>
      <p:graphicFrame>
        <p:nvGraphicFramePr>
          <p:cNvPr id="7778" name="Google Shape;7778;p441"/>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Single integrated analytic ecosystem that is data centric, but not necessarily centralized. All product line detail (granularity) is maintained for consistent, innovative, and reconcilable aggregations.  Capital is aligned to customer relationships and extended relationships (e.g. complementary industry exposures). Operational deployment of advanced analytic techniques  to continually improve predictive models. Finance data tightly coupled for full reconcilable transparency between Risk and Finance for analysis and reporting.  Seamless access to historical data  within broader analytic ecosystem.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lines of business and functional groups utilizing a single integrated analytic ecosystem where product detail (granularity) is maintained.  Regular and seamless use of advanced analytic functions within and across a flexible discovery environment and  integrated data warehouse.  Detailed (granular) data becomes the first line of defence with regard to bot internal and external (regulatory) needs.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product group data is organized for consistent use as well as line of business analytics.  Incorporation of advanced analytic techniques on a periodic basis to adjust probabilities of default, loss given default  and exposure at default modelling.  Access to historical data to train and back-test models as needed and requested.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detailed account level analysis is performed within product groups,  lines of businesses, and functional units.  Aggregations are presented to a centralized group who is responsible for internal and external (regulatory reporting). This centralized group is considered the “first line of defence” with regard to regulatory authority interaction.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Isolated capital calculations and capital management for internal reporting (treasury management), regulatory analytics/reporting, product group and line-of-business derived,  GAAP reporting (including migration to Ccurrent Expected Credit Loss (CECL) from incurred) is leveraging an isolated data set.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7779" name="Google Shape;7779;p441"/>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grpSp>
        <p:nvGrpSpPr>
          <p:cNvPr id="7780" name="Google Shape;7780;p441"/>
          <p:cNvGrpSpPr/>
          <p:nvPr/>
        </p:nvGrpSpPr>
        <p:grpSpPr>
          <a:xfrm>
            <a:off x="457200" y="4078841"/>
            <a:ext cx="8455025" cy="660717"/>
            <a:chOff x="211138" y="3972860"/>
            <a:chExt cx="8713787" cy="642437"/>
          </a:xfrm>
        </p:grpSpPr>
        <p:sp>
          <p:nvSpPr>
            <p:cNvPr id="7781" name="Google Shape;7781;p44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82" name="Google Shape;7782;p44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783" name="Google Shape;7783;p441"/>
          <p:cNvGrpSpPr/>
          <p:nvPr/>
        </p:nvGrpSpPr>
        <p:grpSpPr>
          <a:xfrm>
            <a:off x="7971865" y="781605"/>
            <a:ext cx="949325" cy="3191672"/>
            <a:chOff x="7941888" y="1062037"/>
            <a:chExt cx="983037" cy="2695575"/>
          </a:xfrm>
        </p:grpSpPr>
        <p:sp>
          <p:nvSpPr>
            <p:cNvPr id="7784" name="Google Shape;7784;p44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785" name="Google Shape;7785;p44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786" name="Google Shape;7786;p4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09" name="Shape 7809"/>
        <p:cNvGrpSpPr/>
        <p:nvPr/>
      </p:nvGrpSpPr>
      <p:grpSpPr>
        <a:xfrm>
          <a:off x="0" y="0"/>
          <a:ext cx="0" cy="0"/>
          <a:chOff x="0" y="0"/>
          <a:chExt cx="0" cy="0"/>
        </a:xfrm>
      </p:grpSpPr>
      <p:graphicFrame>
        <p:nvGraphicFramePr>
          <p:cNvPr id="7810" name="Google Shape;7810;p44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A/B testing is fully automated and integrated with the Risk Model development, decisioning and deployment processes. Workflow functionality supports model result s/comparison reviews, decision-making, approval and deployment on an automated basis. Multiple challenger  models may be evaluated in a single cycle.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A/B testing is frequent and largely automated. The measurement and comparison of model results  is automated, along with model deployment once a decision is made, however  the decision-making process re: model promotion is still manual.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A/B testing is in place on a more frequent basis. The measurement and comparison of model results  is automated. Decision-making strategy  and deployment of new models  is still  on a manual basis.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A/B testing is in place, however  still on an infrequent basis.  A/B testing involves  manually deploying  and executing multiple models and manually comparing the results before fully deploying a new model.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Limited or no formal A/B testing is in place. Models are reviewed and updated on an ad-hoc basis.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811" name="Google Shape;7811;p443"/>
          <p:cNvGrpSpPr/>
          <p:nvPr/>
        </p:nvGrpSpPr>
        <p:grpSpPr>
          <a:xfrm>
            <a:off x="469900" y="3819680"/>
            <a:ext cx="8455025" cy="732866"/>
            <a:chOff x="211138" y="3972860"/>
            <a:chExt cx="8713787" cy="642437"/>
          </a:xfrm>
        </p:grpSpPr>
        <p:sp>
          <p:nvSpPr>
            <p:cNvPr id="7812" name="Google Shape;7812;p44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13" name="Google Shape;7813;p44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814" name="Google Shape;7814;p443"/>
          <p:cNvGrpSpPr/>
          <p:nvPr/>
        </p:nvGrpSpPr>
        <p:grpSpPr>
          <a:xfrm>
            <a:off x="7971865" y="980278"/>
            <a:ext cx="949325" cy="2867825"/>
            <a:chOff x="7941888" y="1062037"/>
            <a:chExt cx="983037" cy="2695575"/>
          </a:xfrm>
        </p:grpSpPr>
        <p:sp>
          <p:nvSpPr>
            <p:cNvPr id="7815" name="Google Shape;7815;p44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16" name="Google Shape;7816;p44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817" name="Google Shape;7817;p44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a:solidFill>
                <a:schemeClr val="accent6"/>
              </a:solidFill>
            </a:endParaRPr>
          </a:p>
        </p:txBody>
      </p:sp>
      <p:sp>
        <p:nvSpPr>
          <p:cNvPr id="7818" name="Google Shape;7818;p4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41" name="Shape 7841"/>
        <p:cNvGrpSpPr/>
        <p:nvPr/>
      </p:nvGrpSpPr>
      <p:grpSpPr>
        <a:xfrm>
          <a:off x="0" y="0"/>
          <a:ext cx="0" cy="0"/>
          <a:chOff x="0" y="0"/>
          <a:chExt cx="0" cy="0"/>
        </a:xfrm>
      </p:grpSpPr>
      <p:graphicFrame>
        <p:nvGraphicFramePr>
          <p:cNvPr id="7842" name="Google Shape;7842;p44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Models and rules are optimized and incorporated into business rule engine,  includes  common rules across multiple business division, including sophisticated algorithms and rule combinations.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Existing rules  and rule combinations can be deployed onto automated decisioning system / rule engine as a part of new models or strategies. Rule hierarchies exist and monitoring is at individual and combination rule level.</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Analysts access existing rules stored in a partially shared repository, which can be searched and incorporated into the new models or strategies.  Multiple rule engines may exist across the business. Testing and change management processes are gateways into production environment.</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Reuse of rules is limited / analysts reuse rules by manually copying and pasting. Rules often basic and judgmentally driven.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Rules are hard coded directly into production system.</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843" name="Google Shape;7843;p445"/>
          <p:cNvGrpSpPr/>
          <p:nvPr/>
        </p:nvGrpSpPr>
        <p:grpSpPr>
          <a:xfrm>
            <a:off x="469900" y="3819680"/>
            <a:ext cx="8455025" cy="732866"/>
            <a:chOff x="211138" y="3972860"/>
            <a:chExt cx="8713787" cy="642437"/>
          </a:xfrm>
        </p:grpSpPr>
        <p:sp>
          <p:nvSpPr>
            <p:cNvPr id="7844" name="Google Shape;7844;p44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45" name="Google Shape;7845;p44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846" name="Google Shape;7846;p445"/>
          <p:cNvGrpSpPr/>
          <p:nvPr/>
        </p:nvGrpSpPr>
        <p:grpSpPr>
          <a:xfrm>
            <a:off x="7971865" y="980278"/>
            <a:ext cx="949325" cy="2867825"/>
            <a:chOff x="7941888" y="1062037"/>
            <a:chExt cx="983037" cy="2695575"/>
          </a:xfrm>
        </p:grpSpPr>
        <p:sp>
          <p:nvSpPr>
            <p:cNvPr id="7847" name="Google Shape;7847;p44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48" name="Google Shape;7848;p44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849" name="Google Shape;7849;p44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Operationalization</a:t>
            </a:r>
            <a:endParaRPr>
              <a:solidFill>
                <a:schemeClr val="accent6"/>
              </a:solidFill>
            </a:endParaRPr>
          </a:p>
        </p:txBody>
      </p:sp>
      <p:sp>
        <p:nvSpPr>
          <p:cNvPr id="7850" name="Google Shape;7850;p4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3" name="Shape 7873"/>
        <p:cNvGrpSpPr/>
        <p:nvPr/>
      </p:nvGrpSpPr>
      <p:grpSpPr>
        <a:xfrm>
          <a:off x="0" y="0"/>
          <a:ext cx="0" cy="0"/>
          <a:chOff x="0" y="0"/>
          <a:chExt cx="0" cy="0"/>
        </a:xfrm>
      </p:grpSpPr>
      <p:graphicFrame>
        <p:nvGraphicFramePr>
          <p:cNvPr id="7874" name="Google Shape;7874;p44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Fully automated strategy performance tracking system. A/B testing mechanism is fully embedded &amp; automated under performance tracking system. Strategy can auto-adjust dynamically subject to parameter limits set by business. Strategies are integrated and harmonized across business lines.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Strategy performance reports are automated daily. A/B testing mechanism is partially automated for strategy performance evaluation. Strategy monitoring is integrated across products within a business line.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Strategy performance reports are partially automated, such as override report, acceptance rate report. Allow A/B testing for evaluating the efficiency of strategy performance. Strategies are manually integrated across product lines or business lines by exception.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Strategy performance report for manually conducted. Reports and KPIs are updated on an ad-hoc basis. </a:t>
                      </a:r>
                      <a:endParaRPr b="0" i="0" sz="900" u="none" cap="none" strike="noStrike">
                        <a:solidFill>
                          <a:srgbClr val="3C3C3B"/>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strategy performance tracking in place.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875" name="Google Shape;7875;p447"/>
          <p:cNvGrpSpPr/>
          <p:nvPr/>
        </p:nvGrpSpPr>
        <p:grpSpPr>
          <a:xfrm>
            <a:off x="469900" y="3819680"/>
            <a:ext cx="8455025" cy="732866"/>
            <a:chOff x="211138" y="3972860"/>
            <a:chExt cx="8713787" cy="642437"/>
          </a:xfrm>
        </p:grpSpPr>
        <p:sp>
          <p:nvSpPr>
            <p:cNvPr id="7876" name="Google Shape;7876;p44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77" name="Google Shape;7877;p44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878" name="Google Shape;7878;p447"/>
          <p:cNvGrpSpPr/>
          <p:nvPr/>
        </p:nvGrpSpPr>
        <p:grpSpPr>
          <a:xfrm>
            <a:off x="7971865" y="980278"/>
            <a:ext cx="949325" cy="2867825"/>
            <a:chOff x="7941888" y="1062037"/>
            <a:chExt cx="983037" cy="2695575"/>
          </a:xfrm>
        </p:grpSpPr>
        <p:sp>
          <p:nvSpPr>
            <p:cNvPr id="7879" name="Google Shape;7879;p44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880" name="Google Shape;7880;p44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881" name="Google Shape;7881;p44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a:solidFill>
                <a:schemeClr val="accent6"/>
              </a:solidFill>
            </a:endParaRPr>
          </a:p>
        </p:txBody>
      </p:sp>
      <p:sp>
        <p:nvSpPr>
          <p:cNvPr id="7882" name="Google Shape;7882;p4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5" name="Shape 7905"/>
        <p:cNvGrpSpPr/>
        <p:nvPr/>
      </p:nvGrpSpPr>
      <p:grpSpPr>
        <a:xfrm>
          <a:off x="0" y="0"/>
          <a:ext cx="0" cy="0"/>
          <a:chOff x="0" y="0"/>
          <a:chExt cx="0" cy="0"/>
        </a:xfrm>
      </p:grpSpPr>
      <p:graphicFrame>
        <p:nvGraphicFramePr>
          <p:cNvPr id="7906" name="Google Shape;7906;p44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Fully automated model performance tracking system. Identification of triggers and KPIs for updating or realignment of the models are fully integrated with business strategies.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 performance reports are automated on a regular basis. Partial triggers and KPIs are integrated with business strategies, for example, adjusting the cut-off scores when baselines change significantly.</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 performance reports and key performance index of models and attributes are partially automated. Model performance and KPIs are conducted on a regular basis (weekly or monthly)</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Model preformance reports are manually generated.  Key Performance Index of the models and attributes are mannually calculated. Reports and KPIs are updated on an ad-hoc basis. </a:t>
                      </a:r>
                      <a:endParaRPr b="0" i="0" sz="900" u="none" cap="none" strike="noStrike">
                        <a:solidFill>
                          <a:srgbClr val="3C3C3B"/>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Model performance reports are performed on an ad-hoc basis. No regular reporting.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907" name="Google Shape;7907;p449"/>
          <p:cNvGrpSpPr/>
          <p:nvPr/>
        </p:nvGrpSpPr>
        <p:grpSpPr>
          <a:xfrm>
            <a:off x="469900" y="3819680"/>
            <a:ext cx="8455025" cy="732866"/>
            <a:chOff x="211138" y="3972860"/>
            <a:chExt cx="8713787" cy="642437"/>
          </a:xfrm>
        </p:grpSpPr>
        <p:sp>
          <p:nvSpPr>
            <p:cNvPr id="7908" name="Google Shape;7908;p44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09" name="Google Shape;7909;p44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910" name="Google Shape;7910;p449"/>
          <p:cNvGrpSpPr/>
          <p:nvPr/>
        </p:nvGrpSpPr>
        <p:grpSpPr>
          <a:xfrm>
            <a:off x="7971865" y="980278"/>
            <a:ext cx="949325" cy="2867825"/>
            <a:chOff x="7941888" y="1062037"/>
            <a:chExt cx="983037" cy="2695575"/>
          </a:xfrm>
        </p:grpSpPr>
        <p:sp>
          <p:nvSpPr>
            <p:cNvPr id="7911" name="Google Shape;7911;p44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12" name="Google Shape;7912;p44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913" name="Google Shape;7913;p44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Analysis</a:t>
            </a:r>
            <a:endParaRPr>
              <a:solidFill>
                <a:schemeClr val="accent6"/>
              </a:solidFill>
            </a:endParaRPr>
          </a:p>
        </p:txBody>
      </p:sp>
      <p:sp>
        <p:nvSpPr>
          <p:cNvPr id="7914" name="Google Shape;7914;p4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7" name="Shape 7937"/>
        <p:cNvGrpSpPr/>
        <p:nvPr/>
      </p:nvGrpSpPr>
      <p:grpSpPr>
        <a:xfrm>
          <a:off x="0" y="0"/>
          <a:ext cx="0" cy="0"/>
          <a:chOff x="0" y="0"/>
          <a:chExt cx="0" cy="0"/>
        </a:xfrm>
      </p:grpSpPr>
      <p:graphicFrame>
        <p:nvGraphicFramePr>
          <p:cNvPr id="7938" name="Google Shape;7938;p45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Scenario/Stress testing is fully automated and integrated with the Risk and Capital Model development, decisioning and deployment processes. The production of stressed  input data sets is  fully rules-based and automated. Widespread use of advanced  scenario/stress testing methods such as Monte Carlo and other Stochastic techniques. Execution of scenario/stress test models , review of output, and is also automated as part of an overall workflow.</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Scenario/Stress testing largely automated. The production of stressed  input data sets is  well documented, and largely automated (e.g. using rule engine).  Some use of advanced  scenario/stress testing methods such as Monte Carlo and other Stochastic techniques. Automated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Scenario/Stress testing  is in place on a more frequent basis.  The production of stressed  input data sets is well documented, based on defined rules and is partially automated (e.g. use of templates/scripts). The measurement and comparison of scenario  results  is repeatable (e.g. use of standard reports)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Formal and regular Scenario/Stress testing is in place, but on an infrequent basis (e.g. annual). Scenario/Stress testing involves  manually creating stressed inputs , executing models and comparing the results.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Limited or no formal  Scenario and Stress testing is in place.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939" name="Google Shape;7939;p451"/>
          <p:cNvGrpSpPr/>
          <p:nvPr/>
        </p:nvGrpSpPr>
        <p:grpSpPr>
          <a:xfrm>
            <a:off x="469900" y="3819680"/>
            <a:ext cx="8455025" cy="732866"/>
            <a:chOff x="211138" y="3972860"/>
            <a:chExt cx="8713787" cy="642437"/>
          </a:xfrm>
        </p:grpSpPr>
        <p:sp>
          <p:nvSpPr>
            <p:cNvPr id="7940" name="Google Shape;7940;p45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41" name="Google Shape;7941;p45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942" name="Google Shape;7942;p451"/>
          <p:cNvGrpSpPr/>
          <p:nvPr/>
        </p:nvGrpSpPr>
        <p:grpSpPr>
          <a:xfrm>
            <a:off x="7971865" y="980278"/>
            <a:ext cx="949325" cy="2867825"/>
            <a:chOff x="7941888" y="1062037"/>
            <a:chExt cx="983037" cy="2695575"/>
          </a:xfrm>
        </p:grpSpPr>
        <p:sp>
          <p:nvSpPr>
            <p:cNvPr id="7943" name="Google Shape;7943;p45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44" name="Google Shape;7944;p45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945" name="Google Shape;7945;p45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a:solidFill>
                <a:schemeClr val="accent6"/>
              </a:solidFill>
            </a:endParaRPr>
          </a:p>
        </p:txBody>
      </p:sp>
      <p:sp>
        <p:nvSpPr>
          <p:cNvPr id="7946" name="Google Shape;7946;p4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9" name="Shape 7959"/>
        <p:cNvGrpSpPr/>
        <p:nvPr/>
      </p:nvGrpSpPr>
      <p:grpSpPr>
        <a:xfrm>
          <a:off x="0" y="0"/>
          <a:ext cx="0" cy="0"/>
          <a:chOff x="0" y="0"/>
          <a:chExt cx="0" cy="0"/>
        </a:xfrm>
      </p:grpSpPr>
      <p:sp>
        <p:nvSpPr>
          <p:cNvPr id="7960" name="Google Shape;7960;p453"/>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r>
              <a:rPr lang="en-GB"/>
              <a:t>What are the challenges?</a:t>
            </a:r>
            <a:endParaRPr/>
          </a:p>
        </p:txBody>
      </p:sp>
      <p:sp>
        <p:nvSpPr>
          <p:cNvPr id="7961" name="Google Shape;7961;p453"/>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7962" name="Google Shape;7962;p453"/>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Maintaining a comprehensive risk management capability that keeps pace with and satisfies regulatory requirements  as well as meeting the need to maximize return on equity.</a:t>
            </a:r>
            <a:endParaRPr sz="1200">
              <a:solidFill>
                <a:srgbClr val="FFFFFF"/>
              </a:solidFill>
              <a:latin typeface="Century Gothic"/>
              <a:ea typeface="Century Gothic"/>
              <a:cs typeface="Century Gothic"/>
              <a:sym typeface="Century Gothic"/>
            </a:endParaRPr>
          </a:p>
        </p:txBody>
      </p:sp>
      <p:sp>
        <p:nvSpPr>
          <p:cNvPr id="7963" name="Google Shape;7963;p453"/>
          <p:cNvSpPr txBox="1"/>
          <p:nvPr>
            <p:ph idx="1" type="body"/>
          </p:nvPr>
        </p:nvSpPr>
        <p:spPr>
          <a:xfrm>
            <a:off x="457200" y="2054578"/>
            <a:ext cx="8229600" cy="2743200"/>
          </a:xfrm>
          <a:prstGeom prst="rect">
            <a:avLst/>
          </a:prstGeom>
          <a:noFill/>
          <a:ln>
            <a:noFill/>
          </a:ln>
        </p:spPr>
        <p:txBody>
          <a:bodyPr anchorCtr="0" anchor="t" bIns="0" lIns="0" spcFirstLastPara="1" rIns="0" wrap="square" tIns="0">
            <a:noAutofit/>
          </a:bodyPr>
          <a:lstStyle/>
          <a:p>
            <a:pPr indent="-169863" lvl="0" marL="169863" rtl="0" algn="l">
              <a:lnSpc>
                <a:spcPct val="95000"/>
              </a:lnSpc>
              <a:spcBef>
                <a:spcPts val="0"/>
              </a:spcBef>
              <a:spcAft>
                <a:spcPts val="0"/>
              </a:spcAft>
              <a:buClr>
                <a:schemeClr val="dk1"/>
              </a:buClr>
              <a:buSzPts val="1400"/>
              <a:buChar char="•"/>
            </a:pPr>
            <a:r>
              <a:rPr b="1" lang="en-GB" sz="1400"/>
              <a:t>Balance. </a:t>
            </a:r>
            <a:r>
              <a:rPr lang="en-GB" sz="1400"/>
              <a:t>Striking the balance between maximizing available capital to generate return on equity and minimizing expected losses. </a:t>
            </a:r>
            <a:endParaRPr/>
          </a:p>
          <a:p>
            <a:pPr indent="-169863" lvl="0" marL="169863" rtl="0" algn="l">
              <a:lnSpc>
                <a:spcPct val="95000"/>
              </a:lnSpc>
              <a:spcBef>
                <a:spcPts val="800"/>
              </a:spcBef>
              <a:spcAft>
                <a:spcPts val="0"/>
              </a:spcAft>
              <a:buClr>
                <a:schemeClr val="dk1"/>
              </a:buClr>
              <a:buSzPts val="1400"/>
              <a:buChar char="•"/>
            </a:pPr>
            <a:r>
              <a:rPr b="1" lang="en-GB" sz="1400"/>
              <a:t>Inefficient data management.</a:t>
            </a:r>
            <a:r>
              <a:rPr lang="en-GB" sz="1400"/>
              <a:t> An inability to access the right data when it’s needed causes delays.</a:t>
            </a:r>
            <a:endParaRPr/>
          </a:p>
          <a:p>
            <a:pPr indent="-169863" lvl="0" marL="169863" rtl="0" algn="l">
              <a:lnSpc>
                <a:spcPct val="95000"/>
              </a:lnSpc>
              <a:spcBef>
                <a:spcPts val="800"/>
              </a:spcBef>
              <a:spcAft>
                <a:spcPts val="0"/>
              </a:spcAft>
              <a:buClr>
                <a:schemeClr val="dk1"/>
              </a:buClr>
              <a:buSzPts val="1400"/>
              <a:buChar char="•"/>
            </a:pPr>
            <a:r>
              <a:rPr b="1" lang="en-GB" sz="1400"/>
              <a:t>No firm-wide risk modeling framework.</a:t>
            </a:r>
            <a:r>
              <a:rPr lang="en-GB" sz="1400"/>
              <a:t> Without it, financial institutions can’t generate complex, meaningful risk measures and get a big picture view.</a:t>
            </a:r>
            <a:endParaRPr sz="1400"/>
          </a:p>
          <a:p>
            <a:pPr indent="-169863" lvl="0" marL="169863" rtl="0" algn="l">
              <a:lnSpc>
                <a:spcPct val="95000"/>
              </a:lnSpc>
              <a:spcBef>
                <a:spcPts val="800"/>
              </a:spcBef>
              <a:spcAft>
                <a:spcPts val="0"/>
              </a:spcAft>
              <a:buClr>
                <a:schemeClr val="dk1"/>
              </a:buClr>
              <a:buSzPts val="1400"/>
              <a:buChar char="•"/>
            </a:pPr>
            <a:r>
              <a:rPr b="1" lang="en-GB" sz="1400"/>
              <a:t>Insufficient risk tools.</a:t>
            </a:r>
            <a:r>
              <a:rPr lang="en-GB" sz="1400"/>
              <a:t> Without a robust risk solution, banks can’t identify portfolio concentrations or re-grade portfolios often enough to effectively manage risk.</a:t>
            </a:r>
            <a:endParaRPr/>
          </a:p>
          <a:p>
            <a:pPr indent="-169863" lvl="0" marL="169863" rtl="0" algn="l">
              <a:lnSpc>
                <a:spcPct val="95000"/>
              </a:lnSpc>
              <a:spcBef>
                <a:spcPts val="800"/>
              </a:spcBef>
              <a:spcAft>
                <a:spcPts val="0"/>
              </a:spcAft>
              <a:buClr>
                <a:schemeClr val="dk1"/>
              </a:buClr>
              <a:buSzPts val="1400"/>
              <a:buChar char="•"/>
            </a:pPr>
            <a:r>
              <a:rPr b="1" lang="en-GB" sz="1400"/>
              <a:t>Cumbersome reporting.</a:t>
            </a:r>
            <a:r>
              <a:rPr lang="en-GB" sz="1400"/>
              <a:t> Manual, spreadsheet-based reporting processes overburden analysts and IT.</a:t>
            </a:r>
            <a:endParaRPr sz="1400"/>
          </a:p>
        </p:txBody>
      </p:sp>
      <p:sp>
        <p:nvSpPr>
          <p:cNvPr id="7964" name="Google Shape;7964;p4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7" name="Shape 7987"/>
        <p:cNvGrpSpPr/>
        <p:nvPr/>
      </p:nvGrpSpPr>
      <p:grpSpPr>
        <a:xfrm>
          <a:off x="0" y="0"/>
          <a:ext cx="0" cy="0"/>
          <a:chOff x="0" y="0"/>
          <a:chExt cx="0" cy="0"/>
        </a:xfrm>
      </p:grpSpPr>
      <p:graphicFrame>
        <p:nvGraphicFramePr>
          <p:cNvPr id="7988" name="Google Shape;7988;p45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Detailed definitions of risk bearing capacity and appetite, portfolio structures and capital consumption measured/monitres on VaR and similar KPIs – both standalone and overall portfolio/interaction views. Appetite can be reviewed as and when required by management with immediate impact to lending. Risk appetite harmonized across business lines.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Detailed definiton of risk bearing capacity and risk appetite, portfolio structure measured on VaR and similar KPIs.Appetite reviews are performed quarterly or more often driven by portfolio triggers. Risk appetite is integrated across products within a business.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Basic risk bearing capacity and risk appetite defined, portfolio management by volumes/value, but not by more sophisticated Risk KPI . Appetite reviews performed annually. Risk appetite is managed by specific product.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Judgemental lending policies. Limited data generated on an ad-hoc basis supporting risk appetite statements. Appetite reviews are done by exception.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298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risk appetite defined, or defined by exception post-losses.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7989" name="Google Shape;7989;p455"/>
          <p:cNvGrpSpPr/>
          <p:nvPr/>
        </p:nvGrpSpPr>
        <p:grpSpPr>
          <a:xfrm>
            <a:off x="469900" y="3819680"/>
            <a:ext cx="8455025" cy="732866"/>
            <a:chOff x="211138" y="3972860"/>
            <a:chExt cx="8713787" cy="642437"/>
          </a:xfrm>
        </p:grpSpPr>
        <p:sp>
          <p:nvSpPr>
            <p:cNvPr id="7990" name="Google Shape;7990;p45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91" name="Google Shape;7991;p45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7992" name="Google Shape;7992;p455"/>
          <p:cNvGrpSpPr/>
          <p:nvPr/>
        </p:nvGrpSpPr>
        <p:grpSpPr>
          <a:xfrm>
            <a:off x="7971865" y="980278"/>
            <a:ext cx="949325" cy="2867825"/>
            <a:chOff x="7941888" y="1062037"/>
            <a:chExt cx="983037" cy="2695575"/>
          </a:xfrm>
        </p:grpSpPr>
        <p:sp>
          <p:nvSpPr>
            <p:cNvPr id="7993" name="Google Shape;7993;p45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7994" name="Google Shape;7994;p45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7995" name="Google Shape;7995;p45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a:solidFill>
                <a:schemeClr val="accent6"/>
              </a:solidFill>
            </a:endParaRPr>
          </a:p>
        </p:txBody>
      </p:sp>
      <p:sp>
        <p:nvSpPr>
          <p:cNvPr id="7996" name="Google Shape;7996;p45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9" name="Shape 8019"/>
        <p:cNvGrpSpPr/>
        <p:nvPr/>
      </p:nvGrpSpPr>
      <p:grpSpPr>
        <a:xfrm>
          <a:off x="0" y="0"/>
          <a:ext cx="0" cy="0"/>
          <a:chOff x="0" y="0"/>
          <a:chExt cx="0" cy="0"/>
        </a:xfrm>
      </p:grpSpPr>
      <p:graphicFrame>
        <p:nvGraphicFramePr>
          <p:cNvPr id="8020" name="Google Shape;8020;p45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Real time classifaction of transactions based on event library. Suspicious transactions blocked and/or other customer interactions initiated in „real time“. Event libraries updated dynamically with transaction patterns identified as they occur.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Event libary available, detailed comprehensive classification of transactions performed, leads &amp; flags generated and sent to channels for execution. Transaction analysis is done across products, establishing cross-default patterns and behavior.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Formative classificiaton of transactions performed, likely to be monthly batch,  rudimentary detection of changes in lifestyle, income, etc. Analytics performed to isolate transaction patterns upon investigation. Analysis limited to one product, with very little correlation to other products. </a:t>
                      </a:r>
                      <a:endParaRPr b="0" i="0" sz="900" u="none" cap="none" strike="noStrike">
                        <a:solidFill>
                          <a:srgbClr val="3C3C3B"/>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Transaction analytics done on an aggregated level for statistical reporting purposes. Drill downs on patterns done by exception.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regular pre-default transaction analysis is performed. Analysis is done by exception as part of post-loss investigation.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8021" name="Google Shape;8021;p457"/>
          <p:cNvGrpSpPr/>
          <p:nvPr/>
        </p:nvGrpSpPr>
        <p:grpSpPr>
          <a:xfrm>
            <a:off x="469900" y="3819680"/>
            <a:ext cx="8455025" cy="732866"/>
            <a:chOff x="211138" y="3972860"/>
            <a:chExt cx="8713787" cy="642437"/>
          </a:xfrm>
        </p:grpSpPr>
        <p:sp>
          <p:nvSpPr>
            <p:cNvPr id="8022" name="Google Shape;8022;p45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23" name="Google Shape;8023;p45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024" name="Google Shape;8024;p457"/>
          <p:cNvGrpSpPr/>
          <p:nvPr/>
        </p:nvGrpSpPr>
        <p:grpSpPr>
          <a:xfrm>
            <a:off x="7971865" y="980278"/>
            <a:ext cx="949325" cy="2867825"/>
            <a:chOff x="7941888" y="1062037"/>
            <a:chExt cx="983037" cy="2695575"/>
          </a:xfrm>
        </p:grpSpPr>
        <p:sp>
          <p:nvSpPr>
            <p:cNvPr id="8025" name="Google Shape;8025;p45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26" name="Google Shape;8026;p45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027" name="Google Shape;8027;p45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a:solidFill>
                <a:schemeClr val="accent6"/>
              </a:solidFill>
            </a:endParaRPr>
          </a:p>
        </p:txBody>
      </p:sp>
      <p:sp>
        <p:nvSpPr>
          <p:cNvPr id="8028" name="Google Shape;8028;p4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51" name="Shape 8051"/>
        <p:cNvGrpSpPr/>
        <p:nvPr/>
      </p:nvGrpSpPr>
      <p:grpSpPr>
        <a:xfrm>
          <a:off x="0" y="0"/>
          <a:ext cx="0" cy="0"/>
          <a:chOff x="0" y="0"/>
          <a:chExt cx="0" cy="0"/>
        </a:xfrm>
      </p:grpSpPr>
      <p:graphicFrame>
        <p:nvGraphicFramePr>
          <p:cNvPr id="8052" name="Google Shape;8052;p45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Risk based pricing models incorporate all data, channels, interactions, associations, and customer/entity networks. Models updated dynamically. All risk models harmonized across business lines, product lines, and customer groups. Automated pricing decisions performed within parameters set by business.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Risk based pricing using advanced statistical and machine learning modeling incorporating business cycles, cross-product, and customer level input. Reviews can be done monthly. Pricing is product and customer/relationship-level.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Risk based pricing models using statistical, retrospective probability models. Models validated every 12 months. Pricing reviews triggered manually by business, but parameters are derived from historical data. Pricing is product-based.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Pricing reviews done manually. Some ad-hoc risk based policy implemented. Judgmental decision making is the norm. Pricing models are standalone, little integration with other functional units.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policies ignore risk levels. Some exceptional pricing policies kept on a relationship level.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8053" name="Google Shape;8053;p459"/>
          <p:cNvGrpSpPr/>
          <p:nvPr/>
        </p:nvGrpSpPr>
        <p:grpSpPr>
          <a:xfrm>
            <a:off x="469900" y="3819680"/>
            <a:ext cx="8455025" cy="732866"/>
            <a:chOff x="211138" y="3972860"/>
            <a:chExt cx="8713787" cy="642437"/>
          </a:xfrm>
        </p:grpSpPr>
        <p:sp>
          <p:nvSpPr>
            <p:cNvPr id="8054" name="Google Shape;8054;p45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55" name="Google Shape;8055;p45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056" name="Google Shape;8056;p459"/>
          <p:cNvGrpSpPr/>
          <p:nvPr/>
        </p:nvGrpSpPr>
        <p:grpSpPr>
          <a:xfrm>
            <a:off x="7971865" y="980278"/>
            <a:ext cx="949325" cy="2867825"/>
            <a:chOff x="7941888" y="1062037"/>
            <a:chExt cx="983037" cy="2695575"/>
          </a:xfrm>
        </p:grpSpPr>
        <p:sp>
          <p:nvSpPr>
            <p:cNvPr id="8057" name="Google Shape;8057;p45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58" name="Google Shape;8058;p45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059" name="Google Shape;8059;p45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a:solidFill>
                <a:schemeClr val="accent6"/>
              </a:solidFill>
            </a:endParaRPr>
          </a:p>
        </p:txBody>
      </p:sp>
      <p:sp>
        <p:nvSpPr>
          <p:cNvPr id="8060" name="Google Shape;8060;p45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3" name="Shape 8083"/>
        <p:cNvGrpSpPr/>
        <p:nvPr/>
      </p:nvGrpSpPr>
      <p:grpSpPr>
        <a:xfrm>
          <a:off x="0" y="0"/>
          <a:ext cx="0" cy="0"/>
          <a:chOff x="0" y="0"/>
          <a:chExt cx="0" cy="0"/>
        </a:xfrm>
      </p:grpSpPr>
      <p:graphicFrame>
        <p:nvGraphicFramePr>
          <p:cNvPr id="8084" name="Google Shape;8084;p46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Portfolio models and rules are optimized and incorporated into business rule engine,  includes  common rules across multiple business division, including sophisticated algorithms and rule combinations. Scenarios analyses can be turned round on-demand. Latency of data is low.</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Existing rules  and rule combinations can be deployed onto automated portfolio analysis system / rule engine. Rule and portfolio  hierarchies exist and monitoring is at individual and combination rule level. Data refresh likely to be day + x.</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Analysts access existing rules &amp; definitions stored in a partially shared repository, which can be searched and incorporated into the new models or strategies.  Multiple rule engines may exist across the business. Monthly data, in arrears,  is the norm.</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Reuse of code and rules is limited. Analysts reuse rules by manually copying and pasting. Rules often basic and judgmentally driven.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portfolio management. Portfolios are managed on a deal/transaction basis.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8085" name="Google Shape;8085;p461"/>
          <p:cNvGrpSpPr/>
          <p:nvPr/>
        </p:nvGrpSpPr>
        <p:grpSpPr>
          <a:xfrm>
            <a:off x="469900" y="3819680"/>
            <a:ext cx="8455025" cy="732866"/>
            <a:chOff x="211138" y="3972860"/>
            <a:chExt cx="8713787" cy="642437"/>
          </a:xfrm>
        </p:grpSpPr>
        <p:sp>
          <p:nvSpPr>
            <p:cNvPr id="8086" name="Google Shape;8086;p46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87" name="Google Shape;8087;p46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088" name="Google Shape;8088;p461"/>
          <p:cNvGrpSpPr/>
          <p:nvPr/>
        </p:nvGrpSpPr>
        <p:grpSpPr>
          <a:xfrm>
            <a:off x="7971865" y="980278"/>
            <a:ext cx="949325" cy="2867825"/>
            <a:chOff x="7941888" y="1062037"/>
            <a:chExt cx="983037" cy="2695575"/>
          </a:xfrm>
        </p:grpSpPr>
        <p:sp>
          <p:nvSpPr>
            <p:cNvPr id="8089" name="Google Shape;8089;p46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090" name="Google Shape;8090;p46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091" name="Google Shape;8091;p46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a:solidFill>
                <a:schemeClr val="accent6"/>
              </a:solidFill>
            </a:endParaRPr>
          </a:p>
        </p:txBody>
      </p:sp>
      <p:sp>
        <p:nvSpPr>
          <p:cNvPr id="8092" name="Google Shape;8092;p4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4" name="Shape 8114"/>
        <p:cNvGrpSpPr/>
        <p:nvPr/>
      </p:nvGrpSpPr>
      <p:grpSpPr>
        <a:xfrm>
          <a:off x="0" y="0"/>
          <a:ext cx="0" cy="0"/>
          <a:chOff x="0" y="0"/>
          <a:chExt cx="0" cy="0"/>
        </a:xfrm>
      </p:grpSpPr>
      <p:graphicFrame>
        <p:nvGraphicFramePr>
          <p:cNvPr id="8115" name="Google Shape;8115;p463"/>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8116" name="Google Shape;8116;p463"/>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grpSp>
        <p:nvGrpSpPr>
          <p:cNvPr id="8117" name="Google Shape;8117;p463"/>
          <p:cNvGrpSpPr/>
          <p:nvPr/>
        </p:nvGrpSpPr>
        <p:grpSpPr>
          <a:xfrm>
            <a:off x="457200" y="4078841"/>
            <a:ext cx="8455025" cy="660717"/>
            <a:chOff x="211138" y="3972860"/>
            <a:chExt cx="8713787" cy="642437"/>
          </a:xfrm>
        </p:grpSpPr>
        <p:sp>
          <p:nvSpPr>
            <p:cNvPr id="8118" name="Google Shape;8118;p46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119" name="Google Shape;8119;p46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120" name="Google Shape;8120;p463"/>
          <p:cNvGrpSpPr/>
          <p:nvPr/>
        </p:nvGrpSpPr>
        <p:grpSpPr>
          <a:xfrm>
            <a:off x="7971865" y="781605"/>
            <a:ext cx="949325" cy="3191672"/>
            <a:chOff x="7941888" y="1062037"/>
            <a:chExt cx="983037" cy="2695575"/>
          </a:xfrm>
        </p:grpSpPr>
        <p:sp>
          <p:nvSpPr>
            <p:cNvPr id="8121" name="Google Shape;8121;p46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122" name="Google Shape;8122;p46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123" name="Google Shape;8123;p4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7" name="Shape 8137"/>
        <p:cNvGrpSpPr/>
        <p:nvPr/>
      </p:nvGrpSpPr>
      <p:grpSpPr>
        <a:xfrm>
          <a:off x="0" y="0"/>
          <a:ext cx="0" cy="0"/>
          <a:chOff x="0" y="0"/>
          <a:chExt cx="0" cy="0"/>
        </a:xfrm>
      </p:grpSpPr>
      <p:sp>
        <p:nvSpPr>
          <p:cNvPr id="8138" name="Google Shape;8138;p465"/>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br>
              <a:rPr lang="en-GB"/>
            </a:br>
            <a:r>
              <a:rPr lang="en-GB"/>
              <a:t>What are the challenges?</a:t>
            </a:r>
            <a:endParaRPr/>
          </a:p>
        </p:txBody>
      </p:sp>
      <p:grpSp>
        <p:nvGrpSpPr>
          <p:cNvPr id="8139" name="Google Shape;8139;p465"/>
          <p:cNvGrpSpPr/>
          <p:nvPr/>
        </p:nvGrpSpPr>
        <p:grpSpPr>
          <a:xfrm>
            <a:off x="438691" y="2524118"/>
            <a:ext cx="8306242" cy="700743"/>
            <a:chOff x="456759" y="2468314"/>
            <a:chExt cx="8306242" cy="700743"/>
          </a:xfrm>
        </p:grpSpPr>
        <p:sp>
          <p:nvSpPr>
            <p:cNvPr id="8140" name="Google Shape;8140;p465"/>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Striking the balance between maximizing available capital to generate return on equity and minimizing expected losses during times of extreme market stress</a:t>
              </a:r>
              <a:endParaRPr sz="1000">
                <a:solidFill>
                  <a:srgbClr val="3C3C3B"/>
                </a:solidFill>
                <a:latin typeface="Century Gothic"/>
                <a:ea typeface="Century Gothic"/>
                <a:cs typeface="Century Gothic"/>
                <a:sym typeface="Century Gothic"/>
              </a:endParaRPr>
            </a:p>
          </p:txBody>
        </p:sp>
        <p:sp>
          <p:nvSpPr>
            <p:cNvPr id="8141" name="Google Shape;8141;p465"/>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142" name="Google Shape;8142;p465"/>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Dynamic, highly volatile market</a:t>
              </a:r>
              <a:endParaRPr b="1" sz="1200">
                <a:solidFill>
                  <a:srgbClr val="FFFFFF"/>
                </a:solidFill>
                <a:latin typeface="Century Gothic"/>
                <a:ea typeface="Century Gothic"/>
                <a:cs typeface="Century Gothic"/>
                <a:sym typeface="Century Gothic"/>
              </a:endParaRPr>
            </a:p>
          </p:txBody>
        </p:sp>
      </p:grpSp>
      <p:grpSp>
        <p:nvGrpSpPr>
          <p:cNvPr id="8143" name="Google Shape;8143;p465"/>
          <p:cNvGrpSpPr/>
          <p:nvPr/>
        </p:nvGrpSpPr>
        <p:grpSpPr>
          <a:xfrm>
            <a:off x="438690" y="1764058"/>
            <a:ext cx="8306240" cy="720600"/>
            <a:chOff x="456758" y="1764058"/>
            <a:chExt cx="8306240" cy="720600"/>
          </a:xfrm>
        </p:grpSpPr>
        <p:sp>
          <p:nvSpPr>
            <p:cNvPr id="8144" name="Google Shape;8144;p465"/>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Increased scrutiny of risk models including periodic re-validation and back-testing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Increased reporting requirements including daily back-testing and P&amp;L attribution</a:t>
              </a:r>
              <a:endParaRPr sz="1000">
                <a:solidFill>
                  <a:srgbClr val="3C3C3B"/>
                </a:solidFill>
                <a:latin typeface="Century Gothic"/>
                <a:ea typeface="Century Gothic"/>
                <a:cs typeface="Century Gothic"/>
                <a:sym typeface="Century Gothic"/>
              </a:endParaRPr>
            </a:p>
          </p:txBody>
        </p:sp>
        <p:sp>
          <p:nvSpPr>
            <p:cNvPr id="8145" name="Google Shape;8145;p465"/>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146" name="Google Shape;8146;p465"/>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Regulatory Pressures</a:t>
              </a:r>
              <a:endParaRPr b="1" sz="1200">
                <a:solidFill>
                  <a:srgbClr val="FFFFFF"/>
                </a:solidFill>
                <a:latin typeface="Century Gothic"/>
                <a:ea typeface="Century Gothic"/>
                <a:cs typeface="Century Gothic"/>
                <a:sym typeface="Century Gothic"/>
              </a:endParaRPr>
            </a:p>
          </p:txBody>
        </p:sp>
      </p:grpSp>
      <p:sp>
        <p:nvSpPr>
          <p:cNvPr id="8147" name="Google Shape;8147;p465"/>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8148" name="Google Shape;8148;p465"/>
          <p:cNvGrpSpPr/>
          <p:nvPr/>
        </p:nvGrpSpPr>
        <p:grpSpPr>
          <a:xfrm>
            <a:off x="438691" y="4004525"/>
            <a:ext cx="8306242" cy="700825"/>
            <a:chOff x="456759" y="4004525"/>
            <a:chExt cx="8306242" cy="700825"/>
          </a:xfrm>
        </p:grpSpPr>
        <p:sp>
          <p:nvSpPr>
            <p:cNvPr id="8149" name="Google Shape;8149;p465"/>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Establishing a ‘risk based’ culture.</a:t>
              </a:r>
              <a:endParaRPr/>
            </a:p>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Aligning incentives with appropriate risk based behaviors</a:t>
              </a:r>
              <a:endParaRPr sz="1000">
                <a:solidFill>
                  <a:schemeClr val="dk1"/>
                </a:solidFill>
                <a:latin typeface="Century Gothic"/>
                <a:ea typeface="Century Gothic"/>
                <a:cs typeface="Century Gothic"/>
                <a:sym typeface="Century Gothic"/>
              </a:endParaRPr>
            </a:p>
          </p:txBody>
        </p:sp>
        <p:sp>
          <p:nvSpPr>
            <p:cNvPr id="8150" name="Google Shape;8150;p465"/>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151" name="Google Shape;8151;p465"/>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Organization &amp; Risk Culture</a:t>
              </a:r>
              <a:endParaRPr b="1" sz="1200">
                <a:solidFill>
                  <a:srgbClr val="FFFFFF"/>
                </a:solidFill>
                <a:latin typeface="Century Gothic"/>
                <a:ea typeface="Century Gothic"/>
                <a:cs typeface="Century Gothic"/>
                <a:sym typeface="Century Gothic"/>
              </a:endParaRPr>
            </a:p>
          </p:txBody>
        </p:sp>
      </p:grpSp>
      <p:grpSp>
        <p:nvGrpSpPr>
          <p:cNvPr id="8152" name="Google Shape;8152;p465"/>
          <p:cNvGrpSpPr/>
          <p:nvPr/>
        </p:nvGrpSpPr>
        <p:grpSpPr>
          <a:xfrm>
            <a:off x="438691" y="3264321"/>
            <a:ext cx="8306242" cy="700743"/>
            <a:chOff x="456759" y="3170400"/>
            <a:chExt cx="8306242" cy="700743"/>
          </a:xfrm>
        </p:grpSpPr>
        <p:sp>
          <p:nvSpPr>
            <p:cNvPr id="8153" name="Google Shape;8153;p465"/>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Demand for increased data granularity, transparency, traceability and timeliness.</a:t>
              </a:r>
              <a:endParaRPr/>
            </a:p>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Advanced modeling techniques beyond historical simulation – Monte Carlo, “Stressed VaR”, Expected Shortfall (ES) etc.</a:t>
              </a:r>
              <a:endParaRPr sz="1000">
                <a:solidFill>
                  <a:schemeClr val="dk1"/>
                </a:solidFill>
                <a:latin typeface="Century Gothic"/>
                <a:ea typeface="Century Gothic"/>
                <a:cs typeface="Century Gothic"/>
                <a:sym typeface="Century Gothic"/>
              </a:endParaRPr>
            </a:p>
          </p:txBody>
        </p:sp>
        <p:sp>
          <p:nvSpPr>
            <p:cNvPr id="8154" name="Google Shape;8154;p465"/>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155" name="Google Shape;8155;p465"/>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analytics and technology issues</a:t>
              </a:r>
              <a:endParaRPr b="1" sz="1200">
                <a:solidFill>
                  <a:srgbClr val="FFFFFF"/>
                </a:solidFill>
                <a:latin typeface="Century Gothic"/>
                <a:ea typeface="Century Gothic"/>
                <a:cs typeface="Century Gothic"/>
                <a:sym typeface="Century Gothic"/>
              </a:endParaRPr>
            </a:p>
          </p:txBody>
        </p:sp>
      </p:grpSp>
      <p:sp>
        <p:nvSpPr>
          <p:cNvPr id="8156" name="Google Shape;8156;p465"/>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Maintaining a comprehensive risk management capability that keeps pace with and satisfies regulatory requirements  as well as meeting the need to maximize return on equity.</a:t>
            </a:r>
            <a:endParaRPr sz="1200">
              <a:solidFill>
                <a:srgbClr val="FFFFFF"/>
              </a:solidFill>
              <a:latin typeface="Century Gothic"/>
              <a:ea typeface="Century Gothic"/>
              <a:cs typeface="Century Gothic"/>
              <a:sym typeface="Century Gothic"/>
            </a:endParaRPr>
          </a:p>
        </p:txBody>
      </p:sp>
      <p:sp>
        <p:nvSpPr>
          <p:cNvPr id="8157" name="Google Shape;8157;p4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80" name="Shape 8180"/>
        <p:cNvGrpSpPr/>
        <p:nvPr/>
      </p:nvGrpSpPr>
      <p:grpSpPr>
        <a:xfrm>
          <a:off x="0" y="0"/>
          <a:ext cx="0" cy="0"/>
          <a:chOff x="0" y="0"/>
          <a:chExt cx="0" cy="0"/>
        </a:xfrm>
      </p:grpSpPr>
      <p:graphicFrame>
        <p:nvGraphicFramePr>
          <p:cNvPr id="8181" name="Google Shape;8181;p467"/>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Detailed definitions of risk bearing capacity and appetite baked into operational processes.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Portfolio structures and capital consumption measured/monitored on advanced risk  KPIs including stressed VaR and Expected Shortfall (ES) – both standalone and overall portfolio/interaction views. Capacity to implement full re-valuation in addition to sensitivities. Real-time or near-realtime risk adjusted P&amp;L.</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6366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Piloting advanced analytics techniques to support risk policy o in selected lines of business</a:t>
                      </a:r>
                      <a:endParaRPr/>
                    </a:p>
                  </a:txBody>
                  <a:tcPr marT="36000" marB="36000" marR="36000" marL="360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Basic risk bearing capacity and risk appetite defined, portfolio management by volumes/value, but not by more sophisticated Risk KPIs.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appetite clearly defined but relying heavily on manual efforts. Monitoring remains focused on descriptive “what happened” analytics.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bearing capacity an  risk appetite not explicitly defined, no/limited/judgemental target portfolio composition.</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8182" name="Google Shape;8182;p467"/>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grpSp>
        <p:nvGrpSpPr>
          <p:cNvPr id="8183" name="Google Shape;8183;p467"/>
          <p:cNvGrpSpPr/>
          <p:nvPr/>
        </p:nvGrpSpPr>
        <p:grpSpPr>
          <a:xfrm>
            <a:off x="457200" y="3562350"/>
            <a:ext cx="8455025" cy="1249127"/>
            <a:chOff x="211138" y="3972860"/>
            <a:chExt cx="8713787" cy="642437"/>
          </a:xfrm>
        </p:grpSpPr>
        <p:sp>
          <p:nvSpPr>
            <p:cNvPr id="8184" name="Google Shape;8184;p46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185" name="Google Shape;8185;p46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186" name="Google Shape;8186;p467"/>
          <p:cNvGrpSpPr/>
          <p:nvPr/>
        </p:nvGrpSpPr>
        <p:grpSpPr>
          <a:xfrm>
            <a:off x="7971865" y="781605"/>
            <a:ext cx="949325" cy="3191672"/>
            <a:chOff x="7941888" y="1062037"/>
            <a:chExt cx="983037" cy="2695575"/>
          </a:xfrm>
        </p:grpSpPr>
        <p:sp>
          <p:nvSpPr>
            <p:cNvPr id="8187" name="Google Shape;8187;p46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188" name="Google Shape;8188;p46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189" name="Google Shape;8189;p4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12" name="Shape 8212"/>
        <p:cNvGrpSpPr/>
        <p:nvPr/>
      </p:nvGrpSpPr>
      <p:grpSpPr>
        <a:xfrm>
          <a:off x="0" y="0"/>
          <a:ext cx="0" cy="0"/>
          <a:chOff x="0" y="0"/>
          <a:chExt cx="0" cy="0"/>
        </a:xfrm>
      </p:grpSpPr>
      <p:graphicFrame>
        <p:nvGraphicFramePr>
          <p:cNvPr id="8213" name="Google Shape;8213;p469"/>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based pricing models incorporate all data, channels, interactions, associations, and customer/entity networks. Models updated dynamically. All risk models harmonized with Finance, Marketing.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6366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based pricing incorporates some unstructured data. Models validated every 3-6 months. Model factory institutionalized. Models utilize internal and external data. Fully data-based statistical models.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based pricing models using regression, retrospective probability models. Models validated every 12 months. Operational processes using scoring for automation. Rule-based and limited statistical models.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Risk based pricing models implemented in third party and/or in-house developed applications. Decisioning remains stove-piped.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or limited risk based pricing. Models updated on an ad hoc basis. Some pockets of automation. Judgmental decision making is the norm. Models are standalone, little integration with other functional units.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8214" name="Google Shape;8214;p469"/>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Based Pricing</a:t>
            </a:r>
            <a:endParaRPr b="1"/>
          </a:p>
        </p:txBody>
      </p:sp>
      <p:grpSp>
        <p:nvGrpSpPr>
          <p:cNvPr id="8215" name="Google Shape;8215;p469"/>
          <p:cNvGrpSpPr/>
          <p:nvPr/>
        </p:nvGrpSpPr>
        <p:grpSpPr>
          <a:xfrm>
            <a:off x="457200" y="3562350"/>
            <a:ext cx="8455025" cy="1249127"/>
            <a:chOff x="211138" y="3972860"/>
            <a:chExt cx="8713787" cy="642437"/>
          </a:xfrm>
        </p:grpSpPr>
        <p:sp>
          <p:nvSpPr>
            <p:cNvPr id="8216" name="Google Shape;8216;p46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217" name="Google Shape;8217;p46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218" name="Google Shape;8218;p469"/>
          <p:cNvGrpSpPr/>
          <p:nvPr/>
        </p:nvGrpSpPr>
        <p:grpSpPr>
          <a:xfrm>
            <a:off x="7971865" y="781605"/>
            <a:ext cx="949325" cy="3191672"/>
            <a:chOff x="7941888" y="1062037"/>
            <a:chExt cx="983037" cy="2695575"/>
          </a:xfrm>
        </p:grpSpPr>
        <p:sp>
          <p:nvSpPr>
            <p:cNvPr id="8219" name="Google Shape;8219;p46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220" name="Google Shape;8220;p46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221" name="Google Shape;8221;p4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34" name="Shape 8234"/>
        <p:cNvGrpSpPr/>
        <p:nvPr/>
      </p:nvGrpSpPr>
      <p:grpSpPr>
        <a:xfrm>
          <a:off x="0" y="0"/>
          <a:ext cx="0" cy="0"/>
          <a:chOff x="0" y="0"/>
          <a:chExt cx="0" cy="0"/>
        </a:xfrm>
      </p:grpSpPr>
      <p:sp>
        <p:nvSpPr>
          <p:cNvPr id="8235" name="Google Shape;8235;p471"/>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36" name="Google Shape;8236;p471"/>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just">
              <a:lnSpc>
                <a:spcPct val="95000"/>
              </a:lnSpc>
              <a:spcBef>
                <a:spcPts val="800"/>
              </a:spcBef>
              <a:spcAft>
                <a:spcPts val="0"/>
              </a:spcAft>
              <a:buClr>
                <a:schemeClr val="dk1"/>
              </a:buClr>
              <a:buSzPts val="1200"/>
              <a:buChar char="•"/>
            </a:pPr>
            <a:r>
              <a:rPr lang="en-GB" sz="1200"/>
              <a:t>##</a:t>
            </a:r>
            <a:endParaRPr sz="1200"/>
          </a:p>
        </p:txBody>
      </p:sp>
      <p:sp>
        <p:nvSpPr>
          <p:cNvPr id="8237" name="Google Shape;8237;p47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pic>
        <p:nvPicPr>
          <p:cNvPr id="8238" name="Google Shape;8238;p471"/>
          <p:cNvPicPr preferRelativeResize="0"/>
          <p:nvPr/>
        </p:nvPicPr>
        <p:blipFill rotWithShape="1">
          <a:blip r:embed="rId3">
            <a:alphaModFix/>
          </a:blip>
          <a:srcRect b="0" l="7127" r="0" t="0"/>
          <a:stretch/>
        </p:blipFill>
        <p:spPr>
          <a:xfrm>
            <a:off x="5813778" y="967317"/>
            <a:ext cx="3330222" cy="2396066"/>
          </a:xfrm>
          <a:prstGeom prst="rect">
            <a:avLst/>
          </a:prstGeom>
          <a:noFill/>
          <a:ln>
            <a:noFill/>
          </a:ln>
          <a:effectLst>
            <a:outerShdw blurRad="50800" rotWithShape="0" algn="tl" dir="2700000" dist="38100">
              <a:srgbClr val="000000">
                <a:alpha val="40000"/>
              </a:srgbClr>
            </a:outerShdw>
          </a:effectLst>
        </p:spPr>
      </p:pic>
      <p:sp>
        <p:nvSpPr>
          <p:cNvPr id="8239" name="Google Shape;8239;p4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4" name="Shape 8244"/>
        <p:cNvGrpSpPr/>
        <p:nvPr/>
      </p:nvGrpSpPr>
      <p:grpSpPr>
        <a:xfrm>
          <a:off x="0" y="0"/>
          <a:ext cx="0" cy="0"/>
          <a:chOff x="0" y="0"/>
          <a:chExt cx="0" cy="0"/>
        </a:xfrm>
      </p:grpSpPr>
      <p:sp>
        <p:nvSpPr>
          <p:cNvPr id="8245" name="Google Shape;8245;p472"/>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r>
              <a:rPr lang="en-GB"/>
              <a:t>What are the challenges?</a:t>
            </a:r>
            <a:endParaRPr/>
          </a:p>
        </p:txBody>
      </p:sp>
      <p:grpSp>
        <p:nvGrpSpPr>
          <p:cNvPr id="8246" name="Google Shape;8246;p472"/>
          <p:cNvGrpSpPr/>
          <p:nvPr/>
        </p:nvGrpSpPr>
        <p:grpSpPr>
          <a:xfrm>
            <a:off x="438691" y="2524118"/>
            <a:ext cx="8306242" cy="700743"/>
            <a:chOff x="456759" y="2468314"/>
            <a:chExt cx="8306242" cy="700743"/>
          </a:xfrm>
        </p:grpSpPr>
        <p:sp>
          <p:nvSpPr>
            <p:cNvPr id="8247" name="Google Shape;8247;p472"/>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8248" name="Google Shape;8248;p472"/>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249" name="Google Shape;8249;p472"/>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8250" name="Google Shape;8250;p472"/>
          <p:cNvGrpSpPr/>
          <p:nvPr/>
        </p:nvGrpSpPr>
        <p:grpSpPr>
          <a:xfrm>
            <a:off x="438690" y="1764058"/>
            <a:ext cx="8306240" cy="720600"/>
            <a:chOff x="456758" y="1764058"/>
            <a:chExt cx="8306240" cy="720600"/>
          </a:xfrm>
        </p:grpSpPr>
        <p:sp>
          <p:nvSpPr>
            <p:cNvPr id="8251" name="Google Shape;8251;p472"/>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8252" name="Google Shape;8252;p472"/>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253" name="Google Shape;8253;p472"/>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8254" name="Google Shape;8254;p472"/>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8255" name="Google Shape;8255;p472"/>
          <p:cNvGrpSpPr/>
          <p:nvPr/>
        </p:nvGrpSpPr>
        <p:grpSpPr>
          <a:xfrm>
            <a:off x="438691" y="4004525"/>
            <a:ext cx="8306242" cy="700825"/>
            <a:chOff x="456759" y="4004525"/>
            <a:chExt cx="8306242" cy="700825"/>
          </a:xfrm>
        </p:grpSpPr>
        <p:sp>
          <p:nvSpPr>
            <p:cNvPr id="8256" name="Google Shape;8256;p472"/>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8257" name="Google Shape;8257;p472"/>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258" name="Google Shape;8258;p472"/>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8259" name="Google Shape;8259;p472"/>
          <p:cNvGrpSpPr/>
          <p:nvPr/>
        </p:nvGrpSpPr>
        <p:grpSpPr>
          <a:xfrm>
            <a:off x="438691" y="3264321"/>
            <a:ext cx="8306242" cy="700743"/>
            <a:chOff x="456759" y="3170400"/>
            <a:chExt cx="8306242" cy="700743"/>
          </a:xfrm>
        </p:grpSpPr>
        <p:sp>
          <p:nvSpPr>
            <p:cNvPr id="8260" name="Google Shape;8260;p472"/>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8261" name="Google Shape;8261;p472"/>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262" name="Google Shape;8262;p472"/>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8263" name="Google Shape;8263;p472"/>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Description</a:t>
            </a:r>
            <a:endParaRPr sz="1200">
              <a:solidFill>
                <a:srgbClr val="FFFFFF"/>
              </a:solidFill>
              <a:latin typeface="Century Gothic"/>
              <a:ea typeface="Century Gothic"/>
              <a:cs typeface="Century Gothic"/>
              <a:sym typeface="Century Gothic"/>
            </a:endParaRPr>
          </a:p>
        </p:txBody>
      </p:sp>
      <p:sp>
        <p:nvSpPr>
          <p:cNvPr id="8264" name="Google Shape;8264;p4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7" name="Shape 8287"/>
        <p:cNvGrpSpPr/>
        <p:nvPr/>
      </p:nvGrpSpPr>
      <p:grpSpPr>
        <a:xfrm>
          <a:off x="0" y="0"/>
          <a:ext cx="0" cy="0"/>
          <a:chOff x="0" y="0"/>
          <a:chExt cx="0" cy="0"/>
        </a:xfrm>
      </p:grpSpPr>
      <p:graphicFrame>
        <p:nvGraphicFramePr>
          <p:cNvPr id="8288" name="Google Shape;8288;p47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1"/>
                        </a:buClr>
                        <a:buSzPts val="1000"/>
                        <a:buFont typeface="Century Gothic"/>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1"/>
                        </a:buClr>
                        <a:buSzPts val="1000"/>
                        <a:buFont typeface="Century Gothic"/>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1"/>
                        </a:buClr>
                        <a:buSzPts val="1000"/>
                        <a:buFont typeface="Century Gothic"/>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1"/>
                        </a:buClr>
                        <a:buSzPts val="1000"/>
                        <a:buFont typeface="Century Gothic"/>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8289" name="Google Shape;8289;p474"/>
          <p:cNvGrpSpPr/>
          <p:nvPr/>
        </p:nvGrpSpPr>
        <p:grpSpPr>
          <a:xfrm>
            <a:off x="469900" y="3819680"/>
            <a:ext cx="8455025" cy="732866"/>
            <a:chOff x="211138" y="3972860"/>
            <a:chExt cx="8713787" cy="642437"/>
          </a:xfrm>
        </p:grpSpPr>
        <p:sp>
          <p:nvSpPr>
            <p:cNvPr id="8290" name="Google Shape;8290;p47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291" name="Google Shape;8291;p47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292" name="Google Shape;8292;p474"/>
          <p:cNvGrpSpPr/>
          <p:nvPr/>
        </p:nvGrpSpPr>
        <p:grpSpPr>
          <a:xfrm>
            <a:off x="7971865" y="980278"/>
            <a:ext cx="949325" cy="2867825"/>
            <a:chOff x="7941888" y="1062037"/>
            <a:chExt cx="983037" cy="2695575"/>
          </a:xfrm>
        </p:grpSpPr>
        <p:sp>
          <p:nvSpPr>
            <p:cNvPr id="8293" name="Google Shape;8293;p47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294" name="Google Shape;8294;p47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295" name="Google Shape;8295;p474"/>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a:solidFill>
                <a:schemeClr val="accent6"/>
              </a:solidFill>
            </a:endParaRPr>
          </a:p>
        </p:txBody>
      </p:sp>
      <p:sp>
        <p:nvSpPr>
          <p:cNvPr id="8296" name="Google Shape;8296;p4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9" name="Shape 8309"/>
        <p:cNvGrpSpPr/>
        <p:nvPr/>
      </p:nvGrpSpPr>
      <p:grpSpPr>
        <a:xfrm>
          <a:off x="0" y="0"/>
          <a:ext cx="0" cy="0"/>
          <a:chOff x="0" y="0"/>
          <a:chExt cx="0" cy="0"/>
        </a:xfrm>
      </p:grpSpPr>
      <p:sp>
        <p:nvSpPr>
          <p:cNvPr id="8310" name="Google Shape;8310;p476"/>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11" name="Google Shape;8311;p476"/>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200"/>
              <a:buChar char="•"/>
            </a:pPr>
            <a:r>
              <a:rPr lang="en-GB" sz="1200"/>
              <a:t>Produce clear and transparent reporting of receivables, credit assets, and past due balances. </a:t>
            </a:r>
            <a:endParaRPr/>
          </a:p>
          <a:p>
            <a:pPr indent="-169863" lvl="0" marL="169863" rtl="0" algn="just">
              <a:lnSpc>
                <a:spcPct val="95000"/>
              </a:lnSpc>
              <a:spcBef>
                <a:spcPts val="600"/>
              </a:spcBef>
              <a:spcAft>
                <a:spcPts val="0"/>
              </a:spcAft>
              <a:buClr>
                <a:schemeClr val="dk1"/>
              </a:buClr>
              <a:buSzPts val="1200"/>
              <a:buChar char="•"/>
            </a:pPr>
            <a:r>
              <a:rPr lang="en-GB" sz="1200"/>
              <a:t>Use of predictive modeling to determine propensity and expected amount of collection to optimize day-to-day collection activity and resource planning.  </a:t>
            </a:r>
            <a:endParaRPr/>
          </a:p>
          <a:p>
            <a:pPr indent="-169863" lvl="0" marL="169863" rtl="0" algn="just">
              <a:lnSpc>
                <a:spcPct val="95000"/>
              </a:lnSpc>
              <a:spcBef>
                <a:spcPts val="600"/>
              </a:spcBef>
              <a:spcAft>
                <a:spcPts val="0"/>
              </a:spcAft>
              <a:buClr>
                <a:schemeClr val="dk1"/>
              </a:buClr>
              <a:buSzPts val="1200"/>
              <a:buChar char="•"/>
            </a:pPr>
            <a:r>
              <a:rPr lang="en-GB" sz="1200"/>
              <a:t>Maximize collection likelihood through propensity modeling and network analysis of cash flows and defaults. Maximize collection amounts through champion and challenger strategy models. </a:t>
            </a:r>
            <a:endParaRPr/>
          </a:p>
          <a:p>
            <a:pPr indent="-169863" lvl="0" marL="169863" rtl="0" algn="just">
              <a:lnSpc>
                <a:spcPct val="95000"/>
              </a:lnSpc>
              <a:spcBef>
                <a:spcPts val="600"/>
              </a:spcBef>
              <a:spcAft>
                <a:spcPts val="0"/>
              </a:spcAft>
              <a:buClr>
                <a:schemeClr val="dk1"/>
              </a:buClr>
              <a:buSzPts val="1200"/>
              <a:buChar char="•"/>
            </a:pPr>
            <a:r>
              <a:rPr lang="en-GB" sz="1200"/>
              <a:t>B2C collection strategy profiles individual collector skillsets, retail customer behavior, and best time and channel to collect from. </a:t>
            </a:r>
            <a:endParaRPr/>
          </a:p>
          <a:p>
            <a:pPr indent="-169863" lvl="0" marL="169863" rtl="0" algn="just">
              <a:lnSpc>
                <a:spcPct val="95000"/>
              </a:lnSpc>
              <a:spcBef>
                <a:spcPts val="600"/>
              </a:spcBef>
              <a:spcAft>
                <a:spcPts val="0"/>
              </a:spcAft>
              <a:buClr>
                <a:schemeClr val="dk1"/>
              </a:buClr>
              <a:buSzPts val="1200"/>
              <a:buChar char="•"/>
            </a:pPr>
            <a:r>
              <a:rPr lang="en-GB" sz="1200"/>
              <a:t>B2B strategies integrate collections strategies with supply chain improvements: timely invoicing and accurate billing, enforceability of contractual  terms and obligations, and counterparty relationship management. </a:t>
            </a:r>
            <a:endParaRPr sz="1200"/>
          </a:p>
          <a:p>
            <a:pPr indent="-169863" lvl="0" marL="169863" rtl="0" algn="just">
              <a:lnSpc>
                <a:spcPct val="95000"/>
              </a:lnSpc>
              <a:spcBef>
                <a:spcPts val="600"/>
              </a:spcBef>
              <a:spcAft>
                <a:spcPts val="0"/>
              </a:spcAft>
              <a:buClr>
                <a:schemeClr val="dk1"/>
              </a:buClr>
              <a:buSzPts val="1200"/>
              <a:buChar char="•"/>
            </a:pPr>
            <a:r>
              <a:rPr lang="en-GB" sz="1200"/>
              <a:t>Optimize loss recovery by profiling the effectiveness of third-party collectors and agencies, and providing clear performance metrics of outsourced collection. </a:t>
            </a:r>
            <a:endParaRPr sz="1200"/>
          </a:p>
        </p:txBody>
      </p:sp>
      <p:sp>
        <p:nvSpPr>
          <p:cNvPr id="8312" name="Google Shape;8312;p47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pic>
        <p:nvPicPr>
          <p:cNvPr id="8313" name="Google Shape;8313;p476"/>
          <p:cNvPicPr preferRelativeResize="0"/>
          <p:nvPr/>
        </p:nvPicPr>
        <p:blipFill rotWithShape="1">
          <a:blip r:embed="rId3">
            <a:alphaModFix/>
          </a:blip>
          <a:srcRect b="0" l="7127" r="0" t="0"/>
          <a:stretch/>
        </p:blipFill>
        <p:spPr>
          <a:xfrm>
            <a:off x="5813778" y="967317"/>
            <a:ext cx="3330222" cy="2396066"/>
          </a:xfrm>
          <a:prstGeom prst="rect">
            <a:avLst/>
          </a:prstGeom>
          <a:noFill/>
          <a:ln>
            <a:noFill/>
          </a:ln>
          <a:effectLst>
            <a:outerShdw blurRad="50800" rotWithShape="0" algn="tl" dir="2700000" dist="38100">
              <a:srgbClr val="000000">
                <a:alpha val="40000"/>
              </a:srgbClr>
            </a:outerShdw>
          </a:effectLst>
        </p:spPr>
      </p:pic>
      <p:sp>
        <p:nvSpPr>
          <p:cNvPr id="8314" name="Google Shape;8314;p47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9" name="Shape 8319"/>
        <p:cNvGrpSpPr/>
        <p:nvPr/>
      </p:nvGrpSpPr>
      <p:grpSpPr>
        <a:xfrm>
          <a:off x="0" y="0"/>
          <a:ext cx="0" cy="0"/>
          <a:chOff x="0" y="0"/>
          <a:chExt cx="0" cy="0"/>
        </a:xfrm>
      </p:grpSpPr>
      <p:sp>
        <p:nvSpPr>
          <p:cNvPr id="8320" name="Google Shape;8320;p477"/>
          <p:cNvSpPr txBox="1"/>
          <p:nvPr>
            <p:ph type="title"/>
          </p:nvPr>
        </p:nvSpPr>
        <p:spPr>
          <a:xfrm>
            <a:off x="477880" y="274637"/>
            <a:ext cx="8401960" cy="604837"/>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r>
              <a:rPr lang="en-GB"/>
              <a:t>What are the challenges?</a:t>
            </a:r>
            <a:endParaRPr/>
          </a:p>
        </p:txBody>
      </p:sp>
      <p:grpSp>
        <p:nvGrpSpPr>
          <p:cNvPr id="8321" name="Google Shape;8321;p477"/>
          <p:cNvGrpSpPr/>
          <p:nvPr/>
        </p:nvGrpSpPr>
        <p:grpSpPr>
          <a:xfrm>
            <a:off x="438691" y="2524118"/>
            <a:ext cx="8306242" cy="700743"/>
            <a:chOff x="456759" y="2468314"/>
            <a:chExt cx="8306242" cy="700743"/>
          </a:xfrm>
        </p:grpSpPr>
        <p:sp>
          <p:nvSpPr>
            <p:cNvPr id="8322" name="Google Shape;8322;p477"/>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8323" name="Google Shape;8323;p477"/>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24" name="Google Shape;8324;p477"/>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8325" name="Google Shape;8325;p477"/>
          <p:cNvGrpSpPr/>
          <p:nvPr/>
        </p:nvGrpSpPr>
        <p:grpSpPr>
          <a:xfrm>
            <a:off x="438690" y="1764058"/>
            <a:ext cx="8306240" cy="720600"/>
            <a:chOff x="456758" y="1764058"/>
            <a:chExt cx="8306240" cy="720600"/>
          </a:xfrm>
        </p:grpSpPr>
        <p:sp>
          <p:nvSpPr>
            <p:cNvPr id="8326" name="Google Shape;8326;p477"/>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8327" name="Google Shape;8327;p477"/>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28" name="Google Shape;8328;p477"/>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8329" name="Google Shape;8329;p477"/>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8330" name="Google Shape;8330;p477"/>
          <p:cNvGrpSpPr/>
          <p:nvPr/>
        </p:nvGrpSpPr>
        <p:grpSpPr>
          <a:xfrm>
            <a:off x="438691" y="4004525"/>
            <a:ext cx="8306242" cy="700825"/>
            <a:chOff x="456759" y="4004525"/>
            <a:chExt cx="8306242" cy="700825"/>
          </a:xfrm>
        </p:grpSpPr>
        <p:sp>
          <p:nvSpPr>
            <p:cNvPr id="8331" name="Google Shape;8331;p477"/>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8332" name="Google Shape;8332;p477"/>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33" name="Google Shape;8333;p477"/>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8334" name="Google Shape;8334;p477"/>
          <p:cNvGrpSpPr/>
          <p:nvPr/>
        </p:nvGrpSpPr>
        <p:grpSpPr>
          <a:xfrm>
            <a:off x="438691" y="3264321"/>
            <a:ext cx="8306242" cy="700743"/>
            <a:chOff x="456759" y="3170400"/>
            <a:chExt cx="8306242" cy="700743"/>
          </a:xfrm>
        </p:grpSpPr>
        <p:sp>
          <p:nvSpPr>
            <p:cNvPr id="8335" name="Google Shape;8335;p477"/>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8336" name="Google Shape;8336;p477"/>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8337" name="Google Shape;8337;p477"/>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8338" name="Google Shape;8338;p477"/>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Description</a:t>
            </a:r>
            <a:endParaRPr sz="1200">
              <a:solidFill>
                <a:srgbClr val="FFFFFF"/>
              </a:solidFill>
              <a:latin typeface="Century Gothic"/>
              <a:ea typeface="Century Gothic"/>
              <a:cs typeface="Century Gothic"/>
              <a:sym typeface="Century Gothic"/>
            </a:endParaRPr>
          </a:p>
        </p:txBody>
      </p:sp>
      <p:sp>
        <p:nvSpPr>
          <p:cNvPr id="8339" name="Google Shape;8339;p4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2" name="Shape 8362"/>
        <p:cNvGrpSpPr/>
        <p:nvPr/>
      </p:nvGrpSpPr>
      <p:grpSpPr>
        <a:xfrm>
          <a:off x="0" y="0"/>
          <a:ext cx="0" cy="0"/>
          <a:chOff x="0" y="0"/>
          <a:chExt cx="0" cy="0"/>
        </a:xfrm>
      </p:grpSpPr>
      <p:graphicFrame>
        <p:nvGraphicFramePr>
          <p:cNvPr id="8363" name="Google Shape;8363;p47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Collection strategy incorporates all data, channels, interactions, associations, and customer/entity networks. Models updated dynamically. All collections models harmonized with Risk, Finance, Marketing.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Collection strategy incorporates some unstructured data. Models validated every 3-6 months. Model factory institutionalized. Models utilize internal and external data. Fully data-based statistical models. Collection activity is integrated across enterprise, various business, product, and functional groups.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Collection strategy driven by statistical models, decision trees and retrospective probability models. Models validated every 12 months. Operational processes using scoring for automation. Manual integration of collection across business and functional units.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Minimal collections strategy. </a:t>
                      </a:r>
                      <a:r>
                        <a:rPr b="0" i="0" lang="en-GB" sz="900" u="none" cap="none" strike="noStrike">
                          <a:solidFill>
                            <a:srgbClr val="3C3C3B"/>
                          </a:solidFill>
                          <a:latin typeface="Century Gothic"/>
                          <a:ea typeface="Century Gothic"/>
                          <a:cs typeface="Century Gothic"/>
                          <a:sym typeface="Century Gothic"/>
                        </a:rPr>
                        <a:t>Models updated on an ad-hoc basis. Some pockets of automation. Judgmental decision making is the norm. Models are standalone, little integration with other functional units.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No or limited collections strategy. </a:t>
                      </a:r>
                      <a:r>
                        <a:rPr b="0" lang="en-GB" sz="900">
                          <a:solidFill>
                            <a:schemeClr val="dk1"/>
                          </a:solidFill>
                          <a:latin typeface="Century Gothic"/>
                          <a:ea typeface="Century Gothic"/>
                          <a:cs typeface="Century Gothic"/>
                          <a:sym typeface="Century Gothic"/>
                        </a:rPr>
                        <a:t>Manual collections process and tactical approach to receivable and past-due management.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8364" name="Google Shape;8364;p479"/>
          <p:cNvGrpSpPr/>
          <p:nvPr/>
        </p:nvGrpSpPr>
        <p:grpSpPr>
          <a:xfrm>
            <a:off x="469900" y="3819680"/>
            <a:ext cx="8455025" cy="732866"/>
            <a:chOff x="211138" y="3972860"/>
            <a:chExt cx="8713787" cy="642437"/>
          </a:xfrm>
        </p:grpSpPr>
        <p:sp>
          <p:nvSpPr>
            <p:cNvPr id="8365" name="Google Shape;8365;p47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366" name="Google Shape;8366;p47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8367" name="Google Shape;8367;p479"/>
          <p:cNvGrpSpPr/>
          <p:nvPr/>
        </p:nvGrpSpPr>
        <p:grpSpPr>
          <a:xfrm>
            <a:off x="7971865" y="980278"/>
            <a:ext cx="949325" cy="2867825"/>
            <a:chOff x="7941888" y="1062037"/>
            <a:chExt cx="983037" cy="2695575"/>
          </a:xfrm>
        </p:grpSpPr>
        <p:sp>
          <p:nvSpPr>
            <p:cNvPr id="8368" name="Google Shape;8368;p47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8369" name="Google Shape;8369;p47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8370" name="Google Shape;8370;p47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Optimization</a:t>
            </a:r>
            <a:endParaRPr>
              <a:solidFill>
                <a:schemeClr val="accent6"/>
              </a:solidFill>
            </a:endParaRPr>
          </a:p>
        </p:txBody>
      </p:sp>
      <p:sp>
        <p:nvSpPr>
          <p:cNvPr id="8371" name="Google Shape;8371;p4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