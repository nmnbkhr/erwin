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789" r:id="rId540"/>
    <p:sldId id="790" r:id="rId541"/>
    <p:sldId id="791" r:id="rId542"/>
    <p:sldId id="792" r:id="rId543"/>
    <p:sldId id="793" r:id="rId544"/>
    <p:sldId id="794" r:id="rId545"/>
    <p:sldId id="795" r:id="rId546"/>
    <p:sldId id="796" r:id="rId547"/>
    <p:sldId id="797" r:id="rId548"/>
    <p:sldId id="798" r:id="rId549"/>
    <p:sldId id="799" r:id="rId550"/>
    <p:sldId id="800" r:id="rId551"/>
    <p:sldId id="801" r:id="rId552"/>
    <p:sldId id="802" r:id="rId553"/>
    <p:sldId id="803" r:id="rId554"/>
    <p:sldId id="804" r:id="rId555"/>
    <p:sldId id="805" r:id="rId556"/>
    <p:sldId id="806" r:id="rId557"/>
    <p:sldId id="807" r:id="rId558"/>
    <p:sldId id="808" r:id="rId559"/>
    <p:sldId id="809" r:id="rId560"/>
    <p:sldId id="810" r:id="rId561"/>
    <p:sldId id="811" r:id="rId562"/>
    <p:sldId id="812" r:id="rId563"/>
    <p:sldId id="813" r:id="rId564"/>
    <p:sldId id="814" r:id="rId565"/>
    <p:sldId id="815" r:id="rId566"/>
    <p:sldId id="816" r:id="rId567"/>
    <p:sldId id="817" r:id="rId568"/>
    <p:sldId id="818" r:id="rId569"/>
    <p:sldId id="819" r:id="rId570"/>
    <p:sldId id="820" r:id="rId571"/>
    <p:sldId id="821" r:id="rId572"/>
    <p:sldId id="822" r:id="rId573"/>
    <p:sldId id="823" r:id="rId574"/>
    <p:sldId id="824" r:id="rId575"/>
    <p:sldId id="825" r:id="rId576"/>
    <p:sldId id="826" r:id="rId577"/>
    <p:sldId id="827" r:id="rId578"/>
    <p:sldId id="828" r:id="rId579"/>
    <p:sldId id="829" r:id="rId580"/>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540" Type="http://schemas.openxmlformats.org/officeDocument/2006/relationships/slide" Target="slides/slide534.xml"/><Relationship Id="rId541" Type="http://schemas.openxmlformats.org/officeDocument/2006/relationships/slide" Target="slides/slide535.xml"/><Relationship Id="rId542" Type="http://schemas.openxmlformats.org/officeDocument/2006/relationships/slide" Target="slides/slide536.xml"/><Relationship Id="rId543" Type="http://schemas.openxmlformats.org/officeDocument/2006/relationships/slide" Target="slides/slide537.xml"/><Relationship Id="rId544" Type="http://schemas.openxmlformats.org/officeDocument/2006/relationships/slide" Target="slides/slide538.xml"/><Relationship Id="rId545" Type="http://schemas.openxmlformats.org/officeDocument/2006/relationships/slide" Target="slides/slide539.xml"/><Relationship Id="rId546" Type="http://schemas.openxmlformats.org/officeDocument/2006/relationships/slide" Target="slides/slide540.xml"/><Relationship Id="rId547" Type="http://schemas.openxmlformats.org/officeDocument/2006/relationships/slide" Target="slides/slide541.xml"/><Relationship Id="rId548" Type="http://schemas.openxmlformats.org/officeDocument/2006/relationships/slide" Target="slides/slide542.xml"/><Relationship Id="rId549" Type="http://schemas.openxmlformats.org/officeDocument/2006/relationships/slide" Target="slides/slide543.xml"/><Relationship Id="rId550" Type="http://schemas.openxmlformats.org/officeDocument/2006/relationships/slide" Target="slides/slide544.xml"/><Relationship Id="rId551" Type="http://schemas.openxmlformats.org/officeDocument/2006/relationships/slide" Target="slides/slide545.xml"/><Relationship Id="rId552" Type="http://schemas.openxmlformats.org/officeDocument/2006/relationships/slide" Target="slides/slide546.xml"/><Relationship Id="rId553" Type="http://schemas.openxmlformats.org/officeDocument/2006/relationships/slide" Target="slides/slide547.xml"/><Relationship Id="rId554" Type="http://schemas.openxmlformats.org/officeDocument/2006/relationships/slide" Target="slides/slide548.xml"/><Relationship Id="rId555" Type="http://schemas.openxmlformats.org/officeDocument/2006/relationships/slide" Target="slides/slide549.xml"/><Relationship Id="rId556" Type="http://schemas.openxmlformats.org/officeDocument/2006/relationships/slide" Target="slides/slide550.xml"/><Relationship Id="rId557" Type="http://schemas.openxmlformats.org/officeDocument/2006/relationships/slide" Target="slides/slide551.xml"/><Relationship Id="rId558" Type="http://schemas.openxmlformats.org/officeDocument/2006/relationships/slide" Target="slides/slide552.xml"/><Relationship Id="rId559" Type="http://schemas.openxmlformats.org/officeDocument/2006/relationships/slide" Target="slides/slide553.xml"/><Relationship Id="rId560" Type="http://schemas.openxmlformats.org/officeDocument/2006/relationships/slide" Target="slides/slide554.xml"/><Relationship Id="rId561" Type="http://schemas.openxmlformats.org/officeDocument/2006/relationships/slide" Target="slides/slide555.xml"/><Relationship Id="rId562" Type="http://schemas.openxmlformats.org/officeDocument/2006/relationships/slide" Target="slides/slide556.xml"/><Relationship Id="rId563" Type="http://schemas.openxmlformats.org/officeDocument/2006/relationships/slide" Target="slides/slide557.xml"/><Relationship Id="rId564" Type="http://schemas.openxmlformats.org/officeDocument/2006/relationships/slide" Target="slides/slide558.xml"/><Relationship Id="rId565" Type="http://schemas.openxmlformats.org/officeDocument/2006/relationships/slide" Target="slides/slide559.xml"/><Relationship Id="rId566" Type="http://schemas.openxmlformats.org/officeDocument/2006/relationships/slide" Target="slides/slide560.xml"/><Relationship Id="rId567" Type="http://schemas.openxmlformats.org/officeDocument/2006/relationships/slide" Target="slides/slide561.xml"/><Relationship Id="rId568" Type="http://schemas.openxmlformats.org/officeDocument/2006/relationships/slide" Target="slides/slide562.xml"/><Relationship Id="rId569" Type="http://schemas.openxmlformats.org/officeDocument/2006/relationships/slide" Target="slides/slide563.xml"/><Relationship Id="rId570" Type="http://schemas.openxmlformats.org/officeDocument/2006/relationships/slide" Target="slides/slide564.xml"/><Relationship Id="rId571" Type="http://schemas.openxmlformats.org/officeDocument/2006/relationships/slide" Target="slides/slide565.xml"/><Relationship Id="rId572" Type="http://schemas.openxmlformats.org/officeDocument/2006/relationships/slide" Target="slides/slide566.xml"/><Relationship Id="rId573" Type="http://schemas.openxmlformats.org/officeDocument/2006/relationships/slide" Target="slides/slide567.xml"/><Relationship Id="rId574" Type="http://schemas.openxmlformats.org/officeDocument/2006/relationships/slide" Target="slides/slide568.xml"/><Relationship Id="rId575" Type="http://schemas.openxmlformats.org/officeDocument/2006/relationships/slide" Target="slides/slide569.xml"/><Relationship Id="rId576" Type="http://schemas.openxmlformats.org/officeDocument/2006/relationships/slide" Target="slides/slide570.xml"/><Relationship Id="rId577" Type="http://schemas.openxmlformats.org/officeDocument/2006/relationships/slide" Target="slides/slide571.xml"/><Relationship Id="rId578" Type="http://schemas.openxmlformats.org/officeDocument/2006/relationships/slide" Target="slides/slide572.xml"/><Relationship Id="rId579" Type="http://schemas.openxmlformats.org/officeDocument/2006/relationships/slide" Target="slides/slide573.xml"/><Relationship Id="rId580" Type="http://schemas.openxmlformats.org/officeDocument/2006/relationships/slide" Target="slides/slide574.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8" name="Shape 9848"/>
        <p:cNvGrpSpPr/>
        <p:nvPr/>
      </p:nvGrpSpPr>
      <p:grpSpPr>
        <a:xfrm>
          <a:off x="0" y="0"/>
          <a:ext cx="0" cy="0"/>
          <a:chOff x="0" y="0"/>
          <a:chExt cx="0" cy="0"/>
        </a:xfrm>
      </p:grpSpPr>
      <p:sp>
        <p:nvSpPr>
          <p:cNvPr id="9849" name="Google Shape;9849;p5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850" name="Google Shape;9850;p5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4" name="Shape 10374"/>
        <p:cNvGrpSpPr/>
        <p:nvPr/>
      </p:nvGrpSpPr>
      <p:grpSpPr>
        <a:xfrm>
          <a:off x="0" y="0"/>
          <a:ext cx="0" cy="0"/>
          <a:chOff x="0" y="0"/>
          <a:chExt cx="0" cy="0"/>
        </a:xfrm>
      </p:grpSpPr>
      <p:sp>
        <p:nvSpPr>
          <p:cNvPr id="10375" name="Google Shape;10375;p5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76" name="Google Shape;10376;p5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77" name="Google Shape;10377;p5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4" name="Shape 10494"/>
        <p:cNvGrpSpPr/>
        <p:nvPr/>
      </p:nvGrpSpPr>
      <p:grpSpPr>
        <a:xfrm>
          <a:off x="0" y="0"/>
          <a:ext cx="0" cy="0"/>
          <a:chOff x="0" y="0"/>
          <a:chExt cx="0" cy="0"/>
        </a:xfrm>
      </p:grpSpPr>
      <p:sp>
        <p:nvSpPr>
          <p:cNvPr id="10495" name="Google Shape;10495;p5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96" name="Google Shape;10496;p5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97" name="Google Shape;10497;p5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0" name="Shape 10530"/>
        <p:cNvGrpSpPr/>
        <p:nvPr/>
      </p:nvGrpSpPr>
      <p:grpSpPr>
        <a:xfrm>
          <a:off x="0" y="0"/>
          <a:ext cx="0" cy="0"/>
          <a:chOff x="0" y="0"/>
          <a:chExt cx="0" cy="0"/>
        </a:xfrm>
      </p:grpSpPr>
      <p:sp>
        <p:nvSpPr>
          <p:cNvPr id="10531" name="Google Shape;10531;p5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32" name="Google Shape;10532;p5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33" name="Google Shape;10533;p5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34.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1.xml"/><Relationship Id="rId3" Type="http://schemas.openxmlformats.org/officeDocument/2006/relationships/image" Target="../media/image108.png"/><Relationship Id="rId4" Type="http://schemas.openxmlformats.org/officeDocument/2006/relationships/image" Target="../media/image98.png"/><Relationship Id="rId5"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7.xml"/><Relationship Id="rId3" Type="http://schemas.openxmlformats.org/officeDocument/2006/relationships/image" Target="../media/image110.png"/><Relationship Id="rId4" Type="http://schemas.openxmlformats.org/officeDocument/2006/relationships/image" Target="../media/image109.png"/><Relationship Id="rId5" Type="http://schemas.openxmlformats.org/officeDocument/2006/relationships/image" Target="../media/image107.png"/><Relationship Id="rId6" Type="http://schemas.openxmlformats.org/officeDocument/2006/relationships/image" Target="../media/image100.png"/><Relationship Id="rId7"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9.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1" name="Shape 9851"/>
        <p:cNvGrpSpPr/>
        <p:nvPr/>
      </p:nvGrpSpPr>
      <p:grpSpPr>
        <a:xfrm>
          <a:off x="0" y="0"/>
          <a:ext cx="0" cy="0"/>
          <a:chOff x="0" y="0"/>
          <a:chExt cx="0" cy="0"/>
        </a:xfrm>
      </p:grpSpPr>
      <p:sp>
        <p:nvSpPr>
          <p:cNvPr id="9852" name="Google Shape;9852;p564"/>
          <p:cNvSpPr txBox="1"/>
          <p:nvPr>
            <p:ph idx="1" type="body"/>
          </p:nvPr>
        </p:nvSpPr>
        <p:spPr>
          <a:xfrm>
            <a:off x="0" y="2153191"/>
            <a:ext cx="9144000" cy="837152"/>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Security &amp; Fraud</a:t>
            </a:r>
            <a:br>
              <a:rPr lang="en-GB"/>
            </a:br>
            <a:r>
              <a:rPr lang="en-GB"/>
              <a:t>Use Cases</a:t>
            </a:r>
            <a:endParaRPr/>
          </a:p>
        </p:txBody>
      </p:sp>
      <p:sp>
        <p:nvSpPr>
          <p:cNvPr id="9853" name="Google Shape;9853;p56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 PKR 2-3B annual fraud losses through real-time blocking at point of transaction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false positive rates from 95%+ (rule-based) to &lt;10% (ML-based), freeing investigator capacity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customer experience by eliminating unnecessary transaction blocks on legitimate activity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SBP real-time monitoring requirements for RAAST, IBFT, and mobile wallet channels</a:t>
            </a:r>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Real-time fraud score on 100% of transactions within 100ms latency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block/allow/review decisioning with configurable thresholds by channel and product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80%+ fraud detection rate with &lt;2% false positive rate across all channels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average fraud detection time from days to seconds with automated alerting</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real-time scoring on IBFT/RAAST channel within 3 months of POV start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Demonstrate 50%+ improvement in fraud detection rate vs. existing rule-based system</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&lt;5% on pilot channel verified through investigation outcomes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Sub-200ms scoring latency verified under peak load conditions</a:t>
            </a:r>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Gradient-boosted ensemble models (XGBoost/LightGBM) scoring every transaction in real time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Velocity anomaly detection (spending acceleration, frequency spikes, amount distribution shifts)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impossibility checks (ATM in Karachi, POS in Lahore within 30 minutes)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Device fingerprint matching and session analytics for digital channels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Adaptive threshold optimization using reinforcement learning to balance detection vs. false positives</a:t>
            </a:r>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Processing latency constraints for real-time scoring at 50M+ daily transaction volumes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5+ payment channels with different data formats and latency profiles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drift as fraud patterns evolve rapidly — requiring continuous retraining infrastructure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security with customer experience in Pakistan’s competitive digital payments market</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transaction feeds from switch/processor, core banking, RAAST, IBFT gateway (FSDM: EVNT, TRXN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behavioral profiles (12-month spending patterns, geographic patterns, device fingerprints)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Merchant risk profiles and MCC-level fraud rate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Global fraud pattern feeds and consortium data; CNIC/biometric verification audit trail</a:t>
            </a:r>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Deploy sub-second fraud scoring across all payment channels (ATM, POS, IBFT, RAAST, e-commerce, mobile wallets) processing 50M+ daily transactions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emerging fraud patterns including SIM-swap, authorized push payment, and QR code manipulation attacks targeting Pakistan’s digital payments ecosystem</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rule-based systems generate 95%+ false positives, overwhelming investigation teams and blocking legitimate customer transactions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real-time fraud decisioning that meets SBP monitoring requirements for digital payment channels</a:t>
            </a:r>
            <a:endParaRPr sz="95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30% reduction in fraud losses through proactive risk-based monitoring and early intervention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Resource optimization — focus investigator capacity on highest-risk entities rather than random sampling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with SBP risk-based approach to fraud prevention and FATF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Risk-tiered customer monitoring reducing operational costs while improving coverage</a:t>
            </a:r>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risk score for every customer updated monthly with real-time trigger-based recalculation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Risk-tiered monitoring strategy (high-risk: real-time, medium: daily batch, low: monthly review)</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risk heat map by product, channel, and geographic region for management reporting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Risk-based KYC refresh triggering enhanced due diligence for deteriorating risk scores</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risk scores rank-order validated with 90%+ of confirmed frauds in top 2 risk deciles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Risk-based monitoring demonstrates catching 20%+ more fraud than uniform monitoring approach</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Score stability (PSI &lt;0.25) over 6-month validation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Risk-tiered monitoring reduces alert volume by 40% while maintaining detection rate</a:t>
            </a:r>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Customer-level fraud propensity scoring using supervised learning on historical fraud labels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factor decomposition identifying highest-contributing features per customer</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Peer group analysis comparing customer behavior to segment norms (by product, geography, income)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Time-series anomaly detection for behavioral drift indicating potential compromise or fraud preparation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Bayesian network modeling for causal fraud risk factor analysis</a:t>
            </a:r>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Label scarcity — confirmed fraud cases represent &lt;0.1% of transactions creating severe class imbalance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Distinguishing genuine behavioral change (marriage, job change) from fraud indicators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fairness — avoiding discrimination against specific demographics or geographies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 requirements for accurate real-time risk scoring across multiple source systems</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KYC data (CNIC, income, employment, business type) from FSDM Party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behavioral data (12-month patterns across all channels) from FSDM TRXN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opening patterns, velocity, and channel usage; ECIB credit bureau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footprint data (IP, device, location); Historical fraud case data with confirmed outcomes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Sanctions and watchlist data (SBP, OFAC, UN); PEP screening results</a:t>
            </a:r>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Build automated fraud risk scoring for every customer, account, and transaction establishing a continuous fraud risk posture view</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Move from reactive fraud detection (finding fraud after it happens) to proactive risk management identifying high-risk entities before fraud occurs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systems lack unified customer-level risk assessment — each channel monitors independently without cross-product view</a:t>
            </a:r>
            <a:endParaRPr sz="95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60% reduction in average case resolution time through automated workflows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40% improvement in investigator productivity through automated evidence gathering and pre-population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100% compliance with SBP 7-day STR filing timeline requirement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 through faster blocking of confirmed fraud patterns and account restrictions</a:t>
            </a:r>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Unified case management platform with automated evidence gathering across all product systems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dashboard with prioritized work queue ranked by urgency and fraud probability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One-click STR generation pre-populated with case data for FMU submission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Case outcome analytics feeding back to detection models for continuous improvement</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Case resolution time reduced to &lt;5 business days for 80%+ of cases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STR filing within SBP 7-day requirement for 100% of reportable cases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handles 30%+ more cases per month with automated evidence gathering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Case outcome feedback to detection models within 24 hours of resolution</a:t>
            </a:r>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Intelligent alert-to-case conversion with automated deduplication and consolidation of related alerts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ML-based case prioritization scoring (fraud probability × amount × customer impact)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evidence package assembly from multiple source systems (core banking, cards, digital)</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NLP-based extraction of investigation findings from case notes for pattern identification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SLA monitoring with automated escalation workflows and supervisor notifications</a:t>
            </a:r>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fragmented systems (card processor, core banking, digital, AML) for evidence gathering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adoption of new platform vs. familiar manual processes requires change management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STR quality requirements — automated generation must meet SBP/FMU content standards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Case backlog migration and parallel operation during platform transition</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Fraud alerts from detection systems (rule engine + ML models) across all channels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for suspect accounts from FSDM TRXN and EVNT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communication logs, case investigation notes, and evidence documents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Resolution outcomes and recovery data; SBP/FMU regulatory reporting templates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Investigator workload and performance data for capacity management</a:t>
            </a:r>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Automate the fraud case management lifecycle — from alert generation through investigation, resolution, recovery, and STR regulatory reporting to FMU</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average case resolution time from 15+ days to &lt;5 days while improving investigation quality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manual processes cause SBP STR filing deadline violations and fragmented evidence documentation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end-to-end case tracking with full audit trail for regulatory examination</a:t>
            </a:r>
            <a:endParaRPr sz="95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Operations</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50% reduction in average complex investigation time (from 45 to 22 days)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3x improvement in fraud ring identification — uncovering previously unknown connected participants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prosecution success rates through analytics-derived evidence quality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Recovery of PKR 500M+ additional fraud proceeds through faster asset identification and tracing</a:t>
            </a:r>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Investigation workbench with entity resolution dashboard linking suspected identities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visualization of connected accounts, entities, and transaction flows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fund flow maps showing money movement through mule accounts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Timeline reconstruction of fraud events for court presentation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Evidence package generator producing FIA/police/court-ready documentation</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Entity resolution identifies 30%+ previously unknown linked accounts in pilot investigations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Investigation time for complex cases reduced by 40%+ using analytics workbench</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Evidence package accepted by FIA in 90%+ of referred cases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least 2 fraud rings uncovered through network analytics during pilot period</a:t>
            </a:r>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Entity resolution using probabilistic matching across shared attributes (phone, address, CNIC, device ID, beneficiary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analytics for fraud network visualization using Teradata graph functions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temporal pattern analysis reconstructing fraud event sequences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on investigation notes and customer communications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flow tracing with multi-hop transaction tracking across accounts and institutions</a:t>
            </a:r>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Entity resolution accuracy — false links derail investigations while missed links leave ring participants undetected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Cross-institutional data access limitations (no real-time inter-bank query capability in Pakistan)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Legal admissibility of analytics-derived evidence in Pakistani courts requires careful documentation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forensics capability gaps for sophisticated cyber fraud requiring specialized expertise</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transaction history across all channels and products (FSDM TRXN, EVNT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opening documentation and KYC records; CNIC verification audit trails via NADRA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forensics data (IP logs, device fingerprints, session recordings)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(ECIB, SECP corporate registry, property records)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Cross-bank transaction data via SBP mediation for multi-institution fraud cases</a:t>
            </a:r>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investigators with advanced analytics for complex fraud cases — entity resolution across identities, fund flow tracing, network visualization, and digital forensics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prosecution-quality evidence packages for FIA/police/court submissions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investigations are manual, taking 45+ days for complex cases with limited ability to trace fund flows across accounts</a:t>
            </a:r>
            <a:endParaRPr sz="95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Investigation Unit</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PKR 500M-1B additional annual recovery through optimized recovery processes and avenue selection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provision charges through higher recovery rate assumptions in loss models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Insurance claim optimization — ensure all eligible losses are claimed within policy terms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management reporting on net fraud exposure (gross losses less recoveries) for Board Risk Committee</a:t>
            </a:r>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recovery workflow initiated within 24 hours of fraud confirmation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Recovery probability scores guiding resource allocation across avenue types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Chargeback filing rate &gt;95% for eligible transactions within scheme deadlines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Recovery tracking dashboard showing amounts by avenue, stage, and expected timeline</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Recovery rate improved by 10+ percentage points on pilot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Chargeback filing rate &gt;95% within scheme deadlines for eligible transactions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claim filing for 100% of eligible losses within policy notification periods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 fraud loss (after recoveries) reduced by PKR 200M+ annually on pilot portfolio</a:t>
            </a:r>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Recovery probability scoring by case type (card chargeback: 60-80%, legal: 10-30%, insurance: 50-70%)</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Optimal recovery avenue selection algorithm maximizing expected recovery minus cost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Chargeback deadline monitoring with automated filing triggers before scheme cutoff dates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Legal recovery NPV analysis incorporating Pakistan court timeline expectations (3-7 years)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 tracing using entity resolution and transaction flow analysis to locate perpetrator assets</a:t>
            </a:r>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Pakistan court system timelines make legal recovery NPV low for amounts under PKR 5M</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Chargeback schemes have strict time limits (45-120 days) missed when investigation is slow</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Cross-bank recovery coordination lacking — no formal inter-bank fraud recovery mechanism</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Perpetrator assets often dissipated or hidden before recovery action can be executed</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Confirmed fraud case data with loss amounts, fraud type, and perpetrator information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Chargeback eligibility data (card scheme rules, filing deadlines per scheme)</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policy terms and coverage limits; Legal case status and recovery judgment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Perpetrator asset/account data from investigation findings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Recovery cost data (legal fees, agent commissions) for NPV-based prioritization</a:t>
            </a:r>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fraud loss recovery by identifying all available recovery avenues, prioritizing by probability, and executing within optimal timeframes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Quantify unrecovered fraud exposure to support insurance and provisioning decisions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recovery rates of 15-25% are well below achievable target of 40%+ with optimized processes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Chargeback filing deadlines (45-120 days) frequently missed due to slow investigation cycles</a:t>
            </a:r>
            <a:endParaRPr sz="95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Recovery Team</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fraud rings causing 40-60% of total losses — highest-impact fraud prevention capability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shutdown of mule account networks before they execute major fraud or money laundering operations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FATF/SBP compliance demonstrating network-level AML/CFT analytical capability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cascading losses when fraud ring operates across multiple products and channels</a:t>
            </a:r>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fraud network detection running weekly on full customer base with alert generation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visualization dashboards for investigators showing cluster topology and key nodes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scoring at network level (entire cluster scored, not just individual accounts)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alerts when new accounts join known suspicious networks; Mule account identification for preemptive blocking</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10 fraud networks containing at least one known confirmed fraud case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analysis identifies 3+ previously unknown participants per known fraud case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Mule account identification accuracy &gt;70% confirmed through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network detection runtime &lt;24 hours on full customer base</a:t>
            </a:r>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construction from transaction and attribute-sharing relationships across all channels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Community detection algorithms (Louvain, Label Propagation) identifying suspicious clusters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Centrality analysis identifying ring leaders/coordinators within detected networks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pattern analysis detecting coordinated transaction timing across network members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on network metrics (unusual graph density, rapid network growth, star patterns)</a:t>
            </a:r>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complexity of graph analytics on millions of nodes and billions of edges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Defining meaningful network boundaries — avoiding overly large or fragmented clusters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Distinguishing fraud networks from legitimate business clusters (e.g., supply chains)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networks based on coincidental attribute sharing (same employer, same neighborhood)</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network data (sender-receiver pairs across IBFT, RAAST, internal transfers)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opening data (shared phone numbers, addresses, devices, CNICs)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Behavioral similarity data (similar transaction patterns, timing, amounts) from FSDM TRXN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ECIB data showing shared credit relationships across institutions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Beneficiary pattern analysis across full customer base</a:t>
            </a:r>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organized fraud rings by analyzing transaction networks, shared attributes, and behavioral patterns indicating coordinated fraudulent activity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Uncover money mule networks, synthetic identity clusters, and collusion schemes invisible to individual transaction monitoring</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Fraud rings cause 40-60% of total fraud losses despite being &lt;5% of fraud cases — individual monitoring cannot detect coordinated activity</a:t>
            </a:r>
            <a:endParaRPr sz="95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undisclosed related-party transactions supporting SBP compliance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round-tripping and circular trading schemes in trade finance (PKR 500B+ portfolio)</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customer due diligence through relationship-aware KYC across consumer and business entities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risk improvement through identification of correlated exposure in connected entities</a:t>
            </a:r>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Entity relationship map covering top 1,000 business customers with full network visualization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Undisclosed related-party identification for SBP regulatory reporting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Circular transaction detection alerts for trade finance operations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Network-adjusted credit risk scores incorporating connected-party default correlation</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Map networks for top 500 business customers identifying average 3+ undisclosed connections per entity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minimum 5 circular transaction patterns in trade finance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10+ undisclosed related-party relationships requiring SBP reporting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Network-adjusted credit risk scores show improved default prediction (AUC improvement &gt;2%)</a:t>
            </a:r>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Bipartite graph analysis linking consumers and businesses through transaction flows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Beneficial ownership resolution through SECP and NADRA data integration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Family network inference from shared addresses, CNIC family sequences, guarantor relationships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Supply chain network construction from trade finance and payment data</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on network-level transaction patterns (circular flows, unusual volumes, timing coordination)</a:t>
            </a:r>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Beneficial ownership opacity in Pakistan — nominee directors and shell companies are widespread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Family relationship inference from CNIC sequences is approximate, not definitive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of SECP corporate registry for unlisted companies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Legal privacy constraints on relationship mapping; Computational scale across millions of entities</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flow data (payments, transfers, trade finance) from FSDM TRXN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KYC data including beneficial ownership declarations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SECP corporate registry data (directors, shareholders); CNIC-linked family relationships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 record cross-references; Business supply chain payment patterns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ECIB multi-bank exposure data for cross-institutional relationship detection</a:t>
            </a:r>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Assess fraud and credit risk from hidden connections between consumers, businesses, and transaction counterparties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 Pakistan’s relationship-driven economy, undisclosed business connections, family networks, and political relationships create fraud vulnerabilities invisible to account-level analysis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requires identification and reporting of related-party transactions — current systems detect only formally disclosed relationships</a:t>
            </a:r>
            <a:endParaRPr sz="95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Enterprise Risk Analytics</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50-70% reduction in false positive alerts freeing investigator capacity for genuine fraud cases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experience improvement — fewer legitimate transactions blocked or delayed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savings of PKR 100-200M annually through reduced manual investigation workload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detection effectiveness as investigators focus on genuinely suspicious activity</a:t>
            </a:r>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Alert scoring system predicting true positive probability for each generated alert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Auto-disposition of low-probability alerts with full audit trail for regulatory review</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dashboard showing alerts ranked by true positive probability and potential loss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false positive rate reporting by detection rule/model for tuning optimization</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reduced by 50%+ on pilot detection rules without increasing false negative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alert queue reduced by 40%+ through automated low-confidence alert disposition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Auto-disposition accuracy &gt;99% verified through random sampling audit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 rate for false blocks reduced by 30%+</a:t>
            </a:r>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Meta-model trained on historical alert outcomes to predict alert validity (true positive probability)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Feature engineering combining transaction-level and customer-level behavioral context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Bayesian updating of alert probability as additional information arrives post-alert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Explainable AI providing investigators with reason codes for each alert disposition recommendation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learning with investigator feedback loop for continuous model improvement</a:t>
            </a:r>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Asymmetric cost of errors — missing true fraud costs far more than investigating a false positive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Shifting class balance as fraud prevention improves (proportionally less true fraud in alert pool)</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Investigator trust in automated disposition — resistance to auto-clearing alerts without human review</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SBP regulatory expectation for human review of certain alert categories</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fraud alert data with investigation outcomes (true positive vs. false positive labels)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features at time of alert (amount, merchant, channel, time, location)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behavioral context at alert time (is this normal for THIS customer?)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Alert rule or model score that triggered the alert; Investigation resolution notes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complaint data related to false blocks and transaction declines</a:t>
            </a:r>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Dramatically reduce false positive rates where 95-98% of fraud alerts are legitimate transactions flagged incorrectly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Wasted investigator time on false positives degrades fraud detection capacity and customer experience through unnecessary blocks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rule-based systems lack customer-level context — flagging transactions unusual for the population but normal for the specific customer</a:t>
            </a:r>
            <a:endParaRPr sz="95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100% transaction coverage for fraud surveillance vs. &lt;10% under manual flagging processes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application of SBP-defined red flag indicators across all channels and branches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time-to-flag from days to real-time, enabling immediate intervention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audit trail for SBP/FATF compliance demonstrating systematic fraud surveillance</a:t>
            </a:r>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fraud flagging across 100% of transactions with flag reason codes for each alert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Tiered flag system (information, review, investigation, block) with automated escalation workflows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Real-time flag dashboard showing volumes by type, channel, and severity for operations management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Flag effectiveness reporting measuring conversion rate (flags to confirmed fraud) for optimization</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flagging operational across all payment channels within POV timeline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Flag-to-fraud conversion rate &gt;5% vs. &lt;1% for current manual flagging process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Zero SBP-defined red flag indicators missed by automated system (100% typology coverage)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Flag processing latency &lt;500ms for real-time transaction channels</a:t>
            </a:r>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 engine implementing all SBP-defined red flag indicators (structuring, rapid movement, unusual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ML-based anomaly scoring supplementing rule-based flags for novel fraud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Velocity-based flags detecting sudden increases in transaction frequency or amounts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Geographic risk flags for transactions with FATF high-risk jurisdictions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flag escalation based on severity scoring (information, review, investigation, block)</a:t>
            </a:r>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Flag volume management — automated flagging can generate overwhelming volumes without careful calibration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 maintenance burden as SBP adds new typology indicators (quarterly updates)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Coordination between fraud flags and AML flags to avoid duplication and conflicting actions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 performance impact of real-time flagging across all transactions at peak volumes</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transaction data across all channels (ATM, POS, IBFT, RAAST, digital banking)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risk profiles and behavioral baselines from FSDM Party and EVNT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Watchlist and sanctions data (SBP, OFAC, UN); SBP AML/CFT red flag typology indicators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fraud pattern libraries; Merchant and counterparty risk data</a:t>
            </a:r>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Automate fraud flagging — systematically identifying and flagging high-risk transactions, accounts, and entities for enhanced monitoring</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Replace manual flag-setting with data-driven, consistent automated flagging covering all channels and products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manual flagging covers &lt;10% of transaction volume with inconsistent criteria across branches</a:t>
            </a:r>
            <a:endParaRPr sz="95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Operations</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intervention prevents fraud losses rather than detecting fraud post-occurrence — 10x ROI improvement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Understanding fraud paths enables targeted control placement at critical sequence points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Training content for fraud awareness programs based on real path analysis from Pakistani banking data</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new fraud methods through novel path pattern discovery</a:t>
            </a:r>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path library cataloging typical sequences for each fraud type (identity fraud: ~5 events over 14 days; account takeover: ~3 events in 48 hours)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warning system flagging customers currently on identified fraud paths before loss occurs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Control gap identification — points in fraud paths where intervention is most effective and cost-efficient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path visualization for investigator training and staff awareness programs</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characteristic fraud paths for top 5 fraud types with statistical significance (p&lt;0.05)</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warning system detects 30%+ of future fraud cases at early path stages before loss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least 2 control gap recommendations derived from path analysis implemented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path library used for investigator training with positive effectiveness feedback</a:t>
            </a:r>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 discovering frequent event sequences preceding confirmed fraud in Teradata</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Sequence mining algorithms (PrefixSpan, SPADE) for statistically significant pattern discovery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Survival analysis measuring time-to-fraud from each event in the identified sequence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Markov chain models for transition probability estimation between events in fraud paths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flagging customers currently exhibiting early-stage fraud path patterns</a:t>
            </a:r>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requires sufficient confirmed fraud cases to identify statistically significant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paths evolve as fraudsters adapt to newly implemented controls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Distinguishing genuine customer behavior changes (job change, marriage) from early fraud indicators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complexity of temporal pattern mining across millions of accounts and event histories</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Temporal event sequences for confirmed fraud cases (account opening → transactions → balance patterns → fraud)</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event logs (branch visits, call center, digital sessions)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change events (address, phone, beneficiary additions) from FSDM EVNT entities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Authentication events (login patterns, OTP usage, biometric checks)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change events (limit increases, new product applications near fraud event)</a:t>
            </a:r>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Discover sequential event patterns that lead to fraud — the characteristic paths preceding different fraud types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predictive fraud prevention by detecting early stages of fraud sequences before the actual fraudulent transaction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Move from detecting fraud at point of loss to intercepting fraud during preparation phase</a:t>
            </a:r>
            <a:endParaRPr sz="95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PKR 200-500M annual losses from broker fraud across the bancassurance channel</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customer trust — prevent phantom products and mis-selling through systematic monitoring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SBP/SECP compliance with distribution channel governance and customer protection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Stronger broker relationship management through performance transparency and data-driven oversight</a:t>
            </a:r>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risk scorecard updated monthly with automated alerts for anomalous activity patterns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verification program with risk-based sampling strategy targeting high-risk brokers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dashboard for channel management with drill-through to individual broker activity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reporting on distribution channel conduct for SBP/SECP submissions</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risk scores rank-order validated (highest-risk brokers have 3x+ complaint/cancellation rates)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5 brokers with suspicious patterns requiring investigation in pilot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verification confirms 95%+ of sampled policies are legitimately authorized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Commission leakage detection identifies PKR 50M+ in suspicious or anomalous payments</a:t>
            </a:r>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behavioral profiling scoring against peer norms for volume, cancellation rate, complaint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on commission patterns (unusual spikes, policy churning for commission generation)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verification sampling through outbound calls confirming policy awareness and authorization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analysis linking brokers to suspicious customer clusters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pattern analysis (high early-cancellation rate indicating mis-selling or phantom policies)</a:t>
            </a:r>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resistance to monitoring perceived as distrust — may impact recruitment and retention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Complex commission structures (upfront, trail, bonus) make anomaly detection algorithmically challenging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Volume variations between brokers driven by legitimate factors (geography, specialization, client base)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Limited data integration between bank and insurance company core systems</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issuance data (product, premium, customer, broker); Commission payment data by broker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complaint and early cancellation data correlated with broker identity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Broker activity patterns (volumes, timing, product mix) compared to peer group norms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verification data (did customer authorize the policy); Premium collection and remittance records</a:t>
            </a:r>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fraudulent activity by bancassurance and insurance broker partners including commission manipulation, phantom policies, and premium misappropriation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bancassurance market (PKR 50B+ premiums through banks) creates agency risks with commission-based incentive structures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Unauthorized policy issuance and customer data misuse by brokers erodes customer trust and exposes banks to SECP regulatory action</a:t>
            </a:r>
            <a:endParaRPr sz="95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against conflicts of interest compromising lending, procurement, and vendor selection decisions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with SBP conflict of interest and related-party transaction rules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Deterrence effect — systematic monitoring discourages corrupt practices bank-wide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Recovery of inappropriate payments and contract renegotiation based on identified conflicts</a:t>
            </a:r>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monitoring of high-risk employee categories (procurement, lending, vendor management)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payment anomaly alerts with supporting evidence for compliance investigation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Employee-vendor relationship mapping updated quarterly with new connection detection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Annual employee financial disclosure verification analytics cross-checking declared vs. detected</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3 anomalous employee-vendor relationships in pilot analysis requiring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payment anomaly detection generates actionable alerts with &lt;30% false positive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financial disclosure cross-checks identify material inconsistencies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Deterrence effect measurable through employee awareness and compliance survey results</a:t>
            </a:r>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Benford’s Law analysis on vendor payment amounts detecting fabricated invoices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lifestyle analysis (spending patterns inconsistent with declared salary and assets)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concentration analysis — identifying employees consistently directing business to specific vendors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Procurement price benchmarking (above-market prices for preferred vendors)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analysis linking employee personal accounts to vendor payment flows through intermediaries</a:t>
            </a:r>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concerns around employee financial monitoring require careful legal framework</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Cultural sensitivity — false accusations damage morale, relationships, and retention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Indirect commission arrangements designed to evade detection through family members or intermediaries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Limited data access to employee personal banking at other banks</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financial data (bank account transactions, declared assets and liabilities)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Vendor payment data and contract terms; Employee-vendor relationship records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Procurement decision logs, approvals, and bid comparison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approval data correlated with employee-customer relationships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Expense reports and reimbursement claims; Gift and hospitality declarations</a:t>
            </a:r>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undisclosed or prohibited commission arrangements where employees/agents receive payments outside authorized compensation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Covers kickbacks from vendors in procurement, undisclosed referral fees, and quid pro quo arrangements compromising bank interests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business culture of informal relationships creates elevated risk of undisclosed financial arrangements</a:t>
            </a:r>
            <a:endParaRPr sz="95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Compliance &amp; Fraud</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reducing average internal fraud loss from PKR 10-50M per incident to &lt;PKR 5M through faster identification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from annual audit detection (18-month lag) to continuous monitoring (detection within 30 days)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audit costs through analytics-directed audit sampling — focus on highest-risk branches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Deterrence effect from visible continuous monitoring capabilities across all branches</a:t>
            </a:r>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employee risk scores for all operational staff across 1,000+ branches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alerts for high-severity anomalies triggering immediate investigation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risk ranking informing internal audit planning priorities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Continuous monitoring dashboard for Audit Committee with quarterly threat reports</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risk scoring operational across all branches with monthly refresh cycle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Detection of minimum 3 genuine anomalies in pilot phase requiring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alarm rate &lt;20% for high-severity alerts verified through investigation outcomes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risk ranking correlated with subsequent physical audit findings (validation)</a:t>
            </a:r>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behavioral baseline modeling (normal transaction patterns by role and branch size)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scoring employees against role-based peer groups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Override frequency analysis — employees using override authority disproportionately to peer group</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Dormant account monitoring with employee access correlation for unauthorized activation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Maker-checker violation detection; After-hours system access analysis; Cash position control charts</a:t>
            </a:r>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Establishing accurate behavioral baselines across diverse branch sizes, roles, and geographies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Minimizing false positives to maintain employee trust and avoid investigation fatigue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multiple operational systems for comprehensive monitoring coverage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Monitoring coverage for manual/paper-based processes not captured in digital logs</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transaction logs (volumes, amounts, timing, overrides) from core banking system</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System access logs (login times, unusual access patterns, after-hours activity)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posting data and reconciliation exceptions; Cash vault data (shortages, excesses, adjustments)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Dormant account activity correlated with employee access logs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complaint data (missing deposits, unauthorized debits) correlated with branch employees</a:t>
            </a:r>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Build comprehensive internal fraud detection covering unauthorized transactions, fictitious entries, override abuse, dormant account exploitation, and cash pilferage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continuous monitoring supplementing periodic physical audits across Pakistan’s 1,000+ branch network</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annual audit cycle means average 18-month detection lag for internal fraud — losses compound before discovery</a:t>
            </a:r>
            <a:endParaRPr sz="95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Internal Audit Analytics</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200-500M annual loyalty fraud losses through systematic monitoring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program economics — preventing point inflation that devalues legitimate customer rewards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program terms and conditions through automated enforcement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trust preservation — ensuring reward program integrity and fair treatment</a:t>
            </a:r>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loyalty fraud monitoring system with real-time alerts on suspicious activity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Phantom account identification for program cleanup and cost recovery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loyalty access audit reports highlighting unusual interaction patterns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loyalty fraud loss report for program management and finance</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100 phantom or synthetic loyalty accounts in pilot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Loyalty fraud detection rate &gt;80% on known historical fraud cases (back-testing)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Points manipulation alerts with &lt;25% false positive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Quantify PKR 50M+ in loyalty value at risk from identified fraud patterns</a:t>
            </a:r>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Velocity analysis on points earning (abnormal accumulation rates vs. peer group spending)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Redemption pattern anomaly detection (bulk redemptions, unusual merchant concentration)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Phantom account detection through CNIC clustering, shared devices, and IP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Employee-customer collusion detection through access pattern correlation with redemption events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analysis linking loyalty accounts through shared attributes</a:t>
            </a:r>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Defining normal vs. abnormal loyalty behavior — high-value customers legitimately earn rapidly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loyalty programs across products with different rules and redemption channels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Promotional campaigns creating temporary earn-rate spikes that look like anomalies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Limited unique identification for loyalty members without mandatory CNIC linkage</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Loyalty transaction logs (earn, burn, transfer, expiry) across all program channels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Redemption patterns by customer, merchant, and product category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creation velocity and customer verification data (CNIC linkage)</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access logs for loyalty management systems; Customer complaint data</a:t>
            </a:r>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loyalty program fraud including points manipulation, unauthorized redemptions, phantom accounts for points accumulation, and employee-assisted loyalty abuse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 banking loyalty programs (UBL Rewards, HBL Konnect, MCB Rewards) represent PKR 5-10B in annual loyalty value — vulnerable to systematic exploitation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Points-based programs are particularly vulnerable to velocity attacks and synthetic account accumulation schemes</a:t>
            </a:r>
            <a:endParaRPr sz="95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with SECP insider trading regulations and SBP employee conduct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bank reputation — insider trading cases cause significant reputational damage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Deterrence effect through visible monitoring of employee trading activities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preventing regulatory enforcement actions and potential criminal prosecution</a:t>
            </a:r>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insider trading surveillance system monitoring all declared employee brokerage accounts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Real-time restricted list enforcement preventing trades in covered securities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Alert dashboard showing potential MNPI trading correlations for compliance investigation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Quarterly compliance report for SBP/SECP demonstrating active surveillance program</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Insider trading surveillance operational across all employee categories with MNPI access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5 instances of suspicious temporal correlation in pilot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Restricted list violation rate reduced to zero through automated blocking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Compliance reporting accepted by SBP/SECP as demonstrating adequate surveillance</a:t>
            </a:r>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correlation of employee trades with information access events (trade within 48 hours of accessing corporate file)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Abnormal return analysis on employee-traded securities vs. market benchmark</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pattern analysis detecting unusual trading volumes, timing, or position sizing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Restricted list monitoring — automated blocking of trades in securities where bank is advisor</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Communication pattern analysis around trading events detecting unusual contact patterns</a:t>
            </a:r>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trading through undeclared accounts or family member accounts evading direct monitoring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Distinguishing legitimate trading based on public information from MNPI-informed trading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access to employee brokerage accounts — relies on employee declarations and broker cooperation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Cultural sensitivity around perceived employee surveillance and privacy concerns</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trading records (personal brokerage account declarations per SBP policy)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access logs for price-sensitive information systems (credit files, treasury positions, M&amp;A deals)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PSX stock price and volume data for traded securities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Communication metadata (email timestamps, phone records — not content) around trading events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Corporate action and announcement data for companies where bank holds MNPI</a:t>
            </a:r>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employees trading on material non-public information (MNPI) obtained through their banking roles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 employees in credit, treasury, M&amp;A advisory, and corporate banking access price-sensitive information about listed companies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and SECP securities regulations prohibit insider trading — banks must demonstrate surveillance capabilities</a:t>
            </a:r>
            <a:endParaRPr sz="95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Compliance &amp; Fraud</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5-10B in annual credit losses from document-fraud-originated loans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verification costs through automated document authentication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quality through consistent document integrity checking across all channels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with SBP KYC documentation requirements and NADRA verification mandates</a:t>
            </a:r>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document verification scoring for every loan application with fraud probability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Flagged documents routed to fraud verification team with specific anomaly descriptions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fraud pattern library maintained and updated from confirmed fraud cases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loan origination system for pre-disbursement verification checkpoint</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fraud detection rate &gt;70% on known historical fraud cases (back-testing)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&lt;10% for document verification flags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verification integrated with &lt;5 second response time in application workflow</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Quantify PKR 500M+ in prevented fraud losses through pre-disbursement detection</a:t>
            </a:r>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OCR-based document analysis extracting structured data from scanned documents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Cross-matching extracted data with employer databases and NADRA verification results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manipulation detection using image forensics (pixel analysis, font inconsistency, metadata anomalies)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on document anomalies (round-number salaries, templates shared across applications)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Employer verification scoring — flagging unverifiable employers and address inconsistencies</a:t>
            </a:r>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quality varies significantly — poor scans, handwritten documents, non-standard formats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Pakistan’s informal sector (40%+ of economy) lacks standardized documentation formats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API availability and response times for real-time verification during application processing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forgeries using real employer letterheads and matching verification phone numbers</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Scanned loan application documents (salary slips, CNIC copies, bank statements, employer letters)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NADRA CNIC verification API responses; Employer database for employment verification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document fraud cases with confirmed forgery methods and document types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Document metadata (creation date, modification date, software used) from digital submissions</a:t>
            </a:r>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forged and manipulated documents in loan applications — fake salary slips, fraudulent CNIC copies, manipulated financial statements, and fabricated employment letters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Document fraud is the largest loan application fraud category in Pakistan, estimated at 3-5% of consumer lending applications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Manual document verification is inconsistent across branches and unable to detect sophisticated forgeries</a:t>
            </a:r>
            <a:endParaRPr sz="95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Investigation Unit</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Recovery of PKR 100-300M annually in fraudulent or inflated marketing expenditure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improvement through elimination of phantom campaigns and vendor overcharging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Stronger vendor governance and procurement integrity for marketing services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internal financial controls and SBP operational risk management guidelines</a:t>
            </a:r>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marketing spend anomaly detection with monthly alert generation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risk scoring for marketing suppliers based on historical payment patterns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spend-to-performance dashboard identifying low-ROI expenditure for review</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Procurement integrity reports for marketing department heads and audit committee</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minimum 10 anomalous marketing expenditure patterns in pilot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invoice detection recovery of PKR 10M+ in overpayments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concentration alerts identify 3+ potentially compromised vendor relationships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spend anomaly false positive rate &lt;25% verified through investigation</a:t>
            </a:r>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Benford’s Law analysis on marketing invoice amounts detecting fabricated invoices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invoice detection across vendor submissions using fuzzy matching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concentration analysis — disproportionate spend to specific vendors by specific employees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ROI outlier analysis — campaigns with high spend but zero or minimal measurable impact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Price benchmarking against market rates for common marketing services (printing, media buying, events)</a:t>
            </a:r>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spend is inherently variable — legitimate campaigns vary widely in cost and approach</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marketing ROI accurately to distinguish wasted spend from fraudulent spend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fragmentation — hundreds of small marketing vendors with limited financial visibility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resistance to spend monitoring perceived as micromanagement of marketing creativity</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vendor payments and invoice data from accounts payable system</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performance data (reach, engagement, conversions) correlated with spend</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Procurement approvals and vendor selection documentation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Vendor master data (registration details, ownership, banking information)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authorization records for marketing expenditure approvals</a:t>
            </a:r>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employee fraud in marketing budget allocation — fictitious vendor invoices, inflated campaign costs, unauthorized promotional spending, and ghost marketing events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Marketing budgets of PKR 1-3B annually at major Pakistani banks are vulnerable to procurement fraud and spend manipulation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Limited financial controls on marketing expenditure create opportunities for invoice fraud and vendor collusion</a:t>
            </a:r>
            <a:endParaRPr sz="95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Internal Audit Analytics</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p="http://schemas.openxmlformats.org/presentationml/2006/main" xmlns:r="http://schemas.openxmlformats.org/officeDocument/2006/relationships">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identification of control violations before they lead to fraud losses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audit cycle time and cost through analytics-directed sampling vs. full branch audit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operational risk management guidelines and internal control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Deterrent effect — staff awareness of continuous monitoring improves process adherence</a:t>
            </a:r>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Continuous monitoring dashboard covering all critical banking processes across 1,000+ branches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control violation alerts with severity classification and escalation workflows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process compliance scorecard supporting risk-based audit planning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Quarterly process health report for Audit Committee and SBP regulatory submissions</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Continuous monitoring covers top 10 highest-risk processes across pilot branches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Control violation detection rate &gt;90% on known test scenarios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Analytics-directed audit finds 2x more issues per audit hour than random sampling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compliance scores improve by 15%+ at pilot branches within 6 months</a:t>
            </a:r>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mining on transaction workflows identifying deviations from defined standard processes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Control violation detection (segregation of duties breaches, dual control bypasses, unauthorized overrides)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process control on branch operation metrics (cash variance, reconciliation exceptions)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Sequence analysis on operational workflows detecting process step omissions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Risk-based audit planning using analytics to prioritize branches and processes for physical audit</a:t>
            </a:r>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definitions vary across branches — inconsistent standard operating procedures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Legacy systems with limited process audit trail capability require workaround data capture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positives from legitimate process exceptions that are properly authorized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monitoring rules as processes change through system upgrades and policy updates</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Core banking transaction logs with process workflow data (maker, checker, approver)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System access logs and user privilege data; Dual control violation records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Branch operations data (cash handling, vault access, document processing)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exception and override logs; Customer complaint data linked to process failures</a:t>
            </a:r>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Deploy analytics-driven continuous process auditing identifying control violations, process deviations, and procedural non-compliance creating fraud opportunities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Cover all SBP operational process requirements through automated monitoring of branch and back-office operations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Traditional periodic audits miss control violations that occur between audit cycles — continuous monitoring closes this gap</a:t>
            </a:r>
            <a:endParaRPr sz="95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Internal Audit Analytics</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p="http://schemas.openxmlformats.org/presentationml/2006/main" xmlns:r="http://schemas.openxmlformats.org/officeDocument/2006/relationships">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insider threats before data breach or financial loss occurs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IT Security Guidelines and PCI-DSS requirements for access monitoring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data breach risk — average cost of banking data breach is PKR 500M+ including regulatory penalties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Deterrent effect through visible insider threat monitoring capabilities</a:t>
            </a:r>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Insider threat risk scores for all employees with access to sensitive systems updated weekly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alerts for high-risk behavioral anomalies requiring immediate security response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access monitoring dashboard for Information Security and CISO reporting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HR processes (joining, leaving, role change) for access lifecycle management</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UEBA operational across top 10 critical systems with behavioral baseline established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Insider threat risk scores demonstrate correlation with known past security incidents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Detection of minimum 5 genuinely anomalous access patterns in pilot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SBP IT Security audit confirms insider threat monitoring meets guideline requirements</a:t>
            </a:r>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User and Entity Behavior Analytics (UEBA) establishing behavioral baselines per employee role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on system access patterns (unusual hours, unusual systems, unusual data volumes)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Peer group analysis comparing individual access patterns to role-based peer norms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scoring combining access anomalies with HR risk indicators (resignation, poor review, disciplinary)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exfiltration detection through network traffic analysis and DLP integration</a:t>
            </a:r>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privacy concerns and labor law considerations for behavioral monitoring in Pakistan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High-privilege users (DBAs, system admins) have legitimately broad access making anomaly detection difficult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Alert fatigue from high false positive rates in behavioral analytics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dozens of systems with different logging formats and retention policies</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System access logs (VPN, core banking, CRM, treasury, email) with user authentication records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Data access patterns (file access, database queries, report downloads, screen captures)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Network traffic analysis (data transfers, USB device usage, cloud storage access)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HR data (performance reviews, disciplinary actions, resignation notices, access privilege changes)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 metadata and DLP alert logs for outbound data transmission monitoring</a:t>
            </a:r>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Build comprehensive insider threat program combining system access analytics, behavioral monitoring, and data loss prevention capabilities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Insider threats account for 30-40% of data breaches in banking — both malicious and negligent actors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IT Security Guidelines mandate insider threat detection capabilities for all scheduled banks</a:t>
            </a:r>
            <a:endParaRPr sz="95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Information Security</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p="http://schemas.openxmlformats.org/presentationml/2006/main" xmlns:r="http://schemas.openxmlformats.org/officeDocument/2006/relationships">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Recovery of PKR 50-200M annually in fraudulent or inflated expense and overtime claims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audit effort through automated anomaly detection and risk-based sampling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employee compliance with expense policies through systematic monitoring visibility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budgeting and cost control through accurate expense pattern analytics</a:t>
            </a:r>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expense fraud monitoring with monthly anomaly reports for department heads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expense detection system integrated with expense management workflow</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Overtime verification dashboard cross-referencing payroll with physical access records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Annual expense analytics report for Finance and Audit Committee</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expense detection identifies PKR 10M+ in duplicate or overlapping claims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Overtime verification flags minimum 50 cases of discrepancy between claimed and access records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 expense anomaly rate &lt;15% false positive on investigation verification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Overall expense fraud/waste identified at 2-5% of total expense budget in pilot departments</a:t>
            </a:r>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detection across expense submissions (same amount, same date, same merchant across claims)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Benford’s Law analysis on expense amounts detecting round-number fabrication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Attendance anomaly detection (overtime claimed vs. building access records)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 expense verification (claimed routes vs. actual booking data, per diem vs. receipts)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Peer group analysis comparing expense patterns to similar roles and locations</a:t>
            </a:r>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expense processes at many branches — paper-based claims with limited digital audit trail</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access data not available at all branches; some lack electronic access control</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Expense policy variations across employee grades and locations complicating norm definition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relations sensitivity around expense monitoring perceived as distrust</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HR/payroll systems (attendance, overtime records, leave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Expense management system (claims, receipts, approvals, reimbursements)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Travel booking data (tickets, hotels, car rentals) from travel management system</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Building access records (badge swipe data) for attendance verification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Manager approval logs and delegation of authority records</a:t>
            </a:r>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fraudulent time recording and expense claims by bank employees — phantom overtime, inflated travel claims, duplicate expense submissions, and personal expense pass-through</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Large branch networks with manual expense processes create opportunities for systematic small-value fraud that aggregates to significant losses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Annual expense and overtime budgets of PKR 2-5B at major Pakistani banks lack systematic analytics monitoring</a:t>
            </a:r>
            <a:endParaRPr sz="95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Internal Audit Analytics</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p="http://schemas.openxmlformats.org/presentationml/2006/main" xmlns:r="http://schemas.openxmlformats.org/officeDocument/2006/relationships">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PKR 100-200M annually in fraudulent or inflated compensation claims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legitimate claim processing by automating routine verification checks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employee health and safety management through claim pattern analytics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Pakistan labor law requirements while preventing abuse</a:t>
            </a:r>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claim fraud scoring prioritizing suspicious claims for investigation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Medical provider risk scoring identifying potentially colluding healthcare facilities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duration benchmarking reports comparing actual vs. expected recovery timelines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Quarterly compensation fraud report for HR and Finance leadership</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fraud scoring identifies minimum 10 suspicious claims in pilot requiring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Medical provider analysis flags 3+ providers with statistically anomalous claim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&lt;30% on fraud-flagged claims verified through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processing time for legitimate claims reduced by 20% through automated verification</a:t>
            </a:r>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pattern analysis detecting anomalous frequency, duration, or amount vs. peer group</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Medical provider network analysis identifying providers with abnormal claim volumes or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Duration analysis comparing claimed recovery periods to medical benchmarks by injury type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and overlapping claim detection across compensation and medical insurance programs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Return-to-work prediction modeling identifying claims with unusually extended absence periods</a:t>
            </a:r>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Sensitivity around medical data privacy and employee health information protection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Medical claim complexity — legitimate variations in recovery time and treatment needs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Limited medical benchmarking data for Pakistan-specific injury recovery expectations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Labor union and employee relations considerations when investigating compensation claims</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HR case management data (injury reports, compensation claims, disability assessments)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Medical claims data (hospital, doctor, treatment type, amount, frequency)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Attendance records and leave data correlated with claim periods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Medical provider data (facility details, claim patterns per provider)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claim outcomes and investigation results for model training</a:t>
            </a:r>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fraudulent workers’ compensation and medical claims — inflated injury claims, prolonged absence fraud, collusion with medical providers, and phantom disability claims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 labor law provides mandatory compensation for workplace injuries; fraudulent claims cost banking sector PKR 500M+ annually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Limited analytics on medical and compensation claims creates opportunity for systematic abuse</a:t>
            </a:r>
            <a:endParaRPr sz="95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HR Analytics &amp; Fraud</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p="http://schemas.openxmlformats.org/presentationml/2006/main" xmlns:r="http://schemas.openxmlformats.org/officeDocument/2006/relationships">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customer data breaches that carry PKR 100-500M+ in regulatory penalties and reputational damage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data protection requirements and PCI-DSS for card data environments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competitive intelligence (customer lists, pricing strategies, product plans)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Deterrent effect through visible DLP capabilities reducing insider data theft attempts</a:t>
            </a:r>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DLP monitoring across email, web, USB, and print channels with automated blocking of sensitive data</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access anomaly alerts for security operations team investigation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data protection compliance report for CISO and Board Risk Committee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employee lifecycle management (enhanced monitoring during notice period)</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DLP operational on email and USB channels covering 80%+ of data exfiltration risk vectors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Detection of minimum 5 data protection policy violations in pilot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&lt;20% for DLP alerts after initial tuning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Zero customer data breaches during POV period attributable to insider exfiltration</a:t>
            </a:r>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Loss Prevention (DLP) content inspection on all outbound channels (email, web, USB, print)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User behavioral analytics on data access volume anomalies (bulk downloads, unusual query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 classification and sensitivity labeling for automated protection policy enforcement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Exfiltration pattern detection (small incremental transfers evading single-event thresholds)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analysis between data access and employee risk indicators (resignation, termination notice)</a:t>
            </a:r>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Legitimate business data sharing (customer reports, regulatory submissions) must not be blocked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channels and personal devices complicate comprehensive monitoring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classification at scale — classifying millions of files and database records across systems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security monitoring with employee privacy and operational efficiency</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 logs and attachment analysis (outbound emails with customer data patterns)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File transfer logs (FTP, cloud storage uploads, network shares)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USB device usage and removable media access logs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Printer and document output logs; Screen capture and screenshot detection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Database query logs monitoring bulk data extraction attempts</a:t>
            </a:r>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unauthorized data extraction by employees — customer data theft, competitive intelligence leakage, and regulatory data breaches through digital and physical channels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Banking data (customer PII, account details, transaction records) commands premium prices in Pakistan’s data black market</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data protection requirements and upcoming Personal Data Protection Bill mandate data loss prevention capabilities</a:t>
            </a:r>
            <a:endParaRPr sz="95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Information Security</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p="http://schemas.openxmlformats.org/presentationml/2006/main" xmlns:r="http://schemas.openxmlformats.org/officeDocument/2006/relationships">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employee fraud losses through early intervention rather than post-loss detection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Targeted controls and enhanced monitoring for highest-risk employee segments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average employee fraud loss per incident through earlier detection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integration enabling supportive intervention for employees showing financial stress indicators</a:t>
            </a:r>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fraud propensity score updated quarterly for all operational staff</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warning alerts triggered by combinations of risk factors exceeding threshold</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HR intervention workflow for employees showing financial stress (employee assistance program referral)</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Organizational risk heat map identifying branches and departments with elevated fraud vulnerability</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validated against historical cases — 80%+ of past fraud cases scored in top risk decile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stress indicators correlated with subsequent control violations in pilot data</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Organizational risk scores validated against audit findings and historical fraud incidence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HR accepts and implements supportive intervention workflow for employee assistance referrals</a:t>
            </a:r>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combining HR risk factors with behavioral indicators for fraud propensity scoring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stress detection (salary-to-debt ratio, account overdraft frequency, declined transactions)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Behavioral change detection (shift in work patterns, overtime changes, access pattern anomalies)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Organizational risk factor analysis (branches with weak controls, understaffed, high turnover)</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Survival analysis modeling time-to-fraud from onset of risk indicator patterns</a:t>
            </a:r>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Ethical considerations around predictive scoring of employees — risk of discrimination and presumption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Very low base rate of employee fraud (0.1-0.5% of staff) makes prediction statistically challenging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 privacy rights and labor law protections limit monitoring scope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Ensuring supportive intervention rather than punitive response to risk indicators</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HR data (tenure, performance reviews, compensation, promotion history)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transaction patterns (salary account conduct, personal loan status, credit card behavior)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System access patterns and working hour anomalies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Organizational risk factors (branch size, control environment assessment, manager span)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employee fraud cases with pre-fraud indicator data for supervised learning</a:t>
            </a:r>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leading indicators predicting employee fraud before losses occur — combining financial stress indicators, behavioral changes, and organizational risk factors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Move from detective controls (finding fraud after the fact) to predictive prevention (identifying high-risk employees proactively)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Research shows 80% of employee fraud perpetrators exhibit warning signs 6-12 months before committing fraud</a:t>
            </a:r>
            <a:endParaRPr sz="95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p="http://schemas.openxmlformats.org/presentationml/2006/main" xmlns:r="http://schemas.openxmlformats.org/officeDocument/2006/relationships">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500M-1B annual card fraud losses from skimming through early device identification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card reissuance costs (PKR 500-1,000 per card) by identifying compromised devices before mass data theft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trust protection through proactive notification rather than post-fraud discovery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PCI-DSS device integrity monitoring requirements</a:t>
            </a:r>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CPP analysis identifying potentially compromised devices within 48 hours of first fraud report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 card blocking for cards transacted at identified compromised devices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Device risk dashboard for ATM/POS management with geographic heat map</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device maintenance workflow for priority inspection of flagged terminals</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CPP analysis identifies compromised devices within 72 hours (vs. current 2-4 weeks)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 card blocking prevents 50%+ of losses from identified device compromises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CPP identification rate &lt;10% verified through device inspection outcomes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reissuance costs reduced by PKR 100M+ through targeted vs. mass replacement</a:t>
            </a:r>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Common Point of Purchase (CPP) analysis identifying devices where multiple fraud victims transacted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Geographic clustering of fraud reports to identify compromised device locations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analysis of fraud emergence patterns post-device interaction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Device risk scoring based on historical CPP frequency and geographic risk factors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Anomaly detection on transaction patterns at device level (unusual decline rates, timing patterns)</a:t>
            </a:r>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device network (100,000+ terminals) requires efficient scanning algorithms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CPP identification can trigger unnecessary card replacements and customer disruption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Skimming detection speed vs. fraud report lag — victims may not report for days or weeks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ATM maintenance and device inspection logistics across Pakistan’s geographic spread</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by device ID (ATM terminal ID, POS merchant ID) with geographic location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Card fraud reports correlated with last-used device/merchant</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Device maintenance and inspection records; Terminal software version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Geographic clustering of fraud cases; Common Point of Purchase (CPP) analysis data</a:t>
            </a:r>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compromised ATM and POS devices skimming card data across Pakistan’s 16,000+ ATM network and 100,000+ POS terminals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Skimming attacks remain the #1 card fraud vector in Pakistan — organized gangs target specific geographic clusters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detection relies on customer complaints rather than proactive device compromise identification</a:t>
            </a:r>
            <a:endParaRPr sz="95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p="http://schemas.openxmlformats.org/presentationml/2006/main" xmlns:r="http://schemas.openxmlformats.org/officeDocument/2006/relationships">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5-10B annual credit losses from fraudulently originated loans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first-payment default (FPD) rate — a key indicator of application fraud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quality through automated fraud screening pre-disbursement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KYC/CDD requirements for loan origination</a:t>
            </a:r>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Pre-disbursement fraud score for every loan application with automated flag/hold decisions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verification dashboard showing NADRA match results and anomaly flags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First-payment default prediction model identifying highest-risk originations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fraud reporting for management with fraud rate by channel, product, and branch</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fraud detection rate &gt;60% on known historical fraud cases (back-testing)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First-payment default rate reduced by 20%+ for scored applications vs. unscored control group</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&lt;8% for fraud flags verified through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verification integrated with &lt;5 second response in application workflow</a:t>
            </a:r>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fraud scorecard using supervised learning on historical fraud labels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verification scoring combining NADRA match confidence, photo match, and biometric verification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Income verification analytics — cross-checking declared income with account transaction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application detection across branches and channels using fuzzy CNIC matching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Velocity analysis on applications (same CNIC, phone, device, employer across multiple applications)</a:t>
            </a:r>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Informal sector income verification — 40%+ of Pakistan’s economy lacks formal documentation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API availability and response time constraints during peak application processing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synthetic identity fraud using real CNIC numbers with altered demographic data</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fraud prevention with financial inclusion — overly strict checks exclude legitimate borrowers</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application data (demographics, income, employment, purpose)</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CNIC verification via NADRA API; ECIB credit bureau data (existing facilities, inquiries, defaults)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application fraud cases with confirmed fraud indicators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application metadata (device fingerprint, IP, application completion time)</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Employer verification databases; Address verification data</a:t>
            </a:r>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fraudulent loan applications using false identity, inflated income, synthetic identities, or stolen CNICs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Consumer lending exposure of PKR 200B+ is vulnerable to application fraud estimated at 3-5% of applications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CNIC/NADRA verification gaps and informal sector income documentation make Pakistan particularly vulnerable</a:t>
            </a:r>
            <a:endParaRPr sz="95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p="http://schemas.openxmlformats.org/presentationml/2006/main" xmlns:r="http://schemas.openxmlformats.org/officeDocument/2006/relationships">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1-2B annual card fraud losses through ML-based real-time detection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Visa/Mastercard fraud monitoring requirements and SBP digital payment security guidelines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fraud detection rate &gt;85% with false positive rate &lt;3% on pilot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E-commerce fraud detection rate &gt;70%; False decline rate reduced by 30% vs. rule-based system</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card authorization data from FSDM TRXN entities (amount, merchant, MCC, location, channel)</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Cardholder behavioral profiles and merchant risk data; PCI-DSS compliance monitoring feeds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Real-time detection across Pakistan's 50M+ debit/credit cards including POS, ATM, e-commerce, and contactless channels</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E-commerce fraud growing 40%+ annually as Pakistan's digital commerce expands via Daraz, Foodpanda, and direct merchant sites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1.xml><?xml version="1.0" encoding="utf-8"?>
<p:sld xmlns:a="http://schemas.openxmlformats.org/drawingml/2006/main" xmlns:p="http://schemas.openxmlformats.org/presentationml/2006/main" xmlns:r="http://schemas.openxmlformats.org/officeDocument/2006/relationships">
  <p:cSld>
    <p:spTree>
      <p:nvGrpSpPr>
        <p:cNvPr id="10378" name="Shape 10378"/>
        <p:cNvGrpSpPr/>
        <p:nvPr/>
      </p:nvGrpSpPr>
      <p:grpSpPr>
        <a:xfrm>
          <a:off x="0" y="0"/>
          <a:ext cx="0" cy="0"/>
          <a:chOff x="0" y="0"/>
          <a:chExt cx="0" cy="0"/>
        </a:xfrm>
      </p:grpSpPr>
      <p:cxnSp>
        <p:nvCxnSpPr>
          <p:cNvPr id="10379" name="Google Shape;10379;p591"/>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10380" name="Google Shape;10380;p5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81" name="Google Shape;10381;p591"/>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82" name="Google Shape;10382;p591"/>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Output: Analysis of main transactions witin 3 days after account activation</a:t>
            </a:r>
            <a:endParaRPr sz="900">
              <a:solidFill>
                <a:schemeClr val="dk1"/>
              </a:solidFill>
              <a:latin typeface="Century Gothic"/>
              <a:ea typeface="Century Gothic"/>
              <a:cs typeface="Century Gothic"/>
              <a:sym typeface="Century Gothic"/>
            </a:endParaRPr>
          </a:p>
        </p:txBody>
      </p:sp>
      <p:sp>
        <p:nvSpPr>
          <p:cNvPr id="10383" name="Google Shape;10383;p591"/>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84" name="Google Shape;10384;p5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85" name="Google Shape;10385;p5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risk scoring on all IBFT/RAAST transactions with beneficiary risk analysis and mule account detection on receiving side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86" name="Google Shape;10386;p59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IBFT/RAAST digital payment fraud — authorized push payment (APP) scams, QR code manipulation, and social engineering via WhatsApp/phone — is Pakistan's fastest-growing fraud category with RAAST processing PKR 9.8+ trillion in FY2024</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87" name="Google Shape;10387;p591"/>
          <p:cNvSpPr txBox="1"/>
          <p:nvPr/>
        </p:nvSpPr>
        <p:spPr>
          <a:xfrm>
            <a:off x="465960" y="4245769"/>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pic>
        <p:nvPicPr>
          <p:cNvPr id="10388" name="Google Shape;10388;p591"/>
          <p:cNvPicPr preferRelativeResize="0"/>
          <p:nvPr/>
        </p:nvPicPr>
        <p:blipFill rotWithShape="1">
          <a:blip r:embed="rId3">
            <a:alphaModFix/>
          </a:blip>
          <a:srcRect b="0" l="0" r="0" t="0"/>
          <a:stretch/>
        </p:blipFill>
        <p:spPr>
          <a:xfrm>
            <a:off x="650626" y="2595740"/>
            <a:ext cx="1963457" cy="1730505"/>
          </a:xfrm>
          <a:prstGeom prst="rect">
            <a:avLst/>
          </a:prstGeom>
          <a:noFill/>
          <a:ln cap="flat" cmpd="sng" w="9525">
            <a:solidFill>
              <a:srgbClr val="DC7B1F"/>
            </a:solidFill>
            <a:prstDash val="solid"/>
            <a:round/>
            <a:headEnd len="sm" w="sm" type="none"/>
            <a:tailEnd len="sm" w="sm" type="none"/>
          </a:ln>
        </p:spPr>
      </p:pic>
      <p:sp>
        <p:nvSpPr>
          <p:cNvPr id="10389" name="Google Shape;10389;p591"/>
          <p:cNvSpPr txBox="1"/>
          <p:nvPr/>
        </p:nvSpPr>
        <p:spPr>
          <a:xfrm>
            <a:off x="2536343" y="2489910"/>
            <a:ext cx="1950511" cy="1579920"/>
          </a:xfrm>
          <a:prstGeom prst="rect">
            <a:avLst/>
          </a:prstGeom>
          <a:noFill/>
          <a:ln>
            <a:noFill/>
          </a:ln>
        </p:spPr>
        <p:txBody>
          <a:bodyPr anchorCtr="0" anchor="t" bIns="45700" lIns="91425" spcFirstLastPara="1" rIns="91425" wrap="square" tIns="45700">
            <a:noAutofit/>
          </a:bodyPr>
          <a:lstStyle/>
          <a:p>
            <a:pPr indent="-171450" lvl="1" marL="628650" marR="0" rtl="0" algn="l">
              <a:spcBef>
                <a:spcPts val="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Customers who got high Value Handset</a:t>
            </a:r>
            <a:endParaRPr/>
          </a:p>
          <a:p>
            <a:pPr indent="-171450" lvl="1" marL="628650" marR="0" rtl="0" algn="l">
              <a:spcBef>
                <a:spcPts val="40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High exposure if Customer has minimum down payment </a:t>
            </a:r>
            <a:endParaRPr/>
          </a:p>
          <a:p>
            <a:pPr indent="-171450" lvl="1" marL="628650" marR="0" rtl="0" algn="l">
              <a:spcBef>
                <a:spcPts val="40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Subscription plans that has unlimited or incentives to use Voice </a:t>
            </a:r>
            <a:endParaRPr/>
          </a:p>
        </p:txBody>
      </p:sp>
      <p:sp>
        <p:nvSpPr>
          <p:cNvPr id="10390" name="Google Shape;10390;p591"/>
          <p:cNvSpPr txBox="1"/>
          <p:nvPr/>
        </p:nvSpPr>
        <p:spPr>
          <a:xfrm>
            <a:off x="804465" y="4320821"/>
            <a:ext cx="3463756" cy="407932"/>
          </a:xfrm>
          <a:prstGeom prst="rect">
            <a:avLst/>
          </a:prstGeom>
          <a:noFill/>
          <a:ln>
            <a:noFill/>
          </a:ln>
        </p:spPr>
        <p:txBody>
          <a:bodyPr anchorCtr="0" anchor="t" bIns="45700" lIns="91425" spcFirstLastPara="1" rIns="91425" wrap="square" tIns="45700">
            <a:noAutofit/>
          </a:bodyPr>
          <a:lstStyle/>
          <a:p>
            <a:pPr indent="0" lvl="1" marL="457200" marR="0" rtl="0" algn="l">
              <a:lnSpc>
                <a:spcPct val="95000"/>
              </a:lnSpc>
              <a:spcBef>
                <a:spcPts val="0"/>
              </a:spcBef>
              <a:spcAft>
                <a:spcPts val="0"/>
              </a:spcAft>
              <a:buNone/>
            </a:pPr>
            <a:r>
              <a:rPr b="1" i="1" lang="en-GB" sz="900" u="none" cap="none" strike="noStrike">
                <a:solidFill>
                  <a:schemeClr val="accent1"/>
                </a:solidFill>
                <a:latin typeface="Century Gothic"/>
                <a:ea typeface="Century Gothic"/>
                <a:cs typeface="Century Gothic"/>
                <a:sym typeface="Century Gothic"/>
              </a:rPr>
              <a:t>A</a:t>
            </a:r>
            <a:r>
              <a:rPr b="0" i="1" lang="en-GB" sz="900" u="none" cap="none" strike="noStrike">
                <a:solidFill>
                  <a:srgbClr val="231F20"/>
                </a:solidFill>
                <a:latin typeface="Century Gothic"/>
                <a:ea typeface="Century Gothic"/>
                <a:cs typeface="Century Gothic"/>
                <a:sym typeface="Century Gothic"/>
              </a:rPr>
              <a:t> - No Activity for 3 weeks  (634)</a:t>
            </a:r>
            <a:endParaRPr b="0" i="1" sz="900" u="none" cap="none" strike="noStrike">
              <a:solidFill>
                <a:srgbClr val="231F20"/>
              </a:solidFill>
              <a:latin typeface="Century Gothic"/>
              <a:ea typeface="Century Gothic"/>
              <a:cs typeface="Century Gothic"/>
              <a:sym typeface="Century Gothic"/>
            </a:endParaRPr>
          </a:p>
          <a:p>
            <a:pPr indent="0" lvl="1" marL="457200" marR="0" rtl="0" algn="l">
              <a:lnSpc>
                <a:spcPct val="95000"/>
              </a:lnSpc>
              <a:spcBef>
                <a:spcPts val="400"/>
              </a:spcBef>
              <a:spcAft>
                <a:spcPts val="0"/>
              </a:spcAft>
              <a:buNone/>
            </a:pPr>
            <a:r>
              <a:rPr b="1" i="1" lang="en-GB" sz="900" u="none" cap="none" strike="noStrike">
                <a:solidFill>
                  <a:srgbClr val="EC881D"/>
                </a:solidFill>
                <a:latin typeface="Century Gothic"/>
                <a:ea typeface="Century Gothic"/>
                <a:cs typeface="Century Gothic"/>
                <a:sym typeface="Century Gothic"/>
              </a:rPr>
              <a:t>B</a:t>
            </a:r>
            <a:r>
              <a:rPr b="0" i="1" lang="en-GB" sz="900" u="none" cap="none" strike="noStrike">
                <a:solidFill>
                  <a:srgbClr val="231F20"/>
                </a:solidFill>
                <a:latin typeface="Century Gothic"/>
                <a:ea typeface="Century Gothic"/>
                <a:cs typeface="Century Gothic"/>
                <a:sym typeface="Century Gothic"/>
              </a:rPr>
              <a:t> - High Activity of usage during 3 weeks (84)</a:t>
            </a:r>
            <a:endParaRPr b="0" i="1" sz="900" u="none" cap="none" strike="noStrike">
              <a:solidFill>
                <a:srgbClr val="231F20"/>
              </a:solidFill>
              <a:latin typeface="Century Gothic"/>
              <a:ea typeface="Century Gothic"/>
              <a:cs typeface="Century Gothic"/>
              <a:sym typeface="Century Gothic"/>
            </a:endParaRPr>
          </a:p>
        </p:txBody>
      </p:sp>
      <p:pic>
        <p:nvPicPr>
          <p:cNvPr id="10391" name="Google Shape;10391;p591"/>
          <p:cNvPicPr preferRelativeResize="0"/>
          <p:nvPr/>
        </p:nvPicPr>
        <p:blipFill rotWithShape="1">
          <a:blip r:embed="rId4">
            <a:alphaModFix/>
          </a:blip>
          <a:srcRect b="0" l="0" r="0" t="0"/>
          <a:stretch/>
        </p:blipFill>
        <p:spPr>
          <a:xfrm>
            <a:off x="4874536" y="2738905"/>
            <a:ext cx="3549798" cy="1506864"/>
          </a:xfrm>
          <a:prstGeom prst="rect">
            <a:avLst/>
          </a:prstGeom>
          <a:noFill/>
          <a:ln>
            <a:noFill/>
          </a:ln>
        </p:spPr>
      </p:pic>
      <p:sp>
        <p:nvSpPr>
          <p:cNvPr id="10392" name="Google Shape;10392;p591"/>
          <p:cNvSpPr/>
          <p:nvPr/>
        </p:nvSpPr>
        <p:spPr>
          <a:xfrm>
            <a:off x="5683250" y="4174043"/>
            <a:ext cx="2411673" cy="572690"/>
          </a:xfrm>
          <a:prstGeom prst="roundRect">
            <a:avLst>
              <a:gd fmla="val 16667" name="adj"/>
            </a:avLst>
          </a:prstGeom>
          <a:no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rPr lang="en-GB" sz="900">
                <a:solidFill>
                  <a:schemeClr val="dk1"/>
                </a:solidFill>
                <a:latin typeface="Century Gothic"/>
                <a:ea typeface="Century Gothic"/>
                <a:cs typeface="Century Gothic"/>
                <a:sym typeface="Century Gothic"/>
              </a:rPr>
              <a:t>Various paths can be compared and investigated</a:t>
            </a:r>
            <a:endParaRPr/>
          </a:p>
        </p:txBody>
      </p:sp>
      <p:sp>
        <p:nvSpPr>
          <p:cNvPr id="10393" name="Google Shape;10393;p59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92"/>
                                        </p:tgtEl>
                                        <p:attrNameLst>
                                          <p:attrName>style.visibility</p:attrName>
                                        </p:attrNameLst>
                                      </p:cBhvr>
                                      <p:to>
                                        <p:strVal val="visible"/>
                                      </p:to>
                                    </p:set>
                                    <p:animEffect filter="fade" transition="in">
                                      <p:cBhvr>
                                        <p:cTn dur="1000"/>
                                        <p:tgtEl>
                                          <p:spTgt spid="103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2.xml><?xml version="1.0" encoding="utf-8"?>
<p:sld xmlns:a="http://schemas.openxmlformats.org/drawingml/2006/main" xmlns:p="http://schemas.openxmlformats.org/presentationml/2006/main" xmlns:r="http://schemas.openxmlformats.org/officeDocument/2006/relationships">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Recovery of PKR 200-500M annually in fraudulent or inflated vendor payments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Procurement integrity improvement through systematic monitoring and vendor risk assessment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operational risk management guidelines for third-party management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vendor negotiation through comprehensive spend analytics and price benchmarking</a:t>
            </a:r>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vendor fraud monitoring with monthly anomaly reports for procurement leadership</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risk scoring based on payment pattern analytics and relationship analysis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payment detection integrated with accounts payable workflow for prevention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Procurement integrity dashboard for Audit Committee reporting</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payment detection identifies PKR 20M+ in confirmed duplicate or overpayments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Phantom vendor screening flags minimum 10 vendors requiring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Bid rigging analysis identifies 3+ suspicious procurement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Vendor fraud detection false positive rate &lt;25% verified through investigation</a:t>
            </a:r>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Benford’s Law analysis on invoice amounts detecting fabricated round-number invoices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Duplicate payment detection (same invoice number, same amount, different dates)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Phantom vendor identification (vendors with employee-linked addresses, phone numbers, or bank accounts)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Bid rigging detection (suspicious bid clustering, rotating winners, bid amounts just below thresholds)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Price benchmarking analysis identifying above-market payments for standard goods and services</a:t>
            </a:r>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vendor base (5,000-10,000 active vendors) with diverse payment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Legitimate price variations across geographies and contract terms complicate benchmarking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Phantom vendors using real addresses and bank accounts of uninvolved third parties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Employee-vendor collusion designed to evade standard procurement controls</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Accounts payable data (vendor invoices, payment amounts, payment timing)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Vendor master data (registration details, ownership, banking information, tax ID)</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 and contract data; Procurement approval workflows and bid documentation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Employee-vendor interaction data; Market price benchmarking data for common goods/services</a:t>
            </a:r>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vendor fraud in bank procurement — inflated invoices, phantom vendors, bid rigging, and duplicate payments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Annual procurement budgets of PKR 5-10B at major Pakistani banks have limited analytics monitoring</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Vendor fraud can involve collusion between bank employees and external vendors making detection complex</a:t>
            </a:r>
            <a:endParaRPr sz="95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Internal Audit Analytics</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p="http://schemas.openxmlformats.org/presentationml/2006/main" xmlns:r="http://schemas.openxmlformats.org/officeDocument/2006/relationships">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2-5B in synthetic identity fraud losses across consumer and SME lending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 from accounts that never intended to repay (bust-out fraud)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CNIC-based identity verification strengthening the entire customer onboarding process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ECIB data quality improvement by identifying and purging synthetic identity credit files</a:t>
            </a:r>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Synthetic identity risk score for every new account application at onboarding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Post-onboarding monitoring for synthetic identity behavioral patterns (credit building phase)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Bust-out prediction model identifying accounts approaching fraud execution phase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identification of related synthetic identities for network-level investigation</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Synthetic identity scoring identifies 50%+ of known synthetic fraud cases in back-testing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Bust-out prediction model provides 60+ day advance warning before max utilization event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identifies minimum 3 synthetic identity groups in pilot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&lt;5% for synthetic identity flags at onboarding (critical for inclusion)</a:t>
            </a:r>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CNIC digit analysis for structural anomalies (invalid region codes, impossible issue dates)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Synthetic identity scoring combining NADRA verification confidence with behavioral indicators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building pattern detection (gradual limit increases, minimal usage, sudden max utilization — bust-out pattern)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identifying groups of accounts with shared synthetic identity attributes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Multi-bank synthetic identity detection using ECIB inquiry and facility pattern analysis</a:t>
            </a:r>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Synthetic identities are designed to look legitimate — they pass individual verification checks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Long fraud lifecycle (12-24 months of credit building before bust-out) delays feedback for model training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verification API does not return detailed match reasons, limiting diagnostic capability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Distinguishing synthetic identities from thin-file legitimate customers (new to banking)</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CNIC data and NADRA verification responses (match scores, photo verification status)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opening data (velocity of new accounts, channel, referring source)</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ECIB credit bureau data (thin file indicators, inquiry patterns, credit building behavior)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Shared attribute analysis (phone numbers, addresses, devices, beneficiaries across accounts)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footprint data (IP addresses, device fingerprints, application behavioral data)</a:t>
            </a:r>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synthetic identities constructed from combinations of real and fake CNIC data to open fraudulent accounts and obtain credit</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CNIC system provides a foundational identity layer but gaps in real-time verification enable synthetic identity creation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Synthetic identity fraud is the fastest-growing identity fraud type globally — Pakistan’s 230M CNICs create a large attack surface</a:t>
            </a:r>
            <a:endParaRPr sz="95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p="http://schemas.openxmlformats.org/presentationml/2006/main" xmlns:r="http://schemas.openxmlformats.org/officeDocument/2006/relationships">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500M-1B in account takeover fraud losses annually</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trust preservation in digital banking channels critical for SBP digitization goals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complaint volumes and dispute resolution costs from ATO incidents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digital banking security guidelines for customer authentication</a:t>
            </a:r>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Real-time ATO risk scoring on every digital banking session with step-up authentication triggers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SIM-swap detection capability blocking fraudulent OTP-authenticated transactions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Device trust management with customer-enrolled trusted devices for reduced friction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ATO incident response automation (immediate account freeze, customer notification, investigation)</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ATO detection rate &gt;70% for known account takeover incidents in pilot channel</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SIM-swap detection identifies 80%+ of SIM-swap events within 30 minutes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rate &lt;5% for ATO alerts (critical for digital banking experience)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Average ATO detection time reduced from days to minutes</a:t>
            </a:r>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Device fingerprint matching detecting logins from unrecognized devices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Behavioral biometrics (typing patterns, navigation behavior) for continuous authentication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SIM-swap detection through OTP delivery pattern analysis and telecom data integration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 anomaly detection (geographic impossibility, concurrent sessions, unusual timing)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change velocity analysis (phone change + password reset + high-value transfer = ATO pattern)</a:t>
            </a:r>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SIM-swap detection requires telecom carrier data sharing — limited partnerships in Pakistan currently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Behavioral biometrics deployment on mobile devices requires app-level integration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Legitimate device changes (new phone) must not lock out genuine customers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ATO attacks that gradually establish new device trust over time</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Authentication logs (login success/failure, OTP delivery and usage, biometric checks)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Device fingerprint data and session analytics (IP, browser, app version, screen resolution)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Contact change requests (phone number, email, address) preceding suspicious activity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patterns post-authentication for behavioral continuity verification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 SIM-swap event data (where available through carrier partnerships)</a:t>
            </a:r>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unauthorized account access through stolen credentials, SIM-swap attacks, social engineering, and session hijacking</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heavy reliance on SMS OTP for authentication creates significant SIM-swap vulnerability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Account takeover (ATO) fraud is growing 50%+ annually as digital banking adoption accelerates</a:t>
            </a:r>
            <a:endParaRPr sz="95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p="http://schemas.openxmlformats.org/presentationml/2006/main" xmlns:r="http://schemas.openxmlformats.org/officeDocument/2006/relationships">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PKR 3-5B in identity-fraud-originated financial losses across all products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Strengthened KYC/CDD compliance meeting SBP and FATF requirements for identity verification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account opening fraud through enhanced identity verification at onboarding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deceased customers’ accounts from exploitation by unauthorized parties</a:t>
            </a:r>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Real-time identity verification scoring at every customer touchpoint (onboarding, significant transactions)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Deceased account monitoring with automated alerts and account restriction workflow</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fraud risk dashboard showing fraud rates by channel, product, and verification method</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CDD reports with identity verification confidence scores</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fraud detection rate &gt;80% on known historical identity fraud cases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Deceased identity detection covers 100% of existing customer portfolio within POV period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biometric verification integrated at all account opening channels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fraud losses reduced by 30%+ on pilot product portfolio</a:t>
            </a:r>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real-time CNIC verification with biometric matching at account opening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Deceased identity detection through NADRA death registry cross-matching on existing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Facial recognition comparison between account opening photo and CNIC photo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Identity attribute clustering detecting individuals using multiple CNICs or shared CNIC attributes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forensic analysis for CNIC copy manipulation detection</a:t>
            </a:r>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NADRA API availability and cost — real-time biometric verification at scale is expensive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Photo quality issues for facial recognition (low-resolution scans, old CNIC photos)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considerations for biometric data storage and processing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Rural and underbanked populations with limited digital identity verification infrastructure</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CNIC data with NADRA biometric verification results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NADRA death registry for deceased identity detection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Account opening photographs and biometric data; Document image analysis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Cross-customer identity attribute sharing analysis (shared phone, address, device, biometric)</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identity fraud cases with confirmed fraud methods for model training</a:t>
            </a:r>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Build comprehensive identity fraud analytics covering CNIC fraud, deceased identity usage, identity theft through document forgery, and impersonation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NADRA integration for real-time CNIC verification and biometric matching is critical but not universally implemented</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Identity fraud underpins most other fraud types — effective identity verification is the foundation of fraud prevention</a:t>
            </a:r>
            <a:endParaRPr sz="95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p="http://schemas.openxmlformats.org/presentationml/2006/main" xmlns:r="http://schemas.openxmlformats.org/officeDocument/2006/relationships">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Prevention of PKR 300-500M annual internet banking fraud losses</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Customer confidence in digital channels supporting SBP financial inclusion targets</a:t>
            </a:r>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Internet banking fraud detection rate &gt;75% with false positive rate &lt;3%</a:t>
            </a:r>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Credential stuffing attacks blocked within 5 minutes of onset; Phishing detection within 4 hours</a:t>
            </a:r>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FSDM Event and Transaction entities for session and transaction correlation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Pakistan-specific phishing intelligence and SBP CERT advisory feeds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Pakistan's internet banking users growing 30%+ annually with phishing, credential stuffing, and session hijacking attacks increasing in parallel</a:t>
            </a:r>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SBP digital banking security guidelines mandate real-time fraud detection for online channels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7.xml><?xml version="1.0" encoding="utf-8"?>
<p:sld xmlns:a="http://schemas.openxmlformats.org/drawingml/2006/main" xmlns:p="http://schemas.openxmlformats.org/presentationml/2006/main" xmlns:r="http://schemas.openxmlformats.org/officeDocument/2006/relationships">
  <p:cSld>
    <p:spTree>
      <p:nvGrpSpPr>
        <p:cNvPr id="10498" name="Shape 10498"/>
        <p:cNvGrpSpPr/>
        <p:nvPr/>
      </p:nvGrpSpPr>
      <p:grpSpPr>
        <a:xfrm>
          <a:off x="0" y="0"/>
          <a:ext cx="0" cy="0"/>
          <a:chOff x="0" y="0"/>
          <a:chExt cx="0" cy="0"/>
        </a:xfrm>
      </p:grpSpPr>
      <p:pic>
        <p:nvPicPr>
          <p:cNvPr id="10499" name="Google Shape;10499;p597"/>
          <p:cNvPicPr preferRelativeResize="0"/>
          <p:nvPr/>
        </p:nvPicPr>
        <p:blipFill rotWithShape="1">
          <a:blip r:embed="rId3">
            <a:alphaModFix/>
          </a:blip>
          <a:srcRect b="0" l="0" r="0" t="0"/>
          <a:stretch/>
        </p:blipFill>
        <p:spPr>
          <a:xfrm>
            <a:off x="4858901" y="3871007"/>
            <a:ext cx="1466056" cy="825103"/>
          </a:xfrm>
          <a:prstGeom prst="rect">
            <a:avLst/>
          </a:prstGeom>
          <a:noFill/>
          <a:ln>
            <a:noFill/>
          </a:ln>
        </p:spPr>
      </p:pic>
      <p:sp>
        <p:nvSpPr>
          <p:cNvPr id="10500" name="Google Shape;10500;p597"/>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01" name="Google Shape;10501;p597"/>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Mobile Banking &amp; Wallet Fraud Analytics</a:t>
            </a:r>
            <a:endParaRPr sz="2400"/>
          </a:p>
        </p:txBody>
      </p:sp>
      <p:sp>
        <p:nvSpPr>
          <p:cNvPr id="10502" name="Google Shape;10502;p597"/>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Results</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analytic Output:</a:t>
            </a:r>
            <a:endParaRPr sz="900">
              <a:solidFill>
                <a:schemeClr val="dk1"/>
              </a:solidFill>
              <a:latin typeface="Century Gothic"/>
              <a:ea typeface="Century Gothic"/>
              <a:cs typeface="Century Gothic"/>
              <a:sym typeface="Century Gothic"/>
            </a:endParaRPr>
          </a:p>
        </p:txBody>
      </p:sp>
      <p:sp>
        <p:nvSpPr>
          <p:cNvPr id="10503" name="Google Shape;10503;p597"/>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Detail</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Analytic output:</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04" name="Google Shape;10504;p5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505" name="Google Shape;10505;p597"/>
          <p:cNvSpPr/>
          <p:nvPr/>
        </p:nvSpPr>
        <p:spPr>
          <a:xfrm>
            <a:off x="423863" y="807897"/>
            <a:ext cx="832117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Analysis Detail: -</a:t>
            </a:r>
            <a:endParaRPr/>
          </a:p>
          <a:p>
            <a:pPr indent="-171450" lvl="0" marL="171450" marR="0" rtl="0" algn="l">
              <a:lnSpc>
                <a:spcPct val="90000"/>
              </a:lnSpc>
              <a:spcBef>
                <a:spcPts val="50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Npath analysis of browsing and shopping behaviour to identify potential  fraudulent behavior</a:t>
            </a:r>
            <a:endParaRPr/>
          </a:p>
          <a:p>
            <a:pPr indent="-171450" lvl="1" marL="628650" marR="0" rtl="0" algn="l">
              <a:lnSpc>
                <a:spcPct val="90000"/>
              </a:lnSpc>
              <a:spcBef>
                <a:spcPts val="500"/>
              </a:spcBef>
              <a:spcAft>
                <a:spcPts val="0"/>
              </a:spcAft>
              <a:buClr>
                <a:schemeClr val="dk1"/>
              </a:buClr>
              <a:buSzPts val="900"/>
              <a:buFont typeface="Noto Sans Symbols"/>
              <a:buChar char="▪"/>
            </a:pPr>
            <a:r>
              <a:rPr b="0" i="0" lang="en-GB" sz="900" u="none" cap="none" strike="noStrike">
                <a:solidFill>
                  <a:schemeClr val="dk1"/>
                </a:solidFill>
                <a:latin typeface="Century Gothic"/>
                <a:ea typeface="Century Gothic"/>
                <a:cs typeface="Century Gothic"/>
                <a:sym typeface="Century Gothic"/>
              </a:rPr>
              <a:t>Identify complex patterns of behavior and interactions  between individuals to determine</a:t>
            </a:r>
            <a:endParaRPr/>
          </a:p>
          <a:p>
            <a:pPr indent="-171450" lvl="2" marL="1085850" marR="0" rtl="0" algn="l">
              <a:lnSpc>
                <a:spcPct val="90000"/>
              </a:lnSpc>
              <a:spcBef>
                <a:spcPts val="450"/>
              </a:spcBef>
              <a:spcAft>
                <a:spcPts val="0"/>
              </a:spcAft>
              <a:buClr>
                <a:schemeClr val="dk1"/>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Common approaches to fraud</a:t>
            </a:r>
            <a:endParaRPr/>
          </a:p>
          <a:p>
            <a:pPr indent="-171450" lvl="2" marL="1085850" marR="0" rtl="0" algn="l">
              <a:lnSpc>
                <a:spcPct val="90000"/>
              </a:lnSpc>
              <a:spcBef>
                <a:spcPts val="450"/>
              </a:spcBef>
              <a:spcAft>
                <a:spcPts val="0"/>
              </a:spcAft>
              <a:buClr>
                <a:schemeClr val="dk1"/>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Patterns of geographic locations associated with fraud (multiple accounts accessed from same IP address)</a:t>
            </a:r>
            <a:endParaRPr/>
          </a:p>
          <a:p>
            <a:pPr indent="-171450" lvl="0" marL="171450" marR="0" rtl="0" algn="l">
              <a:lnSpc>
                <a:spcPct val="90000"/>
              </a:lnSpc>
              <a:spcBef>
                <a:spcPts val="45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Ngrams – (Text and speech patterns) – search terms highly correlated to deceptive activity</a:t>
            </a:r>
            <a:endParaRPr sz="1000">
              <a:solidFill>
                <a:schemeClr val="dk1"/>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Mobile-specific detection: app integrity checking, behavioral biometrics (touch/swipe patterns), overlay attack detection</a:t>
            </a:r>
            <a:endParaRPr/>
          </a:p>
          <a:p>
            <a:pPr indent="-171450" lvl="0" marL="171450" marR="0" rtl="0" algn="l">
              <a:lnSpc>
                <a:spcPct val="90000"/>
              </a:lnSpc>
              <a:spcBef>
                <a:spcPts val="50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JazzCash/Easypaisa fraud patterns — USSD manipulation, fake agent transactions, SIM-swap exploitation targeting mobile wallets</a:t>
            </a:r>
            <a:endParaRPr/>
          </a:p>
          <a:p>
            <a:pPr indent="-171450" lvl="0" marL="171450" marR="0" rtl="0" algn="l">
              <a:lnSpc>
                <a:spcPct val="90000"/>
              </a:lnSpc>
              <a:spcBef>
                <a:spcPts val="50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Device risk scoring integrating rooted/jailbroken detection, emulator detection, and malware indicator analysis</a:t>
            </a:r>
            <a:endParaRPr/>
          </a:p>
          <a:p>
            <a:pPr indent="-180975" lvl="0" marL="180975" marR="0" rtl="0" algn="l">
              <a:lnSpc>
                <a:spcPct val="90000"/>
              </a:lnSpc>
              <a:spcBef>
                <a:spcPts val="500"/>
              </a:spcBef>
              <a:spcAft>
                <a:spcPts val="0"/>
              </a:spcAft>
              <a:buNone/>
            </a:pPr>
            <a:r>
              <a:t/>
            </a:r>
            <a:endParaRPr b="1" sz="1000">
              <a:solidFill>
                <a:schemeClr val="dk2"/>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id="10506" name="Google Shape;10506;p597"/>
          <p:cNvPicPr preferRelativeResize="0"/>
          <p:nvPr/>
        </p:nvPicPr>
        <p:blipFill rotWithShape="1">
          <a:blip r:embed="rId4">
            <a:alphaModFix/>
          </a:blip>
          <a:srcRect b="0" l="0" r="0" t="0"/>
          <a:stretch/>
        </p:blipFill>
        <p:spPr>
          <a:xfrm>
            <a:off x="455395" y="2927679"/>
            <a:ext cx="3846513" cy="1481138"/>
          </a:xfrm>
          <a:prstGeom prst="rect">
            <a:avLst/>
          </a:prstGeom>
          <a:noFill/>
          <a:ln>
            <a:noFill/>
          </a:ln>
        </p:spPr>
      </p:pic>
      <p:pic>
        <p:nvPicPr>
          <p:cNvPr id="10507" name="Google Shape;10507;p597"/>
          <p:cNvPicPr preferRelativeResize="0"/>
          <p:nvPr/>
        </p:nvPicPr>
        <p:blipFill rotWithShape="1">
          <a:blip r:embed="rId5">
            <a:alphaModFix/>
          </a:blip>
          <a:srcRect b="0" l="0" r="0" t="0"/>
          <a:stretch/>
        </p:blipFill>
        <p:spPr>
          <a:xfrm>
            <a:off x="4653896" y="2995448"/>
            <a:ext cx="3886745" cy="1178419"/>
          </a:xfrm>
          <a:prstGeom prst="rect">
            <a:avLst/>
          </a:prstGeom>
          <a:noFill/>
          <a:ln>
            <a:noFill/>
          </a:ln>
        </p:spPr>
      </p:pic>
      <p:pic>
        <p:nvPicPr>
          <p:cNvPr id="10508" name="Google Shape;10508;p597"/>
          <p:cNvPicPr preferRelativeResize="0"/>
          <p:nvPr/>
        </p:nvPicPr>
        <p:blipFill rotWithShape="1">
          <a:blip r:embed="rId6">
            <a:alphaModFix/>
          </a:blip>
          <a:srcRect b="0" l="0" r="0" t="0"/>
          <a:stretch/>
        </p:blipFill>
        <p:spPr>
          <a:xfrm>
            <a:off x="6882966" y="4060977"/>
            <a:ext cx="1306298" cy="627654"/>
          </a:xfrm>
          <a:prstGeom prst="rect">
            <a:avLst/>
          </a:prstGeom>
          <a:noFill/>
          <a:ln>
            <a:noFill/>
          </a:ln>
        </p:spPr>
      </p:pic>
      <p:sp>
        <p:nvSpPr>
          <p:cNvPr id="10509" name="Google Shape;10509;p597">
            <a:hlinkClick action="ppaction://hlinksldjump" r:id="rId7"/>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p="http://schemas.openxmlformats.org/presentationml/2006/main" xmlns:r="http://schemas.openxmlformats.org/officeDocument/2006/relationships">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PKR 2-3B annually in fraudulent auto insurance claims processed through bank channels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claims processing speed for legitimate claims through automated fraud screening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Strengthened bancassurance partner relationships through improved claim fraud management</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insurance premium costs passed through to bank customers</a:t>
            </a:r>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claim fraud scoring at point of claim filing for investigation prioritization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Repair shop risk ratings driving audit and investigation targeting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Serial claimant database shared across bancassurance insurance partners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Claims fraud dashboard with fraud rate trends by vehicle type, region, and repair network</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fraud scoring identifies 60%+ of known fraudulent claims in back-testing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Repair shop analysis flags minimum 10 high-risk shops for investigation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Serial claimant detection identifies 20+ multi-claim individuals across portfolio</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savings of PKR 200M+ estimated from identified fraudulent claims in pilot</a:t>
            </a:r>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scoring model combining claim characteristics with claimant and repair shop risk factors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Repair shop network analysis identifying shops with abnormally high fraud-indicative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Serial claimant detection across policies, products, and insurance partners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Staged accident detection through multi-party claim correlation and timeline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Repair cost benchmarking against market rates by vehicle type and damage description</a:t>
            </a:r>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Limited standardized data from insurance company claim systems into bank analytics platform</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Repair cost benchmarking difficult due to lack of standardized pricing in Pakistan auto repair market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investigation resources limited — field investigation infrastructure underdeveloped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Multi-insurer coordination for serial claimant detection requires industry data sharing</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claim data (vehicle details, accident description, repair estimate, claimant history)</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Repair shop network data (claim volumes, average repair costs, geographic patterns)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Claimant history data (prior claims frequency, types, amounts across policies)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Vehicle registration and valuation data; Police report and accident investigation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claim patterns for staged multi-party accident detection</a:t>
            </a:r>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auto insurance claim fraud in bancassurance — staged accidents, inflated repair costs, phantom claims, and serial claimants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 motor insurance (bancassurance channel) represents PKR 20B+ in annual premiums with estimated 10-15% fraudulent claim rate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Limited analytics on claim patterns creates opportunity for systematic abuse by organized fraud rings</a:t>
            </a:r>
            <a:endParaRPr sz="95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Risk Management</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9.xml><?xml version="1.0" encoding="utf-8"?>
<p:sld xmlns:a="http://schemas.openxmlformats.org/drawingml/2006/main" xmlns:p="http://schemas.openxmlformats.org/presentationml/2006/main" xmlns:r="http://schemas.openxmlformats.org/officeDocument/2006/relationships">
  <p:cSld>
    <p:spTree>
      <p:nvGrpSpPr>
        <p:cNvPr id="10534" name="Shape 10534"/>
        <p:cNvGrpSpPr/>
        <p:nvPr/>
      </p:nvGrpSpPr>
      <p:grpSpPr>
        <a:xfrm>
          <a:off x="0" y="0"/>
          <a:ext cx="0" cy="0"/>
          <a:chOff x="0" y="0"/>
          <a:chExt cx="0" cy="0"/>
        </a:xfrm>
      </p:grpSpPr>
      <p:cxnSp>
        <p:nvCxnSpPr>
          <p:cNvPr id="10535" name="Google Shape;10535;p5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36" name="Google Shape;10536;p5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37" name="Google Shape;10537;p59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38" name="Google Shape;10538;p5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39" name="Google Shape;10539;p59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15-25% additional fraudulent claims missed by structured data analysis alone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claims triage through automated document screening and risk flagging</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adjuster investigation time through pre-analyzed claim narrative summaries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audit trail through documented textual analysis supporting claim denial decisions</a:t>
            </a:r>
            <a:endParaRPr/>
          </a:p>
        </p:txBody>
      </p:sp>
      <p:sp>
        <p:nvSpPr>
          <p:cNvPr id="10540" name="Google Shape;10540;p5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claim text analysis producing fraud risk indicators for each textual document</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Inconsistency detection flagging contradictions between claim narrative and structured data</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Template detection identifying suspiciously similar claim descriptions across different claimants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Adjuster-facing report summarizing textual red flags for investigation focus</a:t>
            </a:r>
            <a:endParaRPr sz="800">
              <a:solidFill>
                <a:srgbClr val="3C3C3B"/>
              </a:solidFill>
              <a:latin typeface="Century Gothic"/>
              <a:ea typeface="Century Gothic"/>
              <a:cs typeface="Century Gothic"/>
              <a:sym typeface="Century Gothic"/>
            </a:endParaRPr>
          </a:p>
        </p:txBody>
      </p:sp>
      <p:sp>
        <p:nvSpPr>
          <p:cNvPr id="10541" name="Google Shape;10541;p5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identifies fraud indicators in 15%+ of claims that structured data analysis rated low-risk</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Template detection identifies minimum 5 clusters of suspiciously similar claim narratives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Urdu NLP processing accuracy &gt;80% for key entity extraction from claim documents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Adjuster feedback confirms text analysis flags are actionable in 70%+ of cases</a:t>
            </a:r>
            <a:endParaRPr/>
          </a:p>
        </p:txBody>
      </p:sp>
      <p:sp>
        <p:nvSpPr>
          <p:cNvPr id="10542" name="Google Shape;10542;p5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NLP-based sentiment and deception detection on claim narratives (vague language, excessive detail, inconsistencies)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Named entity recognition for identifying key claim elements (people, places, dates, amounts)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similarity analysis detecting templated or copied claim descriptions across different claimants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Bilingual NLP processing for Urdu and English claim documents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Medical terminology analysis identifying exaggerated or inconsistent injury descriptions</a:t>
            </a:r>
            <a:endParaRPr/>
          </a:p>
        </p:txBody>
      </p:sp>
      <p:sp>
        <p:nvSpPr>
          <p:cNvPr id="10543" name="Google Shape;10543;p5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Urdu NLP capabilities less mature than English — requires custom model training for banking/insurance domain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Handwritten Urdu documents require specialized OCR before NLP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Claim narrative style varies widely — defining "suspicious" language requires careful calibration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Ensuring NLP-based flags are defensible in claim denial decisions and potential legal challenges</a:t>
            </a:r>
            <a:endParaRPr/>
          </a:p>
        </p:txBody>
      </p:sp>
      <p:sp>
        <p:nvSpPr>
          <p:cNvPr id="10544" name="Google Shape;10544;p5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narrative descriptions (free text from claimant, agent, and adjuster)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Medical reports and doctor notes for personal injury claims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Adjuster investigation reports and field notes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claim text data labeled with fraud outcomes for model training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document metadata (creation timing, authorship, document templates)</a:t>
            </a:r>
            <a:endParaRPr/>
          </a:p>
        </p:txBody>
      </p:sp>
      <p:sp>
        <p:nvSpPr>
          <p:cNvPr id="10545" name="Google Shape;10545;p59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NLP/text analytics on insurance claim documents to detect fraudulent narratives — inconsistencies, exaggeration patterns, and suspicious language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Claim descriptions, adjuster notes, and medical reports contain textual fraud indicators that structured data analysis misses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bilingual (Urdu/English) documentation requires specialized NLP capabilities</a:t>
            </a:r>
            <a:endParaRPr sz="950">
              <a:solidFill>
                <a:srgbClr val="3C3C3B"/>
              </a:solidFill>
              <a:latin typeface="Century Gothic"/>
              <a:ea typeface="Century Gothic"/>
              <a:cs typeface="Century Gothic"/>
              <a:sym typeface="Century Gothic"/>
            </a:endParaRPr>
          </a:p>
        </p:txBody>
      </p:sp>
      <p:sp>
        <p:nvSpPr>
          <p:cNvPr id="10546" name="Google Shape;10546;p5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Fraud Analytics CoE</a:t>
            </a:r>
            <a:endParaRPr sz="900">
              <a:solidFill>
                <a:schemeClr val="accent6"/>
              </a:solidFill>
              <a:latin typeface="Century Gothic"/>
              <a:ea typeface="Century Gothic"/>
              <a:cs typeface="Century Gothic"/>
              <a:sym typeface="Century Gothic"/>
            </a:endParaRPr>
          </a:p>
        </p:txBody>
      </p:sp>
      <p:sp>
        <p:nvSpPr>
          <p:cNvPr id="10547" name="Google Shape;10547;p59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48" name="Google Shape;10548;p59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 Fraud – Text Analytics for Property and Casualty</a:t>
            </a:r>
            <a:endParaRPr sz="2400"/>
          </a:p>
        </p:txBody>
      </p:sp>
      <p:sp>
        <p:nvSpPr>
          <p:cNvPr id="10549" name="Google Shape;10549;p5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p="http://schemas.openxmlformats.org/presentationml/2006/main" xmlns:r="http://schemas.openxmlformats.org/officeDocument/2006/relationships">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data breaches through network exfiltration — the most common APT exfiltration method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data protection requirements and PCI-DSS network monitoring mandates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Integration of DLP with SIEM for comprehensive security event correlation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breach detection time from industry average 200+ days to &lt;30 days</a:t>
            </a:r>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Network-based DLP monitoring covering all egress points with automated alerting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DNS tunneling detection capability with automated blocking for confirmed tunnels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channel analysis identifying suspicious outbound connections to unrecognized endpoints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 dashboard integrating network DLP alerts with broader security event context</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DLP monitoring operational on all internet egress points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DNS tunneling detection identifies 90%+ of test tunneling scenarios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traffic anomaly detection generates actionable alerts with &lt;20% false positive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Mean time to detect data exfiltration &lt;24 hours in simulated red team scenarios</a:t>
            </a:r>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traffic baseline modeling with anomaly detection for unusual data volumes and destinations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DNS tunneling detection through query frequency, payload size, and entropy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traffic analysis using flow metadata (packet sizes, timing, destination reputation)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 profiling per user/system detecting unusual outbound data transfers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SIEM correlation rules linking network anomalies with access events and threat intelligence</a:t>
            </a:r>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traffic (80%+ of outbound) limits content inspection capability requiring metadata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network traffic volumes (terabytes daily) require efficient analysis at wire speed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Legitimate cloud service usage (O365, AWS, Google) complicates outbound data transfer monitoring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management for network alerts in high-traffic banking environments</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Network traffic flow data (NetFlow/sFlow) from perimeter and internal network segments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DNS query logs for tunneling and covert channel detection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Proxy and web gateway logs for outbound data transfer monitoring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SIEM event data for security alert correlation; DLP content inspection logs</a:t>
            </a:r>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data exfiltration through network channels — unauthorized data transfers, encrypted tunnel abuse, DNS tunneling, and steganography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Banking data breaches carry PKR 500M+ costs including SBP regulatory penalties, customer notification, and reputational damage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data classification requirements mandate DLP capabilities for all classification levels</a:t>
            </a:r>
            <a:endParaRPr sz="95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Information Security</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p="http://schemas.openxmlformats.org/presentationml/2006/main" xmlns:r="http://schemas.openxmlformats.org/officeDocument/2006/relationships">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cyber attack surface through prioritized vulnerability remediation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PCI-DSS compliance maintaining card scheme certification (Visa, Mastercard)</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IT Security Guidelines vulnerability management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Risk-based resource allocation focusing remediation on exploitable critical vulnerabilities</a:t>
            </a:r>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Risk-prioritized vulnerability remediation queue updated weekly for each technology team</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Vulnerability posture dashboard showing risk reduction progress over time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PCI-DSS quarterly scan compliance reporting with gap identification and remediation tracking</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Executive risk report showing cyber risk posture for Board Risk Committee</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Risk-based prioritization demonstrates 80%+ of remediation effort focused on critical/exploitable vulnerabilities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Average remediation time for critical vulnerabilities reduced by 30%+</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PCI-DSS quarterly scan pass rate &gt;95% across card data environment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Vulnerability posture score improved by 20%+ over POV period</a:t>
            </a:r>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Risk-based vulnerability prioritization combining CVSS score, asset criticality, and exploitability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Vulnerability aging analysis tracking remediation timelines against SLA targets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Attack surface analysis mapping exploitable vulnerability chains to critical assets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Remediation efficiency metrics tracking patch deployment rates by team and technology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Threat intelligence correlation identifying vulnerabilities being actively exploited against banking sector</a:t>
            </a:r>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Legacy systems that cannot be patched without business disruption (core banking, ATM network)</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Vulnerability scan coverage gaps in segmented network zones and cloud environments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Remediation capacity constraints — IT teams balance security patches with business change delivery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False positive vulnerabilities in scans requiring verification before remediation effort</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Vulnerability scan data (Qualys, Nessus, Rapid7) covering network, application, and database layers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inventory data (criticality, owner, network zone, data classification)</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Threat intelligence feeds (CVSS scores, exploitability, active exploitation in the wild)</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Patch management data (available patches, deployment status, failed deployments)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Penetration test results and red team findings</a:t>
            </a:r>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Continuous vulnerability assessment and risk-based remediation across the bank’s IT infrastructure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Pakistani banks operate 5,000-20,000 IT assets with hundreds of new vulnerabilities disclosed monthly</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PCI-DSS compliance for card data environments requires quarterly vulnerability assessments and prompt remediation</a:t>
            </a:r>
            <a:endParaRPr sz="95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Information Security</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p="http://schemas.openxmlformats.org/presentationml/2006/main" xmlns:r="http://schemas.openxmlformats.org/officeDocument/2006/relationships">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Prevention of credential-based account compromise — the most common initial access vector for cyber attacks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protection through proactive notification of compromised credentials before exploitation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successful phishing impact through early detection and forced credential rotation</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requirements for authentication security monitoring</a:t>
            </a:r>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dark web credential monitoring with immediate alert on bank credential detection</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Forced password reset workflow for confirmed compromised credentials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Credential stuffing attack detection and automated IP blocking within 5 minutes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credential risk report for CISO showing compromise trends and remediation metrics</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Dark web monitoring identifies compromised credentials for bank employees/customers within 48 hours of dump</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Credential stuffing attacks detected and blocked within 5 minutes of onset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Password spray detection identifies slow-rate attacks with &lt;10% false positive rate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Zero successful account compromises using credentials detected in dark web monitoring feeds</a:t>
            </a:r>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Dark web credential matching against bank customer and employee identity databases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Credential stuffing attack detection through login velocity, failure rates, and source IP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Password spray detection identifying slow-rate attacks across many accounts from distributed sources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Compromised credential prioritization by account privilege level and data access scope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Phishing campaign detection through authentication anomaly patterns post-phishing email delivery</a:t>
            </a:r>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Dark web monitoring coverage — not all credential dumps are publicly accessible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credential matching requires careful handling of sensitive authentication data</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Credential stuffing attacks increasingly use residential proxy networks evading IP-based detection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Password reset fatigue — frequent forced resets degrade user experience without improving security</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Dark web monitoring feeds (credential dumps, paste sites, underground forums)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Authentication logs (login success/failure patterns, source IP, timing)</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Identity management system data (password age, MFA enrollment, access privileges)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Threat intelligence on credential-targeting campaigns against banking sector</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email domain registration data for typo-squatting detection</a:t>
            </a:r>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Detect compromised employee and customer credentials through dark web monitoring, credential stuffing detection, and password spray identification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Banking credentials command premium prices on dark web marketplaces — PKR 5,000-50,000 per account depending on balance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Credential reuse across personal and corporate accounts means a breach at any service can compromise bank access</a:t>
            </a:r>
            <a:endParaRPr sz="95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Information Security</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p="http://schemas.openxmlformats.org/presentationml/2006/main" xmlns:r="http://schemas.openxmlformats.org/officeDocument/2006/relationships">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advanced persistent threats (APTs) that bypass traditional perimeter defenses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dwell time (time from breach to detection) from 200+ days to &lt;30 days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network security requirements and PCI-DSS network monitoring mandates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SOC analyst productivity improvement through automated traffic analysis and alert prioritization</a:t>
            </a:r>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threat detection platform providing real-time visibility across all network segments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Lateral movement alerts identifying potential breach propagation within internal network</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C2 beacon detection for early identification of compromised endpoints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 integration dashboard correlating network indicators with endpoint and application events</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monitoring covers 80%+ of critical network segments including DMZ and server zones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Lateral movement detection identifies test scenarios within 30 minutes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C2 beaconing detection rate &gt;90% for known C2 framework signatures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 analyst investigation time reduced by 40% through automated network context enrichment</a:t>
            </a:r>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traffic baseline modeling with anomaly detection for unusual communication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Lateral movement detection through internal traffic analysis (east-west traffic anomalies)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traffic analysis using JA3/JA3S fingerprinting and flow metadata analysis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Beaconing detection identifying command-and-control communication patterns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Protocol anomaly detection for covert channels and tunneling within legitimate protocols</a:t>
            </a:r>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Packet capture volume at banking network speeds requires significant storage and processing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Encrypted traffic (TLS 1.3) limits deep packet inspection capability</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segmentation in banking creates blind spots between security zones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Alert volume from network monitoring requires sophisticated correlation to reduce noise</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Network packet capture data from TAPs and SPANs at critical network segments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IDS/IPS alert data (Snort, Suricata) with signature match details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NetFlow/sFlow data from routers and switches for traffic pattern analysis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DNS query logs and HTTP/HTTPS metadata; Threat intelligence feeds (IOCs, TTPs)</a:t>
            </a:r>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Deploy network traffic analysis for threat detection integrating IDS/IPS analytics, encrypted traffic analysis, and lateral movement detection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SOC teams need analytics to identify advanced threats that evade signature-based detection</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network security requirements mandate packet-level monitoring capabilities for critical banking infrastructure</a:t>
            </a:r>
            <a:endParaRPr sz="95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Security Operations Center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p="http://schemas.openxmlformats.org/presentationml/2006/main" xmlns:r="http://schemas.openxmlformats.org/officeDocument/2006/relationships">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Unified security visibility across all IT assets, applications, and network infrastructure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mean time to detect (MTTD) and respond (MTTR) to cyber incidents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SBP IT Security Guidelines, PCI-DSS, and SWIFT CSP requirements</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threat hunting identifying advanced threats before they cause damage or data breach</a:t>
            </a:r>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Operational SOC with 24/7 monitoring, detection, and response capability</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MITRE ATT&amp;CK coverage assessment showing detection capability across threat techniques</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incident response for common scenarios (phishing, malware, account compromise)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Monthly cyber threat intelligence report contextualizing global threats to Pakistan banking</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SIEM operational with 50+ log sources integrated and MITRE ATT&amp;CK coverage &gt;60%</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Mean time to detect (MTTD) &lt;4 hours for simulated attack scenarios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 response automation handles 50%+ of common incident types without manual intervention</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SBP IT Security audit confirms cybersecurity analytics meets guideline requirements</a:t>
            </a:r>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SIEM correlation rules mapped to MITRE ATT&amp;CK framework for comprehensive threat coverage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Threat hunting playbooks based on banking-sector TTPs (tactics, techniques, procedures)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 response automation (SOAR) for common incident types reducing manual response steps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Threat intelligence platform (TIP) integrating multiple feeds with automated IOC matching</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metrics and KPI dashboard for CISO and Board Risk Committee reporting</a:t>
            </a:r>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SIEM deployment across diverse banking IT environment (legacy + modern + cloud)</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Skilled SOC analyst shortage in Pakistan’s cybersecurity talent market</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Alert volume management — typical banking SIEM generates 10,000+ events/day requiring triage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Keeping threat detection current as attacker TTPs evolve faster than detection rules</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SIEM event data aggregated from 50+ security and infrastructure sources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Endpoint detection and response (EDR) telemetry from workstations and servers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Cloud security logs (if applicable) from Azure/AWS/GCP deployments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Threat intelligence feeds (commercial, CERT, sector-specific ISAC, SBP advisories)</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Vulnerability scan data and penetration test findings</a:t>
            </a:r>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Build comprehensive cybersecurity analytics program integrating SIEM, threat hunting, incident response, and threat intelligence capabilities</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Pakistan’s banking sector faces increasing cyber threats including state-sponsored attacks, ransomware, and supply chain compromise</a:t>
            </a:r>
            <a:endParaRPr sz="950">
              <a:solidFill>
                <a:srgbClr val="3C3C3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SBP IT Security Guidelines mandate security operations and analytics capabilities for all scheduled banks</a:t>
            </a:r>
            <a:endParaRPr sz="95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CISO Office</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