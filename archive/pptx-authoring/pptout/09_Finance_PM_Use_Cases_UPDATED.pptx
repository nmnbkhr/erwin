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7.xml" ContentType="application/vnd.openxmlformats-officedocument.presentationml.notesSlide+xml"/>
  <Override PartName="/ppt/notesSlides/notesSlide199.xml" ContentType="application/vnd.openxmlformats-officedocument.presentationml.notesSlide+xml"/>
  <Override PartName="/ppt/notesSlides/notesSlide204.xml" ContentType="application/vnd.openxmlformats-officedocument.presentationml.notesSlide+xml"/>
  <Override PartName="/ppt/notesSlides/notesSlide206.xml" ContentType="application/vnd.openxmlformats-officedocument.presentationml.notesSlide+xml"/>
  <Override PartName="/ppt/notesSlides/notesSlide208.xml" ContentType="application/vnd.openxmlformats-officedocument.presentationml.notesSlide+xml"/>
  <Override PartName="/ppt/notesSlides/notesSlide210.xml" ContentType="application/vnd.openxmlformats-officedocument.presentationml.notesSlide+xml"/>
  <Override PartName="/ppt/notesSlides/notesSlide212.xml" ContentType="application/vnd.openxmlformats-officedocument.presentationml.notesSlide+xml"/>
  <Override PartName="/ppt/notesSlides/notesSlide214.xml" ContentType="application/vnd.openxmlformats-officedocument.presentationml.notesSlide+xml"/>
  <Override PartName="/ppt/notesSlides/notesSlide216.xml" ContentType="application/vnd.openxmlformats-officedocument.presentationml.notesSlide+xml"/>
  <Override PartName="/ppt/notesSlides/notesSlide218.xml" ContentType="application/vnd.openxmlformats-officedocument.presentationml.notesSlide+xml"/>
  <Override PartName="/ppt/notesSlides/notesSlide220.xml" ContentType="application/vnd.openxmlformats-officedocument.presentationml.notesSlide+xml"/>
  <Override PartName="/ppt/notesSlides/notesSlide222.xml" ContentType="application/vnd.openxmlformats-officedocument.presentationml.notesSlide+xml"/>
  <Override PartName="/ppt/notesSlides/notesSlide224.xml" ContentType="application/vnd.openxmlformats-officedocument.presentationml.notesSlide+xml"/>
  <Override PartName="/ppt/notesSlides/notesSlide229.xml" ContentType="application/vnd.openxmlformats-officedocument.presentationml.notesSlide+xml"/>
  <Override PartName="/ppt/notesSlides/notesSlide231.xml" ContentType="application/vnd.openxmlformats-officedocument.presentationml.notesSlide+xml"/>
  <Override PartName="/ppt/notesSlides/notesSlide233.xml" ContentType="application/vnd.openxmlformats-officedocument.presentationml.notesSlide+xml"/>
  <Override PartName="/ppt/notesSlides/notesSlide235.xml" ContentType="application/vnd.openxmlformats-officedocument.presentationml.notesSlide+xml"/>
  <Override PartName="/ppt/notesSlides/notesSlide237.xml" ContentType="application/vnd.openxmlformats-officedocument.presentationml.notesSlide+xml"/>
  <Override PartName="/ppt/notesSlides/notesSlide239.xml" ContentType="application/vnd.openxmlformats-officedocument.presentationml.notesSlide+xml"/>
  <Override PartName="/ppt/notesSlides/notesSlide241.xml" ContentType="application/vnd.openxmlformats-officedocument.presentationml.notesSlide+xml"/>
  <Override PartName="/ppt/notesSlides/notesSlide243.xml" ContentType="application/vnd.openxmlformats-officedocument.presentationml.notesSlide+xml"/>
  <Override PartName="/ppt/notesSlides/notesSlide245.xml" ContentType="application/vnd.openxmlformats-officedocument.presentationml.notesSlide+xml"/>
  <Override PartName="/ppt/notesSlides/notesSlide247.xml" ContentType="application/vnd.openxmlformats-officedocument.presentationml.notesSlide+xml"/>
  <Override PartName="/ppt/notesSlides/notesSlide249.xml" ContentType="application/vnd.openxmlformats-officedocument.presentationml.notesSlide+xml"/>
  <Override PartName="/ppt/notesSlides/notesSlide251.xml" ContentType="application/vnd.openxmlformats-officedocument.presentationml.notesSlide+xml"/>
  <Override PartName="/ppt/notesSlides/notesSlide256.xml" ContentType="application/vnd.openxmlformats-officedocument.presentationml.notesSlide+xml"/>
  <Override PartName="/ppt/notesSlides/notesSlide258.xml" ContentType="application/vnd.openxmlformats-officedocument.presentationml.notesSlide+xml"/>
  <Override PartName="/ppt/notesSlides/notesSlide260.xml" ContentType="application/vnd.openxmlformats-officedocument.presentationml.notesSlide+xml"/>
  <Override PartName="/ppt/notesSlides/notesSlide262.xml" ContentType="application/vnd.openxmlformats-officedocument.presentationml.notesSlide+xml"/>
  <Override PartName="/ppt/notesSlides/notesSlide264.xml" ContentType="application/vnd.openxmlformats-officedocument.presentationml.notesSlide+xml"/>
  <Override PartName="/ppt/notesSlides/notesSlide266.xml" ContentType="application/vnd.openxmlformats-officedocument.presentationml.notesSlide+xml"/>
  <Override PartName="/ppt/notesSlides/notesSlide268.xml" ContentType="application/vnd.openxmlformats-officedocument.presentationml.notesSlide+xml"/>
  <Override PartName="/ppt/notesSlides/notesSlide270.xml" ContentType="application/vnd.openxmlformats-officedocument.presentationml.notesSlide+xml"/>
  <Override PartName="/ppt/notesSlides/notesSlide275.xml" ContentType="application/vnd.openxmlformats-officedocument.presentationml.notesSlide+xml"/>
  <Override PartName="/ppt/notesSlides/notesSlide277.xml" ContentType="application/vnd.openxmlformats-officedocument.presentationml.notesSlide+xml"/>
  <Override PartName="/ppt/notesSlides/notesSlide279.xml" ContentType="application/vnd.openxmlformats-officedocument.presentationml.notesSlide+xml"/>
  <Override PartName="/ppt/notesSlides/notesSlide281.xml" ContentType="application/vnd.openxmlformats-officedocument.presentationml.notesSlide+xml"/>
  <Override PartName="/ppt/notesSlides/notesSlide283.xml" ContentType="application/vnd.openxmlformats-officedocument.presentationml.notesSlide+xml"/>
  <Override PartName="/ppt/notesSlides/notesSlide285.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7.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4.xml" ContentType="application/vnd.openxmlformats-officedocument.presentationml.slide+xml"/>
  <Override PartName="/ppt/slides/slide206.xml" ContentType="application/vnd.openxmlformats-officedocument.presentationml.slide+xml"/>
  <Override PartName="/ppt/slides/slide208.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2.xml" ContentType="application/vnd.openxmlformats-officedocument.presentationml.slide+xml"/>
  <Override PartName="/ppt/slides/slide214.xml" ContentType="application/vnd.openxmlformats-officedocument.presentationml.slide+xml"/>
  <Override PartName="/ppt/slides/slide216.xml" ContentType="application/vnd.openxmlformats-officedocument.presentationml.slide+xml"/>
  <Override PartName="/ppt/slides/slide218.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2.xml" ContentType="application/vnd.openxmlformats-officedocument.presentationml.slide+xml"/>
  <Override PartName="/ppt/slides/slide224.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1.xml" ContentType="application/vnd.openxmlformats-officedocument.presentationml.slide+xml"/>
  <Override PartName="/ppt/slides/slide233.xml" ContentType="application/vnd.openxmlformats-officedocument.presentationml.slide+xml"/>
  <Override PartName="/ppt/slides/slide235.xml" ContentType="application/vnd.openxmlformats-officedocument.presentationml.slide+xml"/>
  <Override PartName="/ppt/slides/slide237.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1.xml" ContentType="application/vnd.openxmlformats-officedocument.presentationml.slide+xml"/>
  <Override PartName="/ppt/slides/slide243.xml" ContentType="application/vnd.openxmlformats-officedocument.presentationml.slide+xml"/>
  <Override PartName="/ppt/slides/slide245.xml" ContentType="application/vnd.openxmlformats-officedocument.presentationml.slide+xml"/>
  <Override PartName="/ppt/slides/slide247.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1.xml" ContentType="application/vnd.openxmlformats-officedocument.presentationml.slide+xml"/>
  <Override PartName="/ppt/slides/slide256.xml" ContentType="application/vnd.openxmlformats-officedocument.presentationml.slide+xml"/>
  <Override PartName="/ppt/slides/slide258.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2.xml" ContentType="application/vnd.openxmlformats-officedocument.presentationml.slide+xml"/>
  <Override PartName="/ppt/slides/slide264.xml" ContentType="application/vnd.openxmlformats-officedocument.presentationml.slide+xml"/>
  <Override PartName="/ppt/slides/slide266.xml" ContentType="application/vnd.openxmlformats-officedocument.presentationml.slide+xml"/>
  <Override PartName="/ppt/slides/slide268.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5.xml" ContentType="application/vnd.openxmlformats-officedocument.presentationml.slide+xml"/>
  <Override PartName="/ppt/slides/slide277.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1.xml" ContentType="application/vnd.openxmlformats-officedocument.presentationml.slide+xml"/>
  <Override PartName="/ppt/slides/slide283.xml" ContentType="application/vnd.openxmlformats-officedocument.presentationml.slide+xml"/>
  <Override PartName="/ppt/slides/slide285.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notesSlides/notesSlide620.xml" ContentType="application/vnd.openxmlformats-officedocument.presentationml.notesSlide+xml"/>
  <Override PartName="/ppt/notesSlides/notesSlide621.xml" ContentType="application/vnd.openxmlformats-officedocument.presentationml.notesSlide+xml"/>
  <Override PartName="/ppt/notesSlides/notesSlide6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5"/>
  </p:sldMasterIdLst>
  <p:notesMasterIdLst>
    <p:notesMasterId r:id="rId6"/>
  </p:notesMasterIdLst>
  <p:sldIdLst>
    <p:sldId id="600" r:id="rId632"/>
    <p:sldId id="601" r:id="rId633"/>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602" r:id="rId634"/>
    <p:sldId id="573" r:id="rId324"/>
  </p:sldIdLst>
  <p:sldSz cy="5143500" cx="9144000"/>
  <p:notesSz cx="6858000" cy="9945675"/>
  <p:embeddedFontLst>
    <p:embeddedFont>
      <p:font typeface="Noto Sans Symbols"/>
      <p:regular r:id="rId626"/>
      <p:bold r:id="rId627"/>
    </p:embeddedFont>
    <p:embeddedFont>
      <p:font typeface="Century Gothic"/>
      <p:regular r:id="rId628"/>
      <p:bold r:id="rId629"/>
      <p:italic r:id="rId630"/>
      <p:boldItalic r:id="rId6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776">
          <p15:clr>
            <a:srgbClr val="A4A3A4"/>
          </p15:clr>
        </p15:guide>
        <p15:guide id="4" pos="1764">
          <p15:clr>
            <a:srgbClr val="A4A3A4"/>
          </p15:clr>
        </p15:guide>
        <p15:guide id="5" orient="horz" pos="2229">
          <p15:clr>
            <a:srgbClr val="A4A3A4"/>
          </p15:clr>
        </p15:guide>
        <p15:guide id="6" orient="horz" pos="3140">
          <p15:clr>
            <a:srgbClr val="A4A3A4"/>
          </p15:clr>
        </p15:guide>
        <p15:guide id="7" orient="horz" pos="311">
          <p15:clr>
            <a:srgbClr val="A4A3A4"/>
          </p15:clr>
        </p15:guide>
        <p15:guide id="8" orient="horz" pos="1593">
          <p15:clr>
            <a:srgbClr val="A4A3A4"/>
          </p15:clr>
        </p15:guide>
        <p15:guide id="9" pos="5696">
          <p15:clr>
            <a:srgbClr val="A4A3A4"/>
          </p15:clr>
        </p15:guide>
        <p15:guide id="10" pos="706">
          <p15:clr>
            <a:srgbClr val="A4A3A4"/>
          </p15:clr>
        </p15:guide>
        <p15:guide id="11" pos="2941">
          <p15:clr>
            <a:srgbClr val="A4A3A4"/>
          </p15:clr>
        </p15:guide>
        <p15:guide id="12" pos="91">
          <p15:clr>
            <a:srgbClr val="A4A3A4"/>
          </p15:clr>
        </p15:guide>
        <p15:guide id="13" orient="horz" pos="105">
          <p15:clr>
            <a:srgbClr val="000000"/>
          </p15:clr>
        </p15:guide>
        <p15:guide id="14" orient="horz" pos="1616">
          <p15:clr>
            <a:srgbClr val="000000"/>
          </p15:clr>
        </p15:guide>
        <p15:guide id="15" orient="horz" pos="567">
          <p15:clr>
            <a:srgbClr val="000000"/>
          </p15:clr>
        </p15:guide>
        <p15:guide id="16" orient="horz" pos="3034">
          <p15:clr>
            <a:srgbClr val="000000"/>
          </p15:clr>
        </p15:guide>
        <p15:guide id="17" orient="horz" pos="332">
          <p15:clr>
            <a:srgbClr val="000000"/>
          </p15:clr>
        </p15:guide>
        <p15:guide id="18" pos="239">
          <p15:clr>
            <a:srgbClr val="000000"/>
          </p15:clr>
        </p15:guide>
        <p15:guide id="19" pos="5557">
          <p15:clr>
            <a:srgbClr val="000000"/>
          </p15:clr>
        </p15:guide>
        <p15:guide id="20" pos="2914">
          <p15:clr>
            <a:srgbClr val="000000"/>
          </p15:clr>
        </p15:guide>
      </p15:sldGuideLst>
    </p:ext>
    <p:ext uri="{2D200454-40CA-4A62-9FC3-DE9A4176ACB9}">
      <p15:notesGuideLst>
        <p15:guide id="1" orient="horz" pos="2880">
          <p15:clr>
            <a:srgbClr val="A4A3A4"/>
          </p15:clr>
        </p15:guide>
        <p15:guide id="2" pos="2160">
          <p15:clr>
            <a:srgbClr val="A4A3A4"/>
          </p15:clr>
        </p15:guide>
        <p15:guide id="3" orient="horz" pos="3133">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98BFCB-6916-41F2-A2A5-0DF0D5139B6F}">
  <a:tblStyle styleId="{D098BFCB-6916-41F2-A2A5-0DF0D5139B6F}"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BEDE7"/>
          </a:solidFill>
        </a:fill>
      </a:tcStyle>
    </a:wholeTbl>
    <a:band1H>
      <a:tcTxStyle/>
      <a:tcStyle>
        <a:fill>
          <a:solidFill>
            <a:srgbClr val="F8D9CB"/>
          </a:solidFill>
        </a:fill>
      </a:tcStyle>
    </a:band1H>
    <a:band2H>
      <a:tcTxStyle/>
    </a:band2H>
    <a:band1V>
      <a:tcTxStyle/>
      <a:tcStyle>
        <a:fill>
          <a:solidFill>
            <a:srgbClr val="F8D9CB"/>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776"/>
        <p:guide pos="1764"/>
        <p:guide pos="2229" orient="horz"/>
        <p:guide pos="3140" orient="horz"/>
        <p:guide pos="311" orient="horz"/>
        <p:guide pos="1593" orient="horz"/>
        <p:guide pos="5696"/>
        <p:guide pos="706"/>
        <p:guide pos="2941"/>
        <p:guide pos="91"/>
        <p:guide pos="105" orient="horz"/>
        <p:guide pos="1616" orient="horz"/>
        <p:guide pos="567" orient="horz"/>
        <p:guide pos="3034" orient="horz"/>
        <p:guide pos="332" orient="horz"/>
        <p:guide pos="239"/>
        <p:guide pos="5557"/>
        <p:guide pos="2914"/>
      </p:guideLst>
    </p:cSldViewPr>
  </p:slideViewPr>
  <p:notesViewPr>
    <p:cSldViewPr snapToGrid="0">
      <p:cViewPr varScale="1">
        <p:scale>
          <a:sx n="100" d="100"/>
          <a:sy n="100" d="100"/>
        </p:scale>
        <p:origin x="0" y="0"/>
      </p:cViewPr>
      <p:guideLst>
        <p:guide pos="2880" orient="horz"/>
        <p:guide pos="2160"/>
        <p:guide pos="3133" orient="horz"/>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293" Type="http://schemas.openxmlformats.org/officeDocument/2006/relationships/slide" Target="slides/slide1.xml"/><Relationship Id="rId294" Type="http://schemas.openxmlformats.org/officeDocument/2006/relationships/slide" Target="slides/slide2.xml"/><Relationship Id="rId295" Type="http://schemas.openxmlformats.org/officeDocument/2006/relationships/slide" Target="slides/slide3.xml"/><Relationship Id="rId296" Type="http://schemas.openxmlformats.org/officeDocument/2006/relationships/slide" Target="slides/slide4.xml"/><Relationship Id="rId297" Type="http://schemas.openxmlformats.org/officeDocument/2006/relationships/slide" Target="slides/slide5.xml"/><Relationship Id="rId298" Type="http://schemas.openxmlformats.org/officeDocument/2006/relationships/slide" Target="slides/slide6.xml"/><Relationship Id="rId299" Type="http://schemas.openxmlformats.org/officeDocument/2006/relationships/slide" Target="slides/slide7.xml"/><Relationship Id="rId300" Type="http://schemas.openxmlformats.org/officeDocument/2006/relationships/slide" Target="slides/slide8.xml"/><Relationship Id="rId301" Type="http://schemas.openxmlformats.org/officeDocument/2006/relationships/slide" Target="slides/slide9.xml"/><Relationship Id="rId302" Type="http://schemas.openxmlformats.org/officeDocument/2006/relationships/slide" Target="slides/slide10.xml"/><Relationship Id="rId303" Type="http://schemas.openxmlformats.org/officeDocument/2006/relationships/slide" Target="slides/slide11.xml"/><Relationship Id="rId304" Type="http://schemas.openxmlformats.org/officeDocument/2006/relationships/slide" Target="slides/slide12.xml"/><Relationship Id="rId305" Type="http://schemas.openxmlformats.org/officeDocument/2006/relationships/slide" Target="slides/slide13.xml"/><Relationship Id="rId306" Type="http://schemas.openxmlformats.org/officeDocument/2006/relationships/slide" Target="slides/slide14.xml"/><Relationship Id="rId307" Type="http://schemas.openxmlformats.org/officeDocument/2006/relationships/slide" Target="slides/slide15.xml"/><Relationship Id="rId308" Type="http://schemas.openxmlformats.org/officeDocument/2006/relationships/slide" Target="slides/slide16.xml"/><Relationship Id="rId309" Type="http://schemas.openxmlformats.org/officeDocument/2006/relationships/slide" Target="slides/slide17.xml"/><Relationship Id="rId310" Type="http://schemas.openxmlformats.org/officeDocument/2006/relationships/slide" Target="slides/slide18.xml"/><Relationship Id="rId311" Type="http://schemas.openxmlformats.org/officeDocument/2006/relationships/slide" Target="slides/slide19.xml"/><Relationship Id="rId312" Type="http://schemas.openxmlformats.org/officeDocument/2006/relationships/slide" Target="slides/slide20.xml"/><Relationship Id="rId313" Type="http://schemas.openxmlformats.org/officeDocument/2006/relationships/slide" Target="slides/slide21.xml"/><Relationship Id="rId314" Type="http://schemas.openxmlformats.org/officeDocument/2006/relationships/slide" Target="slides/slide22.xml"/><Relationship Id="rId315" Type="http://schemas.openxmlformats.org/officeDocument/2006/relationships/slide" Target="slides/slide23.xml"/><Relationship Id="rId316" Type="http://schemas.openxmlformats.org/officeDocument/2006/relationships/slide" Target="slides/slide24.xml"/><Relationship Id="rId317" Type="http://schemas.openxmlformats.org/officeDocument/2006/relationships/slide" Target="slides/slide25.xml"/><Relationship Id="rId318" Type="http://schemas.openxmlformats.org/officeDocument/2006/relationships/slide" Target="slides/slide26.xml"/><Relationship Id="rId319" Type="http://schemas.openxmlformats.org/officeDocument/2006/relationships/slide" Target="slides/slide27.xml"/><Relationship Id="rId320" Type="http://schemas.openxmlformats.org/officeDocument/2006/relationships/slide" Target="slides/slide28.xml"/><Relationship Id="rId321" Type="http://schemas.openxmlformats.org/officeDocument/2006/relationships/slide" Target="slides/slide29.xml"/><Relationship Id="rId322" Type="http://schemas.openxmlformats.org/officeDocument/2006/relationships/slide" Target="slides/slide30.xml"/><Relationship Id="rId323" Type="http://schemas.openxmlformats.org/officeDocument/2006/relationships/slide" Target="slides/slide31.xml"/><Relationship Id="rId324" Type="http://schemas.openxmlformats.org/officeDocument/2006/relationships/slide" Target="slides/slide32.xml"/><Relationship Id="rId626" Type="http://schemas.openxmlformats.org/officeDocument/2006/relationships/font" Target="fonts/NotoSansSymbols-regular.fntdata"/><Relationship Id="rId627" Type="http://schemas.openxmlformats.org/officeDocument/2006/relationships/font" Target="fonts/NotoSansSymbols-bold.fntdata"/><Relationship Id="rId628" Type="http://schemas.openxmlformats.org/officeDocument/2006/relationships/font" Target="fonts/CenturyGothic-regular.fntdata"/><Relationship Id="rId629" Type="http://schemas.openxmlformats.org/officeDocument/2006/relationships/font" Target="fonts/CenturyGothic-bold.fntdata"/><Relationship Id="rId630" Type="http://schemas.openxmlformats.org/officeDocument/2006/relationships/font" Target="fonts/CenturyGothic-italic.fntdata"/><Relationship Id="rId631" Type="http://schemas.openxmlformats.org/officeDocument/2006/relationships/font" Target="fonts/CenturyGothic-boldItalic.fntdata"/><Relationship Id="rId632" Type="http://schemas.openxmlformats.org/officeDocument/2006/relationships/slide" Target="slides/slide620.xml"/><Relationship Id="rId633" Type="http://schemas.openxmlformats.org/officeDocument/2006/relationships/slide" Target="slides/slide621.xml"/><Relationship Id="rId634" Type="http://schemas.openxmlformats.org/officeDocument/2006/relationships/slide" Target="slides/slide6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972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 name="Google Shape;4;n"/>
          <p:cNvSpPr txBox="1"/>
          <p:nvPr>
            <p:ph idx="10" type="dt"/>
          </p:nvPr>
        </p:nvSpPr>
        <p:spPr>
          <a:xfrm>
            <a:off x="3884613" y="0"/>
            <a:ext cx="2971800" cy="497284"/>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 name="Google Shape;5;n"/>
          <p:cNvSpPr/>
          <p:nvPr>
            <p:ph idx="3"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lvl1pPr indent="-304800" lvl="0" marL="457200" marR="0" rtl="0" algn="l">
              <a:lnSpc>
                <a:spcPct val="95000"/>
              </a:lnSpc>
              <a:spcBef>
                <a:spcPts val="4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1pPr>
            <a:lvl2pPr indent="-304800" lvl="1" marL="9144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2pPr>
            <a:lvl3pPr indent="-304800" lvl="2" marL="13716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3pPr>
            <a:lvl4pPr indent="-304800" lvl="3" marL="18288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4pPr>
            <a:lvl5pPr indent="-304800" lvl="4" marL="22860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5pPr>
            <a:lvl6pPr indent="-228600" lvl="5" marL="27432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6pPr>
            <a:lvl7pPr indent="-228600" lvl="6" marL="32004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7pPr>
            <a:lvl8pPr indent="-228600" lvl="7" marL="36576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8pPr>
            <a:lvl9pPr indent="-228600" lvl="8" marL="41148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9pPr>
          </a:lstStyle>
          <a:p/>
        </p:txBody>
      </p:sp>
      <p:sp>
        <p:nvSpPr>
          <p:cNvPr id="7" name="Google Shape;7;n"/>
          <p:cNvSpPr txBox="1"/>
          <p:nvPr/>
        </p:nvSpPr>
        <p:spPr>
          <a:xfrm>
            <a:off x="286468" y="9509858"/>
            <a:ext cx="109004" cy="10772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GB" sz="700" u="none" cap="none" strike="noStrike">
                <a:solidFill>
                  <a:schemeClr val="lt2"/>
                </a:solidFill>
                <a:latin typeface="Century Gothic"/>
                <a:ea typeface="Century Gothic"/>
                <a:cs typeface="Century Gothic"/>
                <a:sym typeface="Century Gothic"/>
              </a:rPr>
              <a:t>‹#›</a:t>
            </a:fld>
            <a:endParaRPr b="0" i="0" sz="700" u="none" cap="none" strike="noStrike">
              <a:solidFill>
                <a:schemeClr val="lt2"/>
              </a:solidFill>
              <a:latin typeface="Century Gothic"/>
              <a:ea typeface="Century Gothic"/>
              <a:cs typeface="Century Gothic"/>
              <a:sym typeface="Century Gothic"/>
            </a:endParaRPr>
          </a:p>
        </p:txBody>
      </p:sp>
      <p:grpSp>
        <p:nvGrpSpPr>
          <p:cNvPr id="8" name="Google Shape;8;n"/>
          <p:cNvGrpSpPr/>
          <p:nvPr/>
        </p:nvGrpSpPr>
        <p:grpSpPr>
          <a:xfrm>
            <a:off x="6010878" y="9504586"/>
            <a:ext cx="531812" cy="129502"/>
            <a:chOff x="5137" y="4139"/>
            <a:chExt cx="335" cy="75"/>
          </a:xfrm>
        </p:grpSpPr>
        <p:sp>
          <p:nvSpPr>
            <p:cNvPr id="9" name="Google Shape;9;n"/>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0" name="Google Shape;10;n"/>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11" name="Google Shape;11;n"/>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sz="700">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0.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621.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622.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8" name="Shape 3928"/>
        <p:cNvGrpSpPr/>
        <p:nvPr/>
      </p:nvGrpSpPr>
      <p:grpSpPr>
        <a:xfrm>
          <a:off x="0" y="0"/>
          <a:ext cx="0" cy="0"/>
          <a:chOff x="0" y="0"/>
          <a:chExt cx="0" cy="0"/>
        </a:xfrm>
      </p:grpSpPr>
      <p:sp>
        <p:nvSpPr>
          <p:cNvPr id="3929" name="Google Shape;3929;p18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0" name="Google Shape;3930;p18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
        <p:nvSpPr>
          <p:cNvPr id="3931" name="Google Shape;3931;p183: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2" name="Shape 3952"/>
        <p:cNvGrpSpPr/>
        <p:nvPr/>
      </p:nvGrpSpPr>
      <p:grpSpPr>
        <a:xfrm>
          <a:off x="0" y="0"/>
          <a:ext cx="0" cy="0"/>
          <a:chOff x="0" y="0"/>
          <a:chExt cx="0" cy="0"/>
        </a:xfrm>
      </p:grpSpPr>
      <p:sp>
        <p:nvSpPr>
          <p:cNvPr id="3953" name="Google Shape;3953;p18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4" name="Google Shape;3954;p18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
        <p:nvSpPr>
          <p:cNvPr id="3955" name="Google Shape;3955;p184: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2" name="Shape 3982"/>
        <p:cNvGrpSpPr/>
        <p:nvPr/>
      </p:nvGrpSpPr>
      <p:grpSpPr>
        <a:xfrm>
          <a:off x="0" y="0"/>
          <a:ext cx="0" cy="0"/>
          <a:chOff x="0" y="0"/>
          <a:chExt cx="0" cy="0"/>
        </a:xfrm>
      </p:grpSpPr>
      <p:sp>
        <p:nvSpPr>
          <p:cNvPr id="3983" name="Google Shape;3983;p18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4" name="Google Shape;3984;p18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
        <p:nvSpPr>
          <p:cNvPr id="3985" name="Google Shape;3985;p185: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3" name="Shape 4013"/>
        <p:cNvGrpSpPr/>
        <p:nvPr/>
      </p:nvGrpSpPr>
      <p:grpSpPr>
        <a:xfrm>
          <a:off x="0" y="0"/>
          <a:ext cx="0" cy="0"/>
          <a:chOff x="0" y="0"/>
          <a:chExt cx="0" cy="0"/>
        </a:xfrm>
      </p:grpSpPr>
      <p:sp>
        <p:nvSpPr>
          <p:cNvPr id="4014" name="Google Shape;4014;p18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5" name="Google Shape;4015;p18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
        <p:nvSpPr>
          <p:cNvPr id="4016" name="Google Shape;4016;p186: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0" name="Shape 4040"/>
        <p:cNvGrpSpPr/>
        <p:nvPr/>
      </p:nvGrpSpPr>
      <p:grpSpPr>
        <a:xfrm>
          <a:off x="0" y="0"/>
          <a:ext cx="0" cy="0"/>
          <a:chOff x="0" y="0"/>
          <a:chExt cx="0" cy="0"/>
        </a:xfrm>
      </p:grpSpPr>
      <p:sp>
        <p:nvSpPr>
          <p:cNvPr id="4041" name="Google Shape;4041;p18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2" name="Google Shape;4042;p18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
        <p:nvSpPr>
          <p:cNvPr id="4043" name="Google Shape;4043;p187: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6" name="Shape 4066"/>
        <p:cNvGrpSpPr/>
        <p:nvPr/>
      </p:nvGrpSpPr>
      <p:grpSpPr>
        <a:xfrm>
          <a:off x="0" y="0"/>
          <a:ext cx="0" cy="0"/>
          <a:chOff x="0" y="0"/>
          <a:chExt cx="0" cy="0"/>
        </a:xfrm>
      </p:grpSpPr>
      <p:sp>
        <p:nvSpPr>
          <p:cNvPr id="4067" name="Google Shape;4067;p18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8" name="Google Shape;4068;p18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The colours of the triangles indicate the type of Use Case:</a:t>
            </a:r>
            <a:endParaRPr/>
          </a:p>
          <a:p>
            <a:pPr indent="-111125" lvl="1" marL="284163" rtl="0" algn="l">
              <a:lnSpc>
                <a:spcPct val="85000"/>
              </a:lnSpc>
              <a:spcBef>
                <a:spcPts val="100"/>
              </a:spcBef>
              <a:spcAft>
                <a:spcPts val="0"/>
              </a:spcAft>
              <a:buClr>
                <a:schemeClr val="dk1"/>
              </a:buClr>
              <a:buSzPts val="1200"/>
              <a:buChar char="•"/>
            </a:pPr>
            <a:r>
              <a:rPr lang="en-GB"/>
              <a:t>Orange = Traditional Teradata / Data Warehouse</a:t>
            </a:r>
            <a:endParaRPr/>
          </a:p>
          <a:p>
            <a:pPr indent="-111125" lvl="1" marL="284163" rtl="0" algn="l">
              <a:lnSpc>
                <a:spcPct val="85000"/>
              </a:lnSpc>
              <a:spcBef>
                <a:spcPts val="100"/>
              </a:spcBef>
              <a:spcAft>
                <a:spcPts val="0"/>
              </a:spcAft>
              <a:buClr>
                <a:schemeClr val="dk1"/>
              </a:buClr>
              <a:buSzPts val="1200"/>
              <a:buChar char="•"/>
            </a:pPr>
            <a:r>
              <a:rPr lang="en-GB"/>
              <a:t>Red = ‘Big Data’ / Advanced Analytics</a:t>
            </a:r>
            <a:endParaRPr/>
          </a:p>
          <a:p>
            <a:pPr indent="-111125" lvl="1" marL="284163" rtl="0" algn="l">
              <a:lnSpc>
                <a:spcPct val="85000"/>
              </a:lnSpc>
              <a:spcBef>
                <a:spcPts val="100"/>
              </a:spcBef>
              <a:spcAft>
                <a:spcPts val="0"/>
              </a:spcAft>
              <a:buClr>
                <a:schemeClr val="dk1"/>
              </a:buClr>
              <a:buSzPts val="1200"/>
              <a:buChar char="•"/>
            </a:pPr>
            <a:r>
              <a:rPr lang="en-GB"/>
              <a:t>Blue = Non-Analytical Hadoop / Data Lake use case (e.g. Archiving)</a:t>
            </a:r>
            <a:endParaRPr/>
          </a:p>
        </p:txBody>
      </p:sp>
      <p:sp>
        <p:nvSpPr>
          <p:cNvPr id="4069" name="Google Shape;4069;p188: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7" name="Shape 4107"/>
        <p:cNvGrpSpPr/>
        <p:nvPr/>
      </p:nvGrpSpPr>
      <p:grpSpPr>
        <a:xfrm>
          <a:off x="0" y="0"/>
          <a:ext cx="0" cy="0"/>
          <a:chOff x="0" y="0"/>
          <a:chExt cx="0" cy="0"/>
        </a:xfrm>
      </p:grpSpPr>
      <p:sp>
        <p:nvSpPr>
          <p:cNvPr id="4108" name="Google Shape;4108;p18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9" name="Google Shape;4109;p18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The colours of the triangles indicate the type of Use Case:</a:t>
            </a:r>
            <a:endParaRPr/>
          </a:p>
          <a:p>
            <a:pPr indent="-111125" lvl="1" marL="284163" rtl="0" algn="l">
              <a:lnSpc>
                <a:spcPct val="85000"/>
              </a:lnSpc>
              <a:spcBef>
                <a:spcPts val="100"/>
              </a:spcBef>
              <a:spcAft>
                <a:spcPts val="0"/>
              </a:spcAft>
              <a:buClr>
                <a:schemeClr val="dk1"/>
              </a:buClr>
              <a:buSzPts val="1200"/>
              <a:buChar char="•"/>
            </a:pPr>
            <a:r>
              <a:rPr lang="en-GB"/>
              <a:t>Orange = Traditional Teradata / Data Warehouse</a:t>
            </a:r>
            <a:endParaRPr/>
          </a:p>
          <a:p>
            <a:pPr indent="-111125" lvl="1" marL="284163" rtl="0" algn="l">
              <a:lnSpc>
                <a:spcPct val="85000"/>
              </a:lnSpc>
              <a:spcBef>
                <a:spcPts val="100"/>
              </a:spcBef>
              <a:spcAft>
                <a:spcPts val="0"/>
              </a:spcAft>
              <a:buClr>
                <a:schemeClr val="dk1"/>
              </a:buClr>
              <a:buSzPts val="1200"/>
              <a:buChar char="•"/>
            </a:pPr>
            <a:r>
              <a:rPr lang="en-GB"/>
              <a:t>Red = ‘Big Data’ / Advanced Analytics</a:t>
            </a:r>
            <a:endParaRPr/>
          </a:p>
          <a:p>
            <a:pPr indent="-111125" lvl="1" marL="284163" rtl="0" algn="l">
              <a:lnSpc>
                <a:spcPct val="85000"/>
              </a:lnSpc>
              <a:spcBef>
                <a:spcPts val="100"/>
              </a:spcBef>
              <a:spcAft>
                <a:spcPts val="0"/>
              </a:spcAft>
              <a:buClr>
                <a:schemeClr val="dk1"/>
              </a:buClr>
              <a:buSzPts val="1200"/>
              <a:buChar char="•"/>
            </a:pPr>
            <a:r>
              <a:rPr lang="en-GB"/>
              <a:t>Blue = Non-Analytical Hadoop / Data Lake use case (e.g. Archiving)</a:t>
            </a:r>
            <a:endParaRPr/>
          </a:p>
        </p:txBody>
      </p:sp>
      <p:sp>
        <p:nvSpPr>
          <p:cNvPr id="4110" name="Google Shape;4110;p189: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5" name="Shape 4155"/>
        <p:cNvGrpSpPr/>
        <p:nvPr/>
      </p:nvGrpSpPr>
      <p:grpSpPr>
        <a:xfrm>
          <a:off x="0" y="0"/>
          <a:ext cx="0" cy="0"/>
          <a:chOff x="0" y="0"/>
          <a:chExt cx="0" cy="0"/>
        </a:xfrm>
      </p:grpSpPr>
      <p:sp>
        <p:nvSpPr>
          <p:cNvPr id="4156" name="Google Shape;4156;p19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7" name="Google Shape;4157;p19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rPr lang="en-GB"/>
              <a:t>The colours of the triangles indicate the type of Use Case:</a:t>
            </a:r>
            <a:endParaRPr/>
          </a:p>
          <a:p>
            <a:pPr indent="-111125" lvl="1" marL="284163" rtl="0" algn="l">
              <a:lnSpc>
                <a:spcPct val="85000"/>
              </a:lnSpc>
              <a:spcBef>
                <a:spcPts val="100"/>
              </a:spcBef>
              <a:spcAft>
                <a:spcPts val="0"/>
              </a:spcAft>
              <a:buClr>
                <a:schemeClr val="dk1"/>
              </a:buClr>
              <a:buSzPts val="1200"/>
              <a:buChar char="•"/>
            </a:pPr>
            <a:r>
              <a:rPr lang="en-GB"/>
              <a:t>Orange = Traditional Teradata / Data Warehouse</a:t>
            </a:r>
            <a:endParaRPr/>
          </a:p>
          <a:p>
            <a:pPr indent="-111125" lvl="1" marL="284163" rtl="0" algn="l">
              <a:lnSpc>
                <a:spcPct val="85000"/>
              </a:lnSpc>
              <a:spcBef>
                <a:spcPts val="100"/>
              </a:spcBef>
              <a:spcAft>
                <a:spcPts val="0"/>
              </a:spcAft>
              <a:buClr>
                <a:schemeClr val="dk1"/>
              </a:buClr>
              <a:buSzPts val="1200"/>
              <a:buChar char="•"/>
            </a:pPr>
            <a:r>
              <a:rPr lang="en-GB"/>
              <a:t>Red = ‘Big Data’ / Advanced Analytics</a:t>
            </a:r>
            <a:endParaRPr/>
          </a:p>
          <a:p>
            <a:pPr indent="-111125" lvl="1" marL="284163" rtl="0" algn="l">
              <a:lnSpc>
                <a:spcPct val="85000"/>
              </a:lnSpc>
              <a:spcBef>
                <a:spcPts val="100"/>
              </a:spcBef>
              <a:spcAft>
                <a:spcPts val="0"/>
              </a:spcAft>
              <a:buClr>
                <a:schemeClr val="dk1"/>
              </a:buClr>
              <a:buSzPts val="1200"/>
              <a:buChar char="•"/>
            </a:pPr>
            <a:r>
              <a:rPr lang="en-GB"/>
              <a:t>Blue = Non-Analytical Hadoop / Data Lake use case (e.g. Archiving)</a:t>
            </a:r>
            <a:endParaRPr/>
          </a:p>
        </p:txBody>
      </p:sp>
      <p:sp>
        <p:nvSpPr>
          <p:cNvPr id="4158" name="Google Shape;4158;p190: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6" name="Shape 4186"/>
        <p:cNvGrpSpPr/>
        <p:nvPr/>
      </p:nvGrpSpPr>
      <p:grpSpPr>
        <a:xfrm>
          <a:off x="0" y="0"/>
          <a:ext cx="0" cy="0"/>
          <a:chOff x="0" y="0"/>
          <a:chExt cx="0" cy="0"/>
        </a:xfrm>
      </p:grpSpPr>
      <p:sp>
        <p:nvSpPr>
          <p:cNvPr id="4187" name="Google Shape;4187;p191: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
            </a:r>
            <a:endParaRPr/>
          </a:p>
        </p:txBody>
      </p:sp>
      <p:sp>
        <p:nvSpPr>
          <p:cNvPr id="4188" name="Google Shape;4188;p19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7" name="Shape 4267"/>
        <p:cNvGrpSpPr/>
        <p:nvPr/>
      </p:nvGrpSpPr>
      <p:grpSpPr>
        <a:xfrm>
          <a:off x="0" y="0"/>
          <a:ext cx="0" cy="0"/>
          <a:chOff x="0" y="0"/>
          <a:chExt cx="0" cy="0"/>
        </a:xfrm>
      </p:grpSpPr>
      <p:sp>
        <p:nvSpPr>
          <p:cNvPr id="4268" name="Google Shape;4268;p197: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
            </a:r>
            <a:endParaRPr/>
          </a:p>
        </p:txBody>
      </p:sp>
      <p:sp>
        <p:nvSpPr>
          <p:cNvPr id="4269" name="Google Shape;4269;p19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1" name="Shape 4281"/>
        <p:cNvGrpSpPr/>
        <p:nvPr/>
      </p:nvGrpSpPr>
      <p:grpSpPr>
        <a:xfrm>
          <a:off x="0" y="0"/>
          <a:ext cx="0" cy="0"/>
          <a:chOff x="0" y="0"/>
          <a:chExt cx="0" cy="0"/>
        </a:xfrm>
      </p:grpSpPr>
      <p:sp>
        <p:nvSpPr>
          <p:cNvPr id="4282" name="Google Shape;4282;p199: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
            </a:r>
            <a:endParaRPr/>
          </a:p>
        </p:txBody>
      </p:sp>
      <p:sp>
        <p:nvSpPr>
          <p:cNvPr id="4283" name="Google Shape;4283;p19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8" name="Shape 4348"/>
        <p:cNvGrpSpPr/>
        <p:nvPr/>
      </p:nvGrpSpPr>
      <p:grpSpPr>
        <a:xfrm>
          <a:off x="0" y="0"/>
          <a:ext cx="0" cy="0"/>
          <a:chOff x="0" y="0"/>
          <a:chExt cx="0" cy="0"/>
        </a:xfrm>
      </p:grpSpPr>
      <p:sp>
        <p:nvSpPr>
          <p:cNvPr id="4349" name="Google Shape;4349;p204: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350" name="Google Shape;4350;p20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1" name="Google Shape;4351;p20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0" name="Shape 4380"/>
        <p:cNvGrpSpPr/>
        <p:nvPr/>
      </p:nvGrpSpPr>
      <p:grpSpPr>
        <a:xfrm>
          <a:off x="0" y="0"/>
          <a:ext cx="0" cy="0"/>
          <a:chOff x="0" y="0"/>
          <a:chExt cx="0" cy="0"/>
        </a:xfrm>
      </p:grpSpPr>
      <p:sp>
        <p:nvSpPr>
          <p:cNvPr id="4381" name="Google Shape;4381;p206: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382" name="Google Shape;4382;p20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3" name="Google Shape;4383;p20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2" name="Shape 4412"/>
        <p:cNvGrpSpPr/>
        <p:nvPr/>
      </p:nvGrpSpPr>
      <p:grpSpPr>
        <a:xfrm>
          <a:off x="0" y="0"/>
          <a:ext cx="0" cy="0"/>
          <a:chOff x="0" y="0"/>
          <a:chExt cx="0" cy="0"/>
        </a:xfrm>
      </p:grpSpPr>
      <p:sp>
        <p:nvSpPr>
          <p:cNvPr id="4413" name="Google Shape;4413;p208: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414" name="Google Shape;4414;p20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5" name="Google Shape;4415;p20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4" name="Shape 4444"/>
        <p:cNvGrpSpPr/>
        <p:nvPr/>
      </p:nvGrpSpPr>
      <p:grpSpPr>
        <a:xfrm>
          <a:off x="0" y="0"/>
          <a:ext cx="0" cy="0"/>
          <a:chOff x="0" y="0"/>
          <a:chExt cx="0" cy="0"/>
        </a:xfrm>
      </p:grpSpPr>
      <p:sp>
        <p:nvSpPr>
          <p:cNvPr id="4445" name="Google Shape;4445;p210: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446" name="Google Shape;4446;p21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47" name="Google Shape;4447;p21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6" name="Shape 4476"/>
        <p:cNvGrpSpPr/>
        <p:nvPr/>
      </p:nvGrpSpPr>
      <p:grpSpPr>
        <a:xfrm>
          <a:off x="0" y="0"/>
          <a:ext cx="0" cy="0"/>
          <a:chOff x="0" y="0"/>
          <a:chExt cx="0" cy="0"/>
        </a:xfrm>
      </p:grpSpPr>
      <p:sp>
        <p:nvSpPr>
          <p:cNvPr id="4477" name="Google Shape;4477;p212: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478" name="Google Shape;4478;p21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9" name="Google Shape;4479;p21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8" name="Shape 4508"/>
        <p:cNvGrpSpPr/>
        <p:nvPr/>
      </p:nvGrpSpPr>
      <p:grpSpPr>
        <a:xfrm>
          <a:off x="0" y="0"/>
          <a:ext cx="0" cy="0"/>
          <a:chOff x="0" y="0"/>
          <a:chExt cx="0" cy="0"/>
        </a:xfrm>
      </p:grpSpPr>
      <p:sp>
        <p:nvSpPr>
          <p:cNvPr id="4509" name="Google Shape;4509;p214: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510" name="Google Shape;4510;p21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11" name="Google Shape;4511;p21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0" name="Shape 4540"/>
        <p:cNvGrpSpPr/>
        <p:nvPr/>
      </p:nvGrpSpPr>
      <p:grpSpPr>
        <a:xfrm>
          <a:off x="0" y="0"/>
          <a:ext cx="0" cy="0"/>
          <a:chOff x="0" y="0"/>
          <a:chExt cx="0" cy="0"/>
        </a:xfrm>
      </p:grpSpPr>
      <p:sp>
        <p:nvSpPr>
          <p:cNvPr id="4541" name="Google Shape;4541;p216: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542" name="Google Shape;4542;p21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3" name="Google Shape;4543;p21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2" name="Shape 4572"/>
        <p:cNvGrpSpPr/>
        <p:nvPr/>
      </p:nvGrpSpPr>
      <p:grpSpPr>
        <a:xfrm>
          <a:off x="0" y="0"/>
          <a:ext cx="0" cy="0"/>
          <a:chOff x="0" y="0"/>
          <a:chExt cx="0" cy="0"/>
        </a:xfrm>
      </p:grpSpPr>
      <p:sp>
        <p:nvSpPr>
          <p:cNvPr id="4573" name="Google Shape;4573;p218: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574" name="Google Shape;4574;p21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5" name="Google Shape;4575;p21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4" name="Shape 4604"/>
        <p:cNvGrpSpPr/>
        <p:nvPr/>
      </p:nvGrpSpPr>
      <p:grpSpPr>
        <a:xfrm>
          <a:off x="0" y="0"/>
          <a:ext cx="0" cy="0"/>
          <a:chOff x="0" y="0"/>
          <a:chExt cx="0" cy="0"/>
        </a:xfrm>
      </p:grpSpPr>
      <p:sp>
        <p:nvSpPr>
          <p:cNvPr id="4605" name="Google Shape;4605;p220: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606" name="Google Shape;4606;p22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7" name="Google Shape;4607;p22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6" name="Shape 4636"/>
        <p:cNvGrpSpPr/>
        <p:nvPr/>
      </p:nvGrpSpPr>
      <p:grpSpPr>
        <a:xfrm>
          <a:off x="0" y="0"/>
          <a:ext cx="0" cy="0"/>
          <a:chOff x="0" y="0"/>
          <a:chExt cx="0" cy="0"/>
        </a:xfrm>
      </p:grpSpPr>
      <p:sp>
        <p:nvSpPr>
          <p:cNvPr id="4637" name="Google Shape;4637;p222: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638" name="Google Shape;4638;p22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39" name="Google Shape;4639;p22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8" name="Shape 4668"/>
        <p:cNvGrpSpPr/>
        <p:nvPr/>
      </p:nvGrpSpPr>
      <p:grpSpPr>
        <a:xfrm>
          <a:off x="0" y="0"/>
          <a:ext cx="0" cy="0"/>
          <a:chOff x="0" y="0"/>
          <a:chExt cx="0" cy="0"/>
        </a:xfrm>
      </p:grpSpPr>
      <p:sp>
        <p:nvSpPr>
          <p:cNvPr id="4669" name="Google Shape;4669;p224: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
            </a:r>
            <a:endParaRPr/>
          </a:p>
        </p:txBody>
      </p:sp>
      <p:sp>
        <p:nvSpPr>
          <p:cNvPr id="4670" name="Google Shape;4670;p22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0" name="Shape 4740"/>
        <p:cNvGrpSpPr/>
        <p:nvPr/>
      </p:nvGrpSpPr>
      <p:grpSpPr>
        <a:xfrm>
          <a:off x="0" y="0"/>
          <a:ext cx="0" cy="0"/>
          <a:chOff x="0" y="0"/>
          <a:chExt cx="0" cy="0"/>
        </a:xfrm>
      </p:grpSpPr>
      <p:sp>
        <p:nvSpPr>
          <p:cNvPr id="4741" name="Google Shape;4741;p229: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742" name="Google Shape;4742;p22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43" name="Google Shape;4743;p22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2" name="Shape 4772"/>
        <p:cNvGrpSpPr/>
        <p:nvPr/>
      </p:nvGrpSpPr>
      <p:grpSpPr>
        <a:xfrm>
          <a:off x="0" y="0"/>
          <a:ext cx="0" cy="0"/>
          <a:chOff x="0" y="0"/>
          <a:chExt cx="0" cy="0"/>
        </a:xfrm>
      </p:grpSpPr>
      <p:sp>
        <p:nvSpPr>
          <p:cNvPr id="4773" name="Google Shape;4773;p231: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774" name="Google Shape;4774;p23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5" name="Google Shape;4775;p23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4" name="Shape 4804"/>
        <p:cNvGrpSpPr/>
        <p:nvPr/>
      </p:nvGrpSpPr>
      <p:grpSpPr>
        <a:xfrm>
          <a:off x="0" y="0"/>
          <a:ext cx="0" cy="0"/>
          <a:chOff x="0" y="0"/>
          <a:chExt cx="0" cy="0"/>
        </a:xfrm>
      </p:grpSpPr>
      <p:sp>
        <p:nvSpPr>
          <p:cNvPr id="4805" name="Google Shape;4805;p233: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806" name="Google Shape;4806;p23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07" name="Google Shape;4807;p23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6" name="Shape 4836"/>
        <p:cNvGrpSpPr/>
        <p:nvPr/>
      </p:nvGrpSpPr>
      <p:grpSpPr>
        <a:xfrm>
          <a:off x="0" y="0"/>
          <a:ext cx="0" cy="0"/>
          <a:chOff x="0" y="0"/>
          <a:chExt cx="0" cy="0"/>
        </a:xfrm>
      </p:grpSpPr>
      <p:sp>
        <p:nvSpPr>
          <p:cNvPr id="4837" name="Google Shape;4837;p235: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838" name="Google Shape;4838;p23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9" name="Google Shape;4839;p23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8" name="Shape 4868"/>
        <p:cNvGrpSpPr/>
        <p:nvPr/>
      </p:nvGrpSpPr>
      <p:grpSpPr>
        <a:xfrm>
          <a:off x="0" y="0"/>
          <a:ext cx="0" cy="0"/>
          <a:chOff x="0" y="0"/>
          <a:chExt cx="0" cy="0"/>
        </a:xfrm>
      </p:grpSpPr>
      <p:sp>
        <p:nvSpPr>
          <p:cNvPr id="4869" name="Google Shape;4869;p237: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870" name="Google Shape;4870;p23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1" name="Google Shape;4871;p23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0" name="Shape 4900"/>
        <p:cNvGrpSpPr/>
        <p:nvPr/>
      </p:nvGrpSpPr>
      <p:grpSpPr>
        <a:xfrm>
          <a:off x="0" y="0"/>
          <a:ext cx="0" cy="0"/>
          <a:chOff x="0" y="0"/>
          <a:chExt cx="0" cy="0"/>
        </a:xfrm>
      </p:grpSpPr>
      <p:sp>
        <p:nvSpPr>
          <p:cNvPr id="4901" name="Google Shape;4901;p239: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902" name="Google Shape;4902;p23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03" name="Google Shape;4903;p23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2" name="Shape 4932"/>
        <p:cNvGrpSpPr/>
        <p:nvPr/>
      </p:nvGrpSpPr>
      <p:grpSpPr>
        <a:xfrm>
          <a:off x="0" y="0"/>
          <a:ext cx="0" cy="0"/>
          <a:chOff x="0" y="0"/>
          <a:chExt cx="0" cy="0"/>
        </a:xfrm>
      </p:grpSpPr>
      <p:sp>
        <p:nvSpPr>
          <p:cNvPr id="4933" name="Google Shape;4933;p241: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934" name="Google Shape;4934;p24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35" name="Google Shape;4935;p24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4" name="Shape 4964"/>
        <p:cNvGrpSpPr/>
        <p:nvPr/>
      </p:nvGrpSpPr>
      <p:grpSpPr>
        <a:xfrm>
          <a:off x="0" y="0"/>
          <a:ext cx="0" cy="0"/>
          <a:chOff x="0" y="0"/>
          <a:chExt cx="0" cy="0"/>
        </a:xfrm>
      </p:grpSpPr>
      <p:sp>
        <p:nvSpPr>
          <p:cNvPr id="4965" name="Google Shape;4965;p243: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966" name="Google Shape;4966;p24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7" name="Google Shape;4967;p24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6" name="Shape 4996"/>
        <p:cNvGrpSpPr/>
        <p:nvPr/>
      </p:nvGrpSpPr>
      <p:grpSpPr>
        <a:xfrm>
          <a:off x="0" y="0"/>
          <a:ext cx="0" cy="0"/>
          <a:chOff x="0" y="0"/>
          <a:chExt cx="0" cy="0"/>
        </a:xfrm>
      </p:grpSpPr>
      <p:sp>
        <p:nvSpPr>
          <p:cNvPr id="4997" name="Google Shape;4997;p245: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998" name="Google Shape;4998;p24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9" name="Google Shape;4999;p24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8" name="Shape 5028"/>
        <p:cNvGrpSpPr/>
        <p:nvPr/>
      </p:nvGrpSpPr>
      <p:grpSpPr>
        <a:xfrm>
          <a:off x="0" y="0"/>
          <a:ext cx="0" cy="0"/>
          <a:chOff x="0" y="0"/>
          <a:chExt cx="0" cy="0"/>
        </a:xfrm>
      </p:grpSpPr>
      <p:sp>
        <p:nvSpPr>
          <p:cNvPr id="5029" name="Google Shape;5029;p247: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5030" name="Google Shape;5030;p24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1" name="Google Shape;5031;p24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0" name="Shape 5060"/>
        <p:cNvGrpSpPr/>
        <p:nvPr/>
      </p:nvGrpSpPr>
      <p:grpSpPr>
        <a:xfrm>
          <a:off x="0" y="0"/>
          <a:ext cx="0" cy="0"/>
          <a:chOff x="0" y="0"/>
          <a:chExt cx="0" cy="0"/>
        </a:xfrm>
      </p:grpSpPr>
      <p:sp>
        <p:nvSpPr>
          <p:cNvPr id="5061" name="Google Shape;5061;p249: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5062" name="Google Shape;5062;p24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63" name="Google Shape;5063;p24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2" name="Shape 5092"/>
        <p:cNvGrpSpPr/>
        <p:nvPr/>
      </p:nvGrpSpPr>
      <p:grpSpPr>
        <a:xfrm>
          <a:off x="0" y="0"/>
          <a:ext cx="0" cy="0"/>
          <a:chOff x="0" y="0"/>
          <a:chExt cx="0" cy="0"/>
        </a:xfrm>
      </p:grpSpPr>
      <p:sp>
        <p:nvSpPr>
          <p:cNvPr id="5093" name="Google Shape;5093;p251: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
            </a:r>
            <a:endParaRPr/>
          </a:p>
        </p:txBody>
      </p:sp>
      <p:sp>
        <p:nvSpPr>
          <p:cNvPr id="5094" name="Google Shape;5094;p25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9" name="Shape 5159"/>
        <p:cNvGrpSpPr/>
        <p:nvPr/>
      </p:nvGrpSpPr>
      <p:grpSpPr>
        <a:xfrm>
          <a:off x="0" y="0"/>
          <a:ext cx="0" cy="0"/>
          <a:chOff x="0" y="0"/>
          <a:chExt cx="0" cy="0"/>
        </a:xfrm>
      </p:grpSpPr>
      <p:sp>
        <p:nvSpPr>
          <p:cNvPr id="5160" name="Google Shape;5160;p256: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5161" name="Google Shape;5161;p25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2" name="Google Shape;5162;p25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1" name="Shape 5191"/>
        <p:cNvGrpSpPr/>
        <p:nvPr/>
      </p:nvGrpSpPr>
      <p:grpSpPr>
        <a:xfrm>
          <a:off x="0" y="0"/>
          <a:ext cx="0" cy="0"/>
          <a:chOff x="0" y="0"/>
          <a:chExt cx="0" cy="0"/>
        </a:xfrm>
      </p:grpSpPr>
      <p:sp>
        <p:nvSpPr>
          <p:cNvPr id="5192" name="Google Shape;5192;p258: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5193" name="Google Shape;5193;p25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94" name="Google Shape;5194;p25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3" name="Shape 5223"/>
        <p:cNvGrpSpPr/>
        <p:nvPr/>
      </p:nvGrpSpPr>
      <p:grpSpPr>
        <a:xfrm>
          <a:off x="0" y="0"/>
          <a:ext cx="0" cy="0"/>
          <a:chOff x="0" y="0"/>
          <a:chExt cx="0" cy="0"/>
        </a:xfrm>
      </p:grpSpPr>
      <p:sp>
        <p:nvSpPr>
          <p:cNvPr id="5224" name="Google Shape;5224;p260: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5225" name="Google Shape;5225;p26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26" name="Google Shape;5226;p26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5" name="Shape 5255"/>
        <p:cNvGrpSpPr/>
        <p:nvPr/>
      </p:nvGrpSpPr>
      <p:grpSpPr>
        <a:xfrm>
          <a:off x="0" y="0"/>
          <a:ext cx="0" cy="0"/>
          <a:chOff x="0" y="0"/>
          <a:chExt cx="0" cy="0"/>
        </a:xfrm>
      </p:grpSpPr>
      <p:sp>
        <p:nvSpPr>
          <p:cNvPr id="5256" name="Google Shape;5256;p262: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5257" name="Google Shape;5257;p26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58" name="Google Shape;5258;p26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7" name="Shape 5287"/>
        <p:cNvGrpSpPr/>
        <p:nvPr/>
      </p:nvGrpSpPr>
      <p:grpSpPr>
        <a:xfrm>
          <a:off x="0" y="0"/>
          <a:ext cx="0" cy="0"/>
          <a:chOff x="0" y="0"/>
          <a:chExt cx="0" cy="0"/>
        </a:xfrm>
      </p:grpSpPr>
      <p:sp>
        <p:nvSpPr>
          <p:cNvPr id="5288" name="Google Shape;5288;p264: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5289" name="Google Shape;5289;p26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90" name="Google Shape;5290;p26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9" name="Shape 5319"/>
        <p:cNvGrpSpPr/>
        <p:nvPr/>
      </p:nvGrpSpPr>
      <p:grpSpPr>
        <a:xfrm>
          <a:off x="0" y="0"/>
          <a:ext cx="0" cy="0"/>
          <a:chOff x="0" y="0"/>
          <a:chExt cx="0" cy="0"/>
        </a:xfrm>
      </p:grpSpPr>
      <p:sp>
        <p:nvSpPr>
          <p:cNvPr id="5320" name="Google Shape;5320;p266: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5321" name="Google Shape;5321;p26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22" name="Google Shape;5322;p26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1" name="Shape 5351"/>
        <p:cNvGrpSpPr/>
        <p:nvPr/>
      </p:nvGrpSpPr>
      <p:grpSpPr>
        <a:xfrm>
          <a:off x="0" y="0"/>
          <a:ext cx="0" cy="0"/>
          <a:chOff x="0" y="0"/>
          <a:chExt cx="0" cy="0"/>
        </a:xfrm>
      </p:grpSpPr>
      <p:sp>
        <p:nvSpPr>
          <p:cNvPr id="5352" name="Google Shape;5352;p268: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5353" name="Google Shape;5353;p26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54" name="Google Shape;5354;p26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3" name="Shape 5383"/>
        <p:cNvGrpSpPr/>
        <p:nvPr/>
      </p:nvGrpSpPr>
      <p:grpSpPr>
        <a:xfrm>
          <a:off x="0" y="0"/>
          <a:ext cx="0" cy="0"/>
          <a:chOff x="0" y="0"/>
          <a:chExt cx="0" cy="0"/>
        </a:xfrm>
      </p:grpSpPr>
      <p:sp>
        <p:nvSpPr>
          <p:cNvPr id="5384" name="Google Shape;5384;p270: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
            </a:r>
            <a:endParaRPr/>
          </a:p>
        </p:txBody>
      </p:sp>
      <p:sp>
        <p:nvSpPr>
          <p:cNvPr id="5385" name="Google Shape;5385;p27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1" name="Shape 5451"/>
        <p:cNvGrpSpPr/>
        <p:nvPr/>
      </p:nvGrpSpPr>
      <p:grpSpPr>
        <a:xfrm>
          <a:off x="0" y="0"/>
          <a:ext cx="0" cy="0"/>
          <a:chOff x="0" y="0"/>
          <a:chExt cx="0" cy="0"/>
        </a:xfrm>
      </p:grpSpPr>
      <p:sp>
        <p:nvSpPr>
          <p:cNvPr id="5452" name="Google Shape;5452;p275: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5453" name="Google Shape;5453;p27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54" name="Google Shape;5454;p27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3" name="Shape 5483"/>
        <p:cNvGrpSpPr/>
        <p:nvPr/>
      </p:nvGrpSpPr>
      <p:grpSpPr>
        <a:xfrm>
          <a:off x="0" y="0"/>
          <a:ext cx="0" cy="0"/>
          <a:chOff x="0" y="0"/>
          <a:chExt cx="0" cy="0"/>
        </a:xfrm>
      </p:grpSpPr>
      <p:sp>
        <p:nvSpPr>
          <p:cNvPr id="5484" name="Google Shape;5484;p277: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5485" name="Google Shape;5485;p27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86" name="Google Shape;5486;p27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5" name="Shape 5515"/>
        <p:cNvGrpSpPr/>
        <p:nvPr/>
      </p:nvGrpSpPr>
      <p:grpSpPr>
        <a:xfrm>
          <a:off x="0" y="0"/>
          <a:ext cx="0" cy="0"/>
          <a:chOff x="0" y="0"/>
          <a:chExt cx="0" cy="0"/>
        </a:xfrm>
      </p:grpSpPr>
      <p:sp>
        <p:nvSpPr>
          <p:cNvPr id="5516" name="Google Shape;5516;p279: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5517" name="Google Shape;5517;p27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8" name="Google Shape;5518;p27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7" name="Shape 5547"/>
        <p:cNvGrpSpPr/>
        <p:nvPr/>
      </p:nvGrpSpPr>
      <p:grpSpPr>
        <a:xfrm>
          <a:off x="0" y="0"/>
          <a:ext cx="0" cy="0"/>
          <a:chOff x="0" y="0"/>
          <a:chExt cx="0" cy="0"/>
        </a:xfrm>
      </p:grpSpPr>
      <p:sp>
        <p:nvSpPr>
          <p:cNvPr id="5548" name="Google Shape;5548;p281: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5549" name="Google Shape;5549;p28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50" name="Google Shape;5550;p28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9" name="Shape 5579"/>
        <p:cNvGrpSpPr/>
        <p:nvPr/>
      </p:nvGrpSpPr>
      <p:grpSpPr>
        <a:xfrm>
          <a:off x="0" y="0"/>
          <a:ext cx="0" cy="0"/>
          <a:chOff x="0" y="0"/>
          <a:chExt cx="0" cy="0"/>
        </a:xfrm>
      </p:grpSpPr>
      <p:sp>
        <p:nvSpPr>
          <p:cNvPr id="5580" name="Google Shape;5580;p283: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5581" name="Google Shape;5581;p28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82" name="Google Shape;5582;p28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1" name="Shape 5611"/>
        <p:cNvGrpSpPr/>
        <p:nvPr/>
      </p:nvGrpSpPr>
      <p:grpSpPr>
        <a:xfrm>
          <a:off x="0" y="0"/>
          <a:ext cx="0" cy="0"/>
          <a:chOff x="0" y="0"/>
          <a:chExt cx="0" cy="0"/>
        </a:xfrm>
      </p:grpSpPr>
      <p:sp>
        <p:nvSpPr>
          <p:cNvPr id="5612" name="Google Shape;5612;p285: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5613" name="Google Shape;5613;p28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4" name="Google Shape;5614;p28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
            </a:r>
            <a:endParaRPr/>
          </a:p>
        </p:txBody>
      </p:sp>
    </p:spTree>
  </p:cSld>
  <p:clrMapOvr>
    <a:masterClrMapping/>
  </p:clrMapOvr>
</p:notes>
</file>

<file path=ppt/notesSlides/notesSlide2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3" name="Shape 5643"/>
        <p:cNvGrpSpPr/>
        <p:nvPr/>
      </p:nvGrpSpPr>
      <p:grpSpPr>
        <a:xfrm>
          <a:off x="0" y="0"/>
          <a:ext cx="0" cy="0"/>
          <a:chOff x="0" y="0"/>
          <a:chExt cx="0" cy="0"/>
        </a:xfrm>
      </p:grpSpPr>
      <p:sp>
        <p:nvSpPr>
          <p:cNvPr id="5644" name="Google Shape;5644;p287: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FINANCE &amp; PERFORMANCE MANAGEMENT USE CASES</a:t>
            </a:r>
            <a:endParaRPr/>
          </a:p>
          <a:p>
            <a:pPr indent="0" lvl="0" marL="0" rtl="0" algn="l">
              <a:spcBef>
                <a:spcPts val="400"/>
              </a:spcBef>
              <a:spcAft>
                <a:spcPts val="0"/>
              </a:spcAft>
              <a:buNone/>
            </a:pPr>
            <a:r>
              <a:rPr lang="en-GB" sz="1200"/>
              <a:t>This deck contains 31 use cases spanning four Finance &amp; PM domains:</a:t>
            </a:r>
            <a:endParaRPr/>
          </a:p>
          <a:p>
            <a:pPr indent="0" lvl="0" marL="0" rtl="0" algn="l">
              <a:spcBef>
                <a:spcPts val="400"/>
              </a:spcBef>
              <a:spcAft>
                <a:spcPts val="0"/>
              </a:spcAft>
              <a:buNone/>
            </a:pPr>
            <a:r>
              <a:rPr lang="en-GB" sz="1200"/>
              <a:t>1. Accounting Operations &amp; Close (11 use cases) - Vendor, Payables, P2P, Sub-ledger, Assets, ABS, Reconciliation, Consolidation, Close, Data Acquisition</a:t>
            </a:r>
            <a:endParaRPr/>
          </a:p>
          <a:p>
            <a:pPr indent="0" lvl="0" marL="0" rtl="0" algn="l">
              <a:spcBef>
                <a:spcPts val="400"/>
              </a:spcBef>
              <a:spcAft>
                <a:spcPts val="0"/>
              </a:spcAft>
              <a:buNone/>
            </a:pPr>
            <a:r>
              <a:rPr lang="en-GB" sz="1200"/>
              <a:t>2. Enterprise Performance Management (8 use cases) - Revenue, HR, ABC, RAROC, Profitability, Loan Pricing, KPI, Budget</a:t>
            </a:r>
            <a:endParaRPr/>
          </a:p>
          <a:p>
            <a:pPr indent="0" lvl="0" marL="0" rtl="0" algn="l">
              <a:spcBef>
                <a:spcPts val="400"/>
              </a:spcBef>
              <a:spcAft>
                <a:spcPts val="0"/>
              </a:spcAft>
              <a:buNone/>
            </a:pPr>
            <a:r>
              <a:rPr lang="en-GB" sz="1200"/>
              <a:t>3. Treasury Insight &amp; Management (5 use cases) - Cashflow, Reserve Portfolio, ALM, Liquidity, Currency Hedge</a:t>
            </a:r>
            <a:endParaRPr/>
          </a:p>
          <a:p>
            <a:pPr indent="0" lvl="0" marL="0" rtl="0" algn="l">
              <a:spcBef>
                <a:spcPts val="400"/>
              </a:spcBef>
              <a:spcAft>
                <a:spcPts val="0"/>
              </a:spcAft>
              <a:buNone/>
            </a:pPr>
            <a:r>
              <a:rPr lang="en-GB" sz="1200"/>
              <a:t>4. Financial Reporting (7 use cases) - External, Efficiency, Regulatory, Sales, Project, Exception, Executive</a:t>
            </a:r>
            <a:endParaRPr/>
          </a:p>
          <a:p>
            <a:pPr indent="0" lvl="0" marL="0" rtl="0" algn="l">
              <a:spcBef>
                <a:spcPts val="600"/>
              </a:spcBef>
              <a:spcAft>
                <a:spcPts val="200"/>
              </a:spcAft>
              <a:buNone/>
            </a:pPr>
            <a:r>
              <a:rPr b="1" lang="en-GB" sz="1200"/>
              <a:t>PAKISTAN PRIORITY</a:t>
            </a:r>
            <a:endParaRPr/>
          </a:p>
          <a:p>
            <a:pPr indent="0" lvl="0" marL="0" rtl="0" algn="l">
              <a:spcBef>
                <a:spcPts val="400"/>
              </a:spcBef>
              <a:spcAft>
                <a:spcPts val="0"/>
              </a:spcAft>
              <a:buNone/>
            </a:pPr>
            <a:r>
              <a:rPr lang="en-GB" sz="1200"/>
              <a:t>Critical use cases: Profitability Analytics, RAROC, Liquidity Management, Regulatory Reporting</a:t>
            </a:r>
            <a:endParaRPr/>
          </a:p>
          <a:p>
            <a:pPr indent="0" lvl="0" marL="0" rtl="0" algn="l">
              <a:spcBef>
                <a:spcPts val="400"/>
              </a:spcBef>
              <a:spcAft>
                <a:spcPts val="0"/>
              </a:spcAft>
              <a:buNone/>
            </a:pPr>
            <a:r>
              <a:rPr lang="en-GB" sz="1200"/>
              <a:t>Quick wins: Reconciliation Process, Close Process Optimization, KPI Factory</a:t>
            </a:r>
            <a:endParaRPr/>
          </a:p>
          <a:p>
            <a:pPr indent="0" lvl="0" marL="0" rtl="0" algn="l">
              <a:spcBef>
                <a:spcPts val="600"/>
              </a:spcBef>
              <a:spcAft>
                <a:spcPts val="200"/>
              </a:spcAft>
              <a:buNone/>
            </a:pPr>
            <a:r>
              <a:rPr b="1" lang="en-GB" sz="1200"/>
              <a:t>FSDM FOUNDATION</a:t>
            </a:r>
            <a:endParaRPr/>
          </a:p>
          <a:p>
            <a:pPr indent="0" lvl="0" marL="0" rtl="0" algn="l">
              <a:spcBef>
                <a:spcPts val="400"/>
              </a:spcBef>
              <a:spcAft>
                <a:spcPts val="0"/>
              </a:spcAft>
              <a:buNone/>
            </a:pPr>
            <a:r>
              <a:rPr lang="en-GB" sz="1200"/>
              <a:t>All use cases leverage the FSDM data warehouse as the integrated data platform.</a:t>
            </a:r>
            <a:endParaRPr/>
          </a:p>
          <a:p>
            <a:pPr indent="0" lvl="0" marL="0" rtl="0" algn="l">
              <a:spcBef>
                <a:spcPts val="400"/>
              </a:spcBef>
              <a:spcAft>
                <a:spcPts val="0"/>
              </a:spcAft>
              <a:buNone/>
            </a:pPr>
            <a:r>
              <a:rPr lang="en-GB" sz="1200"/>
              <a:t>UBL Customer Profitability Engine already built on FSDM - provides foundation for EPM use cases.</a:t>
            </a:r>
            <a:endParaRPr/>
          </a:p>
        </p:txBody>
      </p:sp>
      <p:sp>
        <p:nvSpPr>
          <p:cNvPr id="5645" name="Google Shape;5645;p28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8" name="Shape 5648"/>
        <p:cNvGrpSpPr/>
        <p:nvPr/>
      </p:nvGrpSpPr>
      <p:grpSpPr>
        <a:xfrm>
          <a:off x="0" y="0"/>
          <a:ext cx="0" cy="0"/>
          <a:chOff x="0" y="0"/>
          <a:chExt cx="0" cy="0"/>
        </a:xfrm>
      </p:grpSpPr>
      <p:sp>
        <p:nvSpPr>
          <p:cNvPr id="5649" name="Google Shape;5649;p288: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650" name="Google Shape;5650;p28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1" name="Google Shape;5651;p28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VENDOR ANALYTICS</a:t>
            </a:r>
            <a:endParaRPr/>
          </a:p>
          <a:p>
            <a:pPr indent="0" lvl="0" marL="0" rtl="0" algn="l">
              <a:spcBef>
                <a:spcPts val="400"/>
              </a:spcBef>
              <a:spcAft>
                <a:spcPts val="0"/>
              </a:spcAft>
              <a:buNone/>
            </a:pPr>
            <a:r>
              <a:rPr lang="en-GB" sz="1200"/>
              <a:t>Vendor management in Pakistan banking is complex:</a:t>
            </a:r>
            <a:endParaRPr/>
          </a:p>
          <a:p>
            <a:pPr indent="0" lvl="0" marL="0" rtl="0" algn="l">
              <a:spcBef>
                <a:spcPts val="400"/>
              </a:spcBef>
              <a:spcAft>
                <a:spcPts val="0"/>
              </a:spcAft>
              <a:buNone/>
            </a:pPr>
            <a:r>
              <a:rPr lang="en-GB" sz="1200"/>
              <a:t>- Large banks manage 5,000-20,000 vendors (IT, construction, security, stationery, marketing, consulting)</a:t>
            </a:r>
            <a:endParaRPr/>
          </a:p>
          <a:p>
            <a:pPr indent="0" lvl="0" marL="0" rtl="0" algn="l">
              <a:spcBef>
                <a:spcPts val="400"/>
              </a:spcBef>
              <a:spcAft>
                <a:spcPts val="0"/>
              </a:spcAft>
              <a:buNone/>
            </a:pPr>
            <a:r>
              <a:rPr lang="en-GB" sz="1200"/>
              <a:t>- Procurement is often decentralized - branch managers make local purchase decisions</a:t>
            </a:r>
            <a:endParaRPr/>
          </a:p>
          <a:p>
            <a:pPr indent="0" lvl="0" marL="0" rtl="0" algn="l">
              <a:spcBef>
                <a:spcPts val="400"/>
              </a:spcBef>
              <a:spcAft>
                <a:spcPts val="0"/>
              </a:spcAft>
              <a:buNone/>
            </a:pPr>
            <a:r>
              <a:rPr lang="en-GB" sz="1200"/>
              <a:t>- FBR WHT: Every payment requires withholding tax deduction. Rates vary by vendor type and filer status</a:t>
            </a:r>
            <a:endParaRPr/>
          </a:p>
          <a:p>
            <a:pPr indent="0" lvl="0" marL="0" rtl="0" algn="l">
              <a:spcBef>
                <a:spcPts val="400"/>
              </a:spcBef>
              <a:spcAft>
                <a:spcPts val="0"/>
              </a:spcAft>
              <a:buNone/>
            </a:pPr>
            <a:r>
              <a:rPr lang="en-GB" sz="1200"/>
              <a:t>  Services: 8% (filer) / 16% (non-filer), Supplies: 4% / 8%, Contracts: 7% / 14%</a:t>
            </a:r>
            <a:endParaRPr/>
          </a:p>
          <a:p>
            <a:pPr indent="0" lvl="0" marL="0" rtl="0" algn="l">
              <a:spcBef>
                <a:spcPts val="400"/>
              </a:spcBef>
              <a:spcAft>
                <a:spcPts val="0"/>
              </a:spcAft>
              <a:buNone/>
            </a:pPr>
            <a:r>
              <a:rPr lang="en-GB" sz="1200"/>
              <a:t>- ATL (Active Taxpayer List) must be checked monthly - vendor filer status changes</a:t>
            </a:r>
            <a:endParaRPr/>
          </a:p>
          <a:p>
            <a:pPr indent="0" lvl="0" marL="0" rtl="0" algn="l">
              <a:spcBef>
                <a:spcPts val="400"/>
              </a:spcBef>
              <a:spcAft>
                <a:spcPts val="0"/>
              </a:spcAft>
              <a:buNone/>
            </a:pPr>
            <a:r>
              <a:rPr lang="en-GB" sz="1200"/>
              <a:t>- Vendor consolidation opportunity: Multiple branches buying same items from different vendors at different prices</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VNDR (Vendor), PO (Purchase Order), INVCE (Invoice), PMT (Payment), WHT (Withholding Tax), VNDR_PRFMNC (Vendor Performance)</a:t>
            </a:r>
            <a:endParaRPr/>
          </a:p>
          <a:p>
            <a:pPr indent="0" lvl="0" marL="0" rtl="0" algn="l">
              <a:spcBef>
                <a:spcPts val="600"/>
              </a:spcBef>
              <a:spcAft>
                <a:spcPts val="200"/>
              </a:spcAft>
              <a:buNone/>
            </a:pPr>
            <a:r>
              <a:rPr b="1" lang="en-GB" sz="1200"/>
              <a:t>BVF CROSS-REFERENCE</a:t>
            </a:r>
            <a:endParaRPr/>
          </a:p>
          <a:p>
            <a:pPr indent="0" lvl="0" marL="0" rtl="0" algn="l">
              <a:spcBef>
                <a:spcPts val="400"/>
              </a:spcBef>
              <a:spcAft>
                <a:spcPts val="0"/>
              </a:spcAft>
              <a:buNone/>
            </a:pPr>
            <a:r>
              <a:rPr lang="en-GB" sz="1200"/>
              <a:t>BVF Capability: Accounting Operations &gt; Procurement &amp; Payment (File 07, Slides 24-25)</a:t>
            </a:r>
            <a:endParaRPr/>
          </a:p>
        </p:txBody>
      </p:sp>
    </p:spTree>
  </p:cSld>
  <p:clrMapOvr>
    <a:masterClrMapping/>
  </p:clrMapOvr>
</p:notes>
</file>

<file path=ppt/notesSlides/notesSlide2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8" name="Shape 5668"/>
        <p:cNvGrpSpPr/>
        <p:nvPr/>
      </p:nvGrpSpPr>
      <p:grpSpPr>
        <a:xfrm>
          <a:off x="0" y="0"/>
          <a:ext cx="0" cy="0"/>
          <a:chOff x="0" y="0"/>
          <a:chExt cx="0" cy="0"/>
        </a:xfrm>
      </p:grpSpPr>
      <p:sp>
        <p:nvSpPr>
          <p:cNvPr id="5669" name="Google Shape;5669;p289: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670" name="Google Shape;5670;p28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1" name="Google Shape;5671;p28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AP CONTEXT</a:t>
            </a:r>
            <a:endParaRPr/>
          </a:p>
          <a:p>
            <a:pPr indent="0" lvl="0" marL="0" rtl="0" algn="l">
              <a:spcBef>
                <a:spcPts val="400"/>
              </a:spcBef>
              <a:spcAft>
                <a:spcPts val="0"/>
              </a:spcAft>
              <a:buNone/>
            </a:pPr>
            <a:r>
              <a:rPr lang="en-GB" sz="1200"/>
              <a:t>Pakistan banking AP challenges:</a:t>
            </a:r>
            <a:endParaRPr/>
          </a:p>
          <a:p>
            <a:pPr indent="0" lvl="0" marL="0" rtl="0" algn="l">
              <a:spcBef>
                <a:spcPts val="400"/>
              </a:spcBef>
              <a:spcAft>
                <a:spcPts val="0"/>
              </a:spcAft>
              <a:buNone/>
            </a:pPr>
            <a:r>
              <a:rPr lang="en-GB" sz="1200"/>
              <a:t>- Multiple group entities, each with own ERP/accounting system</a:t>
            </a:r>
            <a:endParaRPr/>
          </a:p>
          <a:p>
            <a:pPr indent="0" lvl="0" marL="0" rtl="0" algn="l">
              <a:spcBef>
                <a:spcPts val="400"/>
              </a:spcBef>
              <a:spcAft>
                <a:spcPts val="0"/>
              </a:spcAft>
              <a:buNone/>
            </a:pPr>
            <a:r>
              <a:rPr lang="en-GB" sz="1200"/>
              <a:t>- WHT deduction and reporting creates manual overhead on every payment</a:t>
            </a:r>
            <a:endParaRPr/>
          </a:p>
          <a:p>
            <a:pPr indent="0" lvl="0" marL="0" rtl="0" algn="l">
              <a:spcBef>
                <a:spcPts val="400"/>
              </a:spcBef>
              <a:spcAft>
                <a:spcPts val="0"/>
              </a:spcAft>
              <a:buNone/>
            </a:pPr>
            <a:r>
              <a:rPr lang="en-GB" sz="1200"/>
              <a:t>- Inter-company payments between group entities (bank to insurance, bank to AMC) must be tracked for consolidation elimination</a:t>
            </a:r>
            <a:endParaRPr/>
          </a:p>
          <a:p>
            <a:pPr indent="0" lvl="0" marL="0" rtl="0" algn="l">
              <a:spcBef>
                <a:spcPts val="400"/>
              </a:spcBef>
              <a:spcAft>
                <a:spcPts val="0"/>
              </a:spcAft>
              <a:buNone/>
            </a:pPr>
            <a:r>
              <a:rPr lang="en-GB" sz="1200"/>
              <a:t>- Payment methods: cheque (still common for large vendors), RTGS (high value), RAAST (growing), bank transfer</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AP_BLNC (AP Balance), INVCE (Invoice), PMT (Payment), WHT (WHT), IC_PMT (Inter-Company Payment)</a:t>
            </a:r>
            <a:endParaRPr/>
          </a:p>
          <a:p>
            <a:pPr indent="0" lvl="0" marL="0" rtl="0" algn="l">
              <a:spcBef>
                <a:spcPts val="600"/>
              </a:spcBef>
              <a:spcAft>
                <a:spcPts val="200"/>
              </a:spcAft>
              <a:buNone/>
            </a:pPr>
            <a:r>
              <a:rPr b="1" lang="en-GB" sz="1200"/>
              <a:t>BVF CROSS-REFERENCE</a:t>
            </a:r>
            <a:endParaRPr/>
          </a:p>
          <a:p>
            <a:pPr indent="0" lvl="0" marL="0" rtl="0" algn="l">
              <a:spcBef>
                <a:spcPts val="400"/>
              </a:spcBef>
              <a:spcAft>
                <a:spcPts val="0"/>
              </a:spcAft>
              <a:buNone/>
            </a:pPr>
            <a:r>
              <a:rPr lang="en-GB" sz="1200"/>
              <a:t>BVF Capability: Accounting Operations &gt; Procurement &amp; Payment</a:t>
            </a:r>
            <a:endParaRPr/>
          </a:p>
        </p:txBody>
      </p:sp>
    </p:spTree>
  </p:cSld>
  <p:clrMapOvr>
    <a:masterClrMapping/>
  </p:clrMapOvr>
</p:notes>
</file>

<file path=ppt/notesSlides/notesSlide2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8" name="Shape 5688"/>
        <p:cNvGrpSpPr/>
        <p:nvPr/>
      </p:nvGrpSpPr>
      <p:grpSpPr>
        <a:xfrm>
          <a:off x="0" y="0"/>
          <a:ext cx="0" cy="0"/>
          <a:chOff x="0" y="0"/>
          <a:chExt cx="0" cy="0"/>
        </a:xfrm>
      </p:grpSpPr>
      <p:sp>
        <p:nvSpPr>
          <p:cNvPr id="5689" name="Google Shape;5689;p290: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690" name="Google Shape;5690;p29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91" name="Google Shape;5691;p29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P2P</a:t>
            </a:r>
            <a:endParaRPr/>
          </a:p>
          <a:p>
            <a:pPr indent="0" lvl="0" marL="0" rtl="0" algn="l">
              <a:spcBef>
                <a:spcPts val="400"/>
              </a:spcBef>
              <a:spcAft>
                <a:spcPts val="0"/>
              </a:spcAft>
              <a:buNone/>
            </a:pPr>
            <a:r>
              <a:rPr lang="en-GB" sz="1200"/>
              <a:t>Most Pakistan banks still use semi-manual P2P:</a:t>
            </a:r>
            <a:endParaRPr/>
          </a:p>
          <a:p>
            <a:pPr indent="0" lvl="0" marL="0" rtl="0" algn="l">
              <a:spcBef>
                <a:spcPts val="400"/>
              </a:spcBef>
              <a:spcAft>
                <a:spcPts val="0"/>
              </a:spcAft>
              <a:buNone/>
            </a:pPr>
            <a:r>
              <a:rPr lang="en-GB" sz="1200"/>
              <a:t>- Branch-initiated requisitions to regional approval to central procurement to PO to delivery to invoice to payment</a:t>
            </a:r>
            <a:endParaRPr/>
          </a:p>
          <a:p>
            <a:pPr indent="0" lvl="0" marL="0" rtl="0" algn="l">
              <a:spcBef>
                <a:spcPts val="400"/>
              </a:spcBef>
              <a:spcAft>
                <a:spcPts val="0"/>
              </a:spcAft>
              <a:buNone/>
            </a:pPr>
            <a:r>
              <a:rPr lang="en-GB" sz="1200"/>
              <a:t>- Manual 3-way matching creates delays and errors</a:t>
            </a:r>
            <a:endParaRPr/>
          </a:p>
          <a:p>
            <a:pPr indent="0" lvl="0" marL="0" rtl="0" algn="l">
              <a:spcBef>
                <a:spcPts val="400"/>
              </a:spcBef>
              <a:spcAft>
                <a:spcPts val="0"/>
              </a:spcAft>
              <a:buNone/>
            </a:pPr>
            <a:r>
              <a:rPr lang="en-GB" sz="1200"/>
              <a:t>- Early payment discounts typically lost due to process delays (15-20 days average invoice-to-payment)</a:t>
            </a:r>
            <a:endParaRPr/>
          </a:p>
          <a:p>
            <a:pPr indent="0" lvl="0" marL="0" rtl="0" algn="l">
              <a:spcBef>
                <a:spcPts val="400"/>
              </a:spcBef>
              <a:spcAft>
                <a:spcPts val="0"/>
              </a:spcAft>
              <a:buNone/>
            </a:pPr>
            <a:r>
              <a:rPr lang="en-GB" sz="1200"/>
              <a:t>- Audit trail often incomplete - difficult to trace from payment back to original requisition</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RQSTN (Requisition), PO (Purchase Order), GRN (Goods Receipt), INVCE (Invoice), PMT (Payment), P2P_PRCS (P2P Process)</a:t>
            </a:r>
            <a:endParaRPr/>
          </a:p>
        </p:txBody>
      </p:sp>
    </p:spTree>
  </p:cSld>
  <p:clrMapOvr>
    <a:masterClrMapping/>
  </p:clrMapOvr>
</p:notes>
</file>

<file path=ppt/notesSlides/notesSlide2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8" name="Shape 5708"/>
        <p:cNvGrpSpPr/>
        <p:nvPr/>
      </p:nvGrpSpPr>
      <p:grpSpPr>
        <a:xfrm>
          <a:off x="0" y="0"/>
          <a:ext cx="0" cy="0"/>
          <a:chOff x="0" y="0"/>
          <a:chExt cx="0" cy="0"/>
        </a:xfrm>
      </p:grpSpPr>
      <p:sp>
        <p:nvSpPr>
          <p:cNvPr id="5709" name="Google Shape;5709;p291: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710" name="Google Shape;5710;p29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11" name="Google Shape;5711;p29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ACCOUNTING HUB</a:t>
            </a:r>
            <a:endParaRPr/>
          </a:p>
          <a:p>
            <a:pPr indent="0" lvl="0" marL="0" rtl="0" algn="l">
              <a:spcBef>
                <a:spcPts val="400"/>
              </a:spcBef>
              <a:spcAft>
                <a:spcPts val="0"/>
              </a:spcAft>
              <a:buNone/>
            </a:pPr>
            <a:r>
              <a:rPr lang="en-GB" sz="1200"/>
              <a:t>This is the foundational finance use case for Pakistan banks. Without a centralized accounting hub:</a:t>
            </a:r>
            <a:endParaRPr/>
          </a:p>
          <a:p>
            <a:pPr indent="0" lvl="0" marL="0" rtl="0" algn="l">
              <a:spcBef>
                <a:spcPts val="400"/>
              </a:spcBef>
              <a:spcAft>
                <a:spcPts val="0"/>
              </a:spcAft>
              <a:buNone/>
            </a:pPr>
            <a:r>
              <a:rPr lang="en-GB" sz="1200"/>
              <a:t>- 4-5 core banking systems post summary entries to GL independently</a:t>
            </a:r>
            <a:endParaRPr/>
          </a:p>
          <a:p>
            <a:pPr indent="0" lvl="0" marL="0" rtl="0" algn="l">
              <a:spcBef>
                <a:spcPts val="400"/>
              </a:spcBef>
              <a:spcAft>
                <a:spcPts val="0"/>
              </a:spcAft>
              <a:buNone/>
            </a:pPr>
            <a:r>
              <a:rPr lang="en-GB" sz="1200"/>
              <a:t>- No transaction-level sub-ledger data in the data warehouse</a:t>
            </a:r>
            <a:endParaRPr/>
          </a:p>
          <a:p>
            <a:pPr indent="0" lvl="0" marL="0" rtl="0" algn="l">
              <a:spcBef>
                <a:spcPts val="400"/>
              </a:spcBef>
              <a:spcAft>
                <a:spcPts val="0"/>
              </a:spcAft>
              <a:buNone/>
            </a:pPr>
            <a:r>
              <a:rPr lang="en-GB" sz="1200"/>
              <a:t>- Cannot drill from GL balance to individual customer transactions</a:t>
            </a:r>
            <a:endParaRPr/>
          </a:p>
          <a:p>
            <a:pPr indent="0" lvl="0" marL="0" rtl="0" algn="l">
              <a:spcBef>
                <a:spcPts val="400"/>
              </a:spcBef>
              <a:spcAft>
                <a:spcPts val="0"/>
              </a:spcAft>
              <a:buNone/>
            </a:pPr>
            <a:r>
              <a:rPr lang="en-GB" sz="1200"/>
              <a:t>- IFRS 9 ECL cannot be calculated at individual loan level</a:t>
            </a:r>
            <a:endParaRPr/>
          </a:p>
          <a:p>
            <a:pPr indent="0" lvl="0" marL="0" rtl="0" algn="l">
              <a:spcBef>
                <a:spcPts val="400"/>
              </a:spcBef>
              <a:spcAft>
                <a:spcPts val="0"/>
              </a:spcAft>
              <a:buNone/>
            </a:pPr>
            <a:r>
              <a:rPr lang="en-GB" sz="1200"/>
              <a:t>- Customer profitability cannot be computed; Branch P&amp;L is impossible</a:t>
            </a:r>
            <a:endParaRPr/>
          </a:p>
          <a:p>
            <a:pPr indent="0" lvl="0" marL="0" rtl="0" algn="l">
              <a:spcBef>
                <a:spcPts val="600"/>
              </a:spcBef>
              <a:spcAft>
                <a:spcPts val="200"/>
              </a:spcAft>
              <a:buNone/>
            </a:pPr>
            <a:r>
              <a:rPr b="1" lang="en-GB" sz="1200"/>
              <a:t>IMPLEMENTATION APPROACH</a:t>
            </a:r>
            <a:endParaRPr/>
          </a:p>
          <a:p>
            <a:pPr indent="0" lvl="0" marL="0" rtl="0" algn="l">
              <a:spcBef>
                <a:spcPts val="400"/>
              </a:spcBef>
              <a:spcAft>
                <a:spcPts val="0"/>
              </a:spcAft>
              <a:buNone/>
            </a:pPr>
            <a:r>
              <a:rPr lang="en-GB" sz="1200"/>
              <a:t>1. Define unified Chart of Accounts (CoA) mapping from all source system CoAs</a:t>
            </a:r>
            <a:endParaRPr/>
          </a:p>
          <a:p>
            <a:pPr indent="0" lvl="0" marL="0" rtl="0" algn="l">
              <a:spcBef>
                <a:spcPts val="400"/>
              </a:spcBef>
              <a:spcAft>
                <a:spcPts val="0"/>
              </a:spcAft>
              <a:buNone/>
            </a:pPr>
            <a:r>
              <a:rPr lang="en-GB" sz="1200"/>
              <a:t>2. Build accounting rules engine for sub-ledger entries from operational transactions</a:t>
            </a:r>
            <a:endParaRPr/>
          </a:p>
          <a:p>
            <a:pPr indent="0" lvl="0" marL="0" rtl="0" algn="l">
              <a:spcBef>
                <a:spcPts val="400"/>
              </a:spcBef>
              <a:spcAft>
                <a:spcPts val="0"/>
              </a:spcAft>
              <a:buNone/>
            </a:pPr>
            <a:r>
              <a:rPr lang="en-GB" sz="1200"/>
              <a:t>3. For Islamic: generate dual entries (IFRS + AAOIFI) from single source transaction</a:t>
            </a:r>
            <a:endParaRPr/>
          </a:p>
          <a:p>
            <a:pPr indent="0" lvl="0" marL="0" rtl="0" algn="l">
              <a:spcBef>
                <a:spcPts val="400"/>
              </a:spcBef>
              <a:spcAft>
                <a:spcPts val="0"/>
              </a:spcAft>
              <a:buNone/>
            </a:pPr>
            <a:r>
              <a:rPr lang="en-GB" sz="1200"/>
              <a:t>4. Store in FSDM Financial Instrument and Accounting domains</a:t>
            </a:r>
            <a:endParaRPr/>
          </a:p>
          <a:p>
            <a:pPr indent="0" lvl="0" marL="0" rtl="0" algn="l">
              <a:spcBef>
                <a:spcPts val="600"/>
              </a:spcBef>
              <a:spcAft>
                <a:spcPts val="200"/>
              </a:spcAft>
              <a:buNone/>
            </a:pPr>
            <a:r>
              <a:rPr b="1" lang="en-GB" sz="1200"/>
              <a:t>UBL CONTEXT</a:t>
            </a:r>
            <a:endParaRPr/>
          </a:p>
          <a:p>
            <a:pPr indent="0" lvl="0" marL="0" rtl="0" algn="l">
              <a:spcBef>
                <a:spcPts val="400"/>
              </a:spcBef>
              <a:spcAft>
                <a:spcPts val="0"/>
              </a:spcAft>
              <a:buNone/>
            </a:pPr>
            <a:r>
              <a:rPr lang="en-GB" sz="1200"/>
              <a:t>FSDM data warehouse already integrates data from multiple core systems. The Accounting Hub formalizes accounting entry generation.</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ACCTNG_HUB (Accounting Hub), SUB_LDGR (Sub-Ledger), GL_PSTNG (GL Posting), COA (Chart of Accounts), FIN_INSTRMT (Financial Instrument)</a:t>
            </a:r>
            <a:endParaRPr/>
          </a:p>
        </p:txBody>
      </p:sp>
    </p:spTree>
  </p:cSld>
  <p:clrMapOvr>
    <a:masterClrMapping/>
  </p:clrMapOvr>
</p:notes>
</file>

<file path=ppt/notesSlides/notesSlide2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8" name="Shape 5728"/>
        <p:cNvGrpSpPr/>
        <p:nvPr/>
      </p:nvGrpSpPr>
      <p:grpSpPr>
        <a:xfrm>
          <a:off x="0" y="0"/>
          <a:ext cx="0" cy="0"/>
          <a:chOff x="0" y="0"/>
          <a:chExt cx="0" cy="0"/>
        </a:xfrm>
      </p:grpSpPr>
      <p:sp>
        <p:nvSpPr>
          <p:cNvPr id="5729" name="Google Shape;5729;p292: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730" name="Google Shape;5730;p29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31" name="Google Shape;5731;p29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INTANGIBLE ASSETS</a:t>
            </a:r>
            <a:endParaRPr/>
          </a:p>
          <a:p>
            <a:pPr indent="0" lvl="0" marL="0" rtl="0" algn="l">
              <a:spcBef>
                <a:spcPts val="400"/>
              </a:spcBef>
              <a:spcAft>
                <a:spcPts val="0"/>
              </a:spcAft>
              <a:buNone/>
            </a:pPr>
            <a:r>
              <a:rPr lang="en-GB" sz="1200"/>
              <a:t>Bank M&amp;A activity requires intangible asset valuation:</a:t>
            </a:r>
            <a:endParaRPr/>
          </a:p>
          <a:p>
            <a:pPr indent="0" lvl="0" marL="0" rtl="0" algn="l">
              <a:spcBef>
                <a:spcPts val="400"/>
              </a:spcBef>
              <a:spcAft>
                <a:spcPts val="0"/>
              </a:spcAft>
              <a:buNone/>
            </a:pPr>
            <a:r>
              <a:rPr lang="en-GB" sz="1200"/>
              <a:t>- Goodwill from acquisitions (historical mergers - HBL/Habib AG, MCB/Macquarie, etc.)</a:t>
            </a:r>
            <a:endParaRPr/>
          </a:p>
          <a:p>
            <a:pPr indent="0" lvl="0" marL="0" rtl="0" algn="l">
              <a:spcBef>
                <a:spcPts val="400"/>
              </a:spcBef>
              <a:spcAft>
                <a:spcPts val="0"/>
              </a:spcAft>
              <a:buNone/>
            </a:pPr>
            <a:r>
              <a:rPr lang="en-GB" sz="1200"/>
              <a:t>- Core banking system licenses (CTL, Temenos, Oracle - significant book value)</a:t>
            </a:r>
            <a:endParaRPr/>
          </a:p>
          <a:p>
            <a:pPr indent="0" lvl="0" marL="0" rtl="0" algn="l">
              <a:spcBef>
                <a:spcPts val="400"/>
              </a:spcBef>
              <a:spcAft>
                <a:spcPts val="0"/>
              </a:spcAft>
              <a:buNone/>
            </a:pPr>
            <a:r>
              <a:rPr lang="en-GB" sz="1200"/>
              <a:t>- Customer relationship value (for M&amp;A due diligence and purchase price allocation)</a:t>
            </a:r>
            <a:endParaRPr/>
          </a:p>
          <a:p>
            <a:pPr indent="0" lvl="0" marL="0" rtl="0" algn="l">
              <a:spcBef>
                <a:spcPts val="400"/>
              </a:spcBef>
              <a:spcAft>
                <a:spcPts val="0"/>
              </a:spcAft>
              <a:buNone/>
            </a:pPr>
            <a:r>
              <a:rPr lang="en-GB" sz="1200"/>
              <a:t>- SBP minimum capital requirements are driving consolidation - more M&amp;A expected</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INTNGBL_ASST (Intangible Asset), GDWLL (Goodwill), ASST_VLTN (Asset Valuation), AMRTZTN (Amortization)</a:t>
            </a:r>
            <a:endParaRPr/>
          </a:p>
        </p:txBody>
      </p:sp>
    </p:spTree>
  </p:cSld>
  <p:clrMapOvr>
    <a:masterClrMapping/>
  </p:clrMapOvr>
</p:notes>
</file>

<file path=ppt/notesSlides/notesSlide2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8" name="Shape 5748"/>
        <p:cNvGrpSpPr/>
        <p:nvPr/>
      </p:nvGrpSpPr>
      <p:grpSpPr>
        <a:xfrm>
          <a:off x="0" y="0"/>
          <a:ext cx="0" cy="0"/>
          <a:chOff x="0" y="0"/>
          <a:chExt cx="0" cy="0"/>
        </a:xfrm>
      </p:grpSpPr>
      <p:sp>
        <p:nvSpPr>
          <p:cNvPr id="5749" name="Google Shape;5749;p293: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750" name="Google Shape;5750;p29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1" name="Google Shape;5751;p29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FIXED ASSETS</a:t>
            </a:r>
            <a:endParaRPr/>
          </a:p>
          <a:p>
            <a:pPr indent="0" lvl="0" marL="0" rtl="0" algn="l">
              <a:spcBef>
                <a:spcPts val="400"/>
              </a:spcBef>
              <a:spcAft>
                <a:spcPts val="0"/>
              </a:spcAft>
              <a:buNone/>
            </a:pPr>
            <a:r>
              <a:rPr lang="en-GB" sz="1200"/>
              <a:t>Major fixed asset categories for Pakistan banks:</a:t>
            </a:r>
            <a:endParaRPr/>
          </a:p>
          <a:p>
            <a:pPr indent="0" lvl="0" marL="0" rtl="0" algn="l">
              <a:spcBef>
                <a:spcPts val="400"/>
              </a:spcBef>
              <a:spcAft>
                <a:spcPts val="0"/>
              </a:spcAft>
              <a:buNone/>
            </a:pPr>
            <a:r>
              <a:rPr lang="en-GB" sz="1200"/>
              <a:t>1. BRANCH PROPERTIES: 16,000+ branches - mix of owned and rented. Some inner-city branches have prime real estate value.</a:t>
            </a:r>
            <a:endParaRPr/>
          </a:p>
          <a:p>
            <a:pPr indent="0" lvl="0" marL="0" rtl="0" algn="l">
              <a:spcBef>
                <a:spcPts val="400"/>
              </a:spcBef>
              <a:spcAft>
                <a:spcPts val="0"/>
              </a:spcAft>
              <a:buNone/>
            </a:pPr>
            <a:r>
              <a:rPr lang="en-GB" sz="1200"/>
              <a:t>2. ATMs: 16,000+ units. Average cost PKR 2-3M per ATM. Utilization varies 10x between locations.</a:t>
            </a:r>
            <a:endParaRPr/>
          </a:p>
          <a:p>
            <a:pPr indent="0" lvl="0" marL="0" rtl="0" algn="l">
              <a:spcBef>
                <a:spcPts val="400"/>
              </a:spcBef>
              <a:spcAft>
                <a:spcPts val="0"/>
              </a:spcAft>
              <a:buNone/>
            </a:pPr>
            <a:r>
              <a:rPr lang="en-GB" sz="1200"/>
              <a:t>3. IT INFRASTRUCTURE: Data centers, servers, networking - accelerating investment due to digital transformation.</a:t>
            </a:r>
            <a:endParaRPr/>
          </a:p>
          <a:p>
            <a:pPr indent="0" lvl="0" marL="0" rtl="0" algn="l">
              <a:spcBef>
                <a:spcPts val="400"/>
              </a:spcBef>
              <a:spcAft>
                <a:spcPts val="0"/>
              </a:spcAft>
              <a:buNone/>
            </a:pPr>
            <a:r>
              <a:rPr lang="en-GB" sz="1200"/>
              <a:t>4. VEHICLES: Fleet for cash-in-transit, executive, field operations.</a:t>
            </a:r>
            <a:endParaRPr/>
          </a:p>
          <a:p>
            <a:pPr indent="0" lvl="0" marL="0" rtl="0" algn="l">
              <a:spcBef>
                <a:spcPts val="400"/>
              </a:spcBef>
              <a:spcAft>
                <a:spcPts val="0"/>
              </a:spcAft>
              <a:buNone/>
            </a:pPr>
            <a:r>
              <a:rPr lang="en-GB" sz="1200"/>
              <a:t>SBP requires periodic revaluation of owned properties. Revaluation surplus feeds Tier 2 capital (discounted).</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FXD_ASST (Fixed Asset), ASST_UTLZTN (Asset Utilization), BRCH_PRPRTY (Branch Property), ATM_PRFMNC (ATM Performance), DPRCTN (Depreciation)</a:t>
            </a:r>
            <a:endParaRPr/>
          </a:p>
        </p:txBody>
      </p:sp>
    </p:spTree>
  </p:cSld>
  <p:clrMapOvr>
    <a:masterClrMapping/>
  </p:clrMapOvr>
</p:notes>
</file>

<file path=ppt/notesSlides/notesSlide2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8" name="Shape 5768"/>
        <p:cNvGrpSpPr/>
        <p:nvPr/>
      </p:nvGrpSpPr>
      <p:grpSpPr>
        <a:xfrm>
          <a:off x="0" y="0"/>
          <a:ext cx="0" cy="0"/>
          <a:chOff x="0" y="0"/>
          <a:chExt cx="0" cy="0"/>
        </a:xfrm>
      </p:grpSpPr>
      <p:sp>
        <p:nvSpPr>
          <p:cNvPr id="5769" name="Google Shape;5769;p294: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770" name="Google Shape;5770;p29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71" name="Google Shape;5771;p29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SECURITIZATION</a:t>
            </a:r>
            <a:endParaRPr/>
          </a:p>
          <a:p>
            <a:pPr indent="0" lvl="0" marL="0" rtl="0" algn="l">
              <a:spcBef>
                <a:spcPts val="400"/>
              </a:spcBef>
              <a:spcAft>
                <a:spcPts val="0"/>
              </a:spcAft>
              <a:buNone/>
            </a:pPr>
            <a:r>
              <a:rPr lang="en-GB" sz="1200"/>
              <a:t>ABS market is small but strategic:</a:t>
            </a:r>
            <a:endParaRPr/>
          </a:p>
          <a:p>
            <a:pPr indent="0" lvl="0" marL="0" rtl="0" algn="l">
              <a:spcBef>
                <a:spcPts val="400"/>
              </a:spcBef>
              <a:spcAft>
                <a:spcPts val="0"/>
              </a:spcAft>
              <a:buNone/>
            </a:pPr>
            <a:r>
              <a:rPr lang="en-GB" sz="1200"/>
              <a:t>- Government Sukuk (Ijara): Largest securitization - PKR-denominated Sukuk backed by government assets</a:t>
            </a:r>
            <a:endParaRPr/>
          </a:p>
          <a:p>
            <a:pPr indent="0" lvl="0" marL="0" rtl="0" algn="l">
              <a:spcBef>
                <a:spcPts val="400"/>
              </a:spcBef>
              <a:spcAft>
                <a:spcPts val="0"/>
              </a:spcAft>
              <a:buNone/>
            </a:pPr>
            <a:r>
              <a:rPr lang="en-GB" sz="1200"/>
              <a:t>- Corporate Sukuk: Growing - K-Electric, WAPDA, major corporates</a:t>
            </a:r>
            <a:endParaRPr/>
          </a:p>
          <a:p>
            <a:pPr indent="0" lvl="0" marL="0" rtl="0" algn="l">
              <a:spcBef>
                <a:spcPts val="400"/>
              </a:spcBef>
              <a:spcAft>
                <a:spcPts val="0"/>
              </a:spcAft>
              <a:buNone/>
            </a:pPr>
            <a:r>
              <a:rPr lang="en-GB" sz="1200"/>
              <a:t>- Bank securitization: Limited - a few auto loan securitizations attempted</a:t>
            </a:r>
            <a:endParaRPr/>
          </a:p>
          <a:p>
            <a:pPr indent="0" lvl="0" marL="0" rtl="0" algn="l">
              <a:spcBef>
                <a:spcPts val="400"/>
              </a:spcBef>
              <a:spcAft>
                <a:spcPts val="0"/>
              </a:spcAft>
              <a:buNone/>
            </a:pPr>
            <a:r>
              <a:rPr lang="en-GB" sz="1200"/>
              <a:t>- SBP guidelines: Asset Securitization Rules 2019 provide framework</a:t>
            </a:r>
            <a:endParaRPr/>
          </a:p>
          <a:p>
            <a:pPr indent="0" lvl="0" marL="0" rtl="0" algn="l">
              <a:spcBef>
                <a:spcPts val="600"/>
              </a:spcBef>
              <a:spcAft>
                <a:spcPts val="200"/>
              </a:spcAft>
              <a:buNone/>
            </a:pPr>
            <a:r>
              <a:rPr b="1" lang="en-GB" sz="1200"/>
              <a:t>ANALYTICS NEEDED</a:t>
            </a:r>
            <a:endParaRPr/>
          </a:p>
          <a:p>
            <a:pPr indent="0" lvl="0" marL="0" rtl="0" algn="l">
              <a:spcBef>
                <a:spcPts val="400"/>
              </a:spcBef>
              <a:spcAft>
                <a:spcPts val="0"/>
              </a:spcAft>
              <a:buNone/>
            </a:pPr>
            <a:r>
              <a:rPr lang="en-GB" sz="1200"/>
              <a:t>Pool performance tracking (delinquency, prepayment, loss), cash waterfall modeling, investor reporting</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SCRTZTN (Securitization), SCRTY (Security), SUKUK (Sukuk), ABS_POOL (ABS Pool), CSHFLW_WTRFL (Cashflow Waterfall)</a:t>
            </a:r>
            <a:endParaRPr/>
          </a:p>
        </p:txBody>
      </p:sp>
    </p:spTree>
  </p:cSld>
  <p:clrMapOvr>
    <a:masterClrMapping/>
  </p:clrMapOvr>
</p:notes>
</file>

<file path=ppt/notesSlides/notesSlide2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8" name="Shape 5788"/>
        <p:cNvGrpSpPr/>
        <p:nvPr/>
      </p:nvGrpSpPr>
      <p:grpSpPr>
        <a:xfrm>
          <a:off x="0" y="0"/>
          <a:ext cx="0" cy="0"/>
          <a:chOff x="0" y="0"/>
          <a:chExt cx="0" cy="0"/>
        </a:xfrm>
      </p:grpSpPr>
      <p:sp>
        <p:nvSpPr>
          <p:cNvPr id="5789" name="Google Shape;5789;p295: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790" name="Google Shape;5790;p29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1" name="Google Shape;5791;p29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RECONCILIATION - HIGH PRIORITY</a:t>
            </a:r>
            <a:endParaRPr/>
          </a:p>
          <a:p>
            <a:pPr indent="0" lvl="0" marL="0" rtl="0" algn="l">
              <a:spcBef>
                <a:spcPts val="400"/>
              </a:spcBef>
              <a:spcAft>
                <a:spcPts val="0"/>
              </a:spcAft>
              <a:buNone/>
            </a:pPr>
            <a:r>
              <a:rPr lang="en-GB" sz="1200"/>
              <a:t>This is one of the biggest pain points for Pakistan bank finance teams:</a:t>
            </a:r>
            <a:endParaRPr/>
          </a:p>
          <a:p>
            <a:pPr indent="0" lvl="0" marL="0" rtl="0" algn="l">
              <a:spcBef>
                <a:spcPts val="400"/>
              </a:spcBef>
              <a:spcAft>
                <a:spcPts val="0"/>
              </a:spcAft>
              <a:buNone/>
            </a:pPr>
            <a:r>
              <a:rPr lang="en-GB" sz="1200"/>
              <a:t>1. CORE SYSTEM to GL: Each of 4-5 core systems posts to GL independently. Must reconcile daily.</a:t>
            </a:r>
            <a:endParaRPr/>
          </a:p>
          <a:p>
            <a:pPr indent="0" lvl="0" marL="0" rtl="0" algn="l">
              <a:spcBef>
                <a:spcPts val="400"/>
              </a:spcBef>
              <a:spcAft>
                <a:spcPts val="0"/>
              </a:spcAft>
              <a:buNone/>
            </a:pPr>
            <a:r>
              <a:rPr lang="en-GB" sz="1200"/>
              <a:t>2. PAYMENT SYSTEMS: RAAST (real-time), 1Link (ATM/POS), NIFT (cheque clearing), SWIFT (international)</a:t>
            </a:r>
            <a:endParaRPr/>
          </a:p>
          <a:p>
            <a:pPr indent="0" lvl="0" marL="0" rtl="0" algn="l">
              <a:spcBef>
                <a:spcPts val="400"/>
              </a:spcBef>
              <a:spcAft>
                <a:spcPts val="0"/>
              </a:spcAft>
              <a:buNone/>
            </a:pPr>
            <a:r>
              <a:rPr lang="en-GB" sz="1200"/>
              <a:t>3. CARD NETWORKS: Visa and Mastercard daily settlement files must reconcile against card system and GL</a:t>
            </a:r>
            <a:endParaRPr/>
          </a:p>
          <a:p>
            <a:pPr indent="0" lvl="0" marL="0" rtl="0" algn="l">
              <a:spcBef>
                <a:spcPts val="400"/>
              </a:spcBef>
              <a:spcAft>
                <a:spcPts val="0"/>
              </a:spcAft>
              <a:buNone/>
            </a:pPr>
            <a:r>
              <a:rPr lang="en-GB" sz="1200"/>
              <a:t>4. NOSTRO/VOSTRO: Correspondent bank accounts reconciled daily (often manually with SWIFT statements)</a:t>
            </a:r>
            <a:endParaRPr/>
          </a:p>
          <a:p>
            <a:pPr indent="0" lvl="0" marL="0" rtl="0" algn="l">
              <a:spcBef>
                <a:spcPts val="400"/>
              </a:spcBef>
              <a:spcAft>
                <a:spcPts val="0"/>
              </a:spcAft>
              <a:buNone/>
            </a:pPr>
            <a:r>
              <a:rPr lang="en-GB" sz="1200"/>
              <a:t>5. INTER-BRANCH: Head office vs. branch ledger reconciliation (SBP requires this)</a:t>
            </a:r>
            <a:endParaRPr/>
          </a:p>
          <a:p>
            <a:pPr indent="0" lvl="0" marL="0" rtl="0" algn="l">
              <a:spcBef>
                <a:spcPts val="400"/>
              </a:spcBef>
              <a:spcAft>
                <a:spcPts val="0"/>
              </a:spcAft>
              <a:buNone/>
            </a:pPr>
            <a:r>
              <a:rPr lang="en-GB" sz="1200"/>
              <a:t>Estimated: Large Pakistan banks employ 50-100 staff just for reconciliation activities.</a:t>
            </a:r>
            <a:endParaRPr/>
          </a:p>
          <a:p>
            <a:pPr indent="0" lvl="0" marL="0" rtl="0" algn="l">
              <a:spcBef>
                <a:spcPts val="400"/>
              </a:spcBef>
              <a:spcAft>
                <a:spcPts val="0"/>
              </a:spcAft>
              <a:buNone/>
            </a:pPr>
            <a:r>
              <a:rPr lang="en-GB" sz="1200"/>
              <a:t>Automation opportunity: 70-80% of breaks follow patterns that can be auto-resolved with rules.</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RCNCLTN (Reconciliation), BREK (Break), ADJSTMNT (Adjustment), GL_BLNC (GL Balance), STLMNT (Settlement), NSTRO (Nostro)</a:t>
            </a:r>
            <a:endParaRPr/>
          </a:p>
          <a:p>
            <a:pPr indent="0" lvl="0" marL="0" rtl="0" algn="l">
              <a:spcBef>
                <a:spcPts val="600"/>
              </a:spcBef>
              <a:spcAft>
                <a:spcPts val="200"/>
              </a:spcAft>
              <a:buNone/>
            </a:pPr>
            <a:r>
              <a:rPr b="1" lang="en-GB" sz="1200"/>
              <a:t>BVF CROSS-REFERENCE</a:t>
            </a:r>
            <a:endParaRPr/>
          </a:p>
          <a:p>
            <a:pPr indent="0" lvl="0" marL="0" rtl="0" algn="l">
              <a:spcBef>
                <a:spcPts val="400"/>
              </a:spcBef>
              <a:spcAft>
                <a:spcPts val="0"/>
              </a:spcAft>
              <a:buNone/>
            </a:pPr>
            <a:r>
              <a:rPr lang="en-GB" sz="1200"/>
              <a:t>BVF Capability: Accounting Operations &gt; Reconciliation, Validation &amp; Adjustments (File 07, Slides 36-37)</a:t>
            </a:r>
            <a:endParaRPr/>
          </a:p>
        </p:txBody>
      </p:sp>
    </p:spTree>
  </p:cSld>
  <p:clrMapOvr>
    <a:masterClrMapping/>
  </p:clrMapOvr>
</p:notes>
</file>

<file path=ppt/notesSlides/notesSlide2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8" name="Shape 5808"/>
        <p:cNvGrpSpPr/>
        <p:nvPr/>
      </p:nvGrpSpPr>
      <p:grpSpPr>
        <a:xfrm>
          <a:off x="0" y="0"/>
          <a:ext cx="0" cy="0"/>
          <a:chOff x="0" y="0"/>
          <a:chExt cx="0" cy="0"/>
        </a:xfrm>
      </p:grpSpPr>
      <p:sp>
        <p:nvSpPr>
          <p:cNvPr id="5809" name="Google Shape;5809;p296: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810" name="Google Shape;5810;p29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11" name="Google Shape;5811;p29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CONSOLIDATION</a:t>
            </a:r>
            <a:endParaRPr/>
          </a:p>
          <a:p>
            <a:pPr indent="0" lvl="0" marL="0" rtl="0" algn="l">
              <a:spcBef>
                <a:spcPts val="400"/>
              </a:spcBef>
              <a:spcAft>
                <a:spcPts val="0"/>
              </a:spcAft>
              <a:buNone/>
            </a:pPr>
            <a:r>
              <a:rPr lang="en-GB" sz="1200"/>
              <a:t>Banking group consolidation scope (typical large bank):</a:t>
            </a:r>
            <a:endParaRPr/>
          </a:p>
          <a:p>
            <a:pPr indent="0" lvl="0" marL="0" rtl="0" algn="l">
              <a:spcBef>
                <a:spcPts val="400"/>
              </a:spcBef>
              <a:spcAft>
                <a:spcPts val="0"/>
              </a:spcAft>
              <a:buNone/>
            </a:pPr>
            <a:r>
              <a:rPr lang="en-GB" sz="1200"/>
              <a:t>- Conventional bank (parent) - primary core banking system</a:t>
            </a:r>
            <a:endParaRPr/>
          </a:p>
          <a:p>
            <a:pPr indent="0" lvl="0" marL="0" rtl="0" algn="l">
              <a:spcBef>
                <a:spcPts val="400"/>
              </a:spcBef>
              <a:spcAft>
                <a:spcPts val="0"/>
              </a:spcAft>
              <a:buNone/>
            </a:pPr>
            <a:r>
              <a:rPr lang="en-GB" sz="1200"/>
              <a:t>- Islamic banking subsidiary or window - separate books (IFRS + AAOIFI)</a:t>
            </a:r>
            <a:endParaRPr/>
          </a:p>
          <a:p>
            <a:pPr indent="0" lvl="0" marL="0" rtl="0" algn="l">
              <a:spcBef>
                <a:spcPts val="400"/>
              </a:spcBef>
              <a:spcAft>
                <a:spcPts val="0"/>
              </a:spcAft>
              <a:buNone/>
            </a:pPr>
            <a:r>
              <a:rPr lang="en-GB" sz="1200"/>
              <a:t>- Insurance/Takaful subsidiary - IFRS 4/17 applicable</a:t>
            </a:r>
            <a:endParaRPr/>
          </a:p>
          <a:p>
            <a:pPr indent="0" lvl="0" marL="0" rtl="0" algn="l">
              <a:spcBef>
                <a:spcPts val="400"/>
              </a:spcBef>
              <a:spcAft>
                <a:spcPts val="0"/>
              </a:spcAft>
              <a:buNone/>
            </a:pPr>
            <a:r>
              <a:rPr lang="en-GB" sz="1200"/>
              <a:t>- Asset management company - mutual fund NAV accounting</a:t>
            </a:r>
            <a:endParaRPr/>
          </a:p>
          <a:p>
            <a:pPr indent="0" lvl="0" marL="0" rtl="0" algn="l">
              <a:spcBef>
                <a:spcPts val="400"/>
              </a:spcBef>
              <a:spcAft>
                <a:spcPts val="0"/>
              </a:spcAft>
              <a:buNone/>
            </a:pPr>
            <a:r>
              <a:rPr lang="en-GB" sz="1200"/>
              <a:t>- Brokerage subsidiary - CDC/NCCPL reporting</a:t>
            </a:r>
            <a:endParaRPr/>
          </a:p>
          <a:p>
            <a:pPr indent="0" lvl="0" marL="0" rtl="0" algn="l">
              <a:spcBef>
                <a:spcPts val="400"/>
              </a:spcBef>
              <a:spcAft>
                <a:spcPts val="0"/>
              </a:spcAft>
              <a:buNone/>
            </a:pPr>
            <a:r>
              <a:rPr lang="en-GB" sz="1200"/>
              <a:t>- Microfinance bank, leasing company, overseas branches</a:t>
            </a:r>
            <a:endParaRPr/>
          </a:p>
          <a:p>
            <a:pPr indent="0" lvl="0" marL="0" rtl="0" algn="l">
              <a:spcBef>
                <a:spcPts val="400"/>
              </a:spcBef>
              <a:spcAft>
                <a:spcPts val="0"/>
              </a:spcAft>
              <a:buNone/>
            </a:pPr>
            <a:r>
              <a:rPr lang="en-GB" sz="1200"/>
              <a:t>Challenges: Different ERPs, dual GAAP for Islamic, inter-company elimination, SBP requires solo AND consolidated returns</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CNSLDTN (Consolidation), LGL_ENTTY (Legal Entity), IC_TXN (Inter-Company Transaction), ELMNTN (Elimination), FX_TRNSLTN (FX Translation)</a:t>
            </a:r>
            <a:endParaRPr/>
          </a:p>
        </p:txBody>
      </p:sp>
    </p:spTree>
  </p:cSld>
  <p:clrMapOvr>
    <a:masterClrMapping/>
  </p:clrMapOvr>
</p:notes>
</file>

<file path=ppt/notesSlides/notesSlide2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8" name="Shape 5828"/>
        <p:cNvGrpSpPr/>
        <p:nvPr/>
      </p:nvGrpSpPr>
      <p:grpSpPr>
        <a:xfrm>
          <a:off x="0" y="0"/>
          <a:ext cx="0" cy="0"/>
          <a:chOff x="0" y="0"/>
          <a:chExt cx="0" cy="0"/>
        </a:xfrm>
      </p:grpSpPr>
      <p:sp>
        <p:nvSpPr>
          <p:cNvPr id="5829" name="Google Shape;5829;p297: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830" name="Google Shape;5830;p29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1" name="Google Shape;5831;p29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CLOSE PROCESS - HIGH PRIORITY</a:t>
            </a:r>
            <a:endParaRPr/>
          </a:p>
          <a:p>
            <a:pPr indent="0" lvl="0" marL="0" rtl="0" algn="l">
              <a:spcBef>
                <a:spcPts val="400"/>
              </a:spcBef>
              <a:spcAft>
                <a:spcPts val="0"/>
              </a:spcAft>
              <a:buNone/>
            </a:pPr>
            <a:r>
              <a:rPr lang="en-GB" sz="1200"/>
              <a:t>Typical Pakistan bank monthly close timeline:</a:t>
            </a:r>
            <a:endParaRPr/>
          </a:p>
          <a:p>
            <a:pPr indent="0" lvl="0" marL="0" rtl="0" algn="l">
              <a:spcBef>
                <a:spcPts val="400"/>
              </a:spcBef>
              <a:spcAft>
                <a:spcPts val="0"/>
              </a:spcAft>
              <a:buNone/>
            </a:pPr>
            <a:r>
              <a:rPr lang="en-GB" sz="1200"/>
              <a:t>Day 1-5: Data extraction from core systems, initial GL close</a:t>
            </a:r>
            <a:endParaRPr/>
          </a:p>
          <a:p>
            <a:pPr indent="0" lvl="0" marL="0" rtl="0" algn="l">
              <a:spcBef>
                <a:spcPts val="400"/>
              </a:spcBef>
              <a:spcAft>
                <a:spcPts val="0"/>
              </a:spcAft>
              <a:buNone/>
            </a:pPr>
            <a:r>
              <a:rPr lang="en-GB" sz="1200"/>
              <a:t>Day 5-10: Reconciliation (GL-to-source, inter-branch, nostro/vostro)</a:t>
            </a:r>
            <a:endParaRPr/>
          </a:p>
          <a:p>
            <a:pPr indent="0" lvl="0" marL="0" rtl="0" algn="l">
              <a:spcBef>
                <a:spcPts val="400"/>
              </a:spcBef>
              <a:spcAft>
                <a:spcPts val="0"/>
              </a:spcAft>
              <a:buNone/>
            </a:pPr>
            <a:r>
              <a:rPr lang="en-GB" sz="1200"/>
              <a:t>Day 10-15: IFRS 9 ECL recalculation, provision adjustments</a:t>
            </a:r>
            <a:endParaRPr/>
          </a:p>
          <a:p>
            <a:pPr indent="0" lvl="0" marL="0" rtl="0" algn="l">
              <a:spcBef>
                <a:spcPts val="400"/>
              </a:spcBef>
              <a:spcAft>
                <a:spcPts val="0"/>
              </a:spcAft>
              <a:buNone/>
            </a:pPr>
            <a:r>
              <a:rPr lang="en-GB" sz="1200"/>
              <a:t>Day 15-20: Inter-company eliminations, Islamic accounting entries</a:t>
            </a:r>
            <a:endParaRPr/>
          </a:p>
          <a:p>
            <a:pPr indent="0" lvl="0" marL="0" rtl="0" algn="l">
              <a:spcBef>
                <a:spcPts val="400"/>
              </a:spcBef>
              <a:spcAft>
                <a:spcPts val="0"/>
              </a:spcAft>
              <a:buNone/>
            </a:pPr>
            <a:r>
              <a:rPr lang="en-GB" sz="1200"/>
              <a:t>Day 20-30: Management review, adjustments, final close</a:t>
            </a:r>
            <a:endParaRPr/>
          </a:p>
          <a:p>
            <a:pPr indent="0" lvl="0" marL="0" rtl="0" algn="l">
              <a:spcBef>
                <a:spcPts val="600"/>
              </a:spcBef>
              <a:spcAft>
                <a:spcPts val="200"/>
              </a:spcAft>
              <a:buNone/>
            </a:pPr>
            <a:r>
              <a:rPr b="1" lang="en-GB" sz="1200"/>
              <a:t>TARGET</a:t>
            </a:r>
            <a:endParaRPr/>
          </a:p>
          <a:p>
            <a:pPr indent="0" lvl="0" marL="0" rtl="0" algn="l">
              <a:spcBef>
                <a:spcPts val="400"/>
              </a:spcBef>
              <a:spcAft>
                <a:spcPts val="0"/>
              </a:spcAft>
              <a:buNone/>
            </a:pPr>
            <a:r>
              <a:rPr lang="en-GB" sz="1200"/>
              <a:t>Day 1-2: Automated extraction and reconciliation</a:t>
            </a:r>
            <a:endParaRPr/>
          </a:p>
          <a:p>
            <a:pPr indent="0" lvl="0" marL="0" rtl="0" algn="l">
              <a:spcBef>
                <a:spcPts val="400"/>
              </a:spcBef>
              <a:spcAft>
                <a:spcPts val="0"/>
              </a:spcAft>
              <a:buNone/>
            </a:pPr>
            <a:r>
              <a:rPr lang="en-GB" sz="1200"/>
              <a:t>Day 2-3: Automated IFRS 9 ECL, provisions, Islamic entries</a:t>
            </a:r>
            <a:endParaRPr/>
          </a:p>
          <a:p>
            <a:pPr indent="0" lvl="0" marL="0" rtl="0" algn="l">
              <a:spcBef>
                <a:spcPts val="400"/>
              </a:spcBef>
              <a:spcAft>
                <a:spcPts val="0"/>
              </a:spcAft>
              <a:buNone/>
            </a:pPr>
            <a:r>
              <a:rPr lang="en-GB" sz="1200"/>
              <a:t>Day 3-5: Automated consolidation, management review, final close</a:t>
            </a:r>
            <a:endParaRPr/>
          </a:p>
          <a:p>
            <a:pPr indent="0" lvl="0" marL="0" rtl="0" algn="l">
              <a:spcBef>
                <a:spcPts val="400"/>
              </a:spcBef>
              <a:spcAft>
                <a:spcPts val="0"/>
              </a:spcAft>
              <a:buNone/>
            </a:pPr>
            <a:r>
              <a:rPr lang="en-GB" sz="1200"/>
              <a:t>Enabler: FSDM data warehouse with automated GL/sub-ledger feeds.</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CLS_PRCS (Close Process), GL_CLS (GL Close), ADJSTMNT (Adjustment), RCNCLTN (Reconciliation), RPT_PRD (Reporting Period)</a:t>
            </a:r>
            <a:endParaRPr/>
          </a:p>
        </p:txBody>
      </p:sp>
    </p:spTree>
  </p:cSld>
  <p:clrMapOvr>
    <a:masterClrMapping/>
  </p:clrMapOvr>
</p:notes>
</file>

<file path=ppt/notesSlides/notesSlide2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8" name="Shape 5848"/>
        <p:cNvGrpSpPr/>
        <p:nvPr/>
      </p:nvGrpSpPr>
      <p:grpSpPr>
        <a:xfrm>
          <a:off x="0" y="0"/>
          <a:ext cx="0" cy="0"/>
          <a:chOff x="0" y="0"/>
          <a:chExt cx="0" cy="0"/>
        </a:xfrm>
      </p:grpSpPr>
      <p:sp>
        <p:nvSpPr>
          <p:cNvPr id="5849" name="Google Shape;5849;p298: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850" name="Google Shape;5850;p29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51" name="Google Shape;5851;p29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DATA ACQUISITION</a:t>
            </a:r>
            <a:endParaRPr/>
          </a:p>
          <a:p>
            <a:pPr indent="0" lvl="0" marL="0" rtl="0" algn="l">
              <a:spcBef>
                <a:spcPts val="400"/>
              </a:spcBef>
              <a:spcAft>
                <a:spcPts val="0"/>
              </a:spcAft>
              <a:buNone/>
            </a:pPr>
            <a:r>
              <a:rPr lang="en-GB" sz="1200"/>
              <a:t>Current state: Batch ETL runs 6-12 hours overnight from multiple core systems.</a:t>
            </a:r>
            <a:endParaRPr/>
          </a:p>
          <a:p>
            <a:pPr indent="0" lvl="0" marL="0" rtl="0" algn="l">
              <a:spcBef>
                <a:spcPts val="400"/>
              </a:spcBef>
              <a:spcAft>
                <a:spcPts val="0"/>
              </a:spcAft>
              <a:buNone/>
            </a:pPr>
            <a:r>
              <a:rPr lang="en-GB" sz="1200"/>
              <a:t>Target: Near-real-time for treasury/liquidity; T+0 for finance team access.</a:t>
            </a:r>
            <a:endParaRPr/>
          </a:p>
          <a:p>
            <a:pPr indent="0" lvl="0" marL="0" rtl="0" algn="l">
              <a:spcBef>
                <a:spcPts val="400"/>
              </a:spcBef>
              <a:spcAft>
                <a:spcPts val="0"/>
              </a:spcAft>
              <a:buNone/>
            </a:pPr>
            <a:r>
              <a:rPr lang="en-GB" sz="1200"/>
              <a:t>Data sources: CTL, Temenos, Oracle, Finacle, Islamic sub-system, cards, trade finance, treasury.</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ETL (ETL), DATA_FEED (Data Feed), SRC_SYS (Source System), DATA_QLTY (Data Quality)</a:t>
            </a:r>
            <a:endParaRPr/>
          </a:p>
        </p:txBody>
      </p:sp>
    </p:spTree>
  </p:cSld>
  <p:clrMapOvr>
    <a:masterClrMapping/>
  </p:clrMapOvr>
</p:notes>
</file>

<file path=ppt/notesSlides/notesSlide2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8" name="Shape 5868"/>
        <p:cNvGrpSpPr/>
        <p:nvPr/>
      </p:nvGrpSpPr>
      <p:grpSpPr>
        <a:xfrm>
          <a:off x="0" y="0"/>
          <a:ext cx="0" cy="0"/>
          <a:chOff x="0" y="0"/>
          <a:chExt cx="0" cy="0"/>
        </a:xfrm>
      </p:grpSpPr>
      <p:sp>
        <p:nvSpPr>
          <p:cNvPr id="5869" name="Google Shape;5869;p299: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870" name="Google Shape;5870;p29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1" name="Google Shape;5871;p29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REVENUE ANALYTICS</a:t>
            </a:r>
            <a:endParaRPr/>
          </a:p>
          <a:p>
            <a:pPr indent="0" lvl="0" marL="0" rtl="0" algn="l">
              <a:spcBef>
                <a:spcPts val="400"/>
              </a:spcBef>
              <a:spcAft>
                <a:spcPts val="0"/>
              </a:spcAft>
              <a:buNone/>
            </a:pPr>
            <a:r>
              <a:rPr lang="en-GB" sz="1200"/>
              <a:t>Revenue decomposition for a typical large Pakistan bank:</a:t>
            </a:r>
            <a:endParaRPr/>
          </a:p>
          <a:p>
            <a:pPr indent="0" lvl="0" marL="0" rtl="0" algn="l">
              <a:spcBef>
                <a:spcPts val="400"/>
              </a:spcBef>
              <a:spcAft>
                <a:spcPts val="0"/>
              </a:spcAft>
              <a:buNone/>
            </a:pPr>
            <a:r>
              <a:rPr lang="en-GB" sz="1200"/>
              <a:t>- NII on advances: KIBOR + 2-8% spread on advance portfolio</a:t>
            </a:r>
            <a:endParaRPr/>
          </a:p>
          <a:p>
            <a:pPr indent="0" lvl="0" marL="0" rtl="0" algn="l">
              <a:spcBef>
                <a:spcPts val="400"/>
              </a:spcBef>
              <a:spcAft>
                <a:spcPts val="0"/>
              </a:spcAft>
              <a:buNone/>
            </a:pPr>
            <a:r>
              <a:rPr lang="en-GB" sz="1200"/>
              <a:t>- NII on investments: PIB/T-Bill yield minus cost of funds on investment portfolio</a:t>
            </a:r>
            <a:endParaRPr/>
          </a:p>
          <a:p>
            <a:pPr indent="0" lvl="0" marL="0" rtl="0" algn="l">
              <a:spcBef>
                <a:spcPts val="400"/>
              </a:spcBef>
              <a:spcAft>
                <a:spcPts val="0"/>
              </a:spcAft>
              <a:buNone/>
            </a:pPr>
            <a:r>
              <a:rPr lang="en-GB" sz="1200"/>
              <a:t>- CASA benefit: Zero/low cost deposits deployed at KIBOR+ rates</a:t>
            </a:r>
            <a:endParaRPr/>
          </a:p>
          <a:p>
            <a:pPr indent="0" lvl="0" marL="0" rtl="0" algn="l">
              <a:spcBef>
                <a:spcPts val="400"/>
              </a:spcBef>
              <a:spcAft>
                <a:spcPts val="0"/>
              </a:spcAft>
              <a:buNone/>
            </a:pPr>
            <a:r>
              <a:rPr lang="en-GB" sz="1200"/>
              <a:t>- Fee income: Trade finance (LC/LG), card fees, transaction fees</a:t>
            </a:r>
            <a:endParaRPr/>
          </a:p>
          <a:p>
            <a:pPr indent="0" lvl="0" marL="0" rtl="0" algn="l">
              <a:spcBef>
                <a:spcPts val="400"/>
              </a:spcBef>
              <a:spcAft>
                <a:spcPts val="0"/>
              </a:spcAft>
              <a:buNone/>
            </a:pPr>
            <a:r>
              <a:rPr lang="en-GB" sz="1200"/>
              <a:t>- FX income: Remittance spread, trade FX, treasury trading</a:t>
            </a:r>
            <a:endParaRPr/>
          </a:p>
          <a:p>
            <a:pPr indent="0" lvl="0" marL="0" rtl="0" algn="l">
              <a:spcBef>
                <a:spcPts val="400"/>
              </a:spcBef>
              <a:spcAft>
                <a:spcPts val="0"/>
              </a:spcAft>
              <a:buNone/>
            </a:pPr>
            <a:r>
              <a:rPr lang="en-GB" sz="1200"/>
              <a:t>Key analytics: NII sensitivity (100bps = PKR 5-10B), Fee leakage, CASA mix drift (1% shift = PKR 2-3B NII impact)</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RVNU (Revenue), NII (NII), FEE_INCM (Fee Income), FX_INCM (FX Income), PRDCT_RVNU (Product Revenue)</a:t>
            </a:r>
            <a:endParaRPr/>
          </a:p>
          <a:p>
            <a:pPr indent="0" lvl="0" marL="0" rtl="0" algn="l">
              <a:spcBef>
                <a:spcPts val="600"/>
              </a:spcBef>
              <a:spcAft>
                <a:spcPts val="200"/>
              </a:spcAft>
              <a:buNone/>
            </a:pPr>
            <a:r>
              <a:rPr b="1" lang="en-GB" sz="1200"/>
              <a:t>BVF CROSS-REFERENCE</a:t>
            </a:r>
            <a:endParaRPr/>
          </a:p>
          <a:p>
            <a:pPr indent="0" lvl="0" marL="0" rtl="0" algn="l">
              <a:spcBef>
                <a:spcPts val="400"/>
              </a:spcBef>
              <a:spcAft>
                <a:spcPts val="0"/>
              </a:spcAft>
              <a:buNone/>
            </a:pPr>
            <a:r>
              <a:rPr lang="en-GB" sz="1200"/>
              <a:t>BVF Capability: EPM &gt; Revenue Analytics (File 08, Slides 1-2)</a:t>
            </a:r>
            <a:endParaRPr/>
          </a:p>
        </p:txBody>
      </p:sp>
    </p:spTree>
  </p:cSld>
  <p:clrMapOvr>
    <a:masterClrMapping/>
  </p:clrMapOvr>
</p:notes>
</file>

<file path=ppt/notesSlides/notesSlide3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8" name="Shape 5888"/>
        <p:cNvGrpSpPr/>
        <p:nvPr/>
      </p:nvGrpSpPr>
      <p:grpSpPr>
        <a:xfrm>
          <a:off x="0" y="0"/>
          <a:ext cx="0" cy="0"/>
          <a:chOff x="0" y="0"/>
          <a:chExt cx="0" cy="0"/>
        </a:xfrm>
      </p:grpSpPr>
      <p:sp>
        <p:nvSpPr>
          <p:cNvPr id="5889" name="Google Shape;5889;p300: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890" name="Google Shape;5890;p30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91" name="Google Shape;5891;p30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BANKING HR</a:t>
            </a:r>
            <a:endParaRPr/>
          </a:p>
          <a:p>
            <a:pPr indent="0" lvl="0" marL="0" rtl="0" algn="l">
              <a:spcBef>
                <a:spcPts val="400"/>
              </a:spcBef>
              <a:spcAft>
                <a:spcPts val="0"/>
              </a:spcAft>
              <a:buNone/>
            </a:pPr>
            <a:r>
              <a:rPr lang="en-GB" sz="1200"/>
              <a:t>- Top 5 banks each employ 15,000-25,000 staff</a:t>
            </a:r>
            <a:endParaRPr/>
          </a:p>
          <a:p>
            <a:pPr indent="0" lvl="0" marL="0" rtl="0" algn="l">
              <a:spcBef>
                <a:spcPts val="400"/>
              </a:spcBef>
              <a:spcAft>
                <a:spcPts val="0"/>
              </a:spcAft>
              <a:buNone/>
            </a:pPr>
            <a:r>
              <a:rPr lang="en-GB" sz="1200"/>
              <a:t>- Staff cost is 40-50% of operating expense - largest single cost line</a:t>
            </a:r>
            <a:endParaRPr/>
          </a:p>
          <a:p>
            <a:pPr indent="0" lvl="0" marL="0" rtl="0" algn="l">
              <a:spcBef>
                <a:spcPts val="400"/>
              </a:spcBef>
              <a:spcAft>
                <a:spcPts val="0"/>
              </a:spcAft>
              <a:buNone/>
            </a:pPr>
            <a:r>
              <a:rPr lang="en-GB" sz="1200"/>
              <a:t>- Branch staffing: average 8-15 staff per branch</a:t>
            </a:r>
            <a:endParaRPr/>
          </a:p>
          <a:p>
            <a:pPr indent="0" lvl="0" marL="0" rtl="0" algn="l">
              <a:spcBef>
                <a:spcPts val="400"/>
              </a:spcBef>
              <a:spcAft>
                <a:spcPts val="0"/>
              </a:spcAft>
              <a:buNone/>
            </a:pPr>
            <a:r>
              <a:rPr lang="en-GB" sz="1200"/>
              <a:t>- Revenue per employee: PKR 10-25M, Cost per employee: PKR 3-8M</a:t>
            </a:r>
            <a:endParaRPr/>
          </a:p>
          <a:p>
            <a:pPr indent="0" lvl="0" marL="0" rtl="0" algn="l">
              <a:spcBef>
                <a:spcPts val="400"/>
              </a:spcBef>
              <a:spcAft>
                <a:spcPts val="0"/>
              </a:spcAft>
              <a:buNone/>
            </a:pPr>
            <a:r>
              <a:rPr lang="en-GB" sz="1200"/>
              <a:t>- Attrition: 10-15% voluntary - higher in IT/digital roles (poached by fintechs)</a:t>
            </a:r>
            <a:endParaRPr/>
          </a:p>
          <a:p>
            <a:pPr indent="0" lvl="0" marL="0" rtl="0" algn="l">
              <a:spcBef>
                <a:spcPts val="400"/>
              </a:spcBef>
              <a:spcAft>
                <a:spcPts val="0"/>
              </a:spcAft>
              <a:buNone/>
            </a:pPr>
            <a:r>
              <a:rPr lang="en-GB" sz="1200"/>
              <a:t>Analytics priorities: Productivity benchmarking, attrition prediction, staffing optimization, learning path analysis</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EMPL (Employee), EMPL_PRFMNC (Employee Performance), CMPSTN (Compensation), ATTRTN (Attrition), STFNG (Staffing)</a:t>
            </a:r>
            <a:endParaRPr/>
          </a:p>
        </p:txBody>
      </p:sp>
    </p:spTree>
  </p:cSld>
  <p:clrMapOvr>
    <a:masterClrMapping/>
  </p:clrMapOvr>
</p:notes>
</file>

<file path=ppt/notesSlides/notesSlide3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8" name="Shape 5908"/>
        <p:cNvGrpSpPr/>
        <p:nvPr/>
      </p:nvGrpSpPr>
      <p:grpSpPr>
        <a:xfrm>
          <a:off x="0" y="0"/>
          <a:ext cx="0" cy="0"/>
          <a:chOff x="0" y="0"/>
          <a:chExt cx="0" cy="0"/>
        </a:xfrm>
      </p:grpSpPr>
      <p:sp>
        <p:nvSpPr>
          <p:cNvPr id="5909" name="Google Shape;5909;p301: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910" name="Google Shape;5910;p30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11" name="Google Shape;5911;p30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ABC - CRITICAL</a:t>
            </a:r>
            <a:endParaRPr/>
          </a:p>
          <a:p>
            <a:pPr indent="0" lvl="0" marL="0" rtl="0" algn="l">
              <a:spcBef>
                <a:spcPts val="400"/>
              </a:spcBef>
              <a:spcAft>
                <a:spcPts val="0"/>
              </a:spcAft>
              <a:buNone/>
            </a:pPr>
            <a:r>
              <a:rPr lang="en-GB" sz="1200"/>
              <a:t>ABC is the missing link in Pakistan banking profitability analysis. Without ABC:</a:t>
            </a:r>
            <a:endParaRPr/>
          </a:p>
          <a:p>
            <a:pPr indent="0" lvl="0" marL="0" rtl="0" algn="l">
              <a:spcBef>
                <a:spcPts val="400"/>
              </a:spcBef>
              <a:spcAft>
                <a:spcPts val="0"/>
              </a:spcAft>
              <a:buNone/>
            </a:pPr>
            <a:r>
              <a:rPr lang="en-GB" sz="1200"/>
              <a:t>- Branch profitability is distorted (high-headcount branches look expensive regardless of activity)</a:t>
            </a:r>
            <a:endParaRPr/>
          </a:p>
          <a:p>
            <a:pPr indent="0" lvl="0" marL="0" rtl="0" algn="l">
              <a:spcBef>
                <a:spcPts val="400"/>
              </a:spcBef>
              <a:spcAft>
                <a:spcPts val="0"/>
              </a:spcAft>
              <a:buNone/>
            </a:pPr>
            <a:r>
              <a:rPr lang="en-GB" sz="1200"/>
              <a:t>- Product profitability is misleading (cross-subsidies hidden)</a:t>
            </a:r>
            <a:endParaRPr/>
          </a:p>
          <a:p>
            <a:pPr indent="0" lvl="0" marL="0" rtl="0" algn="l">
              <a:spcBef>
                <a:spcPts val="400"/>
              </a:spcBef>
              <a:spcAft>
                <a:spcPts val="0"/>
              </a:spcAft>
              <a:buNone/>
            </a:pPr>
            <a:r>
              <a:rPr lang="en-GB" sz="1200"/>
              <a:t>- Customer profitability is incomplete (revenue known, true cost unknown)</a:t>
            </a:r>
            <a:endParaRPr/>
          </a:p>
          <a:p>
            <a:pPr indent="0" lvl="0" marL="0" rtl="0" algn="l">
              <a:spcBef>
                <a:spcPts val="400"/>
              </a:spcBef>
              <a:spcAft>
                <a:spcPts val="0"/>
              </a:spcAft>
              <a:buNone/>
            </a:pPr>
            <a:r>
              <a:rPr lang="en-GB" sz="1200"/>
              <a:t>- Channel migration business case cannot be quantified</a:t>
            </a:r>
            <a:endParaRPr/>
          </a:p>
          <a:p>
            <a:pPr indent="0" lvl="0" marL="0" rtl="0" algn="l">
              <a:spcBef>
                <a:spcPts val="600"/>
              </a:spcBef>
              <a:spcAft>
                <a:spcPts val="200"/>
              </a:spcAft>
              <a:buNone/>
            </a:pPr>
            <a:r>
              <a:rPr b="1" lang="en-GB" sz="1200"/>
              <a:t>UBL CONTEXT</a:t>
            </a:r>
            <a:endParaRPr/>
          </a:p>
          <a:p>
            <a:pPr indent="0" lvl="0" marL="0" rtl="0" algn="l">
              <a:spcBef>
                <a:spcPts val="400"/>
              </a:spcBef>
              <a:spcAft>
                <a:spcPts val="0"/>
              </a:spcAft>
              <a:buNone/>
            </a:pPr>
            <a:r>
              <a:rPr lang="en-GB" sz="1200"/>
              <a:t>FSDM already captures transaction volumes by customer, product, channel, branch - providing activity driver data for ABC.</a:t>
            </a:r>
            <a:endParaRPr/>
          </a:p>
          <a:p>
            <a:pPr indent="0" lvl="0" marL="0" rtl="0" algn="l">
              <a:spcBef>
                <a:spcPts val="400"/>
              </a:spcBef>
              <a:spcAft>
                <a:spcPts val="0"/>
              </a:spcAft>
              <a:buNone/>
            </a:pPr>
            <a:r>
              <a:rPr lang="en-GB" sz="1200"/>
              <a:t>The Customer Profitability Engine needs ABC-based cost allocation to complete the profitability P&amp;L.</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ACTVTY (Activity), UNT_CST (Unit Cost), CST_DRVR (Cost Driver), CST_ALLCTN (Cost Allocation), CHNL_CST (Channel Cost)</a:t>
            </a:r>
            <a:endParaRPr/>
          </a:p>
          <a:p>
            <a:pPr indent="0" lvl="0" marL="0" rtl="0" algn="l">
              <a:spcBef>
                <a:spcPts val="600"/>
              </a:spcBef>
              <a:spcAft>
                <a:spcPts val="200"/>
              </a:spcAft>
              <a:buNone/>
            </a:pPr>
            <a:r>
              <a:rPr b="1" lang="en-GB" sz="1200"/>
              <a:t>BVF CROSS-REFERENCE</a:t>
            </a:r>
            <a:endParaRPr/>
          </a:p>
          <a:p>
            <a:pPr indent="0" lvl="0" marL="0" rtl="0" algn="l">
              <a:spcBef>
                <a:spcPts val="400"/>
              </a:spcBef>
              <a:spcAft>
                <a:spcPts val="0"/>
              </a:spcAft>
              <a:buNone/>
            </a:pPr>
            <a:r>
              <a:rPr lang="en-GB" sz="1200"/>
              <a:t>BVF Capability: EPM &gt; Activity Based Costing (File 08, Slides 5-6)</a:t>
            </a:r>
            <a:endParaRPr/>
          </a:p>
        </p:txBody>
      </p:sp>
    </p:spTree>
  </p:cSld>
  <p:clrMapOvr>
    <a:masterClrMapping/>
  </p:clrMapOvr>
</p:notes>
</file>

<file path=ppt/notesSlides/notesSlide3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8" name="Shape 5928"/>
        <p:cNvGrpSpPr/>
        <p:nvPr/>
      </p:nvGrpSpPr>
      <p:grpSpPr>
        <a:xfrm>
          <a:off x="0" y="0"/>
          <a:ext cx="0" cy="0"/>
          <a:chOff x="0" y="0"/>
          <a:chExt cx="0" cy="0"/>
        </a:xfrm>
      </p:grpSpPr>
      <p:sp>
        <p:nvSpPr>
          <p:cNvPr id="5929" name="Google Shape;5929;p302: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930" name="Google Shape;5930;p30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31" name="Google Shape;5931;p30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RAROC - CRITICAL</a:t>
            </a:r>
            <a:endParaRPr/>
          </a:p>
          <a:p>
            <a:pPr indent="0" lvl="0" marL="0" rtl="0" algn="l">
              <a:spcBef>
                <a:spcPts val="400"/>
              </a:spcBef>
              <a:spcAft>
                <a:spcPts val="0"/>
              </a:spcAft>
              <a:buNone/>
            </a:pPr>
            <a:r>
              <a:rPr lang="en-GB" sz="1200"/>
              <a:t>RAROC is strategically important for Pakistan banks because:</a:t>
            </a:r>
            <a:endParaRPr/>
          </a:p>
          <a:p>
            <a:pPr indent="0" lvl="0" marL="0" rtl="0" algn="l">
              <a:spcBef>
                <a:spcPts val="400"/>
              </a:spcBef>
              <a:spcAft>
                <a:spcPts val="0"/>
              </a:spcAft>
              <a:buNone/>
            </a:pPr>
            <a:r>
              <a:rPr lang="en-GB" sz="1200"/>
              <a:t>1. SBP ICAAP requires risk-adjusted performance measurement</a:t>
            </a:r>
            <a:endParaRPr/>
          </a:p>
          <a:p>
            <a:pPr indent="0" lvl="0" marL="0" rtl="0" algn="l">
              <a:spcBef>
                <a:spcPts val="400"/>
              </a:spcBef>
              <a:spcAft>
                <a:spcPts val="0"/>
              </a:spcAft>
              <a:buNone/>
            </a:pPr>
            <a:r>
              <a:rPr lang="en-GB" sz="1200"/>
              <a:t>2. High cost of equity (~18-22%) means many business lines may destroy shareholder value</a:t>
            </a:r>
            <a:endParaRPr/>
          </a:p>
          <a:p>
            <a:pPr indent="0" lvl="0" marL="0" rtl="0" algn="l">
              <a:spcBef>
                <a:spcPts val="400"/>
              </a:spcBef>
              <a:spcAft>
                <a:spcPts val="0"/>
              </a:spcAft>
              <a:buNone/>
            </a:pPr>
            <a:r>
              <a:rPr lang="en-GB" sz="1200"/>
              <a:t>3. Capital is scarce - SBP periodically increases minimum paid-up capital</a:t>
            </a:r>
            <a:endParaRPr/>
          </a:p>
          <a:p>
            <a:pPr indent="0" lvl="0" marL="0" rtl="0" algn="l">
              <a:spcBef>
                <a:spcPts val="400"/>
              </a:spcBef>
              <a:spcAft>
                <a:spcPts val="0"/>
              </a:spcAft>
              <a:buNone/>
            </a:pPr>
            <a:r>
              <a:rPr lang="en-GB" sz="1200"/>
              <a:t>4. RWA-heavy lending must earn enough to cover capital cost</a:t>
            </a:r>
            <a:endParaRPr/>
          </a:p>
          <a:p>
            <a:pPr indent="0" lvl="0" marL="0" rtl="0" algn="l">
              <a:spcBef>
                <a:spcPts val="600"/>
              </a:spcBef>
              <a:spcAft>
                <a:spcPts val="200"/>
              </a:spcAft>
              <a:buNone/>
            </a:pPr>
            <a:r>
              <a:rPr b="1" lang="en-GB" sz="1200"/>
              <a:t>RAROC FORMULA</a:t>
            </a:r>
            <a:endParaRPr/>
          </a:p>
          <a:p>
            <a:pPr indent="0" lvl="0" marL="0" rtl="0" algn="l">
              <a:spcBef>
                <a:spcPts val="400"/>
              </a:spcBef>
              <a:spcAft>
                <a:spcPts val="0"/>
              </a:spcAft>
              <a:buNone/>
            </a:pPr>
            <a:r>
              <a:rPr lang="en-GB" sz="1200"/>
              <a:t>RAROC = (FTP-Adjusted NII + Fee Income - Operating Cost - Expected Loss) / Economic Capital</a:t>
            </a:r>
            <a:endParaRPr/>
          </a:p>
          <a:p>
            <a:pPr indent="0" lvl="0" marL="0" rtl="0" algn="l">
              <a:spcBef>
                <a:spcPts val="600"/>
              </a:spcBef>
              <a:spcAft>
                <a:spcPts val="200"/>
              </a:spcAft>
              <a:buNone/>
            </a:pPr>
            <a:r>
              <a:rPr b="1" lang="en-GB" sz="1200"/>
              <a:t>RAROC BY SEGMENT (typical Pakistan bank)</a:t>
            </a:r>
            <a:endParaRPr/>
          </a:p>
          <a:p>
            <a:pPr indent="0" lvl="0" marL="0" rtl="0" algn="l">
              <a:spcBef>
                <a:spcPts val="400"/>
              </a:spcBef>
              <a:spcAft>
                <a:spcPts val="0"/>
              </a:spcAft>
              <a:buNone/>
            </a:pPr>
            <a:r>
              <a:rPr lang="en-GB" sz="1200"/>
              <a:t>Corporate: 15-25%, Trade Finance: 25-35%, Retail Secured: 12-18%, Retail Unsecured: 10-20%, SME: 8-15%, Treasury: 15-25%</a:t>
            </a:r>
            <a:endParaRPr/>
          </a:p>
          <a:p>
            <a:pPr indent="0" lvl="0" marL="0" rtl="0" algn="l">
              <a:spcBef>
                <a:spcPts val="400"/>
              </a:spcBef>
              <a:spcAft>
                <a:spcPts val="0"/>
              </a:spcAft>
              <a:buNone/>
            </a:pPr>
            <a:r>
              <a:rPr lang="en-GB" sz="1200"/>
              <a:t>If RAROC &lt; Cost of Equity: segment is destroying shareholder value.</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RAROC (RAROC), ECL (ECL), RWA (RWA), ECON_CPTL (Economic Capital), EVA (Economic Value Added)</a:t>
            </a:r>
            <a:endParaRPr/>
          </a:p>
          <a:p>
            <a:pPr indent="0" lvl="0" marL="0" rtl="0" algn="l">
              <a:spcBef>
                <a:spcPts val="600"/>
              </a:spcBef>
              <a:spcAft>
                <a:spcPts val="200"/>
              </a:spcAft>
              <a:buNone/>
            </a:pPr>
            <a:r>
              <a:rPr b="1" lang="en-GB" sz="1200"/>
              <a:t>BVF CROSS-REFERENCE</a:t>
            </a:r>
            <a:endParaRPr/>
          </a:p>
          <a:p>
            <a:pPr indent="0" lvl="0" marL="0" rtl="0" algn="l">
              <a:spcBef>
                <a:spcPts val="400"/>
              </a:spcBef>
              <a:spcAft>
                <a:spcPts val="0"/>
              </a:spcAft>
              <a:buNone/>
            </a:pPr>
            <a:r>
              <a:rPr lang="en-GB" sz="1200"/>
              <a:t>BVF Capability: EPM &gt; Profitability Modelling (File 08, Slides 7-8)</a:t>
            </a:r>
            <a:endParaRPr/>
          </a:p>
        </p:txBody>
      </p:sp>
    </p:spTree>
  </p:cSld>
  <p:clrMapOvr>
    <a:masterClrMapping/>
  </p:clrMapOvr>
</p:notes>
</file>

<file path=ppt/notesSlides/notesSlide3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8" name="Shape 5948"/>
        <p:cNvGrpSpPr/>
        <p:nvPr/>
      </p:nvGrpSpPr>
      <p:grpSpPr>
        <a:xfrm>
          <a:off x="0" y="0"/>
          <a:ext cx="0" cy="0"/>
          <a:chOff x="0" y="0"/>
          <a:chExt cx="0" cy="0"/>
        </a:xfrm>
      </p:grpSpPr>
      <p:sp>
        <p:nvSpPr>
          <p:cNvPr id="5949" name="Google Shape;5949;p303: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950" name="Google Shape;5950;p30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51" name="Google Shape;5951;p30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PROFITABILITY - MOST CRITICAL USE CASE</a:t>
            </a:r>
            <a:endParaRPr/>
          </a:p>
          <a:p>
            <a:pPr indent="0" lvl="0" marL="0" rtl="0" algn="l">
              <a:spcBef>
                <a:spcPts val="400"/>
              </a:spcBef>
              <a:spcAft>
                <a:spcPts val="0"/>
              </a:spcAft>
              <a:buNone/>
            </a:pPr>
            <a:r>
              <a:rPr lang="en-GB" sz="1200"/>
              <a:t>This is THE strategic use case for Pakistan banking.</a:t>
            </a:r>
            <a:endParaRPr/>
          </a:p>
          <a:p>
            <a:pPr indent="0" lvl="0" marL="0" rtl="0" algn="l">
              <a:spcBef>
                <a:spcPts val="400"/>
              </a:spcBef>
              <a:spcAft>
                <a:spcPts val="0"/>
              </a:spcAft>
              <a:buNone/>
            </a:pPr>
            <a:r>
              <a:rPr lang="en-GB" sz="1200"/>
              <a:t>No Pakistan bank (other than UBL FSDM initiative) has comprehensive customer-level profitability.</a:t>
            </a:r>
            <a:endParaRPr/>
          </a:p>
          <a:p>
            <a:pPr indent="0" lvl="0" marL="0" rtl="0" algn="l">
              <a:spcBef>
                <a:spcPts val="400"/>
              </a:spcBef>
              <a:spcAft>
                <a:spcPts val="0"/>
              </a:spcAft>
              <a:buNone/>
            </a:pPr>
            <a:r>
              <a:rPr lang="en-GB" sz="1200"/>
              <a:t>Without profitability analytics, banks make critical decisions blind:</a:t>
            </a:r>
            <a:endParaRPr/>
          </a:p>
          <a:p>
            <a:pPr indent="0" lvl="0" marL="0" rtl="0" algn="l">
              <a:spcBef>
                <a:spcPts val="400"/>
              </a:spcBef>
              <a:spcAft>
                <a:spcPts val="0"/>
              </a:spcAft>
              <a:buNone/>
            </a:pPr>
            <a:r>
              <a:rPr lang="en-GB" sz="1200"/>
              <a:t>- Branch opening/closing based on deposits (not profit)</a:t>
            </a:r>
            <a:endParaRPr/>
          </a:p>
          <a:p>
            <a:pPr indent="0" lvl="0" marL="0" rtl="0" algn="l">
              <a:spcBef>
                <a:spcPts val="400"/>
              </a:spcBef>
              <a:spcAft>
                <a:spcPts val="0"/>
              </a:spcAft>
              <a:buNone/>
            </a:pPr>
            <a:r>
              <a:rPr lang="en-GB" sz="1200"/>
              <a:t>- Customer pricing based on size (not profitability)</a:t>
            </a:r>
            <a:endParaRPr/>
          </a:p>
          <a:p>
            <a:pPr indent="0" lvl="0" marL="0" rtl="0" algn="l">
              <a:spcBef>
                <a:spcPts val="400"/>
              </a:spcBef>
              <a:spcAft>
                <a:spcPts val="0"/>
              </a:spcAft>
              <a:buNone/>
            </a:pPr>
            <a:r>
              <a:rPr lang="en-GB" sz="1200"/>
              <a:t>- Product design based on volume (not margin)</a:t>
            </a:r>
            <a:endParaRPr/>
          </a:p>
          <a:p>
            <a:pPr indent="0" lvl="0" marL="0" rtl="0" algn="l">
              <a:spcBef>
                <a:spcPts val="400"/>
              </a:spcBef>
              <a:spcAft>
                <a:spcPts val="0"/>
              </a:spcAft>
              <a:buNone/>
            </a:pPr>
            <a:r>
              <a:rPr lang="en-GB" sz="1200"/>
              <a:t>- Capital allocation based on historical (not risk-adjusted return)</a:t>
            </a:r>
            <a:endParaRPr/>
          </a:p>
          <a:p>
            <a:pPr indent="0" lvl="0" marL="0" rtl="0" algn="l">
              <a:spcBef>
                <a:spcPts val="600"/>
              </a:spcBef>
              <a:spcAft>
                <a:spcPts val="200"/>
              </a:spcAft>
              <a:buNone/>
            </a:pPr>
            <a:r>
              <a:rPr b="1" lang="en-GB" sz="1200"/>
              <a:t>UBL CUSTOMER PROFITABILITY ENGINE</a:t>
            </a:r>
            <a:endParaRPr/>
          </a:p>
          <a:p>
            <a:pPr indent="0" lvl="0" marL="0" rtl="0" algn="l">
              <a:spcBef>
                <a:spcPts val="400"/>
              </a:spcBef>
              <a:spcAft>
                <a:spcPts val="0"/>
              </a:spcAft>
              <a:buNone/>
            </a:pPr>
            <a:r>
              <a:rPr lang="en-GB" sz="1200"/>
              <a:t>FSDM star schema: FACT_CUSTOMER_PROFITABILITY with 35+ measures at individual customer level.</a:t>
            </a:r>
            <a:endParaRPr/>
          </a:p>
          <a:p>
            <a:pPr indent="0" lvl="0" marL="0" rtl="0" algn="l">
              <a:spcBef>
                <a:spcPts val="400"/>
              </a:spcBef>
              <a:spcAft>
                <a:spcPts val="0"/>
              </a:spcAft>
              <a:buNone/>
            </a:pPr>
            <a:r>
              <a:rPr lang="en-GB" sz="1200"/>
              <a:t>Dimensions: Customer, Product, Branch, Segment, Channel, Region, Time.</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PRFTBLTY (Profitability), CSTMR_PRFT (Customer Profit), PRDCT_PRFT (Product Profit), BRCH_PRFT (Branch Profit), EVA (EVA)</a:t>
            </a:r>
            <a:endParaRPr/>
          </a:p>
          <a:p>
            <a:pPr indent="0" lvl="0" marL="0" rtl="0" algn="l">
              <a:spcBef>
                <a:spcPts val="600"/>
              </a:spcBef>
              <a:spcAft>
                <a:spcPts val="200"/>
              </a:spcAft>
              <a:buNone/>
            </a:pPr>
            <a:r>
              <a:rPr b="1" lang="en-GB" sz="1200"/>
              <a:t>BVF CROSS-REFERENCE</a:t>
            </a:r>
            <a:endParaRPr/>
          </a:p>
          <a:p>
            <a:pPr indent="0" lvl="0" marL="0" rtl="0" algn="l">
              <a:spcBef>
                <a:spcPts val="400"/>
              </a:spcBef>
              <a:spcAft>
                <a:spcPts val="0"/>
              </a:spcAft>
              <a:buNone/>
            </a:pPr>
            <a:r>
              <a:rPr lang="en-GB" sz="1200"/>
              <a:t>BVF Capability: EPM &gt; Profitability Analytics and Optimisation (File 08, Slides 11-12)</a:t>
            </a:r>
            <a:endParaRPr/>
          </a:p>
        </p:txBody>
      </p:sp>
    </p:spTree>
  </p:cSld>
  <p:clrMapOvr>
    <a:masterClrMapping/>
  </p:clrMapOvr>
</p:notes>
</file>

<file path=ppt/notesSlides/notesSlide3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8" name="Shape 5968"/>
        <p:cNvGrpSpPr/>
        <p:nvPr/>
      </p:nvGrpSpPr>
      <p:grpSpPr>
        <a:xfrm>
          <a:off x="0" y="0"/>
          <a:ext cx="0" cy="0"/>
          <a:chOff x="0" y="0"/>
          <a:chExt cx="0" cy="0"/>
        </a:xfrm>
      </p:grpSpPr>
      <p:sp>
        <p:nvSpPr>
          <p:cNvPr id="5969" name="Google Shape;5969;p304: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970" name="Google Shape;5970;p30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1" name="Google Shape;5971;p30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LOAN PRICING</a:t>
            </a:r>
            <a:endParaRPr/>
          </a:p>
          <a:p>
            <a:pPr indent="0" lvl="0" marL="0" rtl="0" algn="l">
              <a:spcBef>
                <a:spcPts val="400"/>
              </a:spcBef>
              <a:spcAft>
                <a:spcPts val="0"/>
              </a:spcAft>
              <a:buNone/>
            </a:pPr>
            <a:r>
              <a:rPr lang="en-GB" sz="1200"/>
              <a:t>Current state: Most Pakistan banks use standardized pricing tiers:</a:t>
            </a:r>
            <a:endParaRPr/>
          </a:p>
          <a:p>
            <a:pPr indent="0" lvl="0" marL="0" rtl="0" algn="l">
              <a:spcBef>
                <a:spcPts val="400"/>
              </a:spcBef>
              <a:spcAft>
                <a:spcPts val="0"/>
              </a:spcAft>
              <a:buNone/>
            </a:pPr>
            <a:r>
              <a:rPr lang="en-GB" sz="1200"/>
              <a:t>- Corporate: KIBOR + 1-3% (negotiated by RM)</a:t>
            </a:r>
            <a:endParaRPr/>
          </a:p>
          <a:p>
            <a:pPr indent="0" lvl="0" marL="0" rtl="0" algn="l">
              <a:spcBef>
                <a:spcPts val="400"/>
              </a:spcBef>
              <a:spcAft>
                <a:spcPts val="0"/>
              </a:spcAft>
              <a:buNone/>
            </a:pPr>
            <a:r>
              <a:rPr lang="en-GB" sz="1200"/>
              <a:t>- Commercial: KIBOR + 2-4% (semi-standardized)</a:t>
            </a:r>
            <a:endParaRPr/>
          </a:p>
          <a:p>
            <a:pPr indent="0" lvl="0" marL="0" rtl="0" algn="l">
              <a:spcBef>
                <a:spcPts val="400"/>
              </a:spcBef>
              <a:spcAft>
                <a:spcPts val="0"/>
              </a:spcAft>
              <a:buNone/>
            </a:pPr>
            <a:r>
              <a:rPr lang="en-GB" sz="1200"/>
              <a:t>- Consumer: KIBOR + 5-8% (standard product rate)</a:t>
            </a:r>
            <a:endParaRPr/>
          </a:p>
          <a:p>
            <a:pPr indent="0" lvl="0" marL="0" rtl="0" algn="l">
              <a:spcBef>
                <a:spcPts val="400"/>
              </a:spcBef>
              <a:spcAft>
                <a:spcPts val="0"/>
              </a:spcAft>
              <a:buNone/>
            </a:pPr>
            <a:r>
              <a:rPr lang="en-GB" sz="1200"/>
              <a:t>Problem: Customer with ECIB score 750 gets same rate as score 550. Low-risk subsidizes high-risk.</a:t>
            </a:r>
            <a:endParaRPr/>
          </a:p>
          <a:p>
            <a:pPr indent="0" lvl="0" marL="0" rtl="0" algn="l">
              <a:spcBef>
                <a:spcPts val="600"/>
              </a:spcBef>
              <a:spcAft>
                <a:spcPts val="200"/>
              </a:spcAft>
              <a:buNone/>
            </a:pPr>
            <a:r>
              <a:rPr b="1" lang="en-GB" sz="1200"/>
              <a:t>OPTIMAL PRICING APPROACH</a:t>
            </a:r>
            <a:endParaRPr/>
          </a:p>
          <a:p>
            <a:pPr indent="0" lvl="0" marL="0" rtl="0" algn="l">
              <a:spcBef>
                <a:spcPts val="400"/>
              </a:spcBef>
              <a:spcAft>
                <a:spcPts val="0"/>
              </a:spcAft>
              <a:buNone/>
            </a:pPr>
            <a:r>
              <a:rPr lang="en-GB" sz="1200"/>
              <a:t>1. Calculate expected loss (ECIB score + internal rating)</a:t>
            </a:r>
            <a:endParaRPr/>
          </a:p>
          <a:p>
            <a:pPr indent="0" lvl="0" marL="0" rtl="0" algn="l">
              <a:spcBef>
                <a:spcPts val="400"/>
              </a:spcBef>
              <a:spcAft>
                <a:spcPts val="0"/>
              </a:spcAft>
              <a:buNone/>
            </a:pPr>
            <a:r>
              <a:rPr lang="en-GB" sz="1200"/>
              <a:t>2. Cost-to-serve (ABC), 3. Cost of funds (FTP), 4. Capital charge (RAROC), 5. Target margin</a:t>
            </a:r>
            <a:endParaRPr/>
          </a:p>
          <a:p>
            <a:pPr indent="0" lvl="0" marL="0" rtl="0" algn="l">
              <a:spcBef>
                <a:spcPts val="400"/>
              </a:spcBef>
              <a:spcAft>
                <a:spcPts val="0"/>
              </a:spcAft>
              <a:buNone/>
            </a:pPr>
            <a:r>
              <a:rPr lang="en-GB" sz="1200"/>
              <a:t>Impact: Risk-based pricing can improve portfolio NIM by 20-50bps = PKR 5-15B for large bank.</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LN_PRCNG (Loan Pricing), ECIB_SCR (ECIB Score), RSK_PREMM (Risk Premium), FTP_RT (FTP Rate)</a:t>
            </a:r>
            <a:endParaRPr/>
          </a:p>
        </p:txBody>
      </p:sp>
    </p:spTree>
  </p:cSld>
  <p:clrMapOvr>
    <a:masterClrMapping/>
  </p:clrMapOvr>
</p:notes>
</file>

<file path=ppt/notesSlides/notesSlide3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8" name="Shape 5988"/>
        <p:cNvGrpSpPr/>
        <p:nvPr/>
      </p:nvGrpSpPr>
      <p:grpSpPr>
        <a:xfrm>
          <a:off x="0" y="0"/>
          <a:ext cx="0" cy="0"/>
          <a:chOff x="0" y="0"/>
          <a:chExt cx="0" cy="0"/>
        </a:xfrm>
      </p:grpSpPr>
      <p:sp>
        <p:nvSpPr>
          <p:cNvPr id="5989" name="Google Shape;5989;p305: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5990" name="Google Shape;5990;p30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1" name="Google Shape;5991;p30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KPI FRAMEWORK</a:t>
            </a:r>
            <a:endParaRPr/>
          </a:p>
          <a:p>
            <a:pPr indent="0" lvl="0" marL="0" rtl="0" algn="l">
              <a:spcBef>
                <a:spcPts val="400"/>
              </a:spcBef>
              <a:spcAft>
                <a:spcPts val="0"/>
              </a:spcAft>
              <a:buNone/>
            </a:pPr>
            <a:r>
              <a:rPr lang="en-GB" sz="1200"/>
              <a:t>See File 08 Prompt (6M) - Slides 15-16 for full Pakistan KPI framework with industry benchmarks.</a:t>
            </a:r>
            <a:endParaRPr/>
          </a:p>
          <a:p>
            <a:pPr indent="0" lvl="0" marL="0" rtl="0" algn="l">
              <a:spcBef>
                <a:spcPts val="400"/>
              </a:spcBef>
              <a:spcAft>
                <a:spcPts val="0"/>
              </a:spcAft>
              <a:buNone/>
            </a:pPr>
            <a:r>
              <a:rPr lang="en-GB" sz="1200"/>
              <a:t>Key KPIs: ROE, ROA, NIM, Cost-to-Income, NPL ratio, CASA ratio, CAR, ADR, products/customer, digital adoption rate</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KPI (KPI), PRFMNC (Performance), SCRCRD (Scorecard), TRGTS (Targets), ACTLS (Actuals)</a:t>
            </a:r>
            <a:endParaRPr/>
          </a:p>
          <a:p>
            <a:pPr indent="0" lvl="0" marL="0" rtl="0" algn="l">
              <a:spcBef>
                <a:spcPts val="600"/>
              </a:spcBef>
              <a:spcAft>
                <a:spcPts val="200"/>
              </a:spcAft>
              <a:buNone/>
            </a:pPr>
            <a:r>
              <a:rPr b="1" lang="en-GB" sz="1200"/>
              <a:t>BVF CROSS-REFERENCE</a:t>
            </a:r>
            <a:endParaRPr/>
          </a:p>
          <a:p>
            <a:pPr indent="0" lvl="0" marL="0" rtl="0" algn="l">
              <a:spcBef>
                <a:spcPts val="400"/>
              </a:spcBef>
              <a:spcAft>
                <a:spcPts val="0"/>
              </a:spcAft>
              <a:buNone/>
            </a:pPr>
            <a:r>
              <a:rPr lang="en-GB" sz="1200"/>
              <a:t>BVF Capability: EPM &gt; Performance Management and KPIs (File 08, Slides 15-16)</a:t>
            </a:r>
            <a:endParaRPr/>
          </a:p>
        </p:txBody>
      </p:sp>
    </p:spTree>
  </p:cSld>
  <p:clrMapOvr>
    <a:masterClrMapping/>
  </p:clrMapOvr>
</p:notes>
</file>

<file path=ppt/notesSlides/notesSlide3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8" name="Shape 6008"/>
        <p:cNvGrpSpPr/>
        <p:nvPr/>
      </p:nvGrpSpPr>
      <p:grpSpPr>
        <a:xfrm>
          <a:off x="0" y="0"/>
          <a:ext cx="0" cy="0"/>
          <a:chOff x="0" y="0"/>
          <a:chExt cx="0" cy="0"/>
        </a:xfrm>
      </p:grpSpPr>
      <p:sp>
        <p:nvSpPr>
          <p:cNvPr id="6009" name="Google Shape;6009;p306: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6010" name="Google Shape;6010;p30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11" name="Google Shape;6011;p30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BUDGET &amp; FORECASTING</a:t>
            </a:r>
            <a:endParaRPr/>
          </a:p>
          <a:p>
            <a:pPr indent="0" lvl="0" marL="0" rtl="0" algn="l">
              <a:spcBef>
                <a:spcPts val="400"/>
              </a:spcBef>
              <a:spcAft>
                <a:spcPts val="0"/>
              </a:spcAft>
              <a:buNone/>
            </a:pPr>
            <a:r>
              <a:rPr lang="en-GB" sz="1200"/>
              <a:t>See File 08 Prompt (6M) - Slides 19-20 for full Pakistan budget and forecasting context.</a:t>
            </a:r>
            <a:endParaRPr/>
          </a:p>
          <a:p>
            <a:pPr indent="0" lvl="0" marL="0" rtl="0" algn="l">
              <a:spcBef>
                <a:spcPts val="400"/>
              </a:spcBef>
              <a:spcAft>
                <a:spcPts val="0"/>
              </a:spcAft>
              <a:buNone/>
            </a:pPr>
            <a:r>
              <a:rPr lang="en-GB" sz="1200"/>
              <a:t>Key: KIBOR sensitivity modeling, deposit growth trends, IFRS 9 ECL forecast scenarios.</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BDGT (Budget), FRCST (Forecast), VRNS (Variance), SCNRO (Scenario), ASMPTN (Assumption)</a:t>
            </a:r>
            <a:endParaRPr/>
          </a:p>
          <a:p>
            <a:pPr indent="0" lvl="0" marL="0" rtl="0" algn="l">
              <a:spcBef>
                <a:spcPts val="600"/>
              </a:spcBef>
              <a:spcAft>
                <a:spcPts val="200"/>
              </a:spcAft>
              <a:buNone/>
            </a:pPr>
            <a:r>
              <a:rPr b="1" lang="en-GB" sz="1200"/>
              <a:t>BVF CROSS-REFERENCE</a:t>
            </a:r>
            <a:endParaRPr/>
          </a:p>
          <a:p>
            <a:pPr indent="0" lvl="0" marL="0" rtl="0" algn="l">
              <a:spcBef>
                <a:spcPts val="400"/>
              </a:spcBef>
              <a:spcAft>
                <a:spcPts val="0"/>
              </a:spcAft>
              <a:buNone/>
            </a:pPr>
            <a:r>
              <a:rPr lang="en-GB" sz="1200"/>
              <a:t>BVF Capability: EPM &gt; Financial Budgeting, Planning &amp; Forecasting (File 08, Slides 19-20)</a:t>
            </a:r>
            <a:endParaRPr/>
          </a:p>
        </p:txBody>
      </p:sp>
    </p:spTree>
  </p:cSld>
  <p:clrMapOvr>
    <a:masterClrMapping/>
  </p:clrMapOvr>
</p:notes>
</file>

<file path=ppt/notesSlides/notesSlide3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8" name="Shape 6028"/>
        <p:cNvGrpSpPr/>
        <p:nvPr/>
      </p:nvGrpSpPr>
      <p:grpSpPr>
        <a:xfrm>
          <a:off x="0" y="0"/>
          <a:ext cx="0" cy="0"/>
          <a:chOff x="0" y="0"/>
          <a:chExt cx="0" cy="0"/>
        </a:xfrm>
      </p:grpSpPr>
      <p:sp>
        <p:nvSpPr>
          <p:cNvPr id="6029" name="Google Shape;6029;p307: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6030" name="Google Shape;6030;p30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31" name="Google Shape;6031;p30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CASHFLOW</a:t>
            </a:r>
            <a:endParaRPr/>
          </a:p>
          <a:p>
            <a:pPr indent="0" lvl="0" marL="0" rtl="0" algn="l">
              <a:spcBef>
                <a:spcPts val="400"/>
              </a:spcBef>
              <a:spcAft>
                <a:spcPts val="0"/>
              </a:spcAft>
              <a:buNone/>
            </a:pPr>
            <a:r>
              <a:rPr lang="en-GB" sz="1200"/>
              <a:t>Key cashflow events: deposit maturities (daily PKR billions), PIB coupons, RAAST settlement (real-time), NIFT cheque clearing, Eid cash demand spikes.</a:t>
            </a:r>
            <a:endParaRPr/>
          </a:p>
          <a:p>
            <a:pPr indent="0" lvl="0" marL="0" rtl="0" algn="l">
              <a:spcBef>
                <a:spcPts val="400"/>
              </a:spcBef>
              <a:spcAft>
                <a:spcPts val="0"/>
              </a:spcAft>
              <a:buNone/>
            </a:pPr>
            <a:r>
              <a:rPr lang="en-GB" sz="1200"/>
              <a:t>SBP CRR (5% of demand liabilities) and SLR (min government securities) constrain available cash.</a:t>
            </a:r>
            <a:endParaRPr/>
          </a:p>
          <a:p>
            <a:pPr indent="0" lvl="0" marL="0" rtl="0" algn="l">
              <a:spcBef>
                <a:spcPts val="400"/>
              </a:spcBef>
              <a:spcAft>
                <a:spcPts val="0"/>
              </a:spcAft>
              <a:buNone/>
            </a:pPr>
            <a:r>
              <a:rPr lang="en-GB" sz="1200"/>
              <a:t>Seasonal patterns: Eid (cash demand surge), tax quarters (outflows), agricultural cycles (rural deposit flows).</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CSHFLW (Cashflow), MTRTY (Maturity), STLMNT (Settlement), CRR (CRR), SLR (SLR)</a:t>
            </a:r>
            <a:endParaRPr/>
          </a:p>
          <a:p>
            <a:pPr indent="0" lvl="0" marL="0" rtl="0" algn="l">
              <a:spcBef>
                <a:spcPts val="600"/>
              </a:spcBef>
              <a:spcAft>
                <a:spcPts val="200"/>
              </a:spcAft>
              <a:buNone/>
            </a:pPr>
            <a:r>
              <a:rPr b="1" lang="en-GB" sz="1200"/>
              <a:t>BVF CROSS-REFERENCE</a:t>
            </a:r>
            <a:endParaRPr/>
          </a:p>
          <a:p>
            <a:pPr indent="0" lvl="0" marL="0" rtl="0" algn="l">
              <a:spcBef>
                <a:spcPts val="400"/>
              </a:spcBef>
              <a:spcAft>
                <a:spcPts val="0"/>
              </a:spcAft>
              <a:buNone/>
            </a:pPr>
            <a:r>
              <a:rPr lang="en-GB" sz="1200"/>
              <a:t>BVF Capability: Treasury &gt; Cashflow Generation (File 08, Slides 28-29)</a:t>
            </a:r>
            <a:endParaRPr/>
          </a:p>
        </p:txBody>
      </p:sp>
    </p:spTree>
  </p:cSld>
  <p:clrMapOvr>
    <a:masterClrMapping/>
  </p:clrMapOvr>
</p:notes>
</file>

<file path=ppt/notesSlides/notesSlide3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8" name="Shape 6048"/>
        <p:cNvGrpSpPr/>
        <p:nvPr/>
      </p:nvGrpSpPr>
      <p:grpSpPr>
        <a:xfrm>
          <a:off x="0" y="0"/>
          <a:ext cx="0" cy="0"/>
          <a:chOff x="0" y="0"/>
          <a:chExt cx="0" cy="0"/>
        </a:xfrm>
      </p:grpSpPr>
      <p:sp>
        <p:nvSpPr>
          <p:cNvPr id="6049" name="Google Shape;6049;p308: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6050" name="Google Shape;6050;p30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51" name="Google Shape;6051;p30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RESERVE PORTFOLIO</a:t>
            </a:r>
            <a:endParaRPr/>
          </a:p>
          <a:p>
            <a:pPr indent="0" lvl="0" marL="0" rtl="0" algn="l">
              <a:spcBef>
                <a:spcPts val="400"/>
              </a:spcBef>
              <a:spcAft>
                <a:spcPts val="0"/>
              </a:spcAft>
              <a:buNone/>
            </a:pPr>
            <a:r>
              <a:rPr lang="en-GB" sz="1200"/>
              <a:t>Banking sector holds PKR 10T+ in government securities:</a:t>
            </a:r>
            <a:endParaRPr/>
          </a:p>
          <a:p>
            <a:pPr indent="0" lvl="0" marL="0" rtl="0" algn="l">
              <a:spcBef>
                <a:spcPts val="400"/>
              </a:spcBef>
              <a:spcAft>
                <a:spcPts val="0"/>
              </a:spcAft>
              <a:buNone/>
            </a:pPr>
            <a:r>
              <a:rPr lang="en-GB" sz="1200"/>
              <a:t>- PIBs: 3, 5, 10, 15, 20, 30 year tenors. Fixed rate. Yield 14-18%.</a:t>
            </a:r>
            <a:endParaRPr/>
          </a:p>
          <a:p>
            <a:pPr indent="0" lvl="0" marL="0" rtl="0" algn="l">
              <a:spcBef>
                <a:spcPts val="400"/>
              </a:spcBef>
              <a:spcAft>
                <a:spcPts val="0"/>
              </a:spcAft>
              <a:buNone/>
            </a:pPr>
            <a:r>
              <a:rPr lang="en-GB" sz="1200"/>
              <a:t>- T-Bills: 3, 6, 12 month. Yield 17-19% (close to policy rate).</a:t>
            </a:r>
            <a:endParaRPr/>
          </a:p>
          <a:p>
            <a:pPr indent="0" lvl="0" marL="0" rtl="0" algn="l">
              <a:spcBef>
                <a:spcPts val="400"/>
              </a:spcBef>
              <a:spcAft>
                <a:spcPts val="0"/>
              </a:spcAft>
              <a:buNone/>
            </a:pPr>
            <a:r>
              <a:rPr lang="en-GB" sz="1200"/>
              <a:t>- Sukuk: Islamic government securities (Ijara-based). Variable return.</a:t>
            </a:r>
            <a:endParaRPr/>
          </a:p>
          <a:p>
            <a:pPr indent="0" lvl="0" marL="0" rtl="0" algn="l">
              <a:spcBef>
                <a:spcPts val="400"/>
              </a:spcBef>
              <a:spcAft>
                <a:spcPts val="0"/>
              </a:spcAft>
              <a:buNone/>
            </a:pPr>
            <a:r>
              <a:rPr lang="en-GB" sz="1200"/>
              <a:t>Optimization: Longer tenor = higher yield but more duration risk. SLR and LCR constraints apply.</a:t>
            </a:r>
            <a:endParaRPr/>
          </a:p>
          <a:p>
            <a:pPr indent="0" lvl="0" marL="0" rtl="0" algn="l">
              <a:spcBef>
                <a:spcPts val="400"/>
              </a:spcBef>
              <a:spcAft>
                <a:spcPts val="0"/>
              </a:spcAft>
              <a:buNone/>
            </a:pPr>
            <a:r>
              <a:rPr lang="en-GB" sz="1200"/>
              <a:t>A 10bps improvement = PKR 10B+ additional income for industry.</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RSV_PRTFL (Reserve Portfolio), SCRTY (Security), YLD (Yield), DRTN (Duration), LCR (LCR), SLR (SLR)</a:t>
            </a:r>
            <a:endParaRPr/>
          </a:p>
        </p:txBody>
      </p:sp>
    </p:spTree>
  </p:cSld>
  <p:clrMapOvr>
    <a:masterClrMapping/>
  </p:clrMapOvr>
</p:notes>
</file>

<file path=ppt/notesSlides/notesSlide3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8" name="Shape 6068"/>
        <p:cNvGrpSpPr/>
        <p:nvPr/>
      </p:nvGrpSpPr>
      <p:grpSpPr>
        <a:xfrm>
          <a:off x="0" y="0"/>
          <a:ext cx="0" cy="0"/>
          <a:chOff x="0" y="0"/>
          <a:chExt cx="0" cy="0"/>
        </a:xfrm>
      </p:grpSpPr>
      <p:sp>
        <p:nvSpPr>
          <p:cNvPr id="6069" name="Google Shape;6069;p309: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6070" name="Google Shape;6070;p30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71" name="Google Shape;6071;p30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ALM</a:t>
            </a:r>
            <a:endParaRPr/>
          </a:p>
          <a:p>
            <a:pPr indent="0" lvl="0" marL="0" rtl="0" algn="l">
              <a:spcBef>
                <a:spcPts val="400"/>
              </a:spcBef>
              <a:spcAft>
                <a:spcPts val="0"/>
              </a:spcAft>
              <a:buNone/>
            </a:pPr>
            <a:r>
              <a:rPr lang="en-GB" sz="1200"/>
              <a:t>See File 08 Prompt (6M) - Slides 34-35 for full Pakistan ALM context.</a:t>
            </a:r>
            <a:endParaRPr/>
          </a:p>
          <a:p>
            <a:pPr indent="0" lvl="0" marL="0" rtl="0" algn="l">
              <a:spcBef>
                <a:spcPts val="400"/>
              </a:spcBef>
              <a:spcAft>
                <a:spcPts val="0"/>
              </a:spcAft>
              <a:buNone/>
            </a:pPr>
            <a:r>
              <a:rPr lang="en-GB" sz="1200"/>
              <a:t>Key: repricing mismatch (KIBOR-linked advances vs. fixed deposits), duration risk, Islamic ALM, SBP IRRBB requirements.</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ALM (ALM), RPRCE_GAP (Repricing Gap), DRTN (Duration), NII_SNSTVTY (NII Sensitivity), EVE (EVE)</a:t>
            </a:r>
            <a:endParaRPr/>
          </a:p>
          <a:p>
            <a:pPr indent="0" lvl="0" marL="0" rtl="0" algn="l">
              <a:spcBef>
                <a:spcPts val="600"/>
              </a:spcBef>
              <a:spcAft>
                <a:spcPts val="200"/>
              </a:spcAft>
              <a:buNone/>
            </a:pPr>
            <a:r>
              <a:rPr b="1" lang="en-GB" sz="1200"/>
              <a:t>BVF CROSS-REFERENCE</a:t>
            </a:r>
            <a:endParaRPr/>
          </a:p>
          <a:p>
            <a:pPr indent="0" lvl="0" marL="0" rtl="0" algn="l">
              <a:spcBef>
                <a:spcPts val="400"/>
              </a:spcBef>
              <a:spcAft>
                <a:spcPts val="0"/>
              </a:spcAft>
              <a:buNone/>
            </a:pPr>
            <a:r>
              <a:rPr lang="en-GB" sz="1200"/>
              <a:t>BVF Capability: Treasury &gt; Asset &amp; Liability Management (File 08, Slides 34-35)</a:t>
            </a:r>
            <a:endParaRPr/>
          </a:p>
        </p:txBody>
      </p:sp>
    </p:spTree>
  </p:cSld>
  <p:clrMapOvr>
    <a:masterClrMapping/>
  </p:clrMapOvr>
</p:notes>
</file>

<file path=ppt/notesSlides/notesSlide3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8" name="Shape 6088"/>
        <p:cNvGrpSpPr/>
        <p:nvPr/>
      </p:nvGrpSpPr>
      <p:grpSpPr>
        <a:xfrm>
          <a:off x="0" y="0"/>
          <a:ext cx="0" cy="0"/>
          <a:chOff x="0" y="0"/>
          <a:chExt cx="0" cy="0"/>
        </a:xfrm>
      </p:grpSpPr>
      <p:sp>
        <p:nvSpPr>
          <p:cNvPr id="6089" name="Google Shape;6089;p310: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6090" name="Google Shape;6090;p31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91" name="Google Shape;6091;p31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LIQUIDITY - HIGH PRIORITY</a:t>
            </a:r>
            <a:endParaRPr/>
          </a:p>
          <a:p>
            <a:pPr indent="0" lvl="0" marL="0" rtl="0" algn="l">
              <a:spcBef>
                <a:spcPts val="400"/>
              </a:spcBef>
              <a:spcAft>
                <a:spcPts val="0"/>
              </a:spcAft>
              <a:buNone/>
            </a:pPr>
            <a:r>
              <a:rPr lang="en-GB" sz="1200"/>
              <a:t>See File 08 Prompt (6M) - Slides 30-31 for full Pakistan liquidity framework.</a:t>
            </a:r>
            <a:endParaRPr/>
          </a:p>
          <a:p>
            <a:pPr indent="0" lvl="0" marL="0" rtl="0" algn="l">
              <a:spcBef>
                <a:spcPts val="400"/>
              </a:spcBef>
              <a:spcAft>
                <a:spcPts val="0"/>
              </a:spcAft>
              <a:buNone/>
            </a:pPr>
            <a:r>
              <a:rPr lang="en-GB" sz="1200"/>
              <a:t>Key: LCR/NSFR components, HQLA composition, RAAST intraday impact, SBP requirements.</a:t>
            </a:r>
            <a:endParaRPr/>
          </a:p>
          <a:p>
            <a:pPr indent="0" lvl="0" marL="0" rtl="0" algn="l">
              <a:spcBef>
                <a:spcPts val="400"/>
              </a:spcBef>
              <a:spcAft>
                <a:spcPts val="0"/>
              </a:spcAft>
              <a:buNone/>
            </a:pPr>
            <a:r>
              <a:rPr lang="en-GB" sz="1200"/>
              <a:t>LCR = HQLA / Net Cash Outflows (30 days). Must be &gt;= 100%.</a:t>
            </a:r>
            <a:endParaRPr/>
          </a:p>
          <a:p>
            <a:pPr indent="0" lvl="0" marL="0" rtl="0" algn="l">
              <a:spcBef>
                <a:spcPts val="400"/>
              </a:spcBef>
              <a:spcAft>
                <a:spcPts val="0"/>
              </a:spcAft>
              <a:buNone/>
            </a:pPr>
            <a:r>
              <a:rPr lang="en-GB" sz="1200"/>
              <a:t>NSFR = Available Stable Funding / Required Stable Funding. Must be &gt;= 100%.</a:t>
            </a:r>
            <a:endParaRPr/>
          </a:p>
          <a:p>
            <a:pPr indent="0" lvl="0" marL="0" rtl="0" algn="l">
              <a:spcBef>
                <a:spcPts val="400"/>
              </a:spcBef>
              <a:spcAft>
                <a:spcPts val="0"/>
              </a:spcAft>
              <a:buNone/>
            </a:pPr>
            <a:r>
              <a:rPr lang="en-GB" sz="1200"/>
              <a:t>RAAST creates real-time large-value settlements that change intraday liquidity dynamics significantly.</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LQDTY (Liquidity), LCR (LCR), NSFR (NSFR), HQLA (HQLA), STRSS_TST (Stress Test)</a:t>
            </a:r>
            <a:endParaRPr/>
          </a:p>
          <a:p>
            <a:pPr indent="0" lvl="0" marL="0" rtl="0" algn="l">
              <a:spcBef>
                <a:spcPts val="600"/>
              </a:spcBef>
              <a:spcAft>
                <a:spcPts val="200"/>
              </a:spcAft>
              <a:buNone/>
            </a:pPr>
            <a:r>
              <a:rPr b="1" lang="en-GB" sz="1200"/>
              <a:t>BVF CROSS-REFERENCE</a:t>
            </a:r>
            <a:endParaRPr/>
          </a:p>
          <a:p>
            <a:pPr indent="0" lvl="0" marL="0" rtl="0" algn="l">
              <a:spcBef>
                <a:spcPts val="400"/>
              </a:spcBef>
              <a:spcAft>
                <a:spcPts val="0"/>
              </a:spcAft>
              <a:buNone/>
            </a:pPr>
            <a:r>
              <a:rPr lang="en-GB" sz="1200"/>
              <a:t>BVF Capability: Treasury &gt; Liquidity Management (File 08, Slides 30-31)</a:t>
            </a:r>
            <a:endParaRPr/>
          </a:p>
        </p:txBody>
      </p:sp>
    </p:spTree>
  </p:cSld>
  <p:clrMapOvr>
    <a:masterClrMapping/>
  </p:clrMapOvr>
</p:notes>
</file>

<file path=ppt/notesSlides/notesSlide3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8" name="Shape 6108"/>
        <p:cNvGrpSpPr/>
        <p:nvPr/>
      </p:nvGrpSpPr>
      <p:grpSpPr>
        <a:xfrm>
          <a:off x="0" y="0"/>
          <a:ext cx="0" cy="0"/>
          <a:chOff x="0" y="0"/>
          <a:chExt cx="0" cy="0"/>
        </a:xfrm>
      </p:grpSpPr>
      <p:sp>
        <p:nvSpPr>
          <p:cNvPr id="6109" name="Google Shape;6109;p311: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110" name="Google Shape;6110;p31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1" name="Google Shape;6111;p31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FX HEDGING</a:t>
            </a:r>
            <a:endParaRPr/>
          </a:p>
          <a:p>
            <a:pPr indent="0" lvl="0" marL="0" rtl="0" algn="l">
              <a:spcBef>
                <a:spcPts val="400"/>
              </a:spcBef>
              <a:spcAft>
                <a:spcPts val="0"/>
              </a:spcAft>
              <a:buNone/>
            </a:pPr>
            <a:r>
              <a:rPr lang="en-GB" sz="1200"/>
              <a:t>See File 08 Prompt (6M) - Slides 38-39 for full Pakistan FX &amp; trading context.</a:t>
            </a:r>
            <a:endParaRPr/>
          </a:p>
          <a:p>
            <a:pPr indent="0" lvl="0" marL="0" rtl="0" algn="l">
              <a:spcBef>
                <a:spcPts val="400"/>
              </a:spcBef>
              <a:spcAft>
                <a:spcPts val="0"/>
              </a:spcAft>
              <a:buNone/>
            </a:pPr>
            <a:r>
              <a:rPr lang="en-GB" sz="1200"/>
              <a:t>Limited derivatives market - hedging primarily spot/forward FX, some FX swaps. No liquid interest rate swap market.</a:t>
            </a:r>
            <a:endParaRPr/>
          </a:p>
          <a:p>
            <a:pPr indent="0" lvl="0" marL="0" rtl="0" algn="l">
              <a:spcBef>
                <a:spcPts val="400"/>
              </a:spcBef>
              <a:spcAft>
                <a:spcPts val="0"/>
              </a:spcAft>
              <a:buNone/>
            </a:pPr>
            <a:r>
              <a:rPr lang="en-GB" sz="1200"/>
              <a:t>Key exposures: Trade finance imports (~$60B/yr), remittances ($30B+/yr), overseas branch capital.</a:t>
            </a:r>
            <a:endParaRPr/>
          </a:p>
          <a:p>
            <a:pPr indent="0" lvl="0" marL="0" rtl="0" algn="l">
              <a:spcBef>
                <a:spcPts val="400"/>
              </a:spcBef>
              <a:spcAft>
                <a:spcPts val="0"/>
              </a:spcAft>
              <a:buNone/>
            </a:pPr>
            <a:r>
              <a:rPr lang="en-GB" sz="1200"/>
              <a:t>PKR devaluation risk: Significant episodes in 2018, 2022-23. SBP limits open FX positions.</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FX_HDG (FX Hedge), FX_PSITN (FX Position), FWRD_RT (Forward Rate), VaR (Value at Risk)</a:t>
            </a:r>
            <a:endParaRPr/>
          </a:p>
          <a:p>
            <a:pPr indent="0" lvl="0" marL="0" rtl="0" algn="l">
              <a:spcBef>
                <a:spcPts val="600"/>
              </a:spcBef>
              <a:spcAft>
                <a:spcPts val="200"/>
              </a:spcAft>
              <a:buNone/>
            </a:pPr>
            <a:r>
              <a:rPr b="1" lang="en-GB" sz="1200"/>
              <a:t>BVF CROSS-REFERENCE</a:t>
            </a:r>
            <a:endParaRPr/>
          </a:p>
          <a:p>
            <a:pPr indent="0" lvl="0" marL="0" rtl="0" algn="l">
              <a:spcBef>
                <a:spcPts val="400"/>
              </a:spcBef>
              <a:spcAft>
                <a:spcPts val="0"/>
              </a:spcAft>
              <a:buNone/>
            </a:pPr>
            <a:r>
              <a:rPr lang="en-GB" sz="1200"/>
              <a:t>BVF Capability: Treasury &gt; FX &amp; Trading Book Management (File 08, Slides 38-39)</a:t>
            </a:r>
            <a:endParaRPr/>
          </a:p>
        </p:txBody>
      </p:sp>
    </p:spTree>
  </p:cSld>
  <p:clrMapOvr>
    <a:masterClrMapping/>
  </p:clrMapOvr>
</p:notes>
</file>

<file path=ppt/notesSlides/notesSlide3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8" name="Shape 6128"/>
        <p:cNvGrpSpPr/>
        <p:nvPr/>
      </p:nvGrpSpPr>
      <p:grpSpPr>
        <a:xfrm>
          <a:off x="0" y="0"/>
          <a:ext cx="0" cy="0"/>
          <a:chOff x="0" y="0"/>
          <a:chExt cx="0" cy="0"/>
        </a:xfrm>
      </p:grpSpPr>
      <p:sp>
        <p:nvSpPr>
          <p:cNvPr id="6129" name="Google Shape;6129;p312: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6130" name="Google Shape;6130;p31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31" name="Google Shape;6131;p31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EXTERNAL REPORTING</a:t>
            </a:r>
            <a:endParaRPr/>
          </a:p>
          <a:p>
            <a:pPr indent="0" lvl="0" marL="0" rtl="0" algn="l">
              <a:spcBef>
                <a:spcPts val="400"/>
              </a:spcBef>
              <a:spcAft>
                <a:spcPts val="0"/>
              </a:spcAft>
              <a:buNone/>
            </a:pPr>
            <a:r>
              <a:rPr lang="en-GB" sz="1200"/>
              <a:t>Multiple stakeholders require different reporting formats:</a:t>
            </a:r>
            <a:endParaRPr/>
          </a:p>
          <a:p>
            <a:pPr indent="0" lvl="0" marL="0" rtl="0" algn="l">
              <a:spcBef>
                <a:spcPts val="400"/>
              </a:spcBef>
              <a:spcAft>
                <a:spcPts val="0"/>
              </a:spcAft>
              <a:buNone/>
            </a:pPr>
            <a:r>
              <a:rPr lang="en-GB" sz="1200"/>
              <a:t>- SBP: 30+ statutory returns (weekly, monthly, quarterly, annual)</a:t>
            </a:r>
            <a:endParaRPr/>
          </a:p>
          <a:p>
            <a:pPr indent="0" lvl="0" marL="0" rtl="0" algn="l">
              <a:spcBef>
                <a:spcPts val="400"/>
              </a:spcBef>
              <a:spcAft>
                <a:spcPts val="0"/>
              </a:spcAft>
              <a:buNone/>
            </a:pPr>
            <a:r>
              <a:rPr lang="en-GB" sz="1200"/>
              <a:t>- SECP: Quarterly and annual IFRS financial statements</a:t>
            </a:r>
            <a:endParaRPr/>
          </a:p>
          <a:p>
            <a:pPr indent="0" lvl="0" marL="0" rtl="0" algn="l">
              <a:spcBef>
                <a:spcPts val="400"/>
              </a:spcBef>
              <a:spcAft>
                <a:spcPts val="0"/>
              </a:spcAft>
              <a:buNone/>
            </a:pPr>
            <a:r>
              <a:rPr lang="en-GB" sz="1200"/>
              <a:t>- PSX: Stock exchange disclosure requirements</a:t>
            </a:r>
            <a:endParaRPr/>
          </a:p>
          <a:p>
            <a:pPr indent="0" lvl="0" marL="0" rtl="0" algn="l">
              <a:spcBef>
                <a:spcPts val="400"/>
              </a:spcBef>
              <a:spcAft>
                <a:spcPts val="0"/>
              </a:spcAft>
              <a:buNone/>
            </a:pPr>
            <a:r>
              <a:rPr lang="en-GB" sz="1200"/>
              <a:t>- External auditors: Annual audit data requests</a:t>
            </a:r>
            <a:endParaRPr/>
          </a:p>
          <a:p>
            <a:pPr indent="0" lvl="0" marL="0" rtl="0" algn="l">
              <a:spcBef>
                <a:spcPts val="400"/>
              </a:spcBef>
              <a:spcAft>
                <a:spcPts val="0"/>
              </a:spcAft>
              <a:buNone/>
            </a:pPr>
            <a:r>
              <a:rPr lang="en-GB" sz="1200"/>
              <a:t>- FBR: Tax reporting and WHT certificates</a:t>
            </a:r>
            <a:endParaRPr/>
          </a:p>
          <a:p>
            <a:pPr indent="0" lvl="0" marL="0" rtl="0" algn="l">
              <a:spcBef>
                <a:spcPts val="400"/>
              </a:spcBef>
              <a:spcAft>
                <a:spcPts val="0"/>
              </a:spcAft>
              <a:buNone/>
            </a:pPr>
            <a:r>
              <a:rPr lang="en-GB" sz="1200"/>
              <a:t>All from single FSDM source of truth.</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EXT_RPT (External Report), SBP_RTRN (SBP Return), IFRS_STMT (IFRS Statement), DSCLSR (Disclosure)</a:t>
            </a:r>
            <a:endParaRPr/>
          </a:p>
        </p:txBody>
      </p:sp>
    </p:spTree>
  </p:cSld>
  <p:clrMapOvr>
    <a:masterClrMapping/>
  </p:clrMapOvr>
</p:notes>
</file>

<file path=ppt/notesSlides/notesSlide3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8" name="Shape 6148"/>
        <p:cNvGrpSpPr/>
        <p:nvPr/>
      </p:nvGrpSpPr>
      <p:grpSpPr>
        <a:xfrm>
          <a:off x="0" y="0"/>
          <a:ext cx="0" cy="0"/>
          <a:chOff x="0" y="0"/>
          <a:chExt cx="0" cy="0"/>
        </a:xfrm>
      </p:grpSpPr>
      <p:sp>
        <p:nvSpPr>
          <p:cNvPr id="6149" name="Google Shape;6149;p313: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6150" name="Google Shape;6150;p31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51" name="Google Shape;6151;p31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REPORTING EFFICIENCY</a:t>
            </a:r>
            <a:endParaRPr/>
          </a:p>
          <a:p>
            <a:pPr indent="0" lvl="0" marL="0" rtl="0" algn="l">
              <a:spcBef>
                <a:spcPts val="400"/>
              </a:spcBef>
              <a:spcAft>
                <a:spcPts val="0"/>
              </a:spcAft>
              <a:buNone/>
            </a:pPr>
            <a:r>
              <a:rPr lang="en-GB" sz="1200"/>
              <a:t>Current: 15-20 days per month spent on financial reporting preparation across the group.</a:t>
            </a:r>
            <a:endParaRPr/>
          </a:p>
          <a:p>
            <a:pPr indent="0" lvl="0" marL="0" rtl="0" algn="l">
              <a:spcBef>
                <a:spcPts val="400"/>
              </a:spcBef>
              <a:spcAft>
                <a:spcPts val="0"/>
              </a:spcAft>
              <a:buNone/>
            </a:pPr>
            <a:r>
              <a:rPr lang="en-GB" sz="1200"/>
              <a:t>Target: &lt;5 days with automated report generation from FSDM warehouse.</a:t>
            </a:r>
            <a:endParaRPr/>
          </a:p>
          <a:p>
            <a:pPr indent="0" lvl="0" marL="0" rtl="0" algn="l">
              <a:spcBef>
                <a:spcPts val="400"/>
              </a:spcBef>
              <a:spcAft>
                <a:spcPts val="0"/>
              </a:spcAft>
              <a:buNone/>
            </a:pPr>
            <a:r>
              <a:rPr lang="en-GB" sz="1200"/>
              <a:t>Self-service BI enables finance team to create ad-hoc analyses without IT dependency.</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FIN_RPT (Financial Report), RPT_TMPLTE (Report Template), BI_DSHBRD (BI Dashboard)</a:t>
            </a:r>
            <a:endParaRPr/>
          </a:p>
        </p:txBody>
      </p:sp>
    </p:spTree>
  </p:cSld>
  <p:clrMapOvr>
    <a:masterClrMapping/>
  </p:clrMapOvr>
</p:notes>
</file>

<file path=ppt/notesSlides/notesSlide3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8" name="Shape 6168"/>
        <p:cNvGrpSpPr/>
        <p:nvPr/>
      </p:nvGrpSpPr>
      <p:grpSpPr>
        <a:xfrm>
          <a:off x="0" y="0"/>
          <a:ext cx="0" cy="0"/>
          <a:chOff x="0" y="0"/>
          <a:chExt cx="0" cy="0"/>
        </a:xfrm>
      </p:grpSpPr>
      <p:sp>
        <p:nvSpPr>
          <p:cNvPr id="6169" name="Google Shape;6169;p314: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6170" name="Google Shape;6170;p31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71" name="Google Shape;6171;p31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REGULATORY REPORTING - HIGH PRIORITY</a:t>
            </a:r>
            <a:endParaRPr/>
          </a:p>
          <a:p>
            <a:pPr indent="0" lvl="0" marL="0" rtl="0" algn="l">
              <a:spcBef>
                <a:spcPts val="400"/>
              </a:spcBef>
              <a:spcAft>
                <a:spcPts val="0"/>
              </a:spcAft>
              <a:buNone/>
            </a:pPr>
            <a:r>
              <a:rPr lang="en-GB" sz="1200"/>
              <a:t>See File 08 Prompt (6M) - Slides 49-50 for full SBP return list.</a:t>
            </a:r>
            <a:endParaRPr/>
          </a:p>
          <a:p>
            <a:pPr indent="0" lvl="0" marL="0" rtl="0" algn="l">
              <a:spcBef>
                <a:spcPts val="400"/>
              </a:spcBef>
              <a:spcAft>
                <a:spcPts val="0"/>
              </a:spcAft>
              <a:buNone/>
            </a:pPr>
            <a:r>
              <a:rPr lang="en-GB" sz="1200"/>
              <a:t>Key SBP returns: WSP (Weekly Statement of Position), MSA (Monthly Statement of Affairs),</a:t>
            </a:r>
            <a:endParaRPr/>
          </a:p>
          <a:p>
            <a:pPr indent="0" lvl="0" marL="0" rtl="0" algn="l">
              <a:spcBef>
                <a:spcPts val="400"/>
              </a:spcBef>
              <a:spcAft>
                <a:spcPts val="0"/>
              </a:spcAft>
              <a:buNone/>
            </a:pPr>
            <a:r>
              <a:rPr lang="en-GB" sz="1200"/>
              <a:t>QFS (Quarterly Financial Statements), Capital Adequacy, LCR/NSFR, ECIB, STR/CTR.</a:t>
            </a:r>
            <a:endParaRPr/>
          </a:p>
          <a:p>
            <a:pPr indent="0" lvl="0" marL="0" rtl="0" algn="l">
              <a:spcBef>
                <a:spcPts val="400"/>
              </a:spcBef>
              <a:spcAft>
                <a:spcPts val="0"/>
              </a:spcAft>
              <a:buNone/>
            </a:pPr>
            <a:r>
              <a:rPr lang="en-GB" sz="1200"/>
              <a:t>Currently 40%+ of finance team bandwidth consumed by regulatory reporting.</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RGLTY_RPT (Regulatory Report), SBP_RTRN (SBP Return), IFRS_DSCLSR (IFRS Disclosure), BSL_RPT (Basel Report)</a:t>
            </a:r>
            <a:endParaRPr/>
          </a:p>
          <a:p>
            <a:pPr indent="0" lvl="0" marL="0" rtl="0" algn="l">
              <a:spcBef>
                <a:spcPts val="600"/>
              </a:spcBef>
              <a:spcAft>
                <a:spcPts val="200"/>
              </a:spcAft>
              <a:buNone/>
            </a:pPr>
            <a:r>
              <a:rPr b="1" lang="en-GB" sz="1200"/>
              <a:t>BVF CROSS-REFERENCE</a:t>
            </a:r>
            <a:endParaRPr/>
          </a:p>
          <a:p>
            <a:pPr indent="0" lvl="0" marL="0" rtl="0" algn="l">
              <a:spcBef>
                <a:spcPts val="400"/>
              </a:spcBef>
              <a:spcAft>
                <a:spcPts val="0"/>
              </a:spcAft>
              <a:buNone/>
            </a:pPr>
            <a:r>
              <a:rPr lang="en-GB" sz="1200"/>
              <a:t>BVF Capability: Financial Reporting &gt; Regulatory &amp; Compliance Reporting (File 08, Slides 49-50)</a:t>
            </a:r>
            <a:endParaRPr/>
          </a:p>
        </p:txBody>
      </p:sp>
    </p:spTree>
  </p:cSld>
  <p:clrMapOvr>
    <a:masterClrMapping/>
  </p:clrMapOvr>
</p:notes>
</file>

<file path=ppt/notesSlides/notesSlide3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8" name="Shape 6188"/>
        <p:cNvGrpSpPr/>
        <p:nvPr/>
      </p:nvGrpSpPr>
      <p:grpSpPr>
        <a:xfrm>
          <a:off x="0" y="0"/>
          <a:ext cx="0" cy="0"/>
          <a:chOff x="0" y="0"/>
          <a:chExt cx="0" cy="0"/>
        </a:xfrm>
      </p:grpSpPr>
      <p:sp>
        <p:nvSpPr>
          <p:cNvPr id="6189" name="Google Shape;6189;p315: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6190" name="Google Shape;6190;p31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91" name="Google Shape;6191;p31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SALES ANALYTICS</a:t>
            </a:r>
            <a:endParaRPr/>
          </a:p>
          <a:p>
            <a:pPr indent="0" lvl="0" marL="0" rtl="0" algn="l">
              <a:spcBef>
                <a:spcPts val="400"/>
              </a:spcBef>
              <a:spcAft>
                <a:spcPts val="0"/>
              </a:spcAft>
              <a:buNone/>
            </a:pPr>
            <a:r>
              <a:rPr lang="en-GB" sz="1200"/>
              <a:t>Product sales tracking across channels: branch, digital, agent banking, cards, trade finance.</a:t>
            </a:r>
            <a:endParaRPr/>
          </a:p>
          <a:p>
            <a:pPr indent="0" lvl="0" marL="0" rtl="0" algn="l">
              <a:spcBef>
                <a:spcPts val="400"/>
              </a:spcBef>
              <a:spcAft>
                <a:spcPts val="0"/>
              </a:spcAft>
              <a:buNone/>
            </a:pPr>
            <a:r>
              <a:rPr lang="en-GB" sz="1200"/>
              <a:t>RM performance: Relationship managers measured on deposits mobilized, advances originated, cross-sell ratio.</a:t>
            </a:r>
            <a:endParaRPr/>
          </a:p>
          <a:p>
            <a:pPr indent="0" lvl="0" marL="0" rtl="0" algn="l">
              <a:spcBef>
                <a:spcPts val="400"/>
              </a:spcBef>
              <a:spcAft>
                <a:spcPts val="0"/>
              </a:spcAft>
              <a:buNone/>
            </a:pPr>
            <a:r>
              <a:rPr lang="en-GB" sz="1200"/>
              <a:t>Bancassurance: Insurance/Takaful sales through bank branches - growing revenue stream.</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SALES (Sales), RM_PRFMNC (RM Performance), PRDCT_SALES (Product Sales), CMPGN (Campaign), PIPELINE (Pipeline)</a:t>
            </a:r>
            <a:endParaRPr/>
          </a:p>
        </p:txBody>
      </p:sp>
    </p:spTree>
  </p:cSld>
  <p:clrMapOvr>
    <a:masterClrMapping/>
  </p:clrMapOvr>
</p:notes>
</file>

<file path=ppt/notesSlides/notesSlide3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8" name="Shape 6208"/>
        <p:cNvGrpSpPr/>
        <p:nvPr/>
      </p:nvGrpSpPr>
      <p:grpSpPr>
        <a:xfrm>
          <a:off x="0" y="0"/>
          <a:ext cx="0" cy="0"/>
          <a:chOff x="0" y="0"/>
          <a:chExt cx="0" cy="0"/>
        </a:xfrm>
      </p:grpSpPr>
      <p:sp>
        <p:nvSpPr>
          <p:cNvPr id="6209" name="Google Shape;6209;p316: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6210" name="Google Shape;6210;p31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11" name="Google Shape;6211;p31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PROJECT ACCOUNTING</a:t>
            </a:r>
            <a:endParaRPr/>
          </a:p>
          <a:p>
            <a:pPr indent="0" lvl="0" marL="0" rtl="0" algn="l">
              <a:spcBef>
                <a:spcPts val="400"/>
              </a:spcBef>
              <a:spcAft>
                <a:spcPts val="0"/>
              </a:spcAft>
              <a:buNone/>
            </a:pPr>
            <a:r>
              <a:rPr lang="en-GB" sz="1200"/>
              <a:t>Major banking projects requiring cost tracking:</a:t>
            </a:r>
            <a:endParaRPr/>
          </a:p>
          <a:p>
            <a:pPr indent="0" lvl="0" marL="0" rtl="0" algn="l">
              <a:spcBef>
                <a:spcPts val="400"/>
              </a:spcBef>
              <a:spcAft>
                <a:spcPts val="0"/>
              </a:spcAft>
              <a:buNone/>
            </a:pPr>
            <a:r>
              <a:rPr lang="en-GB" sz="1200"/>
              <a:t>- Digital transformation (mobile banking, internet banking, digital onboarding)</a:t>
            </a:r>
            <a:endParaRPr/>
          </a:p>
          <a:p>
            <a:pPr indent="0" lvl="0" marL="0" rtl="0" algn="l">
              <a:spcBef>
                <a:spcPts val="400"/>
              </a:spcBef>
              <a:spcAft>
                <a:spcPts val="0"/>
              </a:spcAft>
              <a:buNone/>
            </a:pPr>
            <a:r>
              <a:rPr lang="en-GB" sz="1200"/>
              <a:t>- Core banking upgrade/migration (CTL to Temenos, Oracle to Finacle)</a:t>
            </a:r>
            <a:endParaRPr/>
          </a:p>
          <a:p>
            <a:pPr indent="0" lvl="0" marL="0" rtl="0" algn="l">
              <a:spcBef>
                <a:spcPts val="400"/>
              </a:spcBef>
              <a:spcAft>
                <a:spcPts val="0"/>
              </a:spcAft>
              <a:buNone/>
            </a:pPr>
            <a:r>
              <a:rPr lang="en-GB" sz="1200"/>
              <a:t>- Branch renovation and network expansion</a:t>
            </a:r>
            <a:endParaRPr/>
          </a:p>
          <a:p>
            <a:pPr indent="0" lvl="0" marL="0" rtl="0" algn="l">
              <a:spcBef>
                <a:spcPts val="400"/>
              </a:spcBef>
              <a:spcAft>
                <a:spcPts val="0"/>
              </a:spcAft>
              <a:buNone/>
            </a:pPr>
            <a:r>
              <a:rPr lang="en-GB" sz="1200"/>
              <a:t>- ATM network optimization</a:t>
            </a:r>
            <a:endParaRPr/>
          </a:p>
          <a:p>
            <a:pPr indent="0" lvl="0" marL="0" rtl="0" algn="l">
              <a:spcBef>
                <a:spcPts val="400"/>
              </a:spcBef>
              <a:spcAft>
                <a:spcPts val="0"/>
              </a:spcAft>
              <a:buNone/>
            </a:pPr>
            <a:r>
              <a:rPr lang="en-GB" sz="1200"/>
              <a:t>- Data center build/upgrade</a:t>
            </a:r>
            <a:endParaRPr/>
          </a:p>
          <a:p>
            <a:pPr indent="0" lvl="0" marL="0" rtl="0" algn="l">
              <a:spcBef>
                <a:spcPts val="400"/>
              </a:spcBef>
              <a:spcAft>
                <a:spcPts val="0"/>
              </a:spcAft>
              <a:buNone/>
            </a:pPr>
            <a:r>
              <a:rPr lang="en-GB" sz="1200"/>
              <a:t>Pakistan banks investing PKR 5-15B annually in technology transformation.</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PRJCT (Project), PRJCT_CST (Project Cost), BDGT_ACTLS (Budget vs Actuals), ROI (ROI)</a:t>
            </a:r>
            <a:endParaRPr/>
          </a:p>
        </p:txBody>
      </p:sp>
    </p:spTree>
  </p:cSld>
  <p:clrMapOvr>
    <a:masterClrMapping/>
  </p:clrMapOvr>
</p:notes>
</file>

<file path=ppt/notesSlides/notesSlide3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8" name="Shape 6228"/>
        <p:cNvGrpSpPr/>
        <p:nvPr/>
      </p:nvGrpSpPr>
      <p:grpSpPr>
        <a:xfrm>
          <a:off x="0" y="0"/>
          <a:ext cx="0" cy="0"/>
          <a:chOff x="0" y="0"/>
          <a:chExt cx="0" cy="0"/>
        </a:xfrm>
      </p:grpSpPr>
      <p:sp>
        <p:nvSpPr>
          <p:cNvPr id="6229" name="Google Shape;6229;p317: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6230" name="Google Shape;6230;p31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1" name="Google Shape;6231;p31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EXCEPTION REPORTING</a:t>
            </a:r>
            <a:endParaRPr/>
          </a:p>
          <a:p>
            <a:pPr indent="0" lvl="0" marL="0" rtl="0" algn="l">
              <a:spcBef>
                <a:spcPts val="400"/>
              </a:spcBef>
              <a:spcAft>
                <a:spcPts val="0"/>
              </a:spcAft>
              <a:buNone/>
            </a:pPr>
            <a:r>
              <a:rPr lang="en-GB" sz="1200"/>
              <a:t>Critical exceptions to monitor:</a:t>
            </a:r>
            <a:endParaRPr/>
          </a:p>
          <a:p>
            <a:pPr indent="0" lvl="0" marL="0" rtl="0" algn="l">
              <a:spcBef>
                <a:spcPts val="400"/>
              </a:spcBef>
              <a:spcAft>
                <a:spcPts val="0"/>
              </a:spcAft>
              <a:buNone/>
            </a:pPr>
            <a:r>
              <a:rPr lang="en-GB" sz="1200"/>
              <a:t>- SBP limit breaches: FX position, large exposure, single borrower limits</a:t>
            </a:r>
            <a:endParaRPr/>
          </a:p>
          <a:p>
            <a:pPr indent="0" lvl="0" marL="0" rtl="0" algn="l">
              <a:spcBef>
                <a:spcPts val="400"/>
              </a:spcBef>
              <a:spcAft>
                <a:spcPts val="0"/>
              </a:spcAft>
              <a:buNone/>
            </a:pPr>
            <a:r>
              <a:rPr lang="en-GB" sz="1200"/>
              <a:t>- IFRS 9 stage migration triggers (Stage 1 to 2 to 3)</a:t>
            </a:r>
            <a:endParaRPr/>
          </a:p>
          <a:p>
            <a:pPr indent="0" lvl="0" marL="0" rtl="0" algn="l">
              <a:spcBef>
                <a:spcPts val="400"/>
              </a:spcBef>
              <a:spcAft>
                <a:spcPts val="0"/>
              </a:spcAft>
              <a:buNone/>
            </a:pPr>
            <a:r>
              <a:rPr lang="en-GB" sz="1200"/>
              <a:t>- Budget variance thresholds (&gt;10% deviation alerts)</a:t>
            </a:r>
            <a:endParaRPr/>
          </a:p>
          <a:p>
            <a:pPr indent="0" lvl="0" marL="0" rtl="0" algn="l">
              <a:spcBef>
                <a:spcPts val="400"/>
              </a:spcBef>
              <a:spcAft>
                <a:spcPts val="0"/>
              </a:spcAft>
              <a:buNone/>
            </a:pPr>
            <a:r>
              <a:rPr lang="en-GB" sz="1200"/>
              <a:t>- Compliance SLA breaches (KYC renewal, transaction monitoring)</a:t>
            </a:r>
            <a:endParaRPr/>
          </a:p>
          <a:p>
            <a:pPr indent="0" lvl="0" marL="0" rtl="0" algn="l">
              <a:spcBef>
                <a:spcPts val="400"/>
              </a:spcBef>
              <a:spcAft>
                <a:spcPts val="0"/>
              </a:spcAft>
              <a:buNone/>
            </a:pPr>
            <a:r>
              <a:rPr lang="en-GB" sz="1200"/>
              <a:t>- AML threshold alerts (CTR: PKR 2M+, STR: suspicious patterns)</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EXCPTN (Exception), ALRT (Alert), THRSHLD (Threshold), SLA (SLA), WRKFLW (Workflow)</a:t>
            </a:r>
            <a:endParaRPr/>
          </a:p>
        </p:txBody>
      </p:sp>
    </p:spTree>
  </p:cSld>
  <p:clrMapOvr>
    <a:masterClrMapping/>
  </p:clrMapOvr>
</p:notes>
</file>

<file path=ppt/notesSlides/notesSlide3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8" name="Shape 6248"/>
        <p:cNvGrpSpPr/>
        <p:nvPr/>
      </p:nvGrpSpPr>
      <p:grpSpPr>
        <a:xfrm>
          <a:off x="0" y="0"/>
          <a:ext cx="0" cy="0"/>
          <a:chOff x="0" y="0"/>
          <a:chExt cx="0" cy="0"/>
        </a:xfrm>
      </p:grpSpPr>
      <p:sp>
        <p:nvSpPr>
          <p:cNvPr id="6249" name="Google Shape;6249;p318: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entury Gothic"/>
                <a:ea typeface="Century Gothic"/>
                <a:cs typeface="Century Gothic"/>
                <a:sym typeface="Century Gothic"/>
              </a:rPr>
              <a:t>‹#›</a:t>
            </a:fld>
            <a:endParaRPr sz="1800">
              <a:solidFill>
                <a:srgbClr val="000000"/>
              </a:solidFill>
              <a:latin typeface="Century Gothic"/>
              <a:ea typeface="Century Gothic"/>
              <a:cs typeface="Century Gothic"/>
              <a:sym typeface="Century Gothic"/>
            </a:endParaRPr>
          </a:p>
        </p:txBody>
      </p:sp>
      <p:sp>
        <p:nvSpPr>
          <p:cNvPr id="6250" name="Google Shape;6250;p31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51" name="Google Shape;6251;p31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200"/>
              </a:spcAft>
              <a:buNone/>
            </a:pPr>
            <a:r>
              <a:rPr b="1" lang="en-GB" sz="1200"/>
              <a:t>PAKISTAN EXECUTIVE DASHBOARD</a:t>
            </a:r>
            <a:endParaRPr/>
          </a:p>
          <a:p>
            <a:pPr indent="0" lvl="0" marL="0" rtl="0" algn="l">
              <a:spcBef>
                <a:spcPts val="400"/>
              </a:spcBef>
              <a:spcAft>
                <a:spcPts val="0"/>
              </a:spcAft>
              <a:buNone/>
            </a:pPr>
            <a:r>
              <a:rPr lang="en-GB" sz="1200"/>
              <a:t>See File 08 Prompt (6M) - Slides 57-58 for full Pakistan executive dashboard context.</a:t>
            </a:r>
            <a:endParaRPr/>
          </a:p>
          <a:p>
            <a:pPr indent="0" lvl="0" marL="0" rtl="0" algn="l">
              <a:spcBef>
                <a:spcPts val="400"/>
              </a:spcBef>
              <a:spcAft>
                <a:spcPts val="0"/>
              </a:spcAft>
              <a:buNone/>
            </a:pPr>
            <a:r>
              <a:rPr lang="en-GB" sz="1200"/>
              <a:t>Components: Financial performance (P&amp;L, ROE, NIM), Balance sheet (deposits, advances, capital),</a:t>
            </a:r>
            <a:endParaRPr/>
          </a:p>
          <a:p>
            <a:pPr indent="0" lvl="0" marL="0" rtl="0" algn="l">
              <a:spcBef>
                <a:spcPts val="400"/>
              </a:spcBef>
              <a:spcAft>
                <a:spcPts val="0"/>
              </a:spcAft>
              <a:buNone/>
            </a:pPr>
            <a:r>
              <a:rPr lang="en-GB" sz="1200"/>
              <a:t>Risk (NPL, ECL, CAR), Treasury (portfolio, liquidity, FX), Operations (branch, digital, customer growth),</a:t>
            </a:r>
            <a:endParaRPr/>
          </a:p>
          <a:p>
            <a:pPr indent="0" lvl="0" marL="0" rtl="0" algn="l">
              <a:spcBef>
                <a:spcPts val="400"/>
              </a:spcBef>
              <a:spcAft>
                <a:spcPts val="0"/>
              </a:spcAft>
              <a:buNone/>
            </a:pPr>
            <a:r>
              <a:rPr lang="en-GB" sz="1200"/>
              <a:t>Islamic banking panel (separate performance view).</a:t>
            </a:r>
            <a:endParaRPr/>
          </a:p>
          <a:p>
            <a:pPr indent="0" lvl="0" marL="0" rtl="0" algn="l">
              <a:spcBef>
                <a:spcPts val="400"/>
              </a:spcBef>
              <a:spcAft>
                <a:spcPts val="0"/>
              </a:spcAft>
              <a:buNone/>
            </a:pPr>
            <a:r>
              <a:rPr lang="en-GB" sz="1200"/>
              <a:t>Replace monthly paper-based MIS pack (2-3 weeks to prepare) with real-time self-service dashboard.</a:t>
            </a:r>
            <a:endParaRPr/>
          </a:p>
          <a:p>
            <a:pPr indent="0" lvl="0" marL="0" rtl="0" algn="l">
              <a:spcBef>
                <a:spcPts val="600"/>
              </a:spcBef>
              <a:spcAft>
                <a:spcPts val="200"/>
              </a:spcAft>
              <a:buNone/>
            </a:pPr>
            <a:r>
              <a:rPr b="1" lang="en-GB" sz="1200"/>
              <a:t>FSDM ENTITIES</a:t>
            </a:r>
            <a:endParaRPr/>
          </a:p>
          <a:p>
            <a:pPr indent="0" lvl="0" marL="0" rtl="0" algn="l">
              <a:spcBef>
                <a:spcPts val="400"/>
              </a:spcBef>
              <a:spcAft>
                <a:spcPts val="0"/>
              </a:spcAft>
              <a:buNone/>
            </a:pPr>
            <a:r>
              <a:rPr lang="en-GB" sz="1200"/>
              <a:t>DSHBRD (Dashboard), KPI (KPI), EXCTVL_RPT (Executive Report), DRILL_DWN (Drill-Down)</a:t>
            </a:r>
            <a:endParaRPr/>
          </a:p>
          <a:p>
            <a:pPr indent="0" lvl="0" marL="0" rtl="0" algn="l">
              <a:spcBef>
                <a:spcPts val="600"/>
              </a:spcBef>
              <a:spcAft>
                <a:spcPts val="200"/>
              </a:spcAft>
              <a:buNone/>
            </a:pPr>
            <a:r>
              <a:rPr b="1" lang="en-GB" sz="1200"/>
              <a:t>BVF CROSS-REFERENCE</a:t>
            </a:r>
            <a:endParaRPr/>
          </a:p>
          <a:p>
            <a:pPr indent="0" lvl="0" marL="0" rtl="0" algn="l">
              <a:spcBef>
                <a:spcPts val="400"/>
              </a:spcBef>
              <a:spcAft>
                <a:spcPts val="0"/>
              </a:spcAft>
              <a:buNone/>
            </a:pPr>
            <a:r>
              <a:rPr lang="en-GB" sz="1200"/>
              <a:t>BVF Capability: Financial Reporting &gt; Executive Dashboards (File 08, Slides 57-58)</a:t>
            </a:r>
            <a:endParaRPr/>
          </a:p>
        </p:txBody>
      </p:sp>
    </p:spTree>
  </p:cSld>
  <p:clrMapOvr>
    <a:masterClrMapping/>
  </p:clrMapOvr>
</p:notes>
</file>

<file path=ppt/notesSlides/notesSlide6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p:nvPr>
            <p:ph idx="2" type="sldImg"/>
          </p:nvPr>
        </p:nvSpPr>
        <p:spPr>
          <a:xfrm>
            <a:off x="114300" y="746125"/>
            <a:ext cx="6629400" cy="3729038"/>
          </a:xfrm>
          <a:prstGeom prst="rect">
            <a:avLst/>
          </a:prstGeom>
          <a:noFill/>
        </p:spPr>
      </p:sp>
      <p:sp>
        <p:nvSpPr>
          <p:cNvPr id="3" name="Notes"/>
          <p:cNvSpPr txBox="1"/>
          <p:nvPr>
            <p:ph idx="1" type="body"/>
          </p:nvPr>
        </p:nvSpPr>
        <p:spPr>
          <a:xfrm>
            <a:off x="685800" y="4724202"/>
            <a:ext cx="5486400" cy="4475560"/>
          </a:xfrm>
          <a:prstGeom prst="rect">
            <a:avLst/>
          </a:prstGeom>
          <a:noFill/>
        </p:spPr>
        <p:txBody>
          <a:bodyPr wrap="square"/>
          <a:lstStyle/>
          <a:p>
            <a:pPr algn="l">
              <a:spcBef>
                <a:spcPts val="600"/>
              </a:spcBef>
              <a:buNone/>
            </a:pPr>
            <a:r>
              <a:rPr b="1" lang="en-GB" sz="1200"/>
              <a:t>USE CASE PORTFOLIO DASHBOARD</a:t>
            </a:r>
          </a:p>
          <a:p>
            <a:pPr algn="l">
              <a:spcBef>
                <a:spcPts val="400"/>
              </a:spcBef>
              <a:buNone/>
            </a:pPr>
            <a:r>
              <a:rPr lang="en-GB" sz="1200"/>
              <a:t>This dashboard shows all 31 Finance &amp; PM use cases across 4 domains.</a:t>
            </a:r>
          </a:p>
          <a:p>
            <a:pPr algn="l">
              <a:spcBef>
                <a:spcPts val="400"/>
              </a:spcBef>
              <a:buNone/>
            </a:pPr>
            <a:r>
              <a:rPr lang="en-GB" sz="1200"/>
              <a:t>Pakistan priority assessment based on SBP requirements, market maturity, and FSDM readiness.</a:t>
            </a:r>
          </a:p>
          <a:p>
            <a:pPr algn="l">
              <a:spcBef>
                <a:spcPts val="400"/>
              </a:spcBef>
              <a:buNone/>
            </a:pPr>
            <a:r>
              <a:rPr lang="en-GB" sz="1200"/>
              <a:t>FSDM domains indicate which data warehouse subject areas support each use case group.</a:t>
            </a:r>
          </a:p>
          <a:p>
            <a:pPr algn="l">
              <a:spcBef>
                <a:spcPts val="600"/>
              </a:spcBef>
              <a:buNone/>
            </a:pPr>
            <a:r>
              <a:rPr b="1" lang="en-GB" sz="1200"/>
              <a:t>IMPLEMENTATION PRIORITY</a:t>
            </a:r>
          </a:p>
          <a:p>
            <a:pPr algn="l">
              <a:spcBef>
                <a:spcPts val="400"/>
              </a:spcBef>
              <a:buNone/>
            </a:pPr>
            <a:r>
              <a:rPr lang="en-GB" sz="1200"/>
              <a:t>IMMEDIATE: Use cases with highest regulatory urgency and available data foundation.</a:t>
            </a:r>
          </a:p>
          <a:p>
            <a:pPr algn="l">
              <a:spcBef>
                <a:spcPts val="400"/>
              </a:spcBef>
              <a:buNone/>
            </a:pPr>
            <a:r>
              <a:rPr lang="en-GB" sz="1200"/>
              <a:t>HIGH: Use cases requiring additional data integration or analytical models.</a:t>
            </a:r>
          </a:p>
          <a:p>
            <a:pPr algn="l">
              <a:spcBef>
                <a:spcPts val="400"/>
              </a:spcBef>
              <a:buNone/>
            </a:pPr>
            <a:r>
              <a:rPr lang="en-GB" sz="1200"/>
              <a:t>STRATEGIC: Use cases requiring market development or advanced analytics capabilities.</a:t>
            </a:r>
          </a:p>
        </p:txBody>
      </p:sp>
    </p:spTree>
  </p:cSld>
  <p:clrMapOvr>
    <a:masterClrMapping/>
  </p:clrMapOvr>
</p:notes>
</file>

<file path=ppt/notesSlides/notesSlide6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p:nvPr>
            <p:ph idx="2" type="sldImg"/>
          </p:nvPr>
        </p:nvSpPr>
        <p:spPr>
          <a:xfrm>
            <a:off x="114300" y="746125"/>
            <a:ext cx="6629400" cy="3729038"/>
          </a:xfrm>
          <a:prstGeom prst="rect">
            <a:avLst/>
          </a:prstGeom>
          <a:noFill/>
        </p:spPr>
      </p:sp>
      <p:sp>
        <p:nvSpPr>
          <p:cNvPr id="3" name="Notes"/>
          <p:cNvSpPr txBox="1"/>
          <p:nvPr>
            <p:ph idx="1" type="body"/>
          </p:nvPr>
        </p:nvSpPr>
        <p:spPr>
          <a:xfrm>
            <a:off x="685800" y="4724202"/>
            <a:ext cx="5486400" cy="4475560"/>
          </a:xfrm>
          <a:prstGeom prst="rect">
            <a:avLst/>
          </a:prstGeom>
          <a:noFill/>
        </p:spPr>
        <p:txBody>
          <a:bodyPr wrap="square"/>
          <a:lstStyle/>
          <a:p>
            <a:pPr algn="l">
              <a:spcBef>
                <a:spcPts val="600"/>
              </a:spcBef>
              <a:buNone/>
            </a:pPr>
            <a:r>
              <a:rPr b="1" lang="en-GB" sz="1200"/>
              <a:t>PAKISTAN FINANCE USE CASE PRIORITIES</a:t>
            </a:r>
          </a:p>
          <a:p>
            <a:pPr algn="l">
              <a:spcBef>
                <a:spcPts val="400"/>
              </a:spcBef>
              <a:buNone/>
            </a:pPr>
            <a:r>
              <a:rPr lang="en-GB" sz="1200"/>
              <a:t>This slide highlights the 6 highest-impact use cases for Pakistan banking.</a:t>
            </a:r>
          </a:p>
          <a:p>
            <a:pPr algn="l">
              <a:spcBef>
                <a:spcPts val="400"/>
              </a:spcBef>
              <a:buNone/>
            </a:pPr>
            <a:r>
              <a:rPr lang="en-GB" sz="1200"/>
              <a:t>Each use case is linked to its detailed slide for reference.</a:t>
            </a:r>
          </a:p>
          <a:p>
            <a:pPr algn="l">
              <a:spcBef>
                <a:spcPts val="600"/>
              </a:spcBef>
              <a:buNone/>
            </a:pPr>
            <a:r>
              <a:rPr b="1" lang="en-GB" sz="1200"/>
              <a:t>KEY INSIGHT</a:t>
            </a:r>
          </a:p>
          <a:p>
            <a:pPr algn="l">
              <a:spcBef>
                <a:spcPts val="400"/>
              </a:spcBef>
              <a:buNone/>
            </a:pPr>
            <a:r>
              <a:rPr lang="en-GB" sz="1200"/>
              <a:t>UBL FSDM data warehouse provides the data foundation for all 6 priority use cases.</a:t>
            </a:r>
          </a:p>
          <a:p>
            <a:pPr algn="l">
              <a:spcBef>
                <a:spcPts val="400"/>
              </a:spcBef>
              <a:buNone/>
            </a:pPr>
            <a:r>
              <a:rPr lang="en-GB" sz="1200"/>
              <a:t>The Customer Profitability Engine (already operational) is the anchor for EPM use cases.</a:t>
            </a:r>
          </a:p>
        </p:txBody>
      </p:sp>
    </p:spTree>
  </p:cSld>
  <p:clrMapOvr>
    <a:masterClrMapping/>
  </p:clrMapOvr>
</p:notes>
</file>

<file path=ppt/notesSlides/notesSlide6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p:nvPr>
            <p:ph idx="2" type="sldImg"/>
          </p:nvPr>
        </p:nvSpPr>
        <p:spPr>
          <a:xfrm>
            <a:off x="114300" y="746125"/>
            <a:ext cx="6629400" cy="3729038"/>
          </a:xfrm>
          <a:prstGeom prst="rect">
            <a:avLst/>
          </a:prstGeom>
          <a:noFill/>
        </p:spPr>
      </p:sp>
      <p:sp>
        <p:nvSpPr>
          <p:cNvPr id="3" name="Notes"/>
          <p:cNvSpPr txBox="1"/>
          <p:nvPr>
            <p:ph idx="1" type="body"/>
          </p:nvPr>
        </p:nvSpPr>
        <p:spPr>
          <a:xfrm>
            <a:off x="685800" y="4724202"/>
            <a:ext cx="5486400" cy="4475560"/>
          </a:xfrm>
          <a:prstGeom prst="rect">
            <a:avLst/>
          </a:prstGeom>
          <a:noFill/>
        </p:spPr>
        <p:txBody>
          <a:bodyPr wrap="square"/>
          <a:lstStyle/>
          <a:p>
            <a:pPr algn="l">
              <a:spcBef>
                <a:spcPts val="600"/>
              </a:spcBef>
              <a:buNone/>
            </a:pPr>
            <a:r>
              <a:rPr b="1" lang="en-GB" sz="1200"/>
              <a:t>IMPLEMENTATION ROADMAP</a:t>
            </a:r>
          </a:p>
          <a:p>
            <a:pPr algn="l">
              <a:spcBef>
                <a:spcPts val="400"/>
              </a:spcBef>
              <a:buNone/>
            </a:pPr>
            <a:r>
              <a:rPr lang="en-GB" sz="1200"/>
              <a:t>Three-phase approach aligned with Pakistan banking priorities and FSDM data availability.</a:t>
            </a:r>
          </a:p>
          <a:p>
            <a:pPr algn="l">
              <a:spcBef>
                <a:spcPts val="400"/>
              </a:spcBef>
              <a:buNone/>
            </a:pPr>
            <a:r>
              <a:rPr lang="en-GB" sz="1200"/>
              <a:t>Phase 1 focuses on quick wins with immediate regulatory and operational value.</a:t>
            </a:r>
          </a:p>
          <a:p>
            <a:pPr algn="l">
              <a:spcBef>
                <a:spcPts val="400"/>
              </a:spcBef>
              <a:buNone/>
            </a:pPr>
            <a:r>
              <a:rPr lang="en-GB" sz="1200"/>
              <a:t>Phase 2 builds analytical capabilities (profitability, RAROC, performance management).</a:t>
            </a:r>
          </a:p>
          <a:p>
            <a:pPr algn="l">
              <a:spcBef>
                <a:spcPts val="400"/>
              </a:spcBef>
              <a:buNone/>
            </a:pPr>
            <a:r>
              <a:rPr lang="en-GB" sz="1200"/>
              <a:t>Phase 3 addresses advanced and strategic use cases requiring market data and external feeds.</a:t>
            </a:r>
          </a:p>
          <a:p>
            <a:pPr algn="l">
              <a:spcBef>
                <a:spcPts val="600"/>
              </a:spcBef>
              <a:buNone/>
            </a:pPr>
            <a:r>
              <a:rPr b="1" lang="en-GB" sz="1200"/>
              <a:t>INVESTMENT SUMMARY</a:t>
            </a:r>
          </a:p>
          <a:p>
            <a:pPr algn="l">
              <a:spcBef>
                <a:spcPts val="400"/>
              </a:spcBef>
              <a:buNone/>
            </a:pPr>
            <a:r>
              <a:rPr lang="en-GB" sz="1200"/>
              <a:t>Total: PKR 410-820M over 36 months. ROI: 3-5x through improved profitability, operational efficiency, and regulatory compliance.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lternate Title Slide" showMasterSp="0">
  <p:cSld name="1_Alternate Title Slide">
    <p:spTree>
      <p:nvGrpSpPr>
        <p:cNvPr id="20" name="Shape 20"/>
        <p:cNvGrpSpPr/>
        <p:nvPr/>
      </p:nvGrpSpPr>
      <p:grpSpPr>
        <a:xfrm>
          <a:off x="0" y="0"/>
          <a:ext cx="0" cy="0"/>
          <a:chOff x="0" y="0"/>
          <a:chExt cx="0" cy="0"/>
        </a:xfrm>
      </p:grpSpPr>
      <p:pic>
        <p:nvPicPr>
          <p:cNvPr id="21" name="Google Shape;21;p2"/>
          <p:cNvPicPr preferRelativeResize="0"/>
          <p:nvPr/>
        </p:nvPicPr>
        <p:blipFill rotWithShape="1">
          <a:blip r:embed="rId2">
            <a:alphaModFix/>
          </a:blip>
          <a:srcRect b="-80" l="5141" r="6732" t="25561"/>
          <a:stretch/>
        </p:blipFill>
        <p:spPr>
          <a:xfrm>
            <a:off x="0" y="-5583"/>
            <a:ext cx="9144000" cy="5154666"/>
          </a:xfrm>
          <a:prstGeom prst="rect">
            <a:avLst/>
          </a:prstGeom>
          <a:noFill/>
          <a:ln>
            <a:noFill/>
          </a:ln>
        </p:spPr>
      </p:pic>
      <p:sp>
        <p:nvSpPr>
          <p:cNvPr id="22" name="Google Shape;22;p2"/>
          <p:cNvSpPr/>
          <p:nvPr/>
        </p:nvSpPr>
        <p:spPr>
          <a:xfrm>
            <a:off x="457200" y="-9525"/>
            <a:ext cx="2438400" cy="91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23" name="Google Shape;23;p2"/>
          <p:cNvGrpSpPr/>
          <p:nvPr/>
        </p:nvGrpSpPr>
        <p:grpSpPr>
          <a:xfrm>
            <a:off x="994118" y="305466"/>
            <a:ext cx="1362335" cy="305001"/>
            <a:chOff x="5137" y="4139"/>
            <a:chExt cx="335" cy="75"/>
          </a:xfrm>
        </p:grpSpPr>
        <p:sp>
          <p:nvSpPr>
            <p:cNvPr id="24" name="Google Shape;24;p2"/>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5" name="Google Shape;25;p2"/>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26" name="Google Shape;26;p2"/>
          <p:cNvSpPr txBox="1"/>
          <p:nvPr>
            <p:ph idx="1" type="body"/>
          </p:nvPr>
        </p:nvSpPr>
        <p:spPr>
          <a:xfrm>
            <a:off x="0" y="2915344"/>
            <a:ext cx="9144000" cy="1065420"/>
          </a:xfrm>
          <a:prstGeom prst="rect">
            <a:avLst/>
          </a:prstGeom>
          <a:solidFill>
            <a:schemeClr val="accent1">
              <a:alpha val="89803"/>
            </a:schemeClr>
          </a:solidFill>
          <a:ln>
            <a:noFill/>
          </a:ln>
        </p:spPr>
        <p:txBody>
          <a:bodyPr anchorCtr="1" anchor="ctr" bIns="137150" lIns="457200" spcFirstLastPara="1" rIns="457200" wrap="square" tIns="137150">
            <a:noAutofit/>
          </a:bodyPr>
          <a:lstStyle>
            <a:lvl1pPr indent="-355600" lvl="0" marL="457200" algn="ctr">
              <a:lnSpc>
                <a:spcPct val="85000"/>
              </a:lnSpc>
              <a:spcBef>
                <a:spcPts val="200"/>
              </a:spcBef>
              <a:spcAft>
                <a:spcPts val="0"/>
              </a:spcAft>
              <a:buClr>
                <a:schemeClr val="lt1"/>
              </a:buClr>
              <a:buSzPts val="2000"/>
              <a:buFont typeface="Arial"/>
              <a:buChar char="​"/>
              <a:defRPr b="0" sz="2000">
                <a:solidFill>
                  <a:schemeClr val="lt1"/>
                </a:solidFill>
              </a:defRPr>
            </a:lvl1pPr>
            <a:lvl2pPr indent="-317500" lvl="1" marL="914400" algn="ctr">
              <a:lnSpc>
                <a:spcPct val="85000"/>
              </a:lnSpc>
              <a:spcBef>
                <a:spcPts val="200"/>
              </a:spcBef>
              <a:spcAft>
                <a:spcPts val="0"/>
              </a:spcAft>
              <a:buClr>
                <a:schemeClr val="lt1"/>
              </a:buClr>
              <a:buSzPts val="1400"/>
              <a:buFont typeface="Arial"/>
              <a:buChar char="​"/>
              <a:defRPr b="0" sz="1400">
                <a:solidFill>
                  <a:schemeClr val="lt1"/>
                </a:solidFill>
              </a:defRPr>
            </a:lvl2pPr>
            <a:lvl3pPr indent="-330200" lvl="2" marL="1371600" algn="ctr">
              <a:lnSpc>
                <a:spcPct val="85000"/>
              </a:lnSpc>
              <a:spcBef>
                <a:spcPts val="600"/>
              </a:spcBef>
              <a:spcAft>
                <a:spcPts val="0"/>
              </a:spcAft>
              <a:buClr>
                <a:schemeClr val="lt1"/>
              </a:buClr>
              <a:buSzPts val="1600"/>
              <a:buFont typeface="Arial"/>
              <a:buChar char="​"/>
              <a:defRPr b="1" sz="1600">
                <a:solidFill>
                  <a:schemeClr val="lt1"/>
                </a:solidFill>
              </a:defRPr>
            </a:lvl3pPr>
            <a:lvl4pPr indent="-317500" lvl="3" marL="1828800" algn="ctr">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ctr">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7" name="Shape 27"/>
        <p:cNvGrpSpPr/>
        <p:nvPr/>
      </p:nvGrpSpPr>
      <p:grpSpPr>
        <a:xfrm>
          <a:off x="0" y="0"/>
          <a:ext cx="0" cy="0"/>
          <a:chOff x="0" y="0"/>
          <a:chExt cx="0" cy="0"/>
        </a:xfrm>
      </p:grpSpPr>
      <p:sp>
        <p:nvSpPr>
          <p:cNvPr id="28" name="Google Shape;28;p3"/>
          <p:cNvSpPr txBox="1"/>
          <p:nvPr>
            <p:ph idx="1" type="body"/>
          </p:nvPr>
        </p:nvSpPr>
        <p:spPr>
          <a:xfrm>
            <a:off x="457200" y="1115806"/>
            <a:ext cx="8229600" cy="3507581"/>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29" name="Google Shape;29;p3"/>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0" name="Google Shape;30;p3"/>
          <p:cNvSpPr txBox="1"/>
          <p:nvPr>
            <p:ph type="title"/>
          </p:nvPr>
        </p:nvSpPr>
        <p:spPr>
          <a:xfrm>
            <a:off x="457200" y="128588"/>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
          <p:cNvSpPr txBox="1"/>
          <p:nvPr>
            <p:ph idx="3"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and Content">
  <p:cSld name="17_Title and Content">
    <p:spTree>
      <p:nvGrpSpPr>
        <p:cNvPr id="32" name="Shape 32"/>
        <p:cNvGrpSpPr/>
        <p:nvPr/>
      </p:nvGrpSpPr>
      <p:grpSpPr>
        <a:xfrm>
          <a:off x="0" y="0"/>
          <a:ext cx="0" cy="0"/>
          <a:chOff x="0" y="0"/>
          <a:chExt cx="0" cy="0"/>
        </a:xfrm>
      </p:grpSpPr>
      <p:sp>
        <p:nvSpPr>
          <p:cNvPr id="33" name="Google Shape;33;p4"/>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a:lvl1pPr>
            <a:lvl2pPr indent="-342900" lvl="1" marL="914400" algn="l">
              <a:lnSpc>
                <a:spcPct val="85000"/>
              </a:lnSpc>
              <a:spcBef>
                <a:spcPts val="200"/>
              </a:spcBef>
              <a:spcAft>
                <a:spcPts val="0"/>
              </a:spcAft>
              <a:buClr>
                <a:schemeClr val="dk1"/>
              </a:buClr>
              <a:buSzPts val="1800"/>
              <a:buChar char="–"/>
              <a:defRPr/>
            </a:lvl2pPr>
            <a:lvl3pPr indent="-342900" lvl="2" marL="1371600" algn="l">
              <a:lnSpc>
                <a:spcPct val="85000"/>
              </a:lnSpc>
              <a:spcBef>
                <a:spcPts val="2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4" name="Google Shape;34;p4"/>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Subtitle Only">
  <p:cSld name="1_Title and Subtitle Only">
    <p:spTree>
      <p:nvGrpSpPr>
        <p:cNvPr id="35" name="Shape 35"/>
        <p:cNvGrpSpPr/>
        <p:nvPr/>
      </p:nvGrpSpPr>
      <p:grpSpPr>
        <a:xfrm>
          <a:off x="0" y="0"/>
          <a:ext cx="0" cy="0"/>
          <a:chOff x="0" y="0"/>
          <a:chExt cx="0" cy="0"/>
        </a:xfrm>
      </p:grpSpPr>
      <p:sp>
        <p:nvSpPr>
          <p:cNvPr id="36" name="Google Shape;36;p5"/>
          <p:cNvSpPr txBox="1"/>
          <p:nvPr>
            <p:ph idx="1"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7" name="Google Shape;37;p5"/>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8" name="Google Shape;38;p5"/>
          <p:cNvSpPr txBox="1"/>
          <p:nvPr>
            <p:ph type="title"/>
          </p:nvPr>
        </p:nvSpPr>
        <p:spPr>
          <a:xfrm>
            <a:off x="457200" y="128590"/>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and Content">
  <p:cSld name="15_Title and Content">
    <p:spTree>
      <p:nvGrpSpPr>
        <p:cNvPr id="39" name="Shape 39"/>
        <p:cNvGrpSpPr/>
        <p:nvPr/>
      </p:nvGrpSpPr>
      <p:grpSpPr>
        <a:xfrm>
          <a:off x="0" y="0"/>
          <a:ext cx="0" cy="0"/>
          <a:chOff x="0" y="0"/>
          <a:chExt cx="0" cy="0"/>
        </a:xfrm>
      </p:grpSpPr>
      <p:sp>
        <p:nvSpPr>
          <p:cNvPr id="40" name="Google Shape;40;p6"/>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42" name="Google Shape;42;p6"/>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spTree>
      <p:nvGrpSpPr>
        <p:cNvPr id="43" name="Shape 43"/>
        <p:cNvGrpSpPr/>
        <p:nvPr/>
      </p:nvGrpSpPr>
      <p:grpSpPr>
        <a:xfrm>
          <a:off x="0" y="0"/>
          <a:ext cx="0" cy="0"/>
          <a:chOff x="0" y="0"/>
          <a:chExt cx="0" cy="0"/>
        </a:xfrm>
      </p:grpSpPr>
      <p:sp>
        <p:nvSpPr>
          <p:cNvPr id="44" name="Google Shape;44;p7"/>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46" name="Google Shape;46;p7"/>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7" name="Shape 47"/>
        <p:cNvGrpSpPr/>
        <p:nvPr/>
      </p:nvGrpSpPr>
      <p:grpSpPr>
        <a:xfrm>
          <a:off x="0" y="0"/>
          <a:ext cx="0" cy="0"/>
          <a:chOff x="0" y="0"/>
          <a:chExt cx="0" cy="0"/>
        </a:xfrm>
      </p:grpSpPr>
      <p:sp>
        <p:nvSpPr>
          <p:cNvPr id="48" name="Google Shape;48;p8"/>
          <p:cNvSpPr txBox="1"/>
          <p:nvPr>
            <p:ph type="title"/>
          </p:nvPr>
        </p:nvSpPr>
        <p:spPr>
          <a:xfrm>
            <a:off x="457200" y="173736"/>
            <a:ext cx="8229600" cy="413639"/>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8"/>
          <p:cNvSpPr txBox="1"/>
          <p:nvPr>
            <p:ph idx="1" type="body"/>
          </p:nvPr>
        </p:nvSpPr>
        <p:spPr>
          <a:xfrm>
            <a:off x="457200" y="865188"/>
            <a:ext cx="8229600" cy="3694997"/>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0" name="Google Shape;50;p8"/>
          <p:cNvSpPr txBox="1"/>
          <p:nvPr>
            <p:ph idx="2" type="body"/>
          </p:nvPr>
        </p:nvSpPr>
        <p:spPr>
          <a:xfrm>
            <a:off x="3297994" y="492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Title and Content">
  <p:cSld name="21_Title and Content">
    <p:spTree>
      <p:nvGrpSpPr>
        <p:cNvPr id="51" name="Shape 51"/>
        <p:cNvGrpSpPr/>
        <p:nvPr/>
      </p:nvGrpSpPr>
      <p:grpSpPr>
        <a:xfrm>
          <a:off x="0" y="0"/>
          <a:ext cx="0" cy="0"/>
          <a:chOff x="0" y="0"/>
          <a:chExt cx="0" cy="0"/>
        </a:xfrm>
      </p:grpSpPr>
      <p:sp>
        <p:nvSpPr>
          <p:cNvPr id="52" name="Google Shape;52;p9"/>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9"/>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4" name="Google Shape;54;p9"/>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gue" showMasterSp="0">
  <p:cSld name="Segue">
    <p:bg>
      <p:bgPr>
        <a:solidFill>
          <a:schemeClr val="accent1"/>
        </a:solidFill>
      </p:bgPr>
    </p:bg>
    <p:spTree>
      <p:nvGrpSpPr>
        <p:cNvPr id="55" name="Shape 55"/>
        <p:cNvGrpSpPr/>
        <p:nvPr/>
      </p:nvGrpSpPr>
      <p:grpSpPr>
        <a:xfrm>
          <a:off x="0" y="0"/>
          <a:ext cx="0" cy="0"/>
          <a:chOff x="0" y="0"/>
          <a:chExt cx="0" cy="0"/>
        </a:xfrm>
      </p:grpSpPr>
      <p:sp>
        <p:nvSpPr>
          <p:cNvPr id="56" name="Google Shape;56;p10"/>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7" name="Google Shape;57;p10"/>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D8D8D8"/>
                </a:solidFill>
                <a:latin typeface="Century Gothic"/>
                <a:ea typeface="Century Gothic"/>
                <a:cs typeface="Century Gothic"/>
                <a:sym typeface="Century Gothic"/>
              </a:rPr>
              <a:t>‹#›</a:t>
            </a:fld>
            <a:endParaRPr sz="850">
              <a:solidFill>
                <a:srgbClr val="D8D8D8"/>
              </a:solidFill>
              <a:latin typeface="Century Gothic"/>
              <a:ea typeface="Century Gothic"/>
              <a:cs typeface="Century Gothic"/>
              <a:sym typeface="Century Gothic"/>
            </a:endParaRPr>
          </a:p>
        </p:txBody>
      </p:sp>
      <p:sp>
        <p:nvSpPr>
          <p:cNvPr id="58" name="Google Shape;58;p10"/>
          <p:cNvSpPr txBox="1"/>
          <p:nvPr>
            <p:ph idx="2" type="body"/>
          </p:nvPr>
        </p:nvSpPr>
        <p:spPr>
          <a:xfrm>
            <a:off x="3242535" y="4855464"/>
            <a:ext cx="2658930"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chemeClr val="lt1"/>
              </a:buClr>
              <a:buSzPts val="700"/>
              <a:buFont typeface="Century Gothic"/>
              <a:buNone/>
              <a:defRPr b="1" sz="700">
                <a:solidFill>
                  <a:schemeClr val="lt1"/>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Subtitle Only">
  <p:cSld name="2_Title and Subtitle Only">
    <p:spTree>
      <p:nvGrpSpPr>
        <p:cNvPr id="59" name="Shape 59"/>
        <p:cNvGrpSpPr/>
        <p:nvPr/>
      </p:nvGrpSpPr>
      <p:grpSpPr>
        <a:xfrm>
          <a:off x="0" y="0"/>
          <a:ext cx="0" cy="0"/>
          <a:chOff x="0" y="0"/>
          <a:chExt cx="0" cy="0"/>
        </a:xfrm>
      </p:grpSpPr>
      <p:sp>
        <p:nvSpPr>
          <p:cNvPr id="60" name="Google Shape;60;p11"/>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Subtitle Only">
  <p:cSld name="4_Title and Subtitle Only">
    <p:spTree>
      <p:nvGrpSpPr>
        <p:cNvPr id="61" name="Shape 61"/>
        <p:cNvGrpSpPr/>
        <p:nvPr/>
      </p:nvGrpSpPr>
      <p:grpSpPr>
        <a:xfrm>
          <a:off x="0" y="0"/>
          <a:ext cx="0" cy="0"/>
          <a:chOff x="0" y="0"/>
          <a:chExt cx="0" cy="0"/>
        </a:xfrm>
      </p:grpSpPr>
      <p:sp>
        <p:nvSpPr>
          <p:cNvPr id="62" name="Google Shape;62;p12"/>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Image">
  <p:cSld name="Content Image">
    <p:spTree>
      <p:nvGrpSpPr>
        <p:cNvPr id="63" name="Shape 63"/>
        <p:cNvGrpSpPr/>
        <p:nvPr/>
      </p:nvGrpSpPr>
      <p:grpSpPr>
        <a:xfrm>
          <a:off x="0" y="0"/>
          <a:ext cx="0" cy="0"/>
          <a:chOff x="0" y="0"/>
          <a:chExt cx="0" cy="0"/>
        </a:xfrm>
      </p:grpSpPr>
      <p:sp>
        <p:nvSpPr>
          <p:cNvPr id="64" name="Google Shape;64;p13"/>
          <p:cNvSpPr/>
          <p:nvPr>
            <p:ph idx="2" type="pic"/>
          </p:nvPr>
        </p:nvSpPr>
        <p:spPr>
          <a:xfrm>
            <a:off x="4800600" y="1216152"/>
            <a:ext cx="3886200" cy="3069714"/>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65" name="Google Shape;65;p13"/>
          <p:cNvSpPr txBox="1"/>
          <p:nvPr>
            <p:ph idx="1" type="body"/>
          </p:nvPr>
        </p:nvSpPr>
        <p:spPr>
          <a:xfrm>
            <a:off x="457200" y="1216152"/>
            <a:ext cx="3886200" cy="3350596"/>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66" name="Google Shape;66;p13"/>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67" name="Google Shape;67;p13"/>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68" name="Shape 68"/>
        <p:cNvGrpSpPr/>
        <p:nvPr/>
      </p:nvGrpSpPr>
      <p:grpSpPr>
        <a:xfrm>
          <a:off x="0" y="0"/>
          <a:ext cx="0" cy="0"/>
          <a:chOff x="0" y="0"/>
          <a:chExt cx="0" cy="0"/>
        </a:xfrm>
      </p:grpSpPr>
      <p:sp>
        <p:nvSpPr>
          <p:cNvPr id="69" name="Google Shape;69;p14"/>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a:lvl1pPr>
            <a:lvl2pPr indent="-342900" lvl="1" marL="914400" algn="l">
              <a:lnSpc>
                <a:spcPct val="85000"/>
              </a:lnSpc>
              <a:spcBef>
                <a:spcPts val="200"/>
              </a:spcBef>
              <a:spcAft>
                <a:spcPts val="0"/>
              </a:spcAft>
              <a:buClr>
                <a:schemeClr val="dk1"/>
              </a:buClr>
              <a:buSzPts val="1800"/>
              <a:buChar char="–"/>
              <a:defRPr/>
            </a:lvl2pPr>
            <a:lvl3pPr indent="-342900" lvl="2" marL="1371600" algn="l">
              <a:lnSpc>
                <a:spcPct val="85000"/>
              </a:lnSpc>
              <a:spcBef>
                <a:spcPts val="2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0" name="Google Shape;70;p14"/>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accent1"/>
        </a:solidFill>
      </p:bgPr>
    </p:bg>
    <p:spTree>
      <p:nvGrpSpPr>
        <p:cNvPr id="71" name="Shape 71"/>
        <p:cNvGrpSpPr/>
        <p:nvPr/>
      </p:nvGrpSpPr>
      <p:grpSpPr>
        <a:xfrm>
          <a:off x="0" y="0"/>
          <a:ext cx="0" cy="0"/>
          <a:chOff x="0" y="0"/>
          <a:chExt cx="0" cy="0"/>
        </a:xfrm>
      </p:grpSpPr>
      <p:sp>
        <p:nvSpPr>
          <p:cNvPr id="72" name="Google Shape;72;p15"/>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3" name="Google Shape;73;p15"/>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chemeClr val="lt2"/>
                </a:solidFill>
                <a:latin typeface="Century Gothic"/>
                <a:ea typeface="Century Gothic"/>
                <a:cs typeface="Century Gothic"/>
                <a:sym typeface="Century Gothic"/>
              </a:rPr>
              <a:t>‹#›</a:t>
            </a:fld>
            <a:endParaRPr sz="850">
              <a:solidFill>
                <a:schemeClr val="lt2"/>
              </a:solidFill>
              <a:latin typeface="Century Gothic"/>
              <a:ea typeface="Century Gothic"/>
              <a:cs typeface="Century Gothic"/>
              <a:sym typeface="Century Gothic"/>
            </a:endParaRP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gue" showMasterSp="0">
  <p:cSld name="2_Segue">
    <p:bg>
      <p:bgPr>
        <a:solidFill>
          <a:schemeClr val="accent1"/>
        </a:solidFill>
      </p:bgPr>
    </p:bg>
    <p:spTree>
      <p:nvGrpSpPr>
        <p:cNvPr id="74" name="Shape 74"/>
        <p:cNvGrpSpPr/>
        <p:nvPr/>
      </p:nvGrpSpPr>
      <p:grpSpPr>
        <a:xfrm>
          <a:off x="0" y="0"/>
          <a:ext cx="0" cy="0"/>
          <a:chOff x="0" y="0"/>
          <a:chExt cx="0" cy="0"/>
        </a:xfrm>
      </p:grpSpPr>
      <p:sp>
        <p:nvSpPr>
          <p:cNvPr id="75" name="Google Shape;75;p16"/>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6" name="Google Shape;76;p16"/>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chemeClr val="lt2"/>
                </a:solidFill>
                <a:latin typeface="Century Gothic"/>
                <a:ea typeface="Century Gothic"/>
                <a:cs typeface="Century Gothic"/>
                <a:sym typeface="Century Gothic"/>
              </a:rPr>
              <a:t>‹#›</a:t>
            </a:fld>
            <a:endParaRPr sz="850">
              <a:solidFill>
                <a:schemeClr val="lt2"/>
              </a:solidFill>
              <a:latin typeface="Century Gothic"/>
              <a:ea typeface="Century Gothic"/>
              <a:cs typeface="Century Gothic"/>
              <a:sym typeface="Century Gothic"/>
            </a:endParaRP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Text, and 2 Content">
  <p:cSld name="1_Title, Text, and 2 Content">
    <p:spTree>
      <p:nvGrpSpPr>
        <p:cNvPr id="77" name="Shape 77"/>
        <p:cNvGrpSpPr/>
        <p:nvPr/>
      </p:nvGrpSpPr>
      <p:grpSpPr>
        <a:xfrm>
          <a:off x="0" y="0"/>
          <a:ext cx="0" cy="0"/>
          <a:chOff x="0" y="0"/>
          <a:chExt cx="0" cy="0"/>
        </a:xfrm>
      </p:grpSpPr>
      <p:sp>
        <p:nvSpPr>
          <p:cNvPr id="78" name="Google Shape;78;p17"/>
          <p:cNvSpPr txBox="1"/>
          <p:nvPr>
            <p:ph type="title"/>
          </p:nvPr>
        </p:nvSpPr>
        <p:spPr>
          <a:xfrm>
            <a:off x="466725" y="3747"/>
            <a:ext cx="5087938" cy="617601"/>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7"/>
          <p:cNvSpPr/>
          <p:nvPr/>
        </p:nvSpPr>
        <p:spPr>
          <a:xfrm>
            <a:off x="0" y="777875"/>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406400" marR="0" rtl="0" algn="l">
              <a:spcBef>
                <a:spcPts val="0"/>
              </a:spcBef>
              <a:spcAft>
                <a:spcPts val="0"/>
              </a:spcAft>
              <a:buNone/>
            </a:pPr>
            <a:r>
              <a:t/>
            </a:r>
            <a:endParaRPr b="0" i="0" sz="1400" u="none" cap="none" strike="noStrike">
              <a:solidFill>
                <a:schemeClr val="lt1"/>
              </a:solidFill>
              <a:latin typeface="Century Gothic"/>
              <a:ea typeface="Century Gothic"/>
              <a:cs typeface="Century Gothic"/>
              <a:sym typeface="Century Gothic"/>
            </a:endParaRPr>
          </a:p>
        </p:txBody>
      </p:sp>
      <p:sp>
        <p:nvSpPr>
          <p:cNvPr id="80" name="Google Shape;80;p17"/>
          <p:cNvSpPr txBox="1"/>
          <p:nvPr>
            <p:ph idx="1" type="body"/>
          </p:nvPr>
        </p:nvSpPr>
        <p:spPr>
          <a:xfrm>
            <a:off x="449263" y="2201863"/>
            <a:ext cx="4866449" cy="2652712"/>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600"/>
              </a:spcBef>
              <a:spcAft>
                <a:spcPts val="0"/>
              </a:spcAft>
              <a:buClr>
                <a:schemeClr val="dk2"/>
              </a:buClr>
              <a:buSzPts val="1800"/>
              <a:buNone/>
              <a:defRPr sz="1800">
                <a:solidFill>
                  <a:schemeClr val="dk2"/>
                </a:solidFill>
              </a:defRPr>
            </a:lvl1pPr>
            <a:lvl2pPr indent="-317500" lvl="1" marL="914400" algn="l">
              <a:lnSpc>
                <a:spcPct val="100000"/>
              </a:lnSpc>
              <a:spcBef>
                <a:spcPts val="200"/>
              </a:spcBef>
              <a:spcAft>
                <a:spcPts val="0"/>
              </a:spcAft>
              <a:buClr>
                <a:schemeClr val="dk1"/>
              </a:buClr>
              <a:buSzPts val="1400"/>
              <a:buFont typeface="Arial"/>
              <a:buChar char="•"/>
              <a:defRPr sz="1400"/>
            </a:lvl2pPr>
            <a:lvl3pPr indent="-342900" lvl="2" marL="1371600" algn="l">
              <a:lnSpc>
                <a:spcPct val="85000"/>
              </a:lnSpc>
              <a:spcBef>
                <a:spcPts val="6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81" name="Google Shape;81;p17"/>
          <p:cNvSpPr txBox="1"/>
          <p:nvPr>
            <p:ph idx="2" type="body"/>
          </p:nvPr>
        </p:nvSpPr>
        <p:spPr>
          <a:xfrm>
            <a:off x="449262" y="904312"/>
            <a:ext cx="6622097" cy="1029264"/>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600"/>
              </a:spcBef>
              <a:spcAft>
                <a:spcPts val="0"/>
              </a:spcAft>
              <a:buClr>
                <a:schemeClr val="lt1"/>
              </a:buClr>
              <a:buSzPts val="1800"/>
              <a:buNone/>
              <a:defRPr sz="1800">
                <a:solidFill>
                  <a:schemeClr val="lt1"/>
                </a:solidFill>
              </a:defRPr>
            </a:lvl1pPr>
            <a:lvl2pPr indent="-342900" lvl="1" marL="914400" algn="l">
              <a:lnSpc>
                <a:spcPct val="85000"/>
              </a:lnSpc>
              <a:spcBef>
                <a:spcPts val="200"/>
              </a:spcBef>
              <a:spcAft>
                <a:spcPts val="0"/>
              </a:spcAft>
              <a:buClr>
                <a:schemeClr val="dk1"/>
              </a:buClr>
              <a:buSzPts val="1800"/>
              <a:buChar char="–"/>
              <a:defRPr sz="1800"/>
            </a:lvl2pPr>
            <a:lvl3pPr indent="-342900" lvl="2" marL="1371600" algn="l">
              <a:lnSpc>
                <a:spcPct val="85000"/>
              </a:lnSpc>
              <a:spcBef>
                <a:spcPts val="200"/>
              </a:spcBef>
              <a:spcAft>
                <a:spcPts val="0"/>
              </a:spcAft>
              <a:buClr>
                <a:schemeClr val="dk1"/>
              </a:buClr>
              <a:buSzPts val="1800"/>
              <a:buChar char="-"/>
              <a:defRPr sz="18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ase Study_Option2">
  <p:cSld name="2_Case Study_Option2">
    <p:spTree>
      <p:nvGrpSpPr>
        <p:cNvPr id="82" name="Shape 82"/>
        <p:cNvGrpSpPr/>
        <p:nvPr/>
      </p:nvGrpSpPr>
      <p:grpSpPr>
        <a:xfrm>
          <a:off x="0" y="0"/>
          <a:ext cx="0" cy="0"/>
          <a:chOff x="0" y="0"/>
          <a:chExt cx="0" cy="0"/>
        </a:xfrm>
      </p:grpSpPr>
      <p:sp>
        <p:nvSpPr>
          <p:cNvPr id="83" name="Google Shape;83;p18"/>
          <p:cNvSpPr txBox="1"/>
          <p:nvPr>
            <p:ph idx="1" type="body"/>
          </p:nvPr>
        </p:nvSpPr>
        <p:spPr>
          <a:xfrm>
            <a:off x="3495437" y="128016"/>
            <a:ext cx="5648693" cy="914400"/>
          </a:xfrm>
          <a:prstGeom prst="rect">
            <a:avLst/>
          </a:prstGeom>
          <a:solidFill>
            <a:srgbClr val="0079DB"/>
          </a:solidFill>
          <a:ln>
            <a:noFill/>
          </a:ln>
        </p:spPr>
        <p:txBody>
          <a:bodyPr anchorCtr="0" anchor="b" bIns="227825" lIns="227825" spcFirstLastPara="1" rIns="455800" wrap="square" tIns="136775">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84" name="Google Shape;84;p18"/>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85" name="Google Shape;85;p18"/>
          <p:cNvSpPr txBox="1"/>
          <p:nvPr>
            <p:ph idx="3" type="body"/>
          </p:nvPr>
        </p:nvSpPr>
        <p:spPr>
          <a:xfrm>
            <a:off x="3511296" y="1152143"/>
            <a:ext cx="5164694" cy="3511296"/>
          </a:xfrm>
          <a:prstGeom prst="rect">
            <a:avLst/>
          </a:prstGeom>
          <a:noFill/>
          <a:ln>
            <a:noFill/>
          </a:ln>
        </p:spPr>
        <p:txBody>
          <a:bodyPr anchorCtr="0" anchor="t" bIns="0" lIns="0" spcFirstLastPara="1" rIns="0" wrap="square" tIns="0">
            <a:noAutofit/>
          </a:bodyPr>
          <a:lstStyle>
            <a:lvl1pPr indent="-355600" lvl="0" marL="457200" algn="l">
              <a:lnSpc>
                <a:spcPct val="95000"/>
              </a:lnSpc>
              <a:spcBef>
                <a:spcPts val="400"/>
              </a:spcBef>
              <a:spcAft>
                <a:spcPts val="0"/>
              </a:spcAft>
              <a:buClr>
                <a:schemeClr val="dk1"/>
              </a:buClr>
              <a:buSzPts val="2000"/>
              <a:buChar char="•"/>
              <a:defRPr sz="2000"/>
            </a:lvl1pPr>
            <a:lvl2pPr indent="-342900" lvl="1" marL="914400" algn="l">
              <a:lnSpc>
                <a:spcPct val="85000"/>
              </a:lnSpc>
              <a:spcBef>
                <a:spcPts val="200"/>
              </a:spcBef>
              <a:spcAft>
                <a:spcPts val="0"/>
              </a:spcAft>
              <a:buClr>
                <a:schemeClr val="dk1"/>
              </a:buClr>
              <a:buSzPts val="1800"/>
              <a:buChar char="–"/>
              <a:defRPr sz="1800"/>
            </a:lvl2pPr>
            <a:lvl3pPr indent="-330200" lvl="2" marL="1371600" algn="l">
              <a:lnSpc>
                <a:spcPct val="85000"/>
              </a:lnSpc>
              <a:spcBef>
                <a:spcPts val="200"/>
              </a:spcBef>
              <a:spcAft>
                <a:spcPts val="0"/>
              </a:spcAft>
              <a:buClr>
                <a:schemeClr val="dk1"/>
              </a:buClr>
              <a:buSzPts val="1600"/>
              <a:buChar char="-"/>
              <a:defRPr sz="16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e Title Slide" showMasterSp="0">
  <p:cSld name="Alternate Title Slide">
    <p:spTree>
      <p:nvGrpSpPr>
        <p:cNvPr id="86" name="Shape 86"/>
        <p:cNvGrpSpPr/>
        <p:nvPr/>
      </p:nvGrpSpPr>
      <p:grpSpPr>
        <a:xfrm>
          <a:off x="0" y="0"/>
          <a:ext cx="0" cy="0"/>
          <a:chOff x="0" y="0"/>
          <a:chExt cx="0" cy="0"/>
        </a:xfrm>
      </p:grpSpPr>
      <p:sp>
        <p:nvSpPr>
          <p:cNvPr id="87" name="Google Shape;87;p19"/>
          <p:cNvSpPr txBox="1"/>
          <p:nvPr>
            <p:ph idx="1" type="body"/>
          </p:nvPr>
        </p:nvSpPr>
        <p:spPr>
          <a:xfrm>
            <a:off x="0" y="1765763"/>
            <a:ext cx="9144000" cy="1611980"/>
          </a:xfrm>
          <a:prstGeom prst="rect">
            <a:avLst/>
          </a:prstGeom>
          <a:solidFill>
            <a:schemeClr val="accent1">
              <a:alpha val="89803"/>
            </a:schemeClr>
          </a:solidFill>
          <a:ln>
            <a:noFill/>
          </a:ln>
        </p:spPr>
        <p:txBody>
          <a:bodyPr anchorCtr="1" anchor="ctr" bIns="137150" lIns="457200" spcFirstLastPara="1" rIns="457200" wrap="square" tIns="137150">
            <a:noAutofit/>
          </a:bodyPr>
          <a:lstStyle>
            <a:lvl1pPr indent="-381000" lvl="0" marL="457200" algn="ctr">
              <a:lnSpc>
                <a:spcPct val="85000"/>
              </a:lnSpc>
              <a:spcBef>
                <a:spcPts val="200"/>
              </a:spcBef>
              <a:spcAft>
                <a:spcPts val="0"/>
              </a:spcAft>
              <a:buClr>
                <a:schemeClr val="lt1"/>
              </a:buClr>
              <a:buSzPts val="2400"/>
              <a:buFont typeface="Arial"/>
              <a:buChar char="​"/>
              <a:defRPr b="1" sz="2400">
                <a:solidFill>
                  <a:schemeClr val="lt1"/>
                </a:solidFill>
              </a:defRPr>
            </a:lvl1pPr>
            <a:lvl2pPr indent="-342900" lvl="1" marL="914400" algn="ctr">
              <a:lnSpc>
                <a:spcPct val="85000"/>
              </a:lnSpc>
              <a:spcBef>
                <a:spcPts val="200"/>
              </a:spcBef>
              <a:spcAft>
                <a:spcPts val="0"/>
              </a:spcAft>
              <a:buClr>
                <a:schemeClr val="lt1"/>
              </a:buClr>
              <a:buSzPts val="1800"/>
              <a:buFont typeface="Arial"/>
              <a:buChar char="​"/>
              <a:defRPr b="1" sz="1800">
                <a:solidFill>
                  <a:schemeClr val="lt1"/>
                </a:solidFill>
              </a:defRPr>
            </a:lvl2pPr>
            <a:lvl3pPr indent="-317500" lvl="2" marL="1371600" algn="ctr">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ctr">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ctr">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88" name="Google Shape;88;p19"/>
          <p:cNvSpPr/>
          <p:nvPr/>
        </p:nvSpPr>
        <p:spPr>
          <a:xfrm>
            <a:off x="457200" y="0"/>
            <a:ext cx="2438400" cy="91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nvGrpSpPr>
          <p:cNvPr id="89" name="Google Shape;89;p19"/>
          <p:cNvGrpSpPr/>
          <p:nvPr/>
        </p:nvGrpSpPr>
        <p:grpSpPr>
          <a:xfrm>
            <a:off x="994117" y="305466"/>
            <a:ext cx="1362335" cy="305001"/>
            <a:chOff x="5137" y="4139"/>
            <a:chExt cx="335" cy="75"/>
          </a:xfrm>
        </p:grpSpPr>
        <p:sp>
          <p:nvSpPr>
            <p:cNvPr id="90" name="Google Shape;90;p19"/>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91" name="Google Shape;91;p19"/>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able Contents">
  <p:cSld name="Agenda/Table Contents">
    <p:spTree>
      <p:nvGrpSpPr>
        <p:cNvPr id="92" name="Shape 92"/>
        <p:cNvGrpSpPr/>
        <p:nvPr/>
      </p:nvGrpSpPr>
      <p:grpSpPr>
        <a:xfrm>
          <a:off x="0" y="0"/>
          <a:ext cx="0" cy="0"/>
          <a:chOff x="0" y="0"/>
          <a:chExt cx="0" cy="0"/>
        </a:xfrm>
      </p:grpSpPr>
      <p:sp>
        <p:nvSpPr>
          <p:cNvPr id="93" name="Google Shape;93;p20"/>
          <p:cNvSpPr txBox="1"/>
          <p:nvPr>
            <p:ph idx="1" type="body"/>
          </p:nvPr>
        </p:nvSpPr>
        <p:spPr>
          <a:xfrm>
            <a:off x="4800600" y="1216152"/>
            <a:ext cx="3886200" cy="3349777"/>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94" name="Google Shape;94;p20"/>
          <p:cNvSpPr txBox="1"/>
          <p:nvPr>
            <p:ph type="title"/>
          </p:nvPr>
        </p:nvSpPr>
        <p:spPr>
          <a:xfrm>
            <a:off x="4800600" y="263385"/>
            <a:ext cx="3886200" cy="704088"/>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20"/>
          <p:cNvSpPr/>
          <p:nvPr/>
        </p:nvSpPr>
        <p:spPr>
          <a:xfrm>
            <a:off x="99060" y="4858087"/>
            <a:ext cx="236220" cy="177165"/>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96" name="Google Shape;96;p20"/>
          <p:cNvSpPr/>
          <p:nvPr>
            <p:ph idx="2" type="pic"/>
          </p:nvPr>
        </p:nvSpPr>
        <p:spPr>
          <a:xfrm>
            <a:off x="0" y="0"/>
            <a:ext cx="43434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200"/>
              <a:buFont typeface="Arial"/>
              <a:buNone/>
              <a:defRPr b="0" i="0" sz="12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97" name="Shape 97"/>
        <p:cNvGrpSpPr/>
        <p:nvPr/>
      </p:nvGrpSpPr>
      <p:grpSpPr>
        <a:xfrm>
          <a:off x="0" y="0"/>
          <a:ext cx="0" cy="0"/>
          <a:chOff x="0" y="0"/>
          <a:chExt cx="0" cy="0"/>
        </a:xfrm>
      </p:grpSpPr>
      <p:sp>
        <p:nvSpPr>
          <p:cNvPr id="98" name="Google Shape;98;p21"/>
          <p:cNvSpPr txBox="1"/>
          <p:nvPr>
            <p:ph idx="1" type="body"/>
          </p:nvPr>
        </p:nvSpPr>
        <p:spPr>
          <a:xfrm>
            <a:off x="4800600" y="1216188"/>
            <a:ext cx="3886200" cy="3343998"/>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99" name="Google Shape;99;p21"/>
          <p:cNvSpPr txBox="1"/>
          <p:nvPr>
            <p:ph idx="2" type="body"/>
          </p:nvPr>
        </p:nvSpPr>
        <p:spPr>
          <a:xfrm>
            <a:off x="457200" y="1216152"/>
            <a:ext cx="3886200" cy="3344436"/>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0" name="Google Shape;100;p21"/>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1" name="Google Shape;101;p21"/>
          <p:cNvSpPr txBox="1"/>
          <p:nvPr>
            <p:ph type="title"/>
          </p:nvPr>
        </p:nvSpPr>
        <p:spPr>
          <a:xfrm>
            <a:off x="457200" y="173735"/>
            <a:ext cx="8229600" cy="700031"/>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102" name="Shape 102"/>
        <p:cNvGrpSpPr/>
        <p:nvPr/>
      </p:nvGrpSpPr>
      <p:grpSpPr>
        <a:xfrm>
          <a:off x="0" y="0"/>
          <a:ext cx="0" cy="0"/>
          <a:chOff x="0" y="0"/>
          <a:chExt cx="0" cy="0"/>
        </a:xfrm>
      </p:grpSpPr>
      <p:sp>
        <p:nvSpPr>
          <p:cNvPr id="103" name="Google Shape;103;p22"/>
          <p:cNvSpPr txBox="1"/>
          <p:nvPr>
            <p:ph idx="1" type="body"/>
          </p:nvPr>
        </p:nvSpPr>
        <p:spPr>
          <a:xfrm>
            <a:off x="4572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4" name="Google Shape;104;p22"/>
          <p:cNvSpPr txBox="1"/>
          <p:nvPr>
            <p:ph idx="2" type="body"/>
          </p:nvPr>
        </p:nvSpPr>
        <p:spPr>
          <a:xfrm>
            <a:off x="33528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5" name="Google Shape;105;p22"/>
          <p:cNvSpPr txBox="1"/>
          <p:nvPr>
            <p:ph idx="3" type="body"/>
          </p:nvPr>
        </p:nvSpPr>
        <p:spPr>
          <a:xfrm>
            <a:off x="62484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6" name="Google Shape;106;p22"/>
          <p:cNvSpPr txBox="1"/>
          <p:nvPr>
            <p:ph idx="4"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7" name="Google Shape;107;p22"/>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Left Weighted">
  <p:cSld name="Title and Two Left Weighted">
    <p:spTree>
      <p:nvGrpSpPr>
        <p:cNvPr id="108" name="Shape 108"/>
        <p:cNvGrpSpPr/>
        <p:nvPr/>
      </p:nvGrpSpPr>
      <p:grpSpPr>
        <a:xfrm>
          <a:off x="0" y="0"/>
          <a:ext cx="0" cy="0"/>
          <a:chOff x="0" y="0"/>
          <a:chExt cx="0" cy="0"/>
        </a:xfrm>
      </p:grpSpPr>
      <p:sp>
        <p:nvSpPr>
          <p:cNvPr id="109" name="Google Shape;109;p23"/>
          <p:cNvSpPr/>
          <p:nvPr>
            <p:ph idx="2" type="pic"/>
          </p:nvPr>
        </p:nvSpPr>
        <p:spPr>
          <a:xfrm>
            <a:off x="6258796" y="1216152"/>
            <a:ext cx="2438400" cy="3068356"/>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10" name="Google Shape;110;p23"/>
          <p:cNvSpPr txBox="1"/>
          <p:nvPr>
            <p:ph idx="1" type="body"/>
          </p:nvPr>
        </p:nvSpPr>
        <p:spPr>
          <a:xfrm>
            <a:off x="457200" y="1216152"/>
            <a:ext cx="5334000" cy="3344035"/>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1" name="Google Shape;111;p23"/>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2" name="Google Shape;112;p23"/>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Right Weighted">
  <p:cSld name="Title and Two Right Weighted">
    <p:spTree>
      <p:nvGrpSpPr>
        <p:cNvPr id="113" name="Shape 113"/>
        <p:cNvGrpSpPr/>
        <p:nvPr/>
      </p:nvGrpSpPr>
      <p:grpSpPr>
        <a:xfrm>
          <a:off x="0" y="0"/>
          <a:ext cx="0" cy="0"/>
          <a:chOff x="0" y="0"/>
          <a:chExt cx="0" cy="0"/>
        </a:xfrm>
      </p:grpSpPr>
      <p:sp>
        <p:nvSpPr>
          <p:cNvPr id="114" name="Google Shape;114;p24"/>
          <p:cNvSpPr/>
          <p:nvPr>
            <p:ph idx="2" type="pic"/>
          </p:nvPr>
        </p:nvSpPr>
        <p:spPr>
          <a:xfrm>
            <a:off x="457200" y="1216152"/>
            <a:ext cx="2438400" cy="3070129"/>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15" name="Google Shape;115;p24"/>
          <p:cNvSpPr txBox="1"/>
          <p:nvPr>
            <p:ph idx="1" type="body"/>
          </p:nvPr>
        </p:nvSpPr>
        <p:spPr>
          <a:xfrm>
            <a:off x="3352800" y="1216152"/>
            <a:ext cx="53340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6" name="Google Shape;116;p24"/>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7" name="Google Shape;117;p24"/>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Only">
  <p:cSld name="Title and Subtitle Only">
    <p:spTree>
      <p:nvGrpSpPr>
        <p:cNvPr id="118" name="Shape 118"/>
        <p:cNvGrpSpPr/>
        <p:nvPr/>
      </p:nvGrpSpPr>
      <p:grpSpPr>
        <a:xfrm>
          <a:off x="0" y="0"/>
          <a:ext cx="0" cy="0"/>
          <a:chOff x="0" y="0"/>
          <a:chExt cx="0" cy="0"/>
        </a:xfrm>
      </p:grpSpPr>
      <p:sp>
        <p:nvSpPr>
          <p:cNvPr id="119" name="Google Shape;119;p25"/>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20" name="Google Shape;120;p25"/>
          <p:cNvSpPr txBox="1"/>
          <p:nvPr>
            <p:ph type="title"/>
          </p:nvPr>
        </p:nvSpPr>
        <p:spPr>
          <a:xfrm>
            <a:off x="457200" y="173736"/>
            <a:ext cx="8229600" cy="413639"/>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1" name="Shape 121"/>
        <p:cNvGrpSpPr/>
        <p:nvPr/>
      </p:nvGrpSpPr>
      <p:grpSpPr>
        <a:xfrm>
          <a:off x="0" y="0"/>
          <a:ext cx="0" cy="0"/>
          <a:chOff x="0" y="0"/>
          <a:chExt cx="0" cy="0"/>
        </a:xfrm>
      </p:grpSpPr>
      <p:sp>
        <p:nvSpPr>
          <p:cNvPr id="122" name="Google Shape;122;p26"/>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cSld name="Case Study">
    <p:spTree>
      <p:nvGrpSpPr>
        <p:cNvPr id="123" name="Shape 123"/>
        <p:cNvGrpSpPr/>
        <p:nvPr/>
      </p:nvGrpSpPr>
      <p:grpSpPr>
        <a:xfrm>
          <a:off x="0" y="0"/>
          <a:ext cx="0" cy="0"/>
          <a:chOff x="0" y="0"/>
          <a:chExt cx="0" cy="0"/>
        </a:xfrm>
      </p:grpSpPr>
      <p:sp>
        <p:nvSpPr>
          <p:cNvPr id="124" name="Google Shape;124;p27"/>
          <p:cNvSpPr txBox="1"/>
          <p:nvPr>
            <p:ph idx="1" type="body"/>
          </p:nvPr>
        </p:nvSpPr>
        <p:spPr>
          <a:xfrm>
            <a:off x="3514722" y="777240"/>
            <a:ext cx="5629278" cy="914400"/>
          </a:xfrm>
          <a:prstGeom prst="rect">
            <a:avLst/>
          </a:prstGeom>
          <a:solidFill>
            <a:srgbClr val="0079DB"/>
          </a:solidFill>
          <a:ln>
            <a:noFill/>
          </a:ln>
        </p:spPr>
        <p:txBody>
          <a:bodyPr anchorCtr="0" anchor="b" bIns="228600" lIns="228600" spcFirstLastPara="1" rIns="457200" wrap="square" tIns="137150">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125" name="Google Shape;125;p27"/>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26" name="Google Shape;126;p27"/>
          <p:cNvSpPr txBox="1"/>
          <p:nvPr>
            <p:ph idx="3" type="body"/>
          </p:nvPr>
        </p:nvSpPr>
        <p:spPr>
          <a:xfrm>
            <a:off x="3511296" y="1878314"/>
            <a:ext cx="5146943" cy="2783250"/>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4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27" name="Google Shape;127;p27"/>
          <p:cNvSpPr/>
          <p:nvPr>
            <p:ph idx="4" type="pic"/>
          </p:nvPr>
        </p:nvSpPr>
        <p:spPr>
          <a:xfrm>
            <a:off x="3505200" y="73152"/>
            <a:ext cx="1371600" cy="621792"/>
          </a:xfrm>
          <a:prstGeom prst="rect">
            <a:avLst/>
          </a:prstGeom>
          <a:noFill/>
          <a:ln>
            <a:noFill/>
          </a:ln>
        </p:spPr>
        <p:txBody>
          <a:bodyPr anchorCtr="0" anchor="ctr" bIns="0" lIns="0" spcFirstLastPara="1" rIns="0" wrap="square" tIns="0">
            <a:noAutofit/>
          </a:bodyPr>
          <a:lstStyle>
            <a:lvl1pPr lvl="0" marR="0" rtl="0" algn="ctr">
              <a:lnSpc>
                <a:spcPct val="95000"/>
              </a:lnSpc>
              <a:spcBef>
                <a:spcPts val="600"/>
              </a:spcBef>
              <a:spcAft>
                <a:spcPts val="0"/>
              </a:spcAft>
              <a:buClr>
                <a:schemeClr val="dk1"/>
              </a:buClr>
              <a:buSzPts val="900"/>
              <a:buFont typeface="Arial"/>
              <a:buNone/>
              <a:defRPr b="0" i="0" sz="9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Tree>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ase Study_Option2">
  <p:cSld name="1_Case Study_Option2">
    <p:spTree>
      <p:nvGrpSpPr>
        <p:cNvPr id="128" name="Shape 128"/>
        <p:cNvGrpSpPr/>
        <p:nvPr/>
      </p:nvGrpSpPr>
      <p:grpSpPr>
        <a:xfrm>
          <a:off x="0" y="0"/>
          <a:ext cx="0" cy="0"/>
          <a:chOff x="0" y="0"/>
          <a:chExt cx="0" cy="0"/>
        </a:xfrm>
      </p:grpSpPr>
      <p:sp>
        <p:nvSpPr>
          <p:cNvPr id="129" name="Google Shape;129;p28"/>
          <p:cNvSpPr txBox="1"/>
          <p:nvPr>
            <p:ph idx="1" type="body"/>
          </p:nvPr>
        </p:nvSpPr>
        <p:spPr>
          <a:xfrm>
            <a:off x="3495307" y="128016"/>
            <a:ext cx="5648693" cy="914400"/>
          </a:xfrm>
          <a:prstGeom prst="rect">
            <a:avLst/>
          </a:prstGeom>
          <a:solidFill>
            <a:srgbClr val="0079DB"/>
          </a:solidFill>
          <a:ln>
            <a:noFill/>
          </a:ln>
        </p:spPr>
        <p:txBody>
          <a:bodyPr anchorCtr="0" anchor="b" bIns="228600" lIns="228600" spcFirstLastPara="1" rIns="457200" wrap="square" tIns="137150">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130" name="Google Shape;130;p28"/>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31" name="Google Shape;131;p28"/>
          <p:cNvSpPr txBox="1"/>
          <p:nvPr>
            <p:ph idx="3" type="body"/>
          </p:nvPr>
        </p:nvSpPr>
        <p:spPr>
          <a:xfrm>
            <a:off x="3511296" y="1152143"/>
            <a:ext cx="5164694" cy="3511296"/>
          </a:xfrm>
          <a:prstGeom prst="rect">
            <a:avLst/>
          </a:prstGeom>
          <a:noFill/>
          <a:ln>
            <a:noFill/>
          </a:ln>
        </p:spPr>
        <p:txBody>
          <a:bodyPr anchorCtr="0" anchor="t" bIns="0" lIns="0" spcFirstLastPara="1" rIns="0" wrap="square" tIns="0">
            <a:noAutofit/>
          </a:bodyPr>
          <a:lstStyle>
            <a:lvl1pPr indent="-355600" lvl="0" marL="457200" algn="l">
              <a:lnSpc>
                <a:spcPct val="95000"/>
              </a:lnSpc>
              <a:spcBef>
                <a:spcPts val="400"/>
              </a:spcBef>
              <a:spcAft>
                <a:spcPts val="0"/>
              </a:spcAft>
              <a:buClr>
                <a:schemeClr val="dk1"/>
              </a:buClr>
              <a:buSzPts val="2000"/>
              <a:buChar char="•"/>
              <a:defRPr sz="2000"/>
            </a:lvl1pPr>
            <a:lvl2pPr indent="-342900" lvl="1" marL="914400" algn="l">
              <a:lnSpc>
                <a:spcPct val="85000"/>
              </a:lnSpc>
              <a:spcBef>
                <a:spcPts val="200"/>
              </a:spcBef>
              <a:spcAft>
                <a:spcPts val="0"/>
              </a:spcAft>
              <a:buClr>
                <a:schemeClr val="dk1"/>
              </a:buClr>
              <a:buSzPts val="1800"/>
              <a:buChar char="–"/>
              <a:defRPr sz="1800"/>
            </a:lvl2pPr>
            <a:lvl3pPr indent="-330200" lvl="2" marL="1371600" algn="l">
              <a:lnSpc>
                <a:spcPct val="85000"/>
              </a:lnSpc>
              <a:spcBef>
                <a:spcPts val="200"/>
              </a:spcBef>
              <a:spcAft>
                <a:spcPts val="0"/>
              </a:spcAft>
              <a:buClr>
                <a:schemeClr val="dk1"/>
              </a:buClr>
              <a:buSzPts val="1600"/>
              <a:buChar char="-"/>
              <a:defRPr sz="16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showMasterSp="0">
  <p:cSld name="End Slide">
    <p:spTree>
      <p:nvGrpSpPr>
        <p:cNvPr id="132" name="Shape 132"/>
        <p:cNvGrpSpPr/>
        <p:nvPr/>
      </p:nvGrpSpPr>
      <p:grpSpPr>
        <a:xfrm>
          <a:off x="0" y="0"/>
          <a:ext cx="0" cy="0"/>
          <a:chOff x="0" y="0"/>
          <a:chExt cx="0" cy="0"/>
        </a:xfrm>
      </p:grpSpPr>
      <p:sp>
        <p:nvSpPr>
          <p:cNvPr id="133" name="Google Shape;133;p29"/>
          <p:cNvSpPr txBox="1"/>
          <p:nvPr/>
        </p:nvSpPr>
        <p:spPr>
          <a:xfrm>
            <a:off x="171052" y="4837176"/>
            <a:ext cx="115416" cy="10772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700">
                <a:solidFill>
                  <a:srgbClr val="A2A2A2"/>
                </a:solidFill>
                <a:latin typeface="Century Gothic"/>
                <a:ea typeface="Century Gothic"/>
                <a:cs typeface="Century Gothic"/>
                <a:sym typeface="Century Gothic"/>
              </a:rPr>
              <a:t>‹#›</a:t>
            </a:fld>
            <a:endParaRPr sz="700">
              <a:solidFill>
                <a:srgbClr val="A2A2A2"/>
              </a:solidFill>
              <a:latin typeface="Century Gothic"/>
              <a:ea typeface="Century Gothic"/>
              <a:cs typeface="Century Gothic"/>
              <a:sym typeface="Century Gothic"/>
            </a:endParaRPr>
          </a:p>
        </p:txBody>
      </p:sp>
      <p:sp>
        <p:nvSpPr>
          <p:cNvPr id="134" name="Google Shape;134;p29"/>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35" name="Google Shape;135;p29"/>
          <p:cNvSpPr txBox="1"/>
          <p:nvPr/>
        </p:nvSpPr>
        <p:spPr>
          <a:xfrm>
            <a:off x="153254" y="4837176"/>
            <a:ext cx="133221" cy="130805"/>
          </a:xfrm>
          <a:prstGeom prst="rect">
            <a:avLst/>
          </a:prstGeom>
          <a:solidFill>
            <a:schemeClr val="lt1"/>
          </a:solid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6C6C6C"/>
                </a:solidFill>
                <a:latin typeface="Century Gothic"/>
                <a:ea typeface="Century Gothic"/>
                <a:cs typeface="Century Gothic"/>
                <a:sym typeface="Century Gothic"/>
              </a:rPr>
              <a:t>‹#›</a:t>
            </a:fld>
            <a:endParaRPr sz="850">
              <a:solidFill>
                <a:srgbClr val="6C6C6C"/>
              </a:solidFill>
              <a:latin typeface="Century Gothic"/>
              <a:ea typeface="Century Gothic"/>
              <a:cs typeface="Century Gothic"/>
              <a:sym typeface="Century Gothic"/>
            </a:endParaRPr>
          </a:p>
        </p:txBody>
      </p:sp>
      <p:grpSp>
        <p:nvGrpSpPr>
          <p:cNvPr id="136" name="Google Shape;136;p29"/>
          <p:cNvGrpSpPr/>
          <p:nvPr/>
        </p:nvGrpSpPr>
        <p:grpSpPr>
          <a:xfrm>
            <a:off x="2742406" y="2158207"/>
            <a:ext cx="3659188" cy="827087"/>
            <a:chOff x="1728" y="1805"/>
            <a:chExt cx="2305" cy="521"/>
          </a:xfrm>
        </p:grpSpPr>
        <p:sp>
          <p:nvSpPr>
            <p:cNvPr id="137" name="Google Shape;137;p29"/>
            <p:cNvSpPr/>
            <p:nvPr/>
          </p:nvSpPr>
          <p:spPr>
            <a:xfrm>
              <a:off x="1728" y="1805"/>
              <a:ext cx="2231" cy="521"/>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138" name="Google Shape;138;p29"/>
            <p:cNvSpPr/>
            <p:nvPr/>
          </p:nvSpPr>
          <p:spPr>
            <a:xfrm>
              <a:off x="3974" y="2210"/>
              <a:ext cx="59" cy="5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Tree>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139" name="Shape 139"/>
        <p:cNvGrpSpPr/>
        <p:nvPr/>
      </p:nvGrpSpPr>
      <p:grpSpPr>
        <a:xfrm>
          <a:off x="0" y="0"/>
          <a:ext cx="0" cy="0"/>
          <a:chOff x="0" y="0"/>
          <a:chExt cx="0" cy="0"/>
        </a:xfrm>
      </p:grpSpPr>
      <p:sp>
        <p:nvSpPr>
          <p:cNvPr id="140" name="Google Shape;140;p30"/>
          <p:cNvSpPr txBox="1"/>
          <p:nvPr>
            <p:ph idx="1" type="body"/>
          </p:nvPr>
        </p:nvSpPr>
        <p:spPr>
          <a:xfrm>
            <a:off x="457200" y="1115840"/>
            <a:ext cx="8229600" cy="3507581"/>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41" name="Google Shape;141;p30"/>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42" name="Google Shape;142;p30"/>
          <p:cNvSpPr txBox="1"/>
          <p:nvPr>
            <p:ph type="title"/>
          </p:nvPr>
        </p:nvSpPr>
        <p:spPr>
          <a:xfrm>
            <a:off x="457200" y="128590"/>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30"/>
          <p:cNvSpPr txBox="1"/>
          <p:nvPr>
            <p:ph idx="3"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 name="Shape 12"/>
        <p:cNvGrpSpPr/>
        <p:nvPr/>
      </p:nvGrpSpPr>
      <p:grpSpPr>
        <a:xfrm>
          <a:off x="0" y="0"/>
          <a:ext cx="0" cy="0"/>
          <a:chOff x="0" y="0"/>
          <a:chExt cx="0" cy="0"/>
        </a:xfrm>
      </p:grpSpPr>
      <p:sp>
        <p:nvSpPr>
          <p:cNvPr id="13" name="Google Shape;13;p1"/>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indent="-330200" lvl="1" marL="914400"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indent="-317500" lvl="2" marL="1371600"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indent="-342900" lvl="3" marL="182880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indent="-342900" lvl="4" marL="2286000"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indent="-342900" lvl="5" marL="2743200"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indent="-342900" lvl="6" marL="3200400"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indent="-342900" lvl="7" marL="3657600"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indent="-285750" lvl="8" marL="4114800"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4" name="Google Shape;14;p1"/>
          <p:cNvSpPr txBox="1"/>
          <p:nvPr/>
        </p:nvSpPr>
        <p:spPr>
          <a:xfrm>
            <a:off x="153254" y="4896022"/>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6C6C6C"/>
                </a:solidFill>
                <a:latin typeface="Century Gothic"/>
                <a:ea typeface="Century Gothic"/>
                <a:cs typeface="Century Gothic"/>
                <a:sym typeface="Century Gothic"/>
              </a:rPr>
              <a:t>‹#›</a:t>
            </a:fld>
            <a:endParaRPr sz="850">
              <a:solidFill>
                <a:srgbClr val="6C6C6C"/>
              </a:solidFill>
              <a:latin typeface="Century Gothic"/>
              <a:ea typeface="Century Gothic"/>
              <a:cs typeface="Century Gothic"/>
              <a:sym typeface="Century Gothic"/>
            </a:endParaRPr>
          </a:p>
        </p:txBody>
      </p:sp>
      <p:sp>
        <p:nvSpPr>
          <p:cNvPr id="15" name="Google Shape;15;p1"/>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marR="0" rtl="0" algn="l">
              <a:lnSpc>
                <a:spcPct val="95000"/>
              </a:lnSpc>
              <a:spcBef>
                <a:spcPts val="0"/>
              </a:spcBef>
              <a:spcAft>
                <a:spcPts val="0"/>
              </a:spcAft>
              <a:buClr>
                <a:schemeClr val="accent1"/>
              </a:buClr>
              <a:buSzPts val="2200"/>
              <a:buFont typeface="Century Gothic"/>
              <a:buNone/>
              <a:defRPr b="1" i="0" sz="2200" u="none" cap="none" strike="noStrike">
                <a:solidFill>
                  <a:schemeClr val="accen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16" name="Google Shape;16;p1"/>
          <p:cNvGrpSpPr/>
          <p:nvPr/>
        </p:nvGrpSpPr>
        <p:grpSpPr>
          <a:xfrm>
            <a:off x="7772401" y="4853350"/>
            <a:ext cx="914400" cy="204717"/>
            <a:chOff x="5137" y="4139"/>
            <a:chExt cx="335" cy="75"/>
          </a:xfrm>
        </p:grpSpPr>
        <p:sp>
          <p:nvSpPr>
            <p:cNvPr id="17" name="Google Shape;17;p1"/>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18" name="Google Shape;18;p1"/>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
        <p:nvSpPr>
          <p:cNvPr id="19" name="Google Shape;19;p1"/>
          <p:cNvSpPr txBox="1"/>
          <p:nvPr/>
        </p:nvSpPr>
        <p:spPr>
          <a:xfrm>
            <a:off x="457200" y="4867275"/>
            <a:ext cx="3214489" cy="232042"/>
          </a:xfrm>
          <a:prstGeom prst="rect">
            <a:avLst/>
          </a:prstGeom>
          <a:noFill/>
          <a:ln>
            <a:noFill/>
          </a:ln>
        </p:spPr>
        <p:txBody>
          <a:bodyPr anchorCtr="0" anchor="ctr" bIns="45700" lIns="46800" spcFirstLastPara="1" rIns="91425" wrap="square" tIns="45700">
            <a:noAutofit/>
          </a:bodyPr>
          <a:lstStyle/>
          <a:p>
            <a:pPr indent="0" lvl="0" marL="0" marR="0" rtl="0" algn="l">
              <a:lnSpc>
                <a:spcPct val="100000"/>
              </a:lnSpc>
              <a:spcBef>
                <a:spcPts val="0"/>
              </a:spcBef>
              <a:spcAft>
                <a:spcPts val="0"/>
              </a:spcAft>
              <a:buClr>
                <a:schemeClr val="dk1"/>
              </a:buClr>
              <a:buSzPts val="800"/>
              <a:buFont typeface="Century Gothic"/>
              <a:buNone/>
            </a:pPr>
            <a:r>
              <a:rPr b="0" baseline="30000" lang="en-GB" sz="800">
                <a:solidFill>
                  <a:schemeClr val="dk1"/>
                </a:solidFill>
                <a:latin typeface="Century Gothic"/>
                <a:ea typeface="Century Gothic"/>
                <a:cs typeface="Century Gothic"/>
                <a:sym typeface="Century Gothic"/>
              </a:rPr>
              <a:t>© </a:t>
            </a:r>
            <a:r>
              <a:rPr b="0" lang="en-GB" sz="800">
                <a:solidFill>
                  <a:schemeClr val="dk1"/>
                </a:solidFill>
                <a:latin typeface="Century Gothic"/>
                <a:ea typeface="Century Gothic"/>
                <a:cs typeface="Century Gothic"/>
                <a:sym typeface="Century Gothic"/>
              </a:rPr>
              <a:t>2017 Teradata Confidential Information</a:t>
            </a:r>
            <a:endParaRPr/>
          </a:p>
          <a:p>
            <a:pPr indent="0" lvl="0" marL="0" marR="0" rtl="0" algn="l">
              <a:spcBef>
                <a:spcPts val="0"/>
              </a:spcBef>
              <a:spcAft>
                <a:spcPts val="0"/>
              </a:spcAft>
              <a:buNone/>
            </a:pPr>
            <a:r>
              <a:t/>
            </a:r>
            <a:endParaRPr b="0" sz="100">
              <a:solidFill>
                <a:srgbClr val="A2A2A2"/>
              </a:solidFill>
              <a:latin typeface="Century Gothic"/>
              <a:ea typeface="Century Gothic"/>
              <a:cs typeface="Century Gothic"/>
              <a:sym typeface="Century Gothic"/>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8.xml"/><Relationship Id="rId3" Type="http://schemas.openxmlformats.org/officeDocument/2006/relationships/slide" Target="slide18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9.xml"/><Relationship Id="rId3" Type="http://schemas.openxmlformats.org/officeDocument/2006/relationships/slide" Target="slide18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0.xml"/><Relationship Id="rId3" Type="http://schemas.openxmlformats.org/officeDocument/2006/relationships/slide" Target="slide18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1.xml"/><Relationship Id="rId3" Type="http://schemas.openxmlformats.org/officeDocument/2006/relationships/slide" Target="slide18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2.xml"/><Relationship Id="rId3" Type="http://schemas.openxmlformats.org/officeDocument/2006/relationships/slide" Target="slide18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3.xml"/><Relationship Id="rId3" Type="http://schemas.openxmlformats.org/officeDocument/2006/relationships/slide" Target="slide18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4.xml"/><Relationship Id="rId3" Type="http://schemas.openxmlformats.org/officeDocument/2006/relationships/slide" Target="slide18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5.xml"/><Relationship Id="rId3" Type="http://schemas.openxmlformats.org/officeDocument/2006/relationships/slide" Target="slide18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6.xml"/><Relationship Id="rId3" Type="http://schemas.openxmlformats.org/officeDocument/2006/relationships/slide" Target="slide18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7.xml"/><Relationship Id="rId3" Type="http://schemas.openxmlformats.org/officeDocument/2006/relationships/slide" Target="slide18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8.xml"/><Relationship Id="rId3" Type="http://schemas.openxmlformats.org/officeDocument/2006/relationships/slide" Target="slide18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9.xml"/><Relationship Id="rId3" Type="http://schemas.openxmlformats.org/officeDocument/2006/relationships/slide" Target="slide18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0.xml"/><Relationship Id="rId3" Type="http://schemas.openxmlformats.org/officeDocument/2006/relationships/slide" Target="slide18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1.xml"/><Relationship Id="rId3" Type="http://schemas.openxmlformats.org/officeDocument/2006/relationships/slide" Target="slide18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2.xml"/><Relationship Id="rId3" Type="http://schemas.openxmlformats.org/officeDocument/2006/relationships/slide" Target="slide18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3.xml"/><Relationship Id="rId3" Type="http://schemas.openxmlformats.org/officeDocument/2006/relationships/slide" Target="slide18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4.xml"/><Relationship Id="rId3" Type="http://schemas.openxmlformats.org/officeDocument/2006/relationships/slide" Target="slide18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5.xml"/><Relationship Id="rId3" Type="http://schemas.openxmlformats.org/officeDocument/2006/relationships/slide" Target="slide18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6.xml"/><Relationship Id="rId3" Type="http://schemas.openxmlformats.org/officeDocument/2006/relationships/slide" Target="slide18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7.xml"/><Relationship Id="rId3" Type="http://schemas.openxmlformats.org/officeDocument/2006/relationships/slide" Target="slide19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8.xml"/><Relationship Id="rId3" Type="http://schemas.openxmlformats.org/officeDocument/2006/relationships/slide" Target="slide19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9.xml"/><Relationship Id="rId3" Type="http://schemas.openxmlformats.org/officeDocument/2006/relationships/slide" Target="slide19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0.xml"/><Relationship Id="rId3" Type="http://schemas.openxmlformats.org/officeDocument/2006/relationships/slide" Target="slide19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1.xml"/><Relationship Id="rId3" Type="http://schemas.openxmlformats.org/officeDocument/2006/relationships/slide" Target="slide19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2.xml"/><Relationship Id="rId3" Type="http://schemas.openxmlformats.org/officeDocument/2006/relationships/slide" Target="slide19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3.xml"/><Relationship Id="rId3" Type="http://schemas.openxmlformats.org/officeDocument/2006/relationships/slide" Target="slide19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4.xml"/><Relationship Id="rId3" Type="http://schemas.openxmlformats.org/officeDocument/2006/relationships/slide" Target="slide19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5.xml"/><Relationship Id="rId3" Type="http://schemas.openxmlformats.org/officeDocument/2006/relationships/slide" Target="slide19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6.xml"/><Relationship Id="rId3" Type="http://schemas.openxmlformats.org/officeDocument/2006/relationships/slide" Target="slide19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7.xml"/><Relationship Id="rId3" Type="http://schemas.openxmlformats.org/officeDocument/2006/relationships/slide" Target="slide19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8.xml"/><Relationship Id="rId3" Type="http://schemas.openxmlformats.org/officeDocument/2006/relationships/slide" Target="slide190.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3.xml"/><Relationship Id="rId3" Type="http://schemas.openxmlformats.org/officeDocument/2006/relationships/slide" Target="slide10.xml"/><Relationship Id="rId4" Type="http://schemas.openxmlformats.org/officeDocument/2006/relationships/slide" Target="slide184.xml"/><Relationship Id="rId5" Type="http://schemas.openxmlformats.org/officeDocument/2006/relationships/slide" Target="slide185.xml"/><Relationship Id="rId6" Type="http://schemas.openxmlformats.org/officeDocument/2006/relationships/slide" Target="slide186.xml"/><Relationship Id="rId7" Type="http://schemas.openxmlformats.org/officeDocument/2006/relationships/slide" Target="slide187.xml"/><Relationship Id="rId8" Type="http://schemas.openxmlformats.org/officeDocument/2006/relationships/slide" Target="slide191.xml"/><Relationship Id="rId9" Type="http://schemas.openxmlformats.org/officeDocument/2006/relationships/slide" Target="slide188.xml"/><Relationship Id="rId10" Type="http://schemas.openxmlformats.org/officeDocument/2006/relationships/slide" Target="slide10.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4.xml"/><Relationship Id="rId3" Type="http://schemas.openxmlformats.org/officeDocument/2006/relationships/slide" Target="slide183.xml"/><Relationship Id="rId4" Type="http://schemas.openxmlformats.org/officeDocument/2006/relationships/slide" Target="slide199.xml"/><Relationship Id="rId5" Type="http://schemas.openxmlformats.org/officeDocument/2006/relationships/slide" Target="slide204.xml"/><Relationship Id="rId6" Type="http://schemas.openxmlformats.org/officeDocument/2006/relationships/slide" Target="slide206.xml"/><Relationship Id="rId7" Type="http://schemas.openxmlformats.org/officeDocument/2006/relationships/slide" Target="slide208.xml"/><Relationship Id="rId8" Type="http://schemas.openxmlformats.org/officeDocument/2006/relationships/slide" Target="slide210.xml"/><Relationship Id="rId9" Type="http://schemas.openxmlformats.org/officeDocument/2006/relationships/slide" Target="slide212.xml"/><Relationship Id="rId10" Type="http://schemas.openxmlformats.org/officeDocument/2006/relationships/slide" Target="slide214.xml"/><Relationship Id="rId11" Type="http://schemas.openxmlformats.org/officeDocument/2006/relationships/slide" Target="slide216.xml"/><Relationship Id="rId12" Type="http://schemas.openxmlformats.org/officeDocument/2006/relationships/slide" Target="slide218.xml"/><Relationship Id="rId13" Type="http://schemas.openxmlformats.org/officeDocument/2006/relationships/slide" Target="slide220.xml"/><Relationship Id="rId14" Type="http://schemas.openxmlformats.org/officeDocument/2006/relationships/slide" Target="slide222.xml"/><Relationship Id="rId15" Type="http://schemas.openxmlformats.org/officeDocument/2006/relationships/slide" Target="slide188.xml"/><Relationship Id="rId16" Type="http://schemas.openxmlformats.org/officeDocument/2006/relationships/slide" Target="slide18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5.xml"/><Relationship Id="rId3" Type="http://schemas.openxmlformats.org/officeDocument/2006/relationships/slide" Target="slide183.xml"/><Relationship Id="rId4" Type="http://schemas.openxmlformats.org/officeDocument/2006/relationships/slide" Target="slide224.xml"/><Relationship Id="rId5" Type="http://schemas.openxmlformats.org/officeDocument/2006/relationships/slide" Target="slide229.xml"/><Relationship Id="rId6" Type="http://schemas.openxmlformats.org/officeDocument/2006/relationships/slide" Target="slide231.xml"/><Relationship Id="rId7" Type="http://schemas.openxmlformats.org/officeDocument/2006/relationships/slide" Target="slide233.xml"/><Relationship Id="rId8" Type="http://schemas.openxmlformats.org/officeDocument/2006/relationships/slide" Target="slide235.xml"/><Relationship Id="rId9" Type="http://schemas.openxmlformats.org/officeDocument/2006/relationships/slide" Target="slide237.xml"/><Relationship Id="rId10" Type="http://schemas.openxmlformats.org/officeDocument/2006/relationships/slide" Target="slide239.xml"/><Relationship Id="rId11" Type="http://schemas.openxmlformats.org/officeDocument/2006/relationships/slide" Target="slide241.xml"/><Relationship Id="rId12" Type="http://schemas.openxmlformats.org/officeDocument/2006/relationships/slide" Target="slide243.xml"/><Relationship Id="rId13" Type="http://schemas.openxmlformats.org/officeDocument/2006/relationships/slide" Target="slide245.xml"/><Relationship Id="rId14" Type="http://schemas.openxmlformats.org/officeDocument/2006/relationships/slide" Target="slide247.xml"/><Relationship Id="rId15" Type="http://schemas.openxmlformats.org/officeDocument/2006/relationships/slide" Target="slide249.xml"/><Relationship Id="rId16" Type="http://schemas.openxmlformats.org/officeDocument/2006/relationships/slide" Target="slide189.xml"/><Relationship Id="rId17" Type="http://schemas.openxmlformats.org/officeDocument/2006/relationships/slide" Target="slide18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6.xml"/><Relationship Id="rId3" Type="http://schemas.openxmlformats.org/officeDocument/2006/relationships/slide" Target="slide183.xml"/><Relationship Id="rId4" Type="http://schemas.openxmlformats.org/officeDocument/2006/relationships/slide" Target="slide251.xml"/><Relationship Id="rId5" Type="http://schemas.openxmlformats.org/officeDocument/2006/relationships/slide" Target="slide256.xml"/><Relationship Id="rId6" Type="http://schemas.openxmlformats.org/officeDocument/2006/relationships/slide" Target="slide258.xml"/><Relationship Id="rId7" Type="http://schemas.openxmlformats.org/officeDocument/2006/relationships/slide" Target="slide260.xml"/><Relationship Id="rId8" Type="http://schemas.openxmlformats.org/officeDocument/2006/relationships/slide" Target="slide262.xml"/><Relationship Id="rId9" Type="http://schemas.openxmlformats.org/officeDocument/2006/relationships/slide" Target="slide264.xml"/><Relationship Id="rId10" Type="http://schemas.openxmlformats.org/officeDocument/2006/relationships/slide" Target="slide266.xml"/><Relationship Id="rId11" Type="http://schemas.openxmlformats.org/officeDocument/2006/relationships/slide" Target="slide268.xml"/><Relationship Id="rId12" Type="http://schemas.openxmlformats.org/officeDocument/2006/relationships/slide" Target="slide189.xml"/><Relationship Id="rId13" Type="http://schemas.openxmlformats.org/officeDocument/2006/relationships/slide" Target="slide183.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7.xml"/><Relationship Id="rId3" Type="http://schemas.openxmlformats.org/officeDocument/2006/relationships/slide" Target="slide183.xml"/><Relationship Id="rId4" Type="http://schemas.openxmlformats.org/officeDocument/2006/relationships/slide" Target="slide270.xml"/><Relationship Id="rId5" Type="http://schemas.openxmlformats.org/officeDocument/2006/relationships/slide" Target="slide275.xml"/><Relationship Id="rId6" Type="http://schemas.openxmlformats.org/officeDocument/2006/relationships/slide" Target="slide277.xml"/><Relationship Id="rId7" Type="http://schemas.openxmlformats.org/officeDocument/2006/relationships/slide" Target="slide279.xml"/><Relationship Id="rId8" Type="http://schemas.openxmlformats.org/officeDocument/2006/relationships/slide" Target="slide281.xml"/><Relationship Id="rId9" Type="http://schemas.openxmlformats.org/officeDocument/2006/relationships/slide" Target="slide283.xml"/><Relationship Id="rId10" Type="http://schemas.openxmlformats.org/officeDocument/2006/relationships/slide" Target="slide285.xml"/><Relationship Id="rId11" Type="http://schemas.openxmlformats.org/officeDocument/2006/relationships/slide" Target="slide190.xml"/><Relationship Id="rId12" Type="http://schemas.openxmlformats.org/officeDocument/2006/relationships/slide" Target="slide18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8.xml"/><Relationship Id="rId3" Type="http://schemas.openxmlformats.org/officeDocument/2006/relationships/slide" Target="slide184.xml"/><Relationship Id="rId4" Type="http://schemas.openxmlformats.org/officeDocument/2006/relationships/slide" Target="slide12.xml"/><Relationship Id="rId5" Type="http://schemas.openxmlformats.org/officeDocument/2006/relationships/slide" Target="slide11.xml"/><Relationship Id="rId6" Type="http://schemas.openxmlformats.org/officeDocument/2006/relationships/slide" Target="slide10.xml"/><Relationship Id="rId7" Type="http://schemas.openxmlformats.org/officeDocument/2006/relationships/slide" Target="slide9.xml"/><Relationship Id="rId8" Type="http://schemas.openxmlformats.org/officeDocument/2006/relationships/slide" Target="slide8.xml"/><Relationship Id="rId9" Type="http://schemas.openxmlformats.org/officeDocument/2006/relationships/slide" Target="slide7.xml"/><Relationship Id="rId10" Type="http://schemas.openxmlformats.org/officeDocument/2006/relationships/slide" Target="slide6.xml"/><Relationship Id="rId11" Type="http://schemas.openxmlformats.org/officeDocument/2006/relationships/slide" Target="slide5.xml"/><Relationship Id="rId12" Type="http://schemas.openxmlformats.org/officeDocument/2006/relationships/slide" Target="slide4.xml"/><Relationship Id="rId13" Type="http://schemas.openxmlformats.org/officeDocument/2006/relationships/slide" Target="slide3.xml"/><Relationship Id="rId14" Type="http://schemas.openxmlformats.org/officeDocument/2006/relationships/slide" Target="slide2.xml"/><Relationship Id="rId15" Type="http://schemas.openxmlformats.org/officeDocument/2006/relationships/slide" Target="slide189.xml"/><Relationship Id="rId16" Type="http://schemas.openxmlformats.org/officeDocument/2006/relationships/slide" Target="slide18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9.xml"/><Relationship Id="rId3" Type="http://schemas.openxmlformats.org/officeDocument/2006/relationships/slide" Target="slide20.xml"/><Relationship Id="rId4" Type="http://schemas.openxmlformats.org/officeDocument/2006/relationships/slide" Target="slide19.xml"/><Relationship Id="rId5" Type="http://schemas.openxmlformats.org/officeDocument/2006/relationships/slide" Target="slide18.xml"/><Relationship Id="rId6" Type="http://schemas.openxmlformats.org/officeDocument/2006/relationships/slide" Target="slide17.xml"/><Relationship Id="rId7" Type="http://schemas.openxmlformats.org/officeDocument/2006/relationships/slide" Target="slide16.xml"/><Relationship Id="rId8" Type="http://schemas.openxmlformats.org/officeDocument/2006/relationships/slide" Target="slide15.xml"/><Relationship Id="rId9" Type="http://schemas.openxmlformats.org/officeDocument/2006/relationships/slide" Target="slide14.xml"/><Relationship Id="rId10" Type="http://schemas.openxmlformats.org/officeDocument/2006/relationships/slide" Target="slide13.xml"/><Relationship Id="rId11" Type="http://schemas.openxmlformats.org/officeDocument/2006/relationships/slide" Target="slide188.xml"/><Relationship Id="rId12" Type="http://schemas.openxmlformats.org/officeDocument/2006/relationships/slide" Target="slide190.xml"/><Relationship Id="rId13" Type="http://schemas.openxmlformats.org/officeDocument/2006/relationships/slide" Target="slide185.xml"/><Relationship Id="rId14" Type="http://schemas.openxmlformats.org/officeDocument/2006/relationships/slide" Target="slide186.xml"/><Relationship Id="rId15" Type="http://schemas.openxmlformats.org/officeDocument/2006/relationships/slide" Target="slide25.xml"/><Relationship Id="rId16" Type="http://schemas.openxmlformats.org/officeDocument/2006/relationships/slide" Target="slide24.xml"/><Relationship Id="rId17" Type="http://schemas.openxmlformats.org/officeDocument/2006/relationships/slide" Target="slide23.xml"/><Relationship Id="rId18" Type="http://schemas.openxmlformats.org/officeDocument/2006/relationships/slide" Target="slide22.xml"/><Relationship Id="rId19" Type="http://schemas.openxmlformats.org/officeDocument/2006/relationships/slide" Target="slide21.xml"/><Relationship Id="rId20" Type="http://schemas.openxmlformats.org/officeDocument/2006/relationships/slide" Target="slide18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0.xml"/><Relationship Id="rId3" Type="http://schemas.openxmlformats.org/officeDocument/2006/relationships/slide" Target="slide31.xml"/><Relationship Id="rId4" Type="http://schemas.openxmlformats.org/officeDocument/2006/relationships/slide" Target="slide30.xml"/><Relationship Id="rId5" Type="http://schemas.openxmlformats.org/officeDocument/2006/relationships/slide" Target="slide29.xml"/><Relationship Id="rId6" Type="http://schemas.openxmlformats.org/officeDocument/2006/relationships/slide" Target="slide28.xml"/><Relationship Id="rId7" Type="http://schemas.openxmlformats.org/officeDocument/2006/relationships/slide" Target="slide27.xml"/><Relationship Id="rId8" Type="http://schemas.openxmlformats.org/officeDocument/2006/relationships/slide" Target="slide26.xml"/><Relationship Id="rId9" Type="http://schemas.openxmlformats.org/officeDocument/2006/relationships/slide" Target="slide189.xml"/><Relationship Id="rId10" Type="http://schemas.openxmlformats.org/officeDocument/2006/relationships/slide" Target="slide187.xml"/><Relationship Id="rId11" Type="http://schemas.openxmlformats.org/officeDocument/2006/relationships/slide" Target="slide32.xml"/><Relationship Id="rId12" Type="http://schemas.openxmlformats.org/officeDocument/2006/relationships/slide" Target="slide183.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 Id="rId3" Type="http://schemas.openxmlformats.org/officeDocument/2006/relationships/image" Target="../media/image37.jpg"/><Relationship Id="rId4" Type="http://schemas.openxmlformats.org/officeDocument/2006/relationships/image" Target="../media/image31.jpg"/><Relationship Id="rId5" Type="http://schemas.openxmlformats.org/officeDocument/2006/relationships/slide" Target="slide18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7.xml"/><Relationship Id="rId3" Type="http://schemas.openxmlformats.org/officeDocument/2006/relationships/image" Target="../media/image33.jpg"/><Relationship Id="rId4" Type="http://schemas.openxmlformats.org/officeDocument/2006/relationships/slide" Target="slide18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 Id="rId3" Type="http://schemas.openxmlformats.org/officeDocument/2006/relationships/image" Target="../media/image34.jpg"/><Relationship Id="rId4" Type="http://schemas.openxmlformats.org/officeDocument/2006/relationships/slide" Target="slide184.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4.xml"/><Relationship Id="rId3" Type="http://schemas.openxmlformats.org/officeDocument/2006/relationships/image" Target="../media/image35.png"/><Relationship Id="rId4" Type="http://schemas.openxmlformats.org/officeDocument/2006/relationships/slide" Target="slide188.xml"/><Relationship Id="rId5" Type="http://schemas.openxmlformats.org/officeDocument/2006/relationships/slide" Target="slide184.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6.xml"/><Relationship Id="rId3" Type="http://schemas.openxmlformats.org/officeDocument/2006/relationships/slide" Target="slide184.xml"/><Relationship Id="rId4" Type="http://schemas.openxmlformats.org/officeDocument/2006/relationships/image" Target="../media/image35.png"/><Relationship Id="rId5" Type="http://schemas.openxmlformats.org/officeDocument/2006/relationships/slide" Target="slide188.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8.xml"/><Relationship Id="rId3" Type="http://schemas.openxmlformats.org/officeDocument/2006/relationships/slide" Target="slide184.xml"/><Relationship Id="rId4" Type="http://schemas.openxmlformats.org/officeDocument/2006/relationships/image" Target="../media/image35.png"/><Relationship Id="rId5" Type="http://schemas.openxmlformats.org/officeDocument/2006/relationships/slide" Target="slide188.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0.xml"/><Relationship Id="rId3" Type="http://schemas.openxmlformats.org/officeDocument/2006/relationships/slide" Target="slide184.xml"/><Relationship Id="rId4" Type="http://schemas.openxmlformats.org/officeDocument/2006/relationships/image" Target="../media/image35.png"/><Relationship Id="rId5" Type="http://schemas.openxmlformats.org/officeDocument/2006/relationships/slide" Target="slide188.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2.xml"/><Relationship Id="rId3" Type="http://schemas.openxmlformats.org/officeDocument/2006/relationships/slide" Target="slide184.xml"/><Relationship Id="rId4" Type="http://schemas.openxmlformats.org/officeDocument/2006/relationships/image" Target="../media/image35.png"/><Relationship Id="rId5" Type="http://schemas.openxmlformats.org/officeDocument/2006/relationships/slide" Target="slide188.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4.xml"/><Relationship Id="rId3" Type="http://schemas.openxmlformats.org/officeDocument/2006/relationships/slide" Target="slide184.xml"/><Relationship Id="rId4" Type="http://schemas.openxmlformats.org/officeDocument/2006/relationships/image" Target="../media/image35.png"/><Relationship Id="rId5" Type="http://schemas.openxmlformats.org/officeDocument/2006/relationships/slide" Target="slide188.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6.xml"/><Relationship Id="rId3" Type="http://schemas.openxmlformats.org/officeDocument/2006/relationships/slide" Target="slide184.xml"/><Relationship Id="rId4" Type="http://schemas.openxmlformats.org/officeDocument/2006/relationships/image" Target="../media/image35.png"/><Relationship Id="rId5" Type="http://schemas.openxmlformats.org/officeDocument/2006/relationships/slide" Target="slide188.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8.xml"/><Relationship Id="rId3" Type="http://schemas.openxmlformats.org/officeDocument/2006/relationships/slide" Target="slide184.xml"/><Relationship Id="rId4" Type="http://schemas.openxmlformats.org/officeDocument/2006/relationships/image" Target="../media/image35.png"/><Relationship Id="rId5" Type="http://schemas.openxmlformats.org/officeDocument/2006/relationships/slide" Target="slide188.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0.xml"/><Relationship Id="rId3" Type="http://schemas.openxmlformats.org/officeDocument/2006/relationships/slide" Target="slide184.xml"/><Relationship Id="rId4" Type="http://schemas.openxmlformats.org/officeDocument/2006/relationships/image" Target="../media/image35.png"/><Relationship Id="rId5" Type="http://schemas.openxmlformats.org/officeDocument/2006/relationships/slide" Target="slide188.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2.xml"/><Relationship Id="rId3" Type="http://schemas.openxmlformats.org/officeDocument/2006/relationships/slide" Target="slide184.xml"/><Relationship Id="rId4" Type="http://schemas.openxmlformats.org/officeDocument/2006/relationships/image" Target="../media/image35.png"/><Relationship Id="rId5" Type="http://schemas.openxmlformats.org/officeDocument/2006/relationships/slide" Target="slide188.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 Id="rId3" Type="http://schemas.openxmlformats.org/officeDocument/2006/relationships/image" Target="../media/image38.png"/><Relationship Id="rId4" Type="http://schemas.openxmlformats.org/officeDocument/2006/relationships/slide" Target="slide185.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9.xml"/><Relationship Id="rId3" Type="http://schemas.openxmlformats.org/officeDocument/2006/relationships/image" Target="../media/image41.jpg"/><Relationship Id="rId4" Type="http://schemas.openxmlformats.org/officeDocument/2006/relationships/slide" Target="slide189.xml"/><Relationship Id="rId5" Type="http://schemas.openxmlformats.org/officeDocument/2006/relationships/slide" Target="slide185.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1.xml"/><Relationship Id="rId3" Type="http://schemas.openxmlformats.org/officeDocument/2006/relationships/slide" Target="slide185.xml"/><Relationship Id="rId4" Type="http://schemas.openxmlformats.org/officeDocument/2006/relationships/image" Target="../media/image41.jpg"/><Relationship Id="rId5" Type="http://schemas.openxmlformats.org/officeDocument/2006/relationships/slide" Target="slide189.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3.xml"/><Relationship Id="rId3" Type="http://schemas.openxmlformats.org/officeDocument/2006/relationships/slide" Target="slide185.xml"/><Relationship Id="rId4" Type="http://schemas.openxmlformats.org/officeDocument/2006/relationships/image" Target="../media/image41.jpg"/><Relationship Id="rId5" Type="http://schemas.openxmlformats.org/officeDocument/2006/relationships/slide" Target="slide189.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5.xml"/><Relationship Id="rId3" Type="http://schemas.openxmlformats.org/officeDocument/2006/relationships/slide" Target="slide185.xml"/><Relationship Id="rId4" Type="http://schemas.openxmlformats.org/officeDocument/2006/relationships/image" Target="../media/image41.jpg"/><Relationship Id="rId5" Type="http://schemas.openxmlformats.org/officeDocument/2006/relationships/slide" Target="slide189.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7.xml"/><Relationship Id="rId3" Type="http://schemas.openxmlformats.org/officeDocument/2006/relationships/slide" Target="slide185.xml"/><Relationship Id="rId4" Type="http://schemas.openxmlformats.org/officeDocument/2006/relationships/image" Target="../media/image41.jpg"/><Relationship Id="rId5" Type="http://schemas.openxmlformats.org/officeDocument/2006/relationships/slide" Target="slide189.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9.xml"/><Relationship Id="rId3" Type="http://schemas.openxmlformats.org/officeDocument/2006/relationships/slide" Target="slide185.xml"/><Relationship Id="rId4" Type="http://schemas.openxmlformats.org/officeDocument/2006/relationships/image" Target="../media/image41.jpg"/><Relationship Id="rId5" Type="http://schemas.openxmlformats.org/officeDocument/2006/relationships/slide" Target="slide189.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1.xml"/><Relationship Id="rId3" Type="http://schemas.openxmlformats.org/officeDocument/2006/relationships/slide" Target="slide185.xml"/><Relationship Id="rId4" Type="http://schemas.openxmlformats.org/officeDocument/2006/relationships/image" Target="../media/image41.jpg"/><Relationship Id="rId5" Type="http://schemas.openxmlformats.org/officeDocument/2006/relationships/slide" Target="slide189.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3.xml"/><Relationship Id="rId3" Type="http://schemas.openxmlformats.org/officeDocument/2006/relationships/slide" Target="slide185.xml"/><Relationship Id="rId4" Type="http://schemas.openxmlformats.org/officeDocument/2006/relationships/image" Target="../media/image41.jpg"/><Relationship Id="rId5" Type="http://schemas.openxmlformats.org/officeDocument/2006/relationships/slide" Target="slide189.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5.xml"/><Relationship Id="rId3" Type="http://schemas.openxmlformats.org/officeDocument/2006/relationships/slide" Target="slide185.xml"/><Relationship Id="rId4" Type="http://schemas.openxmlformats.org/officeDocument/2006/relationships/image" Target="../media/image41.jpg"/><Relationship Id="rId5" Type="http://schemas.openxmlformats.org/officeDocument/2006/relationships/slide" Target="slide189.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7.xml"/><Relationship Id="rId3" Type="http://schemas.openxmlformats.org/officeDocument/2006/relationships/slide" Target="slide185.xml"/><Relationship Id="rId4" Type="http://schemas.openxmlformats.org/officeDocument/2006/relationships/image" Target="../media/image41.jpg"/><Relationship Id="rId5" Type="http://schemas.openxmlformats.org/officeDocument/2006/relationships/slide" Target="slide189.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9.xml"/><Relationship Id="rId3" Type="http://schemas.openxmlformats.org/officeDocument/2006/relationships/slide" Target="slide185.xml"/><Relationship Id="rId4" Type="http://schemas.openxmlformats.org/officeDocument/2006/relationships/image" Target="../media/image41.jpg"/><Relationship Id="rId5" Type="http://schemas.openxmlformats.org/officeDocument/2006/relationships/slide" Target="slide189.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 Id="rId3" Type="http://schemas.openxmlformats.org/officeDocument/2006/relationships/image" Target="../media/image42.jpg"/><Relationship Id="rId4" Type="http://schemas.openxmlformats.org/officeDocument/2006/relationships/slide" Target="slide186.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6.xml"/><Relationship Id="rId3" Type="http://schemas.openxmlformats.org/officeDocument/2006/relationships/image" Target="../media/image39.jpg"/><Relationship Id="rId4" Type="http://schemas.openxmlformats.org/officeDocument/2006/relationships/slide" Target="slide189.xml"/><Relationship Id="rId5" Type="http://schemas.openxmlformats.org/officeDocument/2006/relationships/slide" Target="slide186.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8.xml"/><Relationship Id="rId3" Type="http://schemas.openxmlformats.org/officeDocument/2006/relationships/slide" Target="slide186.xml"/><Relationship Id="rId4" Type="http://schemas.openxmlformats.org/officeDocument/2006/relationships/image" Target="../media/image39.jpg"/><Relationship Id="rId5" Type="http://schemas.openxmlformats.org/officeDocument/2006/relationships/slide" Target="slide18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0.xml"/><Relationship Id="rId3" Type="http://schemas.openxmlformats.org/officeDocument/2006/relationships/slide" Target="slide186.xml"/><Relationship Id="rId4" Type="http://schemas.openxmlformats.org/officeDocument/2006/relationships/image" Target="../media/image39.jpg"/><Relationship Id="rId5" Type="http://schemas.openxmlformats.org/officeDocument/2006/relationships/slide" Target="slide189.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2.xml"/><Relationship Id="rId3" Type="http://schemas.openxmlformats.org/officeDocument/2006/relationships/slide" Target="slide186.xml"/><Relationship Id="rId4" Type="http://schemas.openxmlformats.org/officeDocument/2006/relationships/image" Target="../media/image39.jpg"/><Relationship Id="rId5" Type="http://schemas.openxmlformats.org/officeDocument/2006/relationships/slide" Target="slide189.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4.xml"/><Relationship Id="rId3" Type="http://schemas.openxmlformats.org/officeDocument/2006/relationships/slide" Target="slide186.xml"/><Relationship Id="rId4" Type="http://schemas.openxmlformats.org/officeDocument/2006/relationships/image" Target="../media/image39.jpg"/><Relationship Id="rId5" Type="http://schemas.openxmlformats.org/officeDocument/2006/relationships/slide" Target="slide189.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6.xml"/><Relationship Id="rId3" Type="http://schemas.openxmlformats.org/officeDocument/2006/relationships/slide" Target="slide186.xml"/><Relationship Id="rId4" Type="http://schemas.openxmlformats.org/officeDocument/2006/relationships/image" Target="../media/image39.jpg"/><Relationship Id="rId5" Type="http://schemas.openxmlformats.org/officeDocument/2006/relationships/slide" Target="slide189.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8.xml"/><Relationship Id="rId3" Type="http://schemas.openxmlformats.org/officeDocument/2006/relationships/slide" Target="slide186.xml"/><Relationship Id="rId4" Type="http://schemas.openxmlformats.org/officeDocument/2006/relationships/image" Target="../media/image39.jpg"/><Relationship Id="rId5" Type="http://schemas.openxmlformats.org/officeDocument/2006/relationships/slide" Target="slide18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0.xml"/><Relationship Id="rId3" Type="http://schemas.openxmlformats.org/officeDocument/2006/relationships/image" Target="../media/image44.png"/><Relationship Id="rId4" Type="http://schemas.openxmlformats.org/officeDocument/2006/relationships/slide" Target="slide18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5.xml"/><Relationship Id="rId3" Type="http://schemas.openxmlformats.org/officeDocument/2006/relationships/image" Target="../media/image43.jpg"/><Relationship Id="rId4" Type="http://schemas.openxmlformats.org/officeDocument/2006/relationships/slide" Target="slide190.xml"/><Relationship Id="rId5" Type="http://schemas.openxmlformats.org/officeDocument/2006/relationships/slide" Target="slide18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7.xml"/><Relationship Id="rId3" Type="http://schemas.openxmlformats.org/officeDocument/2006/relationships/slide" Target="slide187.xml"/><Relationship Id="rId4" Type="http://schemas.openxmlformats.org/officeDocument/2006/relationships/image" Target="../media/image43.jpg"/><Relationship Id="rId5" Type="http://schemas.openxmlformats.org/officeDocument/2006/relationships/slide" Target="slide190.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9.xml"/><Relationship Id="rId3" Type="http://schemas.openxmlformats.org/officeDocument/2006/relationships/slide" Target="slide187.xml"/><Relationship Id="rId4" Type="http://schemas.openxmlformats.org/officeDocument/2006/relationships/image" Target="../media/image43.jpg"/><Relationship Id="rId5" Type="http://schemas.openxmlformats.org/officeDocument/2006/relationships/slide" Target="slide19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1.xml"/><Relationship Id="rId3" Type="http://schemas.openxmlformats.org/officeDocument/2006/relationships/slide" Target="slide187.xml"/><Relationship Id="rId4" Type="http://schemas.openxmlformats.org/officeDocument/2006/relationships/image" Target="../media/image43.jpg"/><Relationship Id="rId5" Type="http://schemas.openxmlformats.org/officeDocument/2006/relationships/slide" Target="slide190.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3.xml"/><Relationship Id="rId3" Type="http://schemas.openxmlformats.org/officeDocument/2006/relationships/slide" Target="slide187.xml"/><Relationship Id="rId4" Type="http://schemas.openxmlformats.org/officeDocument/2006/relationships/image" Target="../media/image43.jpg"/><Relationship Id="rId5" Type="http://schemas.openxmlformats.org/officeDocument/2006/relationships/slide" Target="slide190.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5.xml"/><Relationship Id="rId3" Type="http://schemas.openxmlformats.org/officeDocument/2006/relationships/slide" Target="slide187.xml"/><Relationship Id="rId4" Type="http://schemas.openxmlformats.org/officeDocument/2006/relationships/image" Target="../media/image43.jpg"/><Relationship Id="rId5" Type="http://schemas.openxmlformats.org/officeDocument/2006/relationships/slide" Target="slide190.xml"/></Relationships>
</file>

<file path=ppt/slides/_rels/slide620.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0.xml"/></Relationships>
</file>

<file path=ppt/slides/_rels/slide621.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1.xml"/></Relationships>
</file>

<file path=ppt/slides/_rels/slide622.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6" name="Shape 5646"/>
        <p:cNvGrpSpPr/>
        <p:nvPr/>
      </p:nvGrpSpPr>
      <p:grpSpPr>
        <a:xfrm>
          <a:off x="0" y="0"/>
          <a:ext cx="0" cy="0"/>
          <a:chOff x="0" y="0"/>
          <a:chExt cx="0" cy="0"/>
        </a:xfrm>
      </p:grpSpPr>
      <p:sp>
        <p:nvSpPr>
          <p:cNvPr id="5647" name="Google Shape;5647;p317"/>
          <p:cNvSpPr txBox="1"/>
          <p:nvPr>
            <p:ph idx="1" type="body"/>
          </p:nvPr>
        </p:nvSpPr>
        <p:spPr>
          <a:xfrm>
            <a:off x="0" y="2153191"/>
            <a:ext cx="9144000" cy="837152"/>
          </a:xfrm>
          <a:prstGeom prst="rect">
            <a:avLst/>
          </a:prstGeom>
          <a:solidFill>
            <a:schemeClr val="lt1"/>
          </a:solidFill>
          <a:ln>
            <a:noFill/>
          </a:ln>
        </p:spPr>
        <p:txBody>
          <a:bodyPr anchorCtr="1" anchor="ctr" bIns="45700" lIns="457200" spcFirstLastPara="1" rIns="457200" wrap="square" tIns="45700">
            <a:noAutofit/>
          </a:bodyPr>
          <a:lstStyle/>
          <a:p>
            <a:pPr indent="0" lvl="0" marL="0" rtl="0" algn="ctr">
              <a:lnSpc>
                <a:spcPct val="110000"/>
              </a:lnSpc>
              <a:spcBef>
                <a:spcPts val="0"/>
              </a:spcBef>
              <a:spcAft>
                <a:spcPts val="0"/>
              </a:spcAft>
              <a:buClr>
                <a:schemeClr val="accent1"/>
              </a:buClr>
              <a:buSzPts val="2200"/>
              <a:buFont typeface="Century Gothic"/>
              <a:buNone/>
            </a:pPr>
            <a:r>
              <a:rPr lang="en-GB"/>
              <a:t>Finance and Performance Management</a:t>
            </a:r>
            <a:br>
              <a:rPr lang="en-GB"/>
            </a:br>
            <a:r>
              <a:rPr lang="en-GB"/>
              <a:t>Use Cases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2" name="Shape 5652"/>
        <p:cNvGrpSpPr/>
        <p:nvPr/>
      </p:nvGrpSpPr>
      <p:grpSpPr>
        <a:xfrm>
          <a:off x="0" y="0"/>
          <a:ext cx="0" cy="0"/>
          <a:chOff x="0" y="0"/>
          <a:chExt cx="0" cy="0"/>
        </a:xfrm>
      </p:grpSpPr>
      <p:cxnSp>
        <p:nvCxnSpPr>
          <p:cNvPr id="5653" name="Google Shape;5653;p318"/>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654" name="Google Shape;5654;p318"/>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655" name="Google Shape;5655;p318"/>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5657" name="Google Shape;5657;p318"/>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Ability to negotiate more favourable supplier terms and pricing based on improved understanding of supplier performance.</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vendor/supplier performance</a:t>
            </a:r>
            <a:endParaRPr/>
          </a:p>
          <a:p>
            <a:pPr indent="-115888" lvl="1" marL="233363" marR="0" rtl="0" algn="l">
              <a:lnSpc>
                <a:spcPct val="90000"/>
              </a:lnSpc>
              <a:spcBef>
                <a:spcPts val="30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Reduce the number of vendors and improve terms</a:t>
            </a:r>
            <a:endParaRPr b="0" i="0" sz="900" u="none" cap="none" strike="noStrike">
              <a:solidFill>
                <a:schemeClr val="dk1"/>
              </a:solidFill>
              <a:latin typeface="Century Gothic"/>
              <a:ea typeface="Century Gothic"/>
              <a:cs typeface="Century Gothic"/>
              <a:sym typeface="Century Gothic"/>
            </a:endParaRPr>
          </a:p>
          <a:p>
            <a:pPr indent="-115888" lvl="1" marL="233363" marR="0" rtl="0" algn="l">
              <a:lnSpc>
                <a:spcPct val="9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Improved raw material quality and reduce returns</a:t>
            </a:r>
            <a:endParaRPr/>
          </a:p>
          <a:p>
            <a:pPr indent="-115888" lvl="1" marL="233363" marR="0" rtl="0" algn="l">
              <a:lnSpc>
                <a:spcPct val="9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Improved lead times with vendors</a:t>
            </a:r>
            <a:endParaRPr/>
          </a:p>
          <a:p>
            <a:pPr indent="-108000" lvl="0" marL="108000" marR="0" rtl="0" algn="l">
              <a:lnSpc>
                <a:spcPct val="90000"/>
              </a:lnSpc>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Optimized cash flow resulting from improved vendor performance and delivery of inventory items (levels)</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 the number of manual checks cut</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658" name="Google Shape;5658;p318"/>
          <p:cNvSpPr/>
          <p:nvPr/>
        </p:nvSpPr>
        <p:spPr>
          <a:xfrm>
            <a:off x="6148817" y="2334154"/>
            <a:ext cx="2825073"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Accelerated Identification mismatches between invoices, POs, and receipts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Reports, dashboards, &amp; KPI results executed on an improved  regular and timely basis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Provide an integrated global view of AP invoices, payments, suppliers, and purchase orders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 utilization of discounts in payment terms</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Automated FBR WHT calculation, vendor performance scorecards, procurement spend visibility across group</a:t>
            </a:r>
            <a:endParaRPr/>
          </a:p>
        </p:txBody>
      </p:sp>
      <p:sp>
        <p:nvSpPr>
          <p:cNvPr id="5659" name="Google Shape;5659;p318"/>
          <p:cNvSpPr/>
          <p:nvPr/>
        </p:nvSpPr>
        <p:spPr>
          <a:xfrm>
            <a:off x="3271845" y="3557890"/>
            <a:ext cx="2786102"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Development of relevant reports and dashboards to measure on-going vendor performance and KPIs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Ability to drill to detail level.</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Relevant KPIs identified and documented</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660" name="Google Shape;5660;p318"/>
          <p:cNvSpPr/>
          <p:nvPr/>
        </p:nvSpPr>
        <p:spPr>
          <a:xfrm>
            <a:off x="3271848" y="2334156"/>
            <a:ext cx="2876961" cy="1278755"/>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Load, integrate and validate required data.</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Reference Data Management</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Access layer for BI Reporting tool</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Comparative analysis of Orders, Invoices, Terms, Discounts &amp; Payments.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Text Analytics</a:t>
            </a:r>
            <a:endParaRPr/>
          </a:p>
        </p:txBody>
      </p:sp>
      <p:sp>
        <p:nvSpPr>
          <p:cNvPr id="5661" name="Google Shape;5661;p318"/>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availability / quality e.g.</a:t>
            </a:r>
            <a:endParaRPr/>
          </a:p>
          <a:p>
            <a:pPr indent="-171450" lvl="1" marL="330200" marR="0" rtl="0" algn="l">
              <a:spcBef>
                <a:spcPts val="300"/>
              </a:spcBef>
              <a:spcAft>
                <a:spcPts val="0"/>
              </a:spcAft>
              <a:buClr>
                <a:srgbClr val="3C3C3B"/>
              </a:buClr>
              <a:buSzPts val="900"/>
              <a:buFont typeface="Century Gothic"/>
              <a:buChar char="−"/>
            </a:pPr>
            <a:r>
              <a:rPr b="0" i="0" lang="en-GB" sz="900" u="none" cap="none" strike="noStrike">
                <a:solidFill>
                  <a:srgbClr val="3C3C3B"/>
                </a:solidFill>
                <a:latin typeface="Century Gothic"/>
                <a:ea typeface="Century Gothic"/>
                <a:cs typeface="Century Gothic"/>
                <a:sym typeface="Century Gothic"/>
              </a:rPr>
              <a:t>Incomplete supplier information </a:t>
            </a:r>
            <a:endParaRPr/>
          </a:p>
          <a:p>
            <a:pPr indent="-171450" lvl="1" marL="330200" marR="0" rtl="0" algn="l">
              <a:spcBef>
                <a:spcPts val="300"/>
              </a:spcBef>
              <a:spcAft>
                <a:spcPts val="0"/>
              </a:spcAft>
              <a:buClr>
                <a:srgbClr val="3C3C3B"/>
              </a:buClr>
              <a:buSzPts val="900"/>
              <a:buFont typeface="Century Gothic"/>
              <a:buChar char="−"/>
            </a:pPr>
            <a:r>
              <a:rPr b="0" i="0" lang="en-GB" sz="900" u="none" cap="none" strike="noStrike">
                <a:solidFill>
                  <a:srgbClr val="3C3C3B"/>
                </a:solidFill>
                <a:latin typeface="Century Gothic"/>
                <a:ea typeface="Century Gothic"/>
                <a:cs typeface="Century Gothic"/>
                <a:sym typeface="Century Gothic"/>
              </a:rPr>
              <a:t>Insufficient PO and invoice details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Integration of multiple supplier records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Integration of internal/external data</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Decentralized procurement - branches source locally. FBR filer status changes monthly</a:t>
            </a:r>
            <a:endParaRPr/>
          </a:p>
        </p:txBody>
      </p:sp>
      <p:sp>
        <p:nvSpPr>
          <p:cNvPr id="5662" name="Google Shape;5662;p318"/>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Purchase Orders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Deliver information (Receipts)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Invoices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Supplier contracts &amp; payment terms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Reporting Hierarchies – Business Units, Geography, purchasing agent etc.</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FBR Active Taxpayer List, vendor NTN/CNIC, WHT rate schedules, RAAST/RTGS payment details</a:t>
            </a:r>
            <a:endParaRPr/>
          </a:p>
        </p:txBody>
      </p:sp>
      <p:sp>
        <p:nvSpPr>
          <p:cNvPr id="5663" name="Google Shape;5663;p318"/>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Optimise vendor contracts and the ability to renegotiate contracts with more favourable terms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Identify opportunities to obtain or improve discounts and avoid penalties.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Rationalize the number of vendors supplying a specific item</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Understand global spend with vendors.</a:t>
            </a:r>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Pakistan banks manage 5,000-20,000 vendors across 16,000+ branches for procurement consolidation and FBR WHT compliance</a:t>
            </a:r>
            <a:endParaRPr/>
          </a:p>
        </p:txBody>
      </p:sp>
      <p:sp>
        <p:nvSpPr>
          <p:cNvPr id="5664" name="Google Shape;5664;p318"/>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5665" name="Google Shape;5665;p318"/>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a:p>
        </p:txBody>
      </p:sp>
      <p:sp>
        <p:nvSpPr>
          <p:cNvPr id="5666" name="Google Shape;5666;p318"/>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Vendor Analytics</a:t>
            </a:r>
            <a:endParaRPr sz="2400"/>
          </a:p>
        </p:txBody>
      </p:sp>
      <p:sp>
        <p:nvSpPr>
          <p:cNvPr id="5667" name="Google Shape;5667;p318">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Accounting Operations &amp;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2" name="Shape 5672"/>
        <p:cNvGrpSpPr/>
        <p:nvPr/>
      </p:nvGrpSpPr>
      <p:grpSpPr>
        <a:xfrm>
          <a:off x="0" y="0"/>
          <a:ext cx="0" cy="0"/>
          <a:chOff x="0" y="0"/>
          <a:chExt cx="0" cy="0"/>
        </a:xfrm>
      </p:grpSpPr>
      <p:cxnSp>
        <p:nvCxnSpPr>
          <p:cNvPr id="5673" name="Google Shape;5673;p319"/>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674" name="Google Shape;5674;p319"/>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675" name="Google Shape;5675;p319"/>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5677" name="Google Shape;5677;p319"/>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cash flow, reduced working capital yielding increased return on assets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productivity through reduction of time and effort spent on manual management review</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Days Payable Outstanding (DPO)</a:t>
            </a:r>
            <a:endParaRPr sz="900">
              <a:solidFill>
                <a:srgbClr val="3C3C3B"/>
              </a:solidFill>
              <a:latin typeface="Century Gothic"/>
              <a:ea typeface="Century Gothic"/>
              <a:cs typeface="Century Gothic"/>
              <a:sym typeface="Century Gothic"/>
            </a:endParaRPr>
          </a:p>
        </p:txBody>
      </p:sp>
      <p:sp>
        <p:nvSpPr>
          <p:cNvPr id="5678" name="Google Shape;5678;p319"/>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Identify errors in matches between invoices, POs, and receipts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Set of reports, dashboards, KPI results executed on regular and timely basis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Provide an integrated global view of AP invoices, payments, suppliers, and purchase orders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negotiate more favourable supplier terms and pricing based on improved understanding of supplier performance.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Increase utilization of discounts in payment terms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Optimize payment timing to maximize float, automate FBR WHT reporting across group</a:t>
            </a:r>
            <a:endParaRPr/>
          </a:p>
        </p:txBody>
      </p:sp>
      <p:sp>
        <p:nvSpPr>
          <p:cNvPr id="5679" name="Google Shape;5679;p319"/>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Relevant KPIs identified and documented</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Development of relevant reports and dashboards to measure on-going performance and KPIs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680" name="Google Shape;5680;p319"/>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Load, integrate and validate required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Reference Data Management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Comparative analysis of Orders, Invoices, Terms, Discounts &amp; Payments.</a:t>
            </a:r>
            <a:endParaRPr/>
          </a:p>
        </p:txBody>
      </p:sp>
      <p:sp>
        <p:nvSpPr>
          <p:cNvPr id="5681" name="Google Shape;5681;p319"/>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 / quality e.g.</a:t>
            </a:r>
            <a:endParaRPr/>
          </a:p>
          <a:p>
            <a:pPr indent="-171450" lvl="1" marL="330200" marR="0" rtl="0" algn="l">
              <a:spcBef>
                <a:spcPts val="300"/>
              </a:spcBef>
              <a:spcAft>
                <a:spcPts val="0"/>
              </a:spcAft>
              <a:buClr>
                <a:srgbClr val="3C3C3B"/>
              </a:buClr>
              <a:buSzPts val="800"/>
              <a:buFont typeface="Century Gothic"/>
              <a:buChar char="−"/>
            </a:pPr>
            <a:r>
              <a:rPr b="0" i="0" lang="en-GB" sz="800" u="none" cap="none" strike="noStrike">
                <a:solidFill>
                  <a:srgbClr val="3C3C3B"/>
                </a:solidFill>
                <a:latin typeface="Century Gothic"/>
                <a:ea typeface="Century Gothic"/>
                <a:cs typeface="Century Gothic"/>
                <a:sym typeface="Century Gothic"/>
              </a:rPr>
              <a:t>Incomplete supplier information </a:t>
            </a:r>
            <a:endParaRPr/>
          </a:p>
          <a:p>
            <a:pPr indent="-171450" lvl="1" marL="330200" marR="0" rtl="0" algn="l">
              <a:spcBef>
                <a:spcPts val="300"/>
              </a:spcBef>
              <a:spcAft>
                <a:spcPts val="0"/>
              </a:spcAft>
              <a:buClr>
                <a:srgbClr val="3C3C3B"/>
              </a:buClr>
              <a:buSzPts val="800"/>
              <a:buFont typeface="Century Gothic"/>
              <a:buChar char="−"/>
            </a:pPr>
            <a:r>
              <a:rPr b="0" i="0" lang="en-GB" sz="800" u="none" cap="none" strike="noStrike">
                <a:solidFill>
                  <a:srgbClr val="3C3C3B"/>
                </a:solidFill>
                <a:latin typeface="Century Gothic"/>
                <a:ea typeface="Century Gothic"/>
                <a:cs typeface="Century Gothic"/>
                <a:sym typeface="Century Gothic"/>
              </a:rPr>
              <a:t>Insufficient PO and invoice details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Integration of multiple supplier records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Integration of internal/external data</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Multiple ERP systems across group entities - no consolidated AP view</a:t>
            </a:r>
            <a:endParaRPr/>
          </a:p>
        </p:txBody>
      </p:sp>
      <p:sp>
        <p:nvSpPr>
          <p:cNvPr id="5682" name="Google Shape;5682;p319"/>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Purchase Orders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Invoices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Supplier contracts &amp; payment terms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Reporting Hierarchies – Business Units, Geography, purchasing agent etc.</a:t>
            </a:r>
            <a:endParaRPr/>
          </a:p>
          <a:p>
            <a:pPr indent="0" lvl="0" marL="0" marR="0" rtl="0" algn="l">
              <a:lnSpc>
                <a:spcPct val="90000"/>
              </a:lnSpc>
              <a:spcBef>
                <a:spcPts val="300"/>
              </a:spcBef>
              <a:spcAft>
                <a:spcPts val="0"/>
              </a:spcAft>
              <a:buNone/>
            </a:pPr>
            <a:r>
              <a:t/>
            </a:r>
            <a:endParaRPr sz="800">
              <a:solidFill>
                <a:schemeClr val="dk1"/>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AP sub-ledger from all ERPs, FBR WHT certificates, inter-company payables register</a:t>
            </a:r>
            <a:endParaRPr/>
          </a:p>
        </p:txBody>
      </p:sp>
      <p:sp>
        <p:nvSpPr>
          <p:cNvPr id="5683" name="Google Shape;5683;p319"/>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Optimise accounts payables balances and days payable outstanding, resulting in improved cashflow.</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Identify opportunities to obtain or improve discounts and avoid penalties.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Improve understanding of total spend across the organisation</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Ensure compliance with negotiated terms.</a:t>
            </a:r>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Optimize AP across group entities - conventional bank, Islamic subsidiary, insurance/Takaful, AMC, brokerage</a:t>
            </a:r>
            <a:endParaRPr/>
          </a:p>
        </p:txBody>
      </p:sp>
      <p:sp>
        <p:nvSpPr>
          <p:cNvPr id="5684" name="Google Shape;5684;p319"/>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5685" name="Google Shape;5685;p319"/>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a:p>
        </p:txBody>
      </p:sp>
      <p:sp>
        <p:nvSpPr>
          <p:cNvPr id="5686" name="Google Shape;5686;p319"/>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Payables Analytics</a:t>
            </a:r>
            <a:endParaRPr sz="2400"/>
          </a:p>
        </p:txBody>
      </p:sp>
      <p:sp>
        <p:nvSpPr>
          <p:cNvPr id="5687" name="Google Shape;5687;p319">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Accounting Operations &amp;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2" name="Shape 5692"/>
        <p:cNvGrpSpPr/>
        <p:nvPr/>
      </p:nvGrpSpPr>
      <p:grpSpPr>
        <a:xfrm>
          <a:off x="0" y="0"/>
          <a:ext cx="0" cy="0"/>
          <a:chOff x="0" y="0"/>
          <a:chExt cx="0" cy="0"/>
        </a:xfrm>
      </p:grpSpPr>
      <p:cxnSp>
        <p:nvCxnSpPr>
          <p:cNvPr id="5693" name="Google Shape;5693;p320"/>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694" name="Google Shape;5694;p320"/>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695" name="Google Shape;5695;p320"/>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5697" name="Google Shape;5697;p320"/>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71450" lvl="0" marL="171450" marR="0" rtl="0" algn="l">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Enable the business to continue day-to-day operations with minimal disruptions during a strategic/major system upgrade</a:t>
            </a:r>
            <a:endParaRPr/>
          </a:p>
          <a:p>
            <a:pPr indent="-171450" lvl="0" marL="17145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cash flow forecasts through </a:t>
            </a:r>
            <a:endParaRPr/>
          </a:p>
          <a:p>
            <a:pPr indent="-117475" lvl="1" marL="287338" marR="0" rtl="0" algn="l">
              <a:spcBef>
                <a:spcPts val="4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The reduction of overall volatility due to trends </a:t>
            </a:r>
            <a:endParaRPr b="0" i="0" sz="900" u="none" cap="none" strike="noStrike">
              <a:solidFill>
                <a:srgbClr val="3C3C3B"/>
              </a:solidFill>
              <a:latin typeface="Century Gothic"/>
              <a:ea typeface="Century Gothic"/>
              <a:cs typeface="Century Gothic"/>
              <a:sym typeface="Century Gothic"/>
            </a:endParaRPr>
          </a:p>
          <a:p>
            <a:pPr indent="-117475" lvl="1" marL="287338" marR="0" rtl="0" algn="l">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S</a:t>
            </a:r>
            <a:r>
              <a:rPr b="0" i="0" lang="en-GB" sz="900" u="none" cap="none" strike="noStrike">
                <a:solidFill>
                  <a:schemeClr val="dk1"/>
                </a:solidFill>
                <a:latin typeface="Century Gothic"/>
                <a:ea typeface="Century Gothic"/>
                <a:cs typeface="Century Gothic"/>
                <a:sym typeface="Century Gothic"/>
              </a:rPr>
              <a:t>upplier reduction, improvement in terms, and process standardization</a:t>
            </a:r>
            <a:endParaRPr/>
          </a:p>
          <a:p>
            <a:pPr indent="-171450" lvl="0" marL="171450" marR="0" rtl="0" algn="l">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 visibility to invoice payments to optimize payment timing</a:t>
            </a:r>
            <a:endParaRPr/>
          </a:p>
          <a:p>
            <a:pPr indent="-114300" lvl="0" marL="171450" marR="0" rtl="0" algn="l">
              <a:spcBef>
                <a:spcPts val="4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4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5698" name="Google Shape;5698;p320"/>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 P2P metrics through a balance scorecard</a:t>
            </a:r>
            <a:endParaRPr/>
          </a:p>
          <a:p>
            <a:pPr indent="-114300" lvl="0" marL="2286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Manage supplier spend by measuring data quality and terms </a:t>
            </a:r>
            <a:endParaRPr/>
          </a:p>
          <a:p>
            <a:pPr indent="-114300" lvl="0" marL="2286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Reduce the number of manual checks cut during a month</a:t>
            </a:r>
            <a:endParaRPr/>
          </a:p>
          <a:p>
            <a:pPr indent="-114300" lvl="0" marL="228600" marR="0" rtl="0" algn="l">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Allow locations to better manage their P2P process through intra-day reporting and increased spend visibility </a:t>
            </a:r>
            <a:endParaRPr/>
          </a:p>
          <a:p>
            <a:pPr indent="-114300" lvl="0" marL="228600" marR="0" rtl="0" algn="l">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Reduce receipt errors that cause delays in the P2P process</a:t>
            </a:r>
            <a:endParaRPr/>
          </a:p>
          <a:p>
            <a:pPr indent="-114300" lvl="0" marL="2286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Manage the entire P2P process by measuring bottlenecks, delays, and errors throughout the process</a:t>
            </a:r>
            <a:endParaRPr sz="800">
              <a:solidFill>
                <a:srgbClr val="3C3C3B"/>
              </a:solidFill>
              <a:latin typeface="Century Gothic"/>
              <a:ea typeface="Century Gothic"/>
              <a:cs typeface="Century Gothic"/>
              <a:sym typeface="Century Gothic"/>
            </a:endParaRPr>
          </a:p>
          <a:p>
            <a:pPr indent="-57199" lvl="0" marL="108000" marR="0" rtl="0" algn="l">
              <a:spcBef>
                <a:spcPts val="4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3-way match automation (PO-GRN-Invoice), reduced duplicate payments, improved vendor terms</a:t>
            </a:r>
            <a:endParaRPr/>
          </a:p>
        </p:txBody>
      </p:sp>
      <p:sp>
        <p:nvSpPr>
          <p:cNvPr id="5699" name="Google Shape;5699;p320"/>
          <p:cNvSpPr/>
          <p:nvPr/>
        </p:nvSpPr>
        <p:spPr>
          <a:xfrm>
            <a:off x="3271845" y="3557890"/>
            <a:ext cx="2786102" cy="122459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Provide a view of global supplier spend</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Identify inventory items along with suppliers with the highest/lowest receipt rate</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Identify suppliers where discounts are utilized and the amount of money saved</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Invoice error handling exception report by vendor</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130175" lvl="0" marL="180975"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130175" lvl="0" marL="180975" marR="0" rtl="0" algn="l">
              <a:lnSpc>
                <a:spcPct val="90000"/>
              </a:lnSpc>
              <a:spcBef>
                <a:spcPts val="4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4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700" name="Google Shape;5700;p320"/>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Load, integrate and validate required data.</a:t>
            </a:r>
            <a:endParaRPr/>
          </a:p>
          <a:p>
            <a:pPr indent="-108000" lvl="0" marL="108000" marR="0" rtl="0" algn="l">
              <a:spcBef>
                <a:spcPts val="2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Reference Data Management</a:t>
            </a:r>
            <a:endParaRPr/>
          </a:p>
          <a:p>
            <a:pPr indent="-108000" lvl="0" marL="108000" marR="0" rtl="0" algn="l">
              <a:spcBef>
                <a:spcPts val="2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Provide an access layer  for BI Reporting tool</a:t>
            </a:r>
            <a:endParaRPr/>
          </a:p>
          <a:p>
            <a:pPr indent="-119063" lvl="0" marL="119063" marR="0" rtl="0" algn="l">
              <a:spcBef>
                <a:spcPts val="2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Reporting / BI Tool(s) of choice</a:t>
            </a:r>
            <a:endParaRPr/>
          </a:p>
          <a:p>
            <a:pPr indent="-108000" lvl="0" marL="108000" marR="0" rtl="0" algn="l">
              <a:spcBef>
                <a:spcPts val="2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Comparative analysis of Orders, Receipts, and Invoices.</a:t>
            </a:r>
            <a:endParaRPr/>
          </a:p>
        </p:txBody>
      </p:sp>
      <p:sp>
        <p:nvSpPr>
          <p:cNvPr id="5701" name="Google Shape;5701;p320"/>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17475" lvl="0" marL="117475"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timing &amp; quality  issues with global interfaces (e.g. back-dating of invoices)</a:t>
            </a:r>
            <a:endParaRPr/>
          </a:p>
          <a:p>
            <a:pPr indent="-108000" lvl="0" marL="108000" marR="0" rtl="0" algn="l">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availability (sourcing)</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Integration of multiple supplier records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Integration of internal/external data</a:t>
            </a:r>
            <a:endParaRPr/>
          </a:p>
          <a:p>
            <a:pPr indent="-114300" lvl="0" marL="17145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20650" lvl="0" marL="171450" marR="0" rtl="0" algn="l">
              <a:lnSpc>
                <a:spcPct val="90000"/>
              </a:lnSpc>
              <a:spcBef>
                <a:spcPts val="45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Manual P2P creates duplicate payments, missed discounts, late WHT filings</a:t>
            </a:r>
            <a:endParaRPr/>
          </a:p>
        </p:txBody>
      </p:sp>
      <p:sp>
        <p:nvSpPr>
          <p:cNvPr id="5702" name="Google Shape;5702;p320"/>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17475" lvl="0" marL="117475"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AP, PO, invoice and receipt data from multiple ERPs </a:t>
            </a:r>
            <a:endParaRPr/>
          </a:p>
          <a:p>
            <a:pPr indent="-108000" lvl="0" marL="108000"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Inventory items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Reporting Hierarchies – Business Units, Geography, purchasing agent, items,  etc.</a:t>
            </a:r>
            <a:endParaRPr sz="900">
              <a:solidFill>
                <a:srgbClr val="3C3C3B"/>
              </a:solidFill>
              <a:latin typeface="Century Gothic"/>
              <a:ea typeface="Century Gothic"/>
              <a:cs typeface="Century Gothic"/>
              <a:sym typeface="Century Gothic"/>
            </a:endParaRPr>
          </a:p>
        </p:txBody>
      </p:sp>
      <p:sp>
        <p:nvSpPr>
          <p:cNvPr id="5703" name="Google Shape;5703;p320"/>
          <p:cNvSpPr/>
          <p:nvPr/>
        </p:nvSpPr>
        <p:spPr>
          <a:xfrm>
            <a:off x="423877"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71450" lvl="0" marL="17145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Enablement of a reporting environment to provide enhanced insight(s) into the procure-to-pay process across the global enterprise</a:t>
            </a:r>
            <a:endParaRPr/>
          </a:p>
          <a:p>
            <a:pPr indent="-171450" lvl="0" marL="171450"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Measure the enterprise against industry best practices</a:t>
            </a:r>
            <a:endParaRPr/>
          </a:p>
          <a:p>
            <a:pPr indent="-171450" lvl="0" marL="171450"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Provide an integrated global view of AP invoices, payments, suppliers, and purchase orders</a:t>
            </a:r>
            <a:endParaRPr/>
          </a:p>
          <a:p>
            <a:pPr indent="-114300" lvl="0" marL="171450" marR="0" rtl="0" algn="l">
              <a:lnSpc>
                <a:spcPct val="90000"/>
              </a:lnSpc>
              <a:spcBef>
                <a:spcPts val="4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90000"/>
              </a:lnSpc>
              <a:spcBef>
                <a:spcPts val="4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90000"/>
              </a:lnSpc>
              <a:spcBef>
                <a:spcPts val="4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End-to-end P2P: requisition to PO to receipt to invoice match to payment to FBR WHT reporting</a:t>
            </a:r>
            <a:endParaRPr/>
          </a:p>
        </p:txBody>
      </p:sp>
      <p:sp>
        <p:nvSpPr>
          <p:cNvPr id="5704" name="Google Shape;5704;p320"/>
          <p:cNvSpPr/>
          <p:nvPr/>
        </p:nvSpPr>
        <p:spPr>
          <a:xfrm>
            <a:off x="6545103" y="290520"/>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p:txBody>
      </p:sp>
      <p:sp>
        <p:nvSpPr>
          <p:cNvPr id="5705" name="Google Shape;5705;p320"/>
          <p:cNvSpPr/>
          <p:nvPr/>
        </p:nvSpPr>
        <p:spPr>
          <a:xfrm>
            <a:off x="384875"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5706" name="Google Shape;5706;p320"/>
          <p:cNvSpPr txBox="1"/>
          <p:nvPr>
            <p:ph type="title"/>
          </p:nvPr>
        </p:nvSpPr>
        <p:spPr>
          <a:xfrm>
            <a:off x="423875" y="164592"/>
            <a:ext cx="6205535"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Procure to Pay Optimization</a:t>
            </a:r>
            <a:endParaRPr sz="2400"/>
          </a:p>
        </p:txBody>
      </p:sp>
      <p:sp>
        <p:nvSpPr>
          <p:cNvPr id="5707" name="Google Shape;5707;p320">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Accounting Operations &amp;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2" name="Shape 5712"/>
        <p:cNvGrpSpPr/>
        <p:nvPr/>
      </p:nvGrpSpPr>
      <p:grpSpPr>
        <a:xfrm>
          <a:off x="0" y="0"/>
          <a:ext cx="0" cy="0"/>
          <a:chOff x="0" y="0"/>
          <a:chExt cx="0" cy="0"/>
        </a:xfrm>
      </p:grpSpPr>
      <p:cxnSp>
        <p:nvCxnSpPr>
          <p:cNvPr id="5713" name="Google Shape;5713;p321"/>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714" name="Google Shape;5714;p321"/>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715" name="Google Shape;5715;p321"/>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5717" name="Google Shape;5717;p321"/>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Rapidly integrate new systems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Accelerate monthly close</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Enhance internal controls and auditability</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Quickly update accounting rules to meet requirements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reconciliation effort</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5718" name="Google Shape;5718;p321"/>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Single-sourcing of financial data for GL and operational systems are maintained in a single repository</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End-to-end transparency and lineage for financial data</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Seamless drill-down from summary level financial statements to transaction-level detail</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reconciliation efforts, freeing up time and resources for value-generating activities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Single source of truth for reporting. Transaction-level drill-down from GL to customer transactions</a:t>
            </a:r>
            <a:endParaRPr/>
          </a:p>
        </p:txBody>
      </p:sp>
      <p:sp>
        <p:nvSpPr>
          <p:cNvPr id="5719" name="Google Shape;5719;p321"/>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Accounting transactions are created from the operational transactions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lineage is established between operational data and accounting data at the transaction level</a:t>
            </a:r>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720" name="Google Shape;5720;p321"/>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Analysis of current accounting  processes and systems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Load, integrate and validate required data</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Build or implement an accounting engine</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Reference Data Management</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spcBef>
                <a:spcPts val="300"/>
              </a:spcBef>
              <a:spcAft>
                <a:spcPts val="0"/>
              </a:spcAft>
              <a:buNone/>
            </a:pPr>
            <a:r>
              <a:t/>
            </a:r>
            <a:endParaRPr sz="800">
              <a:solidFill>
                <a:srgbClr val="3C3C3B"/>
              </a:solidFill>
              <a:latin typeface="Century Gothic"/>
              <a:ea typeface="Century Gothic"/>
              <a:cs typeface="Century Gothic"/>
              <a:sym typeface="Century Gothic"/>
            </a:endParaRPr>
          </a:p>
        </p:txBody>
      </p:sp>
      <p:sp>
        <p:nvSpPr>
          <p:cNvPr id="5721" name="Google Shape;5721;p321"/>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Preparation</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Reconciliations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Lineage</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Volume and Scale</a:t>
            </a:r>
            <a:endParaRPr/>
          </a:p>
        </p:txBody>
      </p:sp>
      <p:sp>
        <p:nvSpPr>
          <p:cNvPr id="5722" name="Google Shape;5722;p321"/>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Non ERP Operational system  transactional data</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Reference Data</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Core banking data from all systems, Islamic sub-system, cards, trade finance, treasury system</a:t>
            </a:r>
            <a:endParaRPr/>
          </a:p>
        </p:txBody>
      </p:sp>
      <p:sp>
        <p:nvSpPr>
          <p:cNvPr id="5723" name="Google Shape;5723;p321"/>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Organizations relying on legacy accounting processes, not supported by ERP sub ledgers, do not have access to supporting detailed level data. This results in:</a:t>
            </a:r>
            <a:endParaRPr/>
          </a:p>
          <a:p>
            <a:pPr indent="-107950" lvl="1" marL="346075" marR="0" rtl="0" algn="l">
              <a:spcBef>
                <a:spcPts val="300"/>
              </a:spcBef>
              <a:spcAft>
                <a:spcPts val="0"/>
              </a:spcAft>
              <a:buClr>
                <a:srgbClr val="3C3C3B"/>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High cost and inflexible accounting processes</a:t>
            </a:r>
            <a:endParaRPr/>
          </a:p>
          <a:p>
            <a:pPr indent="-107950" lvl="1" marL="346075" marR="0" rtl="0" algn="l">
              <a:spcBef>
                <a:spcPts val="300"/>
              </a:spcBef>
              <a:spcAft>
                <a:spcPts val="0"/>
              </a:spcAft>
              <a:buClr>
                <a:srgbClr val="3C3C3B"/>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Difficulty in making necessary changes as new accounting standards are introduced</a:t>
            </a:r>
            <a:endParaRPr/>
          </a:p>
          <a:p>
            <a:pPr indent="-107950" lvl="1" marL="346075" marR="0" rtl="0" algn="l">
              <a:spcBef>
                <a:spcPts val="300"/>
              </a:spcBef>
              <a:spcAft>
                <a:spcPts val="0"/>
              </a:spcAft>
              <a:buClr>
                <a:srgbClr val="3C3C3B"/>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Lack of drill-down from summary level financial statements to granular account and transaction-level data</a:t>
            </a:r>
            <a:endParaRPr b="0" i="0" sz="950" u="none" cap="none" strike="noStrike">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Centralized hub for sub-ledger entries from 4-5 core banking systems with consistent CoA mapping</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Dual IFRS + AAOIFI accounting for Islamic transactions from single operational transaction</a:t>
            </a:r>
            <a:endParaRPr/>
          </a:p>
        </p:txBody>
      </p:sp>
      <p:sp>
        <p:nvSpPr>
          <p:cNvPr id="5724" name="Google Shape;5724;p321"/>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5725" name="Google Shape;5725;p321"/>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5726" name="Google Shape;5726;p321"/>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Accounting Hub / Sub Ledger</a:t>
            </a:r>
            <a:endParaRPr/>
          </a:p>
        </p:txBody>
      </p:sp>
      <p:sp>
        <p:nvSpPr>
          <p:cNvPr id="5727" name="Google Shape;5727;p321">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Accounting Operations &amp;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2" name="Shape 5732"/>
        <p:cNvGrpSpPr/>
        <p:nvPr/>
      </p:nvGrpSpPr>
      <p:grpSpPr>
        <a:xfrm>
          <a:off x="0" y="0"/>
          <a:ext cx="0" cy="0"/>
          <a:chOff x="0" y="0"/>
          <a:chExt cx="0" cy="0"/>
        </a:xfrm>
      </p:grpSpPr>
      <p:cxnSp>
        <p:nvCxnSpPr>
          <p:cNvPr id="5733" name="Google Shape;5733;p322"/>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734" name="Google Shape;5734;p322"/>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735" name="Google Shape;5735;p322"/>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5737" name="Google Shape;5737;p322"/>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More effective decisions (including pricing) on acquisitions and sales of intangible assets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More effective management of internal intangible assets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adaptability to evolving valuation factors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Exploitation of recognition of undervalued intangible assets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5738" name="Google Shape;5738;p322"/>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The ability to develop accurate valuations of intangible assets to support effective asset management activities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Support for mergers, acquisitions and transfer pricing models involving material intangible asset components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Defensible, fact-based  valuation methods</a:t>
            </a:r>
            <a:endParaRPr sz="800">
              <a:solidFill>
                <a:srgbClr val="3C3C3B"/>
              </a:solidFill>
              <a:latin typeface="Century Gothic"/>
              <a:ea typeface="Century Gothic"/>
              <a:cs typeface="Century Gothic"/>
              <a:sym typeface="Century Gothic"/>
            </a:endParaRPr>
          </a:p>
        </p:txBody>
      </p:sp>
      <p:sp>
        <p:nvSpPr>
          <p:cNvPr id="5739" name="Google Shape;5739;p322"/>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Inclusion of all external and internal , subjective and objective factors that affect intangible asset valuation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Sophisticated modeling capabilities to leverage  historical  intangible asset pricing patterns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 single repository for  conducting discovery and analysis on valuations and factors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740" name="Google Shape;5740;p322"/>
          <p:cNvSpPr/>
          <p:nvPr/>
        </p:nvSpPr>
        <p:spPr>
          <a:xfrm>
            <a:off x="3271845" y="2325695"/>
            <a:ext cx="2714400" cy="1074733"/>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chemeClr val="dk1"/>
                </a:solidFill>
                <a:latin typeface="Century Gothic"/>
                <a:ea typeface="Century Gothic"/>
                <a:cs typeface="Century Gothic"/>
                <a:sym typeface="Century Gothic"/>
              </a:rPr>
              <a:t>Text analytics</a:t>
            </a:r>
            <a:endParaRPr/>
          </a:p>
          <a:p>
            <a:pPr indent="-108000" lvl="0" marL="108000" marR="0" rtl="0" algn="l">
              <a:spcBef>
                <a:spcPts val="300"/>
              </a:spcBef>
              <a:spcAft>
                <a:spcPts val="0"/>
              </a:spcAft>
              <a:buClr>
                <a:srgbClr val="3C3C3B"/>
              </a:buClr>
              <a:buSzPts val="800"/>
              <a:buFont typeface="Arial"/>
              <a:buChar char="•"/>
            </a:pPr>
            <a:r>
              <a:rPr lang="en-GB" sz="800">
                <a:solidFill>
                  <a:schemeClr val="dk1"/>
                </a:solidFill>
                <a:latin typeface="Century Gothic"/>
                <a:ea typeface="Century Gothic"/>
                <a:cs typeface="Century Gothic"/>
                <a:sym typeface="Century Gothic"/>
              </a:rPr>
              <a:t>Web crawling to gather relevant data such as industry analyst reports, social networks, macro economics data, product reviews etc..</a:t>
            </a:r>
            <a:endParaRPr/>
          </a:p>
          <a:p>
            <a:pPr indent="-108000" lvl="0" marL="108000" marR="0" rtl="0" algn="l">
              <a:spcBef>
                <a:spcPts val="300"/>
              </a:spcBef>
              <a:spcAft>
                <a:spcPts val="0"/>
              </a:spcAft>
              <a:buClr>
                <a:srgbClr val="3C3C3B"/>
              </a:buClr>
              <a:buSzPts val="800"/>
              <a:buFont typeface="Arial"/>
              <a:buChar char="•"/>
            </a:pPr>
            <a:r>
              <a:rPr lang="en-GB" sz="800">
                <a:solidFill>
                  <a:schemeClr val="dk1"/>
                </a:solidFill>
                <a:latin typeface="Century Gothic"/>
                <a:ea typeface="Century Gothic"/>
                <a:cs typeface="Century Gothic"/>
                <a:sym typeface="Century Gothic"/>
              </a:rPr>
              <a:t>Linear/Regression analysis for projections based on historical trends</a:t>
            </a:r>
            <a:endParaRPr/>
          </a:p>
        </p:txBody>
      </p:sp>
      <p:sp>
        <p:nvSpPr>
          <p:cNvPr id="5741" name="Google Shape;5741;p322"/>
          <p:cNvSpPr/>
          <p:nvPr/>
        </p:nvSpPr>
        <p:spPr>
          <a:xfrm>
            <a:off x="420685" y="3557896"/>
            <a:ext cx="2714400" cy="1014119"/>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Capture of relevant data from external sources and unstructured formats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Facilitating the collaboration among multiple contributors to understanding the internal and external  valuation  factors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Limited M&amp;A valuation expertise in Pakistan banking, IFRS 3 compliance for business combinations</a:t>
            </a:r>
            <a:endParaRPr/>
          </a:p>
        </p:txBody>
      </p:sp>
      <p:sp>
        <p:nvSpPr>
          <p:cNvPr id="5742" name="Google Shape;5742;p322"/>
          <p:cNvSpPr/>
          <p:nvPr/>
        </p:nvSpPr>
        <p:spPr>
          <a:xfrm>
            <a:off x="420685" y="2338380"/>
            <a:ext cx="2714400" cy="1176346"/>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Enterprise financial data &amp; statements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External financial data, mergers, acquisitions, asset sales, IPO valuations, etc. </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Unstructured data from web-sites, unformatted reports, filings, etc.</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Industry analyst reports, data/trends, Assays, Product  reviews, IPOs, economic forecasts</a:t>
            </a:r>
            <a:endParaRPr sz="800">
              <a:solidFill>
                <a:schemeClr val="dk1"/>
              </a:solidFill>
              <a:latin typeface="Century Gothic"/>
              <a:ea typeface="Century Gothic"/>
              <a:cs typeface="Century Gothic"/>
              <a:sym typeface="Century Gothic"/>
            </a:endParaRPr>
          </a:p>
        </p:txBody>
      </p:sp>
      <p:sp>
        <p:nvSpPr>
          <p:cNvPr id="5743" name="Google Shape;5743;p322"/>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Improve the ability to value (i.e. calculate the difference between market value and accounting book value) intangible assets such as patents, copyrights, brand names, leading business models, customer databases, analytic capabilities</a:t>
            </a:r>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Value banking intangibles: core system licenses, customer relationships for M&amp;A, goodwill from acquisitions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SBP minimum capital driving consolidation - more M&amp;A expected requiring IFRS 3 valuation</a:t>
            </a:r>
            <a:endParaRPr/>
          </a:p>
        </p:txBody>
      </p:sp>
      <p:sp>
        <p:nvSpPr>
          <p:cNvPr id="5744" name="Google Shape;5744;p322"/>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5745" name="Google Shape;5745;p322"/>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5746" name="Google Shape;5746;p322"/>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Valuation of Intangible Assets</a:t>
            </a:r>
            <a:endParaRPr sz="2400"/>
          </a:p>
        </p:txBody>
      </p:sp>
      <p:sp>
        <p:nvSpPr>
          <p:cNvPr id="5747" name="Google Shape;5747;p322">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Accounting Operations &amp;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2" name="Shape 5752"/>
        <p:cNvGrpSpPr/>
        <p:nvPr/>
      </p:nvGrpSpPr>
      <p:grpSpPr>
        <a:xfrm>
          <a:off x="0" y="0"/>
          <a:ext cx="0" cy="0"/>
          <a:chOff x="0" y="0"/>
          <a:chExt cx="0" cy="0"/>
        </a:xfrm>
      </p:grpSpPr>
      <p:cxnSp>
        <p:nvCxnSpPr>
          <p:cNvPr id="5753" name="Google Shape;5753;p323"/>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754" name="Google Shape;5754;p323"/>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755" name="Google Shape;5755;p323"/>
          <p:cNvCxnSpPr/>
          <p:nvPr/>
        </p:nvCxnSpPr>
        <p:spPr>
          <a:xfrm>
            <a:off x="4576599" y="791546"/>
            <a:ext cx="0" cy="1501152"/>
          </a:xfrm>
          <a:prstGeom prst="straightConnector1">
            <a:avLst/>
          </a:prstGeom>
          <a:noFill/>
          <a:ln cap="flat" cmpd="sng" w="12700">
            <a:solidFill>
              <a:schemeClr val="lt2"/>
            </a:solidFill>
            <a:prstDash val="solid"/>
            <a:round/>
            <a:headEnd len="sm" w="sm" type="none"/>
            <a:tailEnd len="sm" w="sm" type="none"/>
          </a:ln>
        </p:spPr>
      </p:cxnSp>
      <p:sp>
        <p:nvSpPr>
          <p:cNvPr id="5757" name="Google Shape;5757;p323"/>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utilization of under utilized assets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Cash Flow</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Profitability</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Clear asset identification and tracking</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5758" name="Google Shape;5758;p323"/>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analyse return on fixed assets based on profitability and utilization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Achieve a holistic view of owner, manager and location of each asset</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Branch rationalization recommendations, ATM relocation for low-usage, IT asset lifecycle management</a:t>
            </a:r>
            <a:endParaRPr/>
          </a:p>
        </p:txBody>
      </p:sp>
      <p:sp>
        <p:nvSpPr>
          <p:cNvPr id="5759" name="Google Shape;5759;p323"/>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Clear understanding of improved asset utlization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analyse return on fixed assets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760" name="Google Shape;5760;p323"/>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Load, integrate and validate required data</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Reference Data Management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Process optimisation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Multivariate analytics (e.g., cluster and n-path)</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5761" name="Google Shape;5761;p323"/>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Assets are not properly tracked</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Lack the ability to tie assets to product production</a:t>
            </a:r>
            <a:endParaRPr/>
          </a:p>
        </p:txBody>
      </p:sp>
      <p:sp>
        <p:nvSpPr>
          <p:cNvPr id="5762" name="Google Shape;5762;p323"/>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Detailed asset records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Detailed financial transactions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Fixed asset master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Reference data</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Branch property register, ATM uptime/transaction data, IT asset register</a:t>
            </a:r>
            <a:endParaRPr/>
          </a:p>
        </p:txBody>
      </p:sp>
      <p:sp>
        <p:nvSpPr>
          <p:cNvPr id="5763" name="Google Shape;5763;p323"/>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Equipment is under utilized and companies often lack the ability to identify the location and/or condition of these assets</a:t>
            </a:r>
            <a:endParaRPr/>
          </a:p>
          <a:p>
            <a:pPr indent="-108000" lvl="1" marL="565200" marR="0" rtl="0" algn="l">
              <a:spcBef>
                <a:spcPts val="300"/>
              </a:spcBef>
              <a:spcAft>
                <a:spcPts val="0"/>
              </a:spcAft>
              <a:buClr>
                <a:srgbClr val="3C3C3B"/>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How is asset being used: when, where, how long</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Increased visibility in asset master data to optimize cash flow and profitability</a:t>
            </a:r>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Optimize PKR 500B+ fixed assets: 16,000+ branches, 16,000+ ATMs, IT infrastructure, vehicle fleets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Branch cost-per-square-foot vs. revenue generation analysis</a:t>
            </a:r>
            <a:endParaRPr/>
          </a:p>
        </p:txBody>
      </p:sp>
      <p:sp>
        <p:nvSpPr>
          <p:cNvPr id="5764" name="Google Shape;5764;p323"/>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5765" name="Google Shape;5765;p323"/>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5766" name="Google Shape;5766;p323"/>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Fixed Asset Utilization Optimization</a:t>
            </a:r>
            <a:endParaRPr sz="2400"/>
          </a:p>
        </p:txBody>
      </p:sp>
      <p:sp>
        <p:nvSpPr>
          <p:cNvPr id="5767" name="Google Shape;5767;p323">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Accounting Operations &amp;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2" name="Shape 5772"/>
        <p:cNvGrpSpPr/>
        <p:nvPr/>
      </p:nvGrpSpPr>
      <p:grpSpPr>
        <a:xfrm>
          <a:off x="0" y="0"/>
          <a:ext cx="0" cy="0"/>
          <a:chOff x="0" y="0"/>
          <a:chExt cx="0" cy="0"/>
        </a:xfrm>
      </p:grpSpPr>
      <p:cxnSp>
        <p:nvCxnSpPr>
          <p:cNvPr id="5773" name="Google Shape;5773;p324"/>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774" name="Google Shape;5774;p324"/>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775" name="Google Shape;5775;p324"/>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5777" name="Google Shape;5777;p324"/>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 borrowing base on the same level of assets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 borrowing costs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Provide greater visibility of asset base</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lender confidence</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pricing of each tranche</a:t>
            </a:r>
            <a:endParaRPr/>
          </a:p>
        </p:txBody>
      </p:sp>
      <p:sp>
        <p:nvSpPr>
          <p:cNvPr id="5778" name="Google Shape;5778;p324"/>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The asset composition within each financing tranche is optimized across these dimensions: </a:t>
            </a:r>
            <a:endParaRPr/>
          </a:p>
          <a:p>
            <a:pPr indent="0" lvl="0" marL="114300" marR="0" rtl="0" algn="l">
              <a:spcBef>
                <a:spcPts val="300"/>
              </a:spcBef>
              <a:spcAft>
                <a:spcPts val="0"/>
              </a:spcAft>
              <a:buNone/>
            </a:pPr>
            <a:r>
              <a:rPr lang="en-GB" sz="800">
                <a:solidFill>
                  <a:srgbClr val="3C3C3B"/>
                </a:solidFill>
                <a:latin typeface="Century Gothic"/>
                <a:ea typeface="Century Gothic"/>
                <a:cs typeface="Century Gothic"/>
                <a:sym typeface="Century Gothic"/>
              </a:rPr>
              <a:t>1) the value of assets within each tranche are maximized; and </a:t>
            </a:r>
            <a:endParaRPr/>
          </a:p>
          <a:p>
            <a:pPr indent="0" lvl="0" marL="114300" marR="0" rtl="0" algn="l">
              <a:spcBef>
                <a:spcPts val="300"/>
              </a:spcBef>
              <a:spcAft>
                <a:spcPts val="0"/>
              </a:spcAft>
              <a:buNone/>
            </a:pPr>
            <a:r>
              <a:rPr lang="en-GB" sz="800">
                <a:solidFill>
                  <a:srgbClr val="3C3C3B"/>
                </a:solidFill>
                <a:latin typeface="Century Gothic"/>
                <a:ea typeface="Century Gothic"/>
                <a:cs typeface="Century Gothic"/>
                <a:sym typeface="Century Gothic"/>
              </a:rPr>
              <a:t>2) each tranche meets the lender’s diversification requirements</a:t>
            </a:r>
            <a:endParaRPr/>
          </a:p>
        </p:txBody>
      </p:sp>
      <p:sp>
        <p:nvSpPr>
          <p:cNvPr id="5779" name="Google Shape;5779;p324"/>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Model effectiveness and repeatability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optimize the value of the ABS financing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Ensure underlying assets within the offering are sufficiently diversified and comply with loan covenants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780" name="Google Shape;5780;p324"/>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Linear programming to optimise assets mix within each tranche</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Text Analytics  to  support validation of contract terms</a:t>
            </a:r>
            <a:endParaRPr/>
          </a:p>
        </p:txBody>
      </p:sp>
      <p:sp>
        <p:nvSpPr>
          <p:cNvPr id="5781" name="Google Shape;5781;p324"/>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Business complexity-structured and unstructured</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timing</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integration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volumes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Limited secondary market depth, legal framework developing, investor base concentrated in banks/insurance</a:t>
            </a:r>
            <a:endParaRPr/>
          </a:p>
        </p:txBody>
      </p:sp>
      <p:sp>
        <p:nvSpPr>
          <p:cNvPr id="5782" name="Google Shape;5782;p324"/>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Asset valuations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Concentration Limit rules (e.g., how much of which asset type can be in each tranche)</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Detailed asset record</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Mark-to-Market data</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p:txBody>
      </p:sp>
      <p:sp>
        <p:nvSpPr>
          <p:cNvPr id="5783" name="Google Shape;5783;p324"/>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Use Asset Backed Securitization (ABS) to reduce borrowing costs (e.g., leasing companies securitize lease payments)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Ensure the underlying assets supporting each financing tranche are sufficiently diversified to reduce risk</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Leverage analytics to optimize the value of their ABS financing while ensuring each financing tranche meets diversification requirements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Rapidly identify any impaired asset for potential replacement</a:t>
            </a:r>
            <a:endParaRPr/>
          </a:p>
          <a:p>
            <a:pPr indent="0" lvl="0" marL="0" marR="0" rtl="0" algn="l">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Pakistan securitization market nascent but growing. Islamic Sukuk more developed than conventional ABS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Key assets: auto loans, home finance, credit cards, SME lending, remittance flows</a:t>
            </a:r>
            <a:endParaRPr/>
          </a:p>
        </p:txBody>
      </p:sp>
      <p:sp>
        <p:nvSpPr>
          <p:cNvPr id="5784" name="Google Shape;5784;p324"/>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5785" name="Google Shape;5785;p324"/>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5786" name="Google Shape;5786;p324"/>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Asset Backed Securitization (ABS) </a:t>
            </a:r>
            <a:endParaRPr sz="2400"/>
          </a:p>
        </p:txBody>
      </p:sp>
      <p:sp>
        <p:nvSpPr>
          <p:cNvPr id="5787" name="Google Shape;5787;p324">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Accounting Operations &amp;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2" name="Shape 5792"/>
        <p:cNvGrpSpPr/>
        <p:nvPr/>
      </p:nvGrpSpPr>
      <p:grpSpPr>
        <a:xfrm>
          <a:off x="0" y="0"/>
          <a:ext cx="0" cy="0"/>
          <a:chOff x="0" y="0"/>
          <a:chExt cx="0" cy="0"/>
        </a:xfrm>
      </p:grpSpPr>
      <p:cxnSp>
        <p:nvCxnSpPr>
          <p:cNvPr id="5793" name="Google Shape;5793;p325"/>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794" name="Google Shape;5794;p325"/>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795" name="Google Shape;5795;p325"/>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5797" name="Google Shape;5797;p325"/>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Timely, reliable and trusted information</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reconciliation effort.</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Faster Close Process.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Cost reduction / more time devoted to value-added analysis rather than data crunching</a:t>
            </a:r>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5798" name="Google Shape;5798;p325"/>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Improved visibility of reconciliation process and clearly defined reconciliation rules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Centralised and automated reconciliation process which is auditable and traceable back to source.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Reduce reconciliation time by 70%, auto-detect breaks, workflow for resolution, full audit trail</a:t>
            </a:r>
            <a:endParaRPr/>
          </a:p>
        </p:txBody>
      </p:sp>
      <p:sp>
        <p:nvSpPr>
          <p:cNvPr id="5799" name="Google Shape;5799;p325"/>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Reconciliation rules and process are clearly defined.</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Manual reconciliation processes have been automated</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800" name="Google Shape;5800;p325"/>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Process optimisation analysis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Automation of manual reconciliation processes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Option for reconciliation engine running in-database on the Data Warehouse</a:t>
            </a:r>
            <a:endParaRPr sz="800">
              <a:solidFill>
                <a:srgbClr val="3C3C3B"/>
              </a:solidFill>
              <a:latin typeface="Century Gothic"/>
              <a:ea typeface="Century Gothic"/>
              <a:cs typeface="Century Gothic"/>
              <a:sym typeface="Century Gothic"/>
            </a:endParaRPr>
          </a:p>
        </p:txBody>
      </p:sp>
      <p:sp>
        <p:nvSpPr>
          <p:cNvPr id="5801" name="Google Shape;5801;p325"/>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 timeliness, latency, quality</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Multiple charts of accounts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Multiple data sources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Reliance on spreadsheets and manual entries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Lack of clear data lineage</a:t>
            </a:r>
            <a:endParaRPr/>
          </a:p>
        </p:txBody>
      </p:sp>
      <p:sp>
        <p:nvSpPr>
          <p:cNvPr id="5802" name="Google Shape;5802;p325"/>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General Ledger and Sub Ledger information </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Operational system transactional data</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GL from multiple core systems, RAAST/1Link/NIFT/Visa/MC settlements, SBP clearing, nostro/vostro</a:t>
            </a:r>
            <a:endParaRPr/>
          </a:p>
        </p:txBody>
      </p:sp>
      <p:sp>
        <p:nvSpPr>
          <p:cNvPr id="5803" name="Google Shape;5803;p325"/>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Improve efficiency of reconciliation processes by reducing manual intervention</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Inconsistencies are usually caused by:</a:t>
            </a:r>
            <a:endParaRPr/>
          </a:p>
          <a:p>
            <a:pPr indent="-171450" lvl="0" marL="363538" marR="0" rtl="0" algn="l">
              <a:spcBef>
                <a:spcPts val="300"/>
              </a:spcBef>
              <a:spcAft>
                <a:spcPts val="0"/>
              </a:spcAft>
              <a:buClr>
                <a:srgbClr val="3C3C3B"/>
              </a:buClr>
              <a:buSzPts val="900"/>
              <a:buFont typeface="Century Gothic"/>
              <a:buChar char="−"/>
            </a:pPr>
            <a:r>
              <a:rPr lang="en-GB" sz="900">
                <a:solidFill>
                  <a:schemeClr val="dk1"/>
                </a:solidFill>
                <a:latin typeface="Century Gothic"/>
                <a:ea typeface="Century Gothic"/>
                <a:cs typeface="Century Gothic"/>
                <a:sym typeface="Century Gothic"/>
              </a:rPr>
              <a:t>Disparate processes and data</a:t>
            </a:r>
            <a:endParaRPr/>
          </a:p>
          <a:p>
            <a:pPr indent="-171450" lvl="0" marL="363538" marR="0" rtl="0" algn="l">
              <a:spcBef>
                <a:spcPts val="300"/>
              </a:spcBef>
              <a:spcAft>
                <a:spcPts val="0"/>
              </a:spcAft>
              <a:buClr>
                <a:srgbClr val="3C3C3B"/>
              </a:buClr>
              <a:buSzPts val="900"/>
              <a:buFont typeface="Century Gothic"/>
              <a:buChar char="−"/>
            </a:pPr>
            <a:r>
              <a:rPr lang="en-GB" sz="900">
                <a:solidFill>
                  <a:schemeClr val="dk1"/>
                </a:solidFill>
                <a:latin typeface="Century Gothic"/>
                <a:ea typeface="Century Gothic"/>
                <a:cs typeface="Century Gothic"/>
                <a:sym typeface="Century Gothic"/>
              </a:rPr>
              <a:t>Excessive data movement</a:t>
            </a:r>
            <a:endParaRPr/>
          </a:p>
          <a:p>
            <a:pPr indent="-171450" lvl="0" marL="363538" marR="0" rtl="0" algn="l">
              <a:spcBef>
                <a:spcPts val="300"/>
              </a:spcBef>
              <a:spcAft>
                <a:spcPts val="0"/>
              </a:spcAft>
              <a:buClr>
                <a:srgbClr val="3C3C3B"/>
              </a:buClr>
              <a:buSzPts val="900"/>
              <a:buFont typeface="Century Gothic"/>
              <a:buChar char="−"/>
            </a:pPr>
            <a:r>
              <a:rPr lang="en-GB" sz="900">
                <a:solidFill>
                  <a:schemeClr val="dk1"/>
                </a:solidFill>
                <a:latin typeface="Century Gothic"/>
                <a:ea typeface="Century Gothic"/>
                <a:cs typeface="Century Gothic"/>
                <a:sym typeface="Century Gothic"/>
              </a:rPr>
              <a:t>Data latency and timing</a:t>
            </a:r>
            <a:endParaRPr/>
          </a:p>
          <a:p>
            <a:pPr indent="-171450" lvl="0" marL="363538" marR="0" rtl="0" algn="l">
              <a:spcBef>
                <a:spcPts val="300"/>
              </a:spcBef>
              <a:spcAft>
                <a:spcPts val="0"/>
              </a:spcAft>
              <a:buClr>
                <a:srgbClr val="3C3C3B"/>
              </a:buClr>
              <a:buSzPts val="900"/>
              <a:buFont typeface="Century Gothic"/>
              <a:buChar char="−"/>
            </a:pPr>
            <a:r>
              <a:rPr lang="en-GB" sz="900">
                <a:solidFill>
                  <a:schemeClr val="dk1"/>
                </a:solidFill>
                <a:latin typeface="Century Gothic"/>
                <a:ea typeface="Century Gothic"/>
                <a:cs typeface="Century Gothic"/>
                <a:sym typeface="Century Gothic"/>
              </a:rPr>
              <a:t>Excessive human intervention</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Automate GL-to-sub-ledger reconciliation across 4-5 core systems. Currently 40-50% finance team time consumed</a:t>
            </a:r>
            <a:endParaRPr/>
          </a:p>
        </p:txBody>
      </p:sp>
      <p:sp>
        <p:nvSpPr>
          <p:cNvPr id="5804" name="Google Shape;5804;p325"/>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5805" name="Google Shape;5805;p325"/>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5806" name="Google Shape;5806;p325"/>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Reconciliation Process</a:t>
            </a:r>
            <a:endParaRPr sz="2400"/>
          </a:p>
        </p:txBody>
      </p:sp>
      <p:sp>
        <p:nvSpPr>
          <p:cNvPr id="5807" name="Google Shape;5807;p325">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Accounting Operations &amp;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2" name="Shape 5812"/>
        <p:cNvGrpSpPr/>
        <p:nvPr/>
      </p:nvGrpSpPr>
      <p:grpSpPr>
        <a:xfrm>
          <a:off x="0" y="0"/>
          <a:ext cx="0" cy="0"/>
          <a:chOff x="0" y="0"/>
          <a:chExt cx="0" cy="0"/>
        </a:xfrm>
      </p:grpSpPr>
      <p:cxnSp>
        <p:nvCxnSpPr>
          <p:cNvPr id="5813" name="Google Shape;5813;p326"/>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814" name="Google Shape;5814;p326"/>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815" name="Google Shape;5815;p326"/>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5817" name="Google Shape;5817;p326"/>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Acceleration of the consolidation process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ability to demonstrate compliance with relevant accounting standards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More accurate financial information</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risk of restatements</a:t>
            </a:r>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5818" name="Google Shape;5818;p326"/>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Automated consolidation processes which are more efficient and easier to maintain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End-to-end transparency and lineage for financial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Seamless drill-down from consolidated financial statements to individual sets of books and sub-ledgers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Performance and scalability to perform calculations  and mappings, with all detail retained in the data warehouse.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Consolidation cycle from 20+ days to &lt;5 days, automated elimination, drill-down from group to transaction</a:t>
            </a:r>
            <a:endParaRPr/>
          </a:p>
        </p:txBody>
      </p:sp>
      <p:sp>
        <p:nvSpPr>
          <p:cNvPr id="5819" name="Google Shape;5819;p326"/>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Automated production of Group Balance Sheet and P&amp;L with consolidating and eliminating entries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drill-down to individual legal entities</a:t>
            </a:r>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820" name="Google Shape;5820;p326"/>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Source, align and validate required GL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Consolidation engine solution running in-database on the data warehouse.</a:t>
            </a:r>
            <a:endParaRPr/>
          </a:p>
          <a:p>
            <a:pPr indent="-171450" lvl="0" marL="361950" marR="0" rtl="0" algn="l">
              <a:spcBef>
                <a:spcPts val="300"/>
              </a:spcBef>
              <a:spcAft>
                <a:spcPts val="0"/>
              </a:spcAft>
              <a:buClr>
                <a:srgbClr val="3C3C3B"/>
              </a:buClr>
              <a:buSzPts val="800"/>
              <a:buFont typeface="Century Gothic"/>
              <a:buChar char="−"/>
            </a:pPr>
            <a:r>
              <a:rPr lang="en-GB" sz="800">
                <a:solidFill>
                  <a:srgbClr val="3C3C3B"/>
                </a:solidFill>
                <a:latin typeface="Century Gothic"/>
                <a:ea typeface="Century Gothic"/>
                <a:cs typeface="Century Gothic"/>
                <a:sym typeface="Century Gothic"/>
              </a:rPr>
              <a:t>Automation of inter-company transaction identification</a:t>
            </a:r>
            <a:endParaRPr/>
          </a:p>
          <a:p>
            <a:pPr indent="-171450" lvl="0" marL="361950" marR="0" rtl="0" algn="l">
              <a:spcBef>
                <a:spcPts val="300"/>
              </a:spcBef>
              <a:spcAft>
                <a:spcPts val="0"/>
              </a:spcAft>
              <a:buClr>
                <a:srgbClr val="3C3C3B"/>
              </a:buClr>
              <a:buSzPts val="800"/>
              <a:buFont typeface="Century Gothic"/>
              <a:buChar char="−"/>
            </a:pPr>
            <a:r>
              <a:rPr lang="en-GB" sz="800">
                <a:solidFill>
                  <a:srgbClr val="3C3C3B"/>
                </a:solidFill>
                <a:latin typeface="Century Gothic"/>
                <a:ea typeface="Century Gothic"/>
                <a:cs typeface="Century Gothic"/>
                <a:sym typeface="Century Gothic"/>
              </a:rPr>
              <a:t>Track inter-period movements of account balances</a:t>
            </a:r>
            <a:endParaRPr/>
          </a:p>
          <a:p>
            <a:pPr indent="-120650" lvl="0" marL="361950" marR="0" rtl="0" algn="l">
              <a:spcBef>
                <a:spcPts val="300"/>
              </a:spcBef>
              <a:spcAft>
                <a:spcPts val="0"/>
              </a:spcAft>
              <a:buClr>
                <a:srgbClr val="3C3C3B"/>
              </a:buClr>
              <a:buSzPts val="800"/>
              <a:buFont typeface="Century Gothic"/>
              <a:buNone/>
            </a:pPr>
            <a:r>
              <a:t/>
            </a:r>
            <a:endParaRPr sz="800">
              <a:solidFill>
                <a:srgbClr val="3C3C3B"/>
              </a:solidFill>
              <a:latin typeface="Century Gothic"/>
              <a:ea typeface="Century Gothic"/>
              <a:cs typeface="Century Gothic"/>
              <a:sym typeface="Century Gothic"/>
            </a:endParaRPr>
          </a:p>
        </p:txBody>
      </p:sp>
      <p:sp>
        <p:nvSpPr>
          <p:cNvPr id="5821" name="Google Shape;5821;p326"/>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 / accessibility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alignment e.g.</a:t>
            </a:r>
            <a:endParaRPr/>
          </a:p>
          <a:p>
            <a:pPr indent="-171450" lvl="0" marL="363538" marR="0" rtl="0" algn="l">
              <a:spcBef>
                <a:spcPts val="300"/>
              </a:spcBef>
              <a:spcAft>
                <a:spcPts val="0"/>
              </a:spcAft>
              <a:buClr>
                <a:srgbClr val="3C3C3B"/>
              </a:buClr>
              <a:buSzPts val="800"/>
              <a:buFont typeface="Century Gothic"/>
              <a:buChar char="−"/>
            </a:pPr>
            <a:r>
              <a:rPr lang="en-GB" sz="800">
                <a:solidFill>
                  <a:srgbClr val="3C3C3B"/>
                </a:solidFill>
                <a:latin typeface="Century Gothic"/>
                <a:ea typeface="Century Gothic"/>
                <a:cs typeface="Century Gothic"/>
                <a:sym typeface="Century Gothic"/>
              </a:rPr>
              <a:t>Multiple GAAPs</a:t>
            </a:r>
            <a:endParaRPr/>
          </a:p>
          <a:p>
            <a:pPr indent="-171450" lvl="0" marL="363538" marR="0" rtl="0" algn="l">
              <a:spcBef>
                <a:spcPts val="300"/>
              </a:spcBef>
              <a:spcAft>
                <a:spcPts val="0"/>
              </a:spcAft>
              <a:buClr>
                <a:srgbClr val="3C3C3B"/>
              </a:buClr>
              <a:buSzPts val="800"/>
              <a:buFont typeface="Century Gothic"/>
              <a:buChar char="−"/>
            </a:pPr>
            <a:r>
              <a:rPr lang="en-GB" sz="800">
                <a:solidFill>
                  <a:srgbClr val="3C3C3B"/>
                </a:solidFill>
                <a:latin typeface="Century Gothic"/>
                <a:ea typeface="Century Gothic"/>
                <a:cs typeface="Century Gothic"/>
                <a:sym typeface="Century Gothic"/>
              </a:rPr>
              <a:t>Disparate CoA</a:t>
            </a:r>
            <a:endParaRPr/>
          </a:p>
          <a:p>
            <a:pPr indent="-171450" lvl="0" marL="363538" marR="0" rtl="0" algn="l">
              <a:spcBef>
                <a:spcPts val="300"/>
              </a:spcBef>
              <a:spcAft>
                <a:spcPts val="0"/>
              </a:spcAft>
              <a:buClr>
                <a:srgbClr val="3C3C3B"/>
              </a:buClr>
              <a:buSzPts val="800"/>
              <a:buFont typeface="Century Gothic"/>
              <a:buChar char="−"/>
            </a:pPr>
            <a:r>
              <a:rPr lang="en-GB" sz="800">
                <a:solidFill>
                  <a:srgbClr val="3C3C3B"/>
                </a:solidFill>
                <a:latin typeface="Century Gothic"/>
                <a:ea typeface="Century Gothic"/>
                <a:cs typeface="Century Gothic"/>
                <a:sym typeface="Century Gothic"/>
              </a:rPr>
              <a:t>Multiple currencies</a:t>
            </a:r>
            <a:endParaRPr sz="800">
              <a:solidFill>
                <a:srgbClr val="3C3C3B"/>
              </a:solidFill>
              <a:latin typeface="Century Gothic"/>
              <a:ea typeface="Century Gothic"/>
              <a:cs typeface="Century Gothic"/>
              <a:sym typeface="Century Gothic"/>
            </a:endParaRPr>
          </a:p>
        </p:txBody>
      </p:sp>
      <p:sp>
        <p:nvSpPr>
          <p:cNvPr id="5822" name="Google Shape;5822;p326"/>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General Ledger and Sub Ledger information for all legal entities</a:t>
            </a:r>
            <a:endParaRPr sz="800">
              <a:solidFill>
                <a:schemeClr val="dk1"/>
              </a:solidFill>
              <a:latin typeface="Century Gothic"/>
              <a:ea typeface="Century Gothic"/>
              <a:cs typeface="Century Gothic"/>
              <a:sym typeface="Century Gothic"/>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Reference data (e.g. exchange rates, consolidation hierarchies etc.)</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GL from all group entities, Islamic banking books, subsidiary data, inter-company register, FX rates</a:t>
            </a:r>
            <a:endParaRPr/>
          </a:p>
        </p:txBody>
      </p:sp>
      <p:sp>
        <p:nvSpPr>
          <p:cNvPr id="5823" name="Google Shape;5823;p326"/>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Produce a Consolidated view across multiple ERPs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Reduce or eliminate manual processes:</a:t>
            </a:r>
            <a:endParaRPr/>
          </a:p>
          <a:p>
            <a:pPr indent="-171450" lvl="0" marL="363538" marR="0" rtl="0" algn="l">
              <a:spcBef>
                <a:spcPts val="300"/>
              </a:spcBef>
              <a:spcAft>
                <a:spcPts val="0"/>
              </a:spcAft>
              <a:buClr>
                <a:srgbClr val="3C3C3B"/>
              </a:buClr>
              <a:buSzPts val="900"/>
              <a:buFont typeface="Century Gothic"/>
              <a:buChar char="−"/>
            </a:pPr>
            <a:r>
              <a:rPr lang="en-GB" sz="900">
                <a:solidFill>
                  <a:schemeClr val="dk1"/>
                </a:solidFill>
                <a:latin typeface="Century Gothic"/>
                <a:ea typeface="Century Gothic"/>
                <a:cs typeface="Century Gothic"/>
                <a:sym typeface="Century Gothic"/>
              </a:rPr>
              <a:t>Acquisitions and globalization create inconsistency of data, poor data quality and data inaccessibility</a:t>
            </a:r>
            <a:endParaRPr/>
          </a:p>
          <a:p>
            <a:pPr indent="-171450" lvl="0" marL="363538" marR="0" rtl="0" algn="l">
              <a:spcBef>
                <a:spcPts val="100"/>
              </a:spcBef>
              <a:spcAft>
                <a:spcPts val="0"/>
              </a:spcAft>
              <a:buClr>
                <a:srgbClr val="3C3C3B"/>
              </a:buClr>
              <a:buSzPts val="900"/>
              <a:buFont typeface="Century Gothic"/>
              <a:buChar char="−"/>
            </a:pPr>
            <a:r>
              <a:rPr lang="en-GB" sz="900">
                <a:solidFill>
                  <a:schemeClr val="dk1"/>
                </a:solidFill>
                <a:latin typeface="Century Gothic"/>
                <a:ea typeface="Century Gothic"/>
                <a:cs typeface="Century Gothic"/>
                <a:sym typeface="Century Gothic"/>
              </a:rPr>
              <a:t>Lack of common data definitions</a:t>
            </a:r>
            <a:endParaRPr/>
          </a:p>
          <a:p>
            <a:pPr indent="-171450" lvl="0" marL="363538" marR="0" rtl="0" algn="l">
              <a:spcBef>
                <a:spcPts val="100"/>
              </a:spcBef>
              <a:spcAft>
                <a:spcPts val="0"/>
              </a:spcAft>
              <a:buClr>
                <a:srgbClr val="3C3C3B"/>
              </a:buClr>
              <a:buSzPts val="900"/>
              <a:buFont typeface="Century Gothic"/>
              <a:buChar char="−"/>
            </a:pPr>
            <a:r>
              <a:rPr lang="en-GB" sz="900">
                <a:solidFill>
                  <a:schemeClr val="dk1"/>
                </a:solidFill>
                <a:latin typeface="Century Gothic"/>
                <a:ea typeface="Century Gothic"/>
                <a:cs typeface="Century Gothic"/>
                <a:sym typeface="Century Gothic"/>
              </a:rPr>
              <a:t>Many tools for financial data preparation </a:t>
            </a:r>
            <a:endParaRPr/>
          </a:p>
          <a:p>
            <a:pPr indent="-171450" lvl="0" marL="363538" marR="0" rtl="0" algn="l">
              <a:spcBef>
                <a:spcPts val="100"/>
              </a:spcBef>
              <a:spcAft>
                <a:spcPts val="0"/>
              </a:spcAft>
              <a:buClr>
                <a:srgbClr val="3C3C3B"/>
              </a:buClr>
              <a:buSzPts val="900"/>
              <a:buFont typeface="Century Gothic"/>
              <a:buChar char="−"/>
            </a:pPr>
            <a:r>
              <a:rPr lang="en-GB" sz="900">
                <a:solidFill>
                  <a:schemeClr val="dk1"/>
                </a:solidFill>
                <a:latin typeface="Century Gothic"/>
                <a:ea typeface="Century Gothic"/>
                <a:cs typeface="Century Gothic"/>
                <a:sym typeface="Century Gothic"/>
              </a:rPr>
              <a:t>Manual reconciliation process with late adjustments</a:t>
            </a:r>
            <a:endParaRPr/>
          </a:p>
          <a:p>
            <a:pPr indent="-171450" lvl="0" marL="363538" marR="0" rtl="0" algn="l">
              <a:spcBef>
                <a:spcPts val="100"/>
              </a:spcBef>
              <a:spcAft>
                <a:spcPts val="0"/>
              </a:spcAft>
              <a:buClr>
                <a:srgbClr val="3C3C3B"/>
              </a:buClr>
              <a:buSzPts val="900"/>
              <a:buFont typeface="Century Gothic"/>
              <a:buChar char="−"/>
            </a:pPr>
            <a:r>
              <a:rPr lang="en-GB" sz="900">
                <a:solidFill>
                  <a:schemeClr val="dk1"/>
                </a:solidFill>
                <a:latin typeface="Century Gothic"/>
                <a:ea typeface="Century Gothic"/>
                <a:cs typeface="Century Gothic"/>
                <a:sym typeface="Century Gothic"/>
              </a:rPr>
              <a:t>Mismatches between Intercompany transactions</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1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Optimize consolidation: parent bank + Islamic subsidiary + insurance/Takaful + AMC + brokerage + microfinance</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Multiple GAAP (IFRS + AAOIFI), currency translation for overseas branches</a:t>
            </a:r>
            <a:endParaRPr/>
          </a:p>
        </p:txBody>
      </p:sp>
      <p:sp>
        <p:nvSpPr>
          <p:cNvPr id="5824" name="Google Shape;5824;p326"/>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5825" name="Google Shape;5825;p326"/>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5826" name="Google Shape;5826;p326"/>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Consolidation Optimization </a:t>
            </a:r>
            <a:endParaRPr sz="2400"/>
          </a:p>
        </p:txBody>
      </p:sp>
      <p:sp>
        <p:nvSpPr>
          <p:cNvPr id="5827" name="Google Shape;5827;p326">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Accounting Operations &amp;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2" name="Shape 5832"/>
        <p:cNvGrpSpPr/>
        <p:nvPr/>
      </p:nvGrpSpPr>
      <p:grpSpPr>
        <a:xfrm>
          <a:off x="0" y="0"/>
          <a:ext cx="0" cy="0"/>
          <a:chOff x="0" y="0"/>
          <a:chExt cx="0" cy="0"/>
        </a:xfrm>
      </p:grpSpPr>
      <p:cxnSp>
        <p:nvCxnSpPr>
          <p:cNvPr id="5833" name="Google Shape;5833;p327"/>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834" name="Google Shape;5834;p327"/>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835" name="Google Shape;5835;p327"/>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5837" name="Google Shape;5837;p327"/>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Accelerate monthly and annual close process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Risk of restatements is lowered</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Cost reduction / more time devoted to value-added analysis rather than data crunching</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5838" name="Google Shape;5838;p327"/>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Reduce manual intervention in close process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Reduce reconciliation efforts during close</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Accelerated financial reporting</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Reduced load on ERP systems during close process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Enhance visibility into geographically dispersed results across multiple business units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Accelerated SBP filing, earlier management information, reduced external audit timeline</a:t>
            </a:r>
            <a:endParaRPr/>
          </a:p>
        </p:txBody>
      </p:sp>
      <p:sp>
        <p:nvSpPr>
          <p:cNvPr id="5839" name="Google Shape;5839;p327"/>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Improved Close Process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Maintain “Thin” GL</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Creation of Detail Subsidiary Ledger</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Establish clear data lineage</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840" name="Google Shape;5840;p327"/>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Load, integrate and validate required data.</a:t>
            </a:r>
            <a:endParaRPr/>
          </a:p>
          <a:p>
            <a:pPr indent="-171450" lvl="1" marL="246063" marR="0" rtl="0" algn="l">
              <a:spcBef>
                <a:spcPts val="300"/>
              </a:spcBef>
              <a:spcAft>
                <a:spcPts val="0"/>
              </a:spcAft>
              <a:buClr>
                <a:srgbClr val="3C3C3B"/>
              </a:buClr>
              <a:buSzPts val="800"/>
              <a:buFont typeface="Century Gothic"/>
              <a:buChar char="−"/>
            </a:pPr>
            <a:r>
              <a:rPr b="0" i="0" lang="en-GB" sz="800" u="none" cap="none" strike="noStrike">
                <a:solidFill>
                  <a:srgbClr val="3C3C3B"/>
                </a:solidFill>
                <a:latin typeface="Century Gothic"/>
                <a:ea typeface="Century Gothic"/>
                <a:cs typeface="Century Gothic"/>
                <a:sym typeface="Century Gothic"/>
              </a:rPr>
              <a:t>Use of standard ERP integration tool and data model as accelerator</a:t>
            </a:r>
            <a:endParaRPr b="0" i="0" sz="800" u="none" cap="none" strike="noStrike">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Reference Data Management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Process optimisation analysis</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5841" name="Google Shape;5841;p327"/>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 timeliness, quality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Multiple charts of accounts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Multiple data sources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Reliance on spreadsheets and manual entries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5842" name="Google Shape;5842;p327"/>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GL balance &amp; transaction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Sub-ledger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Reporting Hierarchies – Business Units, Geography, purchasing agent etc.</a:t>
            </a:r>
            <a:endParaRPr/>
          </a:p>
          <a:p>
            <a:pPr indent="0" lvl="0" marL="0" marR="0" rtl="0" algn="l">
              <a:lnSpc>
                <a:spcPct val="90000"/>
              </a:lnSpc>
              <a:spcBef>
                <a:spcPts val="300"/>
              </a:spcBef>
              <a:spcAft>
                <a:spcPts val="0"/>
              </a:spcAft>
              <a:buNone/>
            </a:pPr>
            <a:r>
              <a:t/>
            </a:r>
            <a:endParaRPr sz="800">
              <a:solidFill>
                <a:schemeClr val="dk1"/>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GL and sub-ledger from all core systems centralized in FSDM data warehouse</a:t>
            </a:r>
            <a:endParaRPr/>
          </a:p>
        </p:txBody>
      </p:sp>
      <p:sp>
        <p:nvSpPr>
          <p:cNvPr id="5843" name="Google Shape;5843;p327"/>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Faster close process</a:t>
            </a:r>
            <a:endParaRPr/>
          </a:p>
          <a:p>
            <a:pPr indent="-171449" lvl="1" marL="427038" marR="0" rtl="0" algn="l">
              <a:spcBef>
                <a:spcPts val="300"/>
              </a:spcBef>
              <a:spcAft>
                <a:spcPts val="0"/>
              </a:spcAft>
              <a:buClr>
                <a:srgbClr val="3C3C3B"/>
              </a:buClr>
              <a:buSzPts val="900"/>
              <a:buFont typeface="Century Gothic"/>
              <a:buChar char="−"/>
            </a:pPr>
            <a:r>
              <a:rPr b="0" i="0" lang="en-GB" sz="900" u="none" cap="none" strike="noStrike">
                <a:solidFill>
                  <a:schemeClr val="dk1"/>
                </a:solidFill>
                <a:latin typeface="Century Gothic"/>
                <a:ea typeface="Century Gothic"/>
                <a:cs typeface="Century Gothic"/>
                <a:sym typeface="Century Gothic"/>
              </a:rPr>
              <a:t>Disparate systems and summarizations from multiple sources provide inaccurate information during close process</a:t>
            </a:r>
            <a:endParaRPr/>
          </a:p>
          <a:p>
            <a:pPr indent="-171449" lvl="1" marL="427038" marR="0" rtl="0" algn="l">
              <a:spcBef>
                <a:spcPts val="300"/>
              </a:spcBef>
              <a:spcAft>
                <a:spcPts val="0"/>
              </a:spcAft>
              <a:buClr>
                <a:srgbClr val="3C3C3B"/>
              </a:buClr>
              <a:buSzPts val="900"/>
              <a:buFont typeface="Century Gothic"/>
              <a:buChar char="−"/>
            </a:pPr>
            <a:r>
              <a:rPr b="0" i="0" lang="en-GB" sz="900" u="none" cap="none" strike="noStrike">
                <a:solidFill>
                  <a:schemeClr val="dk1"/>
                </a:solidFill>
                <a:latin typeface="Century Gothic"/>
                <a:ea typeface="Century Gothic"/>
                <a:cs typeface="Century Gothic"/>
                <a:sym typeface="Century Gothic"/>
              </a:rPr>
              <a:t>Process involves excessive manual intervention or slow legacy systems</a:t>
            </a:r>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Reduce monthly close from 15-30 days to &lt;10 days (target: &lt;5 days)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Bottlenecks: reconciliation, IFRS 9 ECL recalculation, Islamic entries, inter-branch reconciliation</a:t>
            </a:r>
            <a:endParaRPr/>
          </a:p>
        </p:txBody>
      </p:sp>
      <p:sp>
        <p:nvSpPr>
          <p:cNvPr id="5844" name="Google Shape;5844;p327"/>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5845" name="Google Shape;5845;p327"/>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5846" name="Google Shape;5846;p327"/>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Close Process Optimization  </a:t>
            </a:r>
            <a:endParaRPr sz="2400"/>
          </a:p>
        </p:txBody>
      </p:sp>
      <p:sp>
        <p:nvSpPr>
          <p:cNvPr id="5847" name="Google Shape;5847;p327">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Accounting Operations &amp;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2" name="Shape 5852"/>
        <p:cNvGrpSpPr/>
        <p:nvPr/>
      </p:nvGrpSpPr>
      <p:grpSpPr>
        <a:xfrm>
          <a:off x="0" y="0"/>
          <a:ext cx="0" cy="0"/>
          <a:chOff x="0" y="0"/>
          <a:chExt cx="0" cy="0"/>
        </a:xfrm>
      </p:grpSpPr>
      <p:cxnSp>
        <p:nvCxnSpPr>
          <p:cNvPr id="5853" name="Google Shape;5853;p328"/>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854" name="Google Shape;5854;p328"/>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855" name="Google Shape;5855;p328"/>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5857" name="Google Shape;5857;p328"/>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71450" lvl="0" marL="17145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performance and scalability for integrated Financial reporting</a:t>
            </a:r>
            <a:endParaRPr sz="900">
              <a:solidFill>
                <a:srgbClr val="3C3C3B"/>
              </a:solidFill>
              <a:latin typeface="Century Gothic"/>
              <a:ea typeface="Century Gothic"/>
              <a:cs typeface="Century Gothic"/>
              <a:sym typeface="Century Gothic"/>
            </a:endParaRPr>
          </a:p>
          <a:p>
            <a:pPr indent="-171450" lvl="0" marL="171450"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Lower of cost of ownership</a:t>
            </a:r>
            <a:endParaRPr/>
          </a:p>
          <a:p>
            <a:pPr indent="-171450" lvl="0" marL="171450"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Faster  time to market for new applications</a:t>
            </a:r>
            <a:endParaRPr/>
          </a:p>
          <a:p>
            <a:pPr indent="-171450" lvl="0" marL="171450"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decision-making accuracy and efficiency with provable data lineage</a:t>
            </a:r>
            <a:endParaRPr/>
          </a:p>
          <a:p>
            <a:pPr indent="-171450" lvl="0" marL="171450"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Accelerated access to harmonized financial reporting and drill-down to supporting detail</a:t>
            </a:r>
            <a:endParaRPr sz="900">
              <a:solidFill>
                <a:srgbClr val="3C3C3B"/>
              </a:solidFill>
              <a:latin typeface="Century Gothic"/>
              <a:ea typeface="Century Gothic"/>
              <a:cs typeface="Century Gothic"/>
              <a:sym typeface="Century Gothic"/>
            </a:endParaRPr>
          </a:p>
          <a:p>
            <a:pPr indent="-114300" lvl="0" marL="171450" marR="0" rtl="0" algn="l">
              <a:spcBef>
                <a:spcPts val="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14300" lvl="0" marL="171450" marR="0" rtl="0" algn="l">
              <a:spcBef>
                <a:spcPts val="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858" name="Google Shape;5858;p328"/>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71450" lvl="0" marL="17145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Single, consolidated view of detailed enterprise data.</a:t>
            </a:r>
            <a:endParaRPr/>
          </a:p>
          <a:p>
            <a:pPr indent="-171450" lvl="0" marL="171450"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Flexible reporting and analysis layer</a:t>
            </a:r>
            <a:endParaRPr/>
          </a:p>
          <a:p>
            <a:pPr indent="-171450" lvl="0" marL="171450"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Ability of Business users to create reports without IT support</a:t>
            </a:r>
            <a:endParaRPr/>
          </a:p>
          <a:p>
            <a:pPr indent="-171450" lvl="1" marL="171450" marR="0" rtl="0" algn="l">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Users have </a:t>
            </a:r>
            <a:endParaRPr/>
          </a:p>
          <a:p>
            <a:pPr indent="-111125" lvl="2" marL="285750" marR="0" rtl="0" algn="l">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Greater access to ERP &amp; other data, </a:t>
            </a:r>
            <a:endParaRPr/>
          </a:p>
          <a:p>
            <a:pPr indent="-111125" lvl="2" marL="285750" marR="0" rtl="0" algn="l">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Enhanced  BI performance, </a:t>
            </a:r>
            <a:endParaRPr/>
          </a:p>
          <a:p>
            <a:pPr indent="-111125" lvl="2" marL="285750" marR="0" rtl="0" algn="l">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Reduced report latency, </a:t>
            </a:r>
            <a:endParaRPr/>
          </a:p>
          <a:p>
            <a:pPr indent="-111125" lvl="2" marL="285750" marR="0" rtl="0" algn="l">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Lower operating expense</a:t>
            </a:r>
            <a:endParaRPr/>
          </a:p>
          <a:p>
            <a:pPr indent="-111125" lvl="2" marL="285750" marR="0" rtl="0" algn="l">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Accelerated end user report development</a:t>
            </a:r>
            <a:endParaRPr/>
          </a:p>
          <a:p>
            <a:pPr indent="-114300" lvl="1" marL="171450" marR="0" rtl="0" algn="l">
              <a:spcBef>
                <a:spcPts val="0"/>
              </a:spcBef>
              <a:spcAft>
                <a:spcPts val="0"/>
              </a:spcAft>
              <a:buClr>
                <a:schemeClr val="dk1"/>
              </a:buClr>
              <a:buSzPts val="900"/>
              <a:buFont typeface="Arial"/>
              <a:buNone/>
            </a:pPr>
            <a:r>
              <a:t/>
            </a:r>
            <a:endParaRPr b="0" i="0" sz="900" u="none" cap="none" strike="noStrike">
              <a:solidFill>
                <a:srgbClr val="3C3C3B"/>
              </a:solidFill>
              <a:latin typeface="Century Gothic"/>
              <a:ea typeface="Century Gothic"/>
              <a:cs typeface="Century Gothic"/>
              <a:sym typeface="Century Gothic"/>
            </a:endParaRPr>
          </a:p>
          <a:p>
            <a:pPr indent="-114300" lvl="0" marL="171450" marR="0" rtl="0" algn="l">
              <a:spcBef>
                <a:spcPts val="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14300" lvl="0" marL="171450" marR="0" rtl="0" algn="l">
              <a:spcBef>
                <a:spcPts val="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T+0 data access (vs. T+1/T+2), accelerated close, faster regulatory filing</a:t>
            </a:r>
            <a:endParaRPr/>
          </a:p>
        </p:txBody>
      </p:sp>
      <p:sp>
        <p:nvSpPr>
          <p:cNvPr id="5859" name="Google Shape;5859;p328"/>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71450" lvl="0" marL="17145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Delivery of physical data model for Financial data</a:t>
            </a:r>
            <a:endParaRPr sz="900">
              <a:solidFill>
                <a:srgbClr val="3C3C3B"/>
              </a:solidFill>
              <a:latin typeface="Century Gothic"/>
              <a:ea typeface="Century Gothic"/>
              <a:cs typeface="Century Gothic"/>
              <a:sym typeface="Century Gothic"/>
            </a:endParaRPr>
          </a:p>
          <a:p>
            <a:pPr indent="-171450" lvl="0" marL="171450"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Implementation of user access layer</a:t>
            </a:r>
            <a:endParaRPr/>
          </a:p>
          <a:p>
            <a:pPr indent="-171450" lvl="0" marL="171450"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Ingestion of ERP data for chosen subject area</a:t>
            </a:r>
            <a:endParaRPr/>
          </a:p>
          <a:p>
            <a:pPr indent="-171450" lvl="0" marL="171450"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Validation of ingested data</a:t>
            </a:r>
            <a:endParaRPr/>
          </a:p>
          <a:p>
            <a:pPr indent="-171450" lvl="0" marL="171450"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Organizational commitment to the EDW as a primary source of data for integrated Financial reporting</a:t>
            </a:r>
            <a:endParaRPr sz="900">
              <a:solidFill>
                <a:srgbClr val="3C3C3B"/>
              </a:solidFill>
              <a:latin typeface="Century Gothic"/>
              <a:ea typeface="Century Gothic"/>
              <a:cs typeface="Century Gothic"/>
              <a:sym typeface="Century Gothic"/>
            </a:endParaRPr>
          </a:p>
          <a:p>
            <a:pPr indent="-130175" lvl="0" marL="180975" marR="0" rtl="0" algn="l">
              <a:lnSpc>
                <a:spcPct val="90000"/>
              </a:lnSpc>
              <a:spcBef>
                <a:spcPts val="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4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860" name="Google Shape;5860;p328"/>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Reference data management application</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Metadata management tool</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Deploy prebuilt ERP data ingestion tools</a:t>
            </a:r>
            <a:endParaRPr/>
          </a:p>
          <a:p>
            <a:pPr indent="-108000" lvl="1" marL="108000"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Obtain metadata relating to the loading, movement and transformation of data</a:t>
            </a:r>
            <a:endParaRPr/>
          </a:p>
        </p:txBody>
      </p:sp>
      <p:sp>
        <p:nvSpPr>
          <p:cNvPr id="5861" name="Google Shape;5861;p328"/>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71450" lvl="0" marL="17145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granularity and availability (sourcing) </a:t>
            </a:r>
            <a:endParaRPr/>
          </a:p>
          <a:p>
            <a:pPr indent="-171450" lvl="0" marL="171450"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preparation</a:t>
            </a:r>
            <a:endParaRPr/>
          </a:p>
          <a:p>
            <a:pPr indent="-171450" lvl="0" marL="171450"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Multiple data sources with different data structures</a:t>
            </a:r>
            <a:endParaRPr sz="900">
              <a:solidFill>
                <a:srgbClr val="3C3C3B"/>
              </a:solidFill>
              <a:latin typeface="Century Gothic"/>
              <a:ea typeface="Century Gothic"/>
              <a:cs typeface="Century Gothic"/>
              <a:sym typeface="Century Gothic"/>
            </a:endParaRPr>
          </a:p>
          <a:p>
            <a:pPr indent="-174625" lvl="0" marL="174625"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timing</a:t>
            </a:r>
            <a:endParaRPr/>
          </a:p>
          <a:p>
            <a:pPr indent="-174625" lvl="0" marL="174625"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quality</a:t>
            </a:r>
            <a:endParaRPr sz="800">
              <a:solidFill>
                <a:srgbClr val="3C3C3B"/>
              </a:solidFill>
              <a:latin typeface="Century Gothic"/>
              <a:ea typeface="Century Gothic"/>
              <a:cs typeface="Century Gothic"/>
              <a:sym typeface="Century Gothic"/>
            </a:endParaRPr>
          </a:p>
          <a:p>
            <a:pPr indent="-114300" lvl="0" marL="171450" marR="0" rtl="0" algn="l">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862" name="Google Shape;5862;p328"/>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71450" lvl="0" marL="17145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ERP Ledger and Sub-Ledger Transactional and Balance Data</a:t>
            </a:r>
            <a:endParaRPr/>
          </a:p>
          <a:p>
            <a:pPr indent="-171450" lvl="0" marL="171450"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Operational system transactional data</a:t>
            </a:r>
            <a:endParaRPr/>
          </a:p>
          <a:p>
            <a:pPr indent="-171450" lvl="0" marL="171450"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Non-ERP sub-ledger data, as applicable, e.g. claims, lending, deposits</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Core systems (CTL, Temenos, Oracle, Finacle), Islamic, cards, trade finance, treasury - all to FSDM</a:t>
            </a:r>
            <a:endParaRPr/>
          </a:p>
        </p:txBody>
      </p:sp>
      <p:sp>
        <p:nvSpPr>
          <p:cNvPr id="5863" name="Google Shape;5863;p328"/>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a:p>
          <a:p>
            <a:pPr indent="-171450" lvl="1" marL="171450" marR="0" rtl="0" algn="l">
              <a:spcBef>
                <a:spcPts val="5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Provide a common single trusted data repository for financial reporting and analytics across the enterprise</a:t>
            </a:r>
            <a:endParaRPr/>
          </a:p>
          <a:p>
            <a:pPr indent="-171450" lvl="1" marL="171450" marR="0" rtl="0" algn="l">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Effectively integrate  &amp; harmonize data from multiple ERP and non-ERP data sources</a:t>
            </a:r>
            <a:endParaRPr/>
          </a:p>
          <a:p>
            <a:pPr indent="-171450" lvl="1" marL="171450" marR="0" rtl="0" algn="l">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Accelerate the data integration process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Accelerate integration from 4-5 core systems into FSDM warehouse. Current batch ETL: 6-12 hours overnight</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Target: near-real-time financial data for treasury and liquidity management</a:t>
            </a:r>
            <a:endParaRPr/>
          </a:p>
        </p:txBody>
      </p:sp>
      <p:sp>
        <p:nvSpPr>
          <p:cNvPr id="5864" name="Google Shape;5864;p328"/>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Owner:   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5865" name="Google Shape;5865;p328"/>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sz="1000">
              <a:solidFill>
                <a:srgbClr val="EC881D"/>
              </a:solidFill>
              <a:latin typeface="Century Gothic"/>
              <a:ea typeface="Century Gothic"/>
              <a:cs typeface="Century Gothic"/>
              <a:sym typeface="Century Gothic"/>
            </a:endParaRPr>
          </a:p>
        </p:txBody>
      </p:sp>
      <p:sp>
        <p:nvSpPr>
          <p:cNvPr id="5866" name="Google Shape;5866;p328"/>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Accelerated Financial Data Acquisition</a:t>
            </a:r>
            <a:endParaRPr/>
          </a:p>
        </p:txBody>
      </p:sp>
      <p:sp>
        <p:nvSpPr>
          <p:cNvPr id="5867" name="Google Shape;5867;p328">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Accounting Operations &amp;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2" name="Shape 5872"/>
        <p:cNvGrpSpPr/>
        <p:nvPr/>
      </p:nvGrpSpPr>
      <p:grpSpPr>
        <a:xfrm>
          <a:off x="0" y="0"/>
          <a:ext cx="0" cy="0"/>
          <a:chOff x="0" y="0"/>
          <a:chExt cx="0" cy="0"/>
        </a:xfrm>
      </p:grpSpPr>
      <p:cxnSp>
        <p:nvCxnSpPr>
          <p:cNvPr id="5873" name="Google Shape;5873;p329"/>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874" name="Google Shape;5874;p329"/>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875" name="Google Shape;5875;p329"/>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5877" name="Google Shape;5877;p329"/>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revenues and margins</a:t>
            </a:r>
            <a:endParaRPr/>
          </a:p>
          <a:p>
            <a:pPr indent="-108000" lvl="0" marL="108000" marR="0" rtl="0" algn="l">
              <a:spcBef>
                <a:spcPts val="2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More accurate ability to forecast ancillary produce &amp; service sales</a:t>
            </a:r>
            <a:endParaRPr/>
          </a:p>
          <a:p>
            <a:pPr indent="-108000" lvl="0" marL="108000" marR="0" rtl="0" algn="l">
              <a:spcBef>
                <a:spcPts val="2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Enhanced visibility of the behavioural drivers of Revenue supporting Improvement to:</a:t>
            </a:r>
            <a:endParaRPr/>
          </a:p>
          <a:p>
            <a:pPr indent="-171450" lvl="1" marL="338138" marR="0" rtl="0" algn="l">
              <a:spcBef>
                <a:spcPts val="200"/>
              </a:spcBef>
              <a:spcAft>
                <a:spcPts val="0"/>
              </a:spcAft>
              <a:buClr>
                <a:srgbClr val="3C3C3B"/>
              </a:buClr>
              <a:buSzPts val="900"/>
              <a:buFont typeface="Century Gothic"/>
              <a:buChar char="−"/>
            </a:pPr>
            <a:r>
              <a:rPr b="0" i="0" lang="en-GB" sz="900" u="none" cap="none" strike="noStrike">
                <a:solidFill>
                  <a:srgbClr val="3C3C3B"/>
                </a:solidFill>
                <a:latin typeface="Century Gothic"/>
                <a:ea typeface="Century Gothic"/>
                <a:cs typeface="Century Gothic"/>
                <a:sym typeface="Century Gothic"/>
              </a:rPr>
              <a:t>Sales processes</a:t>
            </a:r>
            <a:endParaRPr/>
          </a:p>
          <a:p>
            <a:pPr indent="-171450" lvl="1" marL="338138" marR="0" rtl="0" algn="l">
              <a:spcBef>
                <a:spcPts val="200"/>
              </a:spcBef>
              <a:spcAft>
                <a:spcPts val="0"/>
              </a:spcAft>
              <a:buClr>
                <a:srgbClr val="3C3C3B"/>
              </a:buClr>
              <a:buSzPts val="900"/>
              <a:buFont typeface="Century Gothic"/>
              <a:buChar char="−"/>
            </a:pPr>
            <a:r>
              <a:rPr b="0" i="0" lang="en-GB" sz="900" u="none" cap="none" strike="noStrike">
                <a:solidFill>
                  <a:srgbClr val="3C3C3B"/>
                </a:solidFill>
                <a:latin typeface="Century Gothic"/>
                <a:ea typeface="Century Gothic"/>
                <a:cs typeface="Century Gothic"/>
                <a:sym typeface="Century Gothic"/>
              </a:rPr>
              <a:t>Sales targeting &amp; management</a:t>
            </a:r>
            <a:endParaRPr/>
          </a:p>
          <a:p>
            <a:pPr indent="-171450" lvl="1" marL="338138" marR="0" rtl="0" algn="l">
              <a:spcBef>
                <a:spcPts val="200"/>
              </a:spcBef>
              <a:spcAft>
                <a:spcPts val="0"/>
              </a:spcAft>
              <a:buClr>
                <a:srgbClr val="3C3C3B"/>
              </a:buClr>
              <a:buSzPts val="900"/>
              <a:buFont typeface="Century Gothic"/>
              <a:buChar char="−"/>
            </a:pPr>
            <a:r>
              <a:rPr b="0" i="0" lang="en-GB" sz="900" u="none" cap="none" strike="noStrike">
                <a:solidFill>
                  <a:srgbClr val="3C3C3B"/>
                </a:solidFill>
                <a:latin typeface="Century Gothic"/>
                <a:ea typeface="Century Gothic"/>
                <a:cs typeface="Century Gothic"/>
                <a:sym typeface="Century Gothic"/>
              </a:rPr>
              <a:t>Employee Compensation Schemes</a:t>
            </a:r>
            <a:endParaRPr/>
          </a:p>
          <a:p>
            <a:pPr indent="-50849" lvl="0" marL="108000" marR="0" rtl="0" algn="l">
              <a:spcBef>
                <a:spcPts val="2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5878" name="Google Shape;5878;p329"/>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Establish an integrated sales repository which includes all customer, sales, behavioural and performance data to support Revenue analytics.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Reports and KPIs to accurately report and track Revenue performance against a wide range of parameters.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Analytical models and visualisations to:</a:t>
            </a:r>
            <a:endParaRPr/>
          </a:p>
          <a:p>
            <a:pPr indent="-171450" lvl="1" marL="269875" marR="0" rtl="0" algn="l">
              <a:lnSpc>
                <a:spcPct val="90000"/>
              </a:lnSpc>
              <a:spcBef>
                <a:spcPts val="300"/>
              </a:spcBef>
              <a:spcAft>
                <a:spcPts val="0"/>
              </a:spcAft>
              <a:buClr>
                <a:srgbClr val="3C3C3B"/>
              </a:buClr>
              <a:buSzPts val="800"/>
              <a:buFont typeface="Century Gothic"/>
              <a:buChar char="−"/>
            </a:pPr>
            <a:r>
              <a:rPr b="0" i="0" lang="en-GB" sz="800" u="none" cap="none" strike="noStrike">
                <a:solidFill>
                  <a:srgbClr val="3C3C3B"/>
                </a:solidFill>
                <a:latin typeface="Century Gothic"/>
                <a:ea typeface="Century Gothic"/>
                <a:cs typeface="Century Gothic"/>
                <a:sym typeface="Century Gothic"/>
              </a:rPr>
              <a:t>Understand the relationship between core and ancillary pricing</a:t>
            </a:r>
            <a:endParaRPr/>
          </a:p>
          <a:p>
            <a:pPr indent="-171450" lvl="1" marL="269875" marR="0" rtl="0" algn="l">
              <a:lnSpc>
                <a:spcPct val="90000"/>
              </a:lnSpc>
              <a:spcBef>
                <a:spcPts val="200"/>
              </a:spcBef>
              <a:spcAft>
                <a:spcPts val="0"/>
              </a:spcAft>
              <a:buClr>
                <a:srgbClr val="3C3C3B"/>
              </a:buClr>
              <a:buSzPts val="800"/>
              <a:buFont typeface="Century Gothic"/>
              <a:buChar char="−"/>
            </a:pPr>
            <a:r>
              <a:rPr b="0" i="0" lang="en-GB" sz="800" u="none" cap="none" strike="noStrike">
                <a:solidFill>
                  <a:srgbClr val="3C3C3B"/>
                </a:solidFill>
                <a:latin typeface="Century Gothic"/>
                <a:ea typeface="Century Gothic"/>
                <a:cs typeface="Century Gothic"/>
                <a:sym typeface="Century Gothic"/>
              </a:rPr>
              <a:t>Determine optimal ancillary bundles to offer customers</a:t>
            </a:r>
            <a:endParaRPr/>
          </a:p>
          <a:p>
            <a:pPr indent="-171450" lvl="1" marL="269875" marR="0" rtl="0" algn="l">
              <a:lnSpc>
                <a:spcPct val="90000"/>
              </a:lnSpc>
              <a:spcBef>
                <a:spcPts val="200"/>
              </a:spcBef>
              <a:spcAft>
                <a:spcPts val="0"/>
              </a:spcAft>
              <a:buClr>
                <a:srgbClr val="3C3C3B"/>
              </a:buClr>
              <a:buSzPts val="800"/>
              <a:buFont typeface="Century Gothic"/>
              <a:buChar char="−"/>
            </a:pPr>
            <a:r>
              <a:rPr b="0" i="0" lang="en-GB" sz="800" u="none" cap="none" strike="noStrike">
                <a:solidFill>
                  <a:srgbClr val="3C3C3B"/>
                </a:solidFill>
                <a:latin typeface="Century Gothic"/>
                <a:ea typeface="Century Gothic"/>
                <a:cs typeface="Century Gothic"/>
                <a:sym typeface="Century Gothic"/>
              </a:rPr>
              <a:t>Identify internal and external factors influencing ancillary sales</a:t>
            </a:r>
            <a:endParaRPr/>
          </a:p>
          <a:p>
            <a:pPr indent="-171450" lvl="1" marL="269875" marR="0" rtl="0" algn="l">
              <a:lnSpc>
                <a:spcPct val="90000"/>
              </a:lnSpc>
              <a:spcBef>
                <a:spcPts val="200"/>
              </a:spcBef>
              <a:spcAft>
                <a:spcPts val="0"/>
              </a:spcAft>
              <a:buClr>
                <a:srgbClr val="3C3C3B"/>
              </a:buClr>
              <a:buSzPts val="800"/>
              <a:buFont typeface="Century Gothic"/>
              <a:buChar char="−"/>
            </a:pPr>
            <a:r>
              <a:rPr b="0" i="0" lang="en-GB" sz="800" u="none" cap="none" strike="noStrike">
                <a:solidFill>
                  <a:srgbClr val="3C3C3B"/>
                </a:solidFill>
                <a:latin typeface="Century Gothic"/>
                <a:ea typeface="Century Gothic"/>
                <a:cs typeface="Century Gothic"/>
                <a:sym typeface="Century Gothic"/>
              </a:rPr>
              <a:t>Understand elasticity of demand to optimize pricing and drive increased profits</a:t>
            </a:r>
            <a:endParaRPr/>
          </a:p>
          <a:p>
            <a:pPr indent="-114300" lvl="1" marL="425450" marR="0" rtl="0" algn="l">
              <a:spcBef>
                <a:spcPts val="200"/>
              </a:spcBef>
              <a:spcAft>
                <a:spcPts val="0"/>
              </a:spcAft>
              <a:buClr>
                <a:srgbClr val="3C3C3B"/>
              </a:buClr>
              <a:buSzPts val="900"/>
              <a:buFont typeface="Century Gothic"/>
              <a:buNone/>
            </a:pPr>
            <a:r>
              <a:t/>
            </a:r>
            <a:endParaRPr b="0" i="0" sz="900" u="none" cap="none" strike="noStrike">
              <a:solidFill>
                <a:srgbClr val="3C3C3B"/>
              </a:solidFill>
              <a:latin typeface="Century Gothic"/>
              <a:ea typeface="Century Gothic"/>
              <a:cs typeface="Century Gothic"/>
              <a:sym typeface="Century Gothic"/>
            </a:endParaRPr>
          </a:p>
          <a:p>
            <a:pPr indent="-114300" lvl="1" marL="425450" marR="0" rtl="0" algn="l">
              <a:spcBef>
                <a:spcPts val="300"/>
              </a:spcBef>
              <a:spcAft>
                <a:spcPts val="0"/>
              </a:spcAft>
              <a:buClr>
                <a:srgbClr val="3C3C3B"/>
              </a:buClr>
              <a:buSzPts val="900"/>
              <a:buFont typeface="Century Gothic"/>
              <a:buNone/>
            </a:pPr>
            <a:r>
              <a:t/>
            </a:r>
            <a:endParaRPr b="0" i="0" sz="900" u="none" cap="none" strike="noStrike">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180975" lvl="0" marL="180975" marR="0" rtl="0" algn="l">
              <a:lnSpc>
                <a:spcPct val="90000"/>
              </a:lnSpc>
              <a:spcBef>
                <a:spcPts val="300"/>
              </a:spcBef>
              <a:spcAft>
                <a:spcPts val="0"/>
              </a:spcAft>
              <a:buNone/>
            </a:pPr>
            <a:r>
              <a:t/>
            </a:r>
            <a:endParaRPr b="1" sz="1000">
              <a:solidFill>
                <a:srgbClr val="0079DB"/>
              </a:solidFill>
              <a:latin typeface="Century Gothic"/>
              <a:ea typeface="Century Gothic"/>
              <a:cs typeface="Century Gothic"/>
              <a:sym typeface="Century Gothic"/>
            </a:endParaRPr>
          </a:p>
          <a:p>
            <a:pPr indent="-180975" lvl="0" marL="180975" marR="0" rtl="0" algn="l">
              <a:lnSpc>
                <a:spcPct val="90000"/>
              </a:lnSpc>
              <a:spcBef>
                <a:spcPts val="400"/>
              </a:spcBef>
              <a:spcAft>
                <a:spcPts val="0"/>
              </a:spcAft>
              <a:buNone/>
            </a:pPr>
            <a:r>
              <a:t/>
            </a:r>
            <a:endParaRPr b="1" sz="1000">
              <a:solidFill>
                <a:srgbClr val="0079D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Revenue attribution by customer/product/branch/segment. Identify leakage: waived fees, mispriced loans</a:t>
            </a:r>
            <a:endParaRPr/>
          </a:p>
        </p:txBody>
      </p:sp>
      <p:sp>
        <p:nvSpPr>
          <p:cNvPr id="5879" name="Google Shape;5879;p329"/>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Customers acceptance of integrated data repository and reports / KPIs</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Delivery, validation and acceptance of analytical models</a:t>
            </a:r>
            <a:endParaRPr sz="900">
              <a:solidFill>
                <a:srgbClr val="3C3C3B"/>
              </a:solidFill>
              <a:latin typeface="Century Gothic"/>
              <a:ea typeface="Century Gothic"/>
              <a:cs typeface="Century Gothic"/>
              <a:sym typeface="Century Gothic"/>
            </a:endParaRPr>
          </a:p>
          <a:p>
            <a:pPr indent="-130175" lvl="0" marL="180975"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4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880" name="Google Shape;5880;p329"/>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lnSpc>
                <a:spcPct val="95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Traditional statistical (e.g. linear regression) analysis to understand the relationship between core and ancillary products &amp; services</a:t>
            </a:r>
            <a:endParaRPr sz="900">
              <a:solidFill>
                <a:srgbClr val="3C3C3B"/>
              </a:solidFill>
              <a:latin typeface="Century Gothic"/>
              <a:ea typeface="Century Gothic"/>
              <a:cs typeface="Century Gothic"/>
              <a:sym typeface="Century Gothic"/>
            </a:endParaRPr>
          </a:p>
          <a:p>
            <a:pPr indent="-108000" lvl="0" marL="108000" marR="0" rtl="0" algn="l">
              <a:lnSpc>
                <a:spcPct val="95000"/>
              </a:lnSpc>
              <a:spcBef>
                <a:spcPts val="2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Path analysis to determine purchase patterns</a:t>
            </a:r>
            <a:endParaRPr/>
          </a:p>
          <a:p>
            <a:pPr indent="-108000" lvl="0" marL="108000" marR="0" rtl="0" algn="l">
              <a:lnSpc>
                <a:spcPct val="95000"/>
              </a:lnSpc>
              <a:spcBef>
                <a:spcPts val="2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Network analysis &amp; visualisations to identify purchase patterns</a:t>
            </a:r>
            <a:endParaRPr sz="900">
              <a:solidFill>
                <a:srgbClr val="3C3C3B"/>
              </a:solidFill>
              <a:latin typeface="Century Gothic"/>
              <a:ea typeface="Century Gothic"/>
              <a:cs typeface="Century Gothic"/>
              <a:sym typeface="Century Gothic"/>
            </a:endParaRPr>
          </a:p>
          <a:p>
            <a:pPr indent="-180000" lvl="0" marL="180000" marR="0" rtl="0" algn="l">
              <a:lnSpc>
                <a:spcPct val="90000"/>
              </a:lnSpc>
              <a:spcBef>
                <a:spcPts val="200"/>
              </a:spcBef>
              <a:spcAft>
                <a:spcPts val="0"/>
              </a:spcAft>
              <a:buNone/>
            </a:pPr>
            <a:r>
              <a:t/>
            </a:r>
            <a:endParaRPr b="1" sz="1000">
              <a:solidFill>
                <a:srgbClr val="0079DB"/>
              </a:solidFill>
              <a:latin typeface="Century Gothic"/>
              <a:ea typeface="Century Gothic"/>
              <a:cs typeface="Century Gothic"/>
              <a:sym typeface="Century Gothic"/>
            </a:endParaRPr>
          </a:p>
        </p:txBody>
      </p:sp>
      <p:sp>
        <p:nvSpPr>
          <p:cNvPr id="5881" name="Google Shape;5881;p329"/>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availability</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preparation</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timing</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integration</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volumes</a:t>
            </a:r>
            <a:endParaRPr/>
          </a:p>
          <a:p>
            <a:pPr indent="-180000" lvl="0" marL="180000" marR="0" rtl="0" algn="l">
              <a:lnSpc>
                <a:spcPct val="90000"/>
              </a:lnSpc>
              <a:spcBef>
                <a:spcPts val="300"/>
              </a:spcBef>
              <a:spcAft>
                <a:spcPts val="0"/>
              </a:spcAft>
              <a:buNone/>
            </a:pPr>
            <a:r>
              <a:t/>
            </a:r>
            <a:endParaRPr b="1" sz="1000">
              <a:solidFill>
                <a:srgbClr val="0079DB"/>
              </a:solidFill>
              <a:latin typeface="Century Gothic"/>
              <a:ea typeface="Century Gothic"/>
              <a:cs typeface="Century Gothic"/>
              <a:sym typeface="Century Gothic"/>
            </a:endParaRPr>
          </a:p>
        </p:txBody>
      </p:sp>
      <p:sp>
        <p:nvSpPr>
          <p:cNvPr id="5882" name="Google Shape;5882;p329"/>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sz="900">
              <a:solidFill>
                <a:srgbClr val="3C3C3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Sales data</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Customer demographics &amp; characteristics</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Interaction &amp; behavioural data (e.g. transactional data, Web logs, emails)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Propensity models, price elasticity models etc.</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HR/Employee performance data</a:t>
            </a:r>
            <a:endParaRPr sz="900">
              <a:solidFill>
                <a:srgbClr val="3C3C3B"/>
              </a:solidFill>
              <a:latin typeface="Century Gothic"/>
              <a:ea typeface="Century Gothic"/>
              <a:cs typeface="Century Gothic"/>
              <a:sym typeface="Century Gothic"/>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180975" lvl="0" marL="180975" marR="0" rtl="0" algn="l">
              <a:lnSpc>
                <a:spcPct val="90000"/>
              </a:lnSpc>
              <a:spcBef>
                <a:spcPts val="300"/>
              </a:spcBef>
              <a:spcAft>
                <a:spcPts val="0"/>
              </a:spcAft>
              <a:buNone/>
            </a:pPr>
            <a:r>
              <a:t/>
            </a:r>
            <a:endParaRPr b="1" sz="1000">
              <a:solidFill>
                <a:srgbClr val="0079D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KIBOR rates, SBP policy rate, product-level rates, Islamic profit-sharing ratios, fee tariff schedules</a:t>
            </a:r>
            <a:endParaRPr/>
          </a:p>
        </p:txBody>
      </p:sp>
      <p:sp>
        <p:nvSpPr>
          <p:cNvPr id="5883" name="Google Shape;5883;p329"/>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Whilst the structural drivers of Revenue for particular Products and Services are often well understood, there are often a wide range of factors which affect Revenue actually achieved from Product sales.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Organisations want to gain a better understanding of complex behavioural drivers (both internal and external) which affect the Revenue being driven.</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Decompose revenue: NII (~70% - KIBOR spreads), fee income (~15%), FX gains (~8%), investment income (~7%)</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Analyze drivers: volume (deposit/advance growth), rate (KIBOR spread), mix (CASA vs. term)</a:t>
            </a:r>
            <a:endParaRPr/>
          </a:p>
        </p:txBody>
      </p:sp>
      <p:sp>
        <p:nvSpPr>
          <p:cNvPr id="5884" name="Google Shape;5884;p329"/>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Owner:   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5885" name="Google Shape;5885;p329"/>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5886" name="Google Shape;5886;p329"/>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Revenue Analytics Optimisation</a:t>
            </a:r>
            <a:endParaRPr sz="2400"/>
          </a:p>
        </p:txBody>
      </p:sp>
      <p:sp>
        <p:nvSpPr>
          <p:cNvPr id="5887" name="Google Shape;5887;p329">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Enterprise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2" name="Shape 5892"/>
        <p:cNvGrpSpPr/>
        <p:nvPr/>
      </p:nvGrpSpPr>
      <p:grpSpPr>
        <a:xfrm>
          <a:off x="0" y="0"/>
          <a:ext cx="0" cy="0"/>
          <a:chOff x="0" y="0"/>
          <a:chExt cx="0" cy="0"/>
        </a:xfrm>
      </p:grpSpPr>
      <p:cxnSp>
        <p:nvCxnSpPr>
          <p:cNvPr id="5893" name="Google Shape;5893;p330"/>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894" name="Google Shape;5894;p330"/>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895" name="Google Shape;5895;p330"/>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5897" name="Google Shape;5897;p330"/>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ability to attract and retain good employees</a:t>
            </a:r>
            <a:endParaRPr/>
          </a:p>
          <a:p>
            <a:pPr indent="-108000" lvl="0" marL="108000" marR="0" rtl="0" algn="l">
              <a:lnSpc>
                <a:spcPct val="90000"/>
              </a:lnSpc>
              <a:spcBef>
                <a:spcPts val="2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ability to identify employees with poor performance and/or negative impact on the organisation.</a:t>
            </a:r>
            <a:endParaRPr/>
          </a:p>
          <a:p>
            <a:pPr indent="-108000" lvl="0" marL="108000" marR="0" rtl="0" algn="l">
              <a:lnSpc>
                <a:spcPct val="90000"/>
              </a:lnSpc>
              <a:spcBef>
                <a:spcPts val="2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ability to match employees to roles which require their skills and experience</a:t>
            </a:r>
            <a:endParaRPr/>
          </a:p>
          <a:p>
            <a:pPr indent="-108000" lvl="0" marL="108000" marR="0" rtl="0" algn="l">
              <a:lnSpc>
                <a:spcPct val="90000"/>
              </a:lnSpc>
              <a:spcBef>
                <a:spcPts val="2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ability to maintain appropriate mix of high-performing and satisfactory resources across job functions</a:t>
            </a:r>
            <a:endParaRPr/>
          </a:p>
          <a:p>
            <a:pPr indent="-108000" lvl="0" marL="108000" marR="0" rtl="0" algn="l">
              <a:lnSpc>
                <a:spcPct val="90000"/>
              </a:lnSpc>
              <a:spcBef>
                <a:spcPts val="2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payback on human resource investments</a:t>
            </a:r>
            <a:endParaRPr/>
          </a:p>
          <a:p>
            <a:pPr indent="-108000" lvl="0" marL="108000" marR="0" rtl="0" algn="l">
              <a:lnSpc>
                <a:spcPct val="90000"/>
              </a:lnSpc>
              <a:spcBef>
                <a:spcPts val="2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employee satisfaction</a:t>
            </a:r>
            <a:endParaRPr/>
          </a:p>
          <a:p>
            <a:pPr indent="-50849" lvl="0" marL="108000" marR="0" rtl="0" algn="l">
              <a:lnSpc>
                <a:spcPct val="90000"/>
              </a:lnSpc>
              <a:spcBef>
                <a:spcPts val="2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5898" name="Google Shape;5898;p330"/>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Reporting/BI capability on integrated HR repository</a:t>
            </a:r>
            <a:endParaRPr/>
          </a:p>
          <a:p>
            <a:pPr indent="-171450" lvl="0" marL="265113" marR="0" rtl="0" algn="l">
              <a:spcBef>
                <a:spcPts val="300"/>
              </a:spcBef>
              <a:spcAft>
                <a:spcPts val="0"/>
              </a:spcAft>
              <a:buClr>
                <a:srgbClr val="3C3C3B"/>
              </a:buClr>
              <a:buSzPts val="800"/>
              <a:buFont typeface="Century Gothic"/>
              <a:buChar char="−"/>
            </a:pPr>
            <a:r>
              <a:rPr lang="en-GB" sz="800">
                <a:solidFill>
                  <a:srgbClr val="3C3C3B"/>
                </a:solidFill>
                <a:latin typeface="Century Gothic"/>
                <a:ea typeface="Century Gothic"/>
                <a:cs typeface="Century Gothic"/>
                <a:sym typeface="Century Gothic"/>
              </a:rPr>
              <a:t>Automated workforce and talent reports, dashboards </a:t>
            </a:r>
            <a:endParaRPr sz="800">
              <a:solidFill>
                <a:srgbClr val="3C3C3B"/>
              </a:solidFill>
              <a:latin typeface="Century Gothic"/>
              <a:ea typeface="Century Gothic"/>
              <a:cs typeface="Century Gothic"/>
              <a:sym typeface="Century Gothic"/>
            </a:endParaRPr>
          </a:p>
          <a:p>
            <a:pPr indent="-171450" lvl="0" marL="265113" marR="0" rtl="0" algn="l">
              <a:spcBef>
                <a:spcPts val="300"/>
              </a:spcBef>
              <a:spcAft>
                <a:spcPts val="0"/>
              </a:spcAft>
              <a:buClr>
                <a:srgbClr val="3C3C3B"/>
              </a:buClr>
              <a:buSzPts val="800"/>
              <a:buFont typeface="Century Gothic"/>
              <a:buChar char="−"/>
            </a:pPr>
            <a:r>
              <a:rPr lang="en-GB" sz="800">
                <a:solidFill>
                  <a:srgbClr val="3C3C3B"/>
                </a:solidFill>
                <a:latin typeface="Century Gothic"/>
                <a:ea typeface="Century Gothic"/>
                <a:cs typeface="Century Gothic"/>
                <a:sym typeface="Century Gothic"/>
              </a:rPr>
              <a:t>Ability to monitor trends in attrition, labor cost, diversity, etc. by division, location and job function and to conduct root cause analysis on concerning trends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Improved ability to align employee performance to organisational strategy and objectives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Reduce voluntary attrition (10-15%), optimize branch staffing model, identify high-potential employees</a:t>
            </a:r>
            <a:endParaRPr/>
          </a:p>
        </p:txBody>
      </p:sp>
      <p:sp>
        <p:nvSpPr>
          <p:cNvPr id="5899" name="Google Shape;5899;p330"/>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Creation of integrated HR repository, with automated KPI and reporting capabilities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Creation of roadmap for HR improvement opportunities</a:t>
            </a:r>
            <a:endParaRPr/>
          </a:p>
          <a:p>
            <a:pPr indent="0" lvl="0" marL="0" marR="0" rtl="0" algn="l">
              <a:lnSpc>
                <a:spcPct val="90000"/>
              </a:lnSpc>
              <a:spcBef>
                <a:spcPts val="300"/>
              </a:spcBef>
              <a:spcAft>
                <a:spcPts val="0"/>
              </a:spcAft>
              <a:buNone/>
            </a:pPr>
            <a:r>
              <a:t/>
            </a:r>
            <a:endParaRPr sz="900">
              <a:solidFill>
                <a:srgbClr val="3C3C3B"/>
              </a:solidFill>
              <a:latin typeface="Century Gothic"/>
              <a:ea typeface="Century Gothic"/>
              <a:cs typeface="Century Gothic"/>
              <a:sym typeface="Century Gothic"/>
            </a:endParaRPr>
          </a:p>
        </p:txBody>
      </p:sp>
      <p:sp>
        <p:nvSpPr>
          <p:cNvPr id="5900" name="Google Shape;5900;p330"/>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chemeClr val="dk1"/>
                </a:solidFill>
                <a:latin typeface="Century Gothic"/>
                <a:ea typeface="Century Gothic"/>
                <a:cs typeface="Century Gothic"/>
                <a:sym typeface="Century Gothic"/>
              </a:rPr>
              <a:t>Automation of current manual HR reporting</a:t>
            </a:r>
            <a:endParaRPr sz="800">
              <a:solidFill>
                <a:schemeClr val="dk1"/>
              </a:solidFill>
              <a:latin typeface="Century Gothic"/>
              <a:ea typeface="Century Gothic"/>
              <a:cs typeface="Century Gothic"/>
              <a:sym typeface="Century Gothic"/>
            </a:endParaRPr>
          </a:p>
          <a:p>
            <a:pPr indent="-108000" lvl="0" marL="108000" marR="0" rtl="0" algn="l">
              <a:spcBef>
                <a:spcPts val="2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Text analytics to determine employee sentiment.</a:t>
            </a:r>
            <a:endParaRPr/>
          </a:p>
          <a:p>
            <a:pPr indent="-108000" lvl="0" marL="108000" marR="0" rtl="0" algn="l">
              <a:spcBef>
                <a:spcPts val="2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Path analysis (e.g. path to ‘good’ employee attrition, ‘bad’ employee termination)</a:t>
            </a:r>
            <a:endParaRPr/>
          </a:p>
          <a:p>
            <a:pPr indent="-57199" lvl="0" marL="108000" marR="0" rtl="0" algn="l">
              <a:spcBef>
                <a:spcPts val="2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5901" name="Google Shape;5901;p330"/>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 / quality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Integration of multiple employee records</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Privacy / confidentiality compliance</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Multiple HRIS systems across group entities, data privacy concerns, labor law compliance</a:t>
            </a:r>
            <a:endParaRPr/>
          </a:p>
        </p:txBody>
      </p:sp>
      <p:sp>
        <p:nvSpPr>
          <p:cNvPr id="5902" name="Google Shape;5902;p330"/>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Headcount, demographics &amp; compensation data</a:t>
            </a:r>
            <a:endParaRPr/>
          </a:p>
          <a:p>
            <a:pPr indent="-108000" lvl="0" marL="108000" marR="0" rtl="0" algn="l">
              <a:lnSpc>
                <a:spcPct val="90000"/>
              </a:lnSpc>
              <a:spcBef>
                <a:spcPts val="2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Workforce skills, and training data</a:t>
            </a:r>
            <a:endParaRPr/>
          </a:p>
          <a:p>
            <a:pPr indent="-108000" lvl="0" marL="108000" marR="0" rtl="0" algn="l">
              <a:lnSpc>
                <a:spcPct val="90000"/>
              </a:lnSpc>
              <a:spcBef>
                <a:spcPts val="2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Attrition / exit interviews, employee productivity &amp; performance, and hiring data</a:t>
            </a:r>
            <a:endParaRPr/>
          </a:p>
          <a:p>
            <a:pPr indent="-108000" lvl="0" marL="108000" marR="0" rtl="0" algn="l">
              <a:lnSpc>
                <a:spcPct val="90000"/>
              </a:lnSpc>
              <a:spcBef>
                <a:spcPts val="2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External salary benchmarks</a:t>
            </a:r>
            <a:endParaRPr/>
          </a:p>
          <a:p>
            <a:pPr indent="-108000" lvl="0" marL="108000" marR="0" rtl="0" algn="l">
              <a:lnSpc>
                <a:spcPct val="90000"/>
              </a:lnSpc>
              <a:spcBef>
                <a:spcPts val="2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Employee Surveys / 360 degree reviews</a:t>
            </a:r>
            <a:endParaRPr/>
          </a:p>
          <a:p>
            <a:pPr indent="-108000" lvl="0" marL="108000" marR="0" rtl="0" algn="l">
              <a:lnSpc>
                <a:spcPct val="90000"/>
              </a:lnSpc>
              <a:spcBef>
                <a:spcPts val="2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External employee websites (e.g. Linkedin, Glassdoor)</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HRIS data (SAP/Oracle HR), branch staffing, performance appraisals, training records, exit interviews</a:t>
            </a:r>
            <a:endParaRPr/>
          </a:p>
        </p:txBody>
      </p:sp>
      <p:sp>
        <p:nvSpPr>
          <p:cNvPr id="5903" name="Google Shape;5903;p330"/>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Provide flexible analysis of changing trends in attrition, employee productivity, compensation and hiring cost to drive strategic HR decision making.  </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Become proactive in maintaining required skills and minimizing voluntary attrition. </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Comply with all governmental and contractual employment mandates</a:t>
            </a:r>
            <a:endParaRPr/>
          </a:p>
          <a:p>
            <a:pPr indent="-47674" lvl="0" marL="108000"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Banks employ 50,000-100,000 staff each. Optimize productivity, predict attrition, workforce planning</a:t>
            </a:r>
            <a:endParaRPr/>
          </a:p>
        </p:txBody>
      </p:sp>
      <p:sp>
        <p:nvSpPr>
          <p:cNvPr id="5904" name="Google Shape;5904;p330"/>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5905" name="Google Shape;5905;p330"/>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5906" name="Google Shape;5906;p330"/>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HR Analytics Optimization</a:t>
            </a:r>
            <a:endParaRPr sz="2400"/>
          </a:p>
        </p:txBody>
      </p:sp>
      <p:sp>
        <p:nvSpPr>
          <p:cNvPr id="5907" name="Google Shape;5907;p330">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Enterprise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2" name="Shape 5912"/>
        <p:cNvGrpSpPr/>
        <p:nvPr/>
      </p:nvGrpSpPr>
      <p:grpSpPr>
        <a:xfrm>
          <a:off x="0" y="0"/>
          <a:ext cx="0" cy="0"/>
          <a:chOff x="0" y="0"/>
          <a:chExt cx="0" cy="0"/>
        </a:xfrm>
      </p:grpSpPr>
      <p:cxnSp>
        <p:nvCxnSpPr>
          <p:cNvPr id="5913" name="Google Shape;5913;p331"/>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914" name="Google Shape;5914;p331"/>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915" name="Google Shape;5915;p331"/>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5917" name="Google Shape;5917;p331"/>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accuracy of cost allocations will enable  business users to make  more informed decisions that will  lead to improved profitability</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provide downstream solutions or applications (e.g. profitability, pricing, segmentation, operations) with more detailed and accurate cost information.</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Time and cost savings through greater automation of ABC process.</a:t>
            </a:r>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5918" name="Google Shape;5918;p331"/>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Cost allocation model which allocates costs based on events, activities and behavioural drivers.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view and analyse costing results on a Multi-dimensional basis e.g. customer, product, organisation, business process.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Cost allocation rules are easy to create, manage and maintain</a:t>
            </a:r>
            <a:endParaRPr/>
          </a:p>
          <a:p>
            <a:pPr indent="-108000" lvl="0" marL="108000" marR="0" rtl="0" algn="l">
              <a:spcBef>
                <a:spcPts val="300"/>
              </a:spcBef>
              <a:spcAft>
                <a:spcPts val="0"/>
              </a:spcAft>
              <a:buClr>
                <a:srgbClr val="3C3C3B"/>
              </a:buClr>
              <a:buSzPts val="800"/>
              <a:buFont typeface="Arial"/>
              <a:buChar char="•"/>
            </a:pPr>
            <a:r>
              <a:rPr lang="en-GB" sz="800">
                <a:solidFill>
                  <a:schemeClr val="dk1"/>
                </a:solidFill>
                <a:latin typeface="Century Gothic"/>
                <a:ea typeface="Century Gothic"/>
                <a:cs typeface="Century Gothic"/>
                <a:sym typeface="Century Gothic"/>
              </a:rPr>
              <a:t>Ability to refresh ABC models on a more frequent basis, and with minimal or no manual intervention.</a:t>
            </a:r>
            <a:endParaRPr/>
          </a:p>
          <a:p>
            <a:pPr indent="-108000" lvl="0" marL="108000" marR="0" rtl="0" algn="l">
              <a:spcBef>
                <a:spcPts val="300"/>
              </a:spcBef>
              <a:spcAft>
                <a:spcPts val="0"/>
              </a:spcAft>
              <a:buClr>
                <a:srgbClr val="3C3C3B"/>
              </a:buClr>
              <a:buSzPts val="800"/>
              <a:buFont typeface="Arial"/>
              <a:buChar char="•"/>
            </a:pPr>
            <a:r>
              <a:rPr lang="en-GB" sz="800">
                <a:solidFill>
                  <a:schemeClr val="dk1"/>
                </a:solidFill>
                <a:latin typeface="Century Gothic"/>
                <a:ea typeface="Century Gothic"/>
                <a:cs typeface="Century Gothic"/>
                <a:sym typeface="Century Gothic"/>
              </a:rPr>
              <a:t>Data lineage from model back to source data.</a:t>
            </a:r>
            <a:endParaRPr sz="800">
              <a:solidFill>
                <a:schemeClr val="dk1"/>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Activity-based unit costs feeding Customer Profitability Engine. Digital migration ROI quantification</a:t>
            </a:r>
            <a:endParaRPr/>
          </a:p>
        </p:txBody>
      </p:sp>
      <p:sp>
        <p:nvSpPr>
          <p:cNvPr id="5919" name="Google Shape;5919;p331"/>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Documentation of cost allocation rules and drivers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Delivery of ABC model which generates granular result set which can be used for direct analysis and/or feed other downstream applications.</a:t>
            </a:r>
            <a:endParaRPr/>
          </a:p>
          <a:p>
            <a:pPr indent="0" lvl="0" marL="0" marR="0" rtl="0" algn="l">
              <a:spcBef>
                <a:spcPts val="300"/>
              </a:spcBef>
              <a:spcAft>
                <a:spcPts val="0"/>
              </a:spcAft>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920" name="Google Shape;5920;p331"/>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Business-driven workshops to define cost allocation methodologies and rules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Rules-based calculation engine to perform allocations and generate granular cost results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Leverage costing results to support wide range of customer, organisation and business process analysis and optimization.</a:t>
            </a:r>
            <a:endParaRPr sz="800">
              <a:solidFill>
                <a:srgbClr val="3C3C3B"/>
              </a:solidFill>
              <a:latin typeface="Century Gothic"/>
              <a:ea typeface="Century Gothic"/>
              <a:cs typeface="Century Gothic"/>
              <a:sym typeface="Century Gothic"/>
            </a:endParaRPr>
          </a:p>
        </p:txBody>
      </p:sp>
      <p:sp>
        <p:nvSpPr>
          <p:cNvPr id="5921" name="Google Shape;5921;p331"/>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quality and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Lack of business involvement in defining allocation techniques and rules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Lack of understanding of business processes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Inability to update ABC models based on changing requirements and processes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No Pakistan bank has formal ABC - culture of headcount-based allocation. Requires business buy-in</a:t>
            </a:r>
            <a:endParaRPr/>
          </a:p>
        </p:txBody>
      </p:sp>
      <p:sp>
        <p:nvSpPr>
          <p:cNvPr id="5922" name="Google Shape;5922;p331"/>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G/L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Transactional / behavioural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Master / reference data, e.g. organisation hierarchies, product characteristics &amp; hierarchies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External reference data (e.g. reference salary rates)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Transaction volumes from FSDM, staff time allocation, IT cost allocation, branch cost registers</a:t>
            </a:r>
            <a:endParaRPr/>
          </a:p>
        </p:txBody>
      </p:sp>
      <p:sp>
        <p:nvSpPr>
          <p:cNvPr id="5923" name="Google Shape;5923;p331"/>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Provide an accurate allocation of costs at a unit level to support behavioural performance and profitability management.</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Accurately and efficiently create allocation methodologies  based on high-quality financial data and business defined drivers</a:t>
            </a:r>
            <a:endParaRPr/>
          </a:p>
          <a:p>
            <a:pPr indent="-50849" lvl="0" marL="10800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ABC model: true cost per transaction by channel (branch PKR 150-300, ATM PKR 30-50, digital PKR 5-15)</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ABC is prerequisite for customer profitability, product profitability, and digital migration business case</a:t>
            </a:r>
            <a:endParaRPr/>
          </a:p>
        </p:txBody>
      </p:sp>
      <p:sp>
        <p:nvSpPr>
          <p:cNvPr id="5924" name="Google Shape;5924;p331"/>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5925" name="Google Shape;5925;p331"/>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5926" name="Google Shape;5926;p331"/>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Activity Based Costing</a:t>
            </a:r>
            <a:endParaRPr sz="2400"/>
          </a:p>
        </p:txBody>
      </p:sp>
      <p:sp>
        <p:nvSpPr>
          <p:cNvPr id="5927" name="Google Shape;5927;p331">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Enterprise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2" name="Shape 5932"/>
        <p:cNvGrpSpPr/>
        <p:nvPr/>
      </p:nvGrpSpPr>
      <p:grpSpPr>
        <a:xfrm>
          <a:off x="0" y="0"/>
          <a:ext cx="0" cy="0"/>
          <a:chOff x="0" y="0"/>
          <a:chExt cx="0" cy="0"/>
        </a:xfrm>
      </p:grpSpPr>
      <p:sp>
        <p:nvSpPr>
          <p:cNvPr id="5933" name="Google Shape;5933;p332"/>
          <p:cNvSpPr/>
          <p:nvPr/>
        </p:nvSpPr>
        <p:spPr>
          <a:xfrm>
            <a:off x="420624" y="2331721"/>
            <a:ext cx="2713048" cy="121676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17475" lvl="0" marL="117475"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Financial (cost and revenue) and performance data at the granular level</a:t>
            </a:r>
            <a:endParaRPr/>
          </a:p>
          <a:p>
            <a:pPr indent="-117475" lvl="0" marL="117475"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Risk rating data at the account l&amp; asset level that enables risk measurement of businesses and assets</a:t>
            </a:r>
            <a:endParaRPr/>
          </a:p>
          <a:p>
            <a:pPr indent="-117475" lvl="0" marL="117475"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Market data to support risk factor calculations</a:t>
            </a:r>
            <a:endParaRPr/>
          </a:p>
          <a:p>
            <a:pPr indent="-117475" lvl="0" marL="117475"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Product, customer and business hierarchies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IFRS 9 ECL data (PD, LGD, EAD), RWA by customer/product, KIBOR-based FTP, ABC cost data</a:t>
            </a:r>
            <a:endParaRPr/>
          </a:p>
        </p:txBody>
      </p:sp>
      <p:sp>
        <p:nvSpPr>
          <p:cNvPr id="5934" name="Google Shape;5934;p332"/>
          <p:cNvSpPr/>
          <p:nvPr/>
        </p:nvSpPr>
        <p:spPr>
          <a:xfrm>
            <a:off x="3273552" y="2331720"/>
            <a:ext cx="2715336" cy="12384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19063" lvl="0" marL="119063"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Rules-based calculation engine</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Predictive analytics</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Load, integrate and validate required data.</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Monte-Carlo  Analysis</a:t>
            </a:r>
            <a:endParaRPr/>
          </a:p>
        </p:txBody>
      </p:sp>
      <p:sp>
        <p:nvSpPr>
          <p:cNvPr id="5935" name="Google Shape;5935;p332"/>
          <p:cNvSpPr/>
          <p:nvPr/>
        </p:nvSpPr>
        <p:spPr>
          <a:xfrm>
            <a:off x="3273552" y="3557016"/>
            <a:ext cx="2715336" cy="1238400"/>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80975" lvl="0" marL="180975"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Deliver “provisioned” integrated granular data to the predictive model</a:t>
            </a:r>
            <a:endParaRPr/>
          </a:p>
          <a:p>
            <a:pPr indent="-180975" lvl="0" marL="180975" marR="0" rtl="0" algn="l">
              <a:lnSpc>
                <a:spcPct val="90000"/>
              </a:lnSpc>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Deliver logical and physical mode to support the RAROC model</a:t>
            </a:r>
            <a:endParaRPr/>
          </a:p>
          <a:p>
            <a:pPr indent="-180975" lvl="0" marL="180975" marR="0" rtl="0" algn="l">
              <a:lnSpc>
                <a:spcPct val="90000"/>
              </a:lnSpc>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Establish clear data lineage between source and target data</a:t>
            </a:r>
            <a:endParaRPr/>
          </a:p>
          <a:p>
            <a:pPr indent="-130175" lvl="0" marL="180975" marR="0" rtl="0" algn="l">
              <a:lnSpc>
                <a:spcPct val="90000"/>
              </a:lnSpc>
              <a:spcBef>
                <a:spcPts val="45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130175" lvl="0" marL="180975" marR="0" rtl="0" algn="l">
              <a:lnSpc>
                <a:spcPct val="90000"/>
              </a:lnSpc>
              <a:spcBef>
                <a:spcPts val="4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130175" lvl="0" marL="180975" marR="0" rtl="0" algn="l">
              <a:lnSpc>
                <a:spcPct val="90000"/>
              </a:lnSpc>
              <a:spcBef>
                <a:spcPts val="4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4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936" name="Google Shape;5936;p332"/>
          <p:cNvSpPr/>
          <p:nvPr/>
        </p:nvSpPr>
        <p:spPr>
          <a:xfrm>
            <a:off x="419100" y="3557016"/>
            <a:ext cx="2616024" cy="1238400"/>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19063" lvl="0" marL="119063"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 &amp; sourcing</a:t>
            </a:r>
            <a:endParaRPr/>
          </a:p>
          <a:p>
            <a:pPr indent="-119063" lvl="0" marL="119063"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preparation</a:t>
            </a:r>
            <a:endParaRPr/>
          </a:p>
          <a:p>
            <a:pPr indent="-119063" lvl="0" marL="119063"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timing</a:t>
            </a:r>
            <a:endParaRPr/>
          </a:p>
          <a:p>
            <a:pPr indent="-119063" lvl="0" marL="119063"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integration</a:t>
            </a:r>
            <a:endParaRPr/>
          </a:p>
          <a:p>
            <a:pPr indent="-119063" lvl="0" marL="119063"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volumes &amp; scale</a:t>
            </a:r>
            <a:endParaRPr/>
          </a:p>
          <a:p>
            <a:pPr indent="-119063" lvl="0" marL="119063"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Availability of RAROC model</a:t>
            </a:r>
            <a:endParaRPr sz="800">
              <a:solidFill>
                <a:srgbClr val="3C3C3B"/>
              </a:solidFill>
              <a:latin typeface="Century Gothic"/>
              <a:ea typeface="Century Gothic"/>
              <a:cs typeface="Century Gothic"/>
              <a:sym typeface="Century Gothic"/>
            </a:endParaRPr>
          </a:p>
        </p:txBody>
      </p:sp>
      <p:sp>
        <p:nvSpPr>
          <p:cNvPr id="5937" name="Google Shape;5937;p332"/>
          <p:cNvSpPr/>
          <p:nvPr/>
        </p:nvSpPr>
        <p:spPr>
          <a:xfrm>
            <a:off x="4818899" y="804672"/>
            <a:ext cx="4048665" cy="1438798"/>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a:t>
            </a:r>
            <a:endParaRPr/>
          </a:p>
          <a:p>
            <a:pPr indent="-119063" lvl="0" marL="119063"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Shareholder value will be optimized through:</a:t>
            </a:r>
            <a:endParaRPr/>
          </a:p>
          <a:p>
            <a:pPr indent="-169863" lvl="1" marL="287338"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More profitable capital allocations and investment decisions</a:t>
            </a:r>
            <a:endParaRPr/>
          </a:p>
          <a:p>
            <a:pPr indent="-169863" lvl="1" marL="287338"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Fair representation of product, BU and customer economic profit</a:t>
            </a:r>
            <a:endParaRPr/>
          </a:p>
          <a:p>
            <a:pPr indent="-169863" lvl="1" marL="287338"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Compliance with Basel Accord regulations</a:t>
            </a:r>
            <a:endParaRPr b="0" i="0" sz="800" u="none" cap="none" strike="noStrike">
              <a:solidFill>
                <a:schemeClr val="dk1"/>
              </a:solidFill>
              <a:latin typeface="Century Gothic"/>
              <a:ea typeface="Century Gothic"/>
              <a:cs typeface="Century Gothic"/>
              <a:sym typeface="Century Gothic"/>
            </a:endParaRPr>
          </a:p>
          <a:p>
            <a:pPr indent="-130175" lvl="0" marL="180975" marR="0" rtl="0" algn="l">
              <a:lnSpc>
                <a:spcPct val="90000"/>
              </a:lnSpc>
              <a:spcBef>
                <a:spcPts val="300"/>
              </a:spcBef>
              <a:spcAft>
                <a:spcPts val="0"/>
              </a:spcAft>
              <a:buClr>
                <a:schemeClr val="dk1"/>
              </a:buClr>
              <a:buSzPts val="800"/>
              <a:buFont typeface="Arial"/>
              <a:buNone/>
            </a:pPr>
            <a:r>
              <a:t/>
            </a:r>
            <a:endParaRPr b="1" sz="800">
              <a:solidFill>
                <a:srgbClr val="BBBCBE"/>
              </a:solidFill>
              <a:latin typeface="Century Gothic"/>
              <a:ea typeface="Century Gothic"/>
              <a:cs typeface="Century Gothic"/>
              <a:sym typeface="Century Gothic"/>
            </a:endParaRPr>
          </a:p>
        </p:txBody>
      </p:sp>
      <p:cxnSp>
        <p:nvCxnSpPr>
          <p:cNvPr id="5938" name="Google Shape;5938;p332"/>
          <p:cNvCxnSpPr/>
          <p:nvPr/>
        </p:nvCxnSpPr>
        <p:spPr>
          <a:xfrm>
            <a:off x="3122330" y="2378910"/>
            <a:ext cx="0" cy="2339140"/>
          </a:xfrm>
          <a:prstGeom prst="straightConnector1">
            <a:avLst/>
          </a:prstGeom>
          <a:noFill/>
          <a:ln cap="flat" cmpd="sng" w="12700">
            <a:solidFill>
              <a:schemeClr val="lt2"/>
            </a:solidFill>
            <a:prstDash val="solid"/>
            <a:round/>
            <a:headEnd len="sm" w="sm" type="none"/>
            <a:tailEnd len="sm" w="sm" type="none"/>
          </a:ln>
        </p:spPr>
      </p:cxnSp>
      <p:cxnSp>
        <p:nvCxnSpPr>
          <p:cNvPr id="5939" name="Google Shape;5939;p332"/>
          <p:cNvCxnSpPr/>
          <p:nvPr/>
        </p:nvCxnSpPr>
        <p:spPr>
          <a:xfrm>
            <a:off x="6121745" y="2378910"/>
            <a:ext cx="0" cy="2339140"/>
          </a:xfrm>
          <a:prstGeom prst="straightConnector1">
            <a:avLst/>
          </a:prstGeom>
          <a:noFill/>
          <a:ln cap="flat" cmpd="sng" w="12700">
            <a:solidFill>
              <a:schemeClr val="lt2"/>
            </a:solidFill>
            <a:prstDash val="solid"/>
            <a:round/>
            <a:headEnd len="sm" w="sm" type="none"/>
            <a:tailEnd len="sm" w="sm" type="none"/>
          </a:ln>
        </p:spPr>
      </p:cxnSp>
      <p:cxnSp>
        <p:nvCxnSpPr>
          <p:cNvPr id="5940" name="Google Shape;5940;p332"/>
          <p:cNvCxnSpPr/>
          <p:nvPr/>
        </p:nvCxnSpPr>
        <p:spPr>
          <a:xfrm>
            <a:off x="4576599" y="865188"/>
            <a:ext cx="0" cy="1501152"/>
          </a:xfrm>
          <a:prstGeom prst="straightConnector1">
            <a:avLst/>
          </a:prstGeom>
          <a:noFill/>
          <a:ln cap="flat" cmpd="sng" w="12700">
            <a:solidFill>
              <a:schemeClr val="lt2"/>
            </a:solidFill>
            <a:prstDash val="solid"/>
            <a:round/>
            <a:headEnd len="sm" w="sm" type="none"/>
            <a:tailEnd len="sm" w="sm" type="none"/>
          </a:ln>
        </p:spPr>
      </p:cxnSp>
      <p:sp>
        <p:nvSpPr>
          <p:cNvPr id="5941" name="Google Shape;5941;p332"/>
          <p:cNvSpPr/>
          <p:nvPr/>
        </p:nvSpPr>
        <p:spPr>
          <a:xfrm>
            <a:off x="6144778" y="2331720"/>
            <a:ext cx="2829111" cy="1844496"/>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50">
                <a:solidFill>
                  <a:schemeClr val="dk2"/>
                </a:solidFill>
                <a:latin typeface="Century Gothic"/>
                <a:ea typeface="Century Gothic"/>
                <a:cs typeface="Century Gothic"/>
                <a:sym typeface="Century Gothic"/>
              </a:rPr>
              <a:t>Expected Outcome of Analysis</a:t>
            </a:r>
            <a:endParaRPr/>
          </a:p>
          <a:p>
            <a:pPr indent="-117475" lvl="0" marL="117475" marR="0" rtl="0" algn="l">
              <a:lnSpc>
                <a:spcPct val="90000"/>
              </a:lnSpc>
              <a:spcBef>
                <a:spcPts val="525"/>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Shareholder Value Added</a:t>
            </a:r>
            <a:endParaRPr/>
          </a:p>
          <a:p>
            <a:pPr indent="-117475" lvl="0" marL="1174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Risk Adjusted Return on Capital</a:t>
            </a:r>
            <a:endParaRPr/>
          </a:p>
          <a:p>
            <a:pPr indent="-117475" lvl="0" marL="1174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Product Profitability</a:t>
            </a:r>
            <a:endParaRPr/>
          </a:p>
          <a:p>
            <a:pPr indent="-117475" lvl="0" marL="1174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Greater precision in capital allocation and funds transfer</a:t>
            </a:r>
            <a:endParaRPr/>
          </a:p>
          <a:p>
            <a:pPr indent="-117475" lvl="0" marL="1174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Greater accountability</a:t>
            </a:r>
            <a:endParaRPr/>
          </a:p>
          <a:p>
            <a:pPr indent="-117475" lvl="1" marL="117475" marR="0" rtl="0" algn="l">
              <a:lnSpc>
                <a:spcPct val="90000"/>
              </a:lnSpc>
              <a:spcBef>
                <a:spcPts val="45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More effective capital adequacy planning</a:t>
            </a:r>
            <a:endParaRPr/>
          </a:p>
          <a:p>
            <a:pPr indent="-117475" lvl="1" marL="117475" marR="0" rtl="0" algn="l">
              <a:lnSpc>
                <a:spcPct val="90000"/>
              </a:lnSpc>
              <a:spcBef>
                <a:spcPts val="45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Better valuations of assets and potential acquisitions or divestments</a:t>
            </a:r>
            <a:endParaRPr/>
          </a:p>
          <a:p>
            <a:pPr indent="-60325" lvl="1" marL="117475" marR="0" rtl="0" algn="l">
              <a:lnSpc>
                <a:spcPct val="90000"/>
              </a:lnSpc>
              <a:spcBef>
                <a:spcPts val="450"/>
              </a:spcBef>
              <a:spcAft>
                <a:spcPts val="0"/>
              </a:spcAft>
              <a:buClr>
                <a:schemeClr val="dk1"/>
              </a:buClr>
              <a:buSzPts val="900"/>
              <a:buFont typeface="Arial"/>
              <a:buNone/>
            </a:pPr>
            <a:r>
              <a:t/>
            </a:r>
            <a:endParaRPr b="0" i="0" sz="900" u="none" cap="none" strike="noStrike">
              <a:solidFill>
                <a:srgbClr val="3C3C3B"/>
              </a:solidFill>
              <a:latin typeface="Century Gothic"/>
              <a:ea typeface="Century Gothic"/>
              <a:cs typeface="Century Gothic"/>
              <a:sym typeface="Century Gothic"/>
            </a:endParaRPr>
          </a:p>
          <a:p>
            <a:pPr indent="-66675" lvl="0" marL="117475" marR="0" rtl="0" algn="l">
              <a:lnSpc>
                <a:spcPct val="90000"/>
              </a:lnSpc>
              <a:spcBef>
                <a:spcPts val="45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180975" lvl="0" marL="180975" marR="0" rtl="0" algn="l">
              <a:lnSpc>
                <a:spcPct val="90000"/>
              </a:lnSpc>
              <a:spcBef>
                <a:spcPts val="400"/>
              </a:spcBef>
              <a:spcAft>
                <a:spcPts val="0"/>
              </a:spcAft>
              <a:buNone/>
            </a:pPr>
            <a:r>
              <a:t/>
            </a:r>
            <a:endParaRPr b="1" sz="1050">
              <a:solidFill>
                <a:schemeClr val="dk2"/>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RAROC-based capital reallocation: shift from low-RAROC (unsecured consumer) to high-RAROC (trade finance)</a:t>
            </a:r>
            <a:endParaRPr/>
          </a:p>
        </p:txBody>
      </p:sp>
      <p:sp>
        <p:nvSpPr>
          <p:cNvPr id="5942" name="Google Shape;5942;p332"/>
          <p:cNvSpPr/>
          <p:nvPr/>
        </p:nvSpPr>
        <p:spPr>
          <a:xfrm>
            <a:off x="420636" y="804675"/>
            <a:ext cx="3949701" cy="1469231"/>
          </a:xfrm>
          <a:prstGeom prst="rect">
            <a:avLst/>
          </a:prstGeom>
          <a:noFill/>
          <a:ln>
            <a:noFill/>
          </a:ln>
        </p:spPr>
        <p:txBody>
          <a:bodyPr anchorCtr="0" anchor="t" bIns="36575" lIns="36575" spcFirstLastPara="1" rIns="36000" wrap="square" tIns="36575">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19063" lvl="0" marL="119063"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Create a risk inclusive measurement of the enterprise to motivate the growth of true shareholder value.  </a:t>
            </a:r>
            <a:endParaRPr/>
          </a:p>
          <a:p>
            <a:pPr indent="-119063" lvl="0" marL="119063"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The measure would enhance activities including: pricing, mergers &amp; acquisitions, performance management, capital management, regulatory reporting, risk management  and asset management.</a:t>
            </a:r>
            <a:endParaRPr/>
          </a:p>
          <a:p>
            <a:pPr indent="-119063" lvl="0" marL="119063"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RAROC addresses the problems created by using profitability  metrics that do not include risk adjusted capital costs resulting in sub-optimal strategic decisions.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Calculate RAROC at customer/product/branch/segment level per SBP ICAAP requirements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RAROC = (Revenue - Costs - Expected Loss) / Economic Capital. SBP min CAR ~14-16% effective</a:t>
            </a:r>
            <a:endParaRPr/>
          </a:p>
        </p:txBody>
      </p:sp>
      <p:sp>
        <p:nvSpPr>
          <p:cNvPr id="5943" name="Google Shape;5943;p332"/>
          <p:cNvSpPr/>
          <p:nvPr/>
        </p:nvSpPr>
        <p:spPr>
          <a:xfrm>
            <a:off x="6545103" y="340293"/>
            <a:ext cx="2598899" cy="474451"/>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9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5945" name="Google Shape;5945;p332"/>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5946" name="Google Shape;5946;p332"/>
          <p:cNvSpPr txBox="1"/>
          <p:nvPr>
            <p:ph type="title"/>
          </p:nvPr>
        </p:nvSpPr>
        <p:spPr>
          <a:xfrm>
            <a:off x="423875" y="164592"/>
            <a:ext cx="82629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Risk Adjusted Return on Capital (RAROC)</a:t>
            </a:r>
            <a:endParaRPr sz="2400"/>
          </a:p>
        </p:txBody>
      </p:sp>
      <p:sp>
        <p:nvSpPr>
          <p:cNvPr id="5947" name="Google Shape;5947;p332">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Enterprise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2" name="Shape 5952"/>
        <p:cNvGrpSpPr/>
        <p:nvPr/>
      </p:nvGrpSpPr>
      <p:grpSpPr>
        <a:xfrm>
          <a:off x="0" y="0"/>
          <a:ext cx="0" cy="0"/>
          <a:chOff x="0" y="0"/>
          <a:chExt cx="0" cy="0"/>
        </a:xfrm>
      </p:grpSpPr>
      <p:cxnSp>
        <p:nvCxnSpPr>
          <p:cNvPr id="5953" name="Google Shape;5953;p333"/>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954" name="Google Shape;5954;p333"/>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955" name="Google Shape;5955;p333"/>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5957" name="Google Shape;5957;p333"/>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accuracy of profitability calculations will enable  business users to make  more informed decisions.</a:t>
            </a:r>
            <a:endParaRPr sz="900">
              <a:solidFill>
                <a:schemeClr val="dk1"/>
              </a:solidFill>
              <a:latin typeface="Century Gothic"/>
              <a:ea typeface="Century Gothic"/>
              <a:cs typeface="Century Gothic"/>
              <a:sym typeface="Century Gothic"/>
            </a:endParaRPr>
          </a:p>
          <a:p>
            <a:pPr indent="-108000" lvl="0" marL="108000" marR="0" rtl="0" algn="l">
              <a:lnSpc>
                <a:spcPct val="90000"/>
              </a:lnSpc>
              <a:spcBef>
                <a:spcPts val="2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provide downstream solutions or applications (e.g. pricing, customer segmentation, operations) with more detailed and accurate profitability information.</a:t>
            </a:r>
            <a:endParaRPr/>
          </a:p>
          <a:p>
            <a:pPr indent="-108000" lvl="0" marL="108000" marR="0" rtl="0" algn="l">
              <a:lnSpc>
                <a:spcPct val="90000"/>
              </a:lnSpc>
              <a:spcBef>
                <a:spcPts val="2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Time and cost savings through greater automation of profitability calculation process.</a:t>
            </a:r>
            <a:endParaRPr/>
          </a:p>
          <a:p>
            <a:pPr indent="-108000" lvl="0" marL="108000" marR="0" rtl="0" algn="l">
              <a:lnSpc>
                <a:spcPct val="90000"/>
              </a:lnSpc>
              <a:spcBef>
                <a:spcPts val="2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“What if”  scenario analysis based on differing assumptions to support decision making</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2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5958" name="Google Shape;5958;p333"/>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Profitability model which calculates  granular results based on events, activities and behavioural drivers. </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view and analyse results on a Multi-dimensional basis e.g. customer, product, organisation, business process.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Profitability calculation rules are easy to create, manage and maintain</a:t>
            </a:r>
            <a:endParaRPr/>
          </a:p>
          <a:p>
            <a:pPr indent="-108000" lvl="0" marL="108000" marR="0" rtl="0" algn="l">
              <a:spcBef>
                <a:spcPts val="300"/>
              </a:spcBef>
              <a:spcAft>
                <a:spcPts val="0"/>
              </a:spcAft>
              <a:buClr>
                <a:srgbClr val="3C3C3B"/>
              </a:buClr>
              <a:buSzPts val="800"/>
              <a:buFont typeface="Arial"/>
              <a:buChar char="•"/>
            </a:pPr>
            <a:r>
              <a:rPr lang="en-GB" sz="800">
                <a:solidFill>
                  <a:schemeClr val="dk1"/>
                </a:solidFill>
                <a:latin typeface="Century Gothic"/>
                <a:ea typeface="Century Gothic"/>
                <a:cs typeface="Century Gothic"/>
                <a:sym typeface="Century Gothic"/>
              </a:rPr>
              <a:t>Ability to refresh profitability models on a more frequent basis, and with minimal or no manual intervention.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Auditable, traceable  and reconcilable back to the general ledger and P&amp;L statements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Identify top 2% customers generating ~20% revenue, bottom 20% destroying value, cross-subsidy flows</a:t>
            </a:r>
            <a:endParaRPr/>
          </a:p>
        </p:txBody>
      </p:sp>
      <p:sp>
        <p:nvSpPr>
          <p:cNvPr id="5959" name="Google Shape;5959;p333"/>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Documentation of profitability rules</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Delivery of profitability model which generates granular result set and which can be used for direct analysis and/or feed other downstream applications.</a:t>
            </a:r>
            <a:endParaRPr sz="800">
              <a:solidFill>
                <a:srgbClr val="3C3C3B"/>
              </a:solidFill>
              <a:latin typeface="Century Gothic"/>
              <a:ea typeface="Century Gothic"/>
              <a:cs typeface="Century Gothic"/>
              <a:sym typeface="Century Gothic"/>
            </a:endParaRPr>
          </a:p>
        </p:txBody>
      </p:sp>
      <p:sp>
        <p:nvSpPr>
          <p:cNvPr id="5960" name="Google Shape;5960;p333"/>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Business-driven workshops to define profitability methodologies and rules</a:t>
            </a:r>
            <a:endParaRPr/>
          </a:p>
          <a:p>
            <a:pPr indent="-108000" lvl="0" marL="108000" marR="0" rtl="0" algn="l">
              <a:spcBef>
                <a:spcPts val="1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Rules-based calculation engine to perform profitability calculations and generate granular results</a:t>
            </a:r>
            <a:endParaRPr sz="800">
              <a:solidFill>
                <a:srgbClr val="3C3C3B"/>
              </a:solidFill>
              <a:latin typeface="Century Gothic"/>
              <a:ea typeface="Century Gothic"/>
              <a:cs typeface="Century Gothic"/>
              <a:sym typeface="Century Gothic"/>
            </a:endParaRPr>
          </a:p>
          <a:p>
            <a:pPr indent="-108000" lvl="0" marL="108000" marR="0" rtl="0" algn="l">
              <a:spcBef>
                <a:spcPts val="1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Leverage results to support wide range of analysis and optimization.</a:t>
            </a:r>
            <a:endParaRPr/>
          </a:p>
          <a:p>
            <a:pPr indent="-108000" lvl="0" marL="108000" marR="0" rtl="0" algn="l">
              <a:spcBef>
                <a:spcPts val="1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Scenario modelling capabilities</a:t>
            </a:r>
            <a:endParaRPr sz="800">
              <a:solidFill>
                <a:srgbClr val="3C3C3B"/>
              </a:solidFill>
              <a:latin typeface="Century Gothic"/>
              <a:ea typeface="Century Gothic"/>
              <a:cs typeface="Century Gothic"/>
              <a:sym typeface="Century Gothic"/>
            </a:endParaRPr>
          </a:p>
        </p:txBody>
      </p:sp>
      <p:sp>
        <p:nvSpPr>
          <p:cNvPr id="5961" name="Google Shape;5961;p333"/>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quality and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align business stakeholders over calculation rules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Performance and scalability for high volume calculations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5962" name="Google Shape;5962;p333"/>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G/L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Customer; Product; Accounts, Services, other agreements;;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Transactions and interactions.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Master and reference data</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Interest and exchange rates</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FSDM: FACT_CUSTOMER_PROFITABILITY with 35+ measures at individual customer level</a:t>
            </a:r>
            <a:endParaRPr/>
          </a:p>
        </p:txBody>
      </p:sp>
      <p:sp>
        <p:nvSpPr>
          <p:cNvPr id="5963" name="Google Shape;5963;p333"/>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Utilization of financial and non-financial data to gain a deeper understanding of the key drivers of profitability in an organization</a:t>
            </a:r>
            <a:endParaRPr/>
          </a:p>
          <a:p>
            <a:pPr indent="-171450" lvl="0" marL="266700" marR="0" rtl="0" algn="l">
              <a:spcBef>
                <a:spcPts val="300"/>
              </a:spcBef>
              <a:spcAft>
                <a:spcPts val="0"/>
              </a:spcAft>
              <a:buClr>
                <a:srgbClr val="3C3C3B"/>
              </a:buClr>
              <a:buSzPts val="900"/>
              <a:buFont typeface="Century Gothic"/>
              <a:buChar char="−"/>
            </a:pPr>
            <a:r>
              <a:rPr lang="en-GB" sz="900">
                <a:solidFill>
                  <a:schemeClr val="dk1"/>
                </a:solidFill>
                <a:latin typeface="Century Gothic"/>
                <a:ea typeface="Century Gothic"/>
                <a:cs typeface="Century Gothic"/>
                <a:sym typeface="Century Gothic"/>
              </a:rPr>
              <a:t>Many profitability models and allocations are at an aggregated level. </a:t>
            </a:r>
            <a:endParaRPr/>
          </a:p>
          <a:p>
            <a:pPr indent="-171450" lvl="0" marL="266700" marR="0" rtl="0" algn="l">
              <a:spcBef>
                <a:spcPts val="300"/>
              </a:spcBef>
              <a:spcAft>
                <a:spcPts val="0"/>
              </a:spcAft>
              <a:buClr>
                <a:srgbClr val="3C3C3B"/>
              </a:buClr>
              <a:buSzPts val="900"/>
              <a:buFont typeface="Century Gothic"/>
              <a:buChar char="−"/>
            </a:pPr>
            <a:r>
              <a:rPr lang="en-GB" sz="900">
                <a:solidFill>
                  <a:schemeClr val="dk1"/>
                </a:solidFill>
                <a:latin typeface="Century Gothic"/>
                <a:ea typeface="Century Gothic"/>
                <a:cs typeface="Century Gothic"/>
                <a:sym typeface="Century Gothic"/>
              </a:rPr>
              <a:t>Many profitability models are difficult to understand, maintain, inflexible to change and lack ability to scale</a:t>
            </a:r>
            <a:endParaRPr/>
          </a:p>
          <a:p>
            <a:pPr indent="-171450" lvl="0" marL="266700" marR="0" rtl="0" algn="l">
              <a:spcBef>
                <a:spcPts val="300"/>
              </a:spcBef>
              <a:spcAft>
                <a:spcPts val="0"/>
              </a:spcAft>
              <a:buClr>
                <a:srgbClr val="3C3C3B"/>
              </a:buClr>
              <a:buSzPts val="900"/>
              <a:buFont typeface="Century Gothic"/>
              <a:buChar char="−"/>
            </a:pPr>
            <a:r>
              <a:rPr lang="en-GB" sz="900">
                <a:solidFill>
                  <a:schemeClr val="dk1"/>
                </a:solidFill>
                <a:latin typeface="Century Gothic"/>
                <a:ea typeface="Century Gothic"/>
                <a:cs typeface="Century Gothic"/>
                <a:sym typeface="Century Gothic"/>
              </a:rPr>
              <a:t>Many organisations have separate inconsistent models for various dimension of profitability (e.g. customer, product etc.)</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Multi-dimensional profitability: Customer, Product, Branch, Segment, Channel, Region via FSDM star schema</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Full P&amp;L: FTP NII + Fees - Costs - ECL Provision = PBT - Capital Charge = EVA</a:t>
            </a:r>
            <a:endParaRPr/>
          </a:p>
        </p:txBody>
      </p:sp>
      <p:sp>
        <p:nvSpPr>
          <p:cNvPr id="5964" name="Google Shape;5964;p333"/>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p:txBody>
      </p:sp>
      <p:sp>
        <p:nvSpPr>
          <p:cNvPr id="5965" name="Google Shape;5965;p333"/>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5966" name="Google Shape;5966;p333"/>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Profitability Analytics</a:t>
            </a:r>
            <a:endParaRPr sz="2400"/>
          </a:p>
        </p:txBody>
      </p:sp>
      <p:sp>
        <p:nvSpPr>
          <p:cNvPr id="5967" name="Google Shape;5967;p333">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Enterprise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2" name="Shape 5972"/>
        <p:cNvGrpSpPr/>
        <p:nvPr/>
      </p:nvGrpSpPr>
      <p:grpSpPr>
        <a:xfrm>
          <a:off x="0" y="0"/>
          <a:ext cx="0" cy="0"/>
          <a:chOff x="0" y="0"/>
          <a:chExt cx="0" cy="0"/>
        </a:xfrm>
      </p:grpSpPr>
      <p:cxnSp>
        <p:nvCxnSpPr>
          <p:cNvPr id="5973" name="Google Shape;5973;p334"/>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974" name="Google Shape;5974;p334"/>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975" name="Google Shape;5975;p334"/>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5977" name="Google Shape;5977;p334"/>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profitability of Loan portfolio vs. standard risk-based pricing.</a:t>
            </a:r>
            <a:endParaRPr/>
          </a:p>
          <a:p>
            <a:pPr indent="-108000" lvl="0" marL="108000" marR="0" rtl="0" algn="l">
              <a:lnSpc>
                <a:spcPct val="90000"/>
              </a:lnSpc>
              <a:spcBef>
                <a:spcPts val="2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ability to respond quickly to changing market conditions and competition.</a:t>
            </a:r>
            <a:endParaRPr/>
          </a:p>
          <a:p>
            <a:pPr indent="-108000" lvl="0" marL="108000" marR="0" rtl="0" algn="l">
              <a:lnSpc>
                <a:spcPct val="90000"/>
              </a:lnSpc>
              <a:spcBef>
                <a:spcPts val="2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Enhanced ability to monitor loan portfolio performance, track against expected profitability, and perform scenario analysis to understand the implication of potential pricing decisions.</a:t>
            </a:r>
            <a:endParaRPr/>
          </a:p>
        </p:txBody>
      </p:sp>
      <p:sp>
        <p:nvSpPr>
          <p:cNvPr id="5978" name="Google Shape;5978;p334"/>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In-database calculation engine solution which generates matrix of projected NPV outcomes for all possible combinations of input variables and model parameters.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Graphical User Interface to maintain model parameters and assumptions and execute scenarios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Integration with operational loan applications systems &amp; processes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Risk-based pricing: lower rates for low-risk, higher for high-risk. Target: 20-50bps NIM improvement</a:t>
            </a:r>
            <a:endParaRPr/>
          </a:p>
        </p:txBody>
      </p:sp>
      <p:sp>
        <p:nvSpPr>
          <p:cNvPr id="5979" name="Google Shape;5979;p334"/>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Documentation of model parameters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Delivery of Loan Price Optimisation model which delivers matrix of projected NPV for all combinations of input parameters., and enables loan applications to select optimal price based on application and customer characteristics.</a:t>
            </a:r>
            <a:endParaRPr/>
          </a:p>
        </p:txBody>
      </p:sp>
      <p:sp>
        <p:nvSpPr>
          <p:cNvPr id="5980" name="Google Shape;5980;p334"/>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Combine Propensity, Price Elasticity and Credit Score models with Profitability results to generate projected NPV at all Loan Offer price points / amount / term.</a:t>
            </a:r>
            <a:endParaRPr/>
          </a:p>
          <a:p>
            <a:pPr indent="-108000" lvl="0" marL="108000" marR="0" rtl="0" algn="l">
              <a:spcBef>
                <a:spcPts val="1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Resulting data can be used to select optimal price point for individual customer loan offers at point of inquiry/application based on amount, term and known customer characteristics.</a:t>
            </a:r>
            <a:endParaRPr sz="800">
              <a:solidFill>
                <a:srgbClr val="3C3C3B"/>
              </a:solidFill>
              <a:latin typeface="Century Gothic"/>
              <a:ea typeface="Century Gothic"/>
              <a:cs typeface="Century Gothic"/>
              <a:sym typeface="Century Gothic"/>
            </a:endParaRPr>
          </a:p>
        </p:txBody>
      </p:sp>
      <p:sp>
        <p:nvSpPr>
          <p:cNvPr id="5981" name="Google Shape;5981;p334"/>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quality and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Availability of required propensity and elasticity models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Performance and scalability for high volume calculations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5982" name="Google Shape;5982;p334"/>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Detailed Profitability results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Credit Scores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Propensity Model(s) – e.g. to buy related insurance products, to repay/close early etc.</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Price Elasticity Model(s)</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Forecast funding rates, cost rates etc.</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NPV Model assumptions/parameters</a:t>
            </a:r>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57199" lvl="0" marL="108000" marR="0" rtl="0" algn="l">
              <a:lnSpc>
                <a:spcPct val="90000"/>
              </a:lnSpc>
              <a:spcBef>
                <a:spcPts val="30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ECIB scores, customer profitability data, KIBOR rates, competitor intelligence, collateral values</a:t>
            </a:r>
            <a:endParaRPr/>
          </a:p>
        </p:txBody>
      </p:sp>
      <p:sp>
        <p:nvSpPr>
          <p:cNvPr id="5983" name="Google Shape;5983;p334"/>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Personal Loans are a highly commoditised product and it is difficult to maintain margin in competitive markets.</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Lowering pricing across the board in order to be competitive reduces margins even where customers would still take the loan if offered a higher rate.</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Banks want to be able to offer loans to customers at the optimal price which maximises margin and overall  portfolio profitability.</a:t>
            </a:r>
            <a:endParaRPr sz="900">
              <a:solidFill>
                <a:schemeClr val="dk1"/>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Optimize lending rate: KIBOR + risk premium based on ECIB score, relationship value, collateral, tenor</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Currently personal loans priced KIBOR + 5-8% flat - massive cross-subsidy between risk levels</a:t>
            </a:r>
            <a:endParaRPr/>
          </a:p>
        </p:txBody>
      </p:sp>
      <p:sp>
        <p:nvSpPr>
          <p:cNvPr id="5984" name="Google Shape;5984;p334"/>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Major UK Retail Bank</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p:txBody>
      </p:sp>
      <p:sp>
        <p:nvSpPr>
          <p:cNvPr id="5985" name="Google Shape;5985;p334"/>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5986" name="Google Shape;5986;p334"/>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Individual Loan Price Optimisation</a:t>
            </a:r>
            <a:endParaRPr sz="2400"/>
          </a:p>
        </p:txBody>
      </p:sp>
      <p:sp>
        <p:nvSpPr>
          <p:cNvPr id="5987" name="Google Shape;5987;p334">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Enterprise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2" name="Shape 5992"/>
        <p:cNvGrpSpPr/>
        <p:nvPr/>
      </p:nvGrpSpPr>
      <p:grpSpPr>
        <a:xfrm>
          <a:off x="0" y="0"/>
          <a:ext cx="0" cy="0"/>
          <a:chOff x="0" y="0"/>
          <a:chExt cx="0" cy="0"/>
        </a:xfrm>
      </p:grpSpPr>
      <p:cxnSp>
        <p:nvCxnSpPr>
          <p:cNvPr id="5993" name="Google Shape;5993;p335"/>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994" name="Google Shape;5994;p335"/>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5995" name="Google Shape;5995;p335"/>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5997" name="Google Shape;5997;p335"/>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50">
                <a:solidFill>
                  <a:srgbClr val="0079DB"/>
                </a:solidFill>
                <a:latin typeface="Century Gothic"/>
                <a:ea typeface="Century Gothic"/>
                <a:cs typeface="Century Gothic"/>
                <a:sym typeface="Century Gothic"/>
              </a:rPr>
              <a:t>Business Benefit </a:t>
            </a:r>
            <a:endParaRPr/>
          </a:p>
          <a:p>
            <a:pPr indent="-180975" lvl="0" marL="180975"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More rapid and effective performance measurement, planning and control</a:t>
            </a:r>
            <a:endParaRPr/>
          </a:p>
          <a:p>
            <a:pPr indent="-180975" lvl="0" marL="180975"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Accelerated generation of EPM reporting, e.g. Balance Scorecard</a:t>
            </a:r>
            <a:endParaRPr/>
          </a:p>
          <a:p>
            <a:pPr indent="-180975" lvl="0" marL="180975"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More adaptable to changes in corporate metrics</a:t>
            </a:r>
            <a:endParaRPr/>
          </a:p>
          <a:p>
            <a:pPr indent="-180975" lvl="0" marL="180975"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&amp; strengthened data governance</a:t>
            </a:r>
            <a:endParaRPr/>
          </a:p>
          <a:p>
            <a:pPr indent="-180975" lvl="0" marL="180975"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Lower costs through use of shared infrastructure, data and tools</a:t>
            </a:r>
            <a:endParaRPr sz="900">
              <a:solidFill>
                <a:srgbClr val="3C3C3B"/>
              </a:solidFill>
              <a:latin typeface="Century Gothic"/>
              <a:ea typeface="Century Gothic"/>
              <a:cs typeface="Century Gothic"/>
              <a:sym typeface="Century Gothic"/>
            </a:endParaRPr>
          </a:p>
          <a:p>
            <a:pPr indent="-123825" lvl="1" marL="180975" marR="0" rtl="0" algn="l">
              <a:spcBef>
                <a:spcPts val="300"/>
              </a:spcBef>
              <a:spcAft>
                <a:spcPts val="0"/>
              </a:spcAft>
              <a:buClr>
                <a:schemeClr val="dk1"/>
              </a:buClr>
              <a:buSzPts val="900"/>
              <a:buFont typeface="Arial"/>
              <a:buNone/>
            </a:pPr>
            <a:r>
              <a:t/>
            </a:r>
            <a:endParaRPr b="0" i="0" sz="900" u="none" cap="none" strike="noStrike">
              <a:solidFill>
                <a:srgbClr val="3C3C3B"/>
              </a:solidFill>
              <a:latin typeface="Century Gothic"/>
              <a:ea typeface="Century Gothic"/>
              <a:cs typeface="Century Gothic"/>
              <a:sym typeface="Century Gothic"/>
            </a:endParaRPr>
          </a:p>
          <a:p>
            <a:pPr indent="-123825" lvl="0" marL="180975" marR="0" rtl="0" algn="l">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5998" name="Google Shape;5998;p335"/>
          <p:cNvSpPr/>
          <p:nvPr/>
        </p:nvSpPr>
        <p:spPr>
          <a:xfrm>
            <a:off x="6148806" y="2334154"/>
            <a:ext cx="2714400" cy="1913996"/>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50">
                <a:solidFill>
                  <a:srgbClr val="0079DB"/>
                </a:solidFill>
                <a:latin typeface="Century Gothic"/>
                <a:ea typeface="Century Gothic"/>
                <a:cs typeface="Century Gothic"/>
                <a:sym typeface="Century Gothic"/>
              </a:rPr>
              <a:t>Expected Outcome</a:t>
            </a:r>
            <a:endParaRPr/>
          </a:p>
          <a:p>
            <a:pPr indent="-171450" lvl="0" marL="17145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Efficient and rapid recalculation of the metrics in a timely manner</a:t>
            </a:r>
            <a:endParaRPr/>
          </a:p>
          <a:p>
            <a:pPr indent="-171450" lvl="0" marL="17145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Assurance of data quality and accuracy</a:t>
            </a:r>
            <a:endParaRPr/>
          </a:p>
          <a:p>
            <a:pPr indent="-171450" lvl="0" marL="17145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Visibility in to the components of the reported metrics</a:t>
            </a:r>
            <a:endParaRPr/>
          </a:p>
          <a:p>
            <a:pPr indent="-171450" lvl="0" marL="17145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Reuse of the integrated data for reporting and analysis</a:t>
            </a:r>
            <a:endParaRPr/>
          </a:p>
          <a:p>
            <a:pPr indent="-171450" lvl="0" marL="17145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Ability to understand the role, importance, root cause factors and significance of metrics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Automated daily/weekly/monthly KPI dashboard, branch scorecard, RM performance card, SBP KPIs</a:t>
            </a:r>
            <a:endParaRPr/>
          </a:p>
        </p:txBody>
      </p:sp>
      <p:sp>
        <p:nvSpPr>
          <p:cNvPr id="5999" name="Google Shape;5999;p335"/>
          <p:cNvSpPr/>
          <p:nvPr/>
        </p:nvSpPr>
        <p:spPr>
          <a:xfrm>
            <a:off x="3273552" y="3557016"/>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50">
                <a:solidFill>
                  <a:srgbClr val="0079DB"/>
                </a:solidFill>
                <a:latin typeface="Century Gothic"/>
                <a:ea typeface="Century Gothic"/>
                <a:cs typeface="Century Gothic"/>
                <a:sym typeface="Century Gothic"/>
              </a:rPr>
              <a:t>Success Criteria</a:t>
            </a:r>
            <a:endParaRPr b="1" sz="1050">
              <a:solidFill>
                <a:srgbClr val="0079DB"/>
              </a:solidFill>
              <a:latin typeface="Century Gothic"/>
              <a:ea typeface="Century Gothic"/>
              <a:cs typeface="Century Gothic"/>
              <a:sym typeface="Century Gothic"/>
            </a:endParaRPr>
          </a:p>
          <a:p>
            <a:pPr indent="-111125" lvl="0" marL="111125"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Users gained access to necessary data</a:t>
            </a:r>
            <a:endParaRPr/>
          </a:p>
          <a:p>
            <a:pPr indent="-111125" lvl="0" marL="111125"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All required data is available to calculate the KPIs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lineage is established</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End User Acceptance of results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SLAs were met</a:t>
            </a:r>
            <a:endParaRPr/>
          </a:p>
        </p:txBody>
      </p:sp>
      <p:sp>
        <p:nvSpPr>
          <p:cNvPr id="6000" name="Google Shape;6000;p335"/>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50">
                <a:solidFill>
                  <a:srgbClr val="0079DB"/>
                </a:solidFill>
                <a:latin typeface="Century Gothic"/>
                <a:ea typeface="Century Gothic"/>
                <a:cs typeface="Century Gothic"/>
                <a:sym typeface="Century Gothic"/>
              </a:rPr>
              <a:t>Methodology / Analytic Technique</a:t>
            </a:r>
            <a:endParaRPr/>
          </a:p>
          <a:p>
            <a:pPr indent="-111125" lvl="0" marL="111125"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Load, integrate and validate granular data. </a:t>
            </a:r>
            <a:endParaRPr/>
          </a:p>
          <a:p>
            <a:pPr indent="-111125" lvl="0" marL="111125" marR="0" rtl="0" algn="l">
              <a:lnSpc>
                <a:spcPct val="90000"/>
              </a:lnSpc>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Reference Data Management</a:t>
            </a:r>
            <a:endParaRPr/>
          </a:p>
          <a:p>
            <a:pPr indent="-111125" lvl="0" marL="111125" marR="0" rtl="0" algn="l">
              <a:lnSpc>
                <a:spcPct val="90000"/>
              </a:lnSpc>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In-database rule / calculation engine for KPI calculation</a:t>
            </a:r>
            <a:endParaRPr/>
          </a:p>
          <a:p>
            <a:pPr indent="-111125" lvl="0" marL="111125" marR="0" rtl="0" algn="l">
              <a:lnSpc>
                <a:spcPct val="90000"/>
              </a:lnSpc>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Deliver User Access Layer and Reports/Dashboards</a:t>
            </a:r>
            <a:endParaRPr sz="900">
              <a:solidFill>
                <a:srgbClr val="3C3C3B"/>
              </a:solidFill>
              <a:latin typeface="Century Gothic"/>
              <a:ea typeface="Century Gothic"/>
              <a:cs typeface="Century Gothic"/>
              <a:sym typeface="Century Gothic"/>
            </a:endParaRPr>
          </a:p>
          <a:p>
            <a:pPr indent="0" lvl="0" marL="0" marR="0" rtl="0" algn="l">
              <a:lnSpc>
                <a:spcPct val="90000"/>
              </a:lnSpc>
              <a:spcBef>
                <a:spcPts val="450"/>
              </a:spcBef>
              <a:spcAft>
                <a:spcPts val="0"/>
              </a:spcAft>
              <a:buNone/>
            </a:pPr>
            <a:r>
              <a:t/>
            </a:r>
            <a:endParaRPr sz="900">
              <a:solidFill>
                <a:srgbClr val="3C3C3B"/>
              </a:solidFill>
              <a:latin typeface="Century Gothic"/>
              <a:ea typeface="Century Gothic"/>
              <a:cs typeface="Century Gothic"/>
              <a:sym typeface="Century Gothic"/>
            </a:endParaRPr>
          </a:p>
        </p:txBody>
      </p:sp>
      <p:sp>
        <p:nvSpPr>
          <p:cNvPr id="6001" name="Google Shape;6001;p335"/>
          <p:cNvSpPr/>
          <p:nvPr/>
        </p:nvSpPr>
        <p:spPr>
          <a:xfrm>
            <a:off x="420624" y="3557016"/>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50">
                <a:solidFill>
                  <a:srgbClr val="0079DB"/>
                </a:solidFill>
                <a:latin typeface="Century Gothic"/>
                <a:ea typeface="Century Gothic"/>
                <a:cs typeface="Century Gothic"/>
                <a:sym typeface="Century Gothic"/>
              </a:rPr>
              <a:t>Challenges</a:t>
            </a:r>
            <a:endParaRPr/>
          </a:p>
          <a:p>
            <a:pPr indent="-169863" lvl="0" marL="169863"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availability &amp; latency</a:t>
            </a:r>
            <a:endParaRPr sz="900">
              <a:solidFill>
                <a:srgbClr val="3C3C3B"/>
              </a:solidFill>
              <a:latin typeface="Century Gothic"/>
              <a:ea typeface="Century Gothic"/>
              <a:cs typeface="Century Gothic"/>
              <a:sym typeface="Century Gothic"/>
            </a:endParaRPr>
          </a:p>
          <a:p>
            <a:pPr indent="-169863" lvl="0" marL="169863" marR="0" rtl="0" algn="l">
              <a:spcBef>
                <a:spcPts val="2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granularity &amp; quality</a:t>
            </a:r>
            <a:endParaRPr sz="800">
              <a:solidFill>
                <a:srgbClr val="3C3C3B"/>
              </a:solidFill>
              <a:latin typeface="Century Gothic"/>
              <a:ea typeface="Century Gothic"/>
              <a:cs typeface="Century Gothic"/>
              <a:sym typeface="Century Gothic"/>
            </a:endParaRPr>
          </a:p>
          <a:p>
            <a:pPr indent="-171450" lvl="0" marL="171450" marR="0" rtl="0" algn="l">
              <a:lnSpc>
                <a:spcPct val="90000"/>
              </a:lnSpc>
              <a:spcBef>
                <a:spcPts val="2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Linking external &amp; unstructured data sources</a:t>
            </a:r>
            <a:endParaRPr/>
          </a:p>
          <a:p>
            <a:pPr indent="-171450" lvl="0" marL="171450" marR="0" rtl="0" algn="l">
              <a:lnSpc>
                <a:spcPct val="90000"/>
              </a:lnSpc>
              <a:spcBef>
                <a:spcPts val="2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Resolving disparate data structures</a:t>
            </a:r>
            <a:endParaRPr/>
          </a:p>
          <a:p>
            <a:pPr indent="-171450" lvl="0" marL="171450" marR="0" rtl="0" algn="l">
              <a:lnSpc>
                <a:spcPct val="90000"/>
              </a:lnSpc>
              <a:spcBef>
                <a:spcPts val="2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Resolving data definitions across business line</a:t>
            </a:r>
            <a:endParaRPr sz="900">
              <a:solidFill>
                <a:srgbClr val="3C3C3B"/>
              </a:solidFill>
              <a:latin typeface="Century Gothic"/>
              <a:ea typeface="Century Gothic"/>
              <a:cs typeface="Century Gothic"/>
              <a:sym typeface="Century Gothic"/>
            </a:endParaRPr>
          </a:p>
        </p:txBody>
      </p:sp>
      <p:sp>
        <p:nvSpPr>
          <p:cNvPr id="6002" name="Google Shape;6002;p335"/>
          <p:cNvSpPr/>
          <p:nvPr/>
        </p:nvSpPr>
        <p:spPr>
          <a:xfrm>
            <a:off x="423863" y="2334154"/>
            <a:ext cx="2847982" cy="1278756"/>
          </a:xfrm>
          <a:prstGeom prst="rect">
            <a:avLst/>
          </a:prstGeom>
          <a:noFill/>
          <a:ln>
            <a:noFill/>
          </a:ln>
        </p:spPr>
        <p:txBody>
          <a:bodyPr anchorCtr="0" anchor="t" bIns="46800" lIns="46800" spcFirstLastPara="1" rIns="46800" wrap="square" tIns="46800">
            <a:noAutofit/>
          </a:bodyPr>
          <a:lstStyle/>
          <a:p>
            <a:pPr indent="-180975" lvl="0" marL="180975" marR="0" rtl="0" algn="l">
              <a:spcBef>
                <a:spcPts val="0"/>
              </a:spcBef>
              <a:spcAft>
                <a:spcPts val="0"/>
              </a:spcAft>
              <a:buNone/>
            </a:pPr>
            <a:r>
              <a:rPr b="1" lang="en-GB" sz="1050">
                <a:solidFill>
                  <a:srgbClr val="0079DB"/>
                </a:solidFill>
                <a:latin typeface="Century Gothic"/>
                <a:ea typeface="Century Gothic"/>
                <a:cs typeface="Century Gothic"/>
                <a:sym typeface="Century Gothic"/>
              </a:rPr>
              <a:t>Source Data</a:t>
            </a:r>
            <a:endParaRPr/>
          </a:p>
          <a:p>
            <a:pPr indent="-171450" lvl="1" marL="171450" marR="0" rtl="0" algn="l">
              <a:spcBef>
                <a:spcPts val="30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Broad range of customer, account / agreement, transaction / interaction data</a:t>
            </a:r>
            <a:endParaRPr/>
          </a:p>
          <a:p>
            <a:pPr indent="-171450" lvl="1" marL="171450"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Other internal data e.g. HR, Operations, GL / ERP</a:t>
            </a:r>
            <a:endParaRPr/>
          </a:p>
          <a:p>
            <a:pPr indent="-171450" lvl="1" marL="171450"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External data e.g. rates, competitor pricing</a:t>
            </a:r>
            <a:endParaRPr b="0" i="0" sz="900" u="none" cap="none" strike="noStrike">
              <a:solidFill>
                <a:srgbClr val="3C3C3B"/>
              </a:solidFill>
              <a:latin typeface="Century Gothic"/>
              <a:ea typeface="Century Gothic"/>
              <a:cs typeface="Century Gothic"/>
              <a:sym typeface="Century Gothic"/>
            </a:endParaRPr>
          </a:p>
          <a:p>
            <a:pPr indent="-171450" lvl="1" marL="171450"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Reference data, e.g. product, hierarchies etc.</a:t>
            </a:r>
            <a:endParaRPr b="0" i="0" sz="900" u="none" cap="none" strike="noStrike">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All FSDM data: customer, product, account, transaction, GL, cost, provision, HR</a:t>
            </a:r>
            <a:endParaRPr/>
          </a:p>
        </p:txBody>
      </p:sp>
      <p:sp>
        <p:nvSpPr>
          <p:cNvPr id="6003" name="Google Shape;6003;p335"/>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a:p>
          <a:p>
            <a:pPr indent="-171450" lvl="0" marL="17145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Performance Management information and KPIs is often generated from disparate, fragmented sources</a:t>
            </a:r>
            <a:endParaRPr/>
          </a:p>
          <a:p>
            <a:pPr indent="-171450" lvl="0" marL="17145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Frequency, Timeliness, Consistency and Quality of information can be constrained.</a:t>
            </a:r>
            <a:endParaRPr/>
          </a:p>
          <a:p>
            <a:pPr indent="-171450" lvl="0" marL="17145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Organisations want to rely on timely, high-quality information to  measure and manage business performance</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Centralized KPI engine: 100+ banking KPIs from FSDM, cascading bank to business line to branch to RM</a:t>
            </a:r>
            <a:endParaRPr/>
          </a:p>
        </p:txBody>
      </p:sp>
      <p:sp>
        <p:nvSpPr>
          <p:cNvPr id="6004" name="Google Shape;6004;p335"/>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Owner:   Banking Industry Best Practice</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6005" name="Google Shape;6005;p335"/>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sz="1000">
              <a:solidFill>
                <a:srgbClr val="EC881D"/>
              </a:solidFill>
              <a:latin typeface="Century Gothic"/>
              <a:ea typeface="Century Gothic"/>
              <a:cs typeface="Century Gothic"/>
              <a:sym typeface="Century Gothic"/>
            </a:endParaRPr>
          </a:p>
        </p:txBody>
      </p:sp>
      <p:sp>
        <p:nvSpPr>
          <p:cNvPr id="6006" name="Google Shape;6006;p335"/>
          <p:cNvSpPr txBox="1"/>
          <p:nvPr>
            <p:ph type="title"/>
          </p:nvPr>
        </p:nvSpPr>
        <p:spPr>
          <a:xfrm>
            <a:off x="423872" y="164592"/>
            <a:ext cx="6121237" cy="376236"/>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Performance Management &amp; KPI Factory</a:t>
            </a:r>
            <a:endParaRPr sz="2400"/>
          </a:p>
        </p:txBody>
      </p:sp>
      <p:sp>
        <p:nvSpPr>
          <p:cNvPr id="6007" name="Google Shape;6007;p335">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Enterprise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2" name="Shape 6012"/>
        <p:cNvGrpSpPr/>
        <p:nvPr/>
      </p:nvGrpSpPr>
      <p:grpSpPr>
        <a:xfrm>
          <a:off x="0" y="0"/>
          <a:ext cx="0" cy="0"/>
          <a:chOff x="0" y="0"/>
          <a:chExt cx="0" cy="0"/>
        </a:xfrm>
      </p:grpSpPr>
      <p:cxnSp>
        <p:nvCxnSpPr>
          <p:cNvPr id="6013" name="Google Shape;6013;p336"/>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6014" name="Google Shape;6014;p336"/>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6015" name="Google Shape;6015;p336"/>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6017" name="Google Shape;6017;p336"/>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Reduction in variances due to improved data quality</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forecast frequency</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cycle time</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variance analysis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Access to detailed forecast vs plan vs actual data</a:t>
            </a:r>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6018" name="Google Shape;6018;p336"/>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BI / OLAP solution to drive automated monitoring of performance against budgets &amp; forecasts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Reduce time  for data collection, integration &amp; validation</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prepare forecasts on more frequent and timely basis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use more granular / sophisticated drivers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Rolling forecast quarterly, automated budget-vs-actual variance, what-if for rate/growth/NPL changes</a:t>
            </a:r>
            <a:endParaRPr/>
          </a:p>
        </p:txBody>
      </p:sp>
      <p:sp>
        <p:nvSpPr>
          <p:cNvPr id="6019" name="Google Shape;6019;p336"/>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Delivery of enhanced integration between data repository and BPM toolset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Reduced load on BPM tool / Improved performance</a:t>
            </a:r>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6020" name="Google Shape;6020;p336"/>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Analysis of current state &amp; processes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Design &amp; implement optimised  integration with BPM tool</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6021" name="Google Shape;6021;p336"/>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availability, quality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Organisational resistance to change in existing processes.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Integration with 3</a:t>
            </a:r>
            <a:r>
              <a:rPr baseline="30000" lang="en-GB" sz="800">
                <a:solidFill>
                  <a:srgbClr val="3C3C3B"/>
                </a:solidFill>
                <a:latin typeface="Century Gothic"/>
                <a:ea typeface="Century Gothic"/>
                <a:cs typeface="Century Gothic"/>
                <a:sym typeface="Century Gothic"/>
              </a:rPr>
              <a:t>rd</a:t>
            </a:r>
            <a:r>
              <a:rPr lang="en-GB" sz="800">
                <a:solidFill>
                  <a:srgbClr val="3C3C3B"/>
                </a:solidFill>
                <a:latin typeface="Century Gothic"/>
                <a:ea typeface="Century Gothic"/>
                <a:cs typeface="Century Gothic"/>
                <a:sym typeface="Century Gothic"/>
              </a:rPr>
              <a:t>-party BPM tools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6022" name="Google Shape;6022;p336"/>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P&amp;L data from General Ledger</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Forecast, plans &amp; budgets  for  prior, current &amp; future periods, </a:t>
            </a:r>
            <a:endParaRPr/>
          </a:p>
          <a:p>
            <a:pPr indent="-108000" lvl="0" marL="108000" marR="0" rtl="0" algn="l">
              <a:lnSpc>
                <a:spcPct val="90000"/>
              </a:lnSpc>
              <a:spcBef>
                <a:spcPts val="3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Detail driver based data, e.g.</a:t>
            </a:r>
            <a:endParaRPr/>
          </a:p>
          <a:p>
            <a:pPr indent="-171450" lvl="0" marL="171450" marR="0" rtl="0" algn="l">
              <a:lnSpc>
                <a:spcPct val="90000"/>
              </a:lnSpc>
              <a:spcBef>
                <a:spcPts val="300"/>
              </a:spcBef>
              <a:spcAft>
                <a:spcPts val="0"/>
              </a:spcAft>
              <a:buClr>
                <a:schemeClr val="dk1"/>
              </a:buClr>
              <a:buSzPts val="800"/>
              <a:buFont typeface="Century Gothic"/>
              <a:buChar char="−"/>
            </a:pPr>
            <a:r>
              <a:rPr lang="en-GB" sz="800">
                <a:solidFill>
                  <a:schemeClr val="dk1"/>
                </a:solidFill>
                <a:latin typeface="Century Gothic"/>
                <a:ea typeface="Century Gothic"/>
                <a:cs typeface="Century Gothic"/>
                <a:sym typeface="Century Gothic"/>
              </a:rPr>
              <a:t>Customer, account/agreement, balances, limits, transaction/ call center data.</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FSDM historical P&amp;L, KIBOR forecasts, deposit growth, advance pipeline, IFRS 9 ECL scenarios</a:t>
            </a:r>
            <a:endParaRPr/>
          </a:p>
        </p:txBody>
      </p:sp>
      <p:sp>
        <p:nvSpPr>
          <p:cNvPr id="6023" name="Google Shape;6023;p336"/>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a:p>
          <a:p>
            <a:pPr indent="-108000" lvl="0" marL="108000"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Improve the speed and efficiency of the Budgeting, Planning &amp; Forecasting processes through the integration and automation.</a:t>
            </a:r>
            <a:endParaRPr/>
          </a:p>
          <a:p>
            <a:pPr indent="-171450" lvl="0" marL="266700" marR="0" rtl="0" algn="l">
              <a:spcBef>
                <a:spcPts val="300"/>
              </a:spcBef>
              <a:spcAft>
                <a:spcPts val="0"/>
              </a:spcAft>
              <a:buClr>
                <a:srgbClr val="3C3C3B"/>
              </a:buClr>
              <a:buSzPts val="900"/>
              <a:buFont typeface="Century Gothic"/>
              <a:buChar char="−"/>
            </a:pPr>
            <a:r>
              <a:rPr lang="en-GB" sz="900">
                <a:solidFill>
                  <a:schemeClr val="dk1"/>
                </a:solidFill>
                <a:latin typeface="Century Gothic"/>
                <a:ea typeface="Century Gothic"/>
                <a:cs typeface="Century Gothic"/>
                <a:sym typeface="Century Gothic"/>
              </a:rPr>
              <a:t>ERP-based budgeting, planning is often inflexible, does not  drill down to sufficient detail, and still relies on disparate input data.</a:t>
            </a:r>
            <a:endParaRPr/>
          </a:p>
          <a:p>
            <a:pPr indent="-171450" lvl="0" marL="266700" marR="0" rtl="0" algn="l">
              <a:spcBef>
                <a:spcPts val="300"/>
              </a:spcBef>
              <a:spcAft>
                <a:spcPts val="0"/>
              </a:spcAft>
              <a:buClr>
                <a:srgbClr val="3C3C3B"/>
              </a:buClr>
              <a:buSzPts val="900"/>
              <a:buFont typeface="Century Gothic"/>
              <a:buChar char="−"/>
            </a:pPr>
            <a:r>
              <a:rPr lang="en-GB" sz="900">
                <a:solidFill>
                  <a:schemeClr val="dk1"/>
                </a:solidFill>
                <a:latin typeface="Century Gothic"/>
                <a:ea typeface="Century Gothic"/>
                <a:cs typeface="Century Gothic"/>
                <a:sym typeface="Century Gothic"/>
              </a:rPr>
              <a:t>A lack of consistency and data quality can result in inaccurate budgets and poor tracking of forecasts.</a:t>
            </a:r>
            <a:endParaRPr/>
          </a:p>
          <a:p>
            <a:pPr indent="-171450" lvl="0" marL="266700" marR="0" rtl="0" algn="l">
              <a:spcBef>
                <a:spcPts val="300"/>
              </a:spcBef>
              <a:spcAft>
                <a:spcPts val="0"/>
              </a:spcAft>
              <a:buClr>
                <a:srgbClr val="3C3C3B"/>
              </a:buClr>
              <a:buSzPts val="900"/>
              <a:buFont typeface="Century Gothic"/>
              <a:buChar char="−"/>
            </a:pPr>
            <a:r>
              <a:rPr lang="en-GB" sz="900">
                <a:solidFill>
                  <a:schemeClr val="dk1"/>
                </a:solidFill>
                <a:latin typeface="Century Gothic"/>
                <a:ea typeface="Century Gothic"/>
                <a:cs typeface="Century Gothic"/>
                <a:sym typeface="Century Gothic"/>
              </a:rPr>
              <a:t>Excessive manual process which are time-consuming and subject to errors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Reduce budget cycle from 3-4 months to 4-6 weeks. Quarterly rolling forecasts. KIBOR scenario planning</a:t>
            </a:r>
            <a:endParaRPr/>
          </a:p>
        </p:txBody>
      </p:sp>
      <p:sp>
        <p:nvSpPr>
          <p:cNvPr id="6024" name="Google Shape;6024;p336"/>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Banking Industry Best Practice</a:t>
            </a:r>
            <a:endParaRPr sz="900">
              <a:solidFill>
                <a:schemeClr val="accent6"/>
              </a:solidFill>
              <a:latin typeface="Century Gothic"/>
              <a:ea typeface="Century Gothic"/>
              <a:cs typeface="Century Gothic"/>
              <a:sym typeface="Century Gothic"/>
            </a:endParaRPr>
          </a:p>
        </p:txBody>
      </p:sp>
      <p:sp>
        <p:nvSpPr>
          <p:cNvPr id="6025" name="Google Shape;6025;p336"/>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6026" name="Google Shape;6026;p336"/>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000"/>
              <a:buFont typeface="Century Gothic"/>
              <a:buNone/>
            </a:pPr>
            <a:r>
              <a:rPr lang="en-GB" sz="2000"/>
              <a:t>Budget &amp; Forecasting Process Improvement</a:t>
            </a:r>
            <a:endParaRPr sz="2000"/>
          </a:p>
        </p:txBody>
      </p:sp>
      <p:sp>
        <p:nvSpPr>
          <p:cNvPr id="6027" name="Google Shape;6027;p336">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Enterprise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2" name="Shape 6032"/>
        <p:cNvGrpSpPr/>
        <p:nvPr/>
      </p:nvGrpSpPr>
      <p:grpSpPr>
        <a:xfrm>
          <a:off x="0" y="0"/>
          <a:ext cx="0" cy="0"/>
          <a:chOff x="0" y="0"/>
          <a:chExt cx="0" cy="0"/>
        </a:xfrm>
      </p:grpSpPr>
      <p:sp>
        <p:nvSpPr>
          <p:cNvPr id="6033" name="Google Shape;6033;p337"/>
          <p:cNvSpPr/>
          <p:nvPr/>
        </p:nvSpPr>
        <p:spPr>
          <a:xfrm>
            <a:off x="420624" y="2331720"/>
            <a:ext cx="2852928" cy="1091964"/>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9538" lvl="0" marL="109538"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Accounts Receivable</a:t>
            </a:r>
            <a:endParaRPr/>
          </a:p>
          <a:p>
            <a:pPr indent="-109538" lvl="0" marL="109538"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Customer  payment terms &amp; payment history</a:t>
            </a:r>
            <a:endParaRPr/>
          </a:p>
          <a:p>
            <a:pPr indent="-109538" lvl="0" marL="109538"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Accounts Payable</a:t>
            </a:r>
            <a:endParaRPr/>
          </a:p>
          <a:p>
            <a:pPr indent="-109538" lvl="0" marL="109538"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Forecasted Sales</a:t>
            </a:r>
            <a:endParaRPr/>
          </a:p>
          <a:p>
            <a:pPr indent="-109538" lvl="0" marL="109538"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Outstanding Purchase Orders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Deposit maturity profiles, loan schedules, PIB/T-Bill coupons, RAAST volumes, SBP CRR/SLR, tax calendar</a:t>
            </a:r>
            <a:endParaRPr/>
          </a:p>
        </p:txBody>
      </p:sp>
      <p:sp>
        <p:nvSpPr>
          <p:cNvPr id="6034" name="Google Shape;6034;p337"/>
          <p:cNvSpPr/>
          <p:nvPr/>
        </p:nvSpPr>
        <p:spPr>
          <a:xfrm>
            <a:off x="3273552" y="2331720"/>
            <a:ext cx="2715336" cy="12384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19063" lvl="0" marL="119063"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Load, integrate and validate required data.</a:t>
            </a:r>
            <a:endParaRPr/>
          </a:p>
          <a:p>
            <a:pPr indent="-119063" lvl="0" marL="119063"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Statistical/Linear Regression/N-Path to predict customer cash payment expectations</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Reference Data Management</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Comparative analysis of Orders, Inventory, Invoices, Terms, Discounts &amp; Payments  &amp; capital outlays to predict anticipated cash flows</a:t>
            </a:r>
            <a:endParaRPr sz="800">
              <a:solidFill>
                <a:srgbClr val="3C3C3B"/>
              </a:solidFill>
              <a:latin typeface="Century Gothic"/>
              <a:ea typeface="Century Gothic"/>
              <a:cs typeface="Century Gothic"/>
              <a:sym typeface="Century Gothic"/>
            </a:endParaRPr>
          </a:p>
        </p:txBody>
      </p:sp>
      <p:sp>
        <p:nvSpPr>
          <p:cNvPr id="6035" name="Google Shape;6035;p337"/>
          <p:cNvSpPr/>
          <p:nvPr/>
        </p:nvSpPr>
        <p:spPr>
          <a:xfrm>
            <a:off x="3273552" y="3557016"/>
            <a:ext cx="2715336" cy="1440286"/>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80975" lvl="0" marL="180975"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Establishment of documented formal cash flow rules</a:t>
            </a:r>
            <a:endParaRPr/>
          </a:p>
          <a:p>
            <a:pPr indent="-180975" lvl="0" marL="180975" marR="0" rtl="0" algn="l">
              <a:lnSpc>
                <a:spcPct val="90000"/>
              </a:lnSpc>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Identification of removed of manual steps</a:t>
            </a:r>
            <a:endParaRPr/>
          </a:p>
          <a:p>
            <a:pPr indent="-180975" lvl="0" marL="1809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Automation of cash flow forecasts</a:t>
            </a:r>
            <a:endParaRPr/>
          </a:p>
          <a:p>
            <a:pPr indent="-180975" lvl="0" marL="1809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Delivery of revised automated cash flow report(s)</a:t>
            </a:r>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6036" name="Google Shape;6036;p337"/>
          <p:cNvSpPr/>
          <p:nvPr/>
        </p:nvSpPr>
        <p:spPr>
          <a:xfrm>
            <a:off x="420624" y="3557016"/>
            <a:ext cx="2616024" cy="1238400"/>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19063" lvl="0" marL="119063"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availability &amp; sourcing</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preparation</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timing</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integration</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volumes &amp; scale</a:t>
            </a:r>
            <a:endParaRPr/>
          </a:p>
          <a:p>
            <a:pPr indent="-68263" lvl="0" marL="119063"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68263" lvl="0" marL="119063"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6037" name="Google Shape;6037;p337"/>
          <p:cNvSpPr/>
          <p:nvPr/>
        </p:nvSpPr>
        <p:spPr>
          <a:xfrm>
            <a:off x="4818888" y="804673"/>
            <a:ext cx="2603324" cy="1404248"/>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a:t>
            </a:r>
            <a:endParaRPr/>
          </a:p>
          <a:p>
            <a:pPr indent="-180975" lvl="0" marL="180975"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Reduction of manual processes</a:t>
            </a:r>
            <a:endParaRPr/>
          </a:p>
          <a:p>
            <a:pPr indent="-180975" lvl="0" marL="1809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Accelerated cash flow reporting</a:t>
            </a:r>
            <a:endParaRPr/>
          </a:p>
          <a:p>
            <a:pPr indent="-180975" lvl="0" marL="1809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a:t>
            </a:r>
            <a:endParaRPr/>
          </a:p>
          <a:p>
            <a:pPr indent="-169862" lvl="1" marL="339725" marR="0" rtl="0" algn="l">
              <a:lnSpc>
                <a:spcPct val="90000"/>
              </a:lnSpc>
              <a:spcBef>
                <a:spcPts val="45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financing  funding costs</a:t>
            </a:r>
            <a:endParaRPr/>
          </a:p>
          <a:p>
            <a:pPr indent="-169862" lvl="1" marL="339725" marR="0" rtl="0" algn="l">
              <a:lnSpc>
                <a:spcPct val="90000"/>
              </a:lnSpc>
              <a:spcBef>
                <a:spcPts val="45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short term current ratios</a:t>
            </a:r>
            <a:endParaRPr/>
          </a:p>
          <a:p>
            <a:pPr indent="-169862" lvl="1" marL="339725" marR="0" rtl="0" algn="l">
              <a:lnSpc>
                <a:spcPct val="90000"/>
              </a:lnSpc>
              <a:spcBef>
                <a:spcPts val="45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Use of capital</a:t>
            </a:r>
            <a:endParaRPr/>
          </a:p>
          <a:p>
            <a:pPr indent="-130175" lvl="0" marL="180975" marR="0" rtl="0" algn="l">
              <a:lnSpc>
                <a:spcPct val="90000"/>
              </a:lnSpc>
              <a:spcBef>
                <a:spcPts val="45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130175" lvl="0" marL="180975" marR="0" rtl="0" algn="l">
              <a:lnSpc>
                <a:spcPct val="90000"/>
              </a:lnSpc>
              <a:spcBef>
                <a:spcPts val="400"/>
              </a:spcBef>
              <a:spcAft>
                <a:spcPts val="0"/>
              </a:spcAft>
              <a:buClr>
                <a:schemeClr val="dk1"/>
              </a:buClr>
              <a:buSzPts val="800"/>
              <a:buFont typeface="Arial"/>
              <a:buNone/>
            </a:pPr>
            <a:r>
              <a:t/>
            </a:r>
            <a:endParaRPr b="1" sz="800">
              <a:solidFill>
                <a:srgbClr val="BBBCBE"/>
              </a:solidFill>
              <a:latin typeface="Century Gothic"/>
              <a:ea typeface="Century Gothic"/>
              <a:cs typeface="Century Gothic"/>
              <a:sym typeface="Century Gothic"/>
            </a:endParaRPr>
          </a:p>
        </p:txBody>
      </p:sp>
      <p:cxnSp>
        <p:nvCxnSpPr>
          <p:cNvPr id="6038" name="Google Shape;6038;p337"/>
          <p:cNvCxnSpPr/>
          <p:nvPr/>
        </p:nvCxnSpPr>
        <p:spPr>
          <a:xfrm>
            <a:off x="3122330" y="2378910"/>
            <a:ext cx="0" cy="2339140"/>
          </a:xfrm>
          <a:prstGeom prst="straightConnector1">
            <a:avLst/>
          </a:prstGeom>
          <a:noFill/>
          <a:ln cap="flat" cmpd="sng" w="12700">
            <a:solidFill>
              <a:schemeClr val="lt2"/>
            </a:solidFill>
            <a:prstDash val="solid"/>
            <a:round/>
            <a:headEnd len="sm" w="sm" type="none"/>
            <a:tailEnd len="sm" w="sm" type="none"/>
          </a:ln>
        </p:spPr>
      </p:cxnSp>
      <p:cxnSp>
        <p:nvCxnSpPr>
          <p:cNvPr id="6039" name="Google Shape;6039;p337"/>
          <p:cNvCxnSpPr/>
          <p:nvPr/>
        </p:nvCxnSpPr>
        <p:spPr>
          <a:xfrm>
            <a:off x="6121745" y="2378910"/>
            <a:ext cx="0" cy="2339140"/>
          </a:xfrm>
          <a:prstGeom prst="straightConnector1">
            <a:avLst/>
          </a:prstGeom>
          <a:noFill/>
          <a:ln cap="flat" cmpd="sng" w="12700">
            <a:solidFill>
              <a:schemeClr val="lt2"/>
            </a:solidFill>
            <a:prstDash val="solid"/>
            <a:round/>
            <a:headEnd len="sm" w="sm" type="none"/>
            <a:tailEnd len="sm" w="sm" type="none"/>
          </a:ln>
        </p:spPr>
      </p:cxnSp>
      <p:cxnSp>
        <p:nvCxnSpPr>
          <p:cNvPr id="6040" name="Google Shape;6040;p337"/>
          <p:cNvCxnSpPr/>
          <p:nvPr/>
        </p:nvCxnSpPr>
        <p:spPr>
          <a:xfrm>
            <a:off x="4576599" y="865188"/>
            <a:ext cx="0" cy="1501152"/>
          </a:xfrm>
          <a:prstGeom prst="straightConnector1">
            <a:avLst/>
          </a:prstGeom>
          <a:noFill/>
          <a:ln cap="flat" cmpd="sng" w="12700">
            <a:solidFill>
              <a:schemeClr val="lt2"/>
            </a:solidFill>
            <a:prstDash val="solid"/>
            <a:round/>
            <a:headEnd len="sm" w="sm" type="none"/>
            <a:tailEnd len="sm" w="sm" type="none"/>
          </a:ln>
        </p:spPr>
      </p:cxnSp>
      <p:sp>
        <p:nvSpPr>
          <p:cNvPr id="6041" name="Google Shape;6041;p337"/>
          <p:cNvSpPr/>
          <p:nvPr/>
        </p:nvSpPr>
        <p:spPr>
          <a:xfrm>
            <a:off x="6144768" y="2331722"/>
            <a:ext cx="2892906" cy="1602327"/>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50">
                <a:solidFill>
                  <a:schemeClr val="dk2"/>
                </a:solidFill>
                <a:latin typeface="Century Gothic"/>
                <a:ea typeface="Century Gothic"/>
                <a:cs typeface="Century Gothic"/>
                <a:sym typeface="Century Gothic"/>
              </a:rPr>
              <a:t>Expected Outcome of Analysis</a:t>
            </a:r>
            <a:endParaRPr/>
          </a:p>
          <a:p>
            <a:pPr indent="-119063" lvl="0" marL="119063" marR="0" rtl="0" algn="l">
              <a:spcBef>
                <a:spcPts val="525"/>
              </a:spcBef>
              <a:spcAft>
                <a:spcPts val="0"/>
              </a:spcAft>
              <a:buClr>
                <a:srgbClr val="3C3C3B"/>
              </a:buClr>
              <a:buSzPts val="950"/>
              <a:buFont typeface="Arial"/>
              <a:buChar char="•"/>
            </a:pPr>
            <a:r>
              <a:rPr lang="en-GB" sz="950">
                <a:solidFill>
                  <a:srgbClr val="3C3C3B"/>
                </a:solidFill>
                <a:latin typeface="Century Gothic"/>
                <a:ea typeface="Century Gothic"/>
                <a:cs typeface="Century Gothic"/>
                <a:sym typeface="Century Gothic"/>
              </a:rPr>
              <a:t>Enhanced ALM and Liquidity Management capabilities.</a:t>
            </a:r>
            <a:endParaRPr/>
          </a:p>
          <a:p>
            <a:pPr indent="-119063" lvl="0" marL="119063" marR="0" rtl="0" algn="l">
              <a:spcBef>
                <a:spcPts val="300"/>
              </a:spcBef>
              <a:spcAft>
                <a:spcPts val="0"/>
              </a:spcAft>
              <a:buClr>
                <a:srgbClr val="3C3C3B"/>
              </a:buClr>
              <a:buSzPts val="950"/>
              <a:buFont typeface="Arial"/>
              <a:buChar char="•"/>
            </a:pPr>
            <a:r>
              <a:rPr lang="en-GB" sz="950">
                <a:solidFill>
                  <a:srgbClr val="3C3C3B"/>
                </a:solidFill>
                <a:latin typeface="Century Gothic"/>
                <a:ea typeface="Century Gothic"/>
                <a:cs typeface="Century Gothic"/>
                <a:sym typeface="Century Gothic"/>
              </a:rPr>
              <a:t>Accelerated time to cash flow insight</a:t>
            </a:r>
            <a:endParaRPr/>
          </a:p>
          <a:p>
            <a:pPr indent="-119063" lvl="0" marL="119063" marR="0" rtl="0" algn="l">
              <a:spcBef>
                <a:spcPts val="300"/>
              </a:spcBef>
              <a:spcAft>
                <a:spcPts val="0"/>
              </a:spcAft>
              <a:buClr>
                <a:srgbClr val="3C3C3B"/>
              </a:buClr>
              <a:buSzPts val="1000"/>
              <a:buFont typeface="Arial"/>
              <a:buChar char="•"/>
            </a:pPr>
            <a:r>
              <a:rPr lang="en-GB" sz="1000">
                <a:solidFill>
                  <a:schemeClr val="dk1"/>
                </a:solidFill>
                <a:latin typeface="Century Gothic"/>
                <a:ea typeface="Century Gothic"/>
                <a:cs typeface="Century Gothic"/>
                <a:sym typeface="Century Gothic"/>
              </a:rPr>
              <a:t>Freeing up of SME time for higher value business activities</a:t>
            </a:r>
            <a:endParaRPr sz="950">
              <a:solidFill>
                <a:srgbClr val="3C3C3B"/>
              </a:solidFill>
              <a:latin typeface="Century Gothic"/>
              <a:ea typeface="Century Gothic"/>
              <a:cs typeface="Century Gothic"/>
              <a:sym typeface="Century Gothic"/>
            </a:endParaRPr>
          </a:p>
          <a:p>
            <a:pPr indent="-119063" lvl="0" marL="119063" marR="0" rtl="0" algn="l">
              <a:spcBef>
                <a:spcPts val="3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Ability to generate cash flows at individual agreement/contract level to support more detailed analysis and reporting.</a:t>
            </a:r>
            <a:endParaRPr sz="10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Daily cashflow forecast 95% accuracy, intraday liquidity monitoring, optimized government securities ladder</a:t>
            </a:r>
            <a:endParaRPr/>
          </a:p>
        </p:txBody>
      </p:sp>
      <p:sp>
        <p:nvSpPr>
          <p:cNvPr id="6042" name="Google Shape;6042;p337"/>
          <p:cNvSpPr/>
          <p:nvPr/>
        </p:nvSpPr>
        <p:spPr>
          <a:xfrm>
            <a:off x="420636" y="804673"/>
            <a:ext cx="3949701" cy="1404248"/>
          </a:xfrm>
          <a:prstGeom prst="rect">
            <a:avLst/>
          </a:prstGeom>
          <a:noFill/>
          <a:ln>
            <a:noFill/>
          </a:ln>
        </p:spPr>
        <p:txBody>
          <a:bodyPr anchorCtr="0" anchor="t" bIns="36575" lIns="36575" spcFirstLastPara="1" rIns="36000" wrap="square" tIns="36575">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a:p>
          <a:p>
            <a:pPr indent="-119063" lvl="0" marL="119063" marR="0" rtl="0" algn="l">
              <a:spcBef>
                <a:spcPts val="500"/>
              </a:spcBef>
              <a:spcAft>
                <a:spcPts val="0"/>
              </a:spcAft>
              <a:buClr>
                <a:srgbClr val="3C3C3B"/>
              </a:buClr>
              <a:buSzPts val="950"/>
              <a:buFont typeface="Arial"/>
              <a:buChar char="•"/>
            </a:pPr>
            <a:r>
              <a:rPr lang="en-GB" sz="950">
                <a:solidFill>
                  <a:schemeClr val="dk1"/>
                </a:solidFill>
                <a:latin typeface="Century Gothic"/>
                <a:ea typeface="Century Gothic"/>
                <a:cs typeface="Century Gothic"/>
                <a:sym typeface="Century Gothic"/>
              </a:rPr>
              <a:t>Generate comprehensive, accurate and granular cash flow data to support a range of activities across Treasury</a:t>
            </a:r>
            <a:endParaRPr/>
          </a:p>
          <a:p>
            <a:pPr indent="-119063" lvl="0" marL="119063" marR="0" rtl="0" algn="l">
              <a:spcBef>
                <a:spcPts val="300"/>
              </a:spcBef>
              <a:spcAft>
                <a:spcPts val="0"/>
              </a:spcAft>
              <a:buClr>
                <a:srgbClr val="3C3C3B"/>
              </a:buClr>
              <a:buSzPts val="950"/>
              <a:buFont typeface="Arial"/>
              <a:buChar char="•"/>
            </a:pPr>
            <a:r>
              <a:rPr lang="en-GB" sz="950">
                <a:solidFill>
                  <a:schemeClr val="dk1"/>
                </a:solidFill>
                <a:latin typeface="Century Gothic"/>
                <a:ea typeface="Century Gothic"/>
                <a:cs typeface="Century Gothic"/>
                <a:sym typeface="Century Gothic"/>
              </a:rPr>
              <a:t>Eliminate manual processes</a:t>
            </a:r>
            <a:endParaRPr/>
          </a:p>
          <a:p>
            <a:pPr indent="-119063" lvl="0" marL="119063" marR="0" rtl="0" algn="l">
              <a:spcBef>
                <a:spcPts val="300"/>
              </a:spcBef>
              <a:spcAft>
                <a:spcPts val="0"/>
              </a:spcAft>
              <a:buClr>
                <a:srgbClr val="3C3C3B"/>
              </a:buClr>
              <a:buSzPts val="950"/>
              <a:buFont typeface="Arial"/>
              <a:buChar char="•"/>
            </a:pPr>
            <a:r>
              <a:rPr lang="en-GB" sz="950">
                <a:solidFill>
                  <a:schemeClr val="dk1"/>
                </a:solidFill>
                <a:latin typeface="Century Gothic"/>
                <a:ea typeface="Century Gothic"/>
                <a:cs typeface="Century Gothic"/>
                <a:sym typeface="Century Gothic"/>
              </a:rPr>
              <a:t>Accelerate cash flow predictive results</a:t>
            </a:r>
            <a:endParaRPr/>
          </a:p>
          <a:p>
            <a:pPr indent="-119063" lvl="0" marL="119063" marR="0" rtl="0" algn="l">
              <a:spcBef>
                <a:spcPts val="300"/>
              </a:spcBef>
              <a:spcAft>
                <a:spcPts val="0"/>
              </a:spcAft>
              <a:buClr>
                <a:srgbClr val="3C3C3B"/>
              </a:buClr>
              <a:buSzPts val="950"/>
              <a:buFont typeface="Arial"/>
              <a:buChar char="•"/>
            </a:pPr>
            <a:r>
              <a:rPr lang="en-GB" sz="950">
                <a:solidFill>
                  <a:schemeClr val="dk1"/>
                </a:solidFill>
                <a:latin typeface="Century Gothic"/>
                <a:ea typeface="Century Gothic"/>
                <a:cs typeface="Century Gothic"/>
                <a:sym typeface="Century Gothic"/>
              </a:rPr>
              <a:t>Improve timelines of cash flow forecasts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Forecast PKR/FCY cashflows: deposit maturities, loan repayments, PIB/T-Bill maturities, SBP CRR/SLR, RAAST impact</a:t>
            </a:r>
            <a:endParaRPr/>
          </a:p>
        </p:txBody>
      </p:sp>
      <p:sp>
        <p:nvSpPr>
          <p:cNvPr id="6043" name="Google Shape;6043;p337"/>
          <p:cNvSpPr/>
          <p:nvPr/>
        </p:nvSpPr>
        <p:spPr>
          <a:xfrm>
            <a:off x="6545103" y="340293"/>
            <a:ext cx="2598899" cy="474451"/>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9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6045" name="Google Shape;6045;p337"/>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a:p>
        </p:txBody>
      </p:sp>
      <p:sp>
        <p:nvSpPr>
          <p:cNvPr id="6046" name="Google Shape;6046;p337"/>
          <p:cNvSpPr txBox="1"/>
          <p:nvPr>
            <p:ph type="title"/>
          </p:nvPr>
        </p:nvSpPr>
        <p:spPr>
          <a:xfrm>
            <a:off x="423875" y="164592"/>
            <a:ext cx="82629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Cash Flow Optimization</a:t>
            </a:r>
            <a:endParaRPr sz="2400"/>
          </a:p>
        </p:txBody>
      </p:sp>
      <p:sp>
        <p:nvSpPr>
          <p:cNvPr id="6047" name="Google Shape;6047;p337">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Treasury Insight &amp;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2" name="Shape 6052"/>
        <p:cNvGrpSpPr/>
        <p:nvPr/>
      </p:nvGrpSpPr>
      <p:grpSpPr>
        <a:xfrm>
          <a:off x="0" y="0"/>
          <a:ext cx="0" cy="0"/>
          <a:chOff x="0" y="0"/>
          <a:chExt cx="0" cy="0"/>
        </a:xfrm>
      </p:grpSpPr>
      <p:sp>
        <p:nvSpPr>
          <p:cNvPr id="6053" name="Google Shape;6053;p338"/>
          <p:cNvSpPr/>
          <p:nvPr/>
        </p:nvSpPr>
        <p:spPr>
          <a:xfrm>
            <a:off x="420624" y="2331721"/>
            <a:ext cx="2713048" cy="121676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17475" lvl="0" marL="117475"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Detailed (granular) portfolio balance and transaction data</a:t>
            </a:r>
            <a:endParaRPr/>
          </a:p>
          <a:p>
            <a:pPr indent="-117475" lvl="0" marL="1174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Comprehensive security master (reference data) defining the asset</a:t>
            </a:r>
            <a:endParaRPr/>
          </a:p>
          <a:p>
            <a:pPr indent="-117475" lvl="0" marL="1174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Real-time and historic Market data (Market Prices, F/X Rates, Interest rates, News)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SBP auction results, portfolio holdings at security level, duration/convexity, LCR/NSFR components</a:t>
            </a:r>
            <a:endParaRPr/>
          </a:p>
        </p:txBody>
      </p:sp>
      <p:sp>
        <p:nvSpPr>
          <p:cNvPr id="6054" name="Google Shape;6054;p338"/>
          <p:cNvSpPr/>
          <p:nvPr/>
        </p:nvSpPr>
        <p:spPr>
          <a:xfrm>
            <a:off x="3273559" y="2331721"/>
            <a:ext cx="2871217" cy="1134494"/>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19063" lvl="0" marL="119063"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Load, integrate and validate data</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Linear optimization </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Text analytics on News feeds</a:t>
            </a:r>
            <a:endParaRPr/>
          </a:p>
          <a:p>
            <a:pPr indent="-169863" lvl="1" marL="287338"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Clustering &amp; graph to detect portfolio sensitivity to news events</a:t>
            </a:r>
            <a:endParaRPr/>
          </a:p>
          <a:p>
            <a:pPr indent="-61912" lvl="0" marL="119063"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6055" name="Google Shape;6055;p338"/>
          <p:cNvSpPr/>
          <p:nvPr/>
        </p:nvSpPr>
        <p:spPr>
          <a:xfrm>
            <a:off x="3273552" y="3557016"/>
            <a:ext cx="2715336" cy="1238400"/>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17475" lvl="0" marL="117475"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Funding (Economic) costs are materially reduced compared to “base line”</a:t>
            </a:r>
            <a:endParaRPr/>
          </a:p>
          <a:p>
            <a:pPr indent="-117475" lvl="0" marL="117475" marR="0" rtl="0" algn="l">
              <a:lnSpc>
                <a:spcPct val="90000"/>
              </a:lnSpc>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Demonstrate repeatable analytical process</a:t>
            </a:r>
            <a:endParaRPr/>
          </a:p>
          <a:p>
            <a:pPr indent="-117475" lvl="0" marL="117475" marR="0" rtl="0" algn="l">
              <a:lnSpc>
                <a:spcPct val="90000"/>
              </a:lnSpc>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Delivery of Advanced Analytic model</a:t>
            </a:r>
            <a:endParaRPr sz="900">
              <a:solidFill>
                <a:srgbClr val="3C3C3B"/>
              </a:solidFill>
              <a:latin typeface="Century Gothic"/>
              <a:ea typeface="Century Gothic"/>
              <a:cs typeface="Century Gothic"/>
              <a:sym typeface="Century Gothic"/>
            </a:endParaRPr>
          </a:p>
          <a:p>
            <a:pPr indent="0" lvl="0" marL="0" marR="0" rtl="0" algn="l">
              <a:lnSpc>
                <a:spcPct val="90000"/>
              </a:lnSpc>
              <a:spcBef>
                <a:spcPts val="45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6056" name="Google Shape;6056;p338"/>
          <p:cNvSpPr/>
          <p:nvPr/>
        </p:nvSpPr>
        <p:spPr>
          <a:xfrm>
            <a:off x="419100" y="3557015"/>
            <a:ext cx="2616024" cy="1046883"/>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19063" lvl="0" marL="119063"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granularity and availability (sourcing)</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preparation</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timing</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quality</a:t>
            </a:r>
            <a:endParaRPr sz="800">
              <a:solidFill>
                <a:srgbClr val="3C3C3B"/>
              </a:solidFill>
              <a:latin typeface="Century Gothic"/>
              <a:ea typeface="Century Gothic"/>
              <a:cs typeface="Century Gothic"/>
              <a:sym typeface="Century Gothic"/>
            </a:endParaRPr>
          </a:p>
          <a:p>
            <a:pPr indent="-68263" lvl="0" marL="119063"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6057" name="Google Shape;6057;p338"/>
          <p:cNvSpPr/>
          <p:nvPr/>
        </p:nvSpPr>
        <p:spPr>
          <a:xfrm>
            <a:off x="4818893" y="804673"/>
            <a:ext cx="3400079" cy="1404248"/>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a:t>
            </a:r>
            <a:endParaRPr/>
          </a:p>
          <a:p>
            <a:pPr indent="-180975" lvl="0" marL="180975"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Funding cost of liquidity reserve pool minimized</a:t>
            </a:r>
            <a:endParaRPr/>
          </a:p>
          <a:p>
            <a:pPr indent="-180975" lvl="0" marL="180975"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transparency and traceability for audit and regulatory reporting </a:t>
            </a:r>
            <a:endParaRPr/>
          </a:p>
          <a:p>
            <a:pPr indent="-180975" lvl="0" marL="180975"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Optimize the impact of portfolio reserves on Return on Equity (RoE)</a:t>
            </a:r>
            <a:endParaRPr/>
          </a:p>
          <a:p>
            <a:pPr indent="-180975" lvl="0" marL="180975"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Optimized set of liquidity reserve assets </a:t>
            </a:r>
            <a:endParaRPr sz="900">
              <a:solidFill>
                <a:srgbClr val="3C3C3B"/>
              </a:solidFill>
              <a:latin typeface="Century Gothic"/>
              <a:ea typeface="Century Gothic"/>
              <a:cs typeface="Century Gothic"/>
              <a:sym typeface="Century Gothic"/>
            </a:endParaRPr>
          </a:p>
          <a:p>
            <a:pPr indent="-180975" lvl="0" marL="180975"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Maintain minimum liquidity coverage ratios with limits placed on the types of assets held as reserves</a:t>
            </a:r>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200"/>
              </a:spcBef>
              <a:spcAft>
                <a:spcPts val="0"/>
              </a:spcAft>
              <a:buClr>
                <a:schemeClr val="dk1"/>
              </a:buClr>
              <a:buSzPts val="900"/>
              <a:buFont typeface="Arial"/>
              <a:buNone/>
            </a:pPr>
            <a:r>
              <a:t/>
            </a:r>
            <a:endParaRPr b="1" sz="900">
              <a:solidFill>
                <a:srgbClr val="BBBCBE"/>
              </a:solidFill>
              <a:latin typeface="Century Gothic"/>
              <a:ea typeface="Century Gothic"/>
              <a:cs typeface="Century Gothic"/>
              <a:sym typeface="Century Gothic"/>
            </a:endParaRPr>
          </a:p>
        </p:txBody>
      </p:sp>
      <p:cxnSp>
        <p:nvCxnSpPr>
          <p:cNvPr id="6058" name="Google Shape;6058;p338"/>
          <p:cNvCxnSpPr/>
          <p:nvPr/>
        </p:nvCxnSpPr>
        <p:spPr>
          <a:xfrm>
            <a:off x="3122330" y="2378910"/>
            <a:ext cx="0" cy="2339140"/>
          </a:xfrm>
          <a:prstGeom prst="straightConnector1">
            <a:avLst/>
          </a:prstGeom>
          <a:noFill/>
          <a:ln cap="flat" cmpd="sng" w="12700">
            <a:solidFill>
              <a:schemeClr val="lt2"/>
            </a:solidFill>
            <a:prstDash val="solid"/>
            <a:round/>
            <a:headEnd len="sm" w="sm" type="none"/>
            <a:tailEnd len="sm" w="sm" type="none"/>
          </a:ln>
        </p:spPr>
      </p:cxnSp>
      <p:cxnSp>
        <p:nvCxnSpPr>
          <p:cNvPr id="6059" name="Google Shape;6059;p338"/>
          <p:cNvCxnSpPr/>
          <p:nvPr/>
        </p:nvCxnSpPr>
        <p:spPr>
          <a:xfrm>
            <a:off x="6121745" y="2378910"/>
            <a:ext cx="0" cy="2339140"/>
          </a:xfrm>
          <a:prstGeom prst="straightConnector1">
            <a:avLst/>
          </a:prstGeom>
          <a:noFill/>
          <a:ln cap="flat" cmpd="sng" w="12700">
            <a:solidFill>
              <a:schemeClr val="lt2"/>
            </a:solidFill>
            <a:prstDash val="solid"/>
            <a:round/>
            <a:headEnd len="sm" w="sm" type="none"/>
            <a:tailEnd len="sm" w="sm" type="none"/>
          </a:ln>
        </p:spPr>
      </p:cxnSp>
      <p:cxnSp>
        <p:nvCxnSpPr>
          <p:cNvPr id="6060" name="Google Shape;6060;p338"/>
          <p:cNvCxnSpPr/>
          <p:nvPr/>
        </p:nvCxnSpPr>
        <p:spPr>
          <a:xfrm>
            <a:off x="4576599" y="865188"/>
            <a:ext cx="0" cy="1501152"/>
          </a:xfrm>
          <a:prstGeom prst="straightConnector1">
            <a:avLst/>
          </a:prstGeom>
          <a:noFill/>
          <a:ln cap="flat" cmpd="sng" w="12700">
            <a:solidFill>
              <a:schemeClr val="lt2"/>
            </a:solidFill>
            <a:prstDash val="solid"/>
            <a:round/>
            <a:headEnd len="sm" w="sm" type="none"/>
            <a:tailEnd len="sm" w="sm" type="none"/>
          </a:ln>
        </p:spPr>
      </p:cxnSp>
      <p:sp>
        <p:nvSpPr>
          <p:cNvPr id="6061" name="Google Shape;6061;p338"/>
          <p:cNvSpPr/>
          <p:nvPr/>
        </p:nvSpPr>
        <p:spPr>
          <a:xfrm>
            <a:off x="6144768" y="2331720"/>
            <a:ext cx="2680610" cy="2463696"/>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50">
                <a:solidFill>
                  <a:schemeClr val="dk2"/>
                </a:solidFill>
                <a:latin typeface="Century Gothic"/>
                <a:ea typeface="Century Gothic"/>
                <a:cs typeface="Century Gothic"/>
                <a:sym typeface="Century Gothic"/>
              </a:rPr>
              <a:t>Expected Outcome of Analysis</a:t>
            </a:r>
            <a:endParaRPr/>
          </a:p>
          <a:p>
            <a:pPr indent="-119063" lvl="0" marL="119063" marR="0" rtl="0" algn="l">
              <a:spcBef>
                <a:spcPts val="525"/>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Trade recommendations, e.g. prescriptive analytics for recommended asset purchase/sale transactions</a:t>
            </a:r>
            <a:endParaRPr/>
          </a:p>
          <a:p>
            <a:pPr indent="-119063" lvl="0" marL="119063"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Reduce the dependency on SME effort and the “Excel Army”</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Adjustments to the reserves portfolio can be made in near real-time</a:t>
            </a:r>
            <a:endParaRPr/>
          </a:p>
          <a:p>
            <a:pPr indent="-119063" lvl="0" marL="119063"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Reduced process complexity</a:t>
            </a:r>
            <a:endParaRPr/>
          </a:p>
          <a:p>
            <a:pPr indent="-119063" lvl="0" marL="119063"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Accelerated access to results, reduce data latency</a:t>
            </a:r>
            <a:endParaRPr/>
          </a:p>
          <a:p>
            <a:pPr indent="-61912" lvl="0" marL="119063"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a:p>
            <a:pPr indent="-61912" lvl="0" marL="119063"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61912" lvl="0" marL="119063"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8737" lvl="0" marL="119063"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Yield enhancement 10-25bps through optimized maturity structure, maintaining LCR &gt;100% and SLR compliance</a:t>
            </a:r>
            <a:endParaRPr/>
          </a:p>
        </p:txBody>
      </p:sp>
      <p:sp>
        <p:nvSpPr>
          <p:cNvPr id="6062" name="Google Shape;6062;p338"/>
          <p:cNvSpPr/>
          <p:nvPr/>
        </p:nvSpPr>
        <p:spPr>
          <a:xfrm>
            <a:off x="420636" y="804673"/>
            <a:ext cx="3949701" cy="1404248"/>
          </a:xfrm>
          <a:prstGeom prst="rect">
            <a:avLst/>
          </a:prstGeom>
          <a:noFill/>
          <a:ln>
            <a:noFill/>
          </a:ln>
        </p:spPr>
        <p:txBody>
          <a:bodyPr anchorCtr="0" anchor="t" bIns="36575" lIns="36575" spcFirstLastPara="1" rIns="36575" wrap="square" tIns="36575">
            <a:noAutofit/>
          </a:bodyPr>
          <a:lstStyle/>
          <a:p>
            <a:pPr indent="-180975" lvl="0" marL="180975" marR="0" rtl="0" algn="l">
              <a:lnSpc>
                <a:spcPct val="90000"/>
              </a:lnSpc>
              <a:spcBef>
                <a:spcPts val="0"/>
              </a:spcBef>
              <a:spcAft>
                <a:spcPts val="0"/>
              </a:spcAft>
              <a:buNone/>
            </a:pPr>
            <a:r>
              <a:rPr b="1" lang="en-GB" sz="1050">
                <a:solidFill>
                  <a:schemeClr val="dk2"/>
                </a:solidFill>
                <a:latin typeface="Century Gothic"/>
                <a:ea typeface="Century Gothic"/>
                <a:cs typeface="Century Gothic"/>
                <a:sym typeface="Century Gothic"/>
              </a:rPr>
              <a:t>Objective / Problem Statement</a:t>
            </a:r>
            <a:endParaRPr b="1" sz="1050">
              <a:solidFill>
                <a:schemeClr val="dk2"/>
              </a:solidFill>
              <a:latin typeface="Century Gothic"/>
              <a:ea typeface="Century Gothic"/>
              <a:cs typeface="Century Gothic"/>
              <a:sym typeface="Century Gothic"/>
            </a:endParaRPr>
          </a:p>
          <a:p>
            <a:pPr indent="-119063" lvl="0" marL="119063" marR="0" rtl="0" algn="l">
              <a:spcBef>
                <a:spcPts val="6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Maximize the capital deployed into “revenue generating assets”</a:t>
            </a:r>
            <a:endParaRPr/>
          </a:p>
          <a:p>
            <a:pPr indent="-119063" lvl="0" marL="119063"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Optimize the mix of Reserve Securities</a:t>
            </a:r>
            <a:endParaRPr/>
          </a:p>
          <a:p>
            <a:pPr indent="-119063" lvl="0" marL="119063"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Minimize assets (capital) retained to meet regulatory requirements </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Optimize PKR 10T+ government securities portfolio. Maximize yield meeting SBP SLR and LCR requirements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Optimize PIBs (3-30yr, higher yield) vs. T-Bills (3-12mo, lower risk) vs. Sukuk (Islamic HQLA)</a:t>
            </a:r>
            <a:endParaRPr/>
          </a:p>
        </p:txBody>
      </p:sp>
      <p:sp>
        <p:nvSpPr>
          <p:cNvPr id="6063" name="Google Shape;6063;p338"/>
          <p:cNvSpPr/>
          <p:nvPr/>
        </p:nvSpPr>
        <p:spPr>
          <a:xfrm>
            <a:off x="6545103" y="340293"/>
            <a:ext cx="2598899" cy="474451"/>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9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6065" name="Google Shape;6065;p338"/>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6066" name="Google Shape;6066;p338"/>
          <p:cNvSpPr txBox="1"/>
          <p:nvPr>
            <p:ph type="title"/>
          </p:nvPr>
        </p:nvSpPr>
        <p:spPr>
          <a:xfrm>
            <a:off x="423875" y="164592"/>
            <a:ext cx="82629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Reserve Portfolio Optimization</a:t>
            </a:r>
            <a:endParaRPr sz="2400"/>
          </a:p>
        </p:txBody>
      </p:sp>
      <p:sp>
        <p:nvSpPr>
          <p:cNvPr id="6067" name="Google Shape;6067;p338">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Treasury Insight &amp;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2" name="Shape 6072"/>
        <p:cNvGrpSpPr/>
        <p:nvPr/>
      </p:nvGrpSpPr>
      <p:grpSpPr>
        <a:xfrm>
          <a:off x="0" y="0"/>
          <a:ext cx="0" cy="0"/>
          <a:chOff x="0" y="0"/>
          <a:chExt cx="0" cy="0"/>
        </a:xfrm>
      </p:grpSpPr>
      <p:sp>
        <p:nvSpPr>
          <p:cNvPr id="6073" name="Google Shape;6073;p339"/>
          <p:cNvSpPr/>
          <p:nvPr/>
        </p:nvSpPr>
        <p:spPr>
          <a:xfrm>
            <a:off x="420624" y="2342359"/>
            <a:ext cx="2713048" cy="1227767"/>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17475" lvl="0" marL="117475"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Detailed balance sheet data, e.g. asset &amp; liability account balances</a:t>
            </a:r>
            <a:endParaRPr/>
          </a:p>
          <a:p>
            <a:pPr indent="-117475" lvl="0" marL="117475"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Balance sheet  “reference data”, e.g. maturity schedules, payment terms, amortization schedules,  etc.</a:t>
            </a:r>
            <a:endParaRPr/>
          </a:p>
          <a:p>
            <a:pPr indent="-117475" lvl="0" marL="117475"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Market data of underlying assets, e.g. Inventory, investments, Receivables, etc. </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Advance repricing profiles (KIBOR-linked), deposit maturity, PIB/T-Bill duration, FX position</a:t>
            </a:r>
            <a:endParaRPr/>
          </a:p>
        </p:txBody>
      </p:sp>
      <p:sp>
        <p:nvSpPr>
          <p:cNvPr id="6074" name="Google Shape;6074;p339"/>
          <p:cNvSpPr/>
          <p:nvPr/>
        </p:nvSpPr>
        <p:spPr>
          <a:xfrm>
            <a:off x="3273552" y="2331720"/>
            <a:ext cx="2715336" cy="12384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19063" lvl="0" marL="119063"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Load, integrate and validate data</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Deploy/enhance an ALM Model</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Utilize Monte Carlo, Gap and/or Duration Analysis</a:t>
            </a:r>
            <a:endParaRPr/>
          </a:p>
          <a:p>
            <a:pPr indent="-61912" lvl="0" marL="119063"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6075" name="Google Shape;6075;p339"/>
          <p:cNvSpPr/>
          <p:nvPr/>
        </p:nvSpPr>
        <p:spPr>
          <a:xfrm>
            <a:off x="3273552" y="3557016"/>
            <a:ext cx="2715336" cy="1238400"/>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19063" lvl="0" marL="119063"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Document ALM Policies and Methodologies</a:t>
            </a:r>
            <a:endParaRPr/>
          </a:p>
          <a:p>
            <a:pPr indent="-117475" lvl="0" marL="117475"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Demonstrate accelerated delivery results vs base line (current state)</a:t>
            </a:r>
            <a:endParaRPr/>
          </a:p>
          <a:p>
            <a:pPr indent="-117475" lvl="0" marL="117475" marR="0" rtl="0" algn="l">
              <a:lnSpc>
                <a:spcPct val="90000"/>
              </a:lnSpc>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Visualize user-defined portfolios or position sets segmented by product, business line, region or risk factor</a:t>
            </a:r>
            <a:endParaRPr/>
          </a:p>
          <a:p>
            <a:pPr indent="-60325" lvl="0" marL="1174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a:p>
            <a:pPr indent="-130175" lvl="0" marL="180975" marR="0" rtl="0" algn="l">
              <a:lnSpc>
                <a:spcPct val="90000"/>
              </a:lnSpc>
              <a:spcBef>
                <a:spcPts val="45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130175" lvl="0" marL="180975" marR="0" rtl="0" algn="l">
              <a:lnSpc>
                <a:spcPct val="90000"/>
              </a:lnSpc>
              <a:spcBef>
                <a:spcPts val="4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4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6076" name="Google Shape;6076;p339"/>
          <p:cNvSpPr/>
          <p:nvPr/>
        </p:nvSpPr>
        <p:spPr>
          <a:xfrm>
            <a:off x="419100" y="3557016"/>
            <a:ext cx="2616024" cy="1238400"/>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19063" lvl="0" marL="119063"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Inconsistent data - Data is in multiple, non-integrated and non-validated sources</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granularity and availability (sourcing)</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preparation</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timing</a:t>
            </a:r>
            <a:endParaRPr sz="800">
              <a:solidFill>
                <a:srgbClr val="3C3C3B"/>
              </a:solidFill>
              <a:latin typeface="Century Gothic"/>
              <a:ea typeface="Century Gothic"/>
              <a:cs typeface="Century Gothic"/>
              <a:sym typeface="Century Gothic"/>
            </a:endParaRPr>
          </a:p>
          <a:p>
            <a:pPr indent="-61912" lvl="0" marL="119063"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6077" name="Google Shape;6077;p339"/>
          <p:cNvSpPr/>
          <p:nvPr/>
        </p:nvSpPr>
        <p:spPr>
          <a:xfrm>
            <a:off x="4818888" y="804672"/>
            <a:ext cx="3708424" cy="1527048"/>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a:t>
            </a:r>
            <a:endParaRPr/>
          </a:p>
          <a:p>
            <a:pPr indent="-180975" lvl="0" marL="180975"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visibility into components of the balance sheet, e.g. funding and deployed assets</a:t>
            </a:r>
            <a:endParaRPr/>
          </a:p>
          <a:p>
            <a:pPr indent="-180975" lvl="0" marL="180975"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Avoid liquidity squeezes</a:t>
            </a:r>
            <a:endParaRPr/>
          </a:p>
          <a:p>
            <a:pPr indent="-180975" lvl="0" marL="180975"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Better and more informed strategic and tactical  decisions.</a:t>
            </a:r>
            <a:endParaRPr/>
          </a:p>
          <a:p>
            <a:pPr indent="-180975" lvl="0" marL="180975"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Enhanced governing and  regulatory compliance reporting</a:t>
            </a:r>
            <a:endParaRPr/>
          </a:p>
          <a:p>
            <a:pPr indent="-123825" lvl="0" marL="180975"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p:txBody>
      </p:sp>
      <p:cxnSp>
        <p:nvCxnSpPr>
          <p:cNvPr id="6078" name="Google Shape;6078;p339"/>
          <p:cNvCxnSpPr/>
          <p:nvPr/>
        </p:nvCxnSpPr>
        <p:spPr>
          <a:xfrm>
            <a:off x="3122330" y="2378910"/>
            <a:ext cx="0" cy="2339140"/>
          </a:xfrm>
          <a:prstGeom prst="straightConnector1">
            <a:avLst/>
          </a:prstGeom>
          <a:noFill/>
          <a:ln cap="flat" cmpd="sng" w="12700">
            <a:solidFill>
              <a:schemeClr val="lt2"/>
            </a:solidFill>
            <a:prstDash val="solid"/>
            <a:round/>
            <a:headEnd len="sm" w="sm" type="none"/>
            <a:tailEnd len="sm" w="sm" type="none"/>
          </a:ln>
        </p:spPr>
      </p:cxnSp>
      <p:cxnSp>
        <p:nvCxnSpPr>
          <p:cNvPr id="6079" name="Google Shape;6079;p339"/>
          <p:cNvCxnSpPr/>
          <p:nvPr/>
        </p:nvCxnSpPr>
        <p:spPr>
          <a:xfrm>
            <a:off x="6121745" y="2378910"/>
            <a:ext cx="0" cy="2339140"/>
          </a:xfrm>
          <a:prstGeom prst="straightConnector1">
            <a:avLst/>
          </a:prstGeom>
          <a:noFill/>
          <a:ln cap="flat" cmpd="sng" w="12700">
            <a:solidFill>
              <a:schemeClr val="lt2"/>
            </a:solidFill>
            <a:prstDash val="solid"/>
            <a:round/>
            <a:headEnd len="sm" w="sm" type="none"/>
            <a:tailEnd len="sm" w="sm" type="none"/>
          </a:ln>
        </p:spPr>
      </p:cxnSp>
      <p:cxnSp>
        <p:nvCxnSpPr>
          <p:cNvPr id="6080" name="Google Shape;6080;p339"/>
          <p:cNvCxnSpPr/>
          <p:nvPr/>
        </p:nvCxnSpPr>
        <p:spPr>
          <a:xfrm>
            <a:off x="4576599" y="865188"/>
            <a:ext cx="0" cy="1501152"/>
          </a:xfrm>
          <a:prstGeom prst="straightConnector1">
            <a:avLst/>
          </a:prstGeom>
          <a:noFill/>
          <a:ln cap="flat" cmpd="sng" w="12700">
            <a:solidFill>
              <a:schemeClr val="lt2"/>
            </a:solidFill>
            <a:prstDash val="solid"/>
            <a:round/>
            <a:headEnd len="sm" w="sm" type="none"/>
            <a:tailEnd len="sm" w="sm" type="none"/>
          </a:ln>
        </p:spPr>
      </p:cxnSp>
      <p:sp>
        <p:nvSpPr>
          <p:cNvPr id="6081" name="Google Shape;6081;p339"/>
          <p:cNvSpPr/>
          <p:nvPr/>
        </p:nvSpPr>
        <p:spPr>
          <a:xfrm>
            <a:off x="6144768" y="2331721"/>
            <a:ext cx="2914172" cy="26124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50">
                <a:solidFill>
                  <a:schemeClr val="dk2"/>
                </a:solidFill>
                <a:latin typeface="Century Gothic"/>
                <a:ea typeface="Century Gothic"/>
                <a:cs typeface="Century Gothic"/>
                <a:sym typeface="Century Gothic"/>
              </a:rPr>
              <a:t>Expected Outcome of Analysis</a:t>
            </a:r>
            <a:endParaRPr/>
          </a:p>
          <a:p>
            <a:pPr indent="-119063" lvl="0" marL="119063" marR="0" rtl="0" algn="l">
              <a:spcBef>
                <a:spcPts val="525"/>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Accelerate the delivery ALM “mismatch”</a:t>
            </a:r>
            <a:endParaRPr/>
          </a:p>
          <a:p>
            <a:pPr indent="-119063" lvl="0" marL="119063" marR="0" rtl="0" algn="l">
              <a:spcBef>
                <a:spcPts val="1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Reduction is data collection efforts</a:t>
            </a:r>
            <a:endParaRPr sz="900">
              <a:solidFill>
                <a:srgbClr val="3C3C3B"/>
              </a:solidFill>
              <a:latin typeface="Century Gothic"/>
              <a:ea typeface="Century Gothic"/>
              <a:cs typeface="Century Gothic"/>
              <a:sym typeface="Century Gothic"/>
            </a:endParaRPr>
          </a:p>
          <a:p>
            <a:pPr indent="-119063" lvl="0" marL="119063" marR="0" rtl="0" algn="l">
              <a:spcBef>
                <a:spcPts val="1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Establish clear data lineage and a complete audit trail from the original exposures to the final regulatory reports</a:t>
            </a:r>
            <a:endParaRPr/>
          </a:p>
          <a:p>
            <a:pPr indent="-119063" lvl="0" marL="119063" marR="0" rtl="0" algn="l">
              <a:spcBef>
                <a:spcPts val="1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Delivery of ALM “Dashboard” and detail reports with drill down capability.</a:t>
            </a:r>
            <a:endParaRPr sz="900">
              <a:solidFill>
                <a:srgbClr val="3C3C3B"/>
              </a:solidFill>
              <a:latin typeface="Century Gothic"/>
              <a:ea typeface="Century Gothic"/>
              <a:cs typeface="Century Gothic"/>
              <a:sym typeface="Century Gothic"/>
            </a:endParaRPr>
          </a:p>
          <a:p>
            <a:pPr indent="-68263" lvl="0" marL="119063" marR="0" rtl="0" algn="l">
              <a:spcBef>
                <a:spcPts val="1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Automated SBP repricing gap report, NII sensitivity to +/-200bps, EVE sensitivity analysis</a:t>
            </a:r>
            <a:endParaRPr/>
          </a:p>
        </p:txBody>
      </p:sp>
      <p:sp>
        <p:nvSpPr>
          <p:cNvPr id="6082" name="Google Shape;6082;p339"/>
          <p:cNvSpPr/>
          <p:nvPr/>
        </p:nvSpPr>
        <p:spPr>
          <a:xfrm>
            <a:off x="420636" y="804672"/>
            <a:ext cx="3949701" cy="1561668"/>
          </a:xfrm>
          <a:prstGeom prst="rect">
            <a:avLst/>
          </a:prstGeom>
          <a:noFill/>
          <a:ln>
            <a:noFill/>
          </a:ln>
        </p:spPr>
        <p:txBody>
          <a:bodyPr anchorCtr="0" anchor="t" bIns="36575" lIns="36575" spcFirstLastPara="1" rIns="36000" wrap="square" tIns="36575">
            <a:noAutofit/>
          </a:bodyPr>
          <a:lstStyle/>
          <a:p>
            <a:pPr indent="-180975" lvl="0" marL="180975" marR="0" rtl="0" algn="l">
              <a:lnSpc>
                <a:spcPct val="90000"/>
              </a:lnSpc>
              <a:spcBef>
                <a:spcPts val="0"/>
              </a:spcBef>
              <a:spcAft>
                <a:spcPts val="0"/>
              </a:spcAft>
              <a:buNone/>
            </a:pPr>
            <a:r>
              <a:rPr b="1" lang="en-GB" sz="1050">
                <a:solidFill>
                  <a:schemeClr val="dk2"/>
                </a:solidFill>
                <a:latin typeface="Century Gothic"/>
                <a:ea typeface="Century Gothic"/>
                <a:cs typeface="Century Gothic"/>
                <a:sym typeface="Century Gothic"/>
              </a:rPr>
              <a:t>Objective / Problem Statement</a:t>
            </a:r>
            <a:endParaRPr b="1" sz="1050">
              <a:solidFill>
                <a:schemeClr val="dk2"/>
              </a:solidFill>
              <a:latin typeface="Century Gothic"/>
              <a:ea typeface="Century Gothic"/>
              <a:cs typeface="Century Gothic"/>
              <a:sym typeface="Century Gothic"/>
            </a:endParaRPr>
          </a:p>
          <a:p>
            <a:pPr indent="-119063" lvl="0" marL="119063" marR="0" rtl="0" algn="l">
              <a:spcBef>
                <a:spcPts val="6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Align the “revenue generating assets” with the funding of such assets, e.g. borrowings, deposits, etc.</a:t>
            </a:r>
            <a:endParaRPr/>
          </a:p>
          <a:p>
            <a:pPr indent="-119063" lvl="0" marL="119063"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Prevent the misalignment maturing liabilities with ability to pay those liabilities</a:t>
            </a:r>
            <a:endParaRPr/>
          </a:p>
          <a:p>
            <a:pPr indent="-119063" lvl="0" marL="119063"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Meet challenging and tight regulations and reporting requirements.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Manage repricing gap, duration risk, NII sensitivity per SBP IRRBB guidelines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Model impact of SBP rate decisions on balance sheet</a:t>
            </a:r>
            <a:endParaRPr/>
          </a:p>
        </p:txBody>
      </p:sp>
      <p:sp>
        <p:nvSpPr>
          <p:cNvPr id="6083" name="Google Shape;6083;p339"/>
          <p:cNvSpPr/>
          <p:nvPr/>
        </p:nvSpPr>
        <p:spPr>
          <a:xfrm>
            <a:off x="6545103" y="340293"/>
            <a:ext cx="2598899" cy="474451"/>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9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6085" name="Google Shape;6085;p339"/>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6086" name="Google Shape;6086;p339"/>
          <p:cNvSpPr txBox="1"/>
          <p:nvPr>
            <p:ph type="title"/>
          </p:nvPr>
        </p:nvSpPr>
        <p:spPr>
          <a:xfrm>
            <a:off x="423875" y="164592"/>
            <a:ext cx="82629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Asset &amp; Liability Management – Treas Ops</a:t>
            </a:r>
            <a:endParaRPr sz="2400"/>
          </a:p>
        </p:txBody>
      </p:sp>
      <p:sp>
        <p:nvSpPr>
          <p:cNvPr id="6087" name="Google Shape;6087;p339">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Treasury Insight &amp;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2" name="Shape 6092"/>
        <p:cNvGrpSpPr/>
        <p:nvPr/>
      </p:nvGrpSpPr>
      <p:grpSpPr>
        <a:xfrm>
          <a:off x="0" y="0"/>
          <a:ext cx="0" cy="0"/>
          <a:chOff x="0" y="0"/>
          <a:chExt cx="0" cy="0"/>
        </a:xfrm>
      </p:grpSpPr>
      <p:cxnSp>
        <p:nvCxnSpPr>
          <p:cNvPr id="6093" name="Google Shape;6093;p340"/>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6094" name="Google Shape;6094;p340"/>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6095" name="Google Shape;6095;p340"/>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6097" name="Google Shape;6097;p340"/>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50">
                <a:solidFill>
                  <a:srgbClr val="0079DB"/>
                </a:solidFill>
                <a:latin typeface="Century Gothic"/>
                <a:ea typeface="Century Gothic"/>
                <a:cs typeface="Century Gothic"/>
                <a:sym typeface="Century Gothic"/>
              </a:rPr>
              <a:t>Business Benefit</a:t>
            </a:r>
            <a:endParaRPr/>
          </a:p>
          <a:p>
            <a:pPr indent="-171450" lvl="0" marL="171450" marR="0" rtl="0" algn="l">
              <a:spcBef>
                <a:spcPts val="4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Increase return on working capital</a:t>
            </a:r>
            <a:endParaRPr/>
          </a:p>
          <a:p>
            <a:pPr indent="-171450" lvl="0" marL="171450" marR="0" rtl="0" algn="l">
              <a:spcBef>
                <a:spcPts val="3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Lower cost due to decreased manual efforts and centralized data storage</a:t>
            </a:r>
            <a:endParaRPr/>
          </a:p>
          <a:p>
            <a:pPr indent="-171450" lvl="0" marL="171450" marR="0" rtl="0" algn="l">
              <a:spcBef>
                <a:spcPts val="3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Higher overall return on liquid assets</a:t>
            </a:r>
            <a:endParaRPr/>
          </a:p>
          <a:p>
            <a:pPr indent="-171450" lvl="0" marL="171450" marR="0" rtl="0" algn="l">
              <a:spcBef>
                <a:spcPts val="3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Higher accuracy and transparency</a:t>
            </a:r>
            <a:endParaRPr/>
          </a:p>
          <a:p>
            <a:pPr indent="-171450" lvl="0" marL="171450" marR="0" rtl="0" algn="l">
              <a:spcBef>
                <a:spcPts val="3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Avoid liquidity squeezes</a:t>
            </a:r>
            <a:endParaRPr/>
          </a:p>
        </p:txBody>
      </p:sp>
      <p:sp>
        <p:nvSpPr>
          <p:cNvPr id="6098" name="Google Shape;6098;p340"/>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71450" lvl="0" marL="17145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Accelerated access to new sources of data</a:t>
            </a:r>
            <a:endParaRPr/>
          </a:p>
          <a:p>
            <a:pPr indent="-171450" lvl="0" marL="17145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Automation of global cash positions and upcoming activities that use or affect cash and other liquid assets</a:t>
            </a:r>
            <a:endParaRPr/>
          </a:p>
          <a:p>
            <a:pPr indent="-171450" lvl="0" marL="17145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Granular and time-sensitive data  to support liquidity position on an intra-day or real-time basis.</a:t>
            </a:r>
            <a:endParaRPr/>
          </a:p>
          <a:p>
            <a:pPr indent="-171450" lvl="0" marL="17145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Multi-dimensional views (by legal entity, country, currency, third-party balances, various time horizons)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Real-time liquidity dashboard, automated LCR/NSFR calculation, stress scenario per SBP requirements</a:t>
            </a:r>
            <a:endParaRPr/>
          </a:p>
        </p:txBody>
      </p:sp>
      <p:sp>
        <p:nvSpPr>
          <p:cNvPr id="6099" name="Google Shape;6099;p340"/>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3175" lvl="0" marL="3175" marR="0" rtl="0" algn="l">
              <a:spcBef>
                <a:spcPts val="0"/>
              </a:spcBef>
              <a:spcAft>
                <a:spcPts val="0"/>
              </a:spcAft>
              <a:buNone/>
            </a:pPr>
            <a:r>
              <a:rPr b="1" lang="en-GB" sz="1100">
                <a:solidFill>
                  <a:srgbClr val="0079DB"/>
                </a:solidFill>
                <a:latin typeface="Century Gothic"/>
                <a:ea typeface="Century Gothic"/>
                <a:cs typeface="Century Gothic"/>
                <a:sym typeface="Century Gothic"/>
              </a:rPr>
              <a:t>Success Criteria</a:t>
            </a:r>
            <a:endParaRPr sz="1000">
              <a:solidFill>
                <a:srgbClr val="3C3C3B"/>
              </a:solidFill>
              <a:latin typeface="Century Gothic"/>
              <a:ea typeface="Century Gothic"/>
              <a:cs typeface="Century Gothic"/>
              <a:sym typeface="Century Gothic"/>
            </a:endParaRPr>
          </a:p>
          <a:p>
            <a:pPr indent="-111125" lvl="0" marL="111125" marR="0" rtl="0" algn="l">
              <a:spcBef>
                <a:spcPts val="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Users gained access to necessary data</a:t>
            </a:r>
            <a:endParaRPr/>
          </a:p>
          <a:p>
            <a:pPr indent="-108000" lvl="0" marL="108000" marR="0" rtl="0" algn="l">
              <a:spcBef>
                <a:spcPts val="2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Data lineage is established</a:t>
            </a:r>
            <a:endParaRPr/>
          </a:p>
          <a:p>
            <a:pPr indent="-108000" lvl="0" marL="108000" marR="0" rtl="0" algn="l">
              <a:spcBef>
                <a:spcPts val="2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End User Acceptance of results</a:t>
            </a:r>
            <a:endParaRPr/>
          </a:p>
          <a:p>
            <a:pPr indent="-108000" lvl="0" marL="108000" marR="0" rtl="0" algn="l">
              <a:spcBef>
                <a:spcPts val="2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SLAs were met</a:t>
            </a:r>
            <a:endParaRPr/>
          </a:p>
          <a:p>
            <a:pPr indent="-108000" lvl="0" marL="108000" marR="0" rtl="0" algn="l">
              <a:spcBef>
                <a:spcPts val="2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Client’s model produced validated results from access layer</a:t>
            </a:r>
            <a:endParaRPr/>
          </a:p>
          <a:p>
            <a:pPr indent="-130175" lvl="0" marL="180975" marR="0" rtl="0" algn="l">
              <a:lnSpc>
                <a:spcPct val="90000"/>
              </a:lnSpc>
              <a:spcBef>
                <a:spcPts val="2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130175" lvl="0" marL="180975" marR="0" rtl="0" algn="l">
              <a:lnSpc>
                <a:spcPct val="90000"/>
              </a:lnSpc>
              <a:spcBef>
                <a:spcPts val="4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400"/>
              </a:spcBef>
              <a:spcAft>
                <a:spcPts val="0"/>
              </a:spcAft>
              <a:buNone/>
            </a:pPr>
            <a:r>
              <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6100" name="Google Shape;6100;p340"/>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3175" lvl="0" marL="3175" marR="0" rtl="0" algn="l">
              <a:spcBef>
                <a:spcPts val="0"/>
              </a:spcBef>
              <a:spcAft>
                <a:spcPts val="0"/>
              </a:spcAft>
              <a:buNone/>
            </a:pPr>
            <a:r>
              <a:rPr b="1" lang="en-GB" sz="1050">
                <a:solidFill>
                  <a:srgbClr val="0079DB"/>
                </a:solidFill>
                <a:latin typeface="Century Gothic"/>
                <a:ea typeface="Century Gothic"/>
                <a:cs typeface="Century Gothic"/>
                <a:sym typeface="Century Gothic"/>
              </a:rPr>
              <a:t>Methodology / Analytic Techniques</a:t>
            </a:r>
            <a:endParaRPr/>
          </a:p>
          <a:p>
            <a:pPr indent="-112713" lvl="0" marL="112713" marR="0" rtl="0" algn="l">
              <a:spcBef>
                <a:spcPts val="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Load, integrate and validate data</a:t>
            </a:r>
            <a:endParaRPr/>
          </a:p>
          <a:p>
            <a:pPr indent="-111125" lvl="0" marL="111125" marR="0" rtl="0" algn="l">
              <a:spcBef>
                <a:spcPts val="2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Reference data management</a:t>
            </a:r>
            <a:endParaRPr sz="1000">
              <a:solidFill>
                <a:srgbClr val="3C3C3B"/>
              </a:solidFill>
              <a:latin typeface="Century Gothic"/>
              <a:ea typeface="Century Gothic"/>
              <a:cs typeface="Century Gothic"/>
              <a:sym typeface="Century Gothic"/>
            </a:endParaRPr>
          </a:p>
          <a:p>
            <a:pPr indent="-111125" lvl="0" marL="111125" marR="0" rtl="0" algn="l">
              <a:spcBef>
                <a:spcPts val="2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Leverage the industry data model</a:t>
            </a:r>
            <a:endParaRPr/>
          </a:p>
          <a:p>
            <a:pPr indent="-111125" lvl="0" marL="111125" marR="0" rtl="0" algn="l">
              <a:spcBef>
                <a:spcPts val="2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Deliver User Access Layer</a:t>
            </a:r>
            <a:endParaRPr/>
          </a:p>
          <a:p>
            <a:pPr indent="-111125" lvl="0" marL="111125" marR="0" rtl="0" algn="l">
              <a:spcBef>
                <a:spcPts val="2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Integrate client’s Liquidity Management application to the User Access Layer</a:t>
            </a:r>
            <a:endParaRPr/>
          </a:p>
        </p:txBody>
      </p:sp>
      <p:sp>
        <p:nvSpPr>
          <p:cNvPr id="6101" name="Google Shape;6101;p340"/>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50">
                <a:solidFill>
                  <a:srgbClr val="0079DB"/>
                </a:solidFill>
                <a:latin typeface="Century Gothic"/>
                <a:ea typeface="Century Gothic"/>
                <a:cs typeface="Century Gothic"/>
                <a:sym typeface="Century Gothic"/>
              </a:rPr>
              <a:t>Challenges</a:t>
            </a:r>
            <a:endParaRPr/>
          </a:p>
          <a:p>
            <a:pPr indent="-171450" lvl="0" marL="171450" marR="0" rtl="0" algn="l">
              <a:spcBef>
                <a:spcPts val="4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Data availability &amp; sourcing</a:t>
            </a:r>
            <a:endParaRPr/>
          </a:p>
          <a:p>
            <a:pPr indent="-171450" lvl="0" marL="171450" marR="0" rtl="0" algn="l">
              <a:spcBef>
                <a:spcPts val="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Data volumes &amp; scale</a:t>
            </a:r>
            <a:endParaRPr/>
          </a:p>
          <a:p>
            <a:pPr indent="-171450" lvl="0" marL="171450" marR="0" rtl="0" algn="l">
              <a:spcBef>
                <a:spcPts val="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Multiple source systems having different data structures, attribute definitions and key field structures</a:t>
            </a:r>
            <a:endParaRPr/>
          </a:p>
          <a:p>
            <a:pPr indent="-171450" lvl="0" marL="171450" marR="0" rtl="0" algn="l">
              <a:spcBef>
                <a:spcPts val="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Evolving dimensions and views</a:t>
            </a:r>
            <a:endParaRPr/>
          </a:p>
        </p:txBody>
      </p:sp>
      <p:sp>
        <p:nvSpPr>
          <p:cNvPr id="6102" name="Google Shape;6102;p340"/>
          <p:cNvSpPr/>
          <p:nvPr/>
        </p:nvSpPr>
        <p:spPr>
          <a:xfrm>
            <a:off x="423863" y="2334156"/>
            <a:ext cx="2714400" cy="1278755"/>
          </a:xfrm>
          <a:prstGeom prst="rect">
            <a:avLst/>
          </a:prstGeom>
          <a:noFill/>
          <a:ln>
            <a:noFill/>
          </a:ln>
        </p:spPr>
        <p:txBody>
          <a:bodyPr anchorCtr="0" anchor="t" bIns="46800" lIns="46800" spcFirstLastPara="1" rIns="46800" wrap="square" tIns="46800">
            <a:noAutofit/>
          </a:bodyPr>
          <a:lstStyle/>
          <a:p>
            <a:pPr indent="-180975" lvl="0" marL="180975" marR="0" rtl="0" algn="l">
              <a:spcBef>
                <a:spcPts val="0"/>
              </a:spcBef>
              <a:spcAft>
                <a:spcPts val="0"/>
              </a:spcAft>
              <a:buNone/>
            </a:pPr>
            <a:r>
              <a:rPr b="1" lang="en-GB" sz="1050">
                <a:solidFill>
                  <a:srgbClr val="0079DB"/>
                </a:solidFill>
                <a:latin typeface="Century Gothic"/>
                <a:ea typeface="Century Gothic"/>
                <a:cs typeface="Century Gothic"/>
                <a:sym typeface="Century Gothic"/>
              </a:rPr>
              <a:t>Source Data</a:t>
            </a:r>
            <a:endParaRPr/>
          </a:p>
          <a:p>
            <a:pPr indent="-179388" lvl="0" marL="179388" marR="0" rtl="0" algn="l">
              <a:spcBef>
                <a:spcPts val="3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Cash and “liquid” asset positions at a granular level </a:t>
            </a:r>
            <a:endParaRPr/>
          </a:p>
          <a:p>
            <a:pPr indent="-171450" lvl="0" marL="171450" marR="0" rtl="0" algn="l">
              <a:spcBef>
                <a:spcPts val="3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Cash position measurement views data (by legal entity, country, currency, etc.)</a:t>
            </a:r>
            <a:endParaRPr/>
          </a:p>
          <a:p>
            <a:pPr indent="-171450" lvl="0" marL="171450" marR="0" rtl="0" algn="l">
              <a:spcBef>
                <a:spcPts val="3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External market data</a:t>
            </a:r>
            <a:endParaRPr/>
          </a:p>
          <a:p>
            <a:pPr indent="-171450" lvl="0" marL="171450" marR="0" rtl="0" algn="l">
              <a:spcBef>
                <a:spcPts val="3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Market trend data, e.g. text data</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HQLA portfolio (PIBs, T-Bills, cash, SBP balance), deposit stability, RAAST/RTGS flows, SBP templates</a:t>
            </a:r>
            <a:endParaRPr/>
          </a:p>
        </p:txBody>
      </p:sp>
      <p:sp>
        <p:nvSpPr>
          <p:cNvPr id="6103" name="Google Shape;6103;p340"/>
          <p:cNvSpPr/>
          <p:nvPr/>
        </p:nvSpPr>
        <p:spPr>
          <a:xfrm>
            <a:off x="423873"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100">
                <a:solidFill>
                  <a:srgbClr val="0079DB"/>
                </a:solidFill>
                <a:latin typeface="Century Gothic"/>
                <a:ea typeface="Century Gothic"/>
                <a:cs typeface="Century Gothic"/>
                <a:sym typeface="Century Gothic"/>
              </a:rPr>
              <a:t>Objective / Problem Statement</a:t>
            </a:r>
            <a:endParaRPr/>
          </a:p>
          <a:p>
            <a:pPr indent="-171450" lvl="0" marL="171450" marR="0" rtl="0" algn="l">
              <a:spcBef>
                <a:spcPts val="4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Reduce the cost of liquidity management </a:t>
            </a:r>
            <a:endParaRPr/>
          </a:p>
          <a:p>
            <a:pPr indent="-171450" lvl="0" marL="171450" marR="0" rtl="0" algn="l">
              <a:spcBef>
                <a:spcPts val="3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Improve the effectiveness of liquidity management</a:t>
            </a:r>
            <a:endParaRPr/>
          </a:p>
          <a:p>
            <a:pPr indent="-171450" lvl="0" marL="171450" marR="0" rtl="0" algn="l">
              <a:spcBef>
                <a:spcPts val="3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Leverage new sources of data at a granular level </a:t>
            </a:r>
            <a:endParaRPr/>
          </a:p>
          <a:p>
            <a:pPr indent="-171450" lvl="0" marL="171450" marR="0" rtl="0" algn="l">
              <a:spcBef>
                <a:spcPts val="300"/>
              </a:spcBef>
              <a:spcAft>
                <a:spcPts val="0"/>
              </a:spcAft>
              <a:buClr>
                <a:srgbClr val="3C3C3B"/>
              </a:buClr>
              <a:buSzPts val="1000"/>
              <a:buFont typeface="Arial"/>
              <a:buChar char="•"/>
            </a:pPr>
            <a:r>
              <a:rPr lang="en-GB" sz="1000">
                <a:solidFill>
                  <a:srgbClr val="3C3C3B"/>
                </a:solidFill>
                <a:latin typeface="Century Gothic"/>
                <a:ea typeface="Century Gothic"/>
                <a:cs typeface="Century Gothic"/>
                <a:sym typeface="Century Gothic"/>
              </a:rPr>
              <a:t>Analyse data more frequently with less manual efforts throughout the day to improve the management of their wide range of liquid assets.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SBP Basel III: LCR min 100%, NSFR min 100%, intraday monitoring. Optimize HQLA composition</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RAAST real-time settlement creates new intraday volatility - need real-time monitoring</a:t>
            </a:r>
            <a:endParaRPr/>
          </a:p>
        </p:txBody>
      </p:sp>
      <p:sp>
        <p:nvSpPr>
          <p:cNvPr id="6104" name="Google Shape;6104;p340"/>
          <p:cNvSpPr/>
          <p:nvPr/>
        </p:nvSpPr>
        <p:spPr>
          <a:xfrm>
            <a:off x="6545103" y="290518"/>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Owner:   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6105" name="Google Shape;6105;p340"/>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E9432"/>
                </a:solidFill>
                <a:latin typeface="Century Gothic"/>
                <a:ea typeface="Century Gothic"/>
                <a:cs typeface="Century Gothic"/>
                <a:sym typeface="Century Gothic"/>
              </a:rPr>
              <a:t>Use Case Summary</a:t>
            </a:r>
            <a:endParaRPr sz="1000">
              <a:solidFill>
                <a:srgbClr val="EE9432"/>
              </a:solidFill>
              <a:latin typeface="Century Gothic"/>
              <a:ea typeface="Century Gothic"/>
              <a:cs typeface="Century Gothic"/>
              <a:sym typeface="Century Gothic"/>
            </a:endParaRPr>
          </a:p>
        </p:txBody>
      </p:sp>
      <p:sp>
        <p:nvSpPr>
          <p:cNvPr id="6106" name="Google Shape;6106;p340"/>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rgbClr val="EE9432"/>
              </a:buClr>
              <a:buSzPts val="2400"/>
              <a:buFont typeface="Century Gothic"/>
              <a:buNone/>
            </a:pPr>
            <a:r>
              <a:rPr lang="en-GB" sz="2400">
                <a:solidFill>
                  <a:srgbClr val="EE9432"/>
                </a:solidFill>
              </a:rPr>
              <a:t>Liquidity Management</a:t>
            </a:r>
            <a:endParaRPr sz="2400"/>
          </a:p>
        </p:txBody>
      </p:sp>
      <p:sp>
        <p:nvSpPr>
          <p:cNvPr id="6107" name="Google Shape;6107;p340">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Treasury Insight &amp;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2" name="Shape 6112"/>
        <p:cNvGrpSpPr/>
        <p:nvPr/>
      </p:nvGrpSpPr>
      <p:grpSpPr>
        <a:xfrm>
          <a:off x="0" y="0"/>
          <a:ext cx="0" cy="0"/>
          <a:chOff x="0" y="0"/>
          <a:chExt cx="0" cy="0"/>
        </a:xfrm>
      </p:grpSpPr>
      <p:cxnSp>
        <p:nvCxnSpPr>
          <p:cNvPr id="6113" name="Google Shape;6113;p341"/>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6114" name="Google Shape;6114;p341"/>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6115" name="Google Shape;6115;p341"/>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6117" name="Google Shape;6117;p341"/>
          <p:cNvSpPr/>
          <p:nvPr/>
        </p:nvSpPr>
        <p:spPr>
          <a:xfrm>
            <a:off x="4820089"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80975" lvl="0" marL="180975"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 the impact of currency movements on the income statement</a:t>
            </a:r>
            <a:endParaRPr/>
          </a:p>
          <a:p>
            <a:pPr indent="-180975" lvl="0" marL="180975"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Earnings volatility reduced by more effective use of hedging products (e.g. mitigation of adverse currency movements) </a:t>
            </a:r>
            <a:endParaRPr/>
          </a:p>
          <a:p>
            <a:pPr indent="-180975" lvl="0" marL="180975"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Accurately represent the firm’s risk management activities in financial statements</a:t>
            </a:r>
            <a:endParaRPr/>
          </a:p>
          <a:p>
            <a:pPr indent="-180975" lvl="0" marL="180975"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Compliance with regulatory and accounting standards</a:t>
            </a:r>
            <a:endParaRPr/>
          </a:p>
          <a:p>
            <a:pPr indent="-180975" lvl="0" marL="180975"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Easier and lower maintenance costs of modern accounting processes</a:t>
            </a:r>
            <a:endParaRPr/>
          </a:p>
          <a:p>
            <a:pPr indent="-133350" lvl="0" marL="180975" marR="0" rtl="0" algn="l">
              <a:lnSpc>
                <a:spcPct val="90000"/>
              </a:lnSpc>
              <a:spcBef>
                <a:spcPts val="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6118" name="Google Shape;6118;p341"/>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20650" lvl="0" marL="222250" marR="0" rtl="0" algn="l">
              <a:lnSpc>
                <a:spcPct val="90000"/>
              </a:lnSpc>
              <a:spcBef>
                <a:spcPts val="4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171450" lvl="0" marL="222250"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Accelerated calculation and delivery of optimized hedges to mitigate forward currency risk</a:t>
            </a:r>
            <a:endParaRPr/>
          </a:p>
          <a:p>
            <a:pPr indent="-171450" lvl="0" marL="222250"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Integrated view of detailed forward currency risk</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Optimized FX hedging strategy, reduced earnings volatility, automated SBP open position reporting</a:t>
            </a:r>
            <a:endParaRPr/>
          </a:p>
        </p:txBody>
      </p:sp>
      <p:sp>
        <p:nvSpPr>
          <p:cNvPr id="6119" name="Google Shape;6119;p341"/>
          <p:cNvSpPr/>
          <p:nvPr/>
        </p:nvSpPr>
        <p:spPr>
          <a:xfrm>
            <a:off x="3271844" y="3557890"/>
            <a:ext cx="2876962"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71450" lvl="0" marL="17145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Consolidated environment for hedging analytics</a:t>
            </a:r>
            <a:endParaRPr/>
          </a:p>
          <a:p>
            <a:pPr indent="-171450" lvl="0" marL="171450" marR="0" rtl="0" algn="l">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Acceptance of new methodology and tool by und-users</a:t>
            </a:r>
            <a:endParaRPr/>
          </a:p>
          <a:p>
            <a:pPr indent="-171450" lvl="0" marL="171450" marR="0" rtl="0" algn="l">
              <a:lnSpc>
                <a:spcPct val="90000"/>
              </a:lnSpc>
              <a:spcBef>
                <a:spcPts val="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Acceptance/Understanding of financial derivatives</a:t>
            </a:r>
            <a:endParaRPr/>
          </a:p>
          <a:p>
            <a:pPr indent="-120650" lvl="0" marL="171450" marR="0" rtl="0" algn="l">
              <a:spcBef>
                <a:spcPts val="45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120650" lvl="0" marL="171450" marR="0" rtl="0" algn="l">
              <a:spcBef>
                <a:spcPts val="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120650" lvl="0" marL="171450" marR="0" rtl="0" algn="l">
              <a:spcBef>
                <a:spcPts val="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123825" lvl="0" marL="180975" marR="0" rtl="0" algn="l">
              <a:lnSpc>
                <a:spcPct val="90000"/>
              </a:lnSpc>
              <a:spcBef>
                <a:spcPts val="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6120" name="Google Shape;6120;p341"/>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sz="800">
              <a:solidFill>
                <a:srgbClr val="3C3C3B"/>
              </a:solidFill>
              <a:latin typeface="Century Gothic"/>
              <a:ea typeface="Century Gothic"/>
              <a:cs typeface="Century Gothic"/>
              <a:sym typeface="Century Gothic"/>
            </a:endParaRPr>
          </a:p>
          <a:p>
            <a:pPr indent="-171450" lvl="0" marL="171450"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Integration of source data into an analytic data-set</a:t>
            </a:r>
            <a:endParaRPr/>
          </a:p>
          <a:p>
            <a:pPr indent="-171450" lvl="0" marL="171450" marR="0" rtl="0" algn="l">
              <a:lnSpc>
                <a:spcPct val="90000"/>
              </a:lnSpc>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Predictive Value at Risk (VaR) model</a:t>
            </a:r>
            <a:endParaRPr sz="900">
              <a:solidFill>
                <a:srgbClr val="3C3C3B"/>
              </a:solidFill>
              <a:latin typeface="Century Gothic"/>
              <a:ea typeface="Century Gothic"/>
              <a:cs typeface="Century Gothic"/>
              <a:sym typeface="Century Gothic"/>
            </a:endParaRPr>
          </a:p>
          <a:p>
            <a:pPr indent="-171450" lvl="0" marL="171450" marR="0" rtl="0" algn="l">
              <a:lnSpc>
                <a:spcPct val="90000"/>
              </a:lnSpc>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Linear optimization to determine optimized portfolio of derivative hedge products</a:t>
            </a:r>
            <a:endParaRPr/>
          </a:p>
        </p:txBody>
      </p:sp>
      <p:sp>
        <p:nvSpPr>
          <p:cNvPr id="6121" name="Google Shape;6121;p341"/>
          <p:cNvSpPr/>
          <p:nvPr/>
        </p:nvSpPr>
        <p:spPr>
          <a:xfrm>
            <a:off x="423862" y="3557889"/>
            <a:ext cx="2783531" cy="1224591"/>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71450" lvl="0" marL="171450"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availability:  Level of integration, Degree of granularity, Timeliness, Quality</a:t>
            </a:r>
            <a:endParaRPr/>
          </a:p>
          <a:p>
            <a:pPr indent="-171450" lvl="0" marL="171450" marR="0" rtl="0" algn="l">
              <a:lnSpc>
                <a:spcPct val="90000"/>
              </a:lnSpc>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Knowledge of and confidence in portfolio hedge products (derivatives: swaps, futures, options)</a:t>
            </a:r>
            <a:endParaRPr/>
          </a:p>
        </p:txBody>
      </p:sp>
      <p:sp>
        <p:nvSpPr>
          <p:cNvPr id="6122" name="Google Shape;6122;p341"/>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69863" lvl="1" marL="169863" marR="0" rtl="0" algn="l">
              <a:lnSpc>
                <a:spcPct val="90000"/>
              </a:lnSpc>
              <a:spcBef>
                <a:spcPts val="4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Portfolio balance and transaction data (Balances, rates, fees etc.)</a:t>
            </a:r>
            <a:endParaRPr/>
          </a:p>
          <a:p>
            <a:pPr indent="-169863" lvl="1" marL="169863" marR="0" rtl="0" algn="l">
              <a:lnSpc>
                <a:spcPct val="90000"/>
              </a:lnSpc>
              <a:spcBef>
                <a:spcPts val="45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Market data – Real-time and historic F/X rates and Interest rates</a:t>
            </a:r>
            <a:endParaRPr/>
          </a:p>
          <a:p>
            <a:pPr indent="-169863" lvl="1" marL="169863" marR="0" rtl="0" algn="l">
              <a:lnSpc>
                <a:spcPct val="90000"/>
              </a:lnSpc>
              <a:spcBef>
                <a:spcPts val="45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Global cashflow and asset/liability forecast in local and base currency </a:t>
            </a:r>
            <a:endParaRPr b="0" i="0" sz="900" u="none" cap="none" strike="noStrike">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SBP daily FX rates, forward rates, trade finance pipeline (LC/LG), remittance flow forecasts</a:t>
            </a:r>
            <a:endParaRPr/>
          </a:p>
        </p:txBody>
      </p:sp>
      <p:sp>
        <p:nvSpPr>
          <p:cNvPr id="6123" name="Google Shape;6123;p341"/>
          <p:cNvSpPr/>
          <p:nvPr/>
        </p:nvSpPr>
        <p:spPr>
          <a:xfrm>
            <a:off x="423870"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a:p>
          <a:p>
            <a:pPr indent="-171450" lvl="1" marL="171450" marR="0" rtl="0" algn="l">
              <a:spcBef>
                <a:spcPts val="5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Execute an effective mitigation strategy (hedging) to mitigate adverse movements in foreign exchange rates i.e.  an effective hedging strategy delivering the ability to implement accounting changes and perform Fair Value and Hedge Accounting in a quick, flexible and cost-effective manner.</a:t>
            </a:r>
            <a:endParaRPr/>
          </a:p>
          <a:p>
            <a:pPr indent="-171450" lvl="1" marL="342900" marR="0" rtl="0" algn="l">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Solutions offered by the Financial Services industry tend to be “one size fits all” and/or expensive.</a:t>
            </a:r>
            <a:endParaRPr/>
          </a:p>
          <a:p>
            <a:pPr indent="-171450" lvl="1" marL="342900" marR="0" rtl="0" algn="l">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Mis-trust of financial derivative products </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Hedge PKR/USD, PKR/GBP, PKR/EUR, PKR/AED exposure from trade finance ($60B/yr) and remittances ($30B+/yr)</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SBP limits open FX positions. PKR devaluation episodes (2018, 2022-23) make hedging critical</a:t>
            </a:r>
            <a:endParaRPr/>
          </a:p>
        </p:txBody>
      </p:sp>
      <p:sp>
        <p:nvSpPr>
          <p:cNvPr id="6124" name="Google Shape;6124;p341"/>
          <p:cNvSpPr/>
          <p:nvPr/>
        </p:nvSpPr>
        <p:spPr>
          <a:xfrm>
            <a:off x="6545103" y="290514"/>
            <a:ext cx="2598899" cy="524226"/>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Owner:   Banking Industry Best Practice</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p:txBody>
      </p:sp>
      <p:sp>
        <p:nvSpPr>
          <p:cNvPr id="6125" name="Google Shape;6125;p341"/>
          <p:cNvSpPr/>
          <p:nvPr/>
        </p:nvSpPr>
        <p:spPr>
          <a:xfrm>
            <a:off x="355606" y="594287"/>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a:p>
        </p:txBody>
      </p:sp>
      <p:sp>
        <p:nvSpPr>
          <p:cNvPr id="6126" name="Google Shape;6126;p341"/>
          <p:cNvSpPr txBox="1"/>
          <p:nvPr>
            <p:ph type="title"/>
          </p:nvPr>
        </p:nvSpPr>
        <p:spPr>
          <a:xfrm>
            <a:off x="423870"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Currency Hedge Analytics</a:t>
            </a:r>
            <a:endParaRPr sz="2400"/>
          </a:p>
        </p:txBody>
      </p:sp>
      <p:sp>
        <p:nvSpPr>
          <p:cNvPr id="6127" name="Google Shape;6127;p341">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Treasury Insight &amp;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2" name="Shape 6132"/>
        <p:cNvGrpSpPr/>
        <p:nvPr/>
      </p:nvGrpSpPr>
      <p:grpSpPr>
        <a:xfrm>
          <a:off x="0" y="0"/>
          <a:ext cx="0" cy="0"/>
          <a:chOff x="0" y="0"/>
          <a:chExt cx="0" cy="0"/>
        </a:xfrm>
      </p:grpSpPr>
      <p:cxnSp>
        <p:nvCxnSpPr>
          <p:cNvPr id="6133" name="Google Shape;6133;p342"/>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6134" name="Google Shape;6134;p342"/>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6135" name="Google Shape;6135;p342"/>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6137" name="Google Shape;6137;p342"/>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 </a:t>
            </a:r>
            <a:endParaRPr/>
          </a:p>
          <a:p>
            <a:pPr indent="-108000" lvl="0" marL="108000" marR="0" rtl="0" algn="l">
              <a:lnSpc>
                <a:spcPct val="90000"/>
              </a:lnSpc>
              <a:spcBef>
                <a:spcPts val="5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Lower cost due to shared data, tools and infrastructure</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Accelerated reporting cycles</a:t>
            </a:r>
            <a:endParaRPr/>
          </a:p>
          <a:p>
            <a:pPr indent="-108000" lvl="0" marL="108000"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Reduction in  data preparation time</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Re-focus financial analyst time on value-generating activities </a:t>
            </a:r>
            <a:endParaRPr/>
          </a:p>
          <a:p>
            <a:pPr indent="-108000" lvl="0" marL="10800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operational and reputational risk by meeting regulatory and compliance demands</a:t>
            </a:r>
            <a:endParaRPr sz="900">
              <a:solidFill>
                <a:schemeClr val="dk1"/>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33350" lvl="0" marL="180975" marR="0" rtl="0" algn="l">
              <a:lnSpc>
                <a:spcPct val="90000"/>
              </a:lnSpc>
              <a:spcBef>
                <a:spcPts val="300"/>
              </a:spcBef>
              <a:spcAft>
                <a:spcPts val="0"/>
              </a:spcAft>
              <a:buClr>
                <a:schemeClr val="dk1"/>
              </a:buClr>
              <a:buSzPts val="750"/>
              <a:buFont typeface="Arial"/>
              <a:buNone/>
            </a:pPr>
            <a:r>
              <a:t/>
            </a:r>
            <a:endParaRPr b="1" sz="750">
              <a:solidFill>
                <a:srgbClr val="BBBCBE"/>
              </a:solidFill>
              <a:latin typeface="Century Gothic"/>
              <a:ea typeface="Century Gothic"/>
              <a:cs typeface="Century Gothic"/>
              <a:sym typeface="Century Gothic"/>
            </a:endParaRPr>
          </a:p>
        </p:txBody>
      </p:sp>
      <p:sp>
        <p:nvSpPr>
          <p:cNvPr id="6138" name="Google Shape;6138;p342"/>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Integrated data repository to support regulatory and statutory reporting requirements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 reporting access layer that supports the different reporting requirements</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Direct data lineage between operational transactions, regulatory data and financial data </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Single source of truth for all external reporting - eliminate duplicate data preparation</a:t>
            </a:r>
            <a:endParaRPr/>
          </a:p>
        </p:txBody>
      </p:sp>
      <p:sp>
        <p:nvSpPr>
          <p:cNvPr id="6139" name="Google Shape;6139;p342"/>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Access to granular accounting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Timely, consolidated and validated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Ability to demonstrate data lineage from source to resulting report sets</a:t>
            </a:r>
            <a:endParaRPr/>
          </a:p>
          <a:p>
            <a:pPr indent="0" lvl="0" marL="0" marR="0" rtl="0" algn="l">
              <a:lnSpc>
                <a:spcPct val="90000"/>
              </a:lnSpc>
              <a:spcBef>
                <a:spcPts val="3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6140" name="Google Shape;6140;p342"/>
          <p:cNvSpPr/>
          <p:nvPr/>
        </p:nvSpPr>
        <p:spPr>
          <a:xfrm>
            <a:off x="3271845" y="2334154"/>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Understanding the current reporting requirements and processes</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Load, integrate and validate data</a:t>
            </a:r>
            <a:endParaRPr sz="8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Provide an access layer  for BI Reporting tool</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Development of an interface into statutory or regulatory reporting solution</a:t>
            </a:r>
            <a:endParaRPr/>
          </a:p>
        </p:txBody>
      </p:sp>
      <p:sp>
        <p:nvSpPr>
          <p:cNvPr id="6141" name="Google Shape;6141;p342"/>
          <p:cNvSpPr/>
          <p:nvPr/>
        </p:nvSpPr>
        <p:spPr>
          <a:xfrm>
            <a:off x="423863"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granularity and availability</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Inconsistent data</a:t>
            </a:r>
            <a:endParaRPr/>
          </a:p>
          <a:p>
            <a:pPr indent="-108000" lvl="0" marL="108000" marR="0" rtl="0" algn="l">
              <a:spcBef>
                <a:spcPts val="300"/>
              </a:spcBef>
              <a:spcAft>
                <a:spcPts val="0"/>
              </a:spcAft>
              <a:buClr>
                <a:srgbClr val="3C3C3B"/>
              </a:buClr>
              <a:buSzPts val="800"/>
              <a:buFont typeface="Arial"/>
              <a:buChar char="•"/>
            </a:pPr>
            <a:r>
              <a:rPr lang="en-GB" sz="800">
                <a:solidFill>
                  <a:srgbClr val="3C3C3B"/>
                </a:solidFill>
                <a:latin typeface="Century Gothic"/>
                <a:ea typeface="Century Gothic"/>
                <a:cs typeface="Century Gothic"/>
                <a:sym typeface="Century Gothic"/>
              </a:rPr>
              <a:t>Data is in multiple, non-integrated and non-validated sources</a:t>
            </a:r>
            <a:endParaRPr/>
          </a:p>
          <a:p>
            <a:pPr indent="-57199" lvl="0" marL="108000"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6142" name="Google Shape;6142;p342"/>
          <p:cNvSpPr/>
          <p:nvPr/>
        </p:nvSpPr>
        <p:spPr>
          <a:xfrm>
            <a:off x="423863" y="2334154"/>
            <a:ext cx="2714400" cy="11700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08000" lvl="0" marL="108000" marR="0" rtl="0" algn="l">
              <a:lnSpc>
                <a:spcPct val="90000"/>
              </a:lnSpc>
              <a:spcBef>
                <a:spcPts val="40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Full spectrum of financial, regulatory and compliance requirements, including:</a:t>
            </a:r>
            <a:endParaRPr/>
          </a:p>
          <a:p>
            <a:pPr indent="-85725" lvl="1" marL="265113" marR="0" rtl="0" algn="l">
              <a:lnSpc>
                <a:spcPct val="90000"/>
              </a:lnSpc>
              <a:spcBef>
                <a:spcPts val="300"/>
              </a:spcBef>
              <a:spcAft>
                <a:spcPts val="0"/>
              </a:spcAft>
              <a:buClr>
                <a:schemeClr val="dk1"/>
              </a:buClr>
              <a:buSzPts val="800"/>
              <a:buFont typeface="Arial"/>
              <a:buChar char="•"/>
            </a:pPr>
            <a:r>
              <a:rPr b="0" i="0" lang="en-GB" sz="800" u="none" cap="none" strike="noStrike">
                <a:solidFill>
                  <a:schemeClr val="dk1"/>
                </a:solidFill>
                <a:latin typeface="Century Gothic"/>
                <a:ea typeface="Century Gothic"/>
                <a:cs typeface="Century Gothic"/>
                <a:sym typeface="Century Gothic"/>
              </a:rPr>
              <a:t>Customer  detail and reference data</a:t>
            </a:r>
            <a:endParaRPr/>
          </a:p>
          <a:p>
            <a:pPr indent="-85725" lvl="1" marL="265113" marR="0" rtl="0" algn="l">
              <a:lnSpc>
                <a:spcPct val="90000"/>
              </a:lnSpc>
              <a:spcBef>
                <a:spcPts val="300"/>
              </a:spcBef>
              <a:spcAft>
                <a:spcPts val="0"/>
              </a:spcAft>
              <a:buClr>
                <a:schemeClr val="dk1"/>
              </a:buClr>
              <a:buSzPts val="800"/>
              <a:buFont typeface="Arial"/>
              <a:buChar char="•"/>
            </a:pPr>
            <a:r>
              <a:rPr b="0" i="0" lang="en-GB" sz="800" u="none" cap="none" strike="noStrike">
                <a:solidFill>
                  <a:schemeClr val="dk1"/>
                </a:solidFill>
                <a:latin typeface="Century Gothic"/>
                <a:ea typeface="Century Gothic"/>
                <a:cs typeface="Century Gothic"/>
                <a:sym typeface="Century Gothic"/>
              </a:rPr>
              <a:t>GL Account balances</a:t>
            </a:r>
            <a:endParaRPr/>
          </a:p>
          <a:p>
            <a:pPr indent="-85725" lvl="1" marL="265113" marR="0" rtl="0" algn="l">
              <a:lnSpc>
                <a:spcPct val="90000"/>
              </a:lnSpc>
              <a:spcBef>
                <a:spcPts val="300"/>
              </a:spcBef>
              <a:spcAft>
                <a:spcPts val="0"/>
              </a:spcAft>
              <a:buClr>
                <a:schemeClr val="dk1"/>
              </a:buClr>
              <a:buSzPts val="800"/>
              <a:buFont typeface="Arial"/>
              <a:buChar char="•"/>
            </a:pPr>
            <a:r>
              <a:rPr b="0" i="0" lang="en-GB" sz="800" u="none" cap="none" strike="noStrike">
                <a:solidFill>
                  <a:schemeClr val="dk1"/>
                </a:solidFill>
                <a:latin typeface="Century Gothic"/>
                <a:ea typeface="Century Gothic"/>
                <a:cs typeface="Century Gothic"/>
                <a:sym typeface="Century Gothic"/>
              </a:rPr>
              <a:t>Transaction-level data across all operational and financial systems</a:t>
            </a:r>
            <a:endParaRPr/>
          </a:p>
          <a:p>
            <a:pPr indent="-85725" lvl="1" marL="265113" marR="0" rtl="0" algn="l">
              <a:lnSpc>
                <a:spcPct val="90000"/>
              </a:lnSpc>
              <a:spcBef>
                <a:spcPts val="300"/>
              </a:spcBef>
              <a:spcAft>
                <a:spcPts val="0"/>
              </a:spcAft>
              <a:buClr>
                <a:schemeClr val="dk1"/>
              </a:buClr>
              <a:buSzPts val="800"/>
              <a:buFont typeface="Arial"/>
              <a:buChar char="•"/>
            </a:pPr>
            <a:r>
              <a:rPr b="0" i="0" lang="en-GB" sz="800" u="none" cap="none" strike="noStrike">
                <a:solidFill>
                  <a:schemeClr val="dk1"/>
                </a:solidFill>
                <a:latin typeface="Century Gothic"/>
                <a:ea typeface="Century Gothic"/>
                <a:cs typeface="Century Gothic"/>
                <a:sym typeface="Century Gothic"/>
              </a:rPr>
              <a:t>Accounting Hierarchies and Reference Data</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Integrated FSDM data warehouse: GL, sub-ledger, customer, product, transaction with audit trail</a:t>
            </a:r>
            <a:endParaRPr/>
          </a:p>
        </p:txBody>
      </p:sp>
      <p:sp>
        <p:nvSpPr>
          <p:cNvPr id="6143" name="Google Shape;6143;p342"/>
          <p:cNvSpPr/>
          <p:nvPr/>
        </p:nvSpPr>
        <p:spPr>
          <a:xfrm>
            <a:off x="423875"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b="1" sz="1000">
              <a:solidFill>
                <a:schemeClr val="dk2"/>
              </a:solidFill>
              <a:latin typeface="Century Gothic"/>
              <a:ea typeface="Century Gothic"/>
              <a:cs typeface="Century Gothic"/>
              <a:sym typeface="Century Gothic"/>
            </a:endParaRPr>
          </a:p>
          <a:p>
            <a:pPr indent="-108000" lvl="0" marL="108000" marR="0" rtl="0" algn="l">
              <a:spcBef>
                <a:spcPts val="6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Companies need to accommodate the different accounting and reporting treatments forced on them by either IFRS, US GAAP, SEC or other local regulatory bodies </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These differentiated reports have to be accurate, timely and delivered efficiently</a:t>
            </a:r>
            <a:endParaRPr/>
          </a:p>
          <a:p>
            <a:pPr indent="-108000" lvl="0" marL="108000"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Requirements are frequently changing so flexibility is required, and cost of delivery is high</a:t>
            </a:r>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Support: SBP statutory returns, SECP quarterly/annual IFRS, PSX disclosure, external audit, FBR reporting</a:t>
            </a:r>
            <a:endParaRPr/>
          </a:p>
        </p:txBody>
      </p:sp>
      <p:sp>
        <p:nvSpPr>
          <p:cNvPr id="6144" name="Google Shape;6144;p342"/>
          <p:cNvSpPr/>
          <p:nvPr/>
        </p:nvSpPr>
        <p:spPr>
          <a:xfrm>
            <a:off x="6545103" y="290519"/>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chemeClr val="accent6"/>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6145" name="Google Shape;6145;p342"/>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6146" name="Google Shape;6146;p342"/>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External Reporting Support</a:t>
            </a:r>
            <a:endParaRPr sz="2400"/>
          </a:p>
        </p:txBody>
      </p:sp>
      <p:sp>
        <p:nvSpPr>
          <p:cNvPr id="6147" name="Google Shape;6147;p342">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Financial Reporting</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2" name="Shape 6152"/>
        <p:cNvGrpSpPr/>
        <p:nvPr/>
      </p:nvGrpSpPr>
      <p:grpSpPr>
        <a:xfrm>
          <a:off x="0" y="0"/>
          <a:ext cx="0" cy="0"/>
          <a:chOff x="0" y="0"/>
          <a:chExt cx="0" cy="0"/>
        </a:xfrm>
      </p:grpSpPr>
      <p:sp>
        <p:nvSpPr>
          <p:cNvPr id="6153" name="Google Shape;6153;p343"/>
          <p:cNvSpPr/>
          <p:nvPr/>
        </p:nvSpPr>
        <p:spPr>
          <a:xfrm>
            <a:off x="420624" y="2331726"/>
            <a:ext cx="2713048" cy="934891"/>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17475" lvl="0" marL="117475"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ERP Transactional data, e.g.  General and Sub ledger data</a:t>
            </a:r>
            <a:endParaRPr/>
          </a:p>
          <a:p>
            <a:pPr indent="-117475" lvl="0" marL="1174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Performance target data, e.g., plan, budget, forecast, goal</a:t>
            </a:r>
            <a:endParaRPr/>
          </a:p>
        </p:txBody>
      </p:sp>
      <p:sp>
        <p:nvSpPr>
          <p:cNvPr id="6154" name="Google Shape;6154;p343"/>
          <p:cNvSpPr/>
          <p:nvPr/>
        </p:nvSpPr>
        <p:spPr>
          <a:xfrm>
            <a:off x="3273552" y="2331720"/>
            <a:ext cx="2715336" cy="12384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Load, integrate and validate required data</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Reporting / BI Tool(s) of choice</a:t>
            </a:r>
            <a:endParaRPr/>
          </a:p>
          <a:p>
            <a:pPr indent="-119063" lvl="0" marL="119063"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Identification of Key Performance Indicators (KPIs)</a:t>
            </a:r>
            <a:endParaRPr/>
          </a:p>
          <a:p>
            <a:pPr indent="-119063" lvl="0" marL="119063"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Data harmonization</a:t>
            </a:r>
            <a:endParaRPr/>
          </a:p>
          <a:p>
            <a:pPr indent="-68263" lvl="0" marL="119063"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6155" name="Google Shape;6155;p343"/>
          <p:cNvSpPr/>
          <p:nvPr/>
        </p:nvSpPr>
        <p:spPr>
          <a:xfrm>
            <a:off x="3273552" y="3557016"/>
            <a:ext cx="2715336" cy="1238400"/>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80975" lvl="0" marL="180975"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Reduction of movement of required data</a:t>
            </a:r>
            <a:endParaRPr/>
          </a:p>
          <a:p>
            <a:pPr indent="-180975" lvl="0" marL="180975" marR="0" rtl="0" algn="l">
              <a:lnSpc>
                <a:spcPct val="90000"/>
              </a:lnSpc>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Reduction of reconciliation points</a:t>
            </a:r>
            <a:endParaRPr/>
          </a:p>
          <a:p>
            <a:pPr indent="-180975" lvl="0" marL="180975" marR="0" rtl="0" algn="l">
              <a:lnSpc>
                <a:spcPct val="90000"/>
              </a:lnSpc>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Financial reports generated by  in a “shorter” reporting window</a:t>
            </a:r>
            <a:endParaRPr/>
          </a:p>
          <a:p>
            <a:pPr indent="0" lvl="0" marL="0" marR="0" rtl="0" algn="l">
              <a:lnSpc>
                <a:spcPct val="90000"/>
              </a:lnSpc>
              <a:spcBef>
                <a:spcPts val="45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6156" name="Google Shape;6156;p343"/>
          <p:cNvSpPr/>
          <p:nvPr/>
        </p:nvSpPr>
        <p:spPr>
          <a:xfrm>
            <a:off x="419100" y="3557016"/>
            <a:ext cx="2616024" cy="1238400"/>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granularity and availability</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Inconsistent data</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is in multiple, non-integrated and non-validated sources</a:t>
            </a:r>
            <a:endParaRPr sz="900">
              <a:solidFill>
                <a:srgbClr val="3C3C3B"/>
              </a:solidFill>
              <a:latin typeface="Century Gothic"/>
              <a:ea typeface="Century Gothic"/>
              <a:cs typeface="Century Gothic"/>
              <a:sym typeface="Century Gothic"/>
            </a:endParaRPr>
          </a:p>
        </p:txBody>
      </p:sp>
      <p:sp>
        <p:nvSpPr>
          <p:cNvPr id="6157" name="Google Shape;6157;p343"/>
          <p:cNvSpPr/>
          <p:nvPr/>
        </p:nvSpPr>
        <p:spPr>
          <a:xfrm>
            <a:off x="4818899" y="804673"/>
            <a:ext cx="3389447" cy="1404248"/>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a:t>
            </a:r>
            <a:endParaRPr/>
          </a:p>
          <a:p>
            <a:pPr indent="-180975" lvl="0" marL="180975"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effort and accelerated financial reporting</a:t>
            </a:r>
            <a:endParaRPr/>
          </a:p>
          <a:p>
            <a:pPr indent="-180975" lvl="0" marL="1809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confidence in published internal and external reports</a:t>
            </a:r>
            <a:endParaRPr/>
          </a:p>
          <a:p>
            <a:pPr indent="-180975" lvl="0" marL="1809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&amp; effort time required to generate  financial statements</a:t>
            </a:r>
            <a:endParaRPr/>
          </a:p>
          <a:p>
            <a:pPr indent="-180975" lvl="0" marL="1809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risk of financial misstatements, e.g. required “restatements”</a:t>
            </a:r>
            <a:endParaRPr/>
          </a:p>
          <a:p>
            <a:pPr indent="-130175" lvl="0" marL="180975" marR="0" rtl="0" algn="l">
              <a:lnSpc>
                <a:spcPct val="90000"/>
              </a:lnSpc>
              <a:spcBef>
                <a:spcPts val="450"/>
              </a:spcBef>
              <a:spcAft>
                <a:spcPts val="0"/>
              </a:spcAft>
              <a:buClr>
                <a:schemeClr val="dk1"/>
              </a:buClr>
              <a:buSzPts val="800"/>
              <a:buFont typeface="Arial"/>
              <a:buNone/>
            </a:pPr>
            <a:r>
              <a:t/>
            </a:r>
            <a:endParaRPr b="1" sz="800">
              <a:solidFill>
                <a:srgbClr val="BBBCBE"/>
              </a:solidFill>
              <a:latin typeface="Century Gothic"/>
              <a:ea typeface="Century Gothic"/>
              <a:cs typeface="Century Gothic"/>
              <a:sym typeface="Century Gothic"/>
            </a:endParaRPr>
          </a:p>
        </p:txBody>
      </p:sp>
      <p:cxnSp>
        <p:nvCxnSpPr>
          <p:cNvPr id="6158" name="Google Shape;6158;p343"/>
          <p:cNvCxnSpPr/>
          <p:nvPr/>
        </p:nvCxnSpPr>
        <p:spPr>
          <a:xfrm>
            <a:off x="3122330" y="2378910"/>
            <a:ext cx="0" cy="2339140"/>
          </a:xfrm>
          <a:prstGeom prst="straightConnector1">
            <a:avLst/>
          </a:prstGeom>
          <a:noFill/>
          <a:ln cap="flat" cmpd="sng" w="12700">
            <a:solidFill>
              <a:schemeClr val="lt2"/>
            </a:solidFill>
            <a:prstDash val="solid"/>
            <a:round/>
            <a:headEnd len="sm" w="sm" type="none"/>
            <a:tailEnd len="sm" w="sm" type="none"/>
          </a:ln>
        </p:spPr>
      </p:cxnSp>
      <p:cxnSp>
        <p:nvCxnSpPr>
          <p:cNvPr id="6159" name="Google Shape;6159;p343"/>
          <p:cNvCxnSpPr/>
          <p:nvPr/>
        </p:nvCxnSpPr>
        <p:spPr>
          <a:xfrm>
            <a:off x="6121745" y="2378910"/>
            <a:ext cx="0" cy="2339140"/>
          </a:xfrm>
          <a:prstGeom prst="straightConnector1">
            <a:avLst/>
          </a:prstGeom>
          <a:noFill/>
          <a:ln cap="flat" cmpd="sng" w="12700">
            <a:solidFill>
              <a:schemeClr val="lt2"/>
            </a:solidFill>
            <a:prstDash val="solid"/>
            <a:round/>
            <a:headEnd len="sm" w="sm" type="none"/>
            <a:tailEnd len="sm" w="sm" type="none"/>
          </a:ln>
        </p:spPr>
      </p:cxnSp>
      <p:cxnSp>
        <p:nvCxnSpPr>
          <p:cNvPr id="6160" name="Google Shape;6160;p343"/>
          <p:cNvCxnSpPr/>
          <p:nvPr/>
        </p:nvCxnSpPr>
        <p:spPr>
          <a:xfrm>
            <a:off x="4576599" y="865188"/>
            <a:ext cx="0" cy="1501152"/>
          </a:xfrm>
          <a:prstGeom prst="straightConnector1">
            <a:avLst/>
          </a:prstGeom>
          <a:noFill/>
          <a:ln cap="flat" cmpd="sng" w="12700">
            <a:solidFill>
              <a:schemeClr val="lt2"/>
            </a:solidFill>
            <a:prstDash val="solid"/>
            <a:round/>
            <a:headEnd len="sm" w="sm" type="none"/>
            <a:tailEnd len="sm" w="sm" type="none"/>
          </a:ln>
        </p:spPr>
      </p:cxnSp>
      <p:sp>
        <p:nvSpPr>
          <p:cNvPr id="6161" name="Google Shape;6161;p343"/>
          <p:cNvSpPr/>
          <p:nvPr/>
        </p:nvSpPr>
        <p:spPr>
          <a:xfrm>
            <a:off x="6144780" y="2331721"/>
            <a:ext cx="2754683" cy="2155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50">
                <a:solidFill>
                  <a:schemeClr val="dk2"/>
                </a:solidFill>
                <a:latin typeface="Century Gothic"/>
                <a:ea typeface="Century Gothic"/>
                <a:cs typeface="Century Gothic"/>
                <a:sym typeface="Century Gothic"/>
              </a:rPr>
              <a:t>Expected Outcome of Analysis</a:t>
            </a:r>
            <a:endParaRPr/>
          </a:p>
          <a:p>
            <a:pPr indent="-119063" lvl="0" marL="119063" marR="0" rtl="0" algn="l">
              <a:spcBef>
                <a:spcPts val="525"/>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Shortened reporting cycle</a:t>
            </a:r>
            <a:endParaRPr/>
          </a:p>
          <a:p>
            <a:pPr indent="-119063" lvl="0" marL="119063" marR="0" rtl="0" algn="l">
              <a:spcBef>
                <a:spcPts val="1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Financial reports are auditable, traceable and reconcilable to the source data, i.e. establish of “clear data lineage”</a:t>
            </a:r>
            <a:endParaRPr/>
          </a:p>
          <a:p>
            <a:pPr indent="-119063" lvl="0" marL="119063" marR="0" rtl="0" algn="l">
              <a:spcBef>
                <a:spcPts val="1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Better understanding of individual business unit performance due to access to detailed financial</a:t>
            </a:r>
            <a:r>
              <a:rPr lang="en-GB" sz="850">
                <a:solidFill>
                  <a:srgbClr val="3C3C3B"/>
                </a:solidFill>
                <a:latin typeface="Century Gothic"/>
                <a:ea typeface="Century Gothic"/>
                <a:cs typeface="Century Gothic"/>
                <a:sym typeface="Century Gothic"/>
              </a:rPr>
              <a:t>.</a:t>
            </a:r>
            <a:endParaRPr/>
          </a:p>
          <a:p>
            <a:pPr indent="-65087" lvl="0" marL="119063" marR="0" rtl="0" algn="l">
              <a:spcBef>
                <a:spcPts val="100"/>
              </a:spcBef>
              <a:spcAft>
                <a:spcPts val="0"/>
              </a:spcAft>
              <a:buClr>
                <a:srgbClr val="3C3C3B"/>
              </a:buClr>
              <a:buSzPts val="850"/>
              <a:buFont typeface="Arial"/>
              <a:buNone/>
            </a:pPr>
            <a:r>
              <a:t/>
            </a:r>
            <a:endParaRPr sz="85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Automated monthly financial pack, reporting cycle &lt;5 days, self-service BI for finance team</a:t>
            </a:r>
            <a:endParaRPr/>
          </a:p>
        </p:txBody>
      </p:sp>
      <p:sp>
        <p:nvSpPr>
          <p:cNvPr id="6162" name="Google Shape;6162;p343"/>
          <p:cNvSpPr/>
          <p:nvPr/>
        </p:nvSpPr>
        <p:spPr>
          <a:xfrm>
            <a:off x="420636" y="804673"/>
            <a:ext cx="3949701" cy="1404248"/>
          </a:xfrm>
          <a:prstGeom prst="rect">
            <a:avLst/>
          </a:prstGeom>
          <a:noFill/>
          <a:ln>
            <a:noFill/>
          </a:ln>
        </p:spPr>
        <p:txBody>
          <a:bodyPr anchorCtr="0" anchor="t" bIns="36575" lIns="36575" spcFirstLastPara="1" rIns="36000" wrap="square" tIns="36575">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a:p>
          <a:p>
            <a:pPr indent="-119063" lvl="0" marL="119063" marR="0" rtl="0" algn="l">
              <a:spcBef>
                <a:spcPts val="5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Integrate financial data from multiple source systems to enable accurate, timely and traceable financial reporting resulting from</a:t>
            </a:r>
            <a:endParaRPr/>
          </a:p>
          <a:p>
            <a:pPr indent="-119062" lvl="1" marL="576263" marR="0" rtl="0" algn="l">
              <a:spcBef>
                <a:spcPts val="300"/>
              </a:spcBef>
              <a:spcAft>
                <a:spcPts val="0"/>
              </a:spcAft>
              <a:buClr>
                <a:srgbClr val="3C3C3B"/>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Disparate sources of data creating inefficient reporting processes.</a:t>
            </a:r>
            <a:endParaRPr/>
          </a:p>
          <a:p>
            <a:pPr indent="-119062" lvl="1" marL="576263" marR="0" rtl="0" algn="l">
              <a:spcBef>
                <a:spcPts val="300"/>
              </a:spcBef>
              <a:spcAft>
                <a:spcPts val="0"/>
              </a:spcAft>
              <a:buClr>
                <a:srgbClr val="3C3C3B"/>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Lack of integrated ERP systems leading to inconsistent, inaccurate, and misleading reporting</a:t>
            </a:r>
            <a:endParaRPr/>
          </a:p>
          <a:p>
            <a:pPr indent="-58737" lvl="0" marL="119063"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Reduce financial reporting cycle time. Currently 15-20 days per month on preparation</a:t>
            </a:r>
            <a:endParaRPr/>
          </a:p>
        </p:txBody>
      </p:sp>
      <p:sp>
        <p:nvSpPr>
          <p:cNvPr id="6163" name="Google Shape;6163;p343"/>
          <p:cNvSpPr/>
          <p:nvPr/>
        </p:nvSpPr>
        <p:spPr>
          <a:xfrm>
            <a:off x="6545103" y="340293"/>
            <a:ext cx="2598899" cy="474451"/>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9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6165" name="Google Shape;6165;p343"/>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6166" name="Google Shape;6166;p343"/>
          <p:cNvSpPr txBox="1"/>
          <p:nvPr>
            <p:ph type="title"/>
          </p:nvPr>
        </p:nvSpPr>
        <p:spPr>
          <a:xfrm>
            <a:off x="423875" y="164592"/>
            <a:ext cx="82629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000"/>
              <a:buFont typeface="Century Gothic"/>
              <a:buNone/>
            </a:pPr>
            <a:r>
              <a:rPr lang="en-GB" sz="2000"/>
              <a:t>Financial Reporting Efficiency and Effectiveness</a:t>
            </a:r>
            <a:endParaRPr sz="2000"/>
          </a:p>
        </p:txBody>
      </p:sp>
      <p:sp>
        <p:nvSpPr>
          <p:cNvPr id="6167" name="Google Shape;6167;p343">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Financial Reporting</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2" name="Shape 6172"/>
        <p:cNvGrpSpPr/>
        <p:nvPr/>
      </p:nvGrpSpPr>
      <p:grpSpPr>
        <a:xfrm>
          <a:off x="0" y="0"/>
          <a:ext cx="0" cy="0"/>
          <a:chOff x="0" y="0"/>
          <a:chExt cx="0" cy="0"/>
        </a:xfrm>
      </p:grpSpPr>
      <p:cxnSp>
        <p:nvCxnSpPr>
          <p:cNvPr id="6173" name="Google Shape;6173;p344"/>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6174" name="Google Shape;6174;p344"/>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6175" name="Google Shape;6175;p344"/>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6177" name="Google Shape;6177;p344"/>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Accelerated reporting cycles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Re-focus financial analyst time on value-generating activities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operational and reputational risk by meeting regulatory and compliance demands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risk of financial misstatements, e.g. required “restatements”</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Strengthened internal accounting and related reporting controls</a:t>
            </a:r>
            <a:endParaRPr/>
          </a:p>
          <a:p>
            <a:pPr indent="-108000" lvl="1" marL="108000"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Provide clear auditable data transparency</a:t>
            </a:r>
            <a:endParaRPr b="0" i="0" sz="900" u="none" cap="none" strike="noStrike">
              <a:solidFill>
                <a:srgbClr val="3C3C3B"/>
              </a:solidFill>
              <a:latin typeface="Century Gothic"/>
              <a:ea typeface="Century Gothic"/>
              <a:cs typeface="Century Gothic"/>
              <a:sym typeface="Century Gothic"/>
            </a:endParaRPr>
          </a:p>
          <a:p>
            <a:pPr indent="-50849" lvl="0" marL="108000" marR="0" rtl="0" algn="l">
              <a:lnSpc>
                <a:spcPct val="90000"/>
              </a:lnSpc>
              <a:spcBef>
                <a:spcPts val="30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6178" name="Google Shape;6178;p344"/>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End-to-end  provable transparency and lineage for financial data</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Reduction is manual processes, time and effort</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Financial reporting  data is directly traceable and reconcilable to the source data, i.e. establish of “clear data lineage”</a:t>
            </a:r>
            <a:endParaRPr/>
          </a:p>
          <a:p>
            <a:pPr indent="-50849" lvl="0" marL="108000"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Automated SBP return generation with data lineage, reduced filing errors, faster SBP query response</a:t>
            </a:r>
            <a:endParaRPr/>
          </a:p>
        </p:txBody>
      </p:sp>
      <p:sp>
        <p:nvSpPr>
          <p:cNvPr id="6179" name="Google Shape;6179;p344"/>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14300" lvl="0" marL="1143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Reduction of reconciliation points</a:t>
            </a:r>
            <a:endParaRPr/>
          </a:p>
          <a:p>
            <a:pPr indent="-114300" lvl="0" marL="1143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Financial reports generated by  in a “shorter” reporting window</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Evidence based Data Lineage</a:t>
            </a:r>
            <a:endParaRPr sz="900">
              <a:solidFill>
                <a:srgbClr val="3C3C3B"/>
              </a:solidFill>
              <a:latin typeface="Century Gothic"/>
              <a:ea typeface="Century Gothic"/>
              <a:cs typeface="Century Gothic"/>
              <a:sym typeface="Century Gothic"/>
            </a:endParaRPr>
          </a:p>
        </p:txBody>
      </p:sp>
      <p:sp>
        <p:nvSpPr>
          <p:cNvPr id="6180" name="Google Shape;6180;p344"/>
          <p:cNvSpPr/>
          <p:nvPr/>
        </p:nvSpPr>
        <p:spPr>
          <a:xfrm>
            <a:off x="3271845" y="2334154"/>
            <a:ext cx="2714400" cy="1223736"/>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Load, integrate and validate required data.</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Reference Data Management</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harmonization as necessary</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Rules  based accounting engine</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Development of an interface into existing statutory or regulatory reporting solution</a:t>
            </a:r>
            <a:endParaRPr/>
          </a:p>
          <a:p>
            <a:pPr indent="-61912" lvl="0" marL="119063"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6181" name="Google Shape;6181;p344"/>
          <p:cNvSpPr/>
          <p:nvPr/>
        </p:nvSpPr>
        <p:spPr>
          <a:xfrm>
            <a:off x="429630"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quality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granularity and availability</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Inconsistent/conflicting data</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is in multiple, non-integrated and non-validated sources</a:t>
            </a:r>
            <a:endParaRPr/>
          </a:p>
        </p:txBody>
      </p:sp>
      <p:sp>
        <p:nvSpPr>
          <p:cNvPr id="6182" name="Google Shape;6182;p344"/>
          <p:cNvSpPr/>
          <p:nvPr/>
        </p:nvSpPr>
        <p:spPr>
          <a:xfrm>
            <a:off x="423862" y="2334154"/>
            <a:ext cx="2783531" cy="1223736"/>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17475" lvl="0" marL="117475"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ERP &amp; Non-ERP balance &amp; transactional data, e.g.  General &amp; Sub ledger data</a:t>
            </a:r>
            <a:endParaRPr/>
          </a:p>
          <a:p>
            <a:pPr indent="-114300" lvl="1" marL="114300"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Transaction-level data across all operational systems</a:t>
            </a:r>
            <a:endParaRPr b="0" i="0" sz="900" u="none" cap="none" strike="noStrike">
              <a:solidFill>
                <a:srgbClr val="3C3C3B"/>
              </a:solidFill>
              <a:latin typeface="Century Gothic"/>
              <a:ea typeface="Century Gothic"/>
              <a:cs typeface="Century Gothic"/>
              <a:sym typeface="Century Gothic"/>
            </a:endParaRPr>
          </a:p>
          <a:p>
            <a:pPr indent="-114300" lvl="1" marL="114300"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Accounting and Reference Data</a:t>
            </a:r>
            <a:endParaRPr/>
          </a:p>
          <a:p>
            <a:pPr indent="-114300" lvl="1" marL="114300"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Performance target data</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FSDM warehouse: all GL, customer, product, transaction, provision, capital, liquidity data</a:t>
            </a:r>
            <a:endParaRPr/>
          </a:p>
        </p:txBody>
      </p:sp>
      <p:sp>
        <p:nvSpPr>
          <p:cNvPr id="6183" name="Google Shape;6183;p344"/>
          <p:cNvSpPr/>
          <p:nvPr/>
        </p:nvSpPr>
        <p:spPr>
          <a:xfrm>
            <a:off x="423879"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Provide greater assurance to the CEO, CFO and regulatory authorities that the internal accounting controls are functioning as designed</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Accommodate different accounting and reporting treatments by either IFRS, US GAAP, SEC or other local regulatory bodies </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Produce accurate, timely and efficiently delivered reporting</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Enable a flexible &amp; cost efficient reporting platform due changing reporting requirements</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Automate 30+ SBP statutory returns from single source: WSP, MSA, QFS, capital adequacy, LCR/NSFR, ECIB, STR/CTR</a:t>
            </a:r>
            <a:endParaRPr/>
          </a:p>
        </p:txBody>
      </p:sp>
      <p:sp>
        <p:nvSpPr>
          <p:cNvPr id="6184" name="Google Shape;6184;p344"/>
          <p:cNvSpPr/>
          <p:nvPr/>
        </p:nvSpPr>
        <p:spPr>
          <a:xfrm>
            <a:off x="6545103" y="290521"/>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Owner:   Banking Industry Best Practice</a:t>
            </a:r>
            <a:endParaRPr sz="900">
              <a:solidFill>
                <a:srgbClr val="5F6062"/>
              </a:solidFill>
              <a:latin typeface="Century Gothic"/>
              <a:ea typeface="Century Gothic"/>
              <a:cs typeface="Century Gothic"/>
              <a:sym typeface="Century Gothic"/>
            </a:endParaRPr>
          </a:p>
        </p:txBody>
      </p:sp>
      <p:sp>
        <p:nvSpPr>
          <p:cNvPr id="6185" name="Google Shape;6185;p344"/>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sz="1000">
              <a:solidFill>
                <a:srgbClr val="EC881D"/>
              </a:solidFill>
              <a:latin typeface="Century Gothic"/>
              <a:ea typeface="Century Gothic"/>
              <a:cs typeface="Century Gothic"/>
              <a:sym typeface="Century Gothic"/>
            </a:endParaRPr>
          </a:p>
        </p:txBody>
      </p:sp>
      <p:sp>
        <p:nvSpPr>
          <p:cNvPr id="6186" name="Google Shape;6186;p344"/>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000"/>
              <a:buFont typeface="Century Gothic"/>
              <a:buNone/>
            </a:pPr>
            <a:r>
              <a:rPr lang="en-GB" sz="2000"/>
              <a:t>Integrated Regulatory &amp; Compliance Reporting</a:t>
            </a:r>
            <a:endParaRPr/>
          </a:p>
        </p:txBody>
      </p:sp>
      <p:sp>
        <p:nvSpPr>
          <p:cNvPr id="6187" name="Google Shape;6187;p344">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Financial Reporting</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2" name="Shape 6192"/>
        <p:cNvGrpSpPr/>
        <p:nvPr/>
      </p:nvGrpSpPr>
      <p:grpSpPr>
        <a:xfrm>
          <a:off x="0" y="0"/>
          <a:ext cx="0" cy="0"/>
          <a:chOff x="0" y="0"/>
          <a:chExt cx="0" cy="0"/>
        </a:xfrm>
      </p:grpSpPr>
      <p:sp>
        <p:nvSpPr>
          <p:cNvPr id="6193" name="Google Shape;6193;p345"/>
          <p:cNvSpPr/>
          <p:nvPr/>
        </p:nvSpPr>
        <p:spPr>
          <a:xfrm>
            <a:off x="420624" y="2331721"/>
            <a:ext cx="2713048" cy="121676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17475" lvl="0" marL="117475"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Transactional data, e.g.  General and Sub ledger data (A/R &amp; Sales)</a:t>
            </a:r>
            <a:endParaRPr sz="900">
              <a:solidFill>
                <a:schemeClr val="dk1"/>
              </a:solidFill>
              <a:latin typeface="Century Gothic"/>
              <a:ea typeface="Century Gothic"/>
              <a:cs typeface="Century Gothic"/>
              <a:sym typeface="Century Gothic"/>
            </a:endParaRPr>
          </a:p>
          <a:p>
            <a:pPr indent="-117475" lvl="0" marL="1174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Performance target data, e.g., plan, budget, forecast, goal, KPIs, etc. Sales forecast</a:t>
            </a:r>
            <a:endParaRPr/>
          </a:p>
          <a:p>
            <a:pPr indent="-117475" lvl="0" marL="1174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Reference data, e.g. Geographic, product, demographic, employee, customer</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Core banking new accounts, loan origination system, card issuance, insurance policies, trade finance deals</a:t>
            </a:r>
            <a:endParaRPr/>
          </a:p>
        </p:txBody>
      </p:sp>
      <p:sp>
        <p:nvSpPr>
          <p:cNvPr id="6194" name="Google Shape;6194;p345"/>
          <p:cNvSpPr/>
          <p:nvPr/>
        </p:nvSpPr>
        <p:spPr>
          <a:xfrm>
            <a:off x="3273552" y="2331720"/>
            <a:ext cx="2715336" cy="12384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12713" lvl="0" marL="112713" marR="0" rtl="0" algn="l">
              <a:spcBef>
                <a:spcPts val="4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Reference data management application</a:t>
            </a:r>
            <a:endParaRPr/>
          </a:p>
          <a:p>
            <a:pPr indent="-112713" lvl="0" marL="11271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Load, integrate and validate data</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Provide an access layer  for BI Reporting tool</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Reporting / BI Tool(s) of choice</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Document current reporting requirements and processes</a:t>
            </a:r>
            <a:endParaRPr/>
          </a:p>
          <a:p>
            <a:pPr indent="-114300" lvl="0" marL="171450" marR="0" rtl="0" algn="l">
              <a:spcBef>
                <a:spcPts val="300"/>
              </a:spcBef>
              <a:spcAft>
                <a:spcPts val="0"/>
              </a:spcAft>
              <a:buClr>
                <a:srgbClr val="3C3C3B"/>
              </a:buClr>
              <a:buSzPts val="900"/>
              <a:buFont typeface="Arial"/>
              <a:buNone/>
            </a:pPr>
            <a:r>
              <a:t/>
            </a:r>
            <a:endParaRPr sz="900">
              <a:solidFill>
                <a:schemeClr val="dk1"/>
              </a:solidFill>
              <a:latin typeface="Century Gothic"/>
              <a:ea typeface="Century Gothic"/>
              <a:cs typeface="Century Gothic"/>
              <a:sym typeface="Century Gothic"/>
            </a:endParaRPr>
          </a:p>
        </p:txBody>
      </p:sp>
      <p:sp>
        <p:nvSpPr>
          <p:cNvPr id="6195" name="Google Shape;6195;p345"/>
          <p:cNvSpPr/>
          <p:nvPr/>
        </p:nvSpPr>
        <p:spPr>
          <a:xfrm>
            <a:off x="3273552" y="3557016"/>
            <a:ext cx="2715336" cy="1238400"/>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17475" lvl="0" marL="117475"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Dashboard/BI Report with drill capability by</a:t>
            </a:r>
            <a:endParaRPr/>
          </a:p>
          <a:p>
            <a:pPr indent="-120650" lvl="1" marL="233363" marR="0" rtl="0" algn="l">
              <a:lnSpc>
                <a:spcPct val="90000"/>
              </a:lnSpc>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Channels and sales representatives</a:t>
            </a:r>
            <a:endParaRPr/>
          </a:p>
          <a:p>
            <a:pPr indent="-120650" lvl="1" marL="233363" marR="0" rtl="0" algn="l">
              <a:lnSpc>
                <a:spcPct val="9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Product, segment and geography</a:t>
            </a:r>
            <a:endParaRPr/>
          </a:p>
          <a:p>
            <a:pPr indent="-120650" lvl="1" marL="233363" marR="0" rtl="0" algn="l">
              <a:lnSpc>
                <a:spcPct val="9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Business segments</a:t>
            </a:r>
            <a:endParaRPr/>
          </a:p>
          <a:p>
            <a:pPr indent="-171450" lvl="0" marL="171450"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Delivery of initial sales definition document</a:t>
            </a:r>
            <a:endParaRPr/>
          </a:p>
        </p:txBody>
      </p:sp>
      <p:sp>
        <p:nvSpPr>
          <p:cNvPr id="6196" name="Google Shape;6196;p345"/>
          <p:cNvSpPr/>
          <p:nvPr/>
        </p:nvSpPr>
        <p:spPr>
          <a:xfrm>
            <a:off x="419100" y="3557016"/>
            <a:ext cx="2616024" cy="1238400"/>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19063" lvl="0" marL="119063"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Inconsistent data - Data is in multiple, non-integrated and non-validated sources</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Inconsistent definitions</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granularity and availability (sourcing)</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preparation</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timing &amp; availability</a:t>
            </a:r>
            <a:endParaRPr sz="800">
              <a:solidFill>
                <a:srgbClr val="3C3C3B"/>
              </a:solidFill>
              <a:latin typeface="Century Gothic"/>
              <a:ea typeface="Century Gothic"/>
              <a:cs typeface="Century Gothic"/>
              <a:sym typeface="Century Gothic"/>
            </a:endParaRPr>
          </a:p>
          <a:p>
            <a:pPr indent="-68263" lvl="0" marL="119063"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6197" name="Google Shape;6197;p345"/>
          <p:cNvSpPr/>
          <p:nvPr/>
        </p:nvSpPr>
        <p:spPr>
          <a:xfrm>
            <a:off x="4818888" y="804673"/>
            <a:ext cx="3378814" cy="1404248"/>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a:t>
            </a:r>
            <a:endParaRPr/>
          </a:p>
          <a:p>
            <a:pPr indent="-117475" lvl="0" marL="117475"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Identify most profitable products by key dimensions:  geography, customers, sales person</a:t>
            </a:r>
            <a:endParaRPr/>
          </a:p>
          <a:p>
            <a:pPr indent="-117475" lvl="0" marL="117475" marR="0" rtl="0" algn="l">
              <a:lnSpc>
                <a:spcPct val="90000"/>
              </a:lnSpc>
              <a:spcBef>
                <a:spcPts val="3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Improvement in the timeliness, confidence &amp; integrity in sales reporting across the enterprise</a:t>
            </a:r>
            <a:endParaRPr/>
          </a:p>
          <a:p>
            <a:pPr indent="-112713" lvl="0" marL="112713" marR="0" rtl="0" algn="l">
              <a:lnSpc>
                <a:spcPct val="90000"/>
              </a:lnSpc>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insights into top sales performers</a:t>
            </a:r>
            <a:endParaRPr sz="800">
              <a:solidFill>
                <a:schemeClr val="dk1"/>
              </a:solidFill>
              <a:latin typeface="Century Gothic"/>
              <a:ea typeface="Century Gothic"/>
              <a:cs typeface="Century Gothic"/>
              <a:sym typeface="Century Gothic"/>
            </a:endParaRPr>
          </a:p>
          <a:p>
            <a:pPr indent="-130175" lvl="0" marL="180975" marR="0" rtl="0" algn="l">
              <a:lnSpc>
                <a:spcPct val="90000"/>
              </a:lnSpc>
              <a:spcBef>
                <a:spcPts val="450"/>
              </a:spcBef>
              <a:spcAft>
                <a:spcPts val="0"/>
              </a:spcAft>
              <a:buClr>
                <a:schemeClr val="dk1"/>
              </a:buClr>
              <a:buSzPts val="800"/>
              <a:buFont typeface="Arial"/>
              <a:buNone/>
            </a:pPr>
            <a:r>
              <a:t/>
            </a:r>
            <a:endParaRPr b="1" sz="800">
              <a:solidFill>
                <a:srgbClr val="BBBCBE"/>
              </a:solidFill>
              <a:latin typeface="Century Gothic"/>
              <a:ea typeface="Century Gothic"/>
              <a:cs typeface="Century Gothic"/>
              <a:sym typeface="Century Gothic"/>
            </a:endParaRPr>
          </a:p>
        </p:txBody>
      </p:sp>
      <p:cxnSp>
        <p:nvCxnSpPr>
          <p:cNvPr id="6198" name="Google Shape;6198;p345"/>
          <p:cNvCxnSpPr/>
          <p:nvPr/>
        </p:nvCxnSpPr>
        <p:spPr>
          <a:xfrm>
            <a:off x="3122330" y="2378910"/>
            <a:ext cx="0" cy="2339140"/>
          </a:xfrm>
          <a:prstGeom prst="straightConnector1">
            <a:avLst/>
          </a:prstGeom>
          <a:noFill/>
          <a:ln cap="flat" cmpd="sng" w="12700">
            <a:solidFill>
              <a:schemeClr val="lt2"/>
            </a:solidFill>
            <a:prstDash val="solid"/>
            <a:round/>
            <a:headEnd len="sm" w="sm" type="none"/>
            <a:tailEnd len="sm" w="sm" type="none"/>
          </a:ln>
        </p:spPr>
      </p:cxnSp>
      <p:cxnSp>
        <p:nvCxnSpPr>
          <p:cNvPr id="6199" name="Google Shape;6199;p345"/>
          <p:cNvCxnSpPr/>
          <p:nvPr/>
        </p:nvCxnSpPr>
        <p:spPr>
          <a:xfrm>
            <a:off x="6121745" y="2378910"/>
            <a:ext cx="0" cy="2339140"/>
          </a:xfrm>
          <a:prstGeom prst="straightConnector1">
            <a:avLst/>
          </a:prstGeom>
          <a:noFill/>
          <a:ln cap="flat" cmpd="sng" w="12700">
            <a:solidFill>
              <a:schemeClr val="lt2"/>
            </a:solidFill>
            <a:prstDash val="solid"/>
            <a:round/>
            <a:headEnd len="sm" w="sm" type="none"/>
            <a:tailEnd len="sm" w="sm" type="none"/>
          </a:ln>
        </p:spPr>
      </p:cxnSp>
      <p:cxnSp>
        <p:nvCxnSpPr>
          <p:cNvPr id="6200" name="Google Shape;6200;p345"/>
          <p:cNvCxnSpPr/>
          <p:nvPr/>
        </p:nvCxnSpPr>
        <p:spPr>
          <a:xfrm>
            <a:off x="4576599" y="865188"/>
            <a:ext cx="0" cy="1501152"/>
          </a:xfrm>
          <a:prstGeom prst="straightConnector1">
            <a:avLst/>
          </a:prstGeom>
          <a:noFill/>
          <a:ln cap="flat" cmpd="sng" w="12700">
            <a:solidFill>
              <a:schemeClr val="lt2"/>
            </a:solidFill>
            <a:prstDash val="solid"/>
            <a:round/>
            <a:headEnd len="sm" w="sm" type="none"/>
            <a:tailEnd len="sm" w="sm" type="none"/>
          </a:ln>
        </p:spPr>
      </p:cxnSp>
      <p:sp>
        <p:nvSpPr>
          <p:cNvPr id="6201" name="Google Shape;6201;p345"/>
          <p:cNvSpPr/>
          <p:nvPr/>
        </p:nvSpPr>
        <p:spPr>
          <a:xfrm>
            <a:off x="6144768" y="2331720"/>
            <a:ext cx="2690888" cy="1844496"/>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50">
                <a:solidFill>
                  <a:schemeClr val="dk2"/>
                </a:solidFill>
                <a:latin typeface="Century Gothic"/>
                <a:ea typeface="Century Gothic"/>
                <a:cs typeface="Century Gothic"/>
                <a:sym typeface="Century Gothic"/>
              </a:rPr>
              <a:t>Expected Outcome of Analysis</a:t>
            </a:r>
            <a:endParaRPr/>
          </a:p>
          <a:p>
            <a:pPr indent="-119063" lvl="0" marL="119063" marR="0" rtl="0" algn="l">
              <a:spcBef>
                <a:spcPts val="525"/>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Integrated aggregated sales reporting across with drill capability to details across</a:t>
            </a:r>
            <a:endParaRPr/>
          </a:p>
          <a:p>
            <a:pPr indent="-120650" lvl="1" marL="233363"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Channels and sales representatives</a:t>
            </a:r>
            <a:endParaRPr/>
          </a:p>
          <a:p>
            <a:pPr indent="-120650" lvl="1" marL="233363"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Product, segment and geography</a:t>
            </a:r>
            <a:endParaRPr/>
          </a:p>
          <a:p>
            <a:pPr indent="-120650" lvl="1" marL="233363"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Business segments</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Improved comparison of  sales metrics benchmarks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RM-level sales scorecard, branch dashboard, campaign-to-sales attribution, pipeline forecasting</a:t>
            </a:r>
            <a:endParaRPr/>
          </a:p>
        </p:txBody>
      </p:sp>
      <p:sp>
        <p:nvSpPr>
          <p:cNvPr id="6202" name="Google Shape;6202;p345"/>
          <p:cNvSpPr/>
          <p:nvPr/>
        </p:nvSpPr>
        <p:spPr>
          <a:xfrm>
            <a:off x="420636" y="804672"/>
            <a:ext cx="3949701" cy="1527048"/>
          </a:xfrm>
          <a:prstGeom prst="rect">
            <a:avLst/>
          </a:prstGeom>
          <a:noFill/>
          <a:ln>
            <a:noFill/>
          </a:ln>
        </p:spPr>
        <p:txBody>
          <a:bodyPr anchorCtr="0" anchor="t" bIns="36575" lIns="36575" spcFirstLastPara="1" rIns="36000" wrap="square" tIns="36575">
            <a:noAutofit/>
          </a:bodyPr>
          <a:lstStyle/>
          <a:p>
            <a:pPr indent="-180975" lvl="0" marL="180975" marR="0" rtl="0" algn="l">
              <a:lnSpc>
                <a:spcPct val="90000"/>
              </a:lnSpc>
              <a:spcBef>
                <a:spcPts val="0"/>
              </a:spcBef>
              <a:spcAft>
                <a:spcPts val="0"/>
              </a:spcAft>
              <a:buNone/>
            </a:pPr>
            <a:r>
              <a:rPr b="1" lang="en-GB" sz="1050">
                <a:solidFill>
                  <a:schemeClr val="dk2"/>
                </a:solidFill>
                <a:latin typeface="Century Gothic"/>
                <a:ea typeface="Century Gothic"/>
                <a:cs typeface="Century Gothic"/>
                <a:sym typeface="Century Gothic"/>
              </a:rPr>
              <a:t>Objective / Problem Statement</a:t>
            </a:r>
            <a:endParaRPr b="1" sz="1050">
              <a:solidFill>
                <a:schemeClr val="dk2"/>
              </a:solidFill>
              <a:latin typeface="Century Gothic"/>
              <a:ea typeface="Century Gothic"/>
              <a:cs typeface="Century Gothic"/>
              <a:sym typeface="Century Gothic"/>
            </a:endParaRPr>
          </a:p>
          <a:p>
            <a:pPr indent="-119063" lvl="0" marL="119063"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Consistent &amp; harmonized sales reporting with clear data lineage across all segments, geography, products, etc., regardless of “originating” system(s)</a:t>
            </a:r>
            <a:endParaRPr sz="900">
              <a:solidFill>
                <a:srgbClr val="3C3C3B"/>
              </a:solidFill>
              <a:latin typeface="Century Gothic"/>
              <a:ea typeface="Century Gothic"/>
              <a:cs typeface="Century Gothic"/>
              <a:sym typeface="Century Gothic"/>
            </a:endParaRPr>
          </a:p>
          <a:p>
            <a:pPr indent="-171450" lvl="1" marL="285750" marR="0" rtl="0" algn="l">
              <a:spcBef>
                <a:spcPts val="300"/>
              </a:spcBef>
              <a:spcAft>
                <a:spcPts val="0"/>
              </a:spcAft>
              <a:buClr>
                <a:srgbClr val="3C3C3B"/>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Sales reporting is often fragmented due to organizational silos, system limitations, geography &amp; variability of product definition and services</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Track sales pipeline: accounts opened, loans originated, cards issued, bancassurance, investments, trade finance</a:t>
            </a:r>
            <a:endParaRPr/>
          </a:p>
        </p:txBody>
      </p:sp>
      <p:sp>
        <p:nvSpPr>
          <p:cNvPr id="6203" name="Google Shape;6203;p345"/>
          <p:cNvSpPr/>
          <p:nvPr/>
        </p:nvSpPr>
        <p:spPr>
          <a:xfrm>
            <a:off x="6545103" y="340293"/>
            <a:ext cx="2598899" cy="474451"/>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9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6205" name="Google Shape;6205;p345"/>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6206" name="Google Shape;6206;p345"/>
          <p:cNvSpPr txBox="1"/>
          <p:nvPr>
            <p:ph type="title"/>
          </p:nvPr>
        </p:nvSpPr>
        <p:spPr>
          <a:xfrm>
            <a:off x="423875" y="164592"/>
            <a:ext cx="82629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Sales Reporting &amp; Analytics</a:t>
            </a:r>
            <a:endParaRPr sz="2400"/>
          </a:p>
        </p:txBody>
      </p:sp>
      <p:sp>
        <p:nvSpPr>
          <p:cNvPr id="6207" name="Google Shape;6207;p345">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Financial Reporting</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2" name="Shape 6212"/>
        <p:cNvGrpSpPr/>
        <p:nvPr/>
      </p:nvGrpSpPr>
      <p:grpSpPr>
        <a:xfrm>
          <a:off x="0" y="0"/>
          <a:ext cx="0" cy="0"/>
          <a:chOff x="0" y="0"/>
          <a:chExt cx="0" cy="0"/>
        </a:xfrm>
      </p:grpSpPr>
      <p:sp>
        <p:nvSpPr>
          <p:cNvPr id="6213" name="Google Shape;6213;p346"/>
          <p:cNvSpPr/>
          <p:nvPr/>
        </p:nvSpPr>
        <p:spPr>
          <a:xfrm>
            <a:off x="420624" y="2331722"/>
            <a:ext cx="2713048" cy="1113229"/>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17475" lvl="0" marL="117475"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ERP Transactional data, e.g.  General and relevant Sub ledger data</a:t>
            </a:r>
            <a:endParaRPr/>
          </a:p>
          <a:p>
            <a:pPr indent="-117475" lvl="0" marL="1174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Project activity data</a:t>
            </a:r>
            <a:endParaRPr/>
          </a:p>
          <a:p>
            <a:pPr indent="-117475" lvl="0" marL="1174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Performance target data, e.g., plan, budget, forecast, goal, costs to complete, etc.</a:t>
            </a:r>
            <a:endParaRPr/>
          </a:p>
        </p:txBody>
      </p:sp>
      <p:sp>
        <p:nvSpPr>
          <p:cNvPr id="6214" name="Google Shape;6214;p346"/>
          <p:cNvSpPr/>
          <p:nvPr/>
        </p:nvSpPr>
        <p:spPr>
          <a:xfrm>
            <a:off x="3273552" y="2331720"/>
            <a:ext cx="2715336" cy="12384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Load, integrate and validate data</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Provide an access layer  for BI Reporting tool</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Reporting / BI Tool(s) of choice</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Document current reporting requirements and processes</a:t>
            </a:r>
            <a:endParaRPr/>
          </a:p>
        </p:txBody>
      </p:sp>
      <p:sp>
        <p:nvSpPr>
          <p:cNvPr id="6215" name="Google Shape;6215;p346"/>
          <p:cNvSpPr/>
          <p:nvPr/>
        </p:nvSpPr>
        <p:spPr>
          <a:xfrm>
            <a:off x="3273552" y="3557016"/>
            <a:ext cx="2715336" cy="1238400"/>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07950" lvl="0" marL="107950"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Creation of Dashboard and/or BI reports with summary level information with drill down capabilities</a:t>
            </a:r>
            <a:endParaRPr/>
          </a:p>
          <a:p>
            <a:pPr indent="-107950" lvl="0" marL="107950" marR="0" rtl="0" algn="l">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Timely, consolidated and validated data</a:t>
            </a:r>
            <a:endParaRPr/>
          </a:p>
          <a:p>
            <a:pPr indent="-107950" lvl="0" marL="10795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Ability to demonstrate data lineage from report sets to source data</a:t>
            </a:r>
            <a:endParaRPr sz="900">
              <a:solidFill>
                <a:srgbClr val="3C3C3B"/>
              </a:solidFill>
              <a:latin typeface="Century Gothic"/>
              <a:ea typeface="Century Gothic"/>
              <a:cs typeface="Century Gothic"/>
              <a:sym typeface="Century Gothic"/>
            </a:endParaRPr>
          </a:p>
          <a:p>
            <a:pPr indent="-130175" lvl="0" marL="180975" marR="0" rtl="0" algn="l">
              <a:lnSpc>
                <a:spcPct val="90000"/>
              </a:lnSpc>
              <a:spcBef>
                <a:spcPts val="300"/>
              </a:spcBef>
              <a:spcAft>
                <a:spcPts val="0"/>
              </a:spcAft>
              <a:buClr>
                <a:schemeClr val="dk1"/>
              </a:buClr>
              <a:buSzPts val="800"/>
              <a:buFont typeface="Arial"/>
              <a:buNone/>
            </a:pPr>
            <a:r>
              <a:t/>
            </a:r>
            <a:endParaRPr sz="800">
              <a:solidFill>
                <a:srgbClr val="3C3C3B"/>
              </a:solidFill>
              <a:latin typeface="Century Gothic"/>
              <a:ea typeface="Century Gothic"/>
              <a:cs typeface="Century Gothic"/>
              <a:sym typeface="Century Gothic"/>
            </a:endParaRPr>
          </a:p>
          <a:p>
            <a:pPr indent="0" lvl="0" marL="0" marR="0" rtl="0" algn="l">
              <a:lnSpc>
                <a:spcPct val="90000"/>
              </a:lnSpc>
              <a:spcBef>
                <a:spcPts val="40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6216" name="Google Shape;6216;p346"/>
          <p:cNvSpPr/>
          <p:nvPr/>
        </p:nvSpPr>
        <p:spPr>
          <a:xfrm>
            <a:off x="419100" y="3557016"/>
            <a:ext cx="2616024" cy="1238400"/>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19063" lvl="0" marL="119063"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granularity and availability (sourcing)</a:t>
            </a:r>
            <a:endParaRPr sz="900">
              <a:solidFill>
                <a:srgbClr val="3C3C3B"/>
              </a:solidFill>
              <a:latin typeface="Century Gothic"/>
              <a:ea typeface="Century Gothic"/>
              <a:cs typeface="Century Gothic"/>
              <a:sym typeface="Century Gothic"/>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Inconsistent data - Data is in multiple, non-integrated and non-validated sources</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preparation</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timing</a:t>
            </a:r>
            <a:endParaRPr/>
          </a:p>
          <a:p>
            <a:pPr indent="-68263" lvl="0" marL="119063" marR="0" rtl="0" algn="l">
              <a:spcBef>
                <a:spcPts val="300"/>
              </a:spcBef>
              <a:spcAft>
                <a:spcPts val="0"/>
              </a:spcAft>
              <a:buClr>
                <a:srgbClr val="3C3C3B"/>
              </a:buClr>
              <a:buSzPts val="800"/>
              <a:buFont typeface="Arial"/>
              <a:buNone/>
            </a:pPr>
            <a:r>
              <a:t/>
            </a:r>
            <a:endParaRPr sz="800">
              <a:solidFill>
                <a:srgbClr val="3C3C3B"/>
              </a:solidFill>
              <a:latin typeface="Century Gothic"/>
              <a:ea typeface="Century Gothic"/>
              <a:cs typeface="Century Gothic"/>
              <a:sym typeface="Century Gothic"/>
            </a:endParaRPr>
          </a:p>
        </p:txBody>
      </p:sp>
      <p:sp>
        <p:nvSpPr>
          <p:cNvPr id="6217" name="Google Shape;6217;p346"/>
          <p:cNvSpPr/>
          <p:nvPr/>
        </p:nvSpPr>
        <p:spPr>
          <a:xfrm>
            <a:off x="4818887" y="804672"/>
            <a:ext cx="3740322" cy="1238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a:t>
            </a:r>
            <a:endParaRPr/>
          </a:p>
          <a:p>
            <a:pPr indent="-117475" lvl="0" marL="117475"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 insights into project costs &amp; related activities enabling the effective management of  resources</a:t>
            </a:r>
            <a:endParaRPr/>
          </a:p>
          <a:p>
            <a:pPr indent="-117475" lvl="0" marL="1174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 effectiveness of project accounting reporting, e.g. a tighter alignment of costs and activities </a:t>
            </a:r>
            <a:endParaRPr/>
          </a:p>
          <a:p>
            <a:pPr indent="-117475" lvl="0" marL="1174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Acceleration of quantifying the costs of project delays</a:t>
            </a:r>
            <a:endParaRPr/>
          </a:p>
        </p:txBody>
      </p:sp>
      <p:cxnSp>
        <p:nvCxnSpPr>
          <p:cNvPr id="6218" name="Google Shape;6218;p346"/>
          <p:cNvCxnSpPr/>
          <p:nvPr/>
        </p:nvCxnSpPr>
        <p:spPr>
          <a:xfrm>
            <a:off x="3122330" y="2378910"/>
            <a:ext cx="0" cy="2339140"/>
          </a:xfrm>
          <a:prstGeom prst="straightConnector1">
            <a:avLst/>
          </a:prstGeom>
          <a:noFill/>
          <a:ln cap="flat" cmpd="sng" w="12700">
            <a:solidFill>
              <a:schemeClr val="lt2"/>
            </a:solidFill>
            <a:prstDash val="solid"/>
            <a:round/>
            <a:headEnd len="sm" w="sm" type="none"/>
            <a:tailEnd len="sm" w="sm" type="none"/>
          </a:ln>
        </p:spPr>
      </p:cxnSp>
      <p:cxnSp>
        <p:nvCxnSpPr>
          <p:cNvPr id="6219" name="Google Shape;6219;p346"/>
          <p:cNvCxnSpPr/>
          <p:nvPr/>
        </p:nvCxnSpPr>
        <p:spPr>
          <a:xfrm>
            <a:off x="6121745" y="2378910"/>
            <a:ext cx="0" cy="2339140"/>
          </a:xfrm>
          <a:prstGeom prst="straightConnector1">
            <a:avLst/>
          </a:prstGeom>
          <a:noFill/>
          <a:ln cap="flat" cmpd="sng" w="12700">
            <a:solidFill>
              <a:schemeClr val="lt2"/>
            </a:solidFill>
            <a:prstDash val="solid"/>
            <a:round/>
            <a:headEnd len="sm" w="sm" type="none"/>
            <a:tailEnd len="sm" w="sm" type="none"/>
          </a:ln>
        </p:spPr>
      </p:cxnSp>
      <p:cxnSp>
        <p:nvCxnSpPr>
          <p:cNvPr id="6220" name="Google Shape;6220;p346"/>
          <p:cNvCxnSpPr/>
          <p:nvPr/>
        </p:nvCxnSpPr>
        <p:spPr>
          <a:xfrm>
            <a:off x="4576599" y="865188"/>
            <a:ext cx="0" cy="1501152"/>
          </a:xfrm>
          <a:prstGeom prst="straightConnector1">
            <a:avLst/>
          </a:prstGeom>
          <a:noFill/>
          <a:ln cap="flat" cmpd="sng" w="12700">
            <a:solidFill>
              <a:schemeClr val="lt2"/>
            </a:solidFill>
            <a:prstDash val="solid"/>
            <a:round/>
            <a:headEnd len="sm" w="sm" type="none"/>
            <a:tailEnd len="sm" w="sm" type="none"/>
          </a:ln>
        </p:spPr>
      </p:cxnSp>
      <p:sp>
        <p:nvSpPr>
          <p:cNvPr id="6221" name="Google Shape;6221;p346"/>
          <p:cNvSpPr/>
          <p:nvPr/>
        </p:nvSpPr>
        <p:spPr>
          <a:xfrm>
            <a:off x="6144768" y="2331726"/>
            <a:ext cx="2701520" cy="2038261"/>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50">
                <a:solidFill>
                  <a:schemeClr val="dk2"/>
                </a:solidFill>
                <a:latin typeface="Century Gothic"/>
                <a:ea typeface="Century Gothic"/>
                <a:cs typeface="Century Gothic"/>
                <a:sym typeface="Century Gothic"/>
              </a:rPr>
              <a:t>Expected Outcome of Analysis</a:t>
            </a:r>
            <a:endParaRPr/>
          </a:p>
          <a:p>
            <a:pPr indent="-119063" lvl="0" marL="119063" marR="0" rtl="0" algn="l">
              <a:spcBef>
                <a:spcPts val="525"/>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Simplified, standardized and automated project accounting </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Enhanced &amp; accelerated ability to analyze project information, activities and resources assigned to projects</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Ability to drill from the “Dash Board” or BI environment to the supporting granular detail</a:t>
            </a:r>
            <a:endParaRPr/>
          </a:p>
          <a:p>
            <a:pPr indent="-61912" lvl="0" marL="119063" marR="0" rtl="0" algn="l">
              <a:spcBef>
                <a:spcPts val="300"/>
              </a:spcBef>
              <a:spcAft>
                <a:spcPts val="0"/>
              </a:spcAft>
              <a:buClr>
                <a:srgbClr val="3C3C3B"/>
              </a:buClr>
              <a:buSzPts val="900"/>
              <a:buFont typeface="Arial"/>
              <a:buNone/>
            </a:pPr>
            <a:r>
              <a:t/>
            </a:r>
            <a:endParaRPr sz="900">
              <a:solidFill>
                <a:srgbClr val="3C3C3B"/>
              </a:solidFill>
              <a:latin typeface="Century Gothic"/>
              <a:ea typeface="Century Gothic"/>
              <a:cs typeface="Century Gothic"/>
              <a:sym typeface="Century Gothic"/>
            </a:endParaRPr>
          </a:p>
          <a:p>
            <a:pPr indent="-58737" lvl="0" marL="119063"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Project-level P&amp;L, budget vs. actual tracking, IT project ROI measurement</a:t>
            </a:r>
            <a:endParaRPr/>
          </a:p>
        </p:txBody>
      </p:sp>
      <p:sp>
        <p:nvSpPr>
          <p:cNvPr id="6222" name="Google Shape;6222;p346"/>
          <p:cNvSpPr/>
          <p:nvPr/>
        </p:nvSpPr>
        <p:spPr>
          <a:xfrm>
            <a:off x="420636" y="804674"/>
            <a:ext cx="3949701" cy="1540899"/>
          </a:xfrm>
          <a:prstGeom prst="rect">
            <a:avLst/>
          </a:prstGeom>
          <a:noFill/>
          <a:ln>
            <a:noFill/>
          </a:ln>
        </p:spPr>
        <p:txBody>
          <a:bodyPr anchorCtr="0" anchor="t" bIns="36575" lIns="36575" spcFirstLastPara="1" rIns="36000" wrap="square" tIns="36575">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a:p>
          <a:p>
            <a:pPr indent="-119063" lvl="0" marL="119063" marR="0" rtl="0" algn="l">
              <a:spcBef>
                <a:spcPts val="6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Develop an integrated and centralized view of all project costs &amp; related activities.</a:t>
            </a:r>
            <a:endParaRPr/>
          </a:p>
          <a:p>
            <a:pPr indent="-119063" lvl="0" marL="119063"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Enable the ability to </a:t>
            </a:r>
            <a:endParaRPr/>
          </a:p>
          <a:p>
            <a:pPr indent="-115888" lvl="1" marL="233363" marR="0" rtl="0" algn="l">
              <a:spcBef>
                <a:spcPts val="300"/>
              </a:spcBef>
              <a:spcAft>
                <a:spcPts val="0"/>
              </a:spcAft>
              <a:buClr>
                <a:srgbClr val="3C3C3B"/>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Report, analyze, and manage detailed project costing activity</a:t>
            </a:r>
            <a:endParaRPr/>
          </a:p>
          <a:p>
            <a:pPr indent="-115888" lvl="1" marL="233363" marR="0" rtl="0" algn="l">
              <a:spcBef>
                <a:spcPts val="300"/>
              </a:spcBef>
              <a:spcAft>
                <a:spcPts val="0"/>
              </a:spcAft>
              <a:buClr>
                <a:srgbClr val="3C3C3B"/>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Timely analyze financial  project information with respect to budgets, cost to compete and costs incurred to date</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Track costs of banking projects: digital transformation, core banking upgrade, branch renovation, ATM network</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Pakistan banks investing PKR 5-15B annually in technology - project cost management is critical</a:t>
            </a:r>
            <a:endParaRPr/>
          </a:p>
        </p:txBody>
      </p:sp>
      <p:sp>
        <p:nvSpPr>
          <p:cNvPr id="6223" name="Google Shape;6223;p346"/>
          <p:cNvSpPr/>
          <p:nvPr/>
        </p:nvSpPr>
        <p:spPr>
          <a:xfrm>
            <a:off x="6545103" y="340293"/>
            <a:ext cx="2598899" cy="474451"/>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9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6225" name="Google Shape;6225;p346"/>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6226" name="Google Shape;6226;p346"/>
          <p:cNvSpPr txBox="1"/>
          <p:nvPr>
            <p:ph type="title"/>
          </p:nvPr>
        </p:nvSpPr>
        <p:spPr>
          <a:xfrm>
            <a:off x="423864" y="164592"/>
            <a:ext cx="6121238"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Project Accounting – Cost Management</a:t>
            </a:r>
            <a:endParaRPr sz="2400"/>
          </a:p>
        </p:txBody>
      </p:sp>
      <p:sp>
        <p:nvSpPr>
          <p:cNvPr id="6227" name="Google Shape;6227;p346">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Financial Reporting</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2" name="Shape 6232"/>
        <p:cNvGrpSpPr/>
        <p:nvPr/>
      </p:nvGrpSpPr>
      <p:grpSpPr>
        <a:xfrm>
          <a:off x="0" y="0"/>
          <a:ext cx="0" cy="0"/>
          <a:chOff x="0" y="0"/>
          <a:chExt cx="0" cy="0"/>
        </a:xfrm>
      </p:grpSpPr>
      <p:sp>
        <p:nvSpPr>
          <p:cNvPr id="6233" name="Google Shape;6233;p347"/>
          <p:cNvSpPr/>
          <p:nvPr/>
        </p:nvSpPr>
        <p:spPr>
          <a:xfrm>
            <a:off x="420624" y="2331721"/>
            <a:ext cx="2713048" cy="121676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Source Data</a:t>
            </a:r>
            <a:endParaRPr/>
          </a:p>
          <a:p>
            <a:pPr indent="-117475" lvl="0" marL="117475"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ERP Transactional data, e.g.  General and Sub ledger data</a:t>
            </a:r>
            <a:endParaRPr/>
          </a:p>
          <a:p>
            <a:pPr indent="-117475" lvl="0" marL="1174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Performance target data, e.g., plan, budget, forecast, goal, KPIs, etc.</a:t>
            </a:r>
            <a:endParaRPr sz="900">
              <a:solidFill>
                <a:schemeClr val="dk1"/>
              </a:solidFill>
              <a:latin typeface="Century Gothic"/>
              <a:ea typeface="Century Gothic"/>
              <a:cs typeface="Century Gothic"/>
              <a:sym typeface="Century Gothic"/>
            </a:endParaRPr>
          </a:p>
        </p:txBody>
      </p:sp>
      <p:sp>
        <p:nvSpPr>
          <p:cNvPr id="6234" name="Google Shape;6234;p347"/>
          <p:cNvSpPr/>
          <p:nvPr/>
        </p:nvSpPr>
        <p:spPr>
          <a:xfrm>
            <a:off x="3273552" y="2331720"/>
            <a:ext cx="2715336" cy="12384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Load, integrate and validate required data</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Reporting / BI Tool(s) of choice</a:t>
            </a:r>
            <a:endParaRPr/>
          </a:p>
          <a:p>
            <a:pPr indent="-119063" lvl="0" marL="119063"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Identification of Key Performance Indicators (KPIs)</a:t>
            </a:r>
            <a:endParaRPr/>
          </a:p>
          <a:p>
            <a:pPr indent="-119063" lvl="0" marL="119063" marR="0" rtl="0" algn="l">
              <a:spcBef>
                <a:spcPts val="300"/>
              </a:spcBef>
              <a:spcAft>
                <a:spcPts val="0"/>
              </a:spcAft>
              <a:buClr>
                <a:srgbClr val="3C3C3B"/>
              </a:buClr>
              <a:buSzPts val="900"/>
              <a:buFont typeface="Arial"/>
              <a:buChar char="•"/>
            </a:pPr>
            <a:r>
              <a:rPr lang="en-GB" sz="900">
                <a:solidFill>
                  <a:schemeClr val="dk1"/>
                </a:solidFill>
                <a:latin typeface="Century Gothic"/>
                <a:ea typeface="Century Gothic"/>
                <a:cs typeface="Century Gothic"/>
                <a:sym typeface="Century Gothic"/>
              </a:rPr>
              <a:t>Data harmonization</a:t>
            </a:r>
            <a:endParaRPr sz="900">
              <a:solidFill>
                <a:schemeClr val="dk1"/>
              </a:solidFill>
              <a:latin typeface="Century Gothic"/>
              <a:ea typeface="Century Gothic"/>
              <a:cs typeface="Century Gothic"/>
              <a:sym typeface="Century Gothic"/>
            </a:endParaRPr>
          </a:p>
        </p:txBody>
      </p:sp>
      <p:sp>
        <p:nvSpPr>
          <p:cNvPr id="6235" name="Google Shape;6235;p347"/>
          <p:cNvSpPr/>
          <p:nvPr/>
        </p:nvSpPr>
        <p:spPr>
          <a:xfrm>
            <a:off x="3273552" y="3557016"/>
            <a:ext cx="2715336" cy="1238400"/>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Success Criteria</a:t>
            </a:r>
            <a:endParaRPr b="1" sz="1000">
              <a:solidFill>
                <a:schemeClr val="dk2"/>
              </a:solidFill>
              <a:latin typeface="Century Gothic"/>
              <a:ea typeface="Century Gothic"/>
              <a:cs typeface="Century Gothic"/>
              <a:sym typeface="Century Gothic"/>
            </a:endParaRPr>
          </a:p>
          <a:p>
            <a:pPr indent="-117475" lvl="0" marL="117475" marR="0" rtl="0" algn="l">
              <a:lnSpc>
                <a:spcPct val="90000"/>
              </a:lnSpc>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Creation of Exception reports</a:t>
            </a:r>
            <a:endParaRPr/>
          </a:p>
          <a:p>
            <a:pPr indent="-117475" lvl="0" marL="117475" marR="0" rtl="0" algn="l">
              <a:lnSpc>
                <a:spcPct val="90000"/>
              </a:lnSpc>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Documented business  reporting design and related requirements</a:t>
            </a:r>
            <a:endParaRPr/>
          </a:p>
          <a:p>
            <a:pPr indent="-117475" lvl="0" marL="117475" marR="0" rtl="0" algn="l">
              <a:lnSpc>
                <a:spcPct val="90000"/>
              </a:lnSpc>
              <a:spcBef>
                <a:spcPts val="45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Document the set of corporate metrics and objectives</a:t>
            </a:r>
            <a:endParaRPr/>
          </a:p>
          <a:p>
            <a:pPr indent="0" lvl="0" marL="0" marR="0" rtl="0" algn="l">
              <a:lnSpc>
                <a:spcPct val="90000"/>
              </a:lnSpc>
              <a:spcBef>
                <a:spcPts val="450"/>
              </a:spcBef>
              <a:spcAft>
                <a:spcPts val="0"/>
              </a:spcAft>
              <a:buNone/>
            </a:pPr>
            <a:r>
              <a:t/>
            </a:r>
            <a:endParaRPr sz="900">
              <a:solidFill>
                <a:schemeClr val="dk1"/>
              </a:solidFill>
              <a:latin typeface="Century Gothic"/>
              <a:ea typeface="Century Gothic"/>
              <a:cs typeface="Century Gothic"/>
              <a:sym typeface="Century Gothic"/>
            </a:endParaRPr>
          </a:p>
          <a:p>
            <a:pPr indent="-123825" lvl="0" marL="180975" marR="0" rtl="0" algn="l">
              <a:lnSpc>
                <a:spcPct val="90000"/>
              </a:lnSpc>
              <a:spcBef>
                <a:spcPts val="450"/>
              </a:spcBef>
              <a:spcAft>
                <a:spcPts val="0"/>
              </a:spcAft>
              <a:buClr>
                <a:schemeClr val="dk1"/>
              </a:buClr>
              <a:buSzPts val="900"/>
              <a:buFont typeface="Arial"/>
              <a:buNone/>
            </a:pPr>
            <a:r>
              <a:t/>
            </a:r>
            <a:endParaRPr sz="900">
              <a:solidFill>
                <a:srgbClr val="3C3C3B"/>
              </a:solidFill>
              <a:latin typeface="Century Gothic"/>
              <a:ea typeface="Century Gothic"/>
              <a:cs typeface="Century Gothic"/>
              <a:sym typeface="Century Gothic"/>
            </a:endParaRPr>
          </a:p>
        </p:txBody>
      </p:sp>
      <p:sp>
        <p:nvSpPr>
          <p:cNvPr id="6236" name="Google Shape;6236;p347"/>
          <p:cNvSpPr/>
          <p:nvPr/>
        </p:nvSpPr>
        <p:spPr>
          <a:xfrm>
            <a:off x="408467" y="3557016"/>
            <a:ext cx="2616024" cy="1238400"/>
          </a:xfrm>
          <a:prstGeom prst="rect">
            <a:avLst/>
          </a:prstGeom>
          <a:noFill/>
          <a:ln>
            <a:noFill/>
          </a:ln>
        </p:spPr>
        <p:txBody>
          <a:bodyPr anchorCtr="0" anchor="t" bIns="46800" lIns="46800" spcFirstLastPara="1" rIns="46800" wrap="square" tIns="46800">
            <a:noAutofit/>
          </a:bodyPr>
          <a:lstStyle/>
          <a:p>
            <a:pPr indent="-3175" lvl="0" marL="31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Challenges</a:t>
            </a:r>
            <a:endParaRPr/>
          </a:p>
          <a:p>
            <a:pPr indent="-119063" lvl="0" marL="119063"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granularity and availability</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Inconsistent data</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is in multiple, non-integrated and non-validated sources</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Agreement on revised workflow(s)</a:t>
            </a:r>
            <a:endParaRPr/>
          </a:p>
        </p:txBody>
      </p:sp>
      <p:sp>
        <p:nvSpPr>
          <p:cNvPr id="6237" name="Google Shape;6237;p347"/>
          <p:cNvSpPr/>
          <p:nvPr/>
        </p:nvSpPr>
        <p:spPr>
          <a:xfrm>
            <a:off x="4818898" y="804672"/>
            <a:ext cx="3878547" cy="1238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Business Benefit</a:t>
            </a:r>
            <a:endParaRPr/>
          </a:p>
          <a:p>
            <a:pPr indent="-180975" lvl="0" marL="180975" marR="0" rtl="0" algn="l">
              <a:lnSpc>
                <a:spcPct val="90000"/>
              </a:lnSpc>
              <a:spcBef>
                <a:spcPts val="40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Lower cost due to shared data, tools and infrastructure</a:t>
            </a:r>
            <a:endParaRPr/>
          </a:p>
          <a:p>
            <a:pPr indent="-180975" lvl="0" marL="180975" marR="0" rtl="0" algn="l">
              <a:lnSpc>
                <a:spcPct val="90000"/>
              </a:lnSpc>
              <a:spcBef>
                <a:spcPts val="45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Effective delivery of quantifiable defensible exception reports  with clear data lineage which are:</a:t>
            </a:r>
            <a:endParaRPr/>
          </a:p>
          <a:p>
            <a:pPr indent="-180975" lvl="1" marL="638175" marR="0" rtl="0" algn="l">
              <a:lnSpc>
                <a:spcPct val="90000"/>
              </a:lnSpc>
              <a:spcBef>
                <a:spcPts val="45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Accurate</a:t>
            </a:r>
            <a:endParaRPr/>
          </a:p>
          <a:p>
            <a:pPr indent="-180975" lvl="1" marL="638175" marR="0" rtl="0" algn="l">
              <a:lnSpc>
                <a:spcPct val="90000"/>
              </a:lnSpc>
              <a:spcBef>
                <a:spcPts val="45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Timely</a:t>
            </a:r>
            <a:endParaRPr/>
          </a:p>
          <a:p>
            <a:pPr indent="-180975" lvl="1" marL="638175" marR="0" rtl="0" algn="l">
              <a:lnSpc>
                <a:spcPct val="90000"/>
              </a:lnSpc>
              <a:spcBef>
                <a:spcPts val="45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Traceable</a:t>
            </a:r>
            <a:endParaRPr/>
          </a:p>
          <a:p>
            <a:pPr indent="-130175" lvl="0" marL="180975" marR="0" rtl="0" algn="l">
              <a:lnSpc>
                <a:spcPct val="90000"/>
              </a:lnSpc>
              <a:spcBef>
                <a:spcPts val="450"/>
              </a:spcBef>
              <a:spcAft>
                <a:spcPts val="0"/>
              </a:spcAft>
              <a:buClr>
                <a:schemeClr val="dk1"/>
              </a:buClr>
              <a:buSzPts val="800"/>
              <a:buFont typeface="Arial"/>
              <a:buNone/>
            </a:pPr>
            <a:r>
              <a:t/>
            </a:r>
            <a:endParaRPr sz="800">
              <a:solidFill>
                <a:schemeClr val="dk1"/>
              </a:solidFill>
              <a:latin typeface="Century Gothic"/>
              <a:ea typeface="Century Gothic"/>
              <a:cs typeface="Century Gothic"/>
              <a:sym typeface="Century Gothic"/>
            </a:endParaRPr>
          </a:p>
          <a:p>
            <a:pPr indent="-130175" lvl="0" marL="180975" marR="0" rtl="0" algn="l">
              <a:lnSpc>
                <a:spcPct val="90000"/>
              </a:lnSpc>
              <a:spcBef>
                <a:spcPts val="400"/>
              </a:spcBef>
              <a:spcAft>
                <a:spcPts val="0"/>
              </a:spcAft>
              <a:buClr>
                <a:schemeClr val="dk1"/>
              </a:buClr>
              <a:buSzPts val="800"/>
              <a:buFont typeface="Arial"/>
              <a:buNone/>
            </a:pPr>
            <a:r>
              <a:t/>
            </a:r>
            <a:endParaRPr b="1" sz="800">
              <a:solidFill>
                <a:srgbClr val="BBBCBE"/>
              </a:solidFill>
              <a:latin typeface="Century Gothic"/>
              <a:ea typeface="Century Gothic"/>
              <a:cs typeface="Century Gothic"/>
              <a:sym typeface="Century Gothic"/>
            </a:endParaRPr>
          </a:p>
        </p:txBody>
      </p:sp>
      <p:cxnSp>
        <p:nvCxnSpPr>
          <p:cNvPr id="6238" name="Google Shape;6238;p347"/>
          <p:cNvCxnSpPr/>
          <p:nvPr/>
        </p:nvCxnSpPr>
        <p:spPr>
          <a:xfrm>
            <a:off x="3122330" y="2378910"/>
            <a:ext cx="0" cy="2339140"/>
          </a:xfrm>
          <a:prstGeom prst="straightConnector1">
            <a:avLst/>
          </a:prstGeom>
          <a:noFill/>
          <a:ln cap="flat" cmpd="sng" w="12700">
            <a:solidFill>
              <a:schemeClr val="lt2"/>
            </a:solidFill>
            <a:prstDash val="solid"/>
            <a:round/>
            <a:headEnd len="sm" w="sm" type="none"/>
            <a:tailEnd len="sm" w="sm" type="none"/>
          </a:ln>
        </p:spPr>
      </p:cxnSp>
      <p:cxnSp>
        <p:nvCxnSpPr>
          <p:cNvPr id="6239" name="Google Shape;6239;p347"/>
          <p:cNvCxnSpPr/>
          <p:nvPr/>
        </p:nvCxnSpPr>
        <p:spPr>
          <a:xfrm>
            <a:off x="6121745" y="2378910"/>
            <a:ext cx="0" cy="2339140"/>
          </a:xfrm>
          <a:prstGeom prst="straightConnector1">
            <a:avLst/>
          </a:prstGeom>
          <a:noFill/>
          <a:ln cap="flat" cmpd="sng" w="12700">
            <a:solidFill>
              <a:schemeClr val="lt2"/>
            </a:solidFill>
            <a:prstDash val="solid"/>
            <a:round/>
            <a:headEnd len="sm" w="sm" type="none"/>
            <a:tailEnd len="sm" w="sm" type="none"/>
          </a:ln>
        </p:spPr>
      </p:cxnSp>
      <p:cxnSp>
        <p:nvCxnSpPr>
          <p:cNvPr id="6240" name="Google Shape;6240;p347"/>
          <p:cNvCxnSpPr/>
          <p:nvPr/>
        </p:nvCxnSpPr>
        <p:spPr>
          <a:xfrm>
            <a:off x="4576599" y="865188"/>
            <a:ext cx="0" cy="1501152"/>
          </a:xfrm>
          <a:prstGeom prst="straightConnector1">
            <a:avLst/>
          </a:prstGeom>
          <a:noFill/>
          <a:ln cap="flat" cmpd="sng" w="12700">
            <a:solidFill>
              <a:schemeClr val="lt2"/>
            </a:solidFill>
            <a:prstDash val="solid"/>
            <a:round/>
            <a:headEnd len="sm" w="sm" type="none"/>
            <a:tailEnd len="sm" w="sm" type="none"/>
          </a:ln>
        </p:spPr>
      </p:cxnSp>
      <p:sp>
        <p:nvSpPr>
          <p:cNvPr id="6241" name="Google Shape;6241;p347"/>
          <p:cNvSpPr/>
          <p:nvPr/>
        </p:nvSpPr>
        <p:spPr>
          <a:xfrm>
            <a:off x="6144780" y="2331720"/>
            <a:ext cx="2797213" cy="1844496"/>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50">
                <a:solidFill>
                  <a:schemeClr val="dk2"/>
                </a:solidFill>
                <a:latin typeface="Century Gothic"/>
                <a:ea typeface="Century Gothic"/>
                <a:cs typeface="Century Gothic"/>
                <a:sym typeface="Century Gothic"/>
              </a:rPr>
              <a:t>Expected Outcome of Analysis</a:t>
            </a:r>
            <a:endParaRPr/>
          </a:p>
          <a:p>
            <a:pPr indent="-119063" lvl="0" marL="119063" marR="0" rtl="0" algn="l">
              <a:spcBef>
                <a:spcPts val="525"/>
              </a:spcBef>
              <a:spcAft>
                <a:spcPts val="0"/>
              </a:spcAft>
              <a:buClr>
                <a:srgbClr val="3C3C3B"/>
              </a:buClr>
              <a:buSzPts val="950"/>
              <a:buFont typeface="Arial"/>
              <a:buChar char="•"/>
            </a:pPr>
            <a:r>
              <a:rPr lang="en-GB" sz="950">
                <a:solidFill>
                  <a:srgbClr val="3C3C3B"/>
                </a:solidFill>
                <a:latin typeface="Century Gothic"/>
                <a:ea typeface="Century Gothic"/>
                <a:cs typeface="Century Gothic"/>
                <a:sym typeface="Century Gothic"/>
              </a:rPr>
              <a:t>Accelerated, simplified, standardized and automated reporting resulting in improved visibility into the financial performance &amp; related metrics</a:t>
            </a:r>
            <a:endParaRPr/>
          </a:p>
          <a:p>
            <a:pPr indent="-119063" lvl="0" marL="119063" marR="0" rtl="0" algn="l">
              <a:spcBef>
                <a:spcPts val="300"/>
              </a:spcBef>
              <a:spcAft>
                <a:spcPts val="0"/>
              </a:spcAft>
              <a:buClr>
                <a:srgbClr val="3C3C3B"/>
              </a:buClr>
              <a:buSzPts val="950"/>
              <a:buFont typeface="Arial"/>
              <a:buChar char="•"/>
            </a:pPr>
            <a:r>
              <a:rPr lang="en-GB" sz="950">
                <a:solidFill>
                  <a:srgbClr val="3C3C3B"/>
                </a:solidFill>
                <a:latin typeface="Century Gothic"/>
                <a:ea typeface="Century Gothic"/>
                <a:cs typeface="Century Gothic"/>
                <a:sym typeface="Century Gothic"/>
              </a:rPr>
              <a:t>Reduce the  risk of variances and exceptions being missed due to  reliance on manual processes</a:t>
            </a:r>
            <a:endParaRPr/>
          </a:p>
          <a:p>
            <a:pPr indent="-119063" lvl="0" marL="119063" marR="0" rtl="0" algn="l">
              <a:spcBef>
                <a:spcPts val="300"/>
              </a:spcBef>
              <a:spcAft>
                <a:spcPts val="0"/>
              </a:spcAft>
              <a:buClr>
                <a:srgbClr val="3C3C3B"/>
              </a:buClr>
              <a:buSzPts val="950"/>
              <a:buFont typeface="Arial"/>
              <a:buChar char="•"/>
            </a:pPr>
            <a:r>
              <a:rPr lang="en-GB" sz="950">
                <a:solidFill>
                  <a:srgbClr val="3C3C3B"/>
                </a:solidFill>
                <a:latin typeface="Century Gothic"/>
                <a:ea typeface="Century Gothic"/>
                <a:cs typeface="Century Gothic"/>
                <a:sym typeface="Century Gothic"/>
              </a:rPr>
              <a:t>Alert staff about a situation that requires corrective action  or  where exceptions are outside pre-determined parameters</a:t>
            </a:r>
            <a:endParaRPr/>
          </a:p>
          <a:p>
            <a:pPr indent="-58737" lvl="0" marL="119063"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58737" lvl="0" marL="119063"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Real-time exception alerts with workflow resolution tracking, full audit trail for regulatory inspection</a:t>
            </a:r>
            <a:endParaRPr/>
          </a:p>
        </p:txBody>
      </p:sp>
      <p:sp>
        <p:nvSpPr>
          <p:cNvPr id="6242" name="Google Shape;6242;p347"/>
          <p:cNvSpPr/>
          <p:nvPr/>
        </p:nvSpPr>
        <p:spPr>
          <a:xfrm>
            <a:off x="420636" y="804673"/>
            <a:ext cx="3949701" cy="1404248"/>
          </a:xfrm>
          <a:prstGeom prst="rect">
            <a:avLst/>
          </a:prstGeom>
          <a:noFill/>
          <a:ln>
            <a:noFill/>
          </a:ln>
        </p:spPr>
        <p:txBody>
          <a:bodyPr anchorCtr="0" anchor="t" bIns="36575" lIns="36575" spcFirstLastPara="1" rIns="36000" wrap="square" tIns="36575">
            <a:noAutofit/>
          </a:bodyPr>
          <a:lstStyle/>
          <a:p>
            <a:pPr indent="-180975" lvl="0" marL="180975" marR="0" rtl="0" algn="l">
              <a:lnSpc>
                <a:spcPct val="90000"/>
              </a:lnSpc>
              <a:spcBef>
                <a:spcPts val="0"/>
              </a:spcBef>
              <a:spcAft>
                <a:spcPts val="0"/>
              </a:spcAft>
              <a:buNone/>
            </a:pPr>
            <a:r>
              <a:rPr b="1" lang="en-GB" sz="1000">
                <a:solidFill>
                  <a:schemeClr val="dk2"/>
                </a:solidFill>
                <a:latin typeface="Century Gothic"/>
                <a:ea typeface="Century Gothic"/>
                <a:cs typeface="Century Gothic"/>
                <a:sym typeface="Century Gothic"/>
              </a:rPr>
              <a:t>Objective / Problem Statement</a:t>
            </a:r>
            <a:endParaRPr/>
          </a:p>
          <a:p>
            <a:pPr indent="-119063" lvl="0" marL="119063" marR="0" rtl="0" algn="l">
              <a:spcBef>
                <a:spcPts val="500"/>
              </a:spcBef>
              <a:spcAft>
                <a:spcPts val="0"/>
              </a:spcAft>
              <a:buClr>
                <a:srgbClr val="3C3C3B"/>
              </a:buClr>
              <a:buSzPts val="950"/>
              <a:buFont typeface="Arial"/>
              <a:buChar char="•"/>
            </a:pPr>
            <a:r>
              <a:rPr lang="en-GB" sz="950">
                <a:solidFill>
                  <a:schemeClr val="dk1"/>
                </a:solidFill>
                <a:latin typeface="Century Gothic"/>
                <a:ea typeface="Century Gothic"/>
                <a:cs typeface="Century Gothic"/>
                <a:sym typeface="Century Gothic"/>
              </a:rPr>
              <a:t>Develop timely, accurate and efficient reporting of unexpected variances and other exceptions caused by:</a:t>
            </a:r>
            <a:endParaRPr/>
          </a:p>
          <a:p>
            <a:pPr indent="-119062" lvl="1" marL="576263" marR="0" rtl="0" algn="l">
              <a:spcBef>
                <a:spcPts val="300"/>
              </a:spcBef>
              <a:spcAft>
                <a:spcPts val="0"/>
              </a:spcAft>
              <a:buClr>
                <a:srgbClr val="3C3C3B"/>
              </a:buClr>
              <a:buSzPts val="950"/>
              <a:buFont typeface="Arial"/>
              <a:buChar char="•"/>
            </a:pPr>
            <a:r>
              <a:rPr b="0" i="0" lang="en-GB" sz="950" u="none" cap="none" strike="noStrike">
                <a:solidFill>
                  <a:schemeClr val="dk1"/>
                </a:solidFill>
                <a:latin typeface="Century Gothic"/>
                <a:ea typeface="Century Gothic"/>
                <a:cs typeface="Century Gothic"/>
                <a:sym typeface="Century Gothic"/>
              </a:rPr>
              <a:t>Processes are often fragmented and inflexible, </a:t>
            </a:r>
            <a:endParaRPr/>
          </a:p>
          <a:p>
            <a:pPr indent="-119062" lvl="1" marL="576263" marR="0" rtl="0" algn="l">
              <a:spcBef>
                <a:spcPts val="300"/>
              </a:spcBef>
              <a:spcAft>
                <a:spcPts val="0"/>
              </a:spcAft>
              <a:buClr>
                <a:srgbClr val="3C3C3B"/>
              </a:buClr>
              <a:buSzPts val="950"/>
              <a:buFont typeface="Arial"/>
              <a:buChar char="•"/>
            </a:pPr>
            <a:r>
              <a:rPr b="0" i="0" lang="en-GB" sz="950" u="none" cap="none" strike="noStrike">
                <a:solidFill>
                  <a:schemeClr val="dk1"/>
                </a:solidFill>
                <a:latin typeface="Century Gothic"/>
                <a:ea typeface="Century Gothic"/>
                <a:cs typeface="Century Gothic"/>
                <a:sym typeface="Century Gothic"/>
              </a:rPr>
              <a:t>Time consuming processes, </a:t>
            </a:r>
            <a:endParaRPr/>
          </a:p>
          <a:p>
            <a:pPr indent="-119062" lvl="1" marL="576263" marR="0" rtl="0" algn="l">
              <a:spcBef>
                <a:spcPts val="300"/>
              </a:spcBef>
              <a:spcAft>
                <a:spcPts val="0"/>
              </a:spcAft>
              <a:buClr>
                <a:srgbClr val="3C3C3B"/>
              </a:buClr>
              <a:buSzPts val="950"/>
              <a:buFont typeface="Arial"/>
              <a:buChar char="•"/>
            </a:pPr>
            <a:r>
              <a:rPr b="0" i="0" lang="en-GB" sz="950" u="none" cap="none" strike="noStrike">
                <a:solidFill>
                  <a:schemeClr val="dk1"/>
                </a:solidFill>
                <a:latin typeface="Century Gothic"/>
                <a:ea typeface="Century Gothic"/>
                <a:cs typeface="Century Gothic"/>
                <a:sym typeface="Century Gothic"/>
              </a:rPr>
              <a:t>Excessive manual processes.</a:t>
            </a:r>
            <a:endParaRPr/>
          </a:p>
          <a:p>
            <a:pPr indent="-119063" lvl="0" marL="119063" marR="0" rtl="0" algn="l">
              <a:spcBef>
                <a:spcPts val="300"/>
              </a:spcBef>
              <a:spcAft>
                <a:spcPts val="0"/>
              </a:spcAft>
              <a:buClr>
                <a:srgbClr val="3C3C3B"/>
              </a:buClr>
              <a:buSzPts val="950"/>
              <a:buFont typeface="Arial"/>
              <a:buChar char="•"/>
            </a:pPr>
            <a:r>
              <a:rPr lang="en-GB" sz="950">
                <a:solidFill>
                  <a:schemeClr val="dk1"/>
                </a:solidFill>
                <a:latin typeface="Century Gothic"/>
                <a:ea typeface="Century Gothic"/>
                <a:cs typeface="Century Gothic"/>
                <a:sym typeface="Century Gothic"/>
              </a:rPr>
              <a:t>Performance metrics across the organization must be consistent, and utilize reliable &amp; validated data.</a:t>
            </a:r>
            <a:endParaRPr/>
          </a:p>
          <a:p>
            <a:pPr indent="-58737" lvl="0" marL="119063" marR="0" rtl="0" algn="l">
              <a:spcBef>
                <a:spcPts val="300"/>
              </a:spcBef>
              <a:spcAft>
                <a:spcPts val="0"/>
              </a:spcAft>
              <a:buClr>
                <a:srgbClr val="3C3C3B"/>
              </a:buClr>
              <a:buSzPts val="950"/>
              <a:buFont typeface="Arial"/>
              <a:buNone/>
            </a:pPr>
            <a:r>
              <a:t/>
            </a:r>
            <a:endParaRPr sz="95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Automate exception detection: SBP limit breaches, IFRS 9 stage migration, budget variance, AML threshold alerts</a:t>
            </a:r>
            <a:endParaRPr/>
          </a:p>
        </p:txBody>
      </p:sp>
      <p:sp>
        <p:nvSpPr>
          <p:cNvPr id="6243" name="Google Shape;6243;p347"/>
          <p:cNvSpPr/>
          <p:nvPr/>
        </p:nvSpPr>
        <p:spPr>
          <a:xfrm>
            <a:off x="6545103" y="340293"/>
            <a:ext cx="2598899" cy="474451"/>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900">
                <a:solidFill>
                  <a:schemeClr val="accent6"/>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rPr lang="en-GB" sz="900">
                <a:solidFill>
                  <a:schemeClr val="accent6"/>
                </a:solidFill>
                <a:latin typeface="Century Gothic"/>
                <a:ea typeface="Century Gothic"/>
                <a:cs typeface="Century Gothic"/>
                <a:sym typeface="Century Gothic"/>
              </a:rPr>
              <a:t>Owner:   Banking Industry Best Practice</a:t>
            </a:r>
            <a:endParaRPr sz="900">
              <a:solidFill>
                <a:schemeClr val="accent6"/>
              </a:solidFill>
              <a:latin typeface="Century Gothic"/>
              <a:ea typeface="Century Gothic"/>
              <a:cs typeface="Century Gothic"/>
              <a:sym typeface="Century Gothic"/>
            </a:endParaRPr>
          </a:p>
        </p:txBody>
      </p:sp>
      <p:sp>
        <p:nvSpPr>
          <p:cNvPr id="6245" name="Google Shape;6245;p347"/>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chemeClr val="accent1"/>
                </a:solidFill>
                <a:latin typeface="Century Gothic"/>
                <a:ea typeface="Century Gothic"/>
                <a:cs typeface="Century Gothic"/>
                <a:sym typeface="Century Gothic"/>
              </a:rPr>
              <a:t>Use Case Summary</a:t>
            </a:r>
            <a:endParaRPr sz="1000">
              <a:solidFill>
                <a:schemeClr val="accent1"/>
              </a:solidFill>
              <a:latin typeface="Century Gothic"/>
              <a:ea typeface="Century Gothic"/>
              <a:cs typeface="Century Gothic"/>
              <a:sym typeface="Century Gothic"/>
            </a:endParaRPr>
          </a:p>
        </p:txBody>
      </p:sp>
      <p:sp>
        <p:nvSpPr>
          <p:cNvPr id="6246" name="Google Shape;6246;p347"/>
          <p:cNvSpPr txBox="1"/>
          <p:nvPr>
            <p:ph type="title"/>
          </p:nvPr>
        </p:nvSpPr>
        <p:spPr>
          <a:xfrm>
            <a:off x="423875" y="164592"/>
            <a:ext cx="82629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Internal - Exception Reporting</a:t>
            </a:r>
            <a:endParaRPr sz="2400"/>
          </a:p>
        </p:txBody>
      </p:sp>
      <p:sp>
        <p:nvSpPr>
          <p:cNvPr id="6247" name="Google Shape;6247;p347">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Financial Reporting</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2" name="Shape 6252"/>
        <p:cNvGrpSpPr/>
        <p:nvPr/>
      </p:nvGrpSpPr>
      <p:grpSpPr>
        <a:xfrm>
          <a:off x="0" y="0"/>
          <a:ext cx="0" cy="0"/>
          <a:chOff x="0" y="0"/>
          <a:chExt cx="0" cy="0"/>
        </a:xfrm>
      </p:grpSpPr>
      <p:cxnSp>
        <p:nvCxnSpPr>
          <p:cNvPr id="6253" name="Google Shape;6253;p348"/>
          <p:cNvCxnSpPr/>
          <p:nvPr/>
        </p:nvCxnSpPr>
        <p:spPr>
          <a:xfrm>
            <a:off x="3207394"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6254" name="Google Shape;6254;p348"/>
          <p:cNvCxnSpPr/>
          <p:nvPr/>
        </p:nvCxnSpPr>
        <p:spPr>
          <a:xfrm>
            <a:off x="6057947" y="2443341"/>
            <a:ext cx="0" cy="2339140"/>
          </a:xfrm>
          <a:prstGeom prst="straightConnector1">
            <a:avLst/>
          </a:prstGeom>
          <a:noFill/>
          <a:ln cap="flat" cmpd="sng" w="12700">
            <a:solidFill>
              <a:schemeClr val="lt2"/>
            </a:solidFill>
            <a:prstDash val="solid"/>
            <a:round/>
            <a:headEnd len="sm" w="sm" type="none"/>
            <a:tailEnd len="sm" w="sm" type="none"/>
          </a:ln>
        </p:spPr>
      </p:cxnSp>
      <p:cxnSp>
        <p:nvCxnSpPr>
          <p:cNvPr id="6255" name="Google Shape;6255;p348"/>
          <p:cNvCxnSpPr/>
          <p:nvPr/>
        </p:nvCxnSpPr>
        <p:spPr>
          <a:xfrm>
            <a:off x="4576599" y="810596"/>
            <a:ext cx="0" cy="1501152"/>
          </a:xfrm>
          <a:prstGeom prst="straightConnector1">
            <a:avLst/>
          </a:prstGeom>
          <a:noFill/>
          <a:ln cap="flat" cmpd="sng" w="12700">
            <a:solidFill>
              <a:schemeClr val="lt2"/>
            </a:solidFill>
            <a:prstDash val="solid"/>
            <a:round/>
            <a:headEnd len="sm" w="sm" type="none"/>
            <a:tailEnd len="sm" w="sm" type="none"/>
          </a:ln>
        </p:spPr>
      </p:cxnSp>
      <p:sp>
        <p:nvSpPr>
          <p:cNvPr id="6257" name="Google Shape;6257;p348"/>
          <p:cNvSpPr/>
          <p:nvPr/>
        </p:nvSpPr>
        <p:spPr>
          <a:xfrm>
            <a:off x="4820090" y="807897"/>
            <a:ext cx="4019117" cy="1472400"/>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Business Benefit </a:t>
            </a:r>
            <a:endParaRPr/>
          </a:p>
          <a:p>
            <a:pPr indent="-180975" lvl="0" marL="180975"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Increased confidence in financial data</a:t>
            </a:r>
            <a:endParaRPr/>
          </a:p>
          <a:p>
            <a:pPr indent="-180975" lvl="0" marL="180975"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Visualization of financial &amp; operational data</a:t>
            </a:r>
            <a:endParaRPr sz="900">
              <a:solidFill>
                <a:srgbClr val="3C3C3B"/>
              </a:solidFill>
              <a:latin typeface="Century Gothic"/>
              <a:ea typeface="Century Gothic"/>
              <a:cs typeface="Century Gothic"/>
              <a:sym typeface="Century Gothic"/>
            </a:endParaRPr>
          </a:p>
          <a:p>
            <a:pPr indent="-180975" lvl="0" marL="180975"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Enhanced ability to directly tie operational &amp; financial data</a:t>
            </a:r>
            <a:endParaRPr/>
          </a:p>
          <a:p>
            <a:pPr indent="-180975" lvl="0" marL="180975"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Reduced effort to produce reliable financial &amp; other reporting with associated metrics</a:t>
            </a:r>
            <a:endParaRPr/>
          </a:p>
          <a:p>
            <a:pPr indent="-180975" lvl="0" marL="180975"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Shared reliable information across executive &amp; senior management</a:t>
            </a:r>
            <a:endParaRPr sz="900">
              <a:solidFill>
                <a:srgbClr val="3C3C3B"/>
              </a:solidFill>
              <a:latin typeface="Century Gothic"/>
              <a:ea typeface="Century Gothic"/>
              <a:cs typeface="Century Gothic"/>
              <a:sym typeface="Century Gothic"/>
            </a:endParaRPr>
          </a:p>
          <a:p>
            <a:pPr indent="0" lvl="0" marL="0" marR="0" rtl="0" algn="l">
              <a:lnSpc>
                <a:spcPct val="90000"/>
              </a:lnSpc>
              <a:spcBef>
                <a:spcPts val="300"/>
              </a:spcBef>
              <a:spcAft>
                <a:spcPts val="0"/>
              </a:spcAft>
              <a:buNone/>
            </a:pPr>
            <a:r>
              <a:t/>
            </a:r>
            <a:endParaRPr b="1" sz="750">
              <a:solidFill>
                <a:srgbClr val="BBBCBE"/>
              </a:solidFill>
              <a:latin typeface="Century Gothic"/>
              <a:ea typeface="Century Gothic"/>
              <a:cs typeface="Century Gothic"/>
              <a:sym typeface="Century Gothic"/>
            </a:endParaRPr>
          </a:p>
        </p:txBody>
      </p:sp>
      <p:sp>
        <p:nvSpPr>
          <p:cNvPr id="6258" name="Google Shape;6258;p348"/>
          <p:cNvSpPr/>
          <p:nvPr/>
        </p:nvSpPr>
        <p:spPr>
          <a:xfrm>
            <a:off x="6148806" y="2334154"/>
            <a:ext cx="2714400" cy="2372220"/>
          </a:xfrm>
          <a:prstGeom prst="rect">
            <a:avLst/>
          </a:prstGeom>
          <a:noFill/>
          <a:ln>
            <a:noFill/>
          </a:ln>
        </p:spPr>
        <p:txBody>
          <a:bodyPr anchorCtr="0" anchor="t" bIns="45700" lIns="54000" spcFirstLastPara="1" rIns="36000" wrap="square" tIns="457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Expected Outcome</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Decision makers have:</a:t>
            </a:r>
            <a:endParaRPr/>
          </a:p>
          <a:p>
            <a:pPr indent="-171450" lvl="1" marL="284163"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Timely (near real time as necessary) access to required data</a:t>
            </a:r>
            <a:endParaRPr/>
          </a:p>
          <a:p>
            <a:pPr indent="-171450" lvl="1" marL="284163"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The ability to customize the dashboard as necessary, e.g. date(s), graphs, etc.</a:t>
            </a:r>
            <a:endParaRPr/>
          </a:p>
          <a:p>
            <a:pPr indent="-171450" lvl="1" marL="284163" marR="0" rtl="0" algn="l">
              <a:spcBef>
                <a:spcPts val="30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The ability to “drill” to lower levels of detail effectively and efficiently as desired</a:t>
            </a:r>
            <a:endParaRPr b="0" i="0" sz="900" u="none" cap="none" strike="noStrike">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Replace monthly paper MIS pack (2-3 weeks to prepare) with real-time self-service dashboard</a:t>
            </a:r>
            <a:endParaRPr/>
          </a:p>
        </p:txBody>
      </p:sp>
      <p:sp>
        <p:nvSpPr>
          <p:cNvPr id="6259" name="Google Shape;6259;p348"/>
          <p:cNvSpPr/>
          <p:nvPr/>
        </p:nvSpPr>
        <p:spPr>
          <a:xfrm>
            <a:off x="3271845" y="3557890"/>
            <a:ext cx="2715336"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Success Criteria</a:t>
            </a:r>
            <a:endParaRPr b="1" sz="1000">
              <a:solidFill>
                <a:srgbClr val="0079DB"/>
              </a:solidFill>
              <a:latin typeface="Century Gothic"/>
              <a:ea typeface="Century Gothic"/>
              <a:cs typeface="Century Gothic"/>
              <a:sym typeface="Century Gothic"/>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Development of relevant reports and dashboards &amp; acceptance of developed dashboards</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Timely, consolidated and validated data</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Ability to demonstrate data lineage from source to resulting report sets</a:t>
            </a:r>
            <a:endParaRPr sz="900">
              <a:solidFill>
                <a:srgbClr val="3C3C3B"/>
              </a:solidFill>
              <a:latin typeface="Century Gothic"/>
              <a:ea typeface="Century Gothic"/>
              <a:cs typeface="Century Gothic"/>
              <a:sym typeface="Century Gothic"/>
            </a:endParaRPr>
          </a:p>
        </p:txBody>
      </p:sp>
      <p:sp>
        <p:nvSpPr>
          <p:cNvPr id="6260" name="Google Shape;6260;p348"/>
          <p:cNvSpPr/>
          <p:nvPr/>
        </p:nvSpPr>
        <p:spPr>
          <a:xfrm>
            <a:off x="3271845" y="2334154"/>
            <a:ext cx="2714400" cy="1223736"/>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Methodology / Analytic Technique</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Load, integrate and validate required data.</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Reference Data Management</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Design dashboard using the reporting / BI Tool(s) of choice</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Build user access layer (semantic)</a:t>
            </a:r>
            <a:endParaRPr sz="900">
              <a:solidFill>
                <a:srgbClr val="3C3C3B"/>
              </a:solidFill>
              <a:latin typeface="Century Gothic"/>
              <a:ea typeface="Century Gothic"/>
              <a:cs typeface="Century Gothic"/>
              <a:sym typeface="Century Gothic"/>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harmonization as necessary</a:t>
            </a:r>
            <a:endParaRPr sz="900">
              <a:solidFill>
                <a:srgbClr val="3C3C3B"/>
              </a:solidFill>
              <a:latin typeface="Century Gothic"/>
              <a:ea typeface="Century Gothic"/>
              <a:cs typeface="Century Gothic"/>
              <a:sym typeface="Century Gothic"/>
            </a:endParaRPr>
          </a:p>
        </p:txBody>
      </p:sp>
      <p:sp>
        <p:nvSpPr>
          <p:cNvPr id="6261" name="Google Shape;6261;p348"/>
          <p:cNvSpPr/>
          <p:nvPr/>
        </p:nvSpPr>
        <p:spPr>
          <a:xfrm>
            <a:off x="429630" y="3557890"/>
            <a:ext cx="2714400" cy="1170000"/>
          </a:xfrm>
          <a:prstGeom prst="rect">
            <a:avLst/>
          </a:prstGeom>
          <a:noFill/>
          <a:ln>
            <a:noFill/>
          </a:ln>
        </p:spPr>
        <p:txBody>
          <a:bodyPr anchorCtr="0" anchor="t" bIns="46800" lIns="46800" spcFirstLastPara="1" rIns="46800" wrap="square" tIns="46800">
            <a:noAutofit/>
          </a:bodyPr>
          <a:lstStyle/>
          <a:p>
            <a:pPr indent="-180000" lvl="0" marL="180000"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Challenges</a:t>
            </a:r>
            <a:endParaRPr/>
          </a:p>
          <a:p>
            <a:pPr indent="-108000" lvl="0" marL="108000"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quality </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granularity and availability</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Inconsistent/conflicting data</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Data is in multiple, non-integrated and non-validated sources</a:t>
            </a:r>
            <a:endParaRPr/>
          </a:p>
        </p:txBody>
      </p:sp>
      <p:sp>
        <p:nvSpPr>
          <p:cNvPr id="6262" name="Google Shape;6262;p348"/>
          <p:cNvSpPr/>
          <p:nvPr/>
        </p:nvSpPr>
        <p:spPr>
          <a:xfrm>
            <a:off x="423862" y="2334154"/>
            <a:ext cx="2783531" cy="1223736"/>
          </a:xfrm>
          <a:prstGeom prst="rect">
            <a:avLst/>
          </a:prstGeom>
          <a:noFill/>
          <a:ln>
            <a:noFill/>
          </a:ln>
        </p:spPr>
        <p:txBody>
          <a:bodyPr anchorCtr="0" anchor="t" bIns="46800" lIns="46800" spcFirstLastPara="1" rIns="46800" wrap="square" tIns="468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Source Data</a:t>
            </a:r>
            <a:endParaRPr/>
          </a:p>
          <a:p>
            <a:pPr indent="-117475" lvl="0" marL="117475" marR="0" rtl="0" algn="l">
              <a:spcBef>
                <a:spcPts val="4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ERP &amp; Non-ERP financial data, e.g.  General &amp; Sub ledger data</a:t>
            </a:r>
            <a:endParaRPr/>
          </a:p>
          <a:p>
            <a:pPr indent="-117475" lvl="0" marL="117475"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Performance target data, e.g., KPIs, plan, budget, forecast, goal, etc.</a:t>
            </a:r>
            <a:endParaRPr/>
          </a:p>
          <a:p>
            <a:pPr indent="-117475" lvl="0" marL="117475"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Operational data, e.g. sales, customer, etc.</a:t>
            </a:r>
            <a:endParaRPr/>
          </a:p>
          <a:p>
            <a:pPr indent="-117475" lvl="0" marL="117475"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Reference Data</a:t>
            </a:r>
            <a:endParaRPr sz="900">
              <a:solidFill>
                <a:srgbClr val="3C3C3B"/>
              </a:solidFill>
              <a:latin typeface="Century Gothic"/>
              <a:ea typeface="Century Gothic"/>
              <a:cs typeface="Century Gothic"/>
              <a:sym typeface="Century Gothic"/>
            </a:endParaRPr>
          </a:p>
        </p:txBody>
      </p:sp>
      <p:sp>
        <p:nvSpPr>
          <p:cNvPr id="6263" name="Google Shape;6263;p348"/>
          <p:cNvSpPr/>
          <p:nvPr/>
        </p:nvSpPr>
        <p:spPr>
          <a:xfrm>
            <a:off x="423879" y="807899"/>
            <a:ext cx="3957637" cy="1471665"/>
          </a:xfrm>
          <a:prstGeom prst="rect">
            <a:avLst/>
          </a:prstGeom>
          <a:noFill/>
          <a:ln>
            <a:noFill/>
          </a:ln>
        </p:spPr>
        <p:txBody>
          <a:bodyPr anchorCtr="0" anchor="t" bIns="36000" lIns="36000" spcFirstLastPara="1" rIns="36000" wrap="square" tIns="36000">
            <a:noAutofit/>
          </a:bodyPr>
          <a:lstStyle/>
          <a:p>
            <a:pPr indent="-180975" lvl="0" marL="180975" marR="0" rtl="0" algn="l">
              <a:lnSpc>
                <a:spcPct val="90000"/>
              </a:lnSpc>
              <a:spcBef>
                <a:spcPts val="0"/>
              </a:spcBef>
              <a:spcAft>
                <a:spcPts val="0"/>
              </a:spcAft>
              <a:buNone/>
            </a:pPr>
            <a:r>
              <a:rPr b="1" lang="en-GB" sz="1000">
                <a:solidFill>
                  <a:srgbClr val="0079DB"/>
                </a:solidFill>
                <a:latin typeface="Century Gothic"/>
                <a:ea typeface="Century Gothic"/>
                <a:cs typeface="Century Gothic"/>
                <a:sym typeface="Century Gothic"/>
              </a:rPr>
              <a:t>Objective / Problem Statement</a:t>
            </a:r>
            <a:endParaRPr/>
          </a:p>
          <a:p>
            <a:pPr indent="-108000" lvl="0" marL="108000" marR="0" rtl="0" algn="l">
              <a:spcBef>
                <a:spcPts val="5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Provide efficient &amp; direct access for senior executives &amp; other key decision makers to reliable, comprehensive and current financial and operational information</a:t>
            </a:r>
            <a:endParaRPr sz="900">
              <a:solidFill>
                <a:srgbClr val="3C3C3B"/>
              </a:solidFill>
              <a:latin typeface="Century Gothic"/>
              <a:ea typeface="Century Gothic"/>
              <a:cs typeface="Century Gothic"/>
              <a:sym typeface="Century Gothic"/>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Improve the delivery of  reliable information needed for timely decision making</a:t>
            </a:r>
            <a:endParaRPr/>
          </a:p>
          <a:p>
            <a:pPr indent="-108000" lvl="0" marL="108000" marR="0" rtl="0" algn="l">
              <a:spcBef>
                <a:spcPts val="300"/>
              </a:spcBef>
              <a:spcAft>
                <a:spcPts val="0"/>
              </a:spcAft>
              <a:buClr>
                <a:srgbClr val="3C3C3B"/>
              </a:buClr>
              <a:buSzPts val="900"/>
              <a:buFont typeface="Arial"/>
              <a:buChar char="•"/>
            </a:pPr>
            <a:r>
              <a:rPr lang="en-GB" sz="900">
                <a:solidFill>
                  <a:srgbClr val="3C3C3B"/>
                </a:solidFill>
                <a:latin typeface="Century Gothic"/>
                <a:ea typeface="Century Gothic"/>
                <a:cs typeface="Century Gothic"/>
                <a:sym typeface="Century Gothic"/>
              </a:rPr>
              <a:t>Accelerate &amp; enhance the quality, timeliness &amp; presentation of information needed by the various executives  depending on their area of responsibility</a:t>
            </a:r>
            <a:endParaRPr sz="900">
              <a:solidFill>
                <a:srgbClr val="3C3C3B"/>
              </a:solidFill>
              <a:latin typeface="Century Gothic"/>
              <a:ea typeface="Century Gothic"/>
              <a:cs typeface="Century Gothic"/>
              <a:sym typeface="Century Gothic"/>
            </a:endParaRPr>
          </a:p>
          <a:p>
            <a:pPr indent="-123825" lvl="0" marL="180975" marR="0" rtl="0" algn="l">
              <a:lnSpc>
                <a:spcPct val="90000"/>
              </a:lnSpc>
              <a:spcBef>
                <a:spcPts val="300"/>
              </a:spcBef>
              <a:spcAft>
                <a:spcPts val="0"/>
              </a:spcAft>
              <a:buClr>
                <a:srgbClr val="EC881D"/>
              </a:buClr>
              <a:buSzPts val="900"/>
              <a:buFont typeface="Noto Sans Symbols"/>
              <a:buNone/>
            </a:pPr>
            <a:r>
              <a:t/>
            </a:r>
            <a:endParaRPr sz="900">
              <a:solidFill>
                <a:srgbClr val="3C3C3B"/>
              </a:solidFill>
              <a:latin typeface="Century Gothic"/>
              <a:ea typeface="Century Gothic"/>
              <a:cs typeface="Century Gothic"/>
              <a:sym typeface="Century Gothic"/>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Unified CEO/CFO/CRO/COO dashboard with drill-down from bank KPIs to individual transaction detail</a:t>
            </a:r>
            <a:endParaRPr/>
          </a:p>
          <a:p>
            <a:pPr indent="-108000" lvl="0" marL="108000" rtl="0" algn="l">
              <a:spcBef>
                <a:spcPts val="200"/>
              </a:spcBef>
              <a:spcAft>
                <a:spcPts val="0"/>
              </a:spcAft>
              <a:buClr>
                <a:srgbClr val="006699"/>
              </a:buClr>
              <a:buSzPts val="800"/>
              <a:buFont typeface="Arial"/>
              <a:buChar char="▸"/>
            </a:pPr>
            <a:r>
              <a:rPr lang="en-GB" sz="800" i="1">
                <a:solidFill>
                  <a:srgbClr val="006699"/>
                </a:solidFill>
                <a:latin typeface="Century Gothic"/>
                <a:ea typeface="Century Gothic"/>
                <a:cs typeface="Century Gothic"/>
              </a:rPr>
              <a:t>Components: P&amp;L, balance sheet, risk, treasury, operations, Islamic banking panel</a:t>
            </a:r>
            <a:endParaRPr/>
          </a:p>
        </p:txBody>
      </p:sp>
      <p:sp>
        <p:nvSpPr>
          <p:cNvPr id="6264" name="Google Shape;6264;p348"/>
          <p:cNvSpPr/>
          <p:nvPr/>
        </p:nvSpPr>
        <p:spPr>
          <a:xfrm>
            <a:off x="6545103" y="290521"/>
            <a:ext cx="2598899" cy="52422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lang="en-GB" sz="1000">
                <a:solidFill>
                  <a:srgbClr val="5F6062"/>
                </a:solidFill>
                <a:latin typeface="Century Gothic"/>
                <a:ea typeface="Century Gothic"/>
                <a:cs typeface="Century Gothic"/>
                <a:sym typeface="Century Gothic"/>
              </a:rPr>
              <a:t>References</a:t>
            </a:r>
            <a:endParaRPr/>
          </a:p>
          <a:p>
            <a:pPr indent="0" lvl="0" marL="0" marR="0" rtl="0" algn="l">
              <a:spcBef>
                <a:spcPts val="0"/>
              </a:spcBef>
              <a:spcAft>
                <a:spcPts val="0"/>
              </a:spcAft>
              <a:buNone/>
            </a:pPr>
            <a:r>
              <a:t/>
            </a:r>
            <a:endParaRPr sz="900">
              <a:solidFill>
                <a:srgbClr val="5F6062"/>
              </a:solidFill>
              <a:latin typeface="Century Gothic"/>
              <a:ea typeface="Century Gothic"/>
              <a:cs typeface="Century Gothic"/>
              <a:sym typeface="Century Gothic"/>
            </a:endParaRPr>
          </a:p>
          <a:p>
            <a:pPr indent="0" lvl="0" marL="0" marR="0" rtl="0" algn="l">
              <a:spcBef>
                <a:spcPts val="0"/>
              </a:spcBef>
              <a:spcAft>
                <a:spcPts val="0"/>
              </a:spcAft>
              <a:buNone/>
            </a:pPr>
            <a:r>
              <a:rPr lang="en-GB" sz="900">
                <a:solidFill>
                  <a:srgbClr val="5F6062"/>
                </a:solidFill>
                <a:latin typeface="Century Gothic"/>
                <a:ea typeface="Century Gothic"/>
                <a:cs typeface="Century Gothic"/>
                <a:sym typeface="Century Gothic"/>
              </a:rPr>
              <a:t>Owner:   Banking Industry Best Practice</a:t>
            </a:r>
            <a:endParaRPr sz="900">
              <a:solidFill>
                <a:srgbClr val="5F6062"/>
              </a:solidFill>
              <a:latin typeface="Century Gothic"/>
              <a:ea typeface="Century Gothic"/>
              <a:cs typeface="Century Gothic"/>
              <a:sym typeface="Century Gothic"/>
            </a:endParaRPr>
          </a:p>
        </p:txBody>
      </p:sp>
      <p:sp>
        <p:nvSpPr>
          <p:cNvPr id="6265" name="Google Shape;6265;p348"/>
          <p:cNvSpPr/>
          <p:nvPr/>
        </p:nvSpPr>
        <p:spPr>
          <a:xfrm>
            <a:off x="355609" y="594284"/>
            <a:ext cx="5910169" cy="180735"/>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lang="en-GB" sz="1000">
                <a:solidFill>
                  <a:srgbClr val="EC881D"/>
                </a:solidFill>
                <a:latin typeface="Century Gothic"/>
                <a:ea typeface="Century Gothic"/>
                <a:cs typeface="Century Gothic"/>
                <a:sym typeface="Century Gothic"/>
              </a:rPr>
              <a:t>Use Case Summary</a:t>
            </a:r>
            <a:endParaRPr sz="1000">
              <a:solidFill>
                <a:srgbClr val="EC881D"/>
              </a:solidFill>
              <a:latin typeface="Century Gothic"/>
              <a:ea typeface="Century Gothic"/>
              <a:cs typeface="Century Gothic"/>
              <a:sym typeface="Century Gothic"/>
            </a:endParaRPr>
          </a:p>
        </p:txBody>
      </p:sp>
      <p:sp>
        <p:nvSpPr>
          <p:cNvPr id="6266" name="Google Shape;6266;p348"/>
          <p:cNvSpPr txBox="1"/>
          <p:nvPr>
            <p:ph type="title"/>
          </p:nvPr>
        </p:nvSpPr>
        <p:spPr>
          <a:xfrm>
            <a:off x="423872" y="164592"/>
            <a:ext cx="6121237" cy="37898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Executive Information Hub</a:t>
            </a:r>
            <a:endParaRPr sz="2400"/>
          </a:p>
        </p:txBody>
      </p:sp>
      <p:sp>
        <p:nvSpPr>
          <p:cNvPr id="6267" name="Google Shape;6267;p348">
            <a:hlinkClick action="ppaction://hlinksldjump" r:id="rId3"/>
          </p:cNvPr>
          <p:cNvSpPr/>
          <p:nvPr/>
        </p:nvSpPr>
        <p:spPr>
          <a:xfrm>
            <a:off x="6515100" y="-196500"/>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Financial Reporting</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2" name="Shape 3932"/>
        <p:cNvGrpSpPr/>
        <p:nvPr/>
      </p:nvGrpSpPr>
      <p:grpSpPr>
        <a:xfrm>
          <a:off x="0" y="0"/>
          <a:ext cx="0" cy="0"/>
          <a:chOff x="0" y="0"/>
          <a:chExt cx="0" cy="0"/>
        </a:xfrm>
      </p:grpSpPr>
      <p:sp>
        <p:nvSpPr>
          <p:cNvPr id="3933" name="Google Shape;3933;p213"/>
          <p:cNvSpPr txBox="1"/>
          <p:nvPr>
            <p:ph idx="2" type="body"/>
          </p:nvPr>
        </p:nvSpPr>
        <p:spPr>
          <a:xfrm>
            <a:off x="438098" y="585291"/>
            <a:ext cx="8229600"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Data and analytics capabilities delivering best-in-class Finance &amp; Performance Management</a:t>
            </a:r>
            <a:endParaRPr sz="1600"/>
          </a:p>
        </p:txBody>
      </p:sp>
      <p:sp>
        <p:nvSpPr>
          <p:cNvPr id="3934" name="Google Shape;3934;p213"/>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Finance &amp; Performance Management</a:t>
            </a:r>
            <a:endParaRPr sz="2400"/>
          </a:p>
        </p:txBody>
      </p:sp>
      <p:sp>
        <p:nvSpPr>
          <p:cNvPr id="3935" name="Google Shape;3935;p213"/>
          <p:cNvSpPr/>
          <p:nvPr/>
        </p:nvSpPr>
        <p:spPr>
          <a:xfrm>
            <a:off x="459950" y="1187449"/>
            <a:ext cx="8223249" cy="3122083"/>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936" name="Google Shape;3936;p213">
            <a:hlinkClick action="ppaction://hlinksldjump" r:id="rId3"/>
          </p:cNvPr>
          <p:cNvSpPr/>
          <p:nvPr/>
        </p:nvSpPr>
        <p:spPr>
          <a:xfrm>
            <a:off x="565151" y="1301750"/>
            <a:ext cx="1396270" cy="28618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Finance &amp; Performance Management</a:t>
            </a:r>
            <a:endParaRPr sz="800">
              <a:solidFill>
                <a:srgbClr val="FFFFFF"/>
              </a:solidFill>
              <a:latin typeface="Century Gothic"/>
              <a:ea typeface="Century Gothic"/>
              <a:cs typeface="Century Gothic"/>
              <a:sym typeface="Century Gothic"/>
            </a:endParaRPr>
          </a:p>
        </p:txBody>
      </p:sp>
      <p:sp>
        <p:nvSpPr>
          <p:cNvPr id="3937" name="Google Shape;3937;p213">
            <a:hlinkClick action="ppaction://hlinksldjump" r:id="rId4"/>
          </p:cNvPr>
          <p:cNvSpPr/>
          <p:nvPr/>
        </p:nvSpPr>
        <p:spPr>
          <a:xfrm>
            <a:off x="2099735" y="1755147"/>
            <a:ext cx="2065899" cy="720000"/>
          </a:xfrm>
          <a:prstGeom prst="rect">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Accounting</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Operations</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and Close</a:t>
            </a:r>
            <a:endParaRPr sz="1100">
              <a:solidFill>
                <a:srgbClr val="FFFFFF"/>
              </a:solidFill>
              <a:latin typeface="Century Gothic"/>
              <a:ea typeface="Century Gothic"/>
              <a:cs typeface="Century Gothic"/>
              <a:sym typeface="Century Gothic"/>
            </a:endParaRPr>
          </a:p>
        </p:txBody>
      </p:sp>
      <p:sp>
        <p:nvSpPr>
          <p:cNvPr id="3938" name="Google Shape;3938;p213">
            <a:hlinkClick action="ppaction://hlinksldjump" r:id="rId5"/>
          </p:cNvPr>
          <p:cNvSpPr/>
          <p:nvPr/>
        </p:nvSpPr>
        <p:spPr>
          <a:xfrm>
            <a:off x="4291698" y="1755147"/>
            <a:ext cx="2065899" cy="720000"/>
          </a:xfrm>
          <a:prstGeom prst="rect">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Enterprise Performance Management</a:t>
            </a:r>
            <a:endParaRPr sz="1100">
              <a:solidFill>
                <a:srgbClr val="FFFFFF"/>
              </a:solidFill>
              <a:latin typeface="Century Gothic"/>
              <a:ea typeface="Century Gothic"/>
              <a:cs typeface="Century Gothic"/>
              <a:sym typeface="Century Gothic"/>
            </a:endParaRPr>
          </a:p>
        </p:txBody>
      </p:sp>
      <p:sp>
        <p:nvSpPr>
          <p:cNvPr id="3939" name="Google Shape;3939;p213">
            <a:hlinkClick action="ppaction://hlinksldjump" r:id="rId6"/>
          </p:cNvPr>
          <p:cNvSpPr/>
          <p:nvPr/>
        </p:nvSpPr>
        <p:spPr>
          <a:xfrm>
            <a:off x="6476968" y="1755147"/>
            <a:ext cx="2065899" cy="720000"/>
          </a:xfrm>
          <a:prstGeom prst="rect">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Treasury Insight &amp; Management</a:t>
            </a:r>
            <a:endParaRPr sz="1100">
              <a:solidFill>
                <a:srgbClr val="FFFFFF"/>
              </a:solidFill>
              <a:latin typeface="Century Gothic"/>
              <a:ea typeface="Century Gothic"/>
              <a:cs typeface="Century Gothic"/>
              <a:sym typeface="Century Gothic"/>
            </a:endParaRPr>
          </a:p>
        </p:txBody>
      </p:sp>
      <p:sp>
        <p:nvSpPr>
          <p:cNvPr id="3940" name="Google Shape;3940;p213">
            <a:hlinkClick action="ppaction://hlinksldjump" r:id="rId7"/>
          </p:cNvPr>
          <p:cNvSpPr/>
          <p:nvPr/>
        </p:nvSpPr>
        <p:spPr>
          <a:xfrm>
            <a:off x="2099735" y="2599351"/>
            <a:ext cx="2065899" cy="720000"/>
          </a:xfrm>
          <a:prstGeom prst="rect">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Financial</a:t>
            </a:r>
            <a:endParaRPr/>
          </a:p>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Reporting</a:t>
            </a:r>
            <a:endParaRPr sz="1100">
              <a:solidFill>
                <a:srgbClr val="FFFFFF"/>
              </a:solidFill>
              <a:latin typeface="Century Gothic"/>
              <a:ea typeface="Century Gothic"/>
              <a:cs typeface="Century Gothic"/>
              <a:sym typeface="Century Gothic"/>
            </a:endParaRPr>
          </a:p>
        </p:txBody>
      </p:sp>
      <p:sp>
        <p:nvSpPr>
          <p:cNvPr id="3941" name="Google Shape;3941;p213"/>
          <p:cNvSpPr/>
          <p:nvPr/>
        </p:nvSpPr>
        <p:spPr>
          <a:xfrm>
            <a:off x="2073748" y="12835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Functional Insights</a:t>
            </a:r>
            <a:endParaRPr sz="1400">
              <a:solidFill>
                <a:srgbClr val="3C3C3B"/>
              </a:solidFill>
              <a:latin typeface="Century Gothic"/>
              <a:ea typeface="Century Gothic"/>
              <a:cs typeface="Century Gothic"/>
              <a:sym typeface="Century Gothic"/>
            </a:endParaRPr>
          </a:p>
        </p:txBody>
      </p:sp>
      <p:sp>
        <p:nvSpPr>
          <p:cNvPr id="3942" name="Google Shape;3942;p213">
            <a:hlinkClick action="ppaction://hlinksldjump" r:id="rId8"/>
          </p:cNvPr>
          <p:cNvSpPr/>
          <p:nvPr/>
        </p:nvSpPr>
        <p:spPr>
          <a:xfrm>
            <a:off x="567549" y="3959468"/>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grpSp>
        <p:nvGrpSpPr>
          <p:cNvPr id="3943" name="Google Shape;3943;p213"/>
          <p:cNvGrpSpPr/>
          <p:nvPr/>
        </p:nvGrpSpPr>
        <p:grpSpPr>
          <a:xfrm>
            <a:off x="7717533" y="4360377"/>
            <a:ext cx="1058348" cy="347375"/>
            <a:chOff x="7651698" y="4287227"/>
            <a:chExt cx="1058348" cy="347375"/>
          </a:xfrm>
        </p:grpSpPr>
        <p:grpSp>
          <p:nvGrpSpPr>
            <p:cNvPr id="3944" name="Google Shape;3944;p213"/>
            <p:cNvGrpSpPr/>
            <p:nvPr/>
          </p:nvGrpSpPr>
          <p:grpSpPr>
            <a:xfrm>
              <a:off x="7714163" y="4337598"/>
              <a:ext cx="995883" cy="297004"/>
              <a:chOff x="7711013" y="3986494"/>
              <a:chExt cx="995883" cy="297004"/>
            </a:xfrm>
          </p:grpSpPr>
          <p:sp>
            <p:nvSpPr>
              <p:cNvPr id="3945" name="Google Shape;3945;p213"/>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3946" name="Google Shape;3946;p213"/>
              <p:cNvGrpSpPr/>
              <p:nvPr/>
            </p:nvGrpSpPr>
            <p:grpSpPr>
              <a:xfrm>
                <a:off x="7711013" y="4002615"/>
                <a:ext cx="281520" cy="241973"/>
                <a:chOff x="5652748" y="4066000"/>
                <a:chExt cx="906498" cy="747974"/>
              </a:xfrm>
            </p:grpSpPr>
            <p:sp>
              <p:nvSpPr>
                <p:cNvPr id="3947" name="Google Shape;3947;p213"/>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3948" name="Google Shape;3948;p213"/>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949" name="Google Shape;3949;p213"/>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3950" name="Google Shape;3950;p213">
              <a:hlinkClick action="ppaction://hlinksldjump" r:id="rId9"/>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3951" name="Google Shape;3951;p213">
            <a:hlinkClick action="ppaction://hlinksldjump" r:id="rId10"/>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Business Value Framework</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6" name="Shape 3956"/>
        <p:cNvGrpSpPr/>
        <p:nvPr/>
      </p:nvGrpSpPr>
      <p:grpSpPr>
        <a:xfrm>
          <a:off x="0" y="0"/>
          <a:ext cx="0" cy="0"/>
          <a:chOff x="0" y="0"/>
          <a:chExt cx="0" cy="0"/>
        </a:xfrm>
      </p:grpSpPr>
      <p:sp>
        <p:nvSpPr>
          <p:cNvPr id="3957" name="Google Shape;3957;p214"/>
          <p:cNvSpPr/>
          <p:nvPr/>
        </p:nvSpPr>
        <p:spPr>
          <a:xfrm>
            <a:off x="459950" y="1187449"/>
            <a:ext cx="8223249" cy="3122083"/>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958" name="Google Shape;3958;p214">
            <a:hlinkClick action="ppaction://hlinksldjump" r:id="rId3"/>
          </p:cNvPr>
          <p:cNvSpPr/>
          <p:nvPr/>
        </p:nvSpPr>
        <p:spPr>
          <a:xfrm>
            <a:off x="565902" y="1303866"/>
            <a:ext cx="1395519" cy="2861734"/>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Accounting</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Operations</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and Close</a:t>
            </a:r>
            <a:endParaRPr sz="1100">
              <a:solidFill>
                <a:srgbClr val="FFFFFF"/>
              </a:solidFill>
              <a:latin typeface="Century Gothic"/>
              <a:ea typeface="Century Gothic"/>
              <a:cs typeface="Century Gothic"/>
              <a:sym typeface="Century Gothic"/>
            </a:endParaRPr>
          </a:p>
        </p:txBody>
      </p:sp>
      <p:sp>
        <p:nvSpPr>
          <p:cNvPr id="3959" name="Google Shape;3959;p214"/>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Analytical Capabilities</a:t>
            </a:r>
            <a:endParaRPr sz="1400">
              <a:solidFill>
                <a:srgbClr val="3C3C3B"/>
              </a:solidFill>
              <a:latin typeface="Century Gothic"/>
              <a:ea typeface="Century Gothic"/>
              <a:cs typeface="Century Gothic"/>
              <a:sym typeface="Century Gothic"/>
            </a:endParaRPr>
          </a:p>
        </p:txBody>
      </p:sp>
      <p:sp>
        <p:nvSpPr>
          <p:cNvPr id="3960" name="Google Shape;3960;p214">
            <a:hlinkClick action="ppaction://hlinksldjump" r:id="rId4"/>
          </p:cNvPr>
          <p:cNvSpPr/>
          <p:nvPr/>
        </p:nvSpPr>
        <p:spPr>
          <a:xfrm>
            <a:off x="567549" y="3946768"/>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sp>
        <p:nvSpPr>
          <p:cNvPr id="3961" name="Google Shape;3961;p214">
            <a:hlinkClick action="ppaction://hlinksldjump" r:id="rId5"/>
          </p:cNvPr>
          <p:cNvSpPr/>
          <p:nvPr/>
        </p:nvSpPr>
        <p:spPr>
          <a:xfrm>
            <a:off x="2099732"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Billing &amp; Collections</a:t>
            </a:r>
            <a:endParaRPr sz="1100">
              <a:solidFill>
                <a:schemeClr val="dk1"/>
              </a:solidFill>
              <a:latin typeface="Century Gothic"/>
              <a:ea typeface="Century Gothic"/>
              <a:cs typeface="Century Gothic"/>
              <a:sym typeface="Century Gothic"/>
            </a:endParaRPr>
          </a:p>
        </p:txBody>
      </p:sp>
      <p:sp>
        <p:nvSpPr>
          <p:cNvPr id="3962" name="Google Shape;3962;p214">
            <a:hlinkClick action="ppaction://hlinksldjump" r:id="rId6"/>
          </p:cNvPr>
          <p:cNvSpPr/>
          <p:nvPr/>
        </p:nvSpPr>
        <p:spPr>
          <a:xfrm>
            <a:off x="4290976"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Procurement &amp;</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Payment</a:t>
            </a:r>
            <a:endParaRPr sz="1100">
              <a:solidFill>
                <a:schemeClr val="dk1"/>
              </a:solidFill>
              <a:latin typeface="Century Gothic"/>
              <a:ea typeface="Century Gothic"/>
              <a:cs typeface="Century Gothic"/>
              <a:sym typeface="Century Gothic"/>
            </a:endParaRPr>
          </a:p>
        </p:txBody>
      </p:sp>
      <p:sp>
        <p:nvSpPr>
          <p:cNvPr id="3963" name="Google Shape;3963;p214">
            <a:hlinkClick action="ppaction://hlinksldjump" r:id="rId7"/>
          </p:cNvPr>
          <p:cNvSpPr/>
          <p:nvPr/>
        </p:nvSpPr>
        <p:spPr>
          <a:xfrm>
            <a:off x="6475528"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Sub-ledger Accounting</a:t>
            </a:r>
            <a:endParaRPr sz="1100">
              <a:solidFill>
                <a:schemeClr val="dk1"/>
              </a:solidFill>
              <a:latin typeface="Century Gothic"/>
              <a:ea typeface="Century Gothic"/>
              <a:cs typeface="Century Gothic"/>
              <a:sym typeface="Century Gothic"/>
            </a:endParaRPr>
          </a:p>
        </p:txBody>
      </p:sp>
      <p:sp>
        <p:nvSpPr>
          <p:cNvPr id="3964" name="Google Shape;3964;p214">
            <a:hlinkClick action="ppaction://hlinksldjump" r:id="rId8"/>
          </p:cNvPr>
          <p:cNvSpPr/>
          <p:nvPr/>
        </p:nvSpPr>
        <p:spPr>
          <a:xfrm>
            <a:off x="2099732"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Fair Value &amp; Hedge Accounting</a:t>
            </a:r>
            <a:endParaRPr sz="1100">
              <a:solidFill>
                <a:schemeClr val="dk1"/>
              </a:solidFill>
              <a:latin typeface="Century Gothic"/>
              <a:ea typeface="Century Gothic"/>
              <a:cs typeface="Century Gothic"/>
              <a:sym typeface="Century Gothic"/>
            </a:endParaRPr>
          </a:p>
        </p:txBody>
      </p:sp>
      <p:sp>
        <p:nvSpPr>
          <p:cNvPr id="3965" name="Google Shape;3965;p214">
            <a:hlinkClick action="ppaction://hlinksldjump" r:id="rId9"/>
          </p:cNvPr>
          <p:cNvSpPr/>
          <p:nvPr/>
        </p:nvSpPr>
        <p:spPr>
          <a:xfrm>
            <a:off x="4290976"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Asset Valuations</a:t>
            </a:r>
            <a:endParaRPr sz="1100">
              <a:solidFill>
                <a:schemeClr val="dk1"/>
              </a:solidFill>
              <a:latin typeface="Century Gothic"/>
              <a:ea typeface="Century Gothic"/>
              <a:cs typeface="Century Gothic"/>
              <a:sym typeface="Century Gothic"/>
            </a:endParaRPr>
          </a:p>
        </p:txBody>
      </p:sp>
      <p:sp>
        <p:nvSpPr>
          <p:cNvPr id="3966" name="Google Shape;3966;p214">
            <a:hlinkClick action="ppaction://hlinksldjump" r:id="rId10"/>
          </p:cNvPr>
          <p:cNvSpPr/>
          <p:nvPr/>
        </p:nvSpPr>
        <p:spPr>
          <a:xfrm>
            <a:off x="6475528"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Reserve Analytics</a:t>
            </a:r>
            <a:endParaRPr sz="1100">
              <a:solidFill>
                <a:schemeClr val="dk1"/>
              </a:solidFill>
              <a:latin typeface="Century Gothic"/>
              <a:ea typeface="Century Gothic"/>
              <a:cs typeface="Century Gothic"/>
              <a:sym typeface="Century Gothic"/>
            </a:endParaRPr>
          </a:p>
        </p:txBody>
      </p:sp>
      <p:sp>
        <p:nvSpPr>
          <p:cNvPr id="3967" name="Google Shape;3967;p214">
            <a:hlinkClick action="ppaction://hlinksldjump" r:id="rId11"/>
          </p:cNvPr>
          <p:cNvSpPr/>
          <p:nvPr/>
        </p:nvSpPr>
        <p:spPr>
          <a:xfrm>
            <a:off x="2099732"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Tax Management &amp; Optimisation</a:t>
            </a:r>
            <a:endParaRPr sz="1100">
              <a:solidFill>
                <a:schemeClr val="dk1"/>
              </a:solidFill>
              <a:latin typeface="Century Gothic"/>
              <a:ea typeface="Century Gothic"/>
              <a:cs typeface="Century Gothic"/>
              <a:sym typeface="Century Gothic"/>
            </a:endParaRPr>
          </a:p>
        </p:txBody>
      </p:sp>
      <p:sp>
        <p:nvSpPr>
          <p:cNvPr id="3968" name="Google Shape;3968;p214">
            <a:hlinkClick action="ppaction://hlinksldjump" r:id="rId12"/>
          </p:cNvPr>
          <p:cNvSpPr/>
          <p:nvPr/>
        </p:nvSpPr>
        <p:spPr>
          <a:xfrm>
            <a:off x="4290976"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Reconciliation, Validation &amp; Adjustments</a:t>
            </a:r>
            <a:endParaRPr sz="1100">
              <a:solidFill>
                <a:schemeClr val="dk1"/>
              </a:solidFill>
              <a:latin typeface="Century Gothic"/>
              <a:ea typeface="Century Gothic"/>
              <a:cs typeface="Century Gothic"/>
              <a:sym typeface="Century Gothic"/>
            </a:endParaRPr>
          </a:p>
        </p:txBody>
      </p:sp>
      <p:sp>
        <p:nvSpPr>
          <p:cNvPr id="3969" name="Google Shape;3969;p214">
            <a:hlinkClick action="ppaction://hlinksldjump" r:id="rId13"/>
          </p:cNvPr>
          <p:cNvSpPr/>
          <p:nvPr/>
        </p:nvSpPr>
        <p:spPr>
          <a:xfrm>
            <a:off x="6475528"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Financial Consolidation</a:t>
            </a:r>
            <a:endParaRPr sz="1100">
              <a:solidFill>
                <a:schemeClr val="dk1"/>
              </a:solidFill>
              <a:latin typeface="Century Gothic"/>
              <a:ea typeface="Century Gothic"/>
              <a:cs typeface="Century Gothic"/>
              <a:sym typeface="Century Gothic"/>
            </a:endParaRPr>
          </a:p>
        </p:txBody>
      </p:sp>
      <p:sp>
        <p:nvSpPr>
          <p:cNvPr id="3970" name="Google Shape;3970;p214">
            <a:hlinkClick action="ppaction://hlinksldjump" r:id="rId14"/>
          </p:cNvPr>
          <p:cNvSpPr/>
          <p:nvPr/>
        </p:nvSpPr>
        <p:spPr>
          <a:xfrm>
            <a:off x="2099732" y="364470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Functional Profit &amp; Loss Statement</a:t>
            </a:r>
            <a:endParaRPr/>
          </a:p>
        </p:txBody>
      </p:sp>
      <p:sp>
        <p:nvSpPr>
          <p:cNvPr id="3971" name="Google Shape;3971;p214"/>
          <p:cNvSpPr txBox="1"/>
          <p:nvPr>
            <p:ph idx="2" type="body"/>
          </p:nvPr>
        </p:nvSpPr>
        <p:spPr>
          <a:xfrm>
            <a:off x="438098" y="585291"/>
            <a:ext cx="7753402"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Automated and efficient Accounting Operations, providing the detailed information required by a modern Finance function</a:t>
            </a:r>
            <a:endParaRPr sz="1600"/>
          </a:p>
        </p:txBody>
      </p:sp>
      <p:sp>
        <p:nvSpPr>
          <p:cNvPr id="3972" name="Google Shape;3972;p214"/>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Finance &amp; Performance Management</a:t>
            </a:r>
            <a:endParaRPr sz="2400"/>
          </a:p>
        </p:txBody>
      </p:sp>
      <p:grpSp>
        <p:nvGrpSpPr>
          <p:cNvPr id="3973" name="Google Shape;3973;p214"/>
          <p:cNvGrpSpPr/>
          <p:nvPr/>
        </p:nvGrpSpPr>
        <p:grpSpPr>
          <a:xfrm>
            <a:off x="7717533" y="4360377"/>
            <a:ext cx="1058348" cy="347375"/>
            <a:chOff x="7651698" y="4287227"/>
            <a:chExt cx="1058348" cy="347375"/>
          </a:xfrm>
        </p:grpSpPr>
        <p:grpSp>
          <p:nvGrpSpPr>
            <p:cNvPr id="3974" name="Google Shape;3974;p214"/>
            <p:cNvGrpSpPr/>
            <p:nvPr/>
          </p:nvGrpSpPr>
          <p:grpSpPr>
            <a:xfrm>
              <a:off x="7714163" y="4337598"/>
              <a:ext cx="995883" cy="297004"/>
              <a:chOff x="7711013" y="3986494"/>
              <a:chExt cx="995883" cy="297004"/>
            </a:xfrm>
          </p:grpSpPr>
          <p:sp>
            <p:nvSpPr>
              <p:cNvPr id="3975" name="Google Shape;3975;p214"/>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3976" name="Google Shape;3976;p214"/>
              <p:cNvGrpSpPr/>
              <p:nvPr/>
            </p:nvGrpSpPr>
            <p:grpSpPr>
              <a:xfrm>
                <a:off x="7711013" y="4002615"/>
                <a:ext cx="281520" cy="241973"/>
                <a:chOff x="5652748" y="4066000"/>
                <a:chExt cx="906498" cy="747974"/>
              </a:xfrm>
            </p:grpSpPr>
            <p:sp>
              <p:nvSpPr>
                <p:cNvPr id="3977" name="Google Shape;3977;p214"/>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3978" name="Google Shape;3978;p214"/>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979" name="Google Shape;3979;p214"/>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3980" name="Google Shape;3980;p214">
              <a:hlinkClick action="ppaction://hlinksldjump" r:id="rId1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3981" name="Google Shape;3981;p214">
            <a:hlinkClick action="ppaction://hlinksldjump" r:id="rId16"/>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6" name="Shape 3986"/>
        <p:cNvGrpSpPr/>
        <p:nvPr/>
      </p:nvGrpSpPr>
      <p:grpSpPr>
        <a:xfrm>
          <a:off x="0" y="0"/>
          <a:ext cx="0" cy="0"/>
          <a:chOff x="0" y="0"/>
          <a:chExt cx="0" cy="0"/>
        </a:xfrm>
      </p:grpSpPr>
      <p:sp>
        <p:nvSpPr>
          <p:cNvPr id="3987" name="Google Shape;3987;p215"/>
          <p:cNvSpPr/>
          <p:nvPr/>
        </p:nvSpPr>
        <p:spPr>
          <a:xfrm>
            <a:off x="459950" y="1187449"/>
            <a:ext cx="8223249" cy="3122083"/>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988" name="Google Shape;3988;p215">
            <a:hlinkClick action="ppaction://hlinksldjump" r:id="rId3"/>
          </p:cNvPr>
          <p:cNvSpPr/>
          <p:nvPr/>
        </p:nvSpPr>
        <p:spPr>
          <a:xfrm>
            <a:off x="565902" y="1303866"/>
            <a:ext cx="1395519" cy="2861734"/>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Enterprise Performance Management</a:t>
            </a:r>
            <a:endParaRPr sz="1100">
              <a:solidFill>
                <a:srgbClr val="FFFFFF"/>
              </a:solidFill>
              <a:latin typeface="Century Gothic"/>
              <a:ea typeface="Century Gothic"/>
              <a:cs typeface="Century Gothic"/>
              <a:sym typeface="Century Gothic"/>
            </a:endParaRPr>
          </a:p>
        </p:txBody>
      </p:sp>
      <p:sp>
        <p:nvSpPr>
          <p:cNvPr id="3989" name="Google Shape;3989;p215"/>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Analytical Capabilities</a:t>
            </a:r>
            <a:endParaRPr sz="1400">
              <a:solidFill>
                <a:srgbClr val="3C3C3B"/>
              </a:solidFill>
              <a:latin typeface="Century Gothic"/>
              <a:ea typeface="Century Gothic"/>
              <a:cs typeface="Century Gothic"/>
              <a:sym typeface="Century Gothic"/>
            </a:endParaRPr>
          </a:p>
        </p:txBody>
      </p:sp>
      <p:sp>
        <p:nvSpPr>
          <p:cNvPr id="3990" name="Google Shape;3990;p215">
            <a:hlinkClick action="ppaction://hlinksldjump" r:id="rId4"/>
          </p:cNvPr>
          <p:cNvSpPr/>
          <p:nvPr/>
        </p:nvSpPr>
        <p:spPr>
          <a:xfrm>
            <a:off x="567549" y="3946768"/>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sp>
        <p:nvSpPr>
          <p:cNvPr id="3991" name="Google Shape;3991;p215">
            <a:hlinkClick action="ppaction://hlinksldjump" r:id="rId5"/>
          </p:cNvPr>
          <p:cNvSpPr/>
          <p:nvPr/>
        </p:nvSpPr>
        <p:spPr>
          <a:xfrm>
            <a:off x="2099732"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Revenue Analytics</a:t>
            </a:r>
            <a:endParaRPr sz="1100">
              <a:solidFill>
                <a:schemeClr val="dk1"/>
              </a:solidFill>
              <a:latin typeface="Century Gothic"/>
              <a:ea typeface="Century Gothic"/>
              <a:cs typeface="Century Gothic"/>
              <a:sym typeface="Century Gothic"/>
            </a:endParaRPr>
          </a:p>
        </p:txBody>
      </p:sp>
      <p:sp>
        <p:nvSpPr>
          <p:cNvPr id="3992" name="Google Shape;3992;p215">
            <a:hlinkClick action="ppaction://hlinksldjump" r:id="rId6"/>
          </p:cNvPr>
          <p:cNvSpPr/>
          <p:nvPr/>
        </p:nvSpPr>
        <p:spPr>
          <a:xfrm>
            <a:off x="4290976"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GL, AP, HR, Expense</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Analytics &amp; Optimisation</a:t>
            </a:r>
            <a:endParaRPr sz="1100">
              <a:solidFill>
                <a:schemeClr val="dk1"/>
              </a:solidFill>
              <a:latin typeface="Century Gothic"/>
              <a:ea typeface="Century Gothic"/>
              <a:cs typeface="Century Gothic"/>
              <a:sym typeface="Century Gothic"/>
            </a:endParaRPr>
          </a:p>
        </p:txBody>
      </p:sp>
      <p:sp>
        <p:nvSpPr>
          <p:cNvPr id="3993" name="Google Shape;3993;p215">
            <a:hlinkClick action="ppaction://hlinksldjump" r:id="rId7"/>
          </p:cNvPr>
          <p:cNvSpPr/>
          <p:nvPr/>
        </p:nvSpPr>
        <p:spPr>
          <a:xfrm>
            <a:off x="6475528"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Activity Based Costing</a:t>
            </a:r>
            <a:endParaRPr sz="1100">
              <a:solidFill>
                <a:schemeClr val="dk1"/>
              </a:solidFill>
              <a:latin typeface="Century Gothic"/>
              <a:ea typeface="Century Gothic"/>
              <a:cs typeface="Century Gothic"/>
              <a:sym typeface="Century Gothic"/>
            </a:endParaRPr>
          </a:p>
        </p:txBody>
      </p:sp>
      <p:sp>
        <p:nvSpPr>
          <p:cNvPr id="3994" name="Google Shape;3994;p215">
            <a:hlinkClick action="ppaction://hlinksldjump" r:id="rId8"/>
          </p:cNvPr>
          <p:cNvSpPr/>
          <p:nvPr/>
        </p:nvSpPr>
        <p:spPr>
          <a:xfrm>
            <a:off x="2099732"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Profitability Modelling</a:t>
            </a:r>
            <a:endParaRPr sz="1100">
              <a:solidFill>
                <a:schemeClr val="dk1"/>
              </a:solidFill>
              <a:latin typeface="Century Gothic"/>
              <a:ea typeface="Century Gothic"/>
              <a:cs typeface="Century Gothic"/>
              <a:sym typeface="Century Gothic"/>
            </a:endParaRPr>
          </a:p>
        </p:txBody>
      </p:sp>
      <p:sp>
        <p:nvSpPr>
          <p:cNvPr id="3995" name="Google Shape;3995;p215">
            <a:hlinkClick action="ppaction://hlinksldjump" r:id="rId9"/>
          </p:cNvPr>
          <p:cNvSpPr/>
          <p:nvPr/>
        </p:nvSpPr>
        <p:spPr>
          <a:xfrm>
            <a:off x="4290976"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Future / Lifetime Value</a:t>
            </a:r>
            <a:endParaRPr sz="1100">
              <a:solidFill>
                <a:schemeClr val="dk1"/>
              </a:solidFill>
              <a:latin typeface="Century Gothic"/>
              <a:ea typeface="Century Gothic"/>
              <a:cs typeface="Century Gothic"/>
              <a:sym typeface="Century Gothic"/>
            </a:endParaRPr>
          </a:p>
        </p:txBody>
      </p:sp>
      <p:sp>
        <p:nvSpPr>
          <p:cNvPr id="3996" name="Google Shape;3996;p215">
            <a:hlinkClick action="ppaction://hlinksldjump" r:id="rId10"/>
          </p:cNvPr>
          <p:cNvSpPr/>
          <p:nvPr/>
        </p:nvSpPr>
        <p:spPr>
          <a:xfrm>
            <a:off x="6475528"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Profitability Analytics and Optimisation</a:t>
            </a:r>
            <a:endParaRPr sz="1100">
              <a:solidFill>
                <a:schemeClr val="dk1"/>
              </a:solidFill>
              <a:latin typeface="Century Gothic"/>
              <a:ea typeface="Century Gothic"/>
              <a:cs typeface="Century Gothic"/>
              <a:sym typeface="Century Gothic"/>
            </a:endParaRPr>
          </a:p>
        </p:txBody>
      </p:sp>
      <p:sp>
        <p:nvSpPr>
          <p:cNvPr id="3997" name="Google Shape;3997;p215">
            <a:hlinkClick action="ppaction://hlinksldjump" r:id="rId11"/>
          </p:cNvPr>
          <p:cNvSpPr/>
          <p:nvPr/>
        </p:nvSpPr>
        <p:spPr>
          <a:xfrm>
            <a:off x="2099732"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Pricing Analysis &amp; Optimisation</a:t>
            </a:r>
            <a:endParaRPr sz="1100">
              <a:solidFill>
                <a:schemeClr val="dk1"/>
              </a:solidFill>
              <a:latin typeface="Century Gothic"/>
              <a:ea typeface="Century Gothic"/>
              <a:cs typeface="Century Gothic"/>
              <a:sym typeface="Century Gothic"/>
            </a:endParaRPr>
          </a:p>
        </p:txBody>
      </p:sp>
      <p:sp>
        <p:nvSpPr>
          <p:cNvPr id="3998" name="Google Shape;3998;p215">
            <a:hlinkClick action="ppaction://hlinksldjump" r:id="rId12"/>
          </p:cNvPr>
          <p:cNvSpPr/>
          <p:nvPr/>
        </p:nvSpPr>
        <p:spPr>
          <a:xfrm>
            <a:off x="4290976"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Performance Management and KPIs</a:t>
            </a:r>
            <a:endParaRPr sz="1100">
              <a:solidFill>
                <a:schemeClr val="dk1"/>
              </a:solidFill>
              <a:latin typeface="Century Gothic"/>
              <a:ea typeface="Century Gothic"/>
              <a:cs typeface="Century Gothic"/>
              <a:sym typeface="Century Gothic"/>
            </a:endParaRPr>
          </a:p>
        </p:txBody>
      </p:sp>
      <p:sp>
        <p:nvSpPr>
          <p:cNvPr id="3999" name="Google Shape;3999;p215">
            <a:hlinkClick action="ppaction://hlinksldjump" r:id="rId13"/>
          </p:cNvPr>
          <p:cNvSpPr/>
          <p:nvPr/>
        </p:nvSpPr>
        <p:spPr>
          <a:xfrm>
            <a:off x="6475528"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Inventory Analytics</a:t>
            </a:r>
            <a:endParaRPr sz="1100">
              <a:solidFill>
                <a:schemeClr val="dk1"/>
              </a:solidFill>
              <a:latin typeface="Century Gothic"/>
              <a:ea typeface="Century Gothic"/>
              <a:cs typeface="Century Gothic"/>
              <a:sym typeface="Century Gothic"/>
            </a:endParaRPr>
          </a:p>
        </p:txBody>
      </p:sp>
      <p:sp>
        <p:nvSpPr>
          <p:cNvPr id="4000" name="Google Shape;4000;p215">
            <a:hlinkClick action="ppaction://hlinksldjump" r:id="rId14"/>
          </p:cNvPr>
          <p:cNvSpPr/>
          <p:nvPr/>
        </p:nvSpPr>
        <p:spPr>
          <a:xfrm>
            <a:off x="2099732" y="364470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Financial Budgeting, Planning &amp; Forecasting</a:t>
            </a:r>
            <a:endParaRPr sz="1100">
              <a:solidFill>
                <a:schemeClr val="dk1"/>
              </a:solidFill>
              <a:latin typeface="Century Gothic"/>
              <a:ea typeface="Century Gothic"/>
              <a:cs typeface="Century Gothic"/>
              <a:sym typeface="Century Gothic"/>
            </a:endParaRPr>
          </a:p>
        </p:txBody>
      </p:sp>
      <p:sp>
        <p:nvSpPr>
          <p:cNvPr id="4001" name="Google Shape;4001;p215">
            <a:hlinkClick action="ppaction://hlinksldjump" r:id="rId15"/>
          </p:cNvPr>
          <p:cNvSpPr/>
          <p:nvPr/>
        </p:nvSpPr>
        <p:spPr>
          <a:xfrm>
            <a:off x="4290976" y="364470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Business Process Analytics &amp; Optimisation</a:t>
            </a:r>
            <a:endParaRPr sz="1100">
              <a:solidFill>
                <a:schemeClr val="dk1"/>
              </a:solidFill>
              <a:latin typeface="Century Gothic"/>
              <a:ea typeface="Century Gothic"/>
              <a:cs typeface="Century Gothic"/>
              <a:sym typeface="Century Gothic"/>
            </a:endParaRPr>
          </a:p>
        </p:txBody>
      </p:sp>
      <p:sp>
        <p:nvSpPr>
          <p:cNvPr id="4002" name="Google Shape;4002;p215"/>
          <p:cNvSpPr txBox="1"/>
          <p:nvPr>
            <p:ph idx="2" type="body"/>
          </p:nvPr>
        </p:nvSpPr>
        <p:spPr>
          <a:xfrm>
            <a:off x="438098" y="585291"/>
            <a:ext cx="7753402"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Sophisticated modelling and analysis to measure, monitor and improve performance</a:t>
            </a:r>
            <a:endParaRPr sz="1600"/>
          </a:p>
        </p:txBody>
      </p:sp>
      <p:sp>
        <p:nvSpPr>
          <p:cNvPr id="4003" name="Google Shape;4003;p215"/>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Finance &amp; Performance Management</a:t>
            </a:r>
            <a:endParaRPr sz="2400"/>
          </a:p>
        </p:txBody>
      </p:sp>
      <p:grpSp>
        <p:nvGrpSpPr>
          <p:cNvPr id="4004" name="Google Shape;4004;p215"/>
          <p:cNvGrpSpPr/>
          <p:nvPr/>
        </p:nvGrpSpPr>
        <p:grpSpPr>
          <a:xfrm>
            <a:off x="7717533" y="4360377"/>
            <a:ext cx="1058348" cy="347375"/>
            <a:chOff x="7651698" y="4287227"/>
            <a:chExt cx="1058348" cy="347375"/>
          </a:xfrm>
        </p:grpSpPr>
        <p:grpSp>
          <p:nvGrpSpPr>
            <p:cNvPr id="4005" name="Google Shape;4005;p215"/>
            <p:cNvGrpSpPr/>
            <p:nvPr/>
          </p:nvGrpSpPr>
          <p:grpSpPr>
            <a:xfrm>
              <a:off x="7714163" y="4337598"/>
              <a:ext cx="995883" cy="297004"/>
              <a:chOff x="7711013" y="3986494"/>
              <a:chExt cx="995883" cy="297004"/>
            </a:xfrm>
          </p:grpSpPr>
          <p:sp>
            <p:nvSpPr>
              <p:cNvPr id="4006" name="Google Shape;4006;p215"/>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007" name="Google Shape;4007;p215"/>
              <p:cNvGrpSpPr/>
              <p:nvPr/>
            </p:nvGrpSpPr>
            <p:grpSpPr>
              <a:xfrm>
                <a:off x="7711013" y="4002615"/>
                <a:ext cx="281520" cy="241973"/>
                <a:chOff x="5652748" y="4066000"/>
                <a:chExt cx="906498" cy="747974"/>
              </a:xfrm>
            </p:grpSpPr>
            <p:sp>
              <p:nvSpPr>
                <p:cNvPr id="4008" name="Google Shape;4008;p215"/>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009" name="Google Shape;4009;p215"/>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10" name="Google Shape;4010;p215"/>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011" name="Google Shape;4011;p215">
              <a:hlinkClick action="ppaction://hlinksldjump" r:id="rId16"/>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4012" name="Google Shape;4012;p215">
            <a:hlinkClick action="ppaction://hlinksldjump" r:id="rId17"/>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7" name="Shape 4017"/>
        <p:cNvGrpSpPr/>
        <p:nvPr/>
      </p:nvGrpSpPr>
      <p:grpSpPr>
        <a:xfrm>
          <a:off x="0" y="0"/>
          <a:ext cx="0" cy="0"/>
          <a:chOff x="0" y="0"/>
          <a:chExt cx="0" cy="0"/>
        </a:xfrm>
      </p:grpSpPr>
      <p:sp>
        <p:nvSpPr>
          <p:cNvPr id="4018" name="Google Shape;4018;p216"/>
          <p:cNvSpPr/>
          <p:nvPr/>
        </p:nvSpPr>
        <p:spPr>
          <a:xfrm>
            <a:off x="459950" y="1187449"/>
            <a:ext cx="8223249" cy="3122083"/>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19" name="Google Shape;4019;p216">
            <a:hlinkClick action="ppaction://hlinksldjump" r:id="rId3"/>
          </p:cNvPr>
          <p:cNvSpPr/>
          <p:nvPr/>
        </p:nvSpPr>
        <p:spPr>
          <a:xfrm>
            <a:off x="565902" y="1303866"/>
            <a:ext cx="1395519" cy="2861734"/>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Treasury</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Insight &amp; Management</a:t>
            </a:r>
            <a:endParaRPr sz="1100">
              <a:solidFill>
                <a:srgbClr val="FFFFFF"/>
              </a:solidFill>
              <a:latin typeface="Century Gothic"/>
              <a:ea typeface="Century Gothic"/>
              <a:cs typeface="Century Gothic"/>
              <a:sym typeface="Century Gothic"/>
            </a:endParaRPr>
          </a:p>
        </p:txBody>
      </p:sp>
      <p:sp>
        <p:nvSpPr>
          <p:cNvPr id="4020" name="Google Shape;4020;p216"/>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Analytical Capabilities</a:t>
            </a:r>
            <a:endParaRPr sz="1400">
              <a:solidFill>
                <a:srgbClr val="3C3C3B"/>
              </a:solidFill>
              <a:latin typeface="Century Gothic"/>
              <a:ea typeface="Century Gothic"/>
              <a:cs typeface="Century Gothic"/>
              <a:sym typeface="Century Gothic"/>
            </a:endParaRPr>
          </a:p>
        </p:txBody>
      </p:sp>
      <p:sp>
        <p:nvSpPr>
          <p:cNvPr id="4021" name="Google Shape;4021;p216">
            <a:hlinkClick action="ppaction://hlinksldjump" r:id="rId4"/>
          </p:cNvPr>
          <p:cNvSpPr/>
          <p:nvPr/>
        </p:nvSpPr>
        <p:spPr>
          <a:xfrm>
            <a:off x="567549" y="3946768"/>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sp>
        <p:nvSpPr>
          <p:cNvPr id="4022" name="Google Shape;4022;p216">
            <a:hlinkClick action="ppaction://hlinksldjump" r:id="rId5"/>
          </p:cNvPr>
          <p:cNvSpPr/>
          <p:nvPr/>
        </p:nvSpPr>
        <p:spPr>
          <a:xfrm>
            <a:off x="2099732"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Cashflow </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Generation</a:t>
            </a:r>
            <a:endParaRPr sz="1100">
              <a:solidFill>
                <a:schemeClr val="dk1"/>
              </a:solidFill>
              <a:latin typeface="Century Gothic"/>
              <a:ea typeface="Century Gothic"/>
              <a:cs typeface="Century Gothic"/>
              <a:sym typeface="Century Gothic"/>
            </a:endParaRPr>
          </a:p>
        </p:txBody>
      </p:sp>
      <p:sp>
        <p:nvSpPr>
          <p:cNvPr id="4023" name="Google Shape;4023;p216">
            <a:hlinkClick action="ppaction://hlinksldjump" r:id="rId6"/>
          </p:cNvPr>
          <p:cNvSpPr/>
          <p:nvPr/>
        </p:nvSpPr>
        <p:spPr>
          <a:xfrm>
            <a:off x="4290976"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Liquidity </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Management</a:t>
            </a:r>
            <a:endParaRPr sz="1100">
              <a:solidFill>
                <a:schemeClr val="dk1"/>
              </a:solidFill>
              <a:latin typeface="Century Gothic"/>
              <a:ea typeface="Century Gothic"/>
              <a:cs typeface="Century Gothic"/>
              <a:sym typeface="Century Gothic"/>
            </a:endParaRPr>
          </a:p>
        </p:txBody>
      </p:sp>
      <p:sp>
        <p:nvSpPr>
          <p:cNvPr id="4024" name="Google Shape;4024;p216">
            <a:hlinkClick action="ppaction://hlinksldjump" r:id="rId7"/>
          </p:cNvPr>
          <p:cNvSpPr/>
          <p:nvPr/>
        </p:nvSpPr>
        <p:spPr>
          <a:xfrm>
            <a:off x="6475528"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Capital Planning and Management</a:t>
            </a:r>
            <a:endParaRPr sz="1100">
              <a:solidFill>
                <a:schemeClr val="dk1"/>
              </a:solidFill>
              <a:latin typeface="Century Gothic"/>
              <a:ea typeface="Century Gothic"/>
              <a:cs typeface="Century Gothic"/>
              <a:sym typeface="Century Gothic"/>
            </a:endParaRPr>
          </a:p>
        </p:txBody>
      </p:sp>
      <p:sp>
        <p:nvSpPr>
          <p:cNvPr id="4025" name="Google Shape;4025;p216">
            <a:hlinkClick action="ppaction://hlinksldjump" r:id="rId8"/>
          </p:cNvPr>
          <p:cNvSpPr/>
          <p:nvPr/>
        </p:nvSpPr>
        <p:spPr>
          <a:xfrm>
            <a:off x="2099732"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Asset &amp; Liability Management</a:t>
            </a:r>
            <a:endParaRPr sz="1100">
              <a:solidFill>
                <a:schemeClr val="dk1"/>
              </a:solidFill>
              <a:latin typeface="Century Gothic"/>
              <a:ea typeface="Century Gothic"/>
              <a:cs typeface="Century Gothic"/>
              <a:sym typeface="Century Gothic"/>
            </a:endParaRPr>
          </a:p>
        </p:txBody>
      </p:sp>
      <p:sp>
        <p:nvSpPr>
          <p:cNvPr id="4026" name="Google Shape;4026;p216">
            <a:hlinkClick action="ppaction://hlinksldjump" r:id="rId9"/>
          </p:cNvPr>
          <p:cNvSpPr/>
          <p:nvPr/>
        </p:nvSpPr>
        <p:spPr>
          <a:xfrm>
            <a:off x="4290976"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Funds Transfer </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Pricing</a:t>
            </a:r>
            <a:endParaRPr sz="1100">
              <a:solidFill>
                <a:schemeClr val="dk1"/>
              </a:solidFill>
              <a:latin typeface="Century Gothic"/>
              <a:ea typeface="Century Gothic"/>
              <a:cs typeface="Century Gothic"/>
              <a:sym typeface="Century Gothic"/>
            </a:endParaRPr>
          </a:p>
        </p:txBody>
      </p:sp>
      <p:sp>
        <p:nvSpPr>
          <p:cNvPr id="4027" name="Google Shape;4027;p216">
            <a:hlinkClick action="ppaction://hlinksldjump" r:id="rId10"/>
          </p:cNvPr>
          <p:cNvSpPr/>
          <p:nvPr/>
        </p:nvSpPr>
        <p:spPr>
          <a:xfrm>
            <a:off x="6475528"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FX &amp; Trading Book Management</a:t>
            </a:r>
            <a:endParaRPr sz="1100">
              <a:solidFill>
                <a:schemeClr val="dk1"/>
              </a:solidFill>
              <a:latin typeface="Century Gothic"/>
              <a:ea typeface="Century Gothic"/>
              <a:cs typeface="Century Gothic"/>
              <a:sym typeface="Century Gothic"/>
            </a:endParaRPr>
          </a:p>
        </p:txBody>
      </p:sp>
      <p:sp>
        <p:nvSpPr>
          <p:cNvPr id="4028" name="Google Shape;4028;p216">
            <a:hlinkClick action="ppaction://hlinksldjump" r:id="rId11"/>
          </p:cNvPr>
          <p:cNvSpPr/>
          <p:nvPr/>
        </p:nvSpPr>
        <p:spPr>
          <a:xfrm>
            <a:off x="2099732"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Interest Rate </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Management </a:t>
            </a:r>
            <a:endParaRPr sz="1100">
              <a:solidFill>
                <a:schemeClr val="dk1"/>
              </a:solidFill>
              <a:latin typeface="Century Gothic"/>
              <a:ea typeface="Century Gothic"/>
              <a:cs typeface="Century Gothic"/>
              <a:sym typeface="Century Gothic"/>
            </a:endParaRPr>
          </a:p>
        </p:txBody>
      </p:sp>
      <p:sp>
        <p:nvSpPr>
          <p:cNvPr id="4029" name="Google Shape;4029;p216"/>
          <p:cNvSpPr txBox="1"/>
          <p:nvPr>
            <p:ph idx="2" type="body"/>
          </p:nvPr>
        </p:nvSpPr>
        <p:spPr>
          <a:xfrm>
            <a:off x="438098" y="585291"/>
            <a:ext cx="7753402"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Efficient Treasury processes supported by integrated data &amp; analytical capabilities</a:t>
            </a:r>
            <a:endParaRPr sz="1600"/>
          </a:p>
        </p:txBody>
      </p:sp>
      <p:sp>
        <p:nvSpPr>
          <p:cNvPr id="4030" name="Google Shape;4030;p216"/>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Finance &amp; Performance Management</a:t>
            </a:r>
            <a:endParaRPr sz="2400"/>
          </a:p>
        </p:txBody>
      </p:sp>
      <p:grpSp>
        <p:nvGrpSpPr>
          <p:cNvPr id="4031" name="Google Shape;4031;p216"/>
          <p:cNvGrpSpPr/>
          <p:nvPr/>
        </p:nvGrpSpPr>
        <p:grpSpPr>
          <a:xfrm>
            <a:off x="7717533" y="4360377"/>
            <a:ext cx="1058348" cy="347375"/>
            <a:chOff x="7651698" y="4287227"/>
            <a:chExt cx="1058348" cy="347375"/>
          </a:xfrm>
        </p:grpSpPr>
        <p:grpSp>
          <p:nvGrpSpPr>
            <p:cNvPr id="4032" name="Google Shape;4032;p216"/>
            <p:cNvGrpSpPr/>
            <p:nvPr/>
          </p:nvGrpSpPr>
          <p:grpSpPr>
            <a:xfrm>
              <a:off x="7714163" y="4337598"/>
              <a:ext cx="995883" cy="297004"/>
              <a:chOff x="7711013" y="3986494"/>
              <a:chExt cx="995883" cy="297004"/>
            </a:xfrm>
          </p:grpSpPr>
          <p:sp>
            <p:nvSpPr>
              <p:cNvPr id="4033" name="Google Shape;4033;p216"/>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034" name="Google Shape;4034;p216"/>
              <p:cNvGrpSpPr/>
              <p:nvPr/>
            </p:nvGrpSpPr>
            <p:grpSpPr>
              <a:xfrm>
                <a:off x="7711013" y="4002615"/>
                <a:ext cx="281520" cy="241973"/>
                <a:chOff x="5652748" y="4066000"/>
                <a:chExt cx="906498" cy="747974"/>
              </a:xfrm>
            </p:grpSpPr>
            <p:sp>
              <p:nvSpPr>
                <p:cNvPr id="4035" name="Google Shape;4035;p216"/>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036" name="Google Shape;4036;p216"/>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37" name="Google Shape;4037;p216"/>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038" name="Google Shape;4038;p216">
              <a:hlinkClick action="ppaction://hlinksldjump" r:id="rId12"/>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4039" name="Google Shape;4039;p216">
            <a:hlinkClick action="ppaction://hlinksldjump" r:id="rId13"/>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4" name="Shape 4044"/>
        <p:cNvGrpSpPr/>
        <p:nvPr/>
      </p:nvGrpSpPr>
      <p:grpSpPr>
        <a:xfrm>
          <a:off x="0" y="0"/>
          <a:ext cx="0" cy="0"/>
          <a:chOff x="0" y="0"/>
          <a:chExt cx="0" cy="0"/>
        </a:xfrm>
      </p:grpSpPr>
      <p:sp>
        <p:nvSpPr>
          <p:cNvPr id="4045" name="Google Shape;4045;p217"/>
          <p:cNvSpPr/>
          <p:nvPr/>
        </p:nvSpPr>
        <p:spPr>
          <a:xfrm>
            <a:off x="459950" y="1187449"/>
            <a:ext cx="8223249" cy="3122083"/>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46" name="Google Shape;4046;p217">
            <a:hlinkClick action="ppaction://hlinksldjump" r:id="rId3"/>
          </p:cNvPr>
          <p:cNvSpPr/>
          <p:nvPr/>
        </p:nvSpPr>
        <p:spPr>
          <a:xfrm>
            <a:off x="565902" y="1303866"/>
            <a:ext cx="1395519" cy="2861734"/>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Financial Reporting</a:t>
            </a:r>
            <a:endParaRPr sz="1100">
              <a:solidFill>
                <a:srgbClr val="FFFFFF"/>
              </a:solidFill>
              <a:latin typeface="Century Gothic"/>
              <a:ea typeface="Century Gothic"/>
              <a:cs typeface="Century Gothic"/>
              <a:sym typeface="Century Gothic"/>
            </a:endParaRPr>
          </a:p>
        </p:txBody>
      </p:sp>
      <p:sp>
        <p:nvSpPr>
          <p:cNvPr id="4047" name="Google Shape;4047;p217"/>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Analytical Capabilities</a:t>
            </a:r>
            <a:endParaRPr sz="1400">
              <a:solidFill>
                <a:srgbClr val="3C3C3B"/>
              </a:solidFill>
              <a:latin typeface="Century Gothic"/>
              <a:ea typeface="Century Gothic"/>
              <a:cs typeface="Century Gothic"/>
              <a:sym typeface="Century Gothic"/>
            </a:endParaRPr>
          </a:p>
        </p:txBody>
      </p:sp>
      <p:sp>
        <p:nvSpPr>
          <p:cNvPr id="4048" name="Google Shape;4048;p217">
            <a:hlinkClick action="ppaction://hlinksldjump" r:id="rId4"/>
          </p:cNvPr>
          <p:cNvSpPr/>
          <p:nvPr/>
        </p:nvSpPr>
        <p:spPr>
          <a:xfrm>
            <a:off x="567549" y="3946768"/>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sp>
        <p:nvSpPr>
          <p:cNvPr id="4049" name="Google Shape;4049;p217">
            <a:hlinkClick action="ppaction://hlinksldjump" r:id="rId5"/>
          </p:cNvPr>
          <p:cNvSpPr/>
          <p:nvPr/>
        </p:nvSpPr>
        <p:spPr>
          <a:xfrm>
            <a:off x="2099732"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Statutory Financial</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Reporting</a:t>
            </a:r>
            <a:endParaRPr sz="1100">
              <a:solidFill>
                <a:schemeClr val="dk1"/>
              </a:solidFill>
              <a:latin typeface="Century Gothic"/>
              <a:ea typeface="Century Gothic"/>
              <a:cs typeface="Century Gothic"/>
              <a:sym typeface="Century Gothic"/>
            </a:endParaRPr>
          </a:p>
        </p:txBody>
      </p:sp>
      <p:sp>
        <p:nvSpPr>
          <p:cNvPr id="4050" name="Google Shape;4050;p217">
            <a:hlinkClick action="ppaction://hlinksldjump" r:id="rId6"/>
          </p:cNvPr>
          <p:cNvSpPr/>
          <p:nvPr/>
        </p:nvSpPr>
        <p:spPr>
          <a:xfrm>
            <a:off x="4290976"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Regulatory &amp; Compliance Reporting</a:t>
            </a:r>
            <a:endParaRPr sz="1100">
              <a:solidFill>
                <a:schemeClr val="dk1"/>
              </a:solidFill>
              <a:latin typeface="Century Gothic"/>
              <a:ea typeface="Century Gothic"/>
              <a:cs typeface="Century Gothic"/>
              <a:sym typeface="Century Gothic"/>
            </a:endParaRPr>
          </a:p>
        </p:txBody>
      </p:sp>
      <p:sp>
        <p:nvSpPr>
          <p:cNvPr id="4051" name="Google Shape;4051;p217">
            <a:hlinkClick action="ppaction://hlinksldjump" r:id="rId7"/>
          </p:cNvPr>
          <p:cNvSpPr/>
          <p:nvPr/>
        </p:nvSpPr>
        <p:spPr>
          <a:xfrm>
            <a:off x="6475528"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Sales Reporting</a:t>
            </a:r>
            <a:endParaRPr sz="1100">
              <a:solidFill>
                <a:schemeClr val="dk1"/>
              </a:solidFill>
              <a:latin typeface="Century Gothic"/>
              <a:ea typeface="Century Gothic"/>
              <a:cs typeface="Century Gothic"/>
              <a:sym typeface="Century Gothic"/>
            </a:endParaRPr>
          </a:p>
        </p:txBody>
      </p:sp>
      <p:sp>
        <p:nvSpPr>
          <p:cNvPr id="4052" name="Google Shape;4052;p217">
            <a:hlinkClick action="ppaction://hlinksldjump" r:id="rId8"/>
          </p:cNvPr>
          <p:cNvSpPr/>
          <p:nvPr/>
        </p:nvSpPr>
        <p:spPr>
          <a:xfrm>
            <a:off x="2099732"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Performance Reporting</a:t>
            </a:r>
            <a:endParaRPr sz="1100">
              <a:solidFill>
                <a:schemeClr val="dk1"/>
              </a:solidFill>
              <a:latin typeface="Century Gothic"/>
              <a:ea typeface="Century Gothic"/>
              <a:cs typeface="Century Gothic"/>
              <a:sym typeface="Century Gothic"/>
            </a:endParaRPr>
          </a:p>
        </p:txBody>
      </p:sp>
      <p:sp>
        <p:nvSpPr>
          <p:cNvPr id="4053" name="Google Shape;4053;p217">
            <a:hlinkClick action="ppaction://hlinksldjump" r:id="rId9"/>
          </p:cNvPr>
          <p:cNvSpPr/>
          <p:nvPr/>
        </p:nvSpPr>
        <p:spPr>
          <a:xfrm>
            <a:off x="4290976"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Exception Reporting</a:t>
            </a:r>
            <a:endParaRPr sz="1100">
              <a:solidFill>
                <a:schemeClr val="dk1"/>
              </a:solidFill>
              <a:latin typeface="Century Gothic"/>
              <a:ea typeface="Century Gothic"/>
              <a:cs typeface="Century Gothic"/>
              <a:sym typeface="Century Gothic"/>
            </a:endParaRPr>
          </a:p>
        </p:txBody>
      </p:sp>
      <p:sp>
        <p:nvSpPr>
          <p:cNvPr id="4054" name="Google Shape;4054;p217">
            <a:hlinkClick action="ppaction://hlinksldjump" r:id="rId10"/>
          </p:cNvPr>
          <p:cNvSpPr/>
          <p:nvPr/>
        </p:nvSpPr>
        <p:spPr>
          <a:xfrm>
            <a:off x="6475528"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Executive Dashboards</a:t>
            </a:r>
            <a:endParaRPr sz="1100">
              <a:solidFill>
                <a:schemeClr val="dk1"/>
              </a:solidFill>
              <a:latin typeface="Century Gothic"/>
              <a:ea typeface="Century Gothic"/>
              <a:cs typeface="Century Gothic"/>
              <a:sym typeface="Century Gothic"/>
            </a:endParaRPr>
          </a:p>
        </p:txBody>
      </p:sp>
      <p:sp>
        <p:nvSpPr>
          <p:cNvPr id="4055" name="Google Shape;4055;p217"/>
          <p:cNvSpPr txBox="1"/>
          <p:nvPr>
            <p:ph idx="2" type="body"/>
          </p:nvPr>
        </p:nvSpPr>
        <p:spPr>
          <a:xfrm>
            <a:off x="438098" y="585291"/>
            <a:ext cx="7753402"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Efficient financial and performance reporting processes based on granular and integrated data</a:t>
            </a:r>
            <a:endParaRPr sz="1600"/>
          </a:p>
        </p:txBody>
      </p:sp>
      <p:sp>
        <p:nvSpPr>
          <p:cNvPr id="4056" name="Google Shape;4056;p217"/>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Finance &amp; Performance Management</a:t>
            </a:r>
            <a:endParaRPr sz="2400"/>
          </a:p>
        </p:txBody>
      </p:sp>
      <p:grpSp>
        <p:nvGrpSpPr>
          <p:cNvPr id="4057" name="Google Shape;4057;p217"/>
          <p:cNvGrpSpPr/>
          <p:nvPr/>
        </p:nvGrpSpPr>
        <p:grpSpPr>
          <a:xfrm>
            <a:off x="7717533" y="4360377"/>
            <a:ext cx="1058348" cy="347375"/>
            <a:chOff x="7651698" y="4287227"/>
            <a:chExt cx="1058348" cy="347375"/>
          </a:xfrm>
        </p:grpSpPr>
        <p:grpSp>
          <p:nvGrpSpPr>
            <p:cNvPr id="4058" name="Google Shape;4058;p217"/>
            <p:cNvGrpSpPr/>
            <p:nvPr/>
          </p:nvGrpSpPr>
          <p:grpSpPr>
            <a:xfrm>
              <a:off x="7714163" y="4337598"/>
              <a:ext cx="995883" cy="297004"/>
              <a:chOff x="7711013" y="3986494"/>
              <a:chExt cx="995883" cy="297004"/>
            </a:xfrm>
          </p:grpSpPr>
          <p:sp>
            <p:nvSpPr>
              <p:cNvPr id="4059" name="Google Shape;4059;p217"/>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060" name="Google Shape;4060;p217"/>
              <p:cNvGrpSpPr/>
              <p:nvPr/>
            </p:nvGrpSpPr>
            <p:grpSpPr>
              <a:xfrm>
                <a:off x="7711013" y="4002615"/>
                <a:ext cx="281520" cy="241973"/>
                <a:chOff x="5652748" y="4066000"/>
                <a:chExt cx="906498" cy="747974"/>
              </a:xfrm>
            </p:grpSpPr>
            <p:sp>
              <p:nvSpPr>
                <p:cNvPr id="4061" name="Google Shape;4061;p217"/>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062" name="Google Shape;4062;p217"/>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63" name="Google Shape;4063;p217"/>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064" name="Google Shape;4064;p217">
              <a:hlinkClick action="ppaction://hlinksldjump" r:id="rId11"/>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4065" name="Google Shape;4065;p217">
            <a:hlinkClick action="ppaction://hlinksldjump" r:id="rId12"/>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0" name="Shape 4070"/>
        <p:cNvGrpSpPr/>
        <p:nvPr/>
      </p:nvGrpSpPr>
      <p:grpSpPr>
        <a:xfrm>
          <a:off x="0" y="0"/>
          <a:ext cx="0" cy="0"/>
          <a:chOff x="0" y="0"/>
          <a:chExt cx="0" cy="0"/>
        </a:xfrm>
      </p:grpSpPr>
      <p:sp>
        <p:nvSpPr>
          <p:cNvPr id="4071" name="Google Shape;4071;p218"/>
          <p:cNvSpPr/>
          <p:nvPr/>
        </p:nvSpPr>
        <p:spPr>
          <a:xfrm>
            <a:off x="459950" y="1187449"/>
            <a:ext cx="8223249" cy="3511551"/>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72" name="Google Shape;4072;p218">
            <a:hlinkClick action="ppaction://hlinksldjump" r:id="rId3"/>
          </p:cNvPr>
          <p:cNvSpPr/>
          <p:nvPr/>
        </p:nvSpPr>
        <p:spPr>
          <a:xfrm>
            <a:off x="565902" y="1692116"/>
            <a:ext cx="1395519" cy="2123476"/>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Accounting</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Operations</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and Close</a:t>
            </a:r>
            <a:endParaRPr sz="1100">
              <a:solidFill>
                <a:srgbClr val="FFFFFF"/>
              </a:solidFill>
              <a:latin typeface="Century Gothic"/>
              <a:ea typeface="Century Gothic"/>
              <a:cs typeface="Century Gothic"/>
              <a:sym typeface="Century Gothic"/>
            </a:endParaRPr>
          </a:p>
        </p:txBody>
      </p:sp>
      <p:sp>
        <p:nvSpPr>
          <p:cNvPr id="4073" name="Google Shape;4073;p218">
            <a:hlinkClick action="ppaction://hlinksldjump" r:id="rId4"/>
          </p:cNvPr>
          <p:cNvSpPr/>
          <p:nvPr/>
        </p:nvSpPr>
        <p:spPr>
          <a:xfrm>
            <a:off x="5378284"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Accelerated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Financial Data Acquisition</a:t>
            </a:r>
            <a:endParaRPr sz="700">
              <a:solidFill>
                <a:schemeClr val="dk1"/>
              </a:solidFill>
              <a:latin typeface="Century Gothic"/>
              <a:ea typeface="Century Gothic"/>
              <a:cs typeface="Century Gothic"/>
              <a:sym typeface="Century Gothic"/>
            </a:endParaRPr>
          </a:p>
        </p:txBody>
      </p:sp>
      <p:sp>
        <p:nvSpPr>
          <p:cNvPr id="4074" name="Google Shape;4074;p218"/>
          <p:cNvSpPr/>
          <p:nvPr/>
        </p:nvSpPr>
        <p:spPr>
          <a:xfrm rot="5400000">
            <a:off x="5365283" y="3450790"/>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75" name="Google Shape;4075;p218">
            <a:hlinkClick action="ppaction://hlinksldjump" r:id="rId5"/>
          </p:cNvPr>
          <p:cNvSpPr/>
          <p:nvPr/>
        </p:nvSpPr>
        <p:spPr>
          <a:xfrm>
            <a:off x="3738291"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Close Process Optimisation</a:t>
            </a:r>
            <a:endParaRPr sz="700">
              <a:solidFill>
                <a:schemeClr val="dk1"/>
              </a:solidFill>
              <a:latin typeface="Century Gothic"/>
              <a:ea typeface="Century Gothic"/>
              <a:cs typeface="Century Gothic"/>
              <a:sym typeface="Century Gothic"/>
            </a:endParaRPr>
          </a:p>
        </p:txBody>
      </p:sp>
      <p:sp>
        <p:nvSpPr>
          <p:cNvPr id="4076" name="Google Shape;4076;p218"/>
          <p:cNvSpPr/>
          <p:nvPr/>
        </p:nvSpPr>
        <p:spPr>
          <a:xfrm rot="5400000">
            <a:off x="3722749" y="3450790"/>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77" name="Google Shape;4077;p218">
            <a:hlinkClick action="ppaction://hlinksldjump" r:id="rId6"/>
          </p:cNvPr>
          <p:cNvSpPr/>
          <p:nvPr/>
        </p:nvSpPr>
        <p:spPr>
          <a:xfrm>
            <a:off x="2100620"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Consolidation Optimisation</a:t>
            </a:r>
            <a:endParaRPr sz="700">
              <a:solidFill>
                <a:schemeClr val="dk1"/>
              </a:solidFill>
              <a:latin typeface="Century Gothic"/>
              <a:ea typeface="Century Gothic"/>
              <a:cs typeface="Century Gothic"/>
              <a:sym typeface="Century Gothic"/>
            </a:endParaRPr>
          </a:p>
        </p:txBody>
      </p:sp>
      <p:sp>
        <p:nvSpPr>
          <p:cNvPr id="4078" name="Google Shape;4078;p218"/>
          <p:cNvSpPr/>
          <p:nvPr/>
        </p:nvSpPr>
        <p:spPr>
          <a:xfrm rot="5400000">
            <a:off x="2084235" y="3448052"/>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79" name="Google Shape;4079;p218">
            <a:hlinkClick action="ppaction://hlinksldjump" r:id="rId7"/>
          </p:cNvPr>
          <p:cNvSpPr/>
          <p:nvPr/>
        </p:nvSpPr>
        <p:spPr>
          <a:xfrm>
            <a:off x="7018020"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Reconciliation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Process</a:t>
            </a:r>
            <a:endParaRPr sz="700">
              <a:solidFill>
                <a:schemeClr val="dk1"/>
              </a:solidFill>
              <a:latin typeface="Century Gothic"/>
              <a:ea typeface="Century Gothic"/>
              <a:cs typeface="Century Gothic"/>
              <a:sym typeface="Century Gothic"/>
            </a:endParaRPr>
          </a:p>
        </p:txBody>
      </p:sp>
      <p:sp>
        <p:nvSpPr>
          <p:cNvPr id="4080" name="Google Shape;4080;p218"/>
          <p:cNvSpPr/>
          <p:nvPr/>
        </p:nvSpPr>
        <p:spPr>
          <a:xfrm rot="5400000">
            <a:off x="6999094" y="2705724"/>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81" name="Google Shape;4081;p218">
            <a:hlinkClick action="ppaction://hlinksldjump" r:id="rId8"/>
          </p:cNvPr>
          <p:cNvSpPr/>
          <p:nvPr/>
        </p:nvSpPr>
        <p:spPr>
          <a:xfrm>
            <a:off x="5372101"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Asset Backed Securitisation</a:t>
            </a:r>
            <a:endParaRPr sz="1000">
              <a:solidFill>
                <a:schemeClr val="dk1"/>
              </a:solidFill>
              <a:latin typeface="Century Gothic"/>
              <a:ea typeface="Century Gothic"/>
              <a:cs typeface="Century Gothic"/>
              <a:sym typeface="Century Gothic"/>
            </a:endParaRPr>
          </a:p>
        </p:txBody>
      </p:sp>
      <p:sp>
        <p:nvSpPr>
          <p:cNvPr id="4082" name="Google Shape;4082;p218"/>
          <p:cNvSpPr/>
          <p:nvPr/>
        </p:nvSpPr>
        <p:spPr>
          <a:xfrm rot="5400000">
            <a:off x="5356559" y="2705724"/>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83" name="Google Shape;4083;p218">
            <a:hlinkClick action="ppaction://hlinksldjump" r:id="rId9"/>
          </p:cNvPr>
          <p:cNvSpPr/>
          <p:nvPr/>
        </p:nvSpPr>
        <p:spPr>
          <a:xfrm>
            <a:off x="3738291"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Fixed Asset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Utilisation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Optimisation</a:t>
            </a:r>
            <a:endParaRPr sz="1000">
              <a:solidFill>
                <a:schemeClr val="dk1"/>
              </a:solidFill>
              <a:latin typeface="Century Gothic"/>
              <a:ea typeface="Century Gothic"/>
              <a:cs typeface="Century Gothic"/>
              <a:sym typeface="Century Gothic"/>
            </a:endParaRPr>
          </a:p>
        </p:txBody>
      </p:sp>
      <p:sp>
        <p:nvSpPr>
          <p:cNvPr id="4084" name="Google Shape;4084;p218"/>
          <p:cNvSpPr/>
          <p:nvPr/>
        </p:nvSpPr>
        <p:spPr>
          <a:xfrm rot="5400000">
            <a:off x="3721906" y="2711451"/>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85" name="Google Shape;4085;p218">
            <a:hlinkClick action="ppaction://hlinksldjump" r:id="rId10"/>
          </p:cNvPr>
          <p:cNvSpPr/>
          <p:nvPr/>
        </p:nvSpPr>
        <p:spPr>
          <a:xfrm>
            <a:off x="2098298"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Valuation of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Intangible Assets</a:t>
            </a:r>
            <a:endParaRPr sz="1000">
              <a:solidFill>
                <a:schemeClr val="dk1"/>
              </a:solidFill>
              <a:latin typeface="Century Gothic"/>
              <a:ea typeface="Century Gothic"/>
              <a:cs typeface="Century Gothic"/>
              <a:sym typeface="Century Gothic"/>
            </a:endParaRPr>
          </a:p>
        </p:txBody>
      </p:sp>
      <p:sp>
        <p:nvSpPr>
          <p:cNvPr id="4086" name="Google Shape;4086;p218"/>
          <p:cNvSpPr/>
          <p:nvPr/>
        </p:nvSpPr>
        <p:spPr>
          <a:xfrm rot="5400000">
            <a:off x="2079372" y="2711451"/>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87" name="Google Shape;4087;p218">
            <a:hlinkClick action="ppaction://hlinksldjump" r:id="rId11"/>
          </p:cNvPr>
          <p:cNvSpPr/>
          <p:nvPr/>
        </p:nvSpPr>
        <p:spPr>
          <a:xfrm>
            <a:off x="7012095"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Accounting Hub / Subledger</a:t>
            </a:r>
            <a:endParaRPr sz="1000">
              <a:solidFill>
                <a:schemeClr val="dk1"/>
              </a:solidFill>
              <a:latin typeface="Century Gothic"/>
              <a:ea typeface="Century Gothic"/>
              <a:cs typeface="Century Gothic"/>
              <a:sym typeface="Century Gothic"/>
            </a:endParaRPr>
          </a:p>
        </p:txBody>
      </p:sp>
      <p:sp>
        <p:nvSpPr>
          <p:cNvPr id="4088" name="Google Shape;4088;p218"/>
          <p:cNvSpPr/>
          <p:nvPr/>
        </p:nvSpPr>
        <p:spPr>
          <a:xfrm rot="5400000">
            <a:off x="6999094" y="1960303"/>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89" name="Google Shape;4089;p218">
            <a:hlinkClick action="ppaction://hlinksldjump" r:id="rId12"/>
          </p:cNvPr>
          <p:cNvSpPr/>
          <p:nvPr/>
        </p:nvSpPr>
        <p:spPr>
          <a:xfrm>
            <a:off x="5372102"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Procure to Pay Optimisation</a:t>
            </a:r>
            <a:endParaRPr sz="1000">
              <a:solidFill>
                <a:schemeClr val="dk1"/>
              </a:solidFill>
              <a:latin typeface="Century Gothic"/>
              <a:ea typeface="Century Gothic"/>
              <a:cs typeface="Century Gothic"/>
              <a:sym typeface="Century Gothic"/>
            </a:endParaRPr>
          </a:p>
        </p:txBody>
      </p:sp>
      <p:sp>
        <p:nvSpPr>
          <p:cNvPr id="4090" name="Google Shape;4090;p218"/>
          <p:cNvSpPr/>
          <p:nvPr/>
        </p:nvSpPr>
        <p:spPr>
          <a:xfrm rot="5400000">
            <a:off x="5356560" y="1960303"/>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91" name="Google Shape;4091;p218">
            <a:hlinkClick action="ppaction://hlinksldjump" r:id="rId13"/>
          </p:cNvPr>
          <p:cNvSpPr/>
          <p:nvPr/>
        </p:nvSpPr>
        <p:spPr>
          <a:xfrm>
            <a:off x="3734906"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Payables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Analytics</a:t>
            </a:r>
            <a:endParaRPr sz="1000">
              <a:solidFill>
                <a:schemeClr val="dk1"/>
              </a:solidFill>
              <a:latin typeface="Century Gothic"/>
              <a:ea typeface="Century Gothic"/>
              <a:cs typeface="Century Gothic"/>
              <a:sym typeface="Century Gothic"/>
            </a:endParaRPr>
          </a:p>
        </p:txBody>
      </p:sp>
      <p:sp>
        <p:nvSpPr>
          <p:cNvPr id="4092" name="Google Shape;4092;p218"/>
          <p:cNvSpPr/>
          <p:nvPr/>
        </p:nvSpPr>
        <p:spPr>
          <a:xfrm rot="5400000">
            <a:off x="3715980" y="1957918"/>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93" name="Google Shape;4093;p218">
            <a:hlinkClick action="ppaction://hlinksldjump" r:id="rId14"/>
          </p:cNvPr>
          <p:cNvSpPr/>
          <p:nvPr/>
        </p:nvSpPr>
        <p:spPr>
          <a:xfrm>
            <a:off x="2094914"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Vendor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Analytics</a:t>
            </a:r>
            <a:endParaRPr sz="1000">
              <a:solidFill>
                <a:schemeClr val="dk1"/>
              </a:solidFill>
              <a:latin typeface="Century Gothic"/>
              <a:ea typeface="Century Gothic"/>
              <a:cs typeface="Century Gothic"/>
              <a:sym typeface="Century Gothic"/>
            </a:endParaRPr>
          </a:p>
        </p:txBody>
      </p:sp>
      <p:sp>
        <p:nvSpPr>
          <p:cNvPr id="4094" name="Google Shape;4094;p218"/>
          <p:cNvSpPr/>
          <p:nvPr/>
        </p:nvSpPr>
        <p:spPr>
          <a:xfrm rot="5400000">
            <a:off x="2081913" y="1957918"/>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95" name="Google Shape;4095;p218">
            <a:hlinkClick action="ppaction://hlinksldjump" r:id="rId15"/>
          </p:cNvPr>
          <p:cNvSpPr/>
          <p:nvPr/>
        </p:nvSpPr>
        <p:spPr>
          <a:xfrm rot="5400000">
            <a:off x="5217274" y="4497275"/>
            <a:ext cx="202919" cy="594235"/>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218"/>
          <p:cNvSpPr txBox="1"/>
          <p:nvPr/>
        </p:nvSpPr>
        <p:spPr>
          <a:xfrm>
            <a:off x="5021592" y="4692933"/>
            <a:ext cx="594235" cy="152189"/>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1 of 3</a:t>
            </a:r>
            <a:endParaRPr/>
          </a:p>
        </p:txBody>
      </p:sp>
      <p:sp>
        <p:nvSpPr>
          <p:cNvPr id="4097" name="Google Shape;4097;p218"/>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Analytics Use Cases</a:t>
            </a:r>
            <a:endParaRPr sz="1400">
              <a:solidFill>
                <a:srgbClr val="3C3C3B"/>
              </a:solidFill>
              <a:latin typeface="Century Gothic"/>
              <a:ea typeface="Century Gothic"/>
              <a:cs typeface="Century Gothic"/>
              <a:sym typeface="Century Gothic"/>
            </a:endParaRPr>
          </a:p>
        </p:txBody>
      </p:sp>
      <p:grpSp>
        <p:nvGrpSpPr>
          <p:cNvPr id="4098" name="Google Shape;4098;p218"/>
          <p:cNvGrpSpPr/>
          <p:nvPr/>
        </p:nvGrpSpPr>
        <p:grpSpPr>
          <a:xfrm>
            <a:off x="2100364" y="1348315"/>
            <a:ext cx="281520" cy="241973"/>
            <a:chOff x="5652748" y="4066000"/>
            <a:chExt cx="906498" cy="747974"/>
          </a:xfrm>
        </p:grpSpPr>
        <p:sp>
          <p:nvSpPr>
            <p:cNvPr id="4099" name="Google Shape;4099;p218"/>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100" name="Google Shape;4100;p218"/>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01" name="Google Shape;4101;p218"/>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4102" name="Google Shape;4102;p218"/>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Finance Industry Business Value Framework</a:t>
            </a:r>
            <a:endParaRPr sz="2400"/>
          </a:p>
        </p:txBody>
      </p:sp>
      <p:sp>
        <p:nvSpPr>
          <p:cNvPr id="4103" name="Google Shape;4103;p218"/>
          <p:cNvSpPr txBox="1"/>
          <p:nvPr>
            <p:ph idx="2" type="body"/>
          </p:nvPr>
        </p:nvSpPr>
        <p:spPr>
          <a:xfrm>
            <a:off x="438098" y="585291"/>
            <a:ext cx="8229600"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Data and analytics capabilities delivering best-in-class Finance &amp; Performance Management</a:t>
            </a:r>
            <a:endParaRPr sz="1600"/>
          </a:p>
        </p:txBody>
      </p:sp>
      <p:sp>
        <p:nvSpPr>
          <p:cNvPr id="4104" name="Google Shape;4104;p218"/>
          <p:cNvSpPr/>
          <p:nvPr/>
        </p:nvSpPr>
        <p:spPr>
          <a:xfrm>
            <a:off x="2100364" y="-1058898"/>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4105" name="Google Shape;4105;p218"/>
          <p:cNvSpPr/>
          <p:nvPr/>
        </p:nvSpPr>
        <p:spPr>
          <a:xfrm rot="5400000">
            <a:off x="4437614" y="-1071241"/>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4106" name="Google Shape;4106;p218">
            <a:hlinkClick action="ppaction://hlinksldjump" r:id="rId16"/>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1" name="Shape 4111"/>
        <p:cNvGrpSpPr/>
        <p:nvPr/>
      </p:nvGrpSpPr>
      <p:grpSpPr>
        <a:xfrm>
          <a:off x="0" y="0"/>
          <a:ext cx="0" cy="0"/>
          <a:chOff x="0" y="0"/>
          <a:chExt cx="0" cy="0"/>
        </a:xfrm>
      </p:grpSpPr>
      <p:sp>
        <p:nvSpPr>
          <p:cNvPr id="4112" name="Google Shape;4112;p219"/>
          <p:cNvSpPr/>
          <p:nvPr/>
        </p:nvSpPr>
        <p:spPr>
          <a:xfrm>
            <a:off x="459950" y="1187449"/>
            <a:ext cx="8223249" cy="3511551"/>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13" name="Google Shape;4113;p219">
            <a:hlinkClick action="ppaction://hlinksldjump" r:id="rId3"/>
          </p:cNvPr>
          <p:cNvSpPr/>
          <p:nvPr/>
        </p:nvSpPr>
        <p:spPr>
          <a:xfrm>
            <a:off x="7014892"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Budget &amp;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Forecasting Process Improvement</a:t>
            </a:r>
            <a:endParaRPr/>
          </a:p>
        </p:txBody>
      </p:sp>
      <p:sp>
        <p:nvSpPr>
          <p:cNvPr id="4114" name="Google Shape;4114;p219"/>
          <p:cNvSpPr/>
          <p:nvPr/>
        </p:nvSpPr>
        <p:spPr>
          <a:xfrm rot="5400000">
            <a:off x="6998507" y="2711451"/>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15" name="Google Shape;4115;p219">
            <a:hlinkClick action="ppaction://hlinksldjump" r:id="rId4"/>
          </p:cNvPr>
          <p:cNvSpPr/>
          <p:nvPr/>
        </p:nvSpPr>
        <p:spPr>
          <a:xfrm>
            <a:off x="5374899"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Performance Management &amp; KPI Factory</a:t>
            </a:r>
            <a:endParaRPr/>
          </a:p>
        </p:txBody>
      </p:sp>
      <p:sp>
        <p:nvSpPr>
          <p:cNvPr id="4116" name="Google Shape;4116;p219"/>
          <p:cNvSpPr/>
          <p:nvPr/>
        </p:nvSpPr>
        <p:spPr>
          <a:xfrm rot="5400000">
            <a:off x="5355973" y="2711451"/>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17" name="Google Shape;4117;p219">
            <a:hlinkClick action="ppaction://hlinksldjump" r:id="rId5"/>
          </p:cNvPr>
          <p:cNvSpPr/>
          <p:nvPr/>
        </p:nvSpPr>
        <p:spPr>
          <a:xfrm>
            <a:off x="3734907"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Individual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Loan Price Optimisation</a:t>
            </a:r>
            <a:endParaRPr/>
          </a:p>
        </p:txBody>
      </p:sp>
      <p:sp>
        <p:nvSpPr>
          <p:cNvPr id="4118" name="Google Shape;4118;p219"/>
          <p:cNvSpPr/>
          <p:nvPr/>
        </p:nvSpPr>
        <p:spPr>
          <a:xfrm rot="5400000">
            <a:off x="3721906" y="2711451"/>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19" name="Google Shape;4119;p219">
            <a:hlinkClick action="ppaction://hlinksldjump" r:id="rId6"/>
          </p:cNvPr>
          <p:cNvSpPr/>
          <p:nvPr/>
        </p:nvSpPr>
        <p:spPr>
          <a:xfrm>
            <a:off x="2094914"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Profitability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Analytics</a:t>
            </a:r>
            <a:endParaRPr sz="1000">
              <a:solidFill>
                <a:schemeClr val="dk1"/>
              </a:solidFill>
              <a:latin typeface="Century Gothic"/>
              <a:ea typeface="Century Gothic"/>
              <a:cs typeface="Century Gothic"/>
              <a:sym typeface="Century Gothic"/>
            </a:endParaRPr>
          </a:p>
        </p:txBody>
      </p:sp>
      <p:sp>
        <p:nvSpPr>
          <p:cNvPr id="4120" name="Google Shape;4120;p219"/>
          <p:cNvSpPr/>
          <p:nvPr/>
        </p:nvSpPr>
        <p:spPr>
          <a:xfrm rot="5400000">
            <a:off x="2079372" y="2711451"/>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21" name="Google Shape;4121;p219">
            <a:hlinkClick action="ppaction://hlinksldjump" r:id="rId7"/>
          </p:cNvPr>
          <p:cNvSpPr/>
          <p:nvPr/>
        </p:nvSpPr>
        <p:spPr>
          <a:xfrm>
            <a:off x="7014892"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Risk Adjusted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Return on Capital (RAROC)</a:t>
            </a:r>
            <a:endParaRPr/>
          </a:p>
        </p:txBody>
      </p:sp>
      <p:sp>
        <p:nvSpPr>
          <p:cNvPr id="4122" name="Google Shape;4122;p219"/>
          <p:cNvSpPr/>
          <p:nvPr/>
        </p:nvSpPr>
        <p:spPr>
          <a:xfrm rot="5400000">
            <a:off x="6998507" y="1957918"/>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23" name="Google Shape;4123;p219">
            <a:hlinkClick action="ppaction://hlinksldjump" r:id="rId8"/>
          </p:cNvPr>
          <p:cNvSpPr/>
          <p:nvPr/>
        </p:nvSpPr>
        <p:spPr>
          <a:xfrm>
            <a:off x="5374899"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Activity Based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Costing</a:t>
            </a:r>
            <a:endParaRPr sz="1000">
              <a:solidFill>
                <a:schemeClr val="dk1"/>
              </a:solidFill>
              <a:latin typeface="Century Gothic"/>
              <a:ea typeface="Century Gothic"/>
              <a:cs typeface="Century Gothic"/>
              <a:sym typeface="Century Gothic"/>
            </a:endParaRPr>
          </a:p>
        </p:txBody>
      </p:sp>
      <p:sp>
        <p:nvSpPr>
          <p:cNvPr id="4124" name="Google Shape;4124;p219"/>
          <p:cNvSpPr/>
          <p:nvPr/>
        </p:nvSpPr>
        <p:spPr>
          <a:xfrm rot="5400000">
            <a:off x="5355973" y="1957918"/>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25" name="Google Shape;4125;p219">
            <a:hlinkClick action="ppaction://hlinksldjump" r:id="rId9"/>
          </p:cNvPr>
          <p:cNvSpPr/>
          <p:nvPr/>
        </p:nvSpPr>
        <p:spPr>
          <a:xfrm>
            <a:off x="3734907"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HR Analytics Optimization</a:t>
            </a:r>
            <a:endParaRPr/>
          </a:p>
        </p:txBody>
      </p:sp>
      <p:sp>
        <p:nvSpPr>
          <p:cNvPr id="4126" name="Google Shape;4126;p219"/>
          <p:cNvSpPr/>
          <p:nvPr/>
        </p:nvSpPr>
        <p:spPr>
          <a:xfrm rot="5400000">
            <a:off x="3721906" y="1957918"/>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27" name="Google Shape;4127;p219">
            <a:hlinkClick action="ppaction://hlinksldjump" r:id="rId10"/>
          </p:cNvPr>
          <p:cNvSpPr/>
          <p:nvPr/>
        </p:nvSpPr>
        <p:spPr>
          <a:xfrm>
            <a:off x="2094914"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Revenue Analytics Optimisation</a:t>
            </a:r>
            <a:endParaRPr/>
          </a:p>
        </p:txBody>
      </p:sp>
      <p:sp>
        <p:nvSpPr>
          <p:cNvPr id="4128" name="Google Shape;4128;p219"/>
          <p:cNvSpPr/>
          <p:nvPr/>
        </p:nvSpPr>
        <p:spPr>
          <a:xfrm rot="5400000">
            <a:off x="2079372" y="1957918"/>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29" name="Google Shape;4129;p219"/>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Analytics Use Cases</a:t>
            </a:r>
            <a:endParaRPr sz="1400">
              <a:solidFill>
                <a:srgbClr val="3C3C3B"/>
              </a:solidFill>
              <a:latin typeface="Century Gothic"/>
              <a:ea typeface="Century Gothic"/>
              <a:cs typeface="Century Gothic"/>
              <a:sym typeface="Century Gothic"/>
            </a:endParaRPr>
          </a:p>
        </p:txBody>
      </p:sp>
      <p:grpSp>
        <p:nvGrpSpPr>
          <p:cNvPr id="4130" name="Google Shape;4130;p219"/>
          <p:cNvGrpSpPr/>
          <p:nvPr/>
        </p:nvGrpSpPr>
        <p:grpSpPr>
          <a:xfrm>
            <a:off x="2100364" y="1348315"/>
            <a:ext cx="281520" cy="241973"/>
            <a:chOff x="5652748" y="4066000"/>
            <a:chExt cx="906498" cy="747974"/>
          </a:xfrm>
        </p:grpSpPr>
        <p:sp>
          <p:nvSpPr>
            <p:cNvPr id="4131" name="Google Shape;4131;p219"/>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132" name="Google Shape;4132;p219"/>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33" name="Google Shape;4133;p219"/>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4134" name="Google Shape;4134;p219"/>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Finance Industry Business Value Framework</a:t>
            </a:r>
            <a:endParaRPr sz="2400"/>
          </a:p>
        </p:txBody>
      </p:sp>
      <p:sp>
        <p:nvSpPr>
          <p:cNvPr id="4135" name="Google Shape;4135;p219"/>
          <p:cNvSpPr txBox="1"/>
          <p:nvPr>
            <p:ph idx="2" type="body"/>
          </p:nvPr>
        </p:nvSpPr>
        <p:spPr>
          <a:xfrm>
            <a:off x="438098" y="585291"/>
            <a:ext cx="8229600"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Data and analytics capabilities delivering best-in-class Finance &amp; Performance Management</a:t>
            </a:r>
            <a:endParaRPr sz="1600"/>
          </a:p>
        </p:txBody>
      </p:sp>
      <p:sp>
        <p:nvSpPr>
          <p:cNvPr id="4136" name="Google Shape;4136;p219">
            <a:hlinkClick action="ppaction://hlinksldjump" r:id="rId11"/>
          </p:cNvPr>
          <p:cNvSpPr/>
          <p:nvPr/>
        </p:nvSpPr>
        <p:spPr>
          <a:xfrm flipH="1" rot="5400000">
            <a:off x="5217955" y="769825"/>
            <a:ext cx="202919" cy="594235"/>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219"/>
          <p:cNvSpPr txBox="1"/>
          <p:nvPr/>
        </p:nvSpPr>
        <p:spPr>
          <a:xfrm flipH="1">
            <a:off x="5022292" y="1016213"/>
            <a:ext cx="594235" cy="152189"/>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2 of 3</a:t>
            </a:r>
            <a:endParaRPr/>
          </a:p>
        </p:txBody>
      </p:sp>
      <p:sp>
        <p:nvSpPr>
          <p:cNvPr id="4138" name="Google Shape;4138;p219">
            <a:hlinkClick action="ppaction://hlinksldjump" r:id="rId12"/>
          </p:cNvPr>
          <p:cNvSpPr/>
          <p:nvPr/>
        </p:nvSpPr>
        <p:spPr>
          <a:xfrm rot="5400000">
            <a:off x="5217955" y="4497275"/>
            <a:ext cx="202919" cy="594235"/>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219"/>
          <p:cNvSpPr txBox="1"/>
          <p:nvPr/>
        </p:nvSpPr>
        <p:spPr>
          <a:xfrm>
            <a:off x="5022292" y="4692933"/>
            <a:ext cx="594235" cy="152189"/>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2 of 3</a:t>
            </a:r>
            <a:endParaRPr/>
          </a:p>
        </p:txBody>
      </p:sp>
      <p:sp>
        <p:nvSpPr>
          <p:cNvPr id="4140" name="Google Shape;4140;p219">
            <a:hlinkClick action="ppaction://hlinksldjump" r:id="rId13"/>
          </p:cNvPr>
          <p:cNvSpPr/>
          <p:nvPr/>
        </p:nvSpPr>
        <p:spPr>
          <a:xfrm>
            <a:off x="565902" y="1692116"/>
            <a:ext cx="1395519" cy="1381148"/>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Enterprise Performance Management</a:t>
            </a:r>
            <a:endParaRPr sz="1100">
              <a:solidFill>
                <a:srgbClr val="FFFFFF"/>
              </a:solidFill>
              <a:latin typeface="Century Gothic"/>
              <a:ea typeface="Century Gothic"/>
              <a:cs typeface="Century Gothic"/>
              <a:sym typeface="Century Gothic"/>
            </a:endParaRPr>
          </a:p>
        </p:txBody>
      </p:sp>
      <p:sp>
        <p:nvSpPr>
          <p:cNvPr id="4141" name="Google Shape;4141;p219">
            <a:hlinkClick action="ppaction://hlinksldjump" r:id="rId14"/>
          </p:cNvPr>
          <p:cNvSpPr/>
          <p:nvPr/>
        </p:nvSpPr>
        <p:spPr>
          <a:xfrm>
            <a:off x="565902" y="3185592"/>
            <a:ext cx="1395519" cy="1372328"/>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Treasury</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Insight &amp; Management</a:t>
            </a:r>
            <a:endParaRPr sz="1100">
              <a:solidFill>
                <a:srgbClr val="FFFFFF"/>
              </a:solidFill>
              <a:latin typeface="Century Gothic"/>
              <a:ea typeface="Century Gothic"/>
              <a:cs typeface="Century Gothic"/>
              <a:sym typeface="Century Gothic"/>
            </a:endParaRPr>
          </a:p>
        </p:txBody>
      </p:sp>
      <p:sp>
        <p:nvSpPr>
          <p:cNvPr id="4142" name="Google Shape;4142;p219"/>
          <p:cNvSpPr/>
          <p:nvPr/>
        </p:nvSpPr>
        <p:spPr>
          <a:xfrm>
            <a:off x="1417678" y="-1111567"/>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4143" name="Google Shape;4143;p219"/>
          <p:cNvSpPr/>
          <p:nvPr/>
        </p:nvSpPr>
        <p:spPr>
          <a:xfrm rot="5400000">
            <a:off x="4437614" y="-1071241"/>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4144" name="Google Shape;4144;p219">
            <a:hlinkClick action="ppaction://hlinksldjump" r:id="rId15"/>
          </p:cNvPr>
          <p:cNvSpPr/>
          <p:nvPr/>
        </p:nvSpPr>
        <p:spPr>
          <a:xfrm>
            <a:off x="2100364" y="3936740"/>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Currency Hedge Analytics</a:t>
            </a:r>
            <a:endParaRPr/>
          </a:p>
        </p:txBody>
      </p:sp>
      <p:sp>
        <p:nvSpPr>
          <p:cNvPr id="4145" name="Google Shape;4145;p219"/>
          <p:cNvSpPr/>
          <p:nvPr/>
        </p:nvSpPr>
        <p:spPr>
          <a:xfrm rot="5400000">
            <a:off x="2087363" y="4204927"/>
            <a:ext cx="95758" cy="63500"/>
          </a:xfrm>
          <a:prstGeom prst="triangle">
            <a:avLst>
              <a:gd fmla="val 50000" name="adj"/>
            </a:avLst>
          </a:prstGeom>
          <a:solidFill>
            <a:schemeClr val="accent3"/>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46" name="Google Shape;4146;p219">
            <a:hlinkClick action="ppaction://hlinksldjump" r:id="rId16"/>
          </p:cNvPr>
          <p:cNvSpPr/>
          <p:nvPr/>
        </p:nvSpPr>
        <p:spPr>
          <a:xfrm>
            <a:off x="7014636"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Liquidity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Management</a:t>
            </a:r>
            <a:endParaRPr sz="1000">
              <a:solidFill>
                <a:schemeClr val="dk1"/>
              </a:solidFill>
              <a:latin typeface="Century Gothic"/>
              <a:ea typeface="Century Gothic"/>
              <a:cs typeface="Century Gothic"/>
              <a:sym typeface="Century Gothic"/>
            </a:endParaRPr>
          </a:p>
        </p:txBody>
      </p:sp>
      <p:sp>
        <p:nvSpPr>
          <p:cNvPr id="4147" name="Google Shape;4147;p219"/>
          <p:cNvSpPr/>
          <p:nvPr/>
        </p:nvSpPr>
        <p:spPr>
          <a:xfrm rot="5400000">
            <a:off x="6999094" y="3453779"/>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48" name="Google Shape;4148;p219">
            <a:hlinkClick action="ppaction://hlinksldjump" r:id="rId17"/>
          </p:cNvPr>
          <p:cNvSpPr/>
          <p:nvPr/>
        </p:nvSpPr>
        <p:spPr>
          <a:xfrm>
            <a:off x="5375486"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Asset Liability Management –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Treasury Ops</a:t>
            </a:r>
            <a:endParaRPr/>
          </a:p>
        </p:txBody>
      </p:sp>
      <p:sp>
        <p:nvSpPr>
          <p:cNvPr id="4149" name="Google Shape;4149;p219"/>
          <p:cNvSpPr/>
          <p:nvPr/>
        </p:nvSpPr>
        <p:spPr>
          <a:xfrm rot="5400000">
            <a:off x="5356560" y="3451394"/>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50" name="Google Shape;4150;p219">
            <a:hlinkClick action="ppaction://hlinksldjump" r:id="rId18"/>
          </p:cNvPr>
          <p:cNvSpPr/>
          <p:nvPr/>
        </p:nvSpPr>
        <p:spPr>
          <a:xfrm>
            <a:off x="3735494"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Reserve Portfolio Optimization</a:t>
            </a:r>
            <a:endParaRPr/>
          </a:p>
        </p:txBody>
      </p:sp>
      <p:sp>
        <p:nvSpPr>
          <p:cNvPr id="4151" name="Google Shape;4151;p219"/>
          <p:cNvSpPr/>
          <p:nvPr/>
        </p:nvSpPr>
        <p:spPr>
          <a:xfrm rot="5400000">
            <a:off x="3722493" y="3451394"/>
            <a:ext cx="95758" cy="63500"/>
          </a:xfrm>
          <a:prstGeom prst="triangle">
            <a:avLst>
              <a:gd fmla="val 50000" name="adj"/>
            </a:avLst>
          </a:prstGeom>
          <a:solidFill>
            <a:schemeClr val="accent3"/>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52" name="Google Shape;4152;p219">
            <a:hlinkClick action="ppaction://hlinksldjump" r:id="rId19"/>
          </p:cNvPr>
          <p:cNvSpPr/>
          <p:nvPr/>
        </p:nvSpPr>
        <p:spPr>
          <a:xfrm>
            <a:off x="2095501"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Cash Flow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Optimization</a:t>
            </a:r>
            <a:endParaRPr sz="1000">
              <a:solidFill>
                <a:schemeClr val="dk1"/>
              </a:solidFill>
              <a:latin typeface="Century Gothic"/>
              <a:ea typeface="Century Gothic"/>
              <a:cs typeface="Century Gothic"/>
              <a:sym typeface="Century Gothic"/>
            </a:endParaRPr>
          </a:p>
        </p:txBody>
      </p:sp>
      <p:sp>
        <p:nvSpPr>
          <p:cNvPr id="4153" name="Google Shape;4153;p219"/>
          <p:cNvSpPr/>
          <p:nvPr/>
        </p:nvSpPr>
        <p:spPr>
          <a:xfrm rot="5400000">
            <a:off x="2079959" y="3451394"/>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54" name="Google Shape;4154;p219">
            <a:hlinkClick action="ppaction://hlinksldjump" r:id="rId20"/>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9" name="Shape 4159"/>
        <p:cNvGrpSpPr/>
        <p:nvPr/>
      </p:nvGrpSpPr>
      <p:grpSpPr>
        <a:xfrm>
          <a:off x="0" y="0"/>
          <a:ext cx="0" cy="0"/>
          <a:chOff x="0" y="0"/>
          <a:chExt cx="0" cy="0"/>
        </a:xfrm>
      </p:grpSpPr>
      <p:sp>
        <p:nvSpPr>
          <p:cNvPr id="4160" name="Google Shape;4160;p220"/>
          <p:cNvSpPr/>
          <p:nvPr/>
        </p:nvSpPr>
        <p:spPr>
          <a:xfrm>
            <a:off x="459950" y="1187449"/>
            <a:ext cx="8223249" cy="3511551"/>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61" name="Google Shape;4161;p220">
            <a:hlinkClick action="ppaction://hlinksldjump" r:id="rId3"/>
          </p:cNvPr>
          <p:cNvSpPr/>
          <p:nvPr/>
        </p:nvSpPr>
        <p:spPr>
          <a:xfrm>
            <a:off x="3734907"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Internal - Exception Reporting</a:t>
            </a:r>
            <a:endParaRPr/>
          </a:p>
        </p:txBody>
      </p:sp>
      <p:sp>
        <p:nvSpPr>
          <p:cNvPr id="4162" name="Google Shape;4162;p220"/>
          <p:cNvSpPr/>
          <p:nvPr/>
        </p:nvSpPr>
        <p:spPr>
          <a:xfrm rot="5400000">
            <a:off x="3721906" y="2711451"/>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63" name="Google Shape;4163;p220">
            <a:hlinkClick action="ppaction://hlinksldjump" r:id="rId4"/>
          </p:cNvPr>
          <p:cNvSpPr/>
          <p:nvPr/>
        </p:nvSpPr>
        <p:spPr>
          <a:xfrm>
            <a:off x="2094914"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Project Accounting – Cost Management</a:t>
            </a:r>
            <a:endParaRPr/>
          </a:p>
        </p:txBody>
      </p:sp>
      <p:sp>
        <p:nvSpPr>
          <p:cNvPr id="4164" name="Google Shape;4164;p220"/>
          <p:cNvSpPr/>
          <p:nvPr/>
        </p:nvSpPr>
        <p:spPr>
          <a:xfrm rot="5400000">
            <a:off x="2079372" y="2711451"/>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65" name="Google Shape;4165;p220">
            <a:hlinkClick action="ppaction://hlinksldjump" r:id="rId5"/>
          </p:cNvPr>
          <p:cNvSpPr/>
          <p:nvPr/>
        </p:nvSpPr>
        <p:spPr>
          <a:xfrm>
            <a:off x="7014892"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Sales Reporting &amp; Analytics</a:t>
            </a:r>
            <a:endParaRPr/>
          </a:p>
        </p:txBody>
      </p:sp>
      <p:sp>
        <p:nvSpPr>
          <p:cNvPr id="4166" name="Google Shape;4166;p220"/>
          <p:cNvSpPr/>
          <p:nvPr/>
        </p:nvSpPr>
        <p:spPr>
          <a:xfrm rot="5400000">
            <a:off x="6998507" y="1957918"/>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67" name="Google Shape;4167;p220">
            <a:hlinkClick action="ppaction://hlinksldjump" r:id="rId6"/>
          </p:cNvPr>
          <p:cNvSpPr/>
          <p:nvPr/>
        </p:nvSpPr>
        <p:spPr>
          <a:xfrm>
            <a:off x="5374899"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Integrated Regulatory &amp; Compliance Reporting</a:t>
            </a:r>
            <a:endParaRPr/>
          </a:p>
        </p:txBody>
      </p:sp>
      <p:sp>
        <p:nvSpPr>
          <p:cNvPr id="4168" name="Google Shape;4168;p220"/>
          <p:cNvSpPr/>
          <p:nvPr/>
        </p:nvSpPr>
        <p:spPr>
          <a:xfrm rot="5400000">
            <a:off x="5355973" y="1957918"/>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69" name="Google Shape;4169;p220">
            <a:hlinkClick action="ppaction://hlinksldjump" r:id="rId7"/>
          </p:cNvPr>
          <p:cNvSpPr/>
          <p:nvPr/>
        </p:nvSpPr>
        <p:spPr>
          <a:xfrm>
            <a:off x="3734907"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Financial Reporting Efficiency &amp; Effectiveness</a:t>
            </a:r>
            <a:endParaRPr/>
          </a:p>
        </p:txBody>
      </p:sp>
      <p:sp>
        <p:nvSpPr>
          <p:cNvPr id="4170" name="Google Shape;4170;p220"/>
          <p:cNvSpPr/>
          <p:nvPr/>
        </p:nvSpPr>
        <p:spPr>
          <a:xfrm rot="5400000">
            <a:off x="3721906" y="1957918"/>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71" name="Google Shape;4171;p220">
            <a:hlinkClick action="ppaction://hlinksldjump" r:id="rId8"/>
          </p:cNvPr>
          <p:cNvSpPr/>
          <p:nvPr/>
        </p:nvSpPr>
        <p:spPr>
          <a:xfrm>
            <a:off x="2094914"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External Reporting Support</a:t>
            </a:r>
            <a:endParaRPr/>
          </a:p>
        </p:txBody>
      </p:sp>
      <p:sp>
        <p:nvSpPr>
          <p:cNvPr id="4172" name="Google Shape;4172;p220"/>
          <p:cNvSpPr/>
          <p:nvPr/>
        </p:nvSpPr>
        <p:spPr>
          <a:xfrm rot="5400000">
            <a:off x="2079372" y="1957918"/>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73" name="Google Shape;4173;p220"/>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Analytics Use Cases</a:t>
            </a:r>
            <a:endParaRPr sz="1400">
              <a:solidFill>
                <a:srgbClr val="3C3C3B"/>
              </a:solidFill>
              <a:latin typeface="Century Gothic"/>
              <a:ea typeface="Century Gothic"/>
              <a:cs typeface="Century Gothic"/>
              <a:sym typeface="Century Gothic"/>
            </a:endParaRPr>
          </a:p>
        </p:txBody>
      </p:sp>
      <p:grpSp>
        <p:nvGrpSpPr>
          <p:cNvPr id="4174" name="Google Shape;4174;p220"/>
          <p:cNvGrpSpPr/>
          <p:nvPr/>
        </p:nvGrpSpPr>
        <p:grpSpPr>
          <a:xfrm>
            <a:off x="2100364" y="1348315"/>
            <a:ext cx="281520" cy="241973"/>
            <a:chOff x="5652748" y="4066000"/>
            <a:chExt cx="906498" cy="747974"/>
          </a:xfrm>
        </p:grpSpPr>
        <p:sp>
          <p:nvSpPr>
            <p:cNvPr id="4175" name="Google Shape;4175;p220"/>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176" name="Google Shape;4176;p220"/>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77" name="Google Shape;4177;p220"/>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4178" name="Google Shape;4178;p220"/>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Finance Industry Business Value Framework</a:t>
            </a:r>
            <a:endParaRPr sz="2400"/>
          </a:p>
        </p:txBody>
      </p:sp>
      <p:sp>
        <p:nvSpPr>
          <p:cNvPr id="4179" name="Google Shape;4179;p220"/>
          <p:cNvSpPr txBox="1"/>
          <p:nvPr>
            <p:ph idx="2" type="body"/>
          </p:nvPr>
        </p:nvSpPr>
        <p:spPr>
          <a:xfrm>
            <a:off x="438098" y="585291"/>
            <a:ext cx="8229600"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Data and analytics capabilities delivering best-in-class Finance &amp; Performance Management</a:t>
            </a:r>
            <a:endParaRPr sz="1600"/>
          </a:p>
        </p:txBody>
      </p:sp>
      <p:sp>
        <p:nvSpPr>
          <p:cNvPr id="4180" name="Google Shape;4180;p220">
            <a:hlinkClick action="ppaction://hlinksldjump" r:id="rId9"/>
          </p:cNvPr>
          <p:cNvSpPr/>
          <p:nvPr/>
        </p:nvSpPr>
        <p:spPr>
          <a:xfrm flipH="1" rot="5400000">
            <a:off x="5221746" y="769825"/>
            <a:ext cx="202919" cy="594235"/>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220"/>
          <p:cNvSpPr txBox="1"/>
          <p:nvPr/>
        </p:nvSpPr>
        <p:spPr>
          <a:xfrm flipH="1">
            <a:off x="5026067" y="1016213"/>
            <a:ext cx="594235" cy="152189"/>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3 of 3</a:t>
            </a:r>
            <a:endParaRPr sz="800">
              <a:solidFill>
                <a:srgbClr val="FFFFFF"/>
              </a:solidFill>
              <a:latin typeface="Century Gothic"/>
              <a:ea typeface="Century Gothic"/>
              <a:cs typeface="Century Gothic"/>
              <a:sym typeface="Century Gothic"/>
            </a:endParaRPr>
          </a:p>
        </p:txBody>
      </p:sp>
      <p:sp>
        <p:nvSpPr>
          <p:cNvPr id="4182" name="Google Shape;4182;p220">
            <a:hlinkClick action="ppaction://hlinksldjump" r:id="rId10"/>
          </p:cNvPr>
          <p:cNvSpPr/>
          <p:nvPr/>
        </p:nvSpPr>
        <p:spPr>
          <a:xfrm>
            <a:off x="565902" y="1692116"/>
            <a:ext cx="1395519" cy="1381148"/>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Financial Reporting</a:t>
            </a:r>
            <a:endParaRPr/>
          </a:p>
        </p:txBody>
      </p:sp>
      <p:sp>
        <p:nvSpPr>
          <p:cNvPr id="4183" name="Google Shape;4183;p220">
            <a:hlinkClick action="ppaction://hlinksldjump" r:id="rId11"/>
          </p:cNvPr>
          <p:cNvSpPr/>
          <p:nvPr/>
        </p:nvSpPr>
        <p:spPr>
          <a:xfrm>
            <a:off x="5374899"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Executive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Information Hub</a:t>
            </a:r>
            <a:endParaRPr/>
          </a:p>
        </p:txBody>
      </p:sp>
      <p:sp>
        <p:nvSpPr>
          <p:cNvPr id="4184" name="Google Shape;4184;p220"/>
          <p:cNvSpPr/>
          <p:nvPr/>
        </p:nvSpPr>
        <p:spPr>
          <a:xfrm rot="5400000">
            <a:off x="5355973" y="2711451"/>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85" name="Google Shape;4185;p220">
            <a:hlinkClick action="ppaction://hlinksldjump" r:id="rId12"/>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9" name="Shape 4189"/>
        <p:cNvGrpSpPr/>
        <p:nvPr/>
      </p:nvGrpSpPr>
      <p:grpSpPr>
        <a:xfrm>
          <a:off x="0" y="0"/>
          <a:ext cx="0" cy="0"/>
          <a:chOff x="0" y="0"/>
          <a:chExt cx="0" cy="0"/>
        </a:xfrm>
      </p:grpSpPr>
      <p:pic>
        <p:nvPicPr>
          <p:cNvPr id="4190" name="Google Shape;4190;p221"/>
          <p:cNvPicPr preferRelativeResize="0"/>
          <p:nvPr/>
        </p:nvPicPr>
        <p:blipFill rotWithShape="1">
          <a:blip r:embed="rId3">
            <a:alphaModFix/>
          </a:blip>
          <a:srcRect b="0" l="0" r="19512" t="0"/>
          <a:stretch/>
        </p:blipFill>
        <p:spPr>
          <a:xfrm>
            <a:off x="5378994" y="0"/>
            <a:ext cx="3765006" cy="5143500"/>
          </a:xfrm>
          <a:prstGeom prst="rect">
            <a:avLst/>
          </a:prstGeom>
          <a:noFill/>
          <a:ln>
            <a:noFill/>
          </a:ln>
        </p:spPr>
      </p:pic>
      <p:sp>
        <p:nvSpPr>
          <p:cNvPr id="4191" name="Google Shape;4191;p221"/>
          <p:cNvSpPr txBox="1"/>
          <p:nvPr>
            <p:ph idx="1" type="body"/>
          </p:nvPr>
        </p:nvSpPr>
        <p:spPr>
          <a:xfrm>
            <a:off x="350402" y="2257507"/>
            <a:ext cx="4600977" cy="2569905"/>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Why is it important?</a:t>
            </a:r>
            <a:endParaRPr/>
          </a:p>
          <a:p>
            <a:pPr indent="-169863" lvl="0" marL="169863" rtl="0" algn="l">
              <a:lnSpc>
                <a:spcPct val="110000"/>
              </a:lnSpc>
              <a:spcBef>
                <a:spcPts val="800"/>
              </a:spcBef>
              <a:spcAft>
                <a:spcPts val="0"/>
              </a:spcAft>
              <a:buClr>
                <a:schemeClr val="dk1"/>
              </a:buClr>
              <a:buSzPts val="1100"/>
              <a:buChar char="•"/>
            </a:pPr>
            <a:r>
              <a:rPr lang="en-GB" sz="1100"/>
              <a:t>Ensuring the financial stability of the organisation, and producing timely and accurate financial reporting for both external and internal stakeholders is still the primary responsibility of the Finance function.</a:t>
            </a:r>
            <a:endParaRPr/>
          </a:p>
          <a:p>
            <a:pPr indent="-169863" lvl="0" marL="169863" rtl="0" algn="l">
              <a:lnSpc>
                <a:spcPct val="110000"/>
              </a:lnSpc>
              <a:spcBef>
                <a:spcPts val="800"/>
              </a:spcBef>
              <a:spcAft>
                <a:spcPts val="0"/>
              </a:spcAft>
              <a:buClr>
                <a:schemeClr val="dk1"/>
              </a:buClr>
              <a:buSzPts val="1100"/>
              <a:buChar char="•"/>
            </a:pPr>
            <a:r>
              <a:rPr lang="en-GB" sz="1100"/>
              <a:t>However it also needs to deliver a wide range of other capabilities to drive business performance, including:</a:t>
            </a:r>
            <a:endParaRPr sz="1100"/>
          </a:p>
          <a:p>
            <a:pPr indent="-171450" lvl="2" marL="447675" rtl="0" algn="l">
              <a:lnSpc>
                <a:spcPct val="95000"/>
              </a:lnSpc>
              <a:spcBef>
                <a:spcPts val="200"/>
              </a:spcBef>
              <a:spcAft>
                <a:spcPts val="0"/>
              </a:spcAft>
              <a:buClr>
                <a:schemeClr val="dk1"/>
              </a:buClr>
              <a:buSzPts val="1000"/>
              <a:buChar char="-"/>
            </a:pPr>
            <a:r>
              <a:rPr lang="en-GB" sz="1000"/>
              <a:t>Ensure financial obligations are met when due</a:t>
            </a:r>
            <a:endParaRPr sz="1000"/>
          </a:p>
          <a:p>
            <a:pPr indent="-171450" lvl="2" marL="447675" rtl="0" algn="l">
              <a:lnSpc>
                <a:spcPct val="95000"/>
              </a:lnSpc>
              <a:spcBef>
                <a:spcPts val="0"/>
              </a:spcBef>
              <a:spcAft>
                <a:spcPts val="0"/>
              </a:spcAft>
              <a:buClr>
                <a:schemeClr val="dk1"/>
              </a:buClr>
              <a:buSzPts val="1000"/>
              <a:buChar char="-"/>
            </a:pPr>
            <a:r>
              <a:rPr lang="en-GB" sz="1000"/>
              <a:t>Manage and optimise purchasing and relationships with suppliers</a:t>
            </a:r>
            <a:endParaRPr/>
          </a:p>
          <a:p>
            <a:pPr indent="-171450" lvl="2" marL="447675" rtl="0" algn="l">
              <a:lnSpc>
                <a:spcPct val="95000"/>
              </a:lnSpc>
              <a:spcBef>
                <a:spcPts val="0"/>
              </a:spcBef>
              <a:spcAft>
                <a:spcPts val="0"/>
              </a:spcAft>
              <a:buClr>
                <a:schemeClr val="dk1"/>
              </a:buClr>
              <a:buSzPts val="1000"/>
              <a:buChar char="-"/>
            </a:pPr>
            <a:r>
              <a:rPr lang="en-GB" sz="1000"/>
              <a:t>Understand Revenue, Cost and overall profitability and its drivers at a detailed level</a:t>
            </a:r>
            <a:endParaRPr/>
          </a:p>
          <a:p>
            <a:pPr indent="-171450" lvl="2" marL="447675" rtl="0" algn="l">
              <a:lnSpc>
                <a:spcPct val="95000"/>
              </a:lnSpc>
              <a:spcBef>
                <a:spcPts val="0"/>
              </a:spcBef>
              <a:spcAft>
                <a:spcPts val="0"/>
              </a:spcAft>
              <a:buClr>
                <a:schemeClr val="dk1"/>
              </a:buClr>
              <a:buSzPts val="1000"/>
              <a:buChar char="-"/>
            </a:pPr>
            <a:r>
              <a:rPr lang="en-GB" sz="1000"/>
              <a:t>Drive performance throughout the organisation through effective performance measurement and management</a:t>
            </a:r>
            <a:endParaRPr/>
          </a:p>
        </p:txBody>
      </p:sp>
      <p:sp>
        <p:nvSpPr>
          <p:cNvPr id="4192" name="Google Shape;4192;p221"/>
          <p:cNvSpPr txBox="1"/>
          <p:nvPr>
            <p:ph type="title"/>
          </p:nvPr>
        </p:nvSpPr>
        <p:spPr>
          <a:xfrm>
            <a:off x="477880" y="17427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Finance &amp; Performance</a:t>
            </a:r>
            <a:br>
              <a:rPr lang="en-GB"/>
            </a:br>
            <a:r>
              <a:rPr lang="en-GB"/>
              <a:t>Management</a:t>
            </a:r>
            <a:endParaRPr/>
          </a:p>
        </p:txBody>
      </p:sp>
      <p:pic>
        <p:nvPicPr>
          <p:cNvPr descr="iStock_000055909600_Full.jpg" id="4193" name="Google Shape;4193;p221"/>
          <p:cNvPicPr preferRelativeResize="0"/>
          <p:nvPr/>
        </p:nvPicPr>
        <p:blipFill rotWithShape="1">
          <a:blip r:embed="rId4">
            <a:alphaModFix/>
          </a:blip>
          <a:srcRect b="0" l="56773" r="5009" t="0"/>
          <a:stretch/>
        </p:blipFill>
        <p:spPr>
          <a:xfrm>
            <a:off x="9366175" y="3357350"/>
            <a:ext cx="4146697" cy="5143500"/>
          </a:xfrm>
          <a:prstGeom prst="rect">
            <a:avLst/>
          </a:prstGeom>
          <a:noFill/>
          <a:ln>
            <a:noFill/>
          </a:ln>
          <a:effectLst>
            <a:outerShdw blurRad="292100" rotWithShape="0" algn="tl" dir="2700000" dist="139700">
              <a:srgbClr val="333333">
                <a:alpha val="64705"/>
              </a:srgbClr>
            </a:outerShdw>
          </a:effectLst>
        </p:spPr>
      </p:pic>
      <p:sp>
        <p:nvSpPr>
          <p:cNvPr id="4194" name="Google Shape;4194;p221"/>
          <p:cNvSpPr/>
          <p:nvPr/>
        </p:nvSpPr>
        <p:spPr>
          <a:xfrm>
            <a:off x="0" y="1007345"/>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355600" marR="0" rtl="0" algn="l">
              <a:lnSpc>
                <a:spcPct val="110000"/>
              </a:lnSpc>
              <a:spcBef>
                <a:spcPts val="0"/>
              </a:spcBef>
              <a:spcAft>
                <a:spcPts val="0"/>
              </a:spcAft>
              <a:buNone/>
            </a:pPr>
            <a:r>
              <a:rPr lang="en-GB" sz="1600">
                <a:solidFill>
                  <a:schemeClr val="lt1"/>
                </a:solidFill>
                <a:latin typeface="Century Gothic"/>
                <a:ea typeface="Century Gothic"/>
                <a:cs typeface="Century Gothic"/>
                <a:sym typeface="Century Gothic"/>
              </a:rPr>
              <a:t>Closing the Books, Profitability analysis, Forecasting, Margin analysis, Budget and Planning, Financial reporting, Accounts Payable, Accounts Receivable, Treasury…</a:t>
            </a:r>
            <a:endParaRPr/>
          </a:p>
        </p:txBody>
      </p:sp>
      <p:sp>
        <p:nvSpPr>
          <p:cNvPr id="4195" name="Google Shape;4195;p221">
            <a:hlinkClick action="ppaction://hlinksldjump" r:id="rId5"/>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0" name="Shape 4270"/>
        <p:cNvGrpSpPr/>
        <p:nvPr/>
      </p:nvGrpSpPr>
      <p:grpSpPr>
        <a:xfrm>
          <a:off x="0" y="0"/>
          <a:ext cx="0" cy="0"/>
          <a:chOff x="0" y="0"/>
          <a:chExt cx="0" cy="0"/>
        </a:xfrm>
      </p:grpSpPr>
      <p:sp>
        <p:nvSpPr>
          <p:cNvPr id="4271" name="Google Shape;4271;p227"/>
          <p:cNvSpPr/>
          <p:nvPr/>
        </p:nvSpPr>
        <p:spPr>
          <a:xfrm>
            <a:off x="7772401" y="-368299"/>
            <a:ext cx="1503273"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pic>
        <p:nvPicPr>
          <p:cNvPr descr="BIZ-1062-L.jpg" id="4272" name="Google Shape;4272;p227"/>
          <p:cNvPicPr preferRelativeResize="0"/>
          <p:nvPr/>
        </p:nvPicPr>
        <p:blipFill rotWithShape="1">
          <a:blip r:embed="rId3">
            <a:alphaModFix/>
          </a:blip>
          <a:srcRect b="0" l="14523" r="10674" t="0"/>
          <a:stretch/>
        </p:blipFill>
        <p:spPr>
          <a:xfrm>
            <a:off x="5549900" y="957793"/>
            <a:ext cx="3594100" cy="2402415"/>
          </a:xfrm>
          <a:prstGeom prst="rect">
            <a:avLst/>
          </a:prstGeom>
          <a:noFill/>
          <a:ln>
            <a:noFill/>
          </a:ln>
        </p:spPr>
      </p:pic>
      <p:sp>
        <p:nvSpPr>
          <p:cNvPr id="4273" name="Google Shape;4273;p227"/>
          <p:cNvSpPr txBox="1"/>
          <p:nvPr>
            <p:ph idx="1" type="body"/>
          </p:nvPr>
        </p:nvSpPr>
        <p:spPr>
          <a:xfrm>
            <a:off x="467360" y="852530"/>
            <a:ext cx="4830354" cy="3344033"/>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How – Capabilities</a:t>
            </a:r>
            <a:endParaRPr b="1">
              <a:solidFill>
                <a:schemeClr val="accent1"/>
              </a:solidFill>
            </a:endParaRPr>
          </a:p>
          <a:p>
            <a:pPr indent="-169863" lvl="0" marL="169863" rtl="0" algn="l">
              <a:lnSpc>
                <a:spcPct val="95000"/>
              </a:lnSpc>
              <a:spcBef>
                <a:spcPts val="800"/>
              </a:spcBef>
              <a:spcAft>
                <a:spcPts val="0"/>
              </a:spcAft>
              <a:buClr>
                <a:schemeClr val="dk1"/>
              </a:buClr>
              <a:buSzPts val="1400"/>
              <a:buChar char="•"/>
            </a:pPr>
            <a:r>
              <a:rPr lang="en-GB" sz="1400"/>
              <a:t>Integration of data from across the enterprise including financial data which is auditable, traceable and reconcilable to the financial and source systems.</a:t>
            </a:r>
            <a:endParaRPr/>
          </a:p>
          <a:p>
            <a:pPr indent="-169863" lvl="0" marL="169863" rtl="0" algn="l">
              <a:lnSpc>
                <a:spcPct val="95000"/>
              </a:lnSpc>
              <a:spcBef>
                <a:spcPts val="600"/>
              </a:spcBef>
              <a:spcAft>
                <a:spcPts val="0"/>
              </a:spcAft>
              <a:buClr>
                <a:schemeClr val="dk1"/>
              </a:buClr>
              <a:buSzPts val="1400"/>
              <a:buChar char="•"/>
            </a:pPr>
            <a:r>
              <a:rPr lang="en-GB" sz="1400"/>
              <a:t>Granular level data sets which enable a consistent, bottoms-up approach and can provide multi-dimensional views of the enterprise.</a:t>
            </a:r>
            <a:endParaRPr/>
          </a:p>
          <a:p>
            <a:pPr indent="-169863" lvl="0" marL="169863" rtl="0" algn="l">
              <a:lnSpc>
                <a:spcPct val="95000"/>
              </a:lnSpc>
              <a:spcBef>
                <a:spcPts val="600"/>
              </a:spcBef>
              <a:spcAft>
                <a:spcPts val="0"/>
              </a:spcAft>
              <a:buClr>
                <a:schemeClr val="dk1"/>
              </a:buClr>
              <a:buSzPts val="1400"/>
              <a:buChar char="•"/>
            </a:pPr>
            <a:r>
              <a:rPr lang="en-GB" sz="1400"/>
              <a:t>Development of calculations and business rules which can be leveraged in reporting, profitability modelling, statistical analysis and downstream applications such as pricing models.</a:t>
            </a:r>
            <a:endParaRPr/>
          </a:p>
          <a:p>
            <a:pPr indent="-169863" lvl="0" marL="169863" rtl="0" algn="l">
              <a:lnSpc>
                <a:spcPct val="95000"/>
              </a:lnSpc>
              <a:spcBef>
                <a:spcPts val="600"/>
              </a:spcBef>
              <a:spcAft>
                <a:spcPts val="0"/>
              </a:spcAft>
              <a:buClr>
                <a:schemeClr val="dk1"/>
              </a:buClr>
              <a:buSzPts val="1400"/>
              <a:buChar char="•"/>
            </a:pPr>
            <a:r>
              <a:rPr lang="en-GB" sz="1400"/>
              <a:t>Reporting, dashboards and scorecards which effectively measure and communicate performance.</a:t>
            </a:r>
            <a:endParaRPr/>
          </a:p>
          <a:p>
            <a:pPr indent="-169863" lvl="0" marL="169863" rtl="0" algn="l">
              <a:lnSpc>
                <a:spcPct val="95000"/>
              </a:lnSpc>
              <a:spcBef>
                <a:spcPts val="600"/>
              </a:spcBef>
              <a:spcAft>
                <a:spcPts val="0"/>
              </a:spcAft>
              <a:buClr>
                <a:schemeClr val="dk1"/>
              </a:buClr>
              <a:buSzPts val="1400"/>
              <a:buChar char="•"/>
            </a:pPr>
            <a:r>
              <a:rPr lang="en-GB" sz="1400"/>
              <a:t>High degrees of automation and efficiency to reduce cost to serve, and enable resources to be focused on value-added activities.</a:t>
            </a:r>
            <a:endParaRPr sz="1400"/>
          </a:p>
        </p:txBody>
      </p:sp>
      <p:sp>
        <p:nvSpPr>
          <p:cNvPr id="4274" name="Google Shape;4274;p227"/>
          <p:cNvSpPr txBox="1"/>
          <p:nvPr>
            <p:ph type="title"/>
          </p:nvPr>
        </p:nvSpPr>
        <p:spPr>
          <a:xfrm>
            <a:off x="477880" y="238539"/>
            <a:ext cx="5435240" cy="639821"/>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000"/>
              <a:buFont typeface="Century Gothic"/>
              <a:buNone/>
            </a:pPr>
            <a:r>
              <a:rPr lang="en-GB" sz="2000"/>
              <a:t>Finance &amp; Performance Management</a:t>
            </a:r>
            <a:endParaRPr sz="2000"/>
          </a:p>
        </p:txBody>
      </p:sp>
      <p:sp>
        <p:nvSpPr>
          <p:cNvPr id="4275" name="Google Shape;4275;p227">
            <a:hlinkClick action="ppaction://hlinksldjump" r:id="rId4"/>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4" name="Shape 4284"/>
        <p:cNvGrpSpPr/>
        <p:nvPr/>
      </p:nvGrpSpPr>
      <p:grpSpPr>
        <a:xfrm>
          <a:off x="0" y="0"/>
          <a:ext cx="0" cy="0"/>
          <a:chOff x="0" y="0"/>
          <a:chExt cx="0" cy="0"/>
        </a:xfrm>
      </p:grpSpPr>
      <p:pic>
        <p:nvPicPr>
          <p:cNvPr descr="RS920_BIZ-1070-H-2.jpg" id="4285" name="Google Shape;4285;p229"/>
          <p:cNvPicPr preferRelativeResize="0"/>
          <p:nvPr/>
        </p:nvPicPr>
        <p:blipFill rotWithShape="1">
          <a:blip r:embed="rId3">
            <a:alphaModFix/>
          </a:blip>
          <a:srcRect b="12714" l="45835" r="13504" t="0"/>
          <a:stretch/>
        </p:blipFill>
        <p:spPr>
          <a:xfrm>
            <a:off x="5549900" y="0"/>
            <a:ext cx="3594100" cy="5143500"/>
          </a:xfrm>
          <a:prstGeom prst="rect">
            <a:avLst/>
          </a:prstGeom>
          <a:noFill/>
          <a:ln>
            <a:noFill/>
          </a:ln>
        </p:spPr>
      </p:pic>
      <p:sp>
        <p:nvSpPr>
          <p:cNvPr id="4286" name="Google Shape;4286;p229"/>
          <p:cNvSpPr txBox="1"/>
          <p:nvPr>
            <p:ph idx="1" type="body"/>
          </p:nvPr>
        </p:nvSpPr>
        <p:spPr>
          <a:xfrm>
            <a:off x="455485" y="2100943"/>
            <a:ext cx="4662784" cy="2573768"/>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Why is it important?</a:t>
            </a:r>
            <a:endParaRPr b="1">
              <a:solidFill>
                <a:schemeClr val="accent1"/>
              </a:solidFill>
            </a:endParaRPr>
          </a:p>
          <a:p>
            <a:pPr indent="-169863" lvl="0" marL="169863" rtl="0" algn="l">
              <a:lnSpc>
                <a:spcPct val="95000"/>
              </a:lnSpc>
              <a:spcBef>
                <a:spcPts val="200"/>
              </a:spcBef>
              <a:spcAft>
                <a:spcPts val="0"/>
              </a:spcAft>
              <a:buClr>
                <a:schemeClr val="dk1"/>
              </a:buClr>
              <a:buSzPts val="1200"/>
              <a:buChar char="•"/>
            </a:pPr>
            <a:r>
              <a:rPr lang="en-GB" sz="1200"/>
              <a:t>Stakeholders are making decisions based on the quality of the financial information, whether internal or external</a:t>
            </a:r>
            <a:endParaRPr/>
          </a:p>
          <a:p>
            <a:pPr indent="-169863" lvl="0" marL="169863" rtl="0" algn="l">
              <a:lnSpc>
                <a:spcPct val="95000"/>
              </a:lnSpc>
              <a:spcBef>
                <a:spcPts val="600"/>
              </a:spcBef>
              <a:spcAft>
                <a:spcPts val="0"/>
              </a:spcAft>
              <a:buClr>
                <a:schemeClr val="dk1"/>
              </a:buClr>
              <a:buSzPts val="1200"/>
              <a:buChar char="•"/>
            </a:pPr>
            <a:r>
              <a:rPr lang="en-GB" sz="1200"/>
              <a:t>Management must respond quickly to changing market conditions</a:t>
            </a:r>
            <a:endParaRPr/>
          </a:p>
          <a:p>
            <a:pPr indent="-169863" lvl="0" marL="169863" rtl="0" algn="l">
              <a:lnSpc>
                <a:spcPct val="95000"/>
              </a:lnSpc>
              <a:spcBef>
                <a:spcPts val="600"/>
              </a:spcBef>
              <a:spcAft>
                <a:spcPts val="0"/>
              </a:spcAft>
              <a:buClr>
                <a:schemeClr val="dk1"/>
              </a:buClr>
              <a:buSzPts val="1200"/>
              <a:buChar char="•"/>
            </a:pPr>
            <a:r>
              <a:rPr lang="en-GB" sz="1200"/>
              <a:t>Improved timeliness of data, traceable  and auditable to the general ledger</a:t>
            </a:r>
            <a:endParaRPr/>
          </a:p>
          <a:p>
            <a:pPr indent="-169863" lvl="0" marL="169863" rtl="0" algn="l">
              <a:lnSpc>
                <a:spcPct val="95000"/>
              </a:lnSpc>
              <a:spcBef>
                <a:spcPts val="600"/>
              </a:spcBef>
              <a:spcAft>
                <a:spcPts val="0"/>
              </a:spcAft>
              <a:buClr>
                <a:schemeClr val="dk1"/>
              </a:buClr>
              <a:buSzPts val="1200"/>
              <a:buChar char="•"/>
            </a:pPr>
            <a:r>
              <a:rPr lang="en-GB" sz="1200"/>
              <a:t>Improved data governance and data quality will result in better transparency, reliability and credibility</a:t>
            </a:r>
            <a:endParaRPr/>
          </a:p>
          <a:p>
            <a:pPr indent="-169863" lvl="0" marL="169863" rtl="0" algn="l">
              <a:lnSpc>
                <a:spcPct val="95000"/>
              </a:lnSpc>
              <a:spcBef>
                <a:spcPts val="600"/>
              </a:spcBef>
              <a:spcAft>
                <a:spcPts val="0"/>
              </a:spcAft>
              <a:buClr>
                <a:schemeClr val="dk1"/>
              </a:buClr>
              <a:buSzPts val="1200"/>
              <a:buChar char="•"/>
            </a:pPr>
            <a:r>
              <a:rPr lang="en-GB" sz="1200"/>
              <a:t>Accounting operating costs are reduced</a:t>
            </a:r>
            <a:endParaRPr/>
          </a:p>
          <a:p>
            <a:pPr indent="-169863" lvl="0" marL="169863" rtl="0" algn="l">
              <a:lnSpc>
                <a:spcPct val="95000"/>
              </a:lnSpc>
              <a:spcBef>
                <a:spcPts val="600"/>
              </a:spcBef>
              <a:spcAft>
                <a:spcPts val="0"/>
              </a:spcAft>
              <a:buClr>
                <a:schemeClr val="dk1"/>
              </a:buClr>
              <a:buSzPts val="1200"/>
              <a:buChar char="•"/>
            </a:pPr>
            <a:r>
              <a:rPr lang="en-GB" sz="1200"/>
              <a:t>Spend more time analyzing versus acquiring and cleansing data</a:t>
            </a:r>
            <a:endParaRPr/>
          </a:p>
        </p:txBody>
      </p:sp>
      <p:sp>
        <p:nvSpPr>
          <p:cNvPr id="4287" name="Google Shape;4287;p229"/>
          <p:cNvSpPr txBox="1"/>
          <p:nvPr>
            <p:ph type="title"/>
          </p:nvPr>
        </p:nvSpPr>
        <p:spPr>
          <a:xfrm>
            <a:off x="477880" y="17427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Accounting Operations and Close</a:t>
            </a:r>
            <a:br>
              <a:rPr lang="en-GB"/>
            </a:br>
            <a:endParaRPr/>
          </a:p>
        </p:txBody>
      </p:sp>
      <p:sp>
        <p:nvSpPr>
          <p:cNvPr id="4288" name="Google Shape;4288;p229">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
        <p:nvSpPr>
          <p:cNvPr id="4289" name="Google Shape;4289;p229"/>
          <p:cNvSpPr/>
          <p:nvPr/>
        </p:nvSpPr>
        <p:spPr>
          <a:xfrm>
            <a:off x="1" y="769691"/>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406400" marR="0" rtl="0" algn="l">
              <a:spcBef>
                <a:spcPts val="0"/>
              </a:spcBef>
              <a:spcAft>
                <a:spcPts val="0"/>
              </a:spcAft>
              <a:buNone/>
            </a:pPr>
            <a:r>
              <a:rPr b="0" i="0" lang="en-GB" sz="1400" u="none" cap="none" strike="noStrike">
                <a:solidFill>
                  <a:schemeClr val="lt1"/>
                </a:solidFill>
                <a:latin typeface="Century Gothic"/>
                <a:ea typeface="Century Gothic"/>
                <a:cs typeface="Century Gothic"/>
                <a:sym typeface="Century Gothic"/>
              </a:rPr>
              <a:t>In an economic environment characterized by uncertainty and volatility, </a:t>
            </a:r>
            <a:br>
              <a:rPr b="0" i="0" lang="en-GB" sz="1400" u="none" cap="none" strike="noStrike">
                <a:solidFill>
                  <a:schemeClr val="lt1"/>
                </a:solidFill>
                <a:latin typeface="Century Gothic"/>
                <a:ea typeface="Century Gothic"/>
                <a:cs typeface="Century Gothic"/>
                <a:sym typeface="Century Gothic"/>
              </a:rPr>
            </a:br>
            <a:r>
              <a:rPr b="0" i="0" lang="en-GB" sz="1400" u="none" cap="none" strike="noStrike">
                <a:solidFill>
                  <a:schemeClr val="lt1"/>
                </a:solidFill>
                <a:latin typeface="Century Gothic"/>
                <a:ea typeface="Century Gothic"/>
                <a:cs typeface="Century Gothic"/>
                <a:sym typeface="Century Gothic"/>
              </a:rPr>
              <a:t>the quality of the financial close assumes even greater importance as an indicator of a company's financial excellence.</a:t>
            </a:r>
            <a:endParaRPr b="0" i="0" sz="14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2" name="Shape 4352"/>
        <p:cNvGrpSpPr/>
        <p:nvPr/>
      </p:nvGrpSpPr>
      <p:grpSpPr>
        <a:xfrm>
          <a:off x="0" y="0"/>
          <a:ext cx="0" cy="0"/>
          <a:chOff x="0" y="0"/>
          <a:chExt cx="0" cy="0"/>
        </a:xfrm>
      </p:grpSpPr>
      <p:pic>
        <p:nvPicPr>
          <p:cNvPr id="4353" name="Google Shape;4353;p234"/>
          <p:cNvPicPr preferRelativeResize="0"/>
          <p:nvPr/>
        </p:nvPicPr>
        <p:blipFill rotWithShape="1">
          <a:blip r:embed="rId3">
            <a:alphaModFix/>
          </a:blip>
          <a:srcRect b="0" l="0" r="0" t="0"/>
          <a:stretch/>
        </p:blipFill>
        <p:spPr>
          <a:xfrm>
            <a:off x="5648154" y="279312"/>
            <a:ext cx="3316459" cy="2210972"/>
          </a:xfrm>
          <a:prstGeom prst="rect">
            <a:avLst/>
          </a:prstGeom>
          <a:noFill/>
          <a:ln>
            <a:noFill/>
          </a:ln>
        </p:spPr>
      </p:pic>
      <p:cxnSp>
        <p:nvCxnSpPr>
          <p:cNvPr id="4354" name="Google Shape;4354;p234"/>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355" name="Google Shape;4355;p234"/>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Accelerate collections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Reduce days sales outstanding (DSO)</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 cashflow</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Match AR collection period to AP payment period</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Identify problem accounts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Reduce bad debts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Ensure that future purchase terms and prices reflect historic payment behaviour</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Invoice transactions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Customer records including payment history</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Reporting Hierarchies – Business Units, Geography, etc.</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Sales reference data</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Repository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Reporting &amp; dashboards to monitor on-going credit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Scoring models to predict default probability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Segment /rank customers by payment behaviour</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Advanced Analytics (e.g. N-Path) analysis leading to defaults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cash flow, reduced working capital yielding increased return on assets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total receivables, bad debt expense and past due accounts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productivity through reduction of time and effort spent on management review</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Streamlined credit approval process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identify sales force whose accounts have poor payment behaviour.</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356" name="Google Shape;4356;p234"/>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Billing &amp; Collections</a:t>
            </a:r>
            <a:endParaRPr sz="1600"/>
          </a:p>
        </p:txBody>
      </p:sp>
      <p:grpSp>
        <p:nvGrpSpPr>
          <p:cNvPr id="4357" name="Google Shape;4357;p234"/>
          <p:cNvGrpSpPr/>
          <p:nvPr/>
        </p:nvGrpSpPr>
        <p:grpSpPr>
          <a:xfrm>
            <a:off x="7717533" y="4360377"/>
            <a:ext cx="1058348" cy="347375"/>
            <a:chOff x="7651698" y="4287227"/>
            <a:chExt cx="1058348" cy="347375"/>
          </a:xfrm>
        </p:grpSpPr>
        <p:grpSp>
          <p:nvGrpSpPr>
            <p:cNvPr id="4358" name="Google Shape;4358;p234"/>
            <p:cNvGrpSpPr/>
            <p:nvPr/>
          </p:nvGrpSpPr>
          <p:grpSpPr>
            <a:xfrm>
              <a:off x="7714163" y="4337598"/>
              <a:ext cx="995883" cy="297004"/>
              <a:chOff x="7711013" y="3986494"/>
              <a:chExt cx="995883" cy="297004"/>
            </a:xfrm>
          </p:grpSpPr>
          <p:sp>
            <p:nvSpPr>
              <p:cNvPr id="4359" name="Google Shape;4359;p234"/>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360" name="Google Shape;4360;p234"/>
              <p:cNvGrpSpPr/>
              <p:nvPr/>
            </p:nvGrpSpPr>
            <p:grpSpPr>
              <a:xfrm>
                <a:off x="7711013" y="4002615"/>
                <a:ext cx="281520" cy="241973"/>
                <a:chOff x="5652748" y="4066000"/>
                <a:chExt cx="906498" cy="747974"/>
              </a:xfrm>
            </p:grpSpPr>
            <p:sp>
              <p:nvSpPr>
                <p:cNvPr id="4361" name="Google Shape;4361;p234"/>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362" name="Google Shape;4362;p234"/>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363" name="Google Shape;4363;p234"/>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364" name="Google Shape;4364;p234">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4365" name="Google Shape;4365;p234">
            <a:hlinkClick action="ppaction://hlinksldjump" r:id="rId5"/>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4" name="Shape 4384"/>
        <p:cNvGrpSpPr/>
        <p:nvPr/>
      </p:nvGrpSpPr>
      <p:grpSpPr>
        <a:xfrm>
          <a:off x="0" y="0"/>
          <a:ext cx="0" cy="0"/>
          <a:chOff x="0" y="0"/>
          <a:chExt cx="0" cy="0"/>
        </a:xfrm>
      </p:grpSpPr>
      <p:cxnSp>
        <p:nvCxnSpPr>
          <p:cNvPr id="4385" name="Google Shape;4385;p236"/>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386" name="Google Shape;4386;p236"/>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To place a Purchase Order at a Supplier, which follows internal guidelines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Approve received goods/services and ensure alignment between PO and Invoice</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Manage Suppliers efficiently from a global point of view</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Compliance</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Pricing</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Volumes</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Quality</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Utilize credit/payment terms optimally</a:t>
                      </a:r>
                      <a:endParaRPr b="0" sz="900">
                        <a:solidFill>
                          <a:schemeClr val="dk1"/>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 TAX/VAT management</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Purchase Orders, Invoices (incl. line items), Suppliers, Quality, Commercial history (unit prices, products/services, volumes etc.)</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General ledger(s) and relevant sub-ledger(s)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Repository</a:t>
                      </a:r>
                      <a:endParaRPr sz="900">
                        <a:solidFill>
                          <a:schemeClr val="dk1"/>
                        </a:solidFill>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Join data at the most granular level (common denominator)</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Supplier Dashboards (incl. – Actual Purchased, - PO’s, - Quality, - Price/Unit etc. Per Supplier</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VAT per country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PO and Invoice matching analysis (finding duplicates)</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Integrated view of Suppliers from received Invoices (products/services) to approved Sales Orders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internal compliance – have employees ordered/purchased within the range they are approved for</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Optimized base of Suppliers (consolidation of the supplier base, moving away from “smaller” local suppliers to fewer “global” suppliers)</a:t>
                      </a:r>
                      <a:endParaRPr sz="900">
                        <a:solidFill>
                          <a:schemeClr val="dk1"/>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prices per Unit per Supplier</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quality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opportunities to evaluate Supplier</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performance</a:t>
                      </a:r>
                      <a:endParaRPr sz="900">
                        <a:solidFill>
                          <a:schemeClr val="dk1"/>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cash flow</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More accurate VAT/TAX payments per country</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387" name="Google Shape;4387;p236"/>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Procurement &amp; Payment</a:t>
            </a:r>
            <a:endParaRPr sz="1600"/>
          </a:p>
        </p:txBody>
      </p:sp>
      <p:sp>
        <p:nvSpPr>
          <p:cNvPr id="4388" name="Google Shape;4388;p23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389" name="Google Shape;4389;p236"/>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390" name="Google Shape;4390;p236"/>
          <p:cNvGrpSpPr/>
          <p:nvPr/>
        </p:nvGrpSpPr>
        <p:grpSpPr>
          <a:xfrm>
            <a:off x="7717533" y="4360377"/>
            <a:ext cx="1058348" cy="347375"/>
            <a:chOff x="7651698" y="4287227"/>
            <a:chExt cx="1058348" cy="347375"/>
          </a:xfrm>
        </p:grpSpPr>
        <p:grpSp>
          <p:nvGrpSpPr>
            <p:cNvPr id="4391" name="Google Shape;4391;p236"/>
            <p:cNvGrpSpPr/>
            <p:nvPr/>
          </p:nvGrpSpPr>
          <p:grpSpPr>
            <a:xfrm>
              <a:off x="7714163" y="4337598"/>
              <a:ext cx="995883" cy="297004"/>
              <a:chOff x="7711013" y="3986494"/>
              <a:chExt cx="995883" cy="297004"/>
            </a:xfrm>
          </p:grpSpPr>
          <p:sp>
            <p:nvSpPr>
              <p:cNvPr id="4392" name="Google Shape;4392;p236"/>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393" name="Google Shape;4393;p236"/>
              <p:cNvGrpSpPr/>
              <p:nvPr/>
            </p:nvGrpSpPr>
            <p:grpSpPr>
              <a:xfrm>
                <a:off x="7711013" y="4002615"/>
                <a:ext cx="281520" cy="241973"/>
                <a:chOff x="5652748" y="4066000"/>
                <a:chExt cx="906498" cy="747974"/>
              </a:xfrm>
            </p:grpSpPr>
            <p:sp>
              <p:nvSpPr>
                <p:cNvPr id="4394" name="Google Shape;4394;p236"/>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395" name="Google Shape;4395;p236"/>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396" name="Google Shape;4396;p236"/>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397" name="Google Shape;4397;p236">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6" name="Shape 4416"/>
        <p:cNvGrpSpPr/>
        <p:nvPr/>
      </p:nvGrpSpPr>
      <p:grpSpPr>
        <a:xfrm>
          <a:off x="0" y="0"/>
          <a:ext cx="0" cy="0"/>
          <a:chOff x="0" y="0"/>
          <a:chExt cx="0" cy="0"/>
        </a:xfrm>
      </p:grpSpPr>
      <p:cxnSp>
        <p:nvCxnSpPr>
          <p:cNvPr id="4417" name="Google Shape;4417;p238"/>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418" name="Google Shape;4418;p238"/>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Generate accounting transactions from Operational transactions and establish data lineage between them.</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Ability to deliver changes in accounting rules and standards in quick, flexible and cost-effective way.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Consistent delivery of multi-GAAP accounting.</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Automated reconciliation processes.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Support seamless drill-down and drill across to granular account and transaction-level data</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Maintain</a:t>
                      </a:r>
                      <a:r>
                        <a:rPr b="0" lang="en-GB" sz="900">
                          <a:solidFill>
                            <a:schemeClr val="dk1"/>
                          </a:solidFill>
                        </a:rPr>
                        <a:t> a </a:t>
                      </a:r>
                      <a:r>
                        <a:rPr b="0" lang="en-GB" sz="900">
                          <a:solidFill>
                            <a:schemeClr val="dk1"/>
                          </a:solidFill>
                        </a:rPr>
                        <a:t>“Thin” General Ledger</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Operational system  transactional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Accounting &amp; Other Reference Data</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repository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Accounting Hub solution</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Centralised accounting processes which are easier and cheaper to maintain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Automated multi-GAAP accounting</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Full control, audit and traceability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End-to-end transparency and lineage for financial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Seamless drill-down from summary level financial statements to transaction-level detail</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reconciliation time and effort, freeing up time and resources for value-generating activities.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Workflow approval process for manual adjustments</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 at sub-ledger level of detail, resulting in</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 improved data quality.</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419" name="Google Shape;4419;p238"/>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Sub-ledger Accounting</a:t>
            </a:r>
            <a:endParaRPr sz="1600"/>
          </a:p>
        </p:txBody>
      </p:sp>
      <p:sp>
        <p:nvSpPr>
          <p:cNvPr id="4420" name="Google Shape;4420;p23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421" name="Google Shape;4421;p238"/>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422" name="Google Shape;4422;p238"/>
          <p:cNvGrpSpPr/>
          <p:nvPr/>
        </p:nvGrpSpPr>
        <p:grpSpPr>
          <a:xfrm>
            <a:off x="7717533" y="4360377"/>
            <a:ext cx="1058348" cy="347375"/>
            <a:chOff x="7651698" y="4287227"/>
            <a:chExt cx="1058348" cy="347375"/>
          </a:xfrm>
        </p:grpSpPr>
        <p:grpSp>
          <p:nvGrpSpPr>
            <p:cNvPr id="4423" name="Google Shape;4423;p238"/>
            <p:cNvGrpSpPr/>
            <p:nvPr/>
          </p:nvGrpSpPr>
          <p:grpSpPr>
            <a:xfrm>
              <a:off x="7714163" y="4337598"/>
              <a:ext cx="995883" cy="297004"/>
              <a:chOff x="7711013" y="3986494"/>
              <a:chExt cx="995883" cy="297004"/>
            </a:xfrm>
          </p:grpSpPr>
          <p:sp>
            <p:nvSpPr>
              <p:cNvPr id="4424" name="Google Shape;4424;p238"/>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425" name="Google Shape;4425;p238"/>
              <p:cNvGrpSpPr/>
              <p:nvPr/>
            </p:nvGrpSpPr>
            <p:grpSpPr>
              <a:xfrm>
                <a:off x="7711013" y="4002615"/>
                <a:ext cx="281520" cy="241973"/>
                <a:chOff x="5652748" y="4066000"/>
                <a:chExt cx="906498" cy="747974"/>
              </a:xfrm>
            </p:grpSpPr>
            <p:sp>
              <p:nvSpPr>
                <p:cNvPr id="4426" name="Google Shape;4426;p238"/>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427" name="Google Shape;4427;p238"/>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428" name="Google Shape;4428;p238"/>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429" name="Google Shape;4429;p238">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8" name="Shape 4448"/>
        <p:cNvGrpSpPr/>
        <p:nvPr/>
      </p:nvGrpSpPr>
      <p:grpSpPr>
        <a:xfrm>
          <a:off x="0" y="0"/>
          <a:ext cx="0" cy="0"/>
          <a:chOff x="0" y="0"/>
          <a:chExt cx="0" cy="0"/>
        </a:xfrm>
      </p:grpSpPr>
      <p:cxnSp>
        <p:nvCxnSpPr>
          <p:cNvPr id="4449" name="Google Shape;4449;p240"/>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450" name="Google Shape;4450;p240"/>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rgbClr val="3C3C3B"/>
                        </a:buClr>
                        <a:buSzPts val="900"/>
                        <a:buFont typeface="Arial"/>
                        <a:buChar char="•"/>
                      </a:pPr>
                      <a:r>
                        <a:rPr lang="en-GB" sz="900">
                          <a:solidFill>
                            <a:srgbClr val="3C3C3B"/>
                          </a:solidFill>
                        </a:rPr>
                        <a:t>Mitigate the impact of adverse movements in </a:t>
                      </a:r>
                      <a:r>
                        <a:rPr lang="en-GB" sz="900">
                          <a:solidFill>
                            <a:srgbClr val="3C3C3B"/>
                          </a:solidFill>
                        </a:rPr>
                        <a:t> volatile  assets and commodities (e.g. currency, interest rates, fuel,)</a:t>
                      </a:r>
                      <a:endParaRPr sz="900">
                        <a:solidFill>
                          <a:srgbClr val="3C3C3B"/>
                        </a:solidFill>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Ability to implement accounting changes and perform Fair Value and Hedge Accounting in an efficient, flexible and cost-effective manner.</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deliver Hedge Effectiveness tests using an integrated source of robust and validated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Availability of full drilldown and audit trail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Automate / remove manual processes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agreement/product data, e.g. balances, interest rates, fees, commissions, maturities, re-pricing and repayment schedule, counterparty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Asset, Commodity, F/X rates, internal deal or internal rates on transaction level,</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repository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Analytical toolset supporting regression/other statistical techniques to support Prospective and Retrospective  assessments for Hedge Effectiveness tests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Accounting Hub solution running in-database on the data warehouse</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earnings volatility.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Accurate representation of the entity’s hedging strategy in the financial statements.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Clear and consistent lineage between financial statements and hedges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Simplified compliance with accounting and regulatory standards.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Removal of manual processes.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Reduction in time and cost due to greater automation</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451" name="Google Shape;4451;p240"/>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Fair Value &amp; Hedge Accounting</a:t>
            </a:r>
            <a:endParaRPr sz="1600"/>
          </a:p>
        </p:txBody>
      </p:sp>
      <p:sp>
        <p:nvSpPr>
          <p:cNvPr id="4452" name="Google Shape;4452;p24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453" name="Google Shape;4453;p240"/>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454" name="Google Shape;4454;p240"/>
          <p:cNvGrpSpPr/>
          <p:nvPr/>
        </p:nvGrpSpPr>
        <p:grpSpPr>
          <a:xfrm>
            <a:off x="7717533" y="4360377"/>
            <a:ext cx="1058348" cy="347375"/>
            <a:chOff x="7651698" y="4287227"/>
            <a:chExt cx="1058348" cy="347375"/>
          </a:xfrm>
        </p:grpSpPr>
        <p:grpSp>
          <p:nvGrpSpPr>
            <p:cNvPr id="4455" name="Google Shape;4455;p240"/>
            <p:cNvGrpSpPr/>
            <p:nvPr/>
          </p:nvGrpSpPr>
          <p:grpSpPr>
            <a:xfrm>
              <a:off x="7714163" y="4337598"/>
              <a:ext cx="995883" cy="297004"/>
              <a:chOff x="7711013" y="3986494"/>
              <a:chExt cx="995883" cy="297004"/>
            </a:xfrm>
          </p:grpSpPr>
          <p:sp>
            <p:nvSpPr>
              <p:cNvPr id="4456" name="Google Shape;4456;p240"/>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457" name="Google Shape;4457;p240"/>
              <p:cNvGrpSpPr/>
              <p:nvPr/>
            </p:nvGrpSpPr>
            <p:grpSpPr>
              <a:xfrm>
                <a:off x="7711013" y="4002615"/>
                <a:ext cx="281520" cy="241973"/>
                <a:chOff x="5652748" y="4066000"/>
                <a:chExt cx="906498" cy="747974"/>
              </a:xfrm>
            </p:grpSpPr>
            <p:sp>
              <p:nvSpPr>
                <p:cNvPr id="4458" name="Google Shape;4458;p240"/>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459" name="Google Shape;4459;p240"/>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460" name="Google Shape;4460;p240"/>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461" name="Google Shape;4461;p240">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0" name="Shape 4480"/>
        <p:cNvGrpSpPr/>
        <p:nvPr/>
      </p:nvGrpSpPr>
      <p:grpSpPr>
        <a:xfrm>
          <a:off x="0" y="0"/>
          <a:ext cx="0" cy="0"/>
          <a:chOff x="0" y="0"/>
          <a:chExt cx="0" cy="0"/>
        </a:xfrm>
      </p:grpSpPr>
      <p:cxnSp>
        <p:nvCxnSpPr>
          <p:cNvPr id="4481" name="Google Shape;4481;p242"/>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482" name="Google Shape;4482;p242"/>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Comply with all relevant accounting standard for valuation of assets.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Ensure that all impairments are identified and recognised on a timely basis.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Ensure that all valuation rules are consistently applied.</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Manage changes to accounting standards and valuation rules efficiently and with minimal time and cost.</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Support packaging and collateralisation of assets</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Financial system transactional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Operational system transactional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Accounting &amp; Other Reference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Market Prices and valuations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repository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Accounting Hub</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Workflow engine</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Full visibility and audit trail of:</a:t>
                      </a:r>
                      <a:endParaRPr/>
                    </a:p>
                    <a:p>
                      <a:pPr indent="-171450" lvl="1" marL="36353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Accounting standards, methodologies and rules applied on original recording and all subsequent revaluations &amp; adjustments.</a:t>
                      </a:r>
                      <a:endParaRPr/>
                    </a:p>
                    <a:p>
                      <a:pPr indent="-171450" lvl="1" marL="36353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Valuation and adjustment amounts, dates etc.</a:t>
                      </a:r>
                      <a:endParaRPr/>
                    </a:p>
                    <a:p>
                      <a:pPr indent="-171450" lvl="1" marL="36353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Supporting documentation</a:t>
                      </a:r>
                      <a:endParaRPr/>
                    </a:p>
                    <a:p>
                      <a:pPr indent="-171450" lvl="1" marL="36353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Approvals</a:t>
                      </a:r>
                      <a:endParaRPr/>
                    </a:p>
                    <a:p>
                      <a:pPr indent="-180975" lvl="0" marL="180975"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More effective:</a:t>
                      </a:r>
                      <a:endParaRPr/>
                    </a:p>
                    <a:p>
                      <a:pPr indent="-169862" lvl="1" marL="3619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Decisions  on acquisitions and sales of assets</a:t>
                      </a:r>
                      <a:endParaRPr/>
                    </a:p>
                    <a:p>
                      <a:pPr indent="-169862" lvl="1" marL="3619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Management of assets</a:t>
                      </a:r>
                      <a:endParaRPr/>
                    </a:p>
                    <a:p>
                      <a:pPr indent="-180975" lvl="0" marL="180975"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adaptability to evolving valuation rules</a:t>
                      </a:r>
                      <a:endParaRPr/>
                    </a:p>
                    <a:p>
                      <a:pPr indent="-180975" lvl="0" marL="180975"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Recognition of undervalued assets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483" name="Google Shape;4483;p242"/>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Asset Valuations</a:t>
            </a:r>
            <a:endParaRPr sz="1600"/>
          </a:p>
        </p:txBody>
      </p:sp>
      <p:sp>
        <p:nvSpPr>
          <p:cNvPr id="4484" name="Google Shape;4484;p24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485" name="Google Shape;4485;p242"/>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486" name="Google Shape;4486;p242"/>
          <p:cNvGrpSpPr/>
          <p:nvPr/>
        </p:nvGrpSpPr>
        <p:grpSpPr>
          <a:xfrm>
            <a:off x="7717533" y="4360377"/>
            <a:ext cx="1058348" cy="347375"/>
            <a:chOff x="7651698" y="4287227"/>
            <a:chExt cx="1058348" cy="347375"/>
          </a:xfrm>
        </p:grpSpPr>
        <p:grpSp>
          <p:nvGrpSpPr>
            <p:cNvPr id="4487" name="Google Shape;4487;p242"/>
            <p:cNvGrpSpPr/>
            <p:nvPr/>
          </p:nvGrpSpPr>
          <p:grpSpPr>
            <a:xfrm>
              <a:off x="7714163" y="4337598"/>
              <a:ext cx="995883" cy="297004"/>
              <a:chOff x="7711013" y="3986494"/>
              <a:chExt cx="995883" cy="297004"/>
            </a:xfrm>
          </p:grpSpPr>
          <p:sp>
            <p:nvSpPr>
              <p:cNvPr id="4488" name="Google Shape;4488;p242"/>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489" name="Google Shape;4489;p242"/>
              <p:cNvGrpSpPr/>
              <p:nvPr/>
            </p:nvGrpSpPr>
            <p:grpSpPr>
              <a:xfrm>
                <a:off x="7711013" y="4002615"/>
                <a:ext cx="281520" cy="241973"/>
                <a:chOff x="5652748" y="4066000"/>
                <a:chExt cx="906498" cy="747974"/>
              </a:xfrm>
            </p:grpSpPr>
            <p:sp>
              <p:nvSpPr>
                <p:cNvPr id="4490" name="Google Shape;4490;p242"/>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491" name="Google Shape;4491;p242"/>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492" name="Google Shape;4492;p242"/>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493" name="Google Shape;4493;p242">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2" name="Shape 4512"/>
        <p:cNvGrpSpPr/>
        <p:nvPr/>
      </p:nvGrpSpPr>
      <p:grpSpPr>
        <a:xfrm>
          <a:off x="0" y="0"/>
          <a:ext cx="0" cy="0"/>
          <a:chOff x="0" y="0"/>
          <a:chExt cx="0" cy="0"/>
        </a:xfrm>
      </p:grpSpPr>
      <p:cxnSp>
        <p:nvCxnSpPr>
          <p:cNvPr id="4513" name="Google Shape;4513;p244"/>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514" name="Google Shape;4514;p244"/>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Accurately estimate and account for future losses and/or establish reserves in recognition of anticipated:</a:t>
                      </a:r>
                      <a:endParaRPr/>
                    </a:p>
                    <a:p>
                      <a:pPr indent="-171450" lvl="0" marL="363538" marR="0" rtl="0" algn="l">
                        <a:lnSpc>
                          <a:spcPct val="100000"/>
                        </a:lnSpc>
                        <a:spcBef>
                          <a:spcPts val="0"/>
                        </a:spcBef>
                        <a:spcAft>
                          <a:spcPts val="0"/>
                        </a:spcAft>
                        <a:buClr>
                          <a:schemeClr val="dk1"/>
                        </a:buClr>
                        <a:buSzPts val="900"/>
                        <a:buFont typeface="Century Gothic"/>
                        <a:buChar char="−"/>
                      </a:pPr>
                      <a:r>
                        <a:rPr b="0" lang="en-GB" sz="900">
                          <a:solidFill>
                            <a:schemeClr val="dk1"/>
                          </a:solidFill>
                        </a:rPr>
                        <a:t>Bad debts and other ‘Contra-Assets’</a:t>
                      </a:r>
                      <a:endParaRPr/>
                    </a:p>
                    <a:p>
                      <a:pPr indent="-171450" lvl="0" marL="363538" marR="0" rtl="0" algn="l">
                        <a:lnSpc>
                          <a:spcPct val="100000"/>
                        </a:lnSpc>
                        <a:spcBef>
                          <a:spcPts val="0"/>
                        </a:spcBef>
                        <a:spcAft>
                          <a:spcPts val="0"/>
                        </a:spcAft>
                        <a:buClr>
                          <a:schemeClr val="dk1"/>
                        </a:buClr>
                        <a:buSzPts val="900"/>
                        <a:buFont typeface="Century Gothic"/>
                        <a:buChar char="−"/>
                      </a:pPr>
                      <a:r>
                        <a:rPr b="0" lang="en-GB" sz="900">
                          <a:solidFill>
                            <a:schemeClr val="dk1"/>
                          </a:solidFill>
                        </a:rPr>
                        <a:t>Asset impairments</a:t>
                      </a:r>
                      <a:endParaRPr/>
                    </a:p>
                    <a:p>
                      <a:pPr indent="-171450" lvl="0" marL="363538" marR="0" rtl="0" algn="l">
                        <a:lnSpc>
                          <a:spcPct val="100000"/>
                        </a:lnSpc>
                        <a:spcBef>
                          <a:spcPts val="0"/>
                        </a:spcBef>
                        <a:spcAft>
                          <a:spcPts val="0"/>
                        </a:spcAft>
                        <a:buClr>
                          <a:schemeClr val="dk1"/>
                        </a:buClr>
                        <a:buSzPts val="900"/>
                        <a:buFont typeface="Century Gothic"/>
                        <a:buChar char="−"/>
                      </a:pPr>
                      <a:r>
                        <a:rPr b="0" lang="en-GB" sz="900">
                          <a:solidFill>
                            <a:schemeClr val="dk1"/>
                          </a:solidFill>
                        </a:rPr>
                        <a:t>Warranty costs</a:t>
                      </a:r>
                      <a:endParaRPr/>
                    </a:p>
                    <a:p>
                      <a:pPr indent="-171450" lvl="0" marL="363538" marR="0" rtl="0" algn="l">
                        <a:lnSpc>
                          <a:spcPct val="100000"/>
                        </a:lnSpc>
                        <a:spcBef>
                          <a:spcPts val="0"/>
                        </a:spcBef>
                        <a:spcAft>
                          <a:spcPts val="0"/>
                        </a:spcAft>
                        <a:buClr>
                          <a:schemeClr val="dk1"/>
                        </a:buClr>
                        <a:buSzPts val="900"/>
                        <a:buFont typeface="Century Gothic"/>
                        <a:buChar char="−"/>
                      </a:pPr>
                      <a:r>
                        <a:rPr b="0" lang="en-GB" sz="900">
                          <a:solidFill>
                            <a:schemeClr val="dk1"/>
                          </a:solidFill>
                        </a:rPr>
                        <a:t>Gift cards</a:t>
                      </a:r>
                      <a:endParaRPr/>
                    </a:p>
                    <a:p>
                      <a:pPr indent="-171450" lvl="0" marL="363538" marR="0" rtl="0" algn="l">
                        <a:lnSpc>
                          <a:spcPct val="100000"/>
                        </a:lnSpc>
                        <a:spcBef>
                          <a:spcPts val="0"/>
                        </a:spcBef>
                        <a:spcAft>
                          <a:spcPts val="0"/>
                        </a:spcAft>
                        <a:buClr>
                          <a:schemeClr val="dk1"/>
                        </a:buClr>
                        <a:buSzPts val="900"/>
                        <a:buFont typeface="Century Gothic"/>
                        <a:buChar char="−"/>
                      </a:pPr>
                      <a:r>
                        <a:rPr b="0" lang="en-GB" sz="900">
                          <a:solidFill>
                            <a:schemeClr val="dk1"/>
                          </a:solidFill>
                        </a:rPr>
                        <a:t>Loyalty programmes</a:t>
                      </a:r>
                      <a:endParaRPr b="0" sz="900">
                        <a:solidFill>
                          <a:schemeClr val="dk1"/>
                        </a:solidFill>
                      </a:endParaRPr>
                    </a:p>
                    <a:p>
                      <a:pPr indent="0" lvl="0" marL="192088" marR="0" rtl="0" algn="l">
                        <a:lnSpc>
                          <a:spcPct val="100000"/>
                        </a:lnSpc>
                        <a:spcBef>
                          <a:spcPts val="0"/>
                        </a:spcBef>
                        <a:spcAft>
                          <a:spcPts val="0"/>
                        </a:spcAft>
                        <a:buClr>
                          <a:schemeClr val="dk1"/>
                        </a:buClr>
                        <a:buSzPts val="900"/>
                        <a:buFont typeface="Century Gothic"/>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Historic losses, redemptions, warranty claims, recalls, product/component traceability etc. at a granular level</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Unstructured data (e.g. sensors, call centre logs, social media, supplier terms &amp; conditions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Reference data</a:t>
                      </a:r>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repository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Statistical analytic toolset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Advanced analytic toolset</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The calculated reserves are sufficient to properly reflect and account for estimated future losses or liabilities.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Provisions or reserves are established at the required level of detail or granularity (e.g. by Contract, Product, etc)</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Over-provisioning is avoided</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Reserves are calculated with minimal manual intervention based on up up-to-date and accurate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Net movements in provisions and reserves are calculated and accounted for on an automated basis.</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515" name="Google Shape;4515;p244"/>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Reserve Analytics</a:t>
            </a:r>
            <a:endParaRPr sz="1600"/>
          </a:p>
        </p:txBody>
      </p:sp>
      <p:sp>
        <p:nvSpPr>
          <p:cNvPr id="4516" name="Google Shape;4516;p24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517" name="Google Shape;4517;p244"/>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518" name="Google Shape;4518;p244"/>
          <p:cNvGrpSpPr/>
          <p:nvPr/>
        </p:nvGrpSpPr>
        <p:grpSpPr>
          <a:xfrm>
            <a:off x="7717533" y="4360377"/>
            <a:ext cx="1058348" cy="347375"/>
            <a:chOff x="7651698" y="4287227"/>
            <a:chExt cx="1058348" cy="347375"/>
          </a:xfrm>
        </p:grpSpPr>
        <p:grpSp>
          <p:nvGrpSpPr>
            <p:cNvPr id="4519" name="Google Shape;4519;p244"/>
            <p:cNvGrpSpPr/>
            <p:nvPr/>
          </p:nvGrpSpPr>
          <p:grpSpPr>
            <a:xfrm>
              <a:off x="7714163" y="4337598"/>
              <a:ext cx="995883" cy="297004"/>
              <a:chOff x="7711013" y="3986494"/>
              <a:chExt cx="995883" cy="297004"/>
            </a:xfrm>
          </p:grpSpPr>
          <p:sp>
            <p:nvSpPr>
              <p:cNvPr id="4520" name="Google Shape;4520;p244"/>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521" name="Google Shape;4521;p244"/>
              <p:cNvGrpSpPr/>
              <p:nvPr/>
            </p:nvGrpSpPr>
            <p:grpSpPr>
              <a:xfrm>
                <a:off x="7711013" y="4002615"/>
                <a:ext cx="281520" cy="241973"/>
                <a:chOff x="5652748" y="4066000"/>
                <a:chExt cx="906498" cy="747974"/>
              </a:xfrm>
            </p:grpSpPr>
            <p:sp>
              <p:nvSpPr>
                <p:cNvPr id="4522" name="Google Shape;4522;p244"/>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523" name="Google Shape;4523;p244"/>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524" name="Google Shape;4524;p244"/>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525" name="Google Shape;4525;p244">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4" name="Shape 4544"/>
        <p:cNvGrpSpPr/>
        <p:nvPr/>
      </p:nvGrpSpPr>
      <p:grpSpPr>
        <a:xfrm>
          <a:off x="0" y="0"/>
          <a:ext cx="0" cy="0"/>
          <a:chOff x="0" y="0"/>
          <a:chExt cx="0" cy="0"/>
        </a:xfrm>
      </p:grpSpPr>
      <p:cxnSp>
        <p:nvCxnSpPr>
          <p:cNvPr id="4545" name="Google Shape;4545;p246"/>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546" name="Google Shape;4546;p246"/>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Efficient and automated tax calculation and reporting processes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accommodate changes in tax regulations quickly, and with minimal cost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drill-down from summary-level information to detailed tax calculations with full detail and audit trail</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accurately and transparently reflect differences between financial accounting and tax accounting.</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support multiple tax  treatments/views /reporting regimes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respond quickly to inquiries from tax authorities quickly, and with high-quality information.</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Organisational reference data.</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Tax rule and rate documentation</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Tax transaction data</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Financial transaction data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 robust enterprise data warehouse, with reconciliation tool which consolidates data across the enterprise, and acts as a central anchor point between sources, data warehouse and reports to enable traceability of tax information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Harmonization of business definitions to establish a common language as basis for consistent true and fair tax calculations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Rules-based calculation engine for granular tax calculations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Tax liability optimisation with direct impact on the net profit of the company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Tax law Compliance, with clear and consistent lineage between the original transaction and the final tax return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Operational risk reduction by accurate, on time tax calculation and tax process management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relationship with tax authorities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 the credibility and reputation of the company</a:t>
                      </a:r>
                      <a:endParaRPr/>
                    </a:p>
                    <a:p>
                      <a:pPr indent="0" lvl="0" marL="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547" name="Google Shape;4547;p246"/>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Tax Management &amp; Optimisation</a:t>
            </a:r>
            <a:endParaRPr sz="1600"/>
          </a:p>
        </p:txBody>
      </p:sp>
      <p:sp>
        <p:nvSpPr>
          <p:cNvPr id="4548" name="Google Shape;4548;p24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549" name="Google Shape;4549;p246"/>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550" name="Google Shape;4550;p246"/>
          <p:cNvGrpSpPr/>
          <p:nvPr/>
        </p:nvGrpSpPr>
        <p:grpSpPr>
          <a:xfrm>
            <a:off x="7717533" y="4360377"/>
            <a:ext cx="1058348" cy="347375"/>
            <a:chOff x="7651698" y="4287227"/>
            <a:chExt cx="1058348" cy="347375"/>
          </a:xfrm>
        </p:grpSpPr>
        <p:grpSp>
          <p:nvGrpSpPr>
            <p:cNvPr id="4551" name="Google Shape;4551;p246"/>
            <p:cNvGrpSpPr/>
            <p:nvPr/>
          </p:nvGrpSpPr>
          <p:grpSpPr>
            <a:xfrm>
              <a:off x="7714163" y="4337598"/>
              <a:ext cx="995883" cy="297004"/>
              <a:chOff x="7711013" y="3986494"/>
              <a:chExt cx="995883" cy="297004"/>
            </a:xfrm>
          </p:grpSpPr>
          <p:sp>
            <p:nvSpPr>
              <p:cNvPr id="4552" name="Google Shape;4552;p246"/>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553" name="Google Shape;4553;p246"/>
              <p:cNvGrpSpPr/>
              <p:nvPr/>
            </p:nvGrpSpPr>
            <p:grpSpPr>
              <a:xfrm>
                <a:off x="7711013" y="4002615"/>
                <a:ext cx="281520" cy="241973"/>
                <a:chOff x="5652748" y="4066000"/>
                <a:chExt cx="906498" cy="747974"/>
              </a:xfrm>
            </p:grpSpPr>
            <p:sp>
              <p:nvSpPr>
                <p:cNvPr id="4554" name="Google Shape;4554;p246"/>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555" name="Google Shape;4555;p246"/>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556" name="Google Shape;4556;p246"/>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557" name="Google Shape;4557;p246">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6" name="Shape 4576"/>
        <p:cNvGrpSpPr/>
        <p:nvPr/>
      </p:nvGrpSpPr>
      <p:grpSpPr>
        <a:xfrm>
          <a:off x="0" y="0"/>
          <a:ext cx="0" cy="0"/>
          <a:chOff x="0" y="0"/>
          <a:chExt cx="0" cy="0"/>
        </a:xfrm>
      </p:grpSpPr>
      <p:cxnSp>
        <p:nvCxnSpPr>
          <p:cNvPr id="4577" name="Google Shape;4577;p248"/>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578" name="Google Shape;4578;p248"/>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Ensure business users can confidently use data for decision making</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Automate reconciliation, validation and adjustment processes as far as possible.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Support for different types of reconciliation and validation approaches (e.g. comparison between sources, outlier analysis vs. historic norms)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Ensure that users of data throughout the organisation understand the reconciliation and validation status of each data item, and whether it has been (or might be) subject to adjustment(s).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Transparency and drilldown from summary-level values to detail, including the impact of any adjustments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Audit trail of reconciliation, validation and adjustment sign-offs</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GL balance and transaction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Operational system balance and detailed transaction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Transaction, Reporting, Base currencies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F/X rates, internal deal or internal rates on transaction level.</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repository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In-database reconciliation engine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Reference data management solution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Reporting / BI tool of choice</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Timely, confident and trusted information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End-to-end transparency and lineage for financial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Reduction in time and effort related to manual processes.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Enterprise wide data standards, governance and policy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Necessary adjustments reflected in data warehouse and/or pushed back to the source systems (depending on requirement).</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579" name="Google Shape;4579;p248"/>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Reconciliation, Validation &amp; Adjustments</a:t>
            </a:r>
            <a:endParaRPr sz="1600"/>
          </a:p>
        </p:txBody>
      </p:sp>
      <p:sp>
        <p:nvSpPr>
          <p:cNvPr id="4580" name="Google Shape;4580;p24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581" name="Google Shape;4581;p248"/>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582" name="Google Shape;4582;p248"/>
          <p:cNvGrpSpPr/>
          <p:nvPr/>
        </p:nvGrpSpPr>
        <p:grpSpPr>
          <a:xfrm>
            <a:off x="7717533" y="4360377"/>
            <a:ext cx="1058348" cy="347375"/>
            <a:chOff x="7651698" y="4287227"/>
            <a:chExt cx="1058348" cy="347375"/>
          </a:xfrm>
        </p:grpSpPr>
        <p:grpSp>
          <p:nvGrpSpPr>
            <p:cNvPr id="4583" name="Google Shape;4583;p248"/>
            <p:cNvGrpSpPr/>
            <p:nvPr/>
          </p:nvGrpSpPr>
          <p:grpSpPr>
            <a:xfrm>
              <a:off x="7714163" y="4337598"/>
              <a:ext cx="995883" cy="297004"/>
              <a:chOff x="7711013" y="3986494"/>
              <a:chExt cx="995883" cy="297004"/>
            </a:xfrm>
          </p:grpSpPr>
          <p:sp>
            <p:nvSpPr>
              <p:cNvPr id="4584" name="Google Shape;4584;p248"/>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585" name="Google Shape;4585;p248"/>
              <p:cNvGrpSpPr/>
              <p:nvPr/>
            </p:nvGrpSpPr>
            <p:grpSpPr>
              <a:xfrm>
                <a:off x="7711013" y="4002615"/>
                <a:ext cx="281520" cy="241973"/>
                <a:chOff x="5652748" y="4066000"/>
                <a:chExt cx="906498" cy="747974"/>
              </a:xfrm>
            </p:grpSpPr>
            <p:sp>
              <p:nvSpPr>
                <p:cNvPr id="4586" name="Google Shape;4586;p248"/>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587" name="Google Shape;4587;p248"/>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588" name="Google Shape;4588;p248"/>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589" name="Google Shape;4589;p248">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8" name="Shape 4608"/>
        <p:cNvGrpSpPr/>
        <p:nvPr/>
      </p:nvGrpSpPr>
      <p:grpSpPr>
        <a:xfrm>
          <a:off x="0" y="0"/>
          <a:ext cx="0" cy="0"/>
          <a:chOff x="0" y="0"/>
          <a:chExt cx="0" cy="0"/>
        </a:xfrm>
      </p:grpSpPr>
      <p:cxnSp>
        <p:nvCxnSpPr>
          <p:cNvPr id="4609" name="Google Shape;4609;p250"/>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610" name="Google Shape;4610;p250"/>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Timely, accurate and efficient reporting of consolidated financial information across multiple ERPs and legal entities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Consolidated financials as a basis for business and operational decision making process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Minimise data movement, duplication and reconciliation.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 data lineage and drilldown capabilities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Effectively and efficiently identify Intercompany transactions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Reduction in complexity and cost of consolidation process through:</a:t>
                      </a:r>
                      <a:endParaRPr/>
                    </a:p>
                    <a:p>
                      <a:pPr indent="-171450" lvl="1" marL="355600"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Standardisation of data, definitions, tools and processes</a:t>
                      </a:r>
                      <a:endParaRPr/>
                    </a:p>
                    <a:p>
                      <a:pPr indent="-171450" lvl="1" marL="355600"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Reduction in manual reconciliation and late adjustments</a:t>
                      </a:r>
                      <a:endParaRPr/>
                    </a:p>
                    <a:p>
                      <a:pPr indent="-171450" lvl="1" marL="355600"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Reduction in platform and data duplication</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GL Balances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accounting transactions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Organisational Reference data</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repository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In-database Consolidation Engine solution </a:t>
                      </a:r>
                      <a:r>
                        <a:rPr b="1" i="1" lang="en-GB" sz="900">
                          <a:solidFill>
                            <a:schemeClr val="dk1"/>
                          </a:solidFill>
                        </a:rPr>
                        <a:t>or </a:t>
                      </a:r>
                      <a:r>
                        <a:rPr b="0" i="0" lang="en-GB" sz="900">
                          <a:solidFill>
                            <a:schemeClr val="dk1"/>
                          </a:solidFill>
                        </a:rPr>
                        <a:t>B</a:t>
                      </a:r>
                      <a:r>
                        <a:rPr lang="en-GB" sz="900">
                          <a:solidFill>
                            <a:schemeClr val="dk1"/>
                          </a:solidFill>
                        </a:rPr>
                        <a:t>est-of-breed consolidation tool</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Faster Close Process.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Reduction in manual processes.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End-to-end transparency and lineage for financial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Seamless drill-down from consolidated financial statements to individual sets of books</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Full control, audit and traceability</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611" name="Google Shape;4611;p250"/>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Financial Consolidation</a:t>
            </a:r>
            <a:endParaRPr sz="1600"/>
          </a:p>
        </p:txBody>
      </p:sp>
      <p:sp>
        <p:nvSpPr>
          <p:cNvPr id="4612" name="Google Shape;4612;p25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613" name="Google Shape;4613;p250"/>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614" name="Google Shape;4614;p250"/>
          <p:cNvGrpSpPr/>
          <p:nvPr/>
        </p:nvGrpSpPr>
        <p:grpSpPr>
          <a:xfrm>
            <a:off x="7717533" y="4360377"/>
            <a:ext cx="1058348" cy="347375"/>
            <a:chOff x="7651698" y="4287227"/>
            <a:chExt cx="1058348" cy="347375"/>
          </a:xfrm>
        </p:grpSpPr>
        <p:grpSp>
          <p:nvGrpSpPr>
            <p:cNvPr id="4615" name="Google Shape;4615;p250"/>
            <p:cNvGrpSpPr/>
            <p:nvPr/>
          </p:nvGrpSpPr>
          <p:grpSpPr>
            <a:xfrm>
              <a:off x="7714163" y="4337598"/>
              <a:ext cx="995883" cy="297004"/>
              <a:chOff x="7711013" y="3986494"/>
              <a:chExt cx="995883" cy="297004"/>
            </a:xfrm>
          </p:grpSpPr>
          <p:sp>
            <p:nvSpPr>
              <p:cNvPr id="4616" name="Google Shape;4616;p250"/>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617" name="Google Shape;4617;p250"/>
              <p:cNvGrpSpPr/>
              <p:nvPr/>
            </p:nvGrpSpPr>
            <p:grpSpPr>
              <a:xfrm>
                <a:off x="7711013" y="4002615"/>
                <a:ext cx="281520" cy="241973"/>
                <a:chOff x="5652748" y="4066000"/>
                <a:chExt cx="906498" cy="747974"/>
              </a:xfrm>
            </p:grpSpPr>
            <p:sp>
              <p:nvSpPr>
                <p:cNvPr id="4618" name="Google Shape;4618;p250"/>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619" name="Google Shape;4619;p250"/>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620" name="Google Shape;4620;p250"/>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621" name="Google Shape;4621;p250">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0" name="Shape 4640"/>
        <p:cNvGrpSpPr/>
        <p:nvPr/>
      </p:nvGrpSpPr>
      <p:grpSpPr>
        <a:xfrm>
          <a:off x="0" y="0"/>
          <a:ext cx="0" cy="0"/>
          <a:chOff x="0" y="0"/>
          <a:chExt cx="0" cy="0"/>
        </a:xfrm>
      </p:grpSpPr>
      <p:cxnSp>
        <p:nvCxnSpPr>
          <p:cNvPr id="4641" name="Google Shape;4641;p252"/>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642" name="Google Shape;4642;p252"/>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The ability to deliver functional P&amp;L statements for profit centres and segments, including those not directly supported by the GL/ERP/Consolidation process.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Reflect all revenues and related expenses generated by the reporting entity over the reporting period.</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ability to monitor and analyse which entities are the most and least profitable within an organization.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Minimise manual processes in the delivery of functional P&amp;Ls..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accounting  data, interest accruals, fees, commissions, maturities, repricing and repayment schedule, counterparty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F/X rates, internal deal or internal rates on transaction level,</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Accounting reference data.</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Accounting Hub solution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Allocation engine.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Data Management solution to manage reference data and maintain hierarchies and mappings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Reporting / BI tool of choice</a:t>
                      </a:r>
                      <a:endParaRPr/>
                    </a:p>
                    <a:p>
                      <a:pPr indent="0" lvl="0" marL="0"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create Functional P&amp;L statements for any reporting entity from granular accounting detail</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End-to-end transparency and lineage for financial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Seamless drill-down from summary level financial statements to transaction-level accounting and operational system detail.</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Faster delivery of internal financial reporting.</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643" name="Google Shape;4643;p252"/>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Functional Profit &amp; Loss Statement</a:t>
            </a:r>
            <a:endParaRPr sz="1600"/>
          </a:p>
        </p:txBody>
      </p:sp>
      <p:sp>
        <p:nvSpPr>
          <p:cNvPr id="4644" name="Google Shape;4644;p25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645" name="Google Shape;4645;p252"/>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646" name="Google Shape;4646;p252"/>
          <p:cNvGrpSpPr/>
          <p:nvPr/>
        </p:nvGrpSpPr>
        <p:grpSpPr>
          <a:xfrm>
            <a:off x="7717533" y="4360377"/>
            <a:ext cx="1058348" cy="347375"/>
            <a:chOff x="7651698" y="4287227"/>
            <a:chExt cx="1058348" cy="347375"/>
          </a:xfrm>
        </p:grpSpPr>
        <p:grpSp>
          <p:nvGrpSpPr>
            <p:cNvPr id="4647" name="Google Shape;4647;p252"/>
            <p:cNvGrpSpPr/>
            <p:nvPr/>
          </p:nvGrpSpPr>
          <p:grpSpPr>
            <a:xfrm>
              <a:off x="7714163" y="4337598"/>
              <a:ext cx="995883" cy="297004"/>
              <a:chOff x="7711013" y="3986494"/>
              <a:chExt cx="995883" cy="297004"/>
            </a:xfrm>
          </p:grpSpPr>
          <p:sp>
            <p:nvSpPr>
              <p:cNvPr id="4648" name="Google Shape;4648;p252"/>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649" name="Google Shape;4649;p252"/>
              <p:cNvGrpSpPr/>
              <p:nvPr/>
            </p:nvGrpSpPr>
            <p:grpSpPr>
              <a:xfrm>
                <a:off x="7711013" y="4002615"/>
                <a:ext cx="281520" cy="241973"/>
                <a:chOff x="5652748" y="4066000"/>
                <a:chExt cx="906498" cy="747974"/>
              </a:xfrm>
            </p:grpSpPr>
            <p:sp>
              <p:nvSpPr>
                <p:cNvPr id="4650" name="Google Shape;4650;p252"/>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651" name="Google Shape;4651;p252"/>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652" name="Google Shape;4652;p252"/>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653" name="Google Shape;4653;p252">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1" name="Shape 4671"/>
        <p:cNvGrpSpPr/>
        <p:nvPr/>
      </p:nvGrpSpPr>
      <p:grpSpPr>
        <a:xfrm>
          <a:off x="0" y="0"/>
          <a:ext cx="0" cy="0"/>
          <a:chOff x="0" y="0"/>
          <a:chExt cx="0" cy="0"/>
        </a:xfrm>
      </p:grpSpPr>
      <p:pic>
        <p:nvPicPr>
          <p:cNvPr id="4672" name="Google Shape;4672;p254"/>
          <p:cNvPicPr preferRelativeResize="0"/>
          <p:nvPr/>
        </p:nvPicPr>
        <p:blipFill rotWithShape="1">
          <a:blip r:embed="rId3">
            <a:alphaModFix/>
          </a:blip>
          <a:srcRect b="0" l="0" r="12622" t="0"/>
          <a:stretch/>
        </p:blipFill>
        <p:spPr>
          <a:xfrm>
            <a:off x="5561013" y="0"/>
            <a:ext cx="3582987" cy="5143500"/>
          </a:xfrm>
          <a:prstGeom prst="rect">
            <a:avLst/>
          </a:prstGeom>
          <a:noFill/>
          <a:ln>
            <a:noFill/>
          </a:ln>
        </p:spPr>
      </p:pic>
      <p:sp>
        <p:nvSpPr>
          <p:cNvPr id="4673" name="Google Shape;4673;p254"/>
          <p:cNvSpPr txBox="1"/>
          <p:nvPr>
            <p:ph idx="1" type="body"/>
          </p:nvPr>
        </p:nvSpPr>
        <p:spPr>
          <a:xfrm>
            <a:off x="455485" y="2431144"/>
            <a:ext cx="4662784" cy="2296732"/>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Why is it important</a:t>
            </a:r>
            <a:endParaRPr b="1">
              <a:solidFill>
                <a:schemeClr val="accent1"/>
              </a:solidFill>
            </a:endParaRPr>
          </a:p>
          <a:p>
            <a:pPr indent="0" lvl="0" marL="0" rtl="0" algn="l">
              <a:lnSpc>
                <a:spcPct val="95000"/>
              </a:lnSpc>
              <a:spcBef>
                <a:spcPts val="200"/>
              </a:spcBef>
              <a:spcAft>
                <a:spcPts val="0"/>
              </a:spcAft>
              <a:buClr>
                <a:schemeClr val="dk1"/>
              </a:buClr>
              <a:buSzPts val="1200"/>
              <a:buNone/>
            </a:pPr>
            <a:r>
              <a:rPr lang="en-GB" sz="1200"/>
              <a:t>Enterprise Performance Management covers two main areas:</a:t>
            </a:r>
            <a:endParaRPr sz="1200"/>
          </a:p>
          <a:p>
            <a:pPr indent="-169863" lvl="0" marL="169863" rtl="0" algn="l">
              <a:lnSpc>
                <a:spcPct val="95000"/>
              </a:lnSpc>
              <a:spcBef>
                <a:spcPts val="600"/>
              </a:spcBef>
              <a:spcAft>
                <a:spcPts val="0"/>
              </a:spcAft>
              <a:buClr>
                <a:schemeClr val="dk1"/>
              </a:buClr>
              <a:buSzPts val="1200"/>
              <a:buChar char="•"/>
            </a:pPr>
            <a:r>
              <a:rPr lang="en-GB" sz="1200"/>
              <a:t>Driving more efficient financial processes, enable greater control and transparency, and promote regulatory compliance (e.g. minimizing reputational risk because of incorrect financial statements.)</a:t>
            </a:r>
            <a:endParaRPr sz="1200"/>
          </a:p>
          <a:p>
            <a:pPr indent="-169863" lvl="0" marL="169863" rtl="0" algn="l">
              <a:lnSpc>
                <a:spcPct val="95000"/>
              </a:lnSpc>
              <a:spcBef>
                <a:spcPts val="600"/>
              </a:spcBef>
              <a:spcAft>
                <a:spcPts val="0"/>
              </a:spcAft>
              <a:buClr>
                <a:schemeClr val="dk1"/>
              </a:buClr>
              <a:buSzPts val="1200"/>
              <a:buChar char="•"/>
            </a:pPr>
            <a:r>
              <a:rPr lang="en-GB" sz="1200"/>
              <a:t>Measuring, monitoring and improving performance across the organisation through better profitability analytics, internal management reporting, budget, planning and forecasting etc.</a:t>
            </a:r>
            <a:endParaRPr sz="1200"/>
          </a:p>
        </p:txBody>
      </p:sp>
      <p:sp>
        <p:nvSpPr>
          <p:cNvPr id="4674" name="Google Shape;4674;p254"/>
          <p:cNvSpPr txBox="1"/>
          <p:nvPr>
            <p:ph type="title"/>
          </p:nvPr>
        </p:nvSpPr>
        <p:spPr>
          <a:xfrm>
            <a:off x="433348" y="17427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Enterprise Performance </a:t>
            </a:r>
            <a:br>
              <a:rPr lang="en-GB"/>
            </a:br>
            <a:r>
              <a:rPr lang="en-GB"/>
              <a:t>Management</a:t>
            </a:r>
            <a:endParaRPr/>
          </a:p>
        </p:txBody>
      </p:sp>
      <p:sp>
        <p:nvSpPr>
          <p:cNvPr id="4675" name="Google Shape;4675;p254"/>
          <p:cNvSpPr/>
          <p:nvPr/>
        </p:nvSpPr>
        <p:spPr>
          <a:xfrm>
            <a:off x="-5255" y="1013819"/>
            <a:ext cx="7205662" cy="1281867"/>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90488" marR="0" rtl="0" algn="l">
              <a:spcBef>
                <a:spcPts val="0"/>
              </a:spcBef>
              <a:spcAft>
                <a:spcPts val="0"/>
              </a:spcAft>
              <a:buNone/>
            </a:pPr>
            <a:r>
              <a:rPr b="0" i="1" lang="en-GB" sz="1400" u="none" cap="none" strike="noStrike">
                <a:solidFill>
                  <a:schemeClr val="lt1"/>
                </a:solidFill>
                <a:latin typeface="Century Gothic"/>
                <a:ea typeface="Century Gothic"/>
                <a:cs typeface="Century Gothic"/>
                <a:sym typeface="Century Gothic"/>
              </a:rPr>
              <a:t>Enterprise Performance Management is a critical responsibility of the CFO department, focused on topics such as budget/planning, profitability analytics and calculation of KPIs and performance metrics. The objective is to deliver value-adding information to external and internal stakeholders in a fast and efficient manner.</a:t>
            </a:r>
            <a:endParaRPr/>
          </a:p>
        </p:txBody>
      </p:sp>
      <p:sp>
        <p:nvSpPr>
          <p:cNvPr id="4676" name="Google Shape;4676;p254">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4" name="Shape 4744"/>
        <p:cNvGrpSpPr/>
        <p:nvPr/>
      </p:nvGrpSpPr>
      <p:grpSpPr>
        <a:xfrm>
          <a:off x="0" y="0"/>
          <a:ext cx="0" cy="0"/>
          <a:chOff x="0" y="0"/>
          <a:chExt cx="0" cy="0"/>
        </a:xfrm>
      </p:grpSpPr>
      <p:pic>
        <p:nvPicPr>
          <p:cNvPr descr="FIN-1012-L.jpg" id="4745" name="Google Shape;4745;p259"/>
          <p:cNvPicPr preferRelativeResize="0"/>
          <p:nvPr/>
        </p:nvPicPr>
        <p:blipFill rotWithShape="1">
          <a:blip r:embed="rId3">
            <a:alphaModFix/>
          </a:blip>
          <a:srcRect b="0" l="23003" r="86" t="0"/>
          <a:stretch/>
        </p:blipFill>
        <p:spPr>
          <a:xfrm>
            <a:off x="5648154" y="279312"/>
            <a:ext cx="3316459" cy="2210972"/>
          </a:xfrm>
          <a:prstGeom prst="rect">
            <a:avLst/>
          </a:prstGeom>
          <a:noFill/>
          <a:ln>
            <a:noFill/>
          </a:ln>
        </p:spPr>
      </p:pic>
      <p:cxnSp>
        <p:nvCxnSpPr>
          <p:cNvPr id="4746" name="Google Shape;4746;p259"/>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747" name="Google Shape;4747;p259"/>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Provide knowledge to the enterprise of the components of the mix of the revenue being generated and the margins associated with these products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The enterprise must be able to understand either how to maximize high margin products/services or clearly understand what happens if “lower margin” products/services are sold and the </a:t>
                      </a:r>
                      <a:r>
                        <a:rPr b="0" lang="en-GB" sz="900">
                          <a:solidFill>
                            <a:schemeClr val="dk1"/>
                          </a:solidFill>
                        </a:rPr>
                        <a:t> impact</a:t>
                      </a:r>
                      <a:r>
                        <a:rPr b="0" lang="en-GB" sz="900">
                          <a:solidFill>
                            <a:schemeClr val="dk1"/>
                          </a:solidFill>
                        </a:rPr>
                        <a:t> on the cash flow and income statement.</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Maximization</a:t>
                      </a:r>
                      <a:r>
                        <a:rPr b="0" lang="en-GB" sz="900">
                          <a:solidFill>
                            <a:schemeClr val="dk1"/>
                          </a:solidFill>
                        </a:rPr>
                        <a:t> of ancillary revenue opportunities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sales transaction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Pricing models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External influencer models (e.g. – web logs, social, weather, etc.)</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Customer demographic and buying patterns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 delivering single source of integrated data for analysis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Develop price optimisation methodologies to rapidly respond to the changing buying habits. </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Use of unstructured</a:t>
                      </a:r>
                      <a:r>
                        <a:rPr b="0" lang="en-GB" sz="900">
                          <a:solidFill>
                            <a:schemeClr val="dk1"/>
                          </a:solidFill>
                        </a:rPr>
                        <a:t> data (social, web logs, weather, etc.) can be used to maximize sales opportunities</a:t>
                      </a:r>
                      <a:endParaRPr b="0" sz="900">
                        <a:solidFill>
                          <a:schemeClr val="dk1"/>
                        </a:solidFill>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analyze and understand in more detail the:</a:t>
                      </a:r>
                      <a:endParaRPr/>
                    </a:p>
                    <a:p>
                      <a:pPr indent="-171450" lvl="1" marL="6286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Prices and margins which they are currently able to achieve for each product or service for different combinations of customer / segment / channel etc.</a:t>
                      </a:r>
                      <a:endParaRPr/>
                    </a:p>
                    <a:p>
                      <a:pPr indent="-114300" lvl="1" marL="628650" marR="0" rtl="0" algn="l">
                        <a:lnSpc>
                          <a:spcPct val="100000"/>
                        </a:lnSpc>
                        <a:spcBef>
                          <a:spcPts val="0"/>
                        </a:spcBef>
                        <a:spcAft>
                          <a:spcPts val="0"/>
                        </a:spcAft>
                        <a:buClr>
                          <a:schemeClr val="dk1"/>
                        </a:buClr>
                        <a:buSzPts val="900"/>
                        <a:buFont typeface="Arial"/>
                        <a:buNone/>
                      </a:pPr>
                      <a:r>
                        <a:t/>
                      </a:r>
                      <a:endParaRPr sz="900" u="none" cap="none" strike="noStrike">
                        <a:solidFill>
                          <a:schemeClr val="dk1"/>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Obtain insights to an organisation’s product pricing strategy</a:t>
                      </a:r>
                      <a:endParaRPr/>
                    </a:p>
                    <a:p>
                      <a:pPr indent="-171450" lvl="1" marL="6286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Provide insight into the competitive landscape, pricing strategies of competitors, and changing customer demographics and buying patterns and channels.</a:t>
                      </a:r>
                      <a:endParaRPr/>
                    </a:p>
                    <a:p>
                      <a:pPr indent="-114300" lvl="1" marL="628650" marR="0" rtl="0" algn="l">
                        <a:lnSpc>
                          <a:spcPct val="100000"/>
                        </a:lnSpc>
                        <a:spcBef>
                          <a:spcPts val="0"/>
                        </a:spcBef>
                        <a:spcAft>
                          <a:spcPts val="0"/>
                        </a:spcAft>
                        <a:buClr>
                          <a:schemeClr val="dk1"/>
                        </a:buClr>
                        <a:buSzPts val="900"/>
                        <a:buFont typeface="Arial"/>
                        <a:buNone/>
                      </a:pPr>
                      <a:r>
                        <a:t/>
                      </a:r>
                      <a:endParaRPr sz="900" u="none" cap="none" strike="noStrike">
                        <a:solidFill>
                          <a:schemeClr val="dk1"/>
                        </a:solidFill>
                        <a:latin typeface="Century Gothic"/>
                        <a:ea typeface="Century Gothic"/>
                        <a:cs typeface="Century Gothic"/>
                        <a:sym typeface="Century Gothic"/>
                      </a:endParaRPr>
                    </a:p>
                    <a:p>
                      <a:pPr indent="-114300" lvl="1" marL="628650" marR="0" rtl="0" algn="l">
                        <a:lnSpc>
                          <a:spcPct val="100000"/>
                        </a:lnSpc>
                        <a:spcBef>
                          <a:spcPts val="0"/>
                        </a:spcBef>
                        <a:spcAft>
                          <a:spcPts val="0"/>
                        </a:spcAft>
                        <a:buClr>
                          <a:schemeClr val="dk1"/>
                        </a:buClr>
                        <a:buSzPts val="900"/>
                        <a:buFont typeface="Arial"/>
                        <a:buNone/>
                      </a:pPr>
                      <a:r>
                        <a:t/>
                      </a:r>
                      <a:endParaRPr sz="900" u="none" cap="none" strike="noStrike">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748" name="Google Shape;4748;p259"/>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Revenue Analytics</a:t>
            </a:r>
            <a:endParaRPr sz="1600"/>
          </a:p>
        </p:txBody>
      </p:sp>
      <p:grpSp>
        <p:nvGrpSpPr>
          <p:cNvPr id="4749" name="Google Shape;4749;p259"/>
          <p:cNvGrpSpPr/>
          <p:nvPr/>
        </p:nvGrpSpPr>
        <p:grpSpPr>
          <a:xfrm>
            <a:off x="7717533" y="4360377"/>
            <a:ext cx="1058348" cy="347375"/>
            <a:chOff x="7651698" y="4287227"/>
            <a:chExt cx="1058348" cy="347375"/>
          </a:xfrm>
        </p:grpSpPr>
        <p:grpSp>
          <p:nvGrpSpPr>
            <p:cNvPr id="4750" name="Google Shape;4750;p259"/>
            <p:cNvGrpSpPr/>
            <p:nvPr/>
          </p:nvGrpSpPr>
          <p:grpSpPr>
            <a:xfrm>
              <a:off x="7714163" y="4337598"/>
              <a:ext cx="995883" cy="297004"/>
              <a:chOff x="7711013" y="3986494"/>
              <a:chExt cx="995883" cy="297004"/>
            </a:xfrm>
          </p:grpSpPr>
          <p:sp>
            <p:nvSpPr>
              <p:cNvPr id="4751" name="Google Shape;4751;p259"/>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752" name="Google Shape;4752;p259"/>
              <p:cNvGrpSpPr/>
              <p:nvPr/>
            </p:nvGrpSpPr>
            <p:grpSpPr>
              <a:xfrm>
                <a:off x="7711013" y="4002615"/>
                <a:ext cx="281520" cy="241973"/>
                <a:chOff x="5652748" y="4066000"/>
                <a:chExt cx="906498" cy="747974"/>
              </a:xfrm>
            </p:grpSpPr>
            <p:sp>
              <p:nvSpPr>
                <p:cNvPr id="4753" name="Google Shape;4753;p259"/>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754" name="Google Shape;4754;p259"/>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755" name="Google Shape;4755;p259"/>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756" name="Google Shape;4756;p259">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4757" name="Google Shape;4757;p259">
            <a:hlinkClick action="ppaction://hlinksldjump" r:id="rId5"/>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6" name="Shape 4776"/>
        <p:cNvGrpSpPr/>
        <p:nvPr/>
      </p:nvGrpSpPr>
      <p:grpSpPr>
        <a:xfrm>
          <a:off x="0" y="0"/>
          <a:ext cx="0" cy="0"/>
          <a:chOff x="0" y="0"/>
          <a:chExt cx="0" cy="0"/>
        </a:xfrm>
      </p:grpSpPr>
      <p:cxnSp>
        <p:nvCxnSpPr>
          <p:cNvPr id="4777" name="Google Shape;4777;p261"/>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778" name="Google Shape;4778;p261"/>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Large organisations face challenges in understanding and managing their costs, across a range of areas, including Human Resources, Suppliers and other Expenses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Data is often distributed across a fragmented landscape of ERP systems, HR systems, GL, payment systems and expenses systems.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Organisations want to be able to analyse, understand and optimise their costs across the entire enterprise and ensure maximum organisational efficiency.</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GL, AP, HR data; suppliers, orders, procurement process, supplier performance; plans / budgets / forecasts for prior periods, plus performance against those metrics; Profitability metrics.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 delivering single source of integrated data for analysis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Options for out-of-the-box data extraction/interface from common ERP solutions.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BI / OLAP tool of choice for reporting, drill-down, visualisation, etc.</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Reduction in costs through:</a:t>
                      </a:r>
                      <a:endParaRPr/>
                    </a:p>
                    <a:p>
                      <a:pPr indent="-171450" lvl="1" marL="355600"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Better understanding and alignment of cross-organisation spend.</a:t>
                      </a:r>
                      <a:endParaRPr/>
                    </a:p>
                    <a:p>
                      <a:pPr indent="-171450" lvl="1" marL="355600"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Ability to demonstrate and measure relationships between cost/spend and profitable business</a:t>
                      </a:r>
                      <a:endParaRPr/>
                    </a:p>
                    <a:p>
                      <a:pPr indent="-171450" lvl="1" marL="355600"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Better informed decisions on where to focus cost management activities</a:t>
                      </a:r>
                      <a:endParaRPr/>
                    </a:p>
                    <a:p>
                      <a:pPr indent="-171450" lvl="1" marL="355600"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Improved organisational efficiency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Greater ability to measure, monitor and track improvements to cost base over time in a systematic and automated way.</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779" name="Google Shape;4779;p261"/>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GL, AP, HR, Expense Analytics &amp;</a:t>
            </a:r>
            <a:br>
              <a:rPr lang="en-GB"/>
            </a:br>
            <a:r>
              <a:rPr lang="en-GB"/>
              <a:t>Optimisation</a:t>
            </a:r>
            <a:endParaRPr sz="1600"/>
          </a:p>
        </p:txBody>
      </p:sp>
      <p:sp>
        <p:nvSpPr>
          <p:cNvPr id="4780" name="Google Shape;4780;p261">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pic>
        <p:nvPicPr>
          <p:cNvPr descr="FIN-1012-L.jpg" id="4781" name="Google Shape;4781;p261"/>
          <p:cNvPicPr preferRelativeResize="0"/>
          <p:nvPr/>
        </p:nvPicPr>
        <p:blipFill rotWithShape="1">
          <a:blip r:embed="rId4">
            <a:alphaModFix/>
          </a:blip>
          <a:srcRect b="0" l="23003" r="86" t="0"/>
          <a:stretch/>
        </p:blipFill>
        <p:spPr>
          <a:xfrm>
            <a:off x="5648154" y="279312"/>
            <a:ext cx="3316459" cy="2210972"/>
          </a:xfrm>
          <a:prstGeom prst="rect">
            <a:avLst/>
          </a:prstGeom>
          <a:noFill/>
          <a:ln>
            <a:noFill/>
          </a:ln>
        </p:spPr>
      </p:pic>
      <p:grpSp>
        <p:nvGrpSpPr>
          <p:cNvPr id="4782" name="Google Shape;4782;p261"/>
          <p:cNvGrpSpPr/>
          <p:nvPr/>
        </p:nvGrpSpPr>
        <p:grpSpPr>
          <a:xfrm>
            <a:off x="7717533" y="4360377"/>
            <a:ext cx="1058348" cy="347375"/>
            <a:chOff x="7651698" y="4287227"/>
            <a:chExt cx="1058348" cy="347375"/>
          </a:xfrm>
        </p:grpSpPr>
        <p:grpSp>
          <p:nvGrpSpPr>
            <p:cNvPr id="4783" name="Google Shape;4783;p261"/>
            <p:cNvGrpSpPr/>
            <p:nvPr/>
          </p:nvGrpSpPr>
          <p:grpSpPr>
            <a:xfrm>
              <a:off x="7714163" y="4337598"/>
              <a:ext cx="995883" cy="297004"/>
              <a:chOff x="7711013" y="3986494"/>
              <a:chExt cx="995883" cy="297004"/>
            </a:xfrm>
          </p:grpSpPr>
          <p:sp>
            <p:nvSpPr>
              <p:cNvPr id="4784" name="Google Shape;4784;p261"/>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785" name="Google Shape;4785;p261"/>
              <p:cNvGrpSpPr/>
              <p:nvPr/>
            </p:nvGrpSpPr>
            <p:grpSpPr>
              <a:xfrm>
                <a:off x="7711013" y="4002615"/>
                <a:ext cx="281520" cy="241973"/>
                <a:chOff x="5652748" y="4066000"/>
                <a:chExt cx="906498" cy="747974"/>
              </a:xfrm>
            </p:grpSpPr>
            <p:sp>
              <p:nvSpPr>
                <p:cNvPr id="4786" name="Google Shape;4786;p261"/>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787" name="Google Shape;4787;p261"/>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788" name="Google Shape;4788;p261"/>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789" name="Google Shape;4789;p261">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8" name="Shape 4808"/>
        <p:cNvGrpSpPr/>
        <p:nvPr/>
      </p:nvGrpSpPr>
      <p:grpSpPr>
        <a:xfrm>
          <a:off x="0" y="0"/>
          <a:ext cx="0" cy="0"/>
          <a:chOff x="0" y="0"/>
          <a:chExt cx="0" cy="0"/>
        </a:xfrm>
      </p:grpSpPr>
      <p:cxnSp>
        <p:nvCxnSpPr>
          <p:cNvPr id="4809" name="Google Shape;4809;p263"/>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810" name="Google Shape;4810;p263"/>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Develop more sophisticated and granular ABC models to support more accurate profitability analytics, and more detailed understanding of costs within the organisation.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Utilise comprehensive, validated financial and activity data, across all channels to develop ABC models.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Develop and update ABC models quickly and easily, and minimise the resource requirement / cost.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Refresh ABC models on a more frequent basis, and with minimal or no manual intervention.</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Broad range of data covering the  whole organisation, including:</a:t>
                      </a:r>
                      <a:endParaRPr/>
                    </a:p>
                    <a:p>
                      <a:pPr indent="0" lvl="0" marL="177800" marR="0" rtl="0" algn="l">
                        <a:spcBef>
                          <a:spcPts val="0"/>
                        </a:spcBef>
                        <a:spcAft>
                          <a:spcPts val="0"/>
                        </a:spcAft>
                        <a:buClr>
                          <a:schemeClr val="dk1"/>
                        </a:buClr>
                        <a:buSzPts val="900"/>
                        <a:buFont typeface="Century Gothic"/>
                        <a:buNone/>
                      </a:pPr>
                      <a:r>
                        <a:rPr lang="en-GB" sz="900">
                          <a:solidFill>
                            <a:schemeClr val="dk1"/>
                          </a:solidFill>
                        </a:rPr>
                        <a:t>Financial/GL; Customer; Product; Accounts; Services; other agreements; Transaction s and interactions;  Business Processes</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Flexible functionality to define the ABC calculations</a:t>
                      </a:r>
                      <a:endParaRPr sz="900">
                        <a:solidFill>
                          <a:schemeClr val="dk1"/>
                        </a:solidFill>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Range of possible ABC options, all using integrated data sourced from the data warehouse:</a:t>
                      </a:r>
                      <a:endParaRPr/>
                    </a:p>
                    <a:p>
                      <a:pPr indent="-171450" lvl="0" marL="355600" marR="0" rtl="0" algn="l">
                        <a:lnSpc>
                          <a:spcPct val="100000"/>
                        </a:lnSpc>
                        <a:spcBef>
                          <a:spcPts val="0"/>
                        </a:spcBef>
                        <a:spcAft>
                          <a:spcPts val="0"/>
                        </a:spcAft>
                        <a:buClr>
                          <a:schemeClr val="dk1"/>
                        </a:buClr>
                        <a:buSzPts val="900"/>
                        <a:buFont typeface="Century Gothic"/>
                        <a:buChar char="−"/>
                      </a:pPr>
                      <a:r>
                        <a:rPr lang="en-GB" sz="900">
                          <a:solidFill>
                            <a:schemeClr val="dk1"/>
                          </a:solidFill>
                        </a:rPr>
                        <a:t>Custom-development of in-database ABC models</a:t>
                      </a:r>
                      <a:endParaRPr/>
                    </a:p>
                    <a:p>
                      <a:pPr indent="-171450" lvl="0" marL="355600" marR="0" rtl="0" algn="l">
                        <a:lnSpc>
                          <a:spcPct val="100000"/>
                        </a:lnSpc>
                        <a:spcBef>
                          <a:spcPts val="0"/>
                        </a:spcBef>
                        <a:spcAft>
                          <a:spcPts val="0"/>
                        </a:spcAft>
                        <a:buClr>
                          <a:schemeClr val="dk1"/>
                        </a:buClr>
                        <a:buSzPts val="900"/>
                        <a:buFont typeface="Century Gothic"/>
                        <a:buChar char="−"/>
                      </a:pPr>
                      <a:r>
                        <a:rPr lang="en-GB" sz="900">
                          <a:solidFill>
                            <a:schemeClr val="dk1"/>
                          </a:solidFill>
                        </a:rPr>
                        <a:t>Industry-leading ABC solutions, either running in-database or as downstream application.</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Fast, frequent and automated ABC process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Single, consistent definition of cost allocation methodology across all business units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perform ABC calculations  at a highly detailed and granular level</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use integrated, high quality data held in the Teradata Data Warehouse to drive the ABC process:</a:t>
                      </a:r>
                      <a:endParaRPr/>
                    </a:p>
                    <a:p>
                      <a:pPr indent="-171450" lvl="0" marL="360363"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Validated and reconciled cost data from the GL and other financial systems</a:t>
                      </a:r>
                      <a:endParaRPr/>
                    </a:p>
                    <a:p>
                      <a:pPr indent="-171450" lvl="0" marL="360363"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Full range of drivers, covering both transactions and other interactions, across all channels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Analytical data set which can feed downstream </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applications and, models and analysis</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811" name="Google Shape;4811;p263"/>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Activity Based Costing</a:t>
            </a:r>
            <a:endParaRPr sz="1600"/>
          </a:p>
        </p:txBody>
      </p:sp>
      <p:sp>
        <p:nvSpPr>
          <p:cNvPr id="4812" name="Google Shape;4812;p263">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pic>
        <p:nvPicPr>
          <p:cNvPr descr="FIN-1012-L.jpg" id="4813" name="Google Shape;4813;p263"/>
          <p:cNvPicPr preferRelativeResize="0"/>
          <p:nvPr/>
        </p:nvPicPr>
        <p:blipFill rotWithShape="1">
          <a:blip r:embed="rId4">
            <a:alphaModFix/>
          </a:blip>
          <a:srcRect b="0" l="23003" r="86" t="0"/>
          <a:stretch/>
        </p:blipFill>
        <p:spPr>
          <a:xfrm>
            <a:off x="5648154" y="279312"/>
            <a:ext cx="3316459" cy="2210972"/>
          </a:xfrm>
          <a:prstGeom prst="rect">
            <a:avLst/>
          </a:prstGeom>
          <a:noFill/>
          <a:ln>
            <a:noFill/>
          </a:ln>
        </p:spPr>
      </p:pic>
      <p:grpSp>
        <p:nvGrpSpPr>
          <p:cNvPr id="4814" name="Google Shape;4814;p263"/>
          <p:cNvGrpSpPr/>
          <p:nvPr/>
        </p:nvGrpSpPr>
        <p:grpSpPr>
          <a:xfrm>
            <a:off x="7717533" y="4360377"/>
            <a:ext cx="1058348" cy="347375"/>
            <a:chOff x="7651698" y="4287227"/>
            <a:chExt cx="1058348" cy="347375"/>
          </a:xfrm>
        </p:grpSpPr>
        <p:grpSp>
          <p:nvGrpSpPr>
            <p:cNvPr id="4815" name="Google Shape;4815;p263"/>
            <p:cNvGrpSpPr/>
            <p:nvPr/>
          </p:nvGrpSpPr>
          <p:grpSpPr>
            <a:xfrm>
              <a:off x="7714163" y="4337598"/>
              <a:ext cx="995883" cy="297004"/>
              <a:chOff x="7711013" y="3986494"/>
              <a:chExt cx="995883" cy="297004"/>
            </a:xfrm>
          </p:grpSpPr>
          <p:sp>
            <p:nvSpPr>
              <p:cNvPr id="4816" name="Google Shape;4816;p263"/>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817" name="Google Shape;4817;p263"/>
              <p:cNvGrpSpPr/>
              <p:nvPr/>
            </p:nvGrpSpPr>
            <p:grpSpPr>
              <a:xfrm>
                <a:off x="7711013" y="4002615"/>
                <a:ext cx="281520" cy="241973"/>
                <a:chOff x="5652748" y="4066000"/>
                <a:chExt cx="906498" cy="747974"/>
              </a:xfrm>
            </p:grpSpPr>
            <p:sp>
              <p:nvSpPr>
                <p:cNvPr id="4818" name="Google Shape;4818;p263"/>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819" name="Google Shape;4819;p263"/>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820" name="Google Shape;4820;p263"/>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821" name="Google Shape;4821;p263">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0" name="Shape 4840"/>
        <p:cNvGrpSpPr/>
        <p:nvPr/>
      </p:nvGrpSpPr>
      <p:grpSpPr>
        <a:xfrm>
          <a:off x="0" y="0"/>
          <a:ext cx="0" cy="0"/>
          <a:chOff x="0" y="0"/>
          <a:chExt cx="0" cy="0"/>
        </a:xfrm>
      </p:grpSpPr>
      <p:cxnSp>
        <p:nvCxnSpPr>
          <p:cNvPr id="4841" name="Google Shape;4841;p265"/>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842" name="Google Shape;4842;p265"/>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Comprehensive, detailed and granular profitability model(s) which reflect:</a:t>
                      </a:r>
                      <a:endParaRPr/>
                    </a:p>
                    <a:p>
                      <a:pPr indent="-171450" lvl="0" marL="355600" marR="0" rtl="0" algn="l">
                        <a:lnSpc>
                          <a:spcPct val="100000"/>
                        </a:lnSpc>
                        <a:spcBef>
                          <a:spcPts val="0"/>
                        </a:spcBef>
                        <a:spcAft>
                          <a:spcPts val="0"/>
                        </a:spcAft>
                        <a:buClr>
                          <a:schemeClr val="dk1"/>
                        </a:buClr>
                        <a:buSzPts val="900"/>
                        <a:buFont typeface="Century Gothic"/>
                        <a:buChar char="−"/>
                      </a:pPr>
                      <a:r>
                        <a:rPr b="0" lang="en-GB" sz="900">
                          <a:solidFill>
                            <a:schemeClr val="dk1"/>
                          </a:solidFill>
                          <a:latin typeface="Century Gothic"/>
                          <a:ea typeface="Century Gothic"/>
                          <a:cs typeface="Century Gothic"/>
                          <a:sym typeface="Century Gothic"/>
                        </a:rPr>
                        <a:t>Full P&amp;L (Revenue, Cost, Risk, Capital).</a:t>
                      </a:r>
                      <a:endParaRPr/>
                    </a:p>
                    <a:p>
                      <a:pPr indent="-171450" lvl="0" marL="355600" marR="0" rtl="0" algn="l">
                        <a:lnSpc>
                          <a:spcPct val="100000"/>
                        </a:lnSpc>
                        <a:spcBef>
                          <a:spcPts val="0"/>
                        </a:spcBef>
                        <a:spcAft>
                          <a:spcPts val="0"/>
                        </a:spcAft>
                        <a:buClr>
                          <a:schemeClr val="dk1"/>
                        </a:buClr>
                        <a:buSzPts val="900"/>
                        <a:buFont typeface="Century Gothic"/>
                        <a:buChar char="−"/>
                      </a:pPr>
                      <a:r>
                        <a:rPr b="0" lang="en-GB" sz="900">
                          <a:solidFill>
                            <a:schemeClr val="dk1"/>
                          </a:solidFill>
                          <a:latin typeface="Century Gothic"/>
                          <a:ea typeface="Century Gothic"/>
                          <a:cs typeface="Century Gothic"/>
                          <a:sym typeface="Century Gothic"/>
                        </a:rPr>
                        <a:t>Comprehensive coverage of products and services.</a:t>
                      </a:r>
                      <a:endParaRPr/>
                    </a:p>
                    <a:p>
                      <a:pPr indent="-171450" lvl="0" marL="355600" marR="0" rtl="0" algn="l">
                        <a:lnSpc>
                          <a:spcPct val="100000"/>
                        </a:lnSpc>
                        <a:spcBef>
                          <a:spcPts val="0"/>
                        </a:spcBef>
                        <a:spcAft>
                          <a:spcPts val="0"/>
                        </a:spcAft>
                        <a:buClr>
                          <a:schemeClr val="dk1"/>
                        </a:buClr>
                        <a:buSzPts val="900"/>
                        <a:buFont typeface="Century Gothic"/>
                        <a:buChar char="−"/>
                      </a:pPr>
                      <a:r>
                        <a:rPr b="0" lang="en-GB" sz="900">
                          <a:solidFill>
                            <a:schemeClr val="dk1"/>
                          </a:solidFill>
                          <a:latin typeface="Century Gothic"/>
                          <a:ea typeface="Century Gothic"/>
                          <a:cs typeface="Century Gothic"/>
                          <a:sym typeface="Century Gothic"/>
                        </a:rPr>
                        <a:t>Detailed driven , bottom up approach.  Allocations at the transaction level based on activities , events and behaviours.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Profitability models which are flexible, and easy to maintain – preferably by business users and requiring limited IT involvement.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support multi-dimensional views of profitability (Customer, Product, Organisational, Channel) from a single set of calculation rules/results.</a:t>
                      </a:r>
                      <a:endParaRPr/>
                    </a:p>
                    <a:p>
                      <a:pPr indent="0" lvl="0" marL="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Broad range of data covering the  whole organisation, including:</a:t>
                      </a:r>
                      <a:endParaRPr/>
                    </a:p>
                    <a:p>
                      <a:pPr indent="0" lvl="0" marL="177800" marR="0" rtl="0" algn="l">
                        <a:spcBef>
                          <a:spcPts val="0"/>
                        </a:spcBef>
                        <a:spcAft>
                          <a:spcPts val="0"/>
                        </a:spcAft>
                        <a:buClr>
                          <a:schemeClr val="dk1"/>
                        </a:buClr>
                        <a:buSzPts val="900"/>
                        <a:buFont typeface="Century Gothic"/>
                        <a:buNone/>
                      </a:pPr>
                      <a:r>
                        <a:rPr lang="en-GB" sz="900">
                          <a:solidFill>
                            <a:schemeClr val="dk1"/>
                          </a:solidFill>
                        </a:rPr>
                        <a:t>financial/GL; customer; product; accounts, services, other agreements; balances, interest and FTP rates; transactions and interactions.</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90000"/>
                        </a:lnSpc>
                        <a:spcBef>
                          <a:spcPts val="0"/>
                        </a:spcBef>
                        <a:spcAft>
                          <a:spcPts val="0"/>
                        </a:spcAft>
                        <a:buClr>
                          <a:schemeClr val="dk1"/>
                        </a:buClr>
                        <a:buSzPts val="900"/>
                        <a:buFont typeface="Arial"/>
                        <a:buChar char="•"/>
                      </a:pPr>
                      <a:r>
                        <a:rPr lang="en-GB" sz="900">
                          <a:solidFill>
                            <a:schemeClr val="dk1"/>
                          </a:solidFill>
                        </a:rPr>
                        <a:t>Data warehouse to hold integrated set of granular data to support detailed behavioural profitability calculations (as well as a broad range of other reporting and analytics across the business)</a:t>
                      </a:r>
                      <a:endParaRPr/>
                    </a:p>
                    <a:p>
                      <a:pPr indent="-171450" lvl="0" marL="171450" marR="0" rtl="0" algn="l">
                        <a:lnSpc>
                          <a:spcPct val="90000"/>
                        </a:lnSpc>
                        <a:spcBef>
                          <a:spcPts val="0"/>
                        </a:spcBef>
                        <a:spcAft>
                          <a:spcPts val="0"/>
                        </a:spcAft>
                        <a:buClr>
                          <a:schemeClr val="dk1"/>
                        </a:buClr>
                        <a:buSzPts val="900"/>
                        <a:buFont typeface="Arial"/>
                        <a:buChar char="•"/>
                      </a:pPr>
                      <a:r>
                        <a:rPr lang="en-GB" sz="900">
                          <a:solidFill>
                            <a:schemeClr val="dk1"/>
                          </a:solidFill>
                        </a:rPr>
                        <a:t>Range of calculation engines running in-database or downstream of the data warehouse.</a:t>
                      </a:r>
                      <a:endParaRPr/>
                    </a:p>
                    <a:p>
                      <a:pPr indent="-171450" lvl="0" marL="171450" marR="0" rtl="0" algn="l">
                        <a:lnSpc>
                          <a:spcPct val="90000"/>
                        </a:lnSpc>
                        <a:spcBef>
                          <a:spcPts val="0"/>
                        </a:spcBef>
                        <a:spcAft>
                          <a:spcPts val="0"/>
                        </a:spcAft>
                        <a:buClr>
                          <a:schemeClr val="dk1"/>
                        </a:buClr>
                        <a:buSzPts val="900"/>
                        <a:buFont typeface="Arial"/>
                        <a:buChar char="•"/>
                      </a:pPr>
                      <a:r>
                        <a:rPr lang="en-GB" sz="900">
                          <a:solidFill>
                            <a:schemeClr val="dk1"/>
                          </a:solidFill>
                        </a:rPr>
                        <a:t>Ability to feed downstream analytics such as customer segmentation, product analytics, pricing models, sales force performance, etc.</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Profitability results in hours, not days by utilising the power and scalability of the Teradata database platform.</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Comprehensive results, delivering a full P&amp;L for each dimensional view</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Detailed and granular profitability results which utilise transaction detail for each customer to deliver behavioural profitability.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Flexible, rules-based development and maintenance of profitability calculations.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Automated and robust solution which requires minimal manual intervention.</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843" name="Google Shape;4843;p265"/>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Profitability Modelling</a:t>
            </a:r>
            <a:endParaRPr sz="1600"/>
          </a:p>
        </p:txBody>
      </p:sp>
      <p:sp>
        <p:nvSpPr>
          <p:cNvPr id="4844" name="Google Shape;4844;p265">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pic>
        <p:nvPicPr>
          <p:cNvPr descr="FIN-1012-L.jpg" id="4845" name="Google Shape;4845;p265"/>
          <p:cNvPicPr preferRelativeResize="0"/>
          <p:nvPr/>
        </p:nvPicPr>
        <p:blipFill rotWithShape="1">
          <a:blip r:embed="rId4">
            <a:alphaModFix/>
          </a:blip>
          <a:srcRect b="0" l="23003" r="86" t="0"/>
          <a:stretch/>
        </p:blipFill>
        <p:spPr>
          <a:xfrm>
            <a:off x="5648154" y="279312"/>
            <a:ext cx="3316459" cy="2210972"/>
          </a:xfrm>
          <a:prstGeom prst="rect">
            <a:avLst/>
          </a:prstGeom>
          <a:noFill/>
          <a:ln>
            <a:noFill/>
          </a:ln>
        </p:spPr>
      </p:pic>
      <p:grpSp>
        <p:nvGrpSpPr>
          <p:cNvPr id="4846" name="Google Shape;4846;p265"/>
          <p:cNvGrpSpPr/>
          <p:nvPr/>
        </p:nvGrpSpPr>
        <p:grpSpPr>
          <a:xfrm>
            <a:off x="7717533" y="4360377"/>
            <a:ext cx="1058348" cy="347375"/>
            <a:chOff x="7651698" y="4287227"/>
            <a:chExt cx="1058348" cy="347375"/>
          </a:xfrm>
        </p:grpSpPr>
        <p:grpSp>
          <p:nvGrpSpPr>
            <p:cNvPr id="4847" name="Google Shape;4847;p265"/>
            <p:cNvGrpSpPr/>
            <p:nvPr/>
          </p:nvGrpSpPr>
          <p:grpSpPr>
            <a:xfrm>
              <a:off x="7714163" y="4337598"/>
              <a:ext cx="995883" cy="297004"/>
              <a:chOff x="7711013" y="3986494"/>
              <a:chExt cx="995883" cy="297004"/>
            </a:xfrm>
          </p:grpSpPr>
          <p:sp>
            <p:nvSpPr>
              <p:cNvPr id="4848" name="Google Shape;4848;p265"/>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849" name="Google Shape;4849;p265"/>
              <p:cNvGrpSpPr/>
              <p:nvPr/>
            </p:nvGrpSpPr>
            <p:grpSpPr>
              <a:xfrm>
                <a:off x="7711013" y="4002615"/>
                <a:ext cx="281520" cy="241973"/>
                <a:chOff x="5652748" y="4066000"/>
                <a:chExt cx="906498" cy="747974"/>
              </a:xfrm>
            </p:grpSpPr>
            <p:sp>
              <p:nvSpPr>
                <p:cNvPr id="4850" name="Google Shape;4850;p265"/>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851" name="Google Shape;4851;p265"/>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852" name="Google Shape;4852;p265"/>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853" name="Google Shape;4853;p265">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2" name="Shape 4872"/>
        <p:cNvGrpSpPr/>
        <p:nvPr/>
      </p:nvGrpSpPr>
      <p:grpSpPr>
        <a:xfrm>
          <a:off x="0" y="0"/>
          <a:ext cx="0" cy="0"/>
          <a:chOff x="0" y="0"/>
          <a:chExt cx="0" cy="0"/>
        </a:xfrm>
      </p:grpSpPr>
      <p:cxnSp>
        <p:nvCxnSpPr>
          <p:cNvPr id="4873" name="Google Shape;4873;p267"/>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874" name="Google Shape;4874;p267"/>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Target new prospects, and manage existing customers based on their future value potential.</a:t>
                      </a:r>
                      <a:endParaRPr/>
                    </a:p>
                    <a:p>
                      <a:pPr indent="-171450" lvl="0" marL="171450" marR="0" rtl="0" algn="l">
                        <a:lnSpc>
                          <a:spcPct val="100000"/>
                        </a:lnSpc>
                        <a:spcBef>
                          <a:spcPts val="0"/>
                        </a:spcBef>
                        <a:spcAft>
                          <a:spcPts val="0"/>
                        </a:spcAft>
                        <a:buClr>
                          <a:schemeClr val="dk1"/>
                        </a:buClr>
                        <a:buSzPts val="900"/>
                        <a:buFont typeface="Arial"/>
                        <a:buChar char="•"/>
                      </a:pPr>
                      <a:r>
                        <a:rPr lang="en-GB" sz="900" strike="noStrike">
                          <a:solidFill>
                            <a:schemeClr val="dk1"/>
                          </a:solidFill>
                          <a:latin typeface="Century Gothic"/>
                          <a:ea typeface="Century Gothic"/>
                          <a:cs typeface="Century Gothic"/>
                          <a:sym typeface="Century Gothic"/>
                        </a:rPr>
                        <a:t>Calculate Product / Segment Net Present Value (NPV)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Calculate individual Customer / Prospect Future value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Future Value models which are flexible and easy to maintain – preferably by business users and requiring limited IT involvement.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Robust &amp; automated execution process which produces results quickly.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Track and monitor improvements in current profitability and future profitability projections, and incrementally improve models.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output from current/historic profitability models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Customer demographic and behavioural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Propensity models (propensity to buy, attrition, price elasticity)</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Economic projections (e.g. inflation, tax rates, cost of capital etc.)</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90000"/>
                        </a:lnSpc>
                        <a:spcBef>
                          <a:spcPts val="0"/>
                        </a:spcBef>
                        <a:spcAft>
                          <a:spcPts val="0"/>
                        </a:spcAft>
                        <a:buClr>
                          <a:schemeClr val="dk1"/>
                        </a:buClr>
                        <a:buSzPts val="900"/>
                        <a:buFont typeface="Arial"/>
                        <a:buChar char="•"/>
                      </a:pPr>
                      <a:r>
                        <a:rPr lang="en-GB" sz="900">
                          <a:solidFill>
                            <a:schemeClr val="dk1"/>
                          </a:solidFill>
                        </a:rPr>
                        <a:t>Range of options depending on level of sophistication and detail required, including:</a:t>
                      </a:r>
                      <a:endParaRPr/>
                    </a:p>
                    <a:p>
                      <a:pPr indent="-171450" lvl="0" marL="355600" marR="0" rtl="0" algn="l">
                        <a:lnSpc>
                          <a:spcPct val="90000"/>
                        </a:lnSpc>
                        <a:spcBef>
                          <a:spcPts val="0"/>
                        </a:spcBef>
                        <a:spcAft>
                          <a:spcPts val="0"/>
                        </a:spcAft>
                        <a:buClr>
                          <a:schemeClr val="dk1"/>
                        </a:buClr>
                        <a:buSzPts val="900"/>
                        <a:buFont typeface="Century Gothic"/>
                        <a:buChar char="−"/>
                      </a:pPr>
                      <a:r>
                        <a:rPr lang="en-GB" sz="900">
                          <a:solidFill>
                            <a:schemeClr val="dk1"/>
                          </a:solidFill>
                        </a:rPr>
                        <a:t>BI and Excel-based models to deliver product/segment NPVs.</a:t>
                      </a:r>
                      <a:endParaRPr/>
                    </a:p>
                    <a:p>
                      <a:pPr indent="-171450" lvl="0" marL="355600" marR="0" rtl="0" algn="l">
                        <a:lnSpc>
                          <a:spcPct val="90000"/>
                        </a:lnSpc>
                        <a:spcBef>
                          <a:spcPts val="0"/>
                        </a:spcBef>
                        <a:spcAft>
                          <a:spcPts val="0"/>
                        </a:spcAft>
                        <a:buClr>
                          <a:schemeClr val="dk1"/>
                        </a:buClr>
                        <a:buSzPts val="900"/>
                        <a:buFont typeface="Century Gothic"/>
                        <a:buChar char="−"/>
                      </a:pPr>
                      <a:r>
                        <a:rPr lang="en-GB" sz="900">
                          <a:solidFill>
                            <a:schemeClr val="dk1"/>
                          </a:solidFill>
                        </a:rPr>
                        <a:t>Analytical discovery to identify specific segments / prospects with high future value/profitability potential.</a:t>
                      </a:r>
                      <a:endParaRPr/>
                    </a:p>
                    <a:p>
                      <a:pPr indent="-171450" lvl="0" marL="355600" marR="0" rtl="0" algn="l">
                        <a:lnSpc>
                          <a:spcPct val="90000"/>
                        </a:lnSpc>
                        <a:spcBef>
                          <a:spcPts val="0"/>
                        </a:spcBef>
                        <a:spcAft>
                          <a:spcPts val="0"/>
                        </a:spcAft>
                        <a:buClr>
                          <a:schemeClr val="dk1"/>
                        </a:buClr>
                        <a:buSzPts val="900"/>
                        <a:buFont typeface="Century Gothic"/>
                        <a:buChar char="−"/>
                      </a:pPr>
                      <a:r>
                        <a:rPr lang="en-GB" sz="900">
                          <a:solidFill>
                            <a:schemeClr val="dk1"/>
                          </a:solidFill>
                        </a:rPr>
                        <a:t>Custom built solution delivering full Future Value model for individual customers, incorporating projections of cashflows for current and future products using propensity and attrition models.</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Future Value measure(s) calculated on a robust and automated basis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identify the customers and prospects with the greatest potential for profitable future business.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identify and make profitable product recommendations quickly and easily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effectively target retention spend and activities</a:t>
                      </a:r>
                      <a:endParaRPr/>
                    </a:p>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Overall, increased profit per customer.</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875" name="Google Shape;4875;p267"/>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Future / Lifetime Value</a:t>
            </a:r>
            <a:endParaRPr sz="1600"/>
          </a:p>
        </p:txBody>
      </p:sp>
      <p:sp>
        <p:nvSpPr>
          <p:cNvPr id="4876" name="Google Shape;4876;p267">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pic>
        <p:nvPicPr>
          <p:cNvPr descr="FIN-1012-L.jpg" id="4877" name="Google Shape;4877;p267"/>
          <p:cNvPicPr preferRelativeResize="0"/>
          <p:nvPr/>
        </p:nvPicPr>
        <p:blipFill rotWithShape="1">
          <a:blip r:embed="rId4">
            <a:alphaModFix/>
          </a:blip>
          <a:srcRect b="0" l="23003" r="86" t="0"/>
          <a:stretch/>
        </p:blipFill>
        <p:spPr>
          <a:xfrm>
            <a:off x="5648154" y="279312"/>
            <a:ext cx="3316459" cy="2210972"/>
          </a:xfrm>
          <a:prstGeom prst="rect">
            <a:avLst/>
          </a:prstGeom>
          <a:noFill/>
          <a:ln>
            <a:noFill/>
          </a:ln>
        </p:spPr>
      </p:pic>
      <p:grpSp>
        <p:nvGrpSpPr>
          <p:cNvPr id="4878" name="Google Shape;4878;p267"/>
          <p:cNvGrpSpPr/>
          <p:nvPr/>
        </p:nvGrpSpPr>
        <p:grpSpPr>
          <a:xfrm>
            <a:off x="7717533" y="4360377"/>
            <a:ext cx="1058348" cy="347375"/>
            <a:chOff x="7651698" y="4287227"/>
            <a:chExt cx="1058348" cy="347375"/>
          </a:xfrm>
        </p:grpSpPr>
        <p:grpSp>
          <p:nvGrpSpPr>
            <p:cNvPr id="4879" name="Google Shape;4879;p267"/>
            <p:cNvGrpSpPr/>
            <p:nvPr/>
          </p:nvGrpSpPr>
          <p:grpSpPr>
            <a:xfrm>
              <a:off x="7714163" y="4337598"/>
              <a:ext cx="995883" cy="297004"/>
              <a:chOff x="7711013" y="3986494"/>
              <a:chExt cx="995883" cy="297004"/>
            </a:xfrm>
          </p:grpSpPr>
          <p:sp>
            <p:nvSpPr>
              <p:cNvPr id="4880" name="Google Shape;4880;p267"/>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881" name="Google Shape;4881;p267"/>
              <p:cNvGrpSpPr/>
              <p:nvPr/>
            </p:nvGrpSpPr>
            <p:grpSpPr>
              <a:xfrm>
                <a:off x="7711013" y="4002615"/>
                <a:ext cx="281520" cy="241973"/>
                <a:chOff x="5652748" y="4066000"/>
                <a:chExt cx="906498" cy="747974"/>
              </a:xfrm>
            </p:grpSpPr>
            <p:sp>
              <p:nvSpPr>
                <p:cNvPr id="4882" name="Google Shape;4882;p267"/>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883" name="Google Shape;4883;p267"/>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884" name="Google Shape;4884;p267"/>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885" name="Google Shape;4885;p267">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4" name="Shape 4904"/>
        <p:cNvGrpSpPr/>
        <p:nvPr/>
      </p:nvGrpSpPr>
      <p:grpSpPr>
        <a:xfrm>
          <a:off x="0" y="0"/>
          <a:ext cx="0" cy="0"/>
          <a:chOff x="0" y="0"/>
          <a:chExt cx="0" cy="0"/>
        </a:xfrm>
      </p:grpSpPr>
      <p:cxnSp>
        <p:nvCxnSpPr>
          <p:cNvPr id="4905" name="Google Shape;4905;p269"/>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906" name="Google Shape;4906;p269"/>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Maximise the business value achieved through use of Profitability and Future Value models</a:t>
                      </a:r>
                      <a:endParaRPr/>
                    </a:p>
                    <a:p>
                      <a:pPr indent="-171450" lvl="0" marL="358775"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Even where detailed profitability / future value models have been implemented, the results are often underutilised.</a:t>
                      </a:r>
                      <a:endParaRPr/>
                    </a:p>
                    <a:p>
                      <a:pPr indent="-171450" lvl="0" marL="358775"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The real value to be obtained from detailed profitability information comes from analysis and decision-making in areas such as:</a:t>
                      </a:r>
                      <a:endParaRPr/>
                    </a:p>
                    <a:p>
                      <a:pPr indent="-171450" lvl="1" marL="812800"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Organisational efficiency</a:t>
                      </a:r>
                      <a:endParaRPr/>
                    </a:p>
                    <a:p>
                      <a:pPr indent="-171450" lvl="1" marL="817563"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Customer acquisition &amp; retention</a:t>
                      </a:r>
                      <a:endParaRPr/>
                    </a:p>
                    <a:p>
                      <a:pPr indent="-171450" lvl="1" marL="817563"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Channel Management</a:t>
                      </a:r>
                      <a:endParaRPr/>
                    </a:p>
                    <a:p>
                      <a:pPr indent="-171450" lvl="1" marL="817563"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Operational decisioning</a:t>
                      </a:r>
                      <a:endParaRPr/>
                    </a:p>
                    <a:p>
                      <a:pPr indent="-171450" lvl="1" marL="817563"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Staff Incentivisation</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current/historic profitability results, detailed future value projections, customer demographic data,  customer event/behavioural data, organisational structure/hierarchy, product and channel data.</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BI / OLAP tool of choice for reporting, drill-down, slice/dice etc.</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Analytical Discovery Platform / solution to support deep analysis (e.g. path, pattern)</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Ability to perform root cause analysis on the underlying drivers of profitability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Value-driven decision making across a broad range of business functions, driving:</a:t>
                      </a:r>
                      <a:endParaRPr/>
                    </a:p>
                    <a:p>
                      <a:pPr indent="-171450" lvl="0" marL="360363"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Increased Revenue</a:t>
                      </a:r>
                      <a:endParaRPr/>
                    </a:p>
                    <a:p>
                      <a:pPr indent="-171450" lvl="0" marL="360363"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Reduced Costs</a:t>
                      </a:r>
                      <a:endParaRPr/>
                    </a:p>
                    <a:p>
                      <a:pPr indent="-171450" lvl="0" marL="360363"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Improved customer retention for targeted high-value segments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Greater ability to measure, monitor and track profitability improvements over time in a systematic and automated way, and link to key business decisions.</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907" name="Google Shape;4907;p269"/>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Profitability Analytics and </a:t>
            </a:r>
            <a:br>
              <a:rPr lang="en-GB"/>
            </a:br>
            <a:r>
              <a:rPr lang="en-GB"/>
              <a:t>Optimisation</a:t>
            </a:r>
            <a:endParaRPr sz="1600"/>
          </a:p>
        </p:txBody>
      </p:sp>
      <p:sp>
        <p:nvSpPr>
          <p:cNvPr id="4908" name="Google Shape;4908;p269">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pic>
        <p:nvPicPr>
          <p:cNvPr descr="FIN-1012-L.jpg" id="4909" name="Google Shape;4909;p269"/>
          <p:cNvPicPr preferRelativeResize="0"/>
          <p:nvPr/>
        </p:nvPicPr>
        <p:blipFill rotWithShape="1">
          <a:blip r:embed="rId4">
            <a:alphaModFix/>
          </a:blip>
          <a:srcRect b="0" l="23003" r="86" t="0"/>
          <a:stretch/>
        </p:blipFill>
        <p:spPr>
          <a:xfrm>
            <a:off x="5648154" y="279312"/>
            <a:ext cx="3316459" cy="2210972"/>
          </a:xfrm>
          <a:prstGeom prst="rect">
            <a:avLst/>
          </a:prstGeom>
          <a:noFill/>
          <a:ln>
            <a:noFill/>
          </a:ln>
        </p:spPr>
      </p:pic>
      <p:grpSp>
        <p:nvGrpSpPr>
          <p:cNvPr id="4910" name="Google Shape;4910;p269"/>
          <p:cNvGrpSpPr/>
          <p:nvPr/>
        </p:nvGrpSpPr>
        <p:grpSpPr>
          <a:xfrm>
            <a:off x="7717533" y="4360377"/>
            <a:ext cx="1058348" cy="347375"/>
            <a:chOff x="7651698" y="4287227"/>
            <a:chExt cx="1058348" cy="347375"/>
          </a:xfrm>
        </p:grpSpPr>
        <p:grpSp>
          <p:nvGrpSpPr>
            <p:cNvPr id="4911" name="Google Shape;4911;p269"/>
            <p:cNvGrpSpPr/>
            <p:nvPr/>
          </p:nvGrpSpPr>
          <p:grpSpPr>
            <a:xfrm>
              <a:off x="7714163" y="4337598"/>
              <a:ext cx="995883" cy="297004"/>
              <a:chOff x="7711013" y="3986494"/>
              <a:chExt cx="995883" cy="297004"/>
            </a:xfrm>
          </p:grpSpPr>
          <p:sp>
            <p:nvSpPr>
              <p:cNvPr id="4912" name="Google Shape;4912;p269"/>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913" name="Google Shape;4913;p269"/>
              <p:cNvGrpSpPr/>
              <p:nvPr/>
            </p:nvGrpSpPr>
            <p:grpSpPr>
              <a:xfrm>
                <a:off x="7711013" y="4002615"/>
                <a:ext cx="281520" cy="241973"/>
                <a:chOff x="5652748" y="4066000"/>
                <a:chExt cx="906498" cy="747974"/>
              </a:xfrm>
            </p:grpSpPr>
            <p:sp>
              <p:nvSpPr>
                <p:cNvPr id="4914" name="Google Shape;4914;p269"/>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915" name="Google Shape;4915;p269"/>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916" name="Google Shape;4916;p269"/>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917" name="Google Shape;4917;p269">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6" name="Shape 4936"/>
        <p:cNvGrpSpPr/>
        <p:nvPr/>
      </p:nvGrpSpPr>
      <p:grpSpPr>
        <a:xfrm>
          <a:off x="0" y="0"/>
          <a:ext cx="0" cy="0"/>
          <a:chOff x="0" y="0"/>
          <a:chExt cx="0" cy="0"/>
        </a:xfrm>
      </p:grpSpPr>
      <p:cxnSp>
        <p:nvCxnSpPr>
          <p:cNvPr id="4937" name="Google Shape;4937;p271"/>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938" name="Google Shape;4938;p271"/>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Products and services  are becoming increasingly commoditised and pressure on price and margins is increasing</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Organisations want to be able to analyse and understand in more detail the:</a:t>
                      </a:r>
                      <a:endParaRPr/>
                    </a:p>
                    <a:p>
                      <a:pPr indent="-171450" lvl="1" marL="35718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Prices and margins which they are currently able to achieve for each product or service for different combinations of customer / segment / channel etc.</a:t>
                      </a:r>
                      <a:endParaRPr/>
                    </a:p>
                    <a:p>
                      <a:pPr indent="-171450" lvl="1" marL="35718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Key attributes of the client which influence price elasticity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 order to optimise the pricing of products and services, and potentially to offer individual pricing to customers and prospects.</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data on price, cost and margin structures, competitor price information, deal-level price / margin data,  customer demographic data, organisational structure/hierarchy, product and channel data. Detailed current/historic profitability results.</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Choice of Reporting / BI tool(s)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Analytical Modelling tool(s) such as SAS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Analytical Discovery platform/solution to support deep analysis (e.g. path, pattern)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Option for bespoke full individual price optimisation solution</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Consistent and transparent comparison between  the organisation’s own and competitor’s pricing.</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Better understanding of price drivers, price elasticity and product cannibalisation.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Better understanding of price and margin as components of full product P&amp;L</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Revenue through:</a:t>
                      </a:r>
                      <a:endParaRPr/>
                    </a:p>
                    <a:p>
                      <a:pPr indent="-171450" lvl="0" marL="357188"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Agile optimisation of prices &amp; margins for products, channels and customer segments selectively, with rapid monitoring and feedback</a:t>
                      </a:r>
                      <a:endParaRPr/>
                    </a:p>
                    <a:p>
                      <a:pPr indent="-171450" lvl="0" marL="357188"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optimise and customise the </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individual price which is offered to customers</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 and prospects to maximise NPV at </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portfolio/segment level</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939" name="Google Shape;4939;p271"/>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Pricing Analysis &amp; Optimisation</a:t>
            </a:r>
            <a:endParaRPr sz="1600"/>
          </a:p>
        </p:txBody>
      </p:sp>
      <p:sp>
        <p:nvSpPr>
          <p:cNvPr id="4940" name="Google Shape;4940;p271">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pic>
        <p:nvPicPr>
          <p:cNvPr descr="FIN-1012-L.jpg" id="4941" name="Google Shape;4941;p271"/>
          <p:cNvPicPr preferRelativeResize="0"/>
          <p:nvPr/>
        </p:nvPicPr>
        <p:blipFill rotWithShape="1">
          <a:blip r:embed="rId4">
            <a:alphaModFix/>
          </a:blip>
          <a:srcRect b="0" l="23003" r="86" t="0"/>
          <a:stretch/>
        </p:blipFill>
        <p:spPr>
          <a:xfrm>
            <a:off x="5648154" y="279312"/>
            <a:ext cx="3316459" cy="2210972"/>
          </a:xfrm>
          <a:prstGeom prst="rect">
            <a:avLst/>
          </a:prstGeom>
          <a:noFill/>
          <a:ln>
            <a:noFill/>
          </a:ln>
        </p:spPr>
      </p:pic>
      <p:grpSp>
        <p:nvGrpSpPr>
          <p:cNvPr id="4942" name="Google Shape;4942;p271"/>
          <p:cNvGrpSpPr/>
          <p:nvPr/>
        </p:nvGrpSpPr>
        <p:grpSpPr>
          <a:xfrm>
            <a:off x="7717533" y="4360377"/>
            <a:ext cx="1058348" cy="347375"/>
            <a:chOff x="7651698" y="4287227"/>
            <a:chExt cx="1058348" cy="347375"/>
          </a:xfrm>
        </p:grpSpPr>
        <p:grpSp>
          <p:nvGrpSpPr>
            <p:cNvPr id="4943" name="Google Shape;4943;p271"/>
            <p:cNvGrpSpPr/>
            <p:nvPr/>
          </p:nvGrpSpPr>
          <p:grpSpPr>
            <a:xfrm>
              <a:off x="7714163" y="4337598"/>
              <a:ext cx="995883" cy="297004"/>
              <a:chOff x="7711013" y="3986494"/>
              <a:chExt cx="995883" cy="297004"/>
            </a:xfrm>
          </p:grpSpPr>
          <p:sp>
            <p:nvSpPr>
              <p:cNvPr id="4944" name="Google Shape;4944;p271"/>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945" name="Google Shape;4945;p271"/>
              <p:cNvGrpSpPr/>
              <p:nvPr/>
            </p:nvGrpSpPr>
            <p:grpSpPr>
              <a:xfrm>
                <a:off x="7711013" y="4002615"/>
                <a:ext cx="281520" cy="241973"/>
                <a:chOff x="5652748" y="4066000"/>
                <a:chExt cx="906498" cy="747974"/>
              </a:xfrm>
            </p:grpSpPr>
            <p:sp>
              <p:nvSpPr>
                <p:cNvPr id="4946" name="Google Shape;4946;p271"/>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947" name="Google Shape;4947;p271"/>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948" name="Google Shape;4948;p271"/>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949" name="Google Shape;4949;p271">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8" name="Shape 4968"/>
        <p:cNvGrpSpPr/>
        <p:nvPr/>
      </p:nvGrpSpPr>
      <p:grpSpPr>
        <a:xfrm>
          <a:off x="0" y="0"/>
          <a:ext cx="0" cy="0"/>
          <a:chOff x="0" y="0"/>
          <a:chExt cx="0" cy="0"/>
        </a:xfrm>
      </p:grpSpPr>
      <p:cxnSp>
        <p:nvCxnSpPr>
          <p:cNvPr id="4969" name="Google Shape;4969;p273"/>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970" name="Google Shape;4970;p273"/>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Organisations want to:</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Improve consistency and quality in how performance is measured and managed</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Reduce cost of production for performance management and KPIs through centralisation and simplification</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Broad range of organisational, customer, account/agreement, transaction/interaction data</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 containing high-quality, consistent, validated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Enterprise data model providing flexible and well-structured storage for both source and results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Rule engine software or flexible/visual development tool for high volume in-database calculations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Choice of Reporting / BI tools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timeliness, quality and consistency of performance management and KPIs through:</a:t>
                      </a:r>
                      <a:endParaRPr/>
                    </a:p>
                    <a:p>
                      <a:pPr indent="-171450" lvl="1" marL="35718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Use of high quality, validated data</a:t>
                      </a:r>
                      <a:endParaRPr/>
                    </a:p>
                    <a:p>
                      <a:pPr indent="-171450" lvl="1" marL="35718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Use of standard tool for calculation / derivation of performance metrics</a:t>
                      </a:r>
                      <a:endParaRPr/>
                    </a:p>
                    <a:p>
                      <a:pPr indent="-171450" lvl="1" marL="35718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Removal of manual processes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Lower cost through:</a:t>
                      </a:r>
                      <a:endParaRPr/>
                    </a:p>
                    <a:p>
                      <a:pPr indent="-171450" lvl="1" marL="35718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Reduction in number of platforms and tools</a:t>
                      </a:r>
                      <a:endParaRPr/>
                    </a:p>
                    <a:p>
                      <a:pPr indent="-171450" lvl="1" marL="35718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Reduction in maintenance of ETL scripts</a:t>
                      </a:r>
                      <a:endParaRPr/>
                    </a:p>
                    <a:p>
                      <a:pPr indent="-171450" lvl="1" marL="35718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Reduction in duplication of data</a:t>
                      </a:r>
                      <a:endParaRPr/>
                    </a:p>
                    <a:p>
                      <a:pPr indent="-171450" lvl="1" marL="35718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Removal of manual processes</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971" name="Google Shape;4971;p273"/>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Performance Management and KPIs</a:t>
            </a:r>
            <a:endParaRPr sz="1600"/>
          </a:p>
        </p:txBody>
      </p:sp>
      <p:sp>
        <p:nvSpPr>
          <p:cNvPr id="4972" name="Google Shape;4972;p273">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pic>
        <p:nvPicPr>
          <p:cNvPr descr="FIN-1012-L.jpg" id="4973" name="Google Shape;4973;p273"/>
          <p:cNvPicPr preferRelativeResize="0"/>
          <p:nvPr/>
        </p:nvPicPr>
        <p:blipFill rotWithShape="1">
          <a:blip r:embed="rId4">
            <a:alphaModFix/>
          </a:blip>
          <a:srcRect b="0" l="23003" r="86" t="0"/>
          <a:stretch/>
        </p:blipFill>
        <p:spPr>
          <a:xfrm>
            <a:off x="5648154" y="279312"/>
            <a:ext cx="3316459" cy="2210972"/>
          </a:xfrm>
          <a:prstGeom prst="rect">
            <a:avLst/>
          </a:prstGeom>
          <a:noFill/>
          <a:ln>
            <a:noFill/>
          </a:ln>
        </p:spPr>
      </p:pic>
      <p:grpSp>
        <p:nvGrpSpPr>
          <p:cNvPr id="4974" name="Google Shape;4974;p273"/>
          <p:cNvGrpSpPr/>
          <p:nvPr/>
        </p:nvGrpSpPr>
        <p:grpSpPr>
          <a:xfrm>
            <a:off x="7717533" y="4360377"/>
            <a:ext cx="1058348" cy="347375"/>
            <a:chOff x="7651698" y="4287227"/>
            <a:chExt cx="1058348" cy="347375"/>
          </a:xfrm>
        </p:grpSpPr>
        <p:grpSp>
          <p:nvGrpSpPr>
            <p:cNvPr id="4975" name="Google Shape;4975;p273"/>
            <p:cNvGrpSpPr/>
            <p:nvPr/>
          </p:nvGrpSpPr>
          <p:grpSpPr>
            <a:xfrm>
              <a:off x="7714163" y="4337598"/>
              <a:ext cx="995883" cy="297004"/>
              <a:chOff x="7711013" y="3986494"/>
              <a:chExt cx="995883" cy="297004"/>
            </a:xfrm>
          </p:grpSpPr>
          <p:sp>
            <p:nvSpPr>
              <p:cNvPr id="4976" name="Google Shape;4976;p273"/>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977" name="Google Shape;4977;p273"/>
              <p:cNvGrpSpPr/>
              <p:nvPr/>
            </p:nvGrpSpPr>
            <p:grpSpPr>
              <a:xfrm>
                <a:off x="7711013" y="4002615"/>
                <a:ext cx="281520" cy="241973"/>
                <a:chOff x="5652748" y="4066000"/>
                <a:chExt cx="906498" cy="747974"/>
              </a:xfrm>
            </p:grpSpPr>
            <p:sp>
              <p:nvSpPr>
                <p:cNvPr id="4978" name="Google Shape;4978;p273"/>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979" name="Google Shape;4979;p273"/>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980" name="Google Shape;4980;p273"/>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981" name="Google Shape;4981;p273">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0" name="Shape 5000"/>
        <p:cNvGrpSpPr/>
        <p:nvPr/>
      </p:nvGrpSpPr>
      <p:grpSpPr>
        <a:xfrm>
          <a:off x="0" y="0"/>
          <a:ext cx="0" cy="0"/>
          <a:chOff x="0" y="0"/>
          <a:chExt cx="0" cy="0"/>
        </a:xfrm>
      </p:grpSpPr>
      <p:cxnSp>
        <p:nvCxnSpPr>
          <p:cNvPr id="5001" name="Google Shape;5001;p275"/>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5002" name="Google Shape;5002;p275"/>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spcBef>
                          <a:spcPts val="0"/>
                        </a:spcBef>
                        <a:spcAft>
                          <a:spcPts val="0"/>
                        </a:spcAft>
                        <a:buClr>
                          <a:srgbClr val="3C3C3B"/>
                        </a:buClr>
                        <a:buSzPts val="900"/>
                        <a:buFont typeface="Arial"/>
                        <a:buChar char="•"/>
                      </a:pPr>
                      <a:r>
                        <a:rPr lang="en-GB" sz="900">
                          <a:solidFill>
                            <a:srgbClr val="3C3C3B"/>
                          </a:solidFill>
                        </a:rPr>
                        <a:t>Ability</a:t>
                      </a:r>
                      <a:r>
                        <a:rPr lang="en-GB" sz="900">
                          <a:solidFill>
                            <a:srgbClr val="3C3C3B"/>
                          </a:solidFill>
                        </a:rPr>
                        <a:t> to define the optimal inventory levels which will enable companies to minimize out of stock  and overstock opportunities, meet anticipated customer demand while also managing cash flow</a:t>
                      </a:r>
                      <a:endParaRPr/>
                    </a:p>
                    <a:p>
                      <a:pPr indent="-171450" lvl="0" marL="171450" marR="0" rtl="0" algn="l">
                        <a:spcBef>
                          <a:spcPts val="0"/>
                        </a:spcBef>
                        <a:spcAft>
                          <a:spcPts val="0"/>
                        </a:spcAft>
                        <a:buClr>
                          <a:srgbClr val="3C3C3B"/>
                        </a:buClr>
                        <a:buSzPts val="900"/>
                        <a:buFont typeface="Arial"/>
                        <a:buChar char="•"/>
                      </a:pPr>
                      <a:r>
                        <a:rPr lang="en-GB" sz="900">
                          <a:solidFill>
                            <a:srgbClr val="3C3C3B"/>
                          </a:solidFill>
                        </a:rPr>
                        <a:t>Optimise inventory  to ensure  the right inventory at the right place and at the right location to meet the anticipated demand of parts and materials in the enterprise .</a:t>
                      </a:r>
                      <a:endParaRPr sz="900">
                        <a:solidFill>
                          <a:srgbClr val="3C3C3B"/>
                        </a:solidFill>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Inventory </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Sales  transactions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Purchasing trends and forecasts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Price sensitivity models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Analysis of inventory transactions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Trends in inventory use and customer behaviour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Forecasting demand and planning supply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Predictive modelling to anticipate  inventory requirements at the location level (SKU rationalisation, demand forecasting, optimal inventory replenishment, etc.)</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Organisations can optimize inventory by reducing inventory items and stock levels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Reducing carrying costs and write downs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flag obsolete items, ensure efficient item distribution and identify critical spare parts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Maximisation of cash flow through proper inventory management techniques.</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003" name="Google Shape;5003;p275"/>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Inventory Analytics</a:t>
            </a:r>
            <a:endParaRPr sz="1600"/>
          </a:p>
        </p:txBody>
      </p:sp>
      <p:sp>
        <p:nvSpPr>
          <p:cNvPr id="5004" name="Google Shape;5004;p275">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pic>
        <p:nvPicPr>
          <p:cNvPr descr="FIN-1012-L.jpg" id="5005" name="Google Shape;5005;p275"/>
          <p:cNvPicPr preferRelativeResize="0"/>
          <p:nvPr/>
        </p:nvPicPr>
        <p:blipFill rotWithShape="1">
          <a:blip r:embed="rId4">
            <a:alphaModFix/>
          </a:blip>
          <a:srcRect b="0" l="23003" r="86" t="0"/>
          <a:stretch/>
        </p:blipFill>
        <p:spPr>
          <a:xfrm>
            <a:off x="5648154" y="279312"/>
            <a:ext cx="3316459" cy="2210972"/>
          </a:xfrm>
          <a:prstGeom prst="rect">
            <a:avLst/>
          </a:prstGeom>
          <a:noFill/>
          <a:ln>
            <a:noFill/>
          </a:ln>
        </p:spPr>
      </p:pic>
      <p:grpSp>
        <p:nvGrpSpPr>
          <p:cNvPr id="5006" name="Google Shape;5006;p275"/>
          <p:cNvGrpSpPr/>
          <p:nvPr/>
        </p:nvGrpSpPr>
        <p:grpSpPr>
          <a:xfrm>
            <a:off x="7717533" y="4360377"/>
            <a:ext cx="1058348" cy="347375"/>
            <a:chOff x="7651698" y="4287227"/>
            <a:chExt cx="1058348" cy="347375"/>
          </a:xfrm>
        </p:grpSpPr>
        <p:grpSp>
          <p:nvGrpSpPr>
            <p:cNvPr id="5007" name="Google Shape;5007;p275"/>
            <p:cNvGrpSpPr/>
            <p:nvPr/>
          </p:nvGrpSpPr>
          <p:grpSpPr>
            <a:xfrm>
              <a:off x="7714163" y="4337598"/>
              <a:ext cx="995883" cy="297004"/>
              <a:chOff x="7711013" y="3986494"/>
              <a:chExt cx="995883" cy="297004"/>
            </a:xfrm>
          </p:grpSpPr>
          <p:sp>
            <p:nvSpPr>
              <p:cNvPr id="5008" name="Google Shape;5008;p275"/>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5009" name="Google Shape;5009;p275"/>
              <p:cNvGrpSpPr/>
              <p:nvPr/>
            </p:nvGrpSpPr>
            <p:grpSpPr>
              <a:xfrm>
                <a:off x="7711013" y="4002615"/>
                <a:ext cx="281520" cy="241973"/>
                <a:chOff x="5652748" y="4066000"/>
                <a:chExt cx="906498" cy="747974"/>
              </a:xfrm>
            </p:grpSpPr>
            <p:sp>
              <p:nvSpPr>
                <p:cNvPr id="5010" name="Google Shape;5010;p275"/>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011" name="Google Shape;5011;p275"/>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012" name="Google Shape;5012;p275"/>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013" name="Google Shape;5013;p275">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2" name="Shape 5032"/>
        <p:cNvGrpSpPr/>
        <p:nvPr/>
      </p:nvGrpSpPr>
      <p:grpSpPr>
        <a:xfrm>
          <a:off x="0" y="0"/>
          <a:ext cx="0" cy="0"/>
          <a:chOff x="0" y="0"/>
          <a:chExt cx="0" cy="0"/>
        </a:xfrm>
      </p:grpSpPr>
      <p:cxnSp>
        <p:nvCxnSpPr>
          <p:cNvPr id="5033" name="Google Shape;5033;p277"/>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5034" name="Google Shape;5034;p277"/>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Simplify and automate  the budgeting, planning and forecast process through the usage of high quality, consistent data  in order to drive improvements in speed, efficiency and costs.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 level of detail available in budgets and forecasts to facilitate more specifically actionable budget vs actual variance analysis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Reduce budgeting and planning cycle time to allow more frequent revisions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Financial / GL; plans / budgets / forecasts for prior periods, plus performance against those metrics;  </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Customer contract data (account/agreement, balances, limits, transactions/interaction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Business sales and operational data</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Budgeting, Planning &amp; Forecasting solution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BI / OLAP solution to drive automated monitoring of performance against budgets &amp; forecasts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The Finance function is able to focus on the business process instead of data collection, integration and quality issues, leading to Budgeting, Planning &amp; Forecasting which:</a:t>
                      </a:r>
                      <a:endParaRPr/>
                    </a:p>
                    <a:p>
                      <a:pPr indent="-171450" lvl="1" marL="6286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Utilises high quality, integrated data</a:t>
                      </a:r>
                      <a:endParaRPr/>
                    </a:p>
                    <a:p>
                      <a:pPr indent="-171450" lvl="1" marL="6286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Is more automated</a:t>
                      </a:r>
                      <a:endParaRPr/>
                    </a:p>
                    <a:p>
                      <a:pPr indent="-171450" lvl="1" marL="6286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Is less resource-intensive</a:t>
                      </a:r>
                      <a:endParaRPr/>
                    </a:p>
                    <a:p>
                      <a:pPr indent="-171450" lvl="1" marL="6286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Is faster and cheaper</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Is more reliable</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035" name="Google Shape;5035;p277"/>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Financial Budgeting, Planning &amp; </a:t>
            </a:r>
            <a:br>
              <a:rPr lang="en-GB"/>
            </a:br>
            <a:r>
              <a:rPr lang="en-GB"/>
              <a:t>Forecasting</a:t>
            </a:r>
            <a:endParaRPr sz="1600"/>
          </a:p>
        </p:txBody>
      </p:sp>
      <p:sp>
        <p:nvSpPr>
          <p:cNvPr id="5036" name="Google Shape;5036;p277">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pic>
        <p:nvPicPr>
          <p:cNvPr descr="FIN-1012-L.jpg" id="5037" name="Google Shape;5037;p277"/>
          <p:cNvPicPr preferRelativeResize="0"/>
          <p:nvPr/>
        </p:nvPicPr>
        <p:blipFill rotWithShape="1">
          <a:blip r:embed="rId4">
            <a:alphaModFix/>
          </a:blip>
          <a:srcRect b="0" l="23003" r="86" t="0"/>
          <a:stretch/>
        </p:blipFill>
        <p:spPr>
          <a:xfrm>
            <a:off x="5648154" y="279312"/>
            <a:ext cx="3316459" cy="2210972"/>
          </a:xfrm>
          <a:prstGeom prst="rect">
            <a:avLst/>
          </a:prstGeom>
          <a:noFill/>
          <a:ln>
            <a:noFill/>
          </a:ln>
        </p:spPr>
      </p:pic>
      <p:grpSp>
        <p:nvGrpSpPr>
          <p:cNvPr id="5038" name="Google Shape;5038;p277"/>
          <p:cNvGrpSpPr/>
          <p:nvPr/>
        </p:nvGrpSpPr>
        <p:grpSpPr>
          <a:xfrm>
            <a:off x="7717533" y="4360377"/>
            <a:ext cx="1058348" cy="347375"/>
            <a:chOff x="7651698" y="4287227"/>
            <a:chExt cx="1058348" cy="347375"/>
          </a:xfrm>
        </p:grpSpPr>
        <p:grpSp>
          <p:nvGrpSpPr>
            <p:cNvPr id="5039" name="Google Shape;5039;p277"/>
            <p:cNvGrpSpPr/>
            <p:nvPr/>
          </p:nvGrpSpPr>
          <p:grpSpPr>
            <a:xfrm>
              <a:off x="7714163" y="4337598"/>
              <a:ext cx="995883" cy="297004"/>
              <a:chOff x="7711013" y="3986494"/>
              <a:chExt cx="995883" cy="297004"/>
            </a:xfrm>
          </p:grpSpPr>
          <p:sp>
            <p:nvSpPr>
              <p:cNvPr id="5040" name="Google Shape;5040;p277"/>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5041" name="Google Shape;5041;p277"/>
              <p:cNvGrpSpPr/>
              <p:nvPr/>
            </p:nvGrpSpPr>
            <p:grpSpPr>
              <a:xfrm>
                <a:off x="7711013" y="4002615"/>
                <a:ext cx="281520" cy="241973"/>
                <a:chOff x="5652748" y="4066000"/>
                <a:chExt cx="906498" cy="747974"/>
              </a:xfrm>
            </p:grpSpPr>
            <p:sp>
              <p:nvSpPr>
                <p:cNvPr id="5042" name="Google Shape;5042;p277"/>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043" name="Google Shape;5043;p277"/>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044" name="Google Shape;5044;p277"/>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045" name="Google Shape;5045;p277">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4" name="Shape 5064"/>
        <p:cNvGrpSpPr/>
        <p:nvPr/>
      </p:nvGrpSpPr>
      <p:grpSpPr>
        <a:xfrm>
          <a:off x="0" y="0"/>
          <a:ext cx="0" cy="0"/>
          <a:chOff x="0" y="0"/>
          <a:chExt cx="0" cy="0"/>
        </a:xfrm>
      </p:grpSpPr>
      <p:cxnSp>
        <p:nvCxnSpPr>
          <p:cNvPr id="5065" name="Google Shape;5065;p279"/>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5066" name="Google Shape;5066;p279"/>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Analyse, understand and optimise business processes in order to improve efficiency, reduce cost and increase customer satisfaction.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Take a data-driven, analytical approach to process monitoring and re-design which:</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Reflects reality, rather than traditional ‘time &amp; motion’ studies, which can be resource-intensive, costly, and disruptive to the business.</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Is more agile and flexible.</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Supports all channels.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Customer transaction and contact data across all channels.</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Other process steps (Event) data – e.g. internal staff processes.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Operational data (e.g. staffing levels, wait times)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Results from ABC and/or Profitability models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Intranet data</a:t>
                      </a:r>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storage and analytics platform supporting both structured &amp; multi-structured data</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Discovery analysis of processes, together with associated operational and customer contact data </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analyse and optimise processes based on up-to-date activity.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Identify:</a:t>
                      </a:r>
                      <a:endParaRPr/>
                    </a:p>
                    <a:p>
                      <a:pPr indent="-171450" lvl="1" marL="361950" marR="0" rtl="0" algn="l">
                        <a:spcBef>
                          <a:spcPts val="0"/>
                        </a:spcBef>
                        <a:spcAft>
                          <a:spcPts val="0"/>
                        </a:spcAft>
                        <a:buClr>
                          <a:schemeClr val="dk1"/>
                        </a:buClr>
                        <a:buSzPts val="800"/>
                        <a:buFont typeface="Arial"/>
                        <a:buChar char="-"/>
                      </a:pPr>
                      <a:r>
                        <a:rPr lang="en-GB" sz="800" u="none" cap="none" strike="noStrike">
                          <a:latin typeface="Century Gothic"/>
                          <a:ea typeface="Century Gothic"/>
                          <a:cs typeface="Century Gothic"/>
                          <a:sym typeface="Century Gothic"/>
                        </a:rPr>
                        <a:t>Process steps which generate complaints (particularly for high-value customers)</a:t>
                      </a:r>
                      <a:endParaRPr/>
                    </a:p>
                    <a:p>
                      <a:pPr indent="-171450" lvl="1" marL="361950" marR="0" rtl="0" algn="l">
                        <a:spcBef>
                          <a:spcPts val="0"/>
                        </a:spcBef>
                        <a:spcAft>
                          <a:spcPts val="0"/>
                        </a:spcAft>
                        <a:buClr>
                          <a:schemeClr val="dk1"/>
                        </a:buClr>
                        <a:buSzPts val="800"/>
                        <a:buFont typeface="Arial"/>
                        <a:buChar char="-"/>
                      </a:pPr>
                      <a:r>
                        <a:rPr lang="en-GB" sz="800" u="none" cap="none" strike="noStrike">
                          <a:latin typeface="Century Gothic"/>
                          <a:ea typeface="Century Gothic"/>
                          <a:cs typeface="Century Gothic"/>
                          <a:sym typeface="Century Gothic"/>
                        </a:rPr>
                        <a:t>Process steps with a high drop-out rate</a:t>
                      </a:r>
                      <a:endParaRPr/>
                    </a:p>
                    <a:p>
                      <a:pPr indent="-171450" lvl="1" marL="361950" marR="0" rtl="0" algn="l">
                        <a:spcBef>
                          <a:spcPts val="0"/>
                        </a:spcBef>
                        <a:spcAft>
                          <a:spcPts val="0"/>
                        </a:spcAft>
                        <a:buClr>
                          <a:schemeClr val="dk1"/>
                        </a:buClr>
                        <a:buSzPts val="800"/>
                        <a:buFont typeface="Arial"/>
                        <a:buChar char="-"/>
                      </a:pPr>
                      <a:r>
                        <a:rPr lang="en-GB" sz="800" u="none" cap="none" strike="noStrike">
                          <a:latin typeface="Century Gothic"/>
                          <a:ea typeface="Century Gothic"/>
                          <a:cs typeface="Century Gothic"/>
                          <a:sym typeface="Century Gothic"/>
                        </a:rPr>
                        <a:t>Process steps which are first to fail in times of stress</a:t>
                      </a:r>
                      <a:endParaRPr/>
                    </a:p>
                    <a:p>
                      <a:pPr indent="-171450" lvl="1" marL="361950" marR="0" rtl="0" algn="l">
                        <a:spcBef>
                          <a:spcPts val="0"/>
                        </a:spcBef>
                        <a:spcAft>
                          <a:spcPts val="0"/>
                        </a:spcAft>
                        <a:buClr>
                          <a:schemeClr val="dk1"/>
                        </a:buClr>
                        <a:buSzPts val="800"/>
                        <a:buFont typeface="Arial"/>
                        <a:buChar char="-"/>
                      </a:pPr>
                      <a:r>
                        <a:rPr lang="en-GB" sz="800" u="none" cap="none" strike="noStrike">
                          <a:latin typeface="Century Gothic"/>
                          <a:ea typeface="Century Gothic"/>
                          <a:cs typeface="Century Gothic"/>
                          <a:sym typeface="Century Gothic"/>
                        </a:rPr>
                        <a:t>Bottlenecks in processes – particularly those which are not dependent on staffing levels</a:t>
                      </a:r>
                      <a:endParaRPr sz="900" u="none" cap="none" strike="noStrike">
                        <a:solidFill>
                          <a:schemeClr val="dk1"/>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identify and react to process failures more quickly.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customer satisfaction / Lower levels of </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complaints.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operational risk.</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cost.</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067" name="Google Shape;5067;p279"/>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Business Process Analytics &amp; </a:t>
            </a:r>
            <a:br>
              <a:rPr lang="en-GB"/>
            </a:br>
            <a:r>
              <a:rPr lang="en-GB"/>
              <a:t>Optimisation</a:t>
            </a:r>
            <a:endParaRPr sz="1600"/>
          </a:p>
        </p:txBody>
      </p:sp>
      <p:sp>
        <p:nvSpPr>
          <p:cNvPr id="5068" name="Google Shape;5068;p279">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pic>
        <p:nvPicPr>
          <p:cNvPr descr="FIN-1012-L.jpg" id="5069" name="Google Shape;5069;p279"/>
          <p:cNvPicPr preferRelativeResize="0"/>
          <p:nvPr/>
        </p:nvPicPr>
        <p:blipFill rotWithShape="1">
          <a:blip r:embed="rId4">
            <a:alphaModFix/>
          </a:blip>
          <a:srcRect b="0" l="23003" r="86" t="0"/>
          <a:stretch/>
        </p:blipFill>
        <p:spPr>
          <a:xfrm>
            <a:off x="5648154" y="279312"/>
            <a:ext cx="3316459" cy="2210972"/>
          </a:xfrm>
          <a:prstGeom prst="rect">
            <a:avLst/>
          </a:prstGeom>
          <a:noFill/>
          <a:ln>
            <a:noFill/>
          </a:ln>
        </p:spPr>
      </p:pic>
      <p:grpSp>
        <p:nvGrpSpPr>
          <p:cNvPr id="5070" name="Google Shape;5070;p279"/>
          <p:cNvGrpSpPr/>
          <p:nvPr/>
        </p:nvGrpSpPr>
        <p:grpSpPr>
          <a:xfrm>
            <a:off x="7717533" y="4360377"/>
            <a:ext cx="1058348" cy="347375"/>
            <a:chOff x="7651698" y="4287227"/>
            <a:chExt cx="1058348" cy="347375"/>
          </a:xfrm>
        </p:grpSpPr>
        <p:grpSp>
          <p:nvGrpSpPr>
            <p:cNvPr id="5071" name="Google Shape;5071;p279"/>
            <p:cNvGrpSpPr/>
            <p:nvPr/>
          </p:nvGrpSpPr>
          <p:grpSpPr>
            <a:xfrm>
              <a:off x="7714163" y="4337598"/>
              <a:ext cx="995883" cy="297004"/>
              <a:chOff x="7711013" y="3986494"/>
              <a:chExt cx="995883" cy="297004"/>
            </a:xfrm>
          </p:grpSpPr>
          <p:sp>
            <p:nvSpPr>
              <p:cNvPr id="5072" name="Google Shape;5072;p279"/>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5073" name="Google Shape;5073;p279"/>
              <p:cNvGrpSpPr/>
              <p:nvPr/>
            </p:nvGrpSpPr>
            <p:grpSpPr>
              <a:xfrm>
                <a:off x="7711013" y="4002615"/>
                <a:ext cx="281520" cy="241973"/>
                <a:chOff x="5652748" y="4066000"/>
                <a:chExt cx="906498" cy="747974"/>
              </a:xfrm>
            </p:grpSpPr>
            <p:sp>
              <p:nvSpPr>
                <p:cNvPr id="5074" name="Google Shape;5074;p279"/>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075" name="Google Shape;5075;p279"/>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076" name="Google Shape;5076;p279"/>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077" name="Google Shape;5077;p279">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5" name="Shape 5095"/>
        <p:cNvGrpSpPr/>
        <p:nvPr/>
      </p:nvGrpSpPr>
      <p:grpSpPr>
        <a:xfrm>
          <a:off x="0" y="0"/>
          <a:ext cx="0" cy="0"/>
          <a:chOff x="0" y="0"/>
          <a:chExt cx="0" cy="0"/>
        </a:xfrm>
      </p:grpSpPr>
      <p:pic>
        <p:nvPicPr>
          <p:cNvPr id="5096" name="Google Shape;5096;p281"/>
          <p:cNvPicPr preferRelativeResize="0"/>
          <p:nvPr/>
        </p:nvPicPr>
        <p:blipFill rotWithShape="1">
          <a:blip r:embed="rId3">
            <a:alphaModFix/>
          </a:blip>
          <a:srcRect b="0" l="11849" r="9782" t="0"/>
          <a:stretch/>
        </p:blipFill>
        <p:spPr>
          <a:xfrm>
            <a:off x="5561012" y="0"/>
            <a:ext cx="3582987" cy="5143500"/>
          </a:xfrm>
          <a:prstGeom prst="rect">
            <a:avLst/>
          </a:prstGeom>
          <a:noFill/>
          <a:ln>
            <a:noFill/>
          </a:ln>
        </p:spPr>
      </p:pic>
      <p:sp>
        <p:nvSpPr>
          <p:cNvPr id="5097" name="Google Shape;5097;p281"/>
          <p:cNvSpPr txBox="1"/>
          <p:nvPr>
            <p:ph idx="1" type="body"/>
          </p:nvPr>
        </p:nvSpPr>
        <p:spPr>
          <a:xfrm>
            <a:off x="455485" y="2431144"/>
            <a:ext cx="4662784" cy="2296732"/>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Why is it important?</a:t>
            </a:r>
            <a:endParaRPr b="1">
              <a:solidFill>
                <a:schemeClr val="accent1"/>
              </a:solidFill>
            </a:endParaRPr>
          </a:p>
          <a:p>
            <a:pPr indent="-169863" lvl="0" marL="169863" rtl="0" algn="l">
              <a:lnSpc>
                <a:spcPct val="95000"/>
              </a:lnSpc>
              <a:spcBef>
                <a:spcPts val="600"/>
              </a:spcBef>
              <a:spcAft>
                <a:spcPts val="0"/>
              </a:spcAft>
              <a:buClr>
                <a:schemeClr val="dk1"/>
              </a:buClr>
              <a:buSzPts val="1200"/>
              <a:buChar char="•"/>
            </a:pPr>
            <a:r>
              <a:rPr lang="en-GB" sz="1200"/>
              <a:t>Manage short-term funding including intra-day liquidity management and cash clearing, crisis liquidity monitoring.</a:t>
            </a:r>
            <a:endParaRPr/>
          </a:p>
          <a:p>
            <a:pPr indent="-169863" lvl="0" marL="169863" rtl="0" algn="l">
              <a:lnSpc>
                <a:spcPct val="95000"/>
              </a:lnSpc>
              <a:spcBef>
                <a:spcPts val="200"/>
              </a:spcBef>
              <a:spcAft>
                <a:spcPts val="0"/>
              </a:spcAft>
              <a:buClr>
                <a:schemeClr val="dk1"/>
              </a:buClr>
              <a:buSzPts val="1200"/>
              <a:buChar char="•"/>
            </a:pPr>
            <a:r>
              <a:rPr lang="en-GB" sz="1200"/>
              <a:t>Involves selecting appropriate short &amp; medium-term investment vehicles, ensuring cash is available to pay liabilities timely, and increasing days cash on hand all in order to improve a company's overall financial profitability.</a:t>
            </a:r>
            <a:endParaRPr/>
          </a:p>
          <a:p>
            <a:pPr indent="-169863" lvl="0" marL="169863" rtl="0" algn="l">
              <a:lnSpc>
                <a:spcPct val="95000"/>
              </a:lnSpc>
              <a:spcBef>
                <a:spcPts val="600"/>
              </a:spcBef>
              <a:spcAft>
                <a:spcPts val="0"/>
              </a:spcAft>
              <a:buClr>
                <a:schemeClr val="dk1"/>
              </a:buClr>
              <a:buSzPts val="1200"/>
              <a:buChar char="•"/>
            </a:pPr>
            <a:r>
              <a:rPr lang="en-GB" sz="1200"/>
              <a:t>Liquidity management addresses managing cash flows, short and medium term debt financing,  to ensure the firm has sufficient cash at all times to run its business.</a:t>
            </a:r>
            <a:endParaRPr sz="1200"/>
          </a:p>
          <a:p>
            <a:pPr indent="-93663" lvl="0" marL="169863" rtl="0" algn="l">
              <a:lnSpc>
                <a:spcPct val="95000"/>
              </a:lnSpc>
              <a:spcBef>
                <a:spcPts val="600"/>
              </a:spcBef>
              <a:spcAft>
                <a:spcPts val="0"/>
              </a:spcAft>
              <a:buClr>
                <a:schemeClr val="dk1"/>
              </a:buClr>
              <a:buSzPts val="1200"/>
              <a:buNone/>
            </a:pPr>
            <a:r>
              <a:t/>
            </a:r>
            <a:endParaRPr sz="1200"/>
          </a:p>
        </p:txBody>
      </p:sp>
      <p:sp>
        <p:nvSpPr>
          <p:cNvPr id="5098" name="Google Shape;5098;p281"/>
          <p:cNvSpPr txBox="1"/>
          <p:nvPr>
            <p:ph type="title"/>
          </p:nvPr>
        </p:nvSpPr>
        <p:spPr>
          <a:xfrm>
            <a:off x="477880" y="17427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TREASURY MANAGEMENT</a:t>
            </a:r>
            <a:endParaRPr/>
          </a:p>
        </p:txBody>
      </p:sp>
      <p:sp>
        <p:nvSpPr>
          <p:cNvPr id="5099" name="Google Shape;5099;p281"/>
          <p:cNvSpPr/>
          <p:nvPr/>
        </p:nvSpPr>
        <p:spPr>
          <a:xfrm>
            <a:off x="1" y="1141414"/>
            <a:ext cx="7205662" cy="128972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None/>
            </a:pPr>
            <a:r>
              <a:rPr lang="en-GB" sz="1500">
                <a:solidFill>
                  <a:schemeClr val="lt1"/>
                </a:solidFill>
                <a:latin typeface="Century Gothic"/>
                <a:ea typeface="Century Gothic"/>
                <a:cs typeface="Century Gothic"/>
                <a:sym typeface="Century Gothic"/>
              </a:rPr>
              <a:t>Treasury management focuses on Cash and Liquidity Management looking at the management of liquidity, funding, and other financial risks. Effective Treasury Management is a key component of ensuring a company's financial stability and solvency. </a:t>
            </a:r>
            <a:endParaRPr/>
          </a:p>
        </p:txBody>
      </p:sp>
      <p:sp>
        <p:nvSpPr>
          <p:cNvPr id="5100" name="Google Shape;5100;p281">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Treasury Insight &amp;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3" name="Shape 5163"/>
        <p:cNvGrpSpPr/>
        <p:nvPr/>
      </p:nvGrpSpPr>
      <p:grpSpPr>
        <a:xfrm>
          <a:off x="0" y="0"/>
          <a:ext cx="0" cy="0"/>
          <a:chOff x="0" y="0"/>
          <a:chExt cx="0" cy="0"/>
        </a:xfrm>
      </p:grpSpPr>
      <p:pic>
        <p:nvPicPr>
          <p:cNvPr descr="FIN-1011-L.jpg" id="5164" name="Google Shape;5164;p286"/>
          <p:cNvPicPr preferRelativeResize="0"/>
          <p:nvPr/>
        </p:nvPicPr>
        <p:blipFill rotWithShape="1">
          <a:blip r:embed="rId3">
            <a:alphaModFix/>
          </a:blip>
          <a:srcRect b="881" l="12473" r="15517" t="3131"/>
          <a:stretch/>
        </p:blipFill>
        <p:spPr>
          <a:xfrm>
            <a:off x="5648154" y="274638"/>
            <a:ext cx="3324396" cy="2215646"/>
          </a:xfrm>
          <a:prstGeom prst="rect">
            <a:avLst/>
          </a:prstGeom>
          <a:noFill/>
          <a:ln>
            <a:noFill/>
          </a:ln>
        </p:spPr>
      </p:pic>
      <p:cxnSp>
        <p:nvCxnSpPr>
          <p:cNvPr id="5165" name="Google Shape;5165;p286"/>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5166" name="Google Shape;5166;p286"/>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Generate detailed , accurate and granular cashflow data to support a range of activities across Treasury and beyond (including ALM, Liquidity Management, Future Value calculations etc.)</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Ability to generate cashflows at individual agreement/contract level to support more detailed analysis and reporting.</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Fast generation times to support more frequent update/refresh.</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Flexible functionality enabling cashflow rules to be established and maintained without hard-coding and with minimal IT requirement.</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Support for contractual and non-contractual cashflows.</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data including customer, product, agreement (including contractual terms), balances (assets), limits and transaction data</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Range of possible solutions, including:</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rPr>
                        <a:t>custom-developed  in-database application</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rPr>
                        <a:t>3</a:t>
                      </a:r>
                      <a:r>
                        <a:rPr baseline="30000" lang="en-GB" sz="900">
                          <a:solidFill>
                            <a:schemeClr val="dk1"/>
                          </a:solidFill>
                        </a:rPr>
                        <a:t>rd</a:t>
                      </a:r>
                      <a:r>
                        <a:rPr lang="en-GB" sz="900">
                          <a:solidFill>
                            <a:schemeClr val="dk1"/>
                          </a:solidFill>
                        </a:rPr>
                        <a:t>-party vendor solutions (in-database or downstream of data warehouse)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Analytical Discovery Platform / Solution for deep analysis and modelling of non-contractual cashflow behaviour</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Greater granularity of Cashflow generation results in  enhanced ALM and Liquidity Management capabilities.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Complete coverage &amp; detail of data required to generate contractual and non-contractual (behavioural) cashflows available from a single, integrated source.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integrate at detailed transactional and granular data level with full range of other application options.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Lower cost due to shared data, tools and infrastructure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Cash flow return on investment  (CFROI) per Asset</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167" name="Google Shape;5167;p286"/>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Cashflow Generation</a:t>
            </a:r>
            <a:endParaRPr sz="1600"/>
          </a:p>
        </p:txBody>
      </p:sp>
      <p:grpSp>
        <p:nvGrpSpPr>
          <p:cNvPr id="5168" name="Google Shape;5168;p286"/>
          <p:cNvGrpSpPr/>
          <p:nvPr/>
        </p:nvGrpSpPr>
        <p:grpSpPr>
          <a:xfrm>
            <a:off x="7717533" y="4360377"/>
            <a:ext cx="1058348" cy="347375"/>
            <a:chOff x="7651698" y="4287227"/>
            <a:chExt cx="1058348" cy="347375"/>
          </a:xfrm>
        </p:grpSpPr>
        <p:grpSp>
          <p:nvGrpSpPr>
            <p:cNvPr id="5169" name="Google Shape;5169;p286"/>
            <p:cNvGrpSpPr/>
            <p:nvPr/>
          </p:nvGrpSpPr>
          <p:grpSpPr>
            <a:xfrm>
              <a:off x="7714163" y="4337598"/>
              <a:ext cx="995883" cy="297004"/>
              <a:chOff x="7711013" y="3986494"/>
              <a:chExt cx="995883" cy="297004"/>
            </a:xfrm>
          </p:grpSpPr>
          <p:sp>
            <p:nvSpPr>
              <p:cNvPr id="5170" name="Google Shape;5170;p286"/>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a:p>
            </p:txBody>
          </p:sp>
          <p:grpSp>
            <p:nvGrpSpPr>
              <p:cNvPr id="5171" name="Google Shape;5171;p286"/>
              <p:cNvGrpSpPr/>
              <p:nvPr/>
            </p:nvGrpSpPr>
            <p:grpSpPr>
              <a:xfrm>
                <a:off x="7711013" y="4002615"/>
                <a:ext cx="281520" cy="241973"/>
                <a:chOff x="5652748" y="4066000"/>
                <a:chExt cx="906498" cy="747974"/>
              </a:xfrm>
            </p:grpSpPr>
            <p:sp>
              <p:nvSpPr>
                <p:cNvPr id="5172" name="Google Shape;5172;p286"/>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173" name="Google Shape;5173;p286"/>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174" name="Google Shape;5174;p286"/>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175" name="Google Shape;5175;p286">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5176" name="Google Shape;5176;p286">
            <a:hlinkClick action="ppaction://hlinksldjump" r:id="rId5"/>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Treasury Insight &amp;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5" name="Shape 5195"/>
        <p:cNvGrpSpPr/>
        <p:nvPr/>
      </p:nvGrpSpPr>
      <p:grpSpPr>
        <a:xfrm>
          <a:off x="0" y="0"/>
          <a:ext cx="0" cy="0"/>
          <a:chOff x="0" y="0"/>
          <a:chExt cx="0" cy="0"/>
        </a:xfrm>
      </p:grpSpPr>
      <p:cxnSp>
        <p:nvCxnSpPr>
          <p:cNvPr id="5196" name="Google Shape;5196;p288"/>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5197" name="Google Shape;5197;p288"/>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Manage short and long-term positions, including intraday liquidity and risk to meet payment and settlement obligations on a timely basis, under both normal and stressed conditions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Timely and accurate regulatory reporting (e.g. LCR, NSFR) using comprehensive,  integrated, high-quality and validated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Support for Intra-day liquidity monitoring (i.e. Early Warning Indicators)</a:t>
                      </a:r>
                      <a:endParaRPr sz="900">
                        <a:solidFill>
                          <a:schemeClr val="dk1"/>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Perform comprehensive stress testing.</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Accurate Liquidity information at multiple levels (legal entity, business line, product, customer, transaction)</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Access to real-time, relevant detailed  balance and transaction data </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Range of possible solutions, including:</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rPr>
                        <a:t>custom-developed  in-database application</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rPr>
                        <a:t>3</a:t>
                      </a:r>
                      <a:r>
                        <a:rPr baseline="30000" lang="en-GB" sz="900">
                          <a:solidFill>
                            <a:schemeClr val="dk1"/>
                          </a:solidFill>
                        </a:rPr>
                        <a:t>rd</a:t>
                      </a:r>
                      <a:r>
                        <a:rPr lang="en-GB" sz="900">
                          <a:solidFill>
                            <a:schemeClr val="dk1"/>
                          </a:solidFill>
                        </a:rPr>
                        <a:t>-party vendor solutions (in-database or downstream of data warehouse)</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management and monitoring of intra-day, short- and long-term liquidity, resulting in:</a:t>
                      </a:r>
                      <a:endParaRPr/>
                    </a:p>
                    <a:p>
                      <a:pPr indent="-171450" lvl="0" marL="354013"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Reduction in the need for intraday credit lines.</a:t>
                      </a:r>
                      <a:endParaRPr/>
                    </a:p>
                    <a:p>
                      <a:pPr indent="-171450" lvl="0" marL="354013"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Minimising impact of liquidity buffers on funding &amp; capital costs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Meet current regulatory reporting requirements on a timely basis.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Adapt to future regulatory changes more quickly and cheaply.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ability to perform comprehensive and detailed stress-testing, using single-source, validated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Lower cost due to shared data, tools and infrastructure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time to deliver Output and with less manual effort</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198" name="Google Shape;5198;p288"/>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Liquidity Management</a:t>
            </a:r>
            <a:endParaRPr sz="1600"/>
          </a:p>
        </p:txBody>
      </p:sp>
      <p:sp>
        <p:nvSpPr>
          <p:cNvPr id="5199" name="Google Shape;5199;p28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Treasury Insight &amp; Management</a:t>
            </a:r>
            <a:endParaRPr sz="750">
              <a:solidFill>
                <a:schemeClr val="lt1"/>
              </a:solidFill>
              <a:latin typeface="Century Gothic"/>
              <a:ea typeface="Century Gothic"/>
              <a:cs typeface="Century Gothic"/>
              <a:sym typeface="Century Gothic"/>
            </a:endParaRPr>
          </a:p>
        </p:txBody>
      </p:sp>
      <p:pic>
        <p:nvPicPr>
          <p:cNvPr descr="FIN-1011-L.jpg" id="5200" name="Google Shape;5200;p288"/>
          <p:cNvPicPr preferRelativeResize="0"/>
          <p:nvPr/>
        </p:nvPicPr>
        <p:blipFill rotWithShape="1">
          <a:blip r:embed="rId4">
            <a:alphaModFix/>
          </a:blip>
          <a:srcRect b="881" l="12473" r="15517" t="3131"/>
          <a:stretch/>
        </p:blipFill>
        <p:spPr>
          <a:xfrm>
            <a:off x="5648154" y="274638"/>
            <a:ext cx="3324396" cy="2215646"/>
          </a:xfrm>
          <a:prstGeom prst="rect">
            <a:avLst/>
          </a:prstGeom>
          <a:noFill/>
          <a:ln>
            <a:noFill/>
          </a:ln>
        </p:spPr>
      </p:pic>
      <p:grpSp>
        <p:nvGrpSpPr>
          <p:cNvPr id="5201" name="Google Shape;5201;p288"/>
          <p:cNvGrpSpPr/>
          <p:nvPr/>
        </p:nvGrpSpPr>
        <p:grpSpPr>
          <a:xfrm>
            <a:off x="7717533" y="4360377"/>
            <a:ext cx="1058348" cy="347375"/>
            <a:chOff x="7651698" y="4287227"/>
            <a:chExt cx="1058348" cy="347375"/>
          </a:xfrm>
        </p:grpSpPr>
        <p:grpSp>
          <p:nvGrpSpPr>
            <p:cNvPr id="5202" name="Google Shape;5202;p288"/>
            <p:cNvGrpSpPr/>
            <p:nvPr/>
          </p:nvGrpSpPr>
          <p:grpSpPr>
            <a:xfrm>
              <a:off x="7714163" y="4337598"/>
              <a:ext cx="995883" cy="297004"/>
              <a:chOff x="7711013" y="3986494"/>
              <a:chExt cx="995883" cy="297004"/>
            </a:xfrm>
          </p:grpSpPr>
          <p:sp>
            <p:nvSpPr>
              <p:cNvPr id="5203" name="Google Shape;5203;p288"/>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a:p>
            </p:txBody>
          </p:sp>
          <p:grpSp>
            <p:nvGrpSpPr>
              <p:cNvPr id="5204" name="Google Shape;5204;p288"/>
              <p:cNvGrpSpPr/>
              <p:nvPr/>
            </p:nvGrpSpPr>
            <p:grpSpPr>
              <a:xfrm>
                <a:off x="7711013" y="4002615"/>
                <a:ext cx="281520" cy="241973"/>
                <a:chOff x="5652748" y="4066000"/>
                <a:chExt cx="906498" cy="747974"/>
              </a:xfrm>
            </p:grpSpPr>
            <p:sp>
              <p:nvSpPr>
                <p:cNvPr id="5205" name="Google Shape;5205;p288"/>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206" name="Google Shape;5206;p288"/>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207" name="Google Shape;5207;p288"/>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208" name="Google Shape;5208;p288">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7" name="Shape 5227"/>
        <p:cNvGrpSpPr/>
        <p:nvPr/>
      </p:nvGrpSpPr>
      <p:grpSpPr>
        <a:xfrm>
          <a:off x="0" y="0"/>
          <a:ext cx="0" cy="0"/>
          <a:chOff x="0" y="0"/>
          <a:chExt cx="0" cy="0"/>
        </a:xfrm>
      </p:grpSpPr>
      <p:cxnSp>
        <p:nvCxnSpPr>
          <p:cNvPr id="5228" name="Google Shape;5228;p290"/>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5229" name="Google Shape;5229;p290"/>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Plan capital need, allocate capital within the organization, and set cost of capital</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Calculate (risk-adjusted) return on capital  and economic capital.</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Support RWA calculation and capital adequacy / regulatory reporting.</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Perform comprehensive stress testing</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Ensure that accurate cost of capital is reflected in product development and pricing, customer profitability calculations etc.</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Agreement, customer, and collateral data; rating and market data for VaR calculation and stress scenarios; internal organization data (business units, profit centres etc.)</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 to hold integrated set of granular data covering all capital adequacy and regulatory reporting requirements, to continuously determine market-based pricing for assets and liabilities based on defined market curves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3rd party calculation engines or custom-built developments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analyse / evaluate the organisation’s long-term viability under different forward-looking strategies, including stress scenarios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Efficient capital planning process taking into account projected balance sheets, income statements and risk-weighted assets on group level enabled</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Support fulfilment of regulatory stress testing requirements (e.g. CCAR, EBA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Significantly enhanced, consistent, and reliable data across all regulatory and capital adequacy needs</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230" name="Google Shape;5230;p290"/>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Capital Planning and Management</a:t>
            </a:r>
            <a:endParaRPr sz="1600"/>
          </a:p>
        </p:txBody>
      </p:sp>
      <p:sp>
        <p:nvSpPr>
          <p:cNvPr id="5231" name="Google Shape;5231;p29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Treasury Insight &amp; Management</a:t>
            </a:r>
            <a:endParaRPr sz="750">
              <a:solidFill>
                <a:schemeClr val="lt1"/>
              </a:solidFill>
              <a:latin typeface="Century Gothic"/>
              <a:ea typeface="Century Gothic"/>
              <a:cs typeface="Century Gothic"/>
              <a:sym typeface="Century Gothic"/>
            </a:endParaRPr>
          </a:p>
        </p:txBody>
      </p:sp>
      <p:pic>
        <p:nvPicPr>
          <p:cNvPr descr="FIN-1011-L.jpg" id="5232" name="Google Shape;5232;p290"/>
          <p:cNvPicPr preferRelativeResize="0"/>
          <p:nvPr/>
        </p:nvPicPr>
        <p:blipFill rotWithShape="1">
          <a:blip r:embed="rId4">
            <a:alphaModFix/>
          </a:blip>
          <a:srcRect b="881" l="12473" r="15517" t="3131"/>
          <a:stretch/>
        </p:blipFill>
        <p:spPr>
          <a:xfrm>
            <a:off x="5648154" y="274638"/>
            <a:ext cx="3324396" cy="2215646"/>
          </a:xfrm>
          <a:prstGeom prst="rect">
            <a:avLst/>
          </a:prstGeom>
          <a:noFill/>
          <a:ln>
            <a:noFill/>
          </a:ln>
        </p:spPr>
      </p:pic>
      <p:grpSp>
        <p:nvGrpSpPr>
          <p:cNvPr id="5233" name="Google Shape;5233;p290"/>
          <p:cNvGrpSpPr/>
          <p:nvPr/>
        </p:nvGrpSpPr>
        <p:grpSpPr>
          <a:xfrm>
            <a:off x="7717533" y="4360377"/>
            <a:ext cx="1058348" cy="347375"/>
            <a:chOff x="7651698" y="4287227"/>
            <a:chExt cx="1058348" cy="347375"/>
          </a:xfrm>
        </p:grpSpPr>
        <p:grpSp>
          <p:nvGrpSpPr>
            <p:cNvPr id="5234" name="Google Shape;5234;p290"/>
            <p:cNvGrpSpPr/>
            <p:nvPr/>
          </p:nvGrpSpPr>
          <p:grpSpPr>
            <a:xfrm>
              <a:off x="7714163" y="4337598"/>
              <a:ext cx="995883" cy="297004"/>
              <a:chOff x="7711013" y="3986494"/>
              <a:chExt cx="995883" cy="297004"/>
            </a:xfrm>
          </p:grpSpPr>
          <p:sp>
            <p:nvSpPr>
              <p:cNvPr id="5235" name="Google Shape;5235;p290"/>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a:p>
            </p:txBody>
          </p:sp>
          <p:grpSp>
            <p:nvGrpSpPr>
              <p:cNvPr id="5236" name="Google Shape;5236;p290"/>
              <p:cNvGrpSpPr/>
              <p:nvPr/>
            </p:nvGrpSpPr>
            <p:grpSpPr>
              <a:xfrm>
                <a:off x="7711013" y="4002615"/>
                <a:ext cx="281520" cy="241973"/>
                <a:chOff x="5652748" y="4066000"/>
                <a:chExt cx="906498" cy="747974"/>
              </a:xfrm>
            </p:grpSpPr>
            <p:sp>
              <p:nvSpPr>
                <p:cNvPr id="5237" name="Google Shape;5237;p290"/>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238" name="Google Shape;5238;p290"/>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239" name="Google Shape;5239;p290"/>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240" name="Google Shape;5240;p290">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9" name="Shape 5259"/>
        <p:cNvGrpSpPr/>
        <p:nvPr/>
      </p:nvGrpSpPr>
      <p:grpSpPr>
        <a:xfrm>
          <a:off x="0" y="0"/>
          <a:ext cx="0" cy="0"/>
          <a:chOff x="0" y="0"/>
          <a:chExt cx="0" cy="0"/>
        </a:xfrm>
      </p:grpSpPr>
      <p:cxnSp>
        <p:nvCxnSpPr>
          <p:cNvPr id="5260" name="Google Shape;5260;p292"/>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5261" name="Google Shape;5261;p292"/>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Effective management of interest rate and liquidity risks.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More granular, accurate  and timely analysis to support ALM forecasting and decisions.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 robust and comprehensive balance sheet management solution utilising timely and validated data </a:t>
                      </a:r>
                      <a:r>
                        <a:rPr lang="en-GB" sz="900">
                          <a:solidFill>
                            <a:schemeClr val="dk1"/>
                          </a:solidFill>
                        </a:rPr>
                        <a:t>for all legal entities and business units</a:t>
                      </a:r>
                      <a:r>
                        <a:rPr lang="en-GB" sz="900">
                          <a:solidFill>
                            <a:schemeClr val="dk1"/>
                          </a:solidFill>
                          <a:latin typeface="Century Gothic"/>
                          <a:ea typeface="Century Gothic"/>
                          <a:cs typeface="Century Gothic"/>
                          <a:sym typeface="Century Gothic"/>
                        </a:rPr>
                        <a:t>, and providing comprehensive functionality for analysis, simulation and reporting.</a:t>
                      </a:r>
                      <a:endParaRPr/>
                    </a:p>
                    <a:p>
                      <a:pPr indent="-114300" lvl="0" marL="171450" marR="0" rtl="0" algn="l">
                        <a:lnSpc>
                          <a:spcPct val="100000"/>
                        </a:lnSpc>
                        <a:spcBef>
                          <a:spcPts val="0"/>
                        </a:spcBef>
                        <a:spcAft>
                          <a:spcPts val="0"/>
                        </a:spcAft>
                        <a:buClr>
                          <a:schemeClr val="dk1"/>
                        </a:buClr>
                        <a:buSzPts val="900"/>
                        <a:buFont typeface="Arial"/>
                        <a:buNone/>
                      </a:pPr>
                      <a:r>
                        <a:t/>
                      </a:r>
                      <a:endParaRPr b="1" sz="900">
                        <a:solidFill>
                          <a:schemeClr val="dk1"/>
                        </a:solidFill>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customer, product, agreement (including contractual terms),  balances, limits and transaction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Cashflow projections from Cashflow generation engine</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Market data (e.g. FX rates etc.)</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 robust integrated data warehouse, incorporating risk, financial, customer and other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3</a:t>
                      </a:r>
                      <a:r>
                        <a:rPr baseline="30000" lang="en-GB" sz="900">
                          <a:solidFill>
                            <a:schemeClr val="dk1"/>
                          </a:solidFill>
                        </a:rPr>
                        <a:t>rd</a:t>
                      </a:r>
                      <a:r>
                        <a:rPr lang="en-GB" sz="900">
                          <a:solidFill>
                            <a:schemeClr val="dk1"/>
                          </a:solidFill>
                        </a:rPr>
                        <a:t>-party, or custom-developed  applications / calculation engines to support analysis, simulation and reporting</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Comprehensive and sustainable balance sheet risk management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Regulatory Compliance, meeting local liquidity and interest rate regulatory requirements with clear data lineage and a complete audit trail from the original exposures to the final regulatory reports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The output supports analysis of the risk exposure of user-defined portfolios or position sets segmented by product, business line, region or risk factor</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Accurate measurement and management of  the entire spectrum of risk types related to asset and liability management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Lower cost due to shared data, tools and </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infrastructure</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262" name="Google Shape;5262;p292"/>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Asset &amp; Liability Management</a:t>
            </a:r>
            <a:endParaRPr sz="1600"/>
          </a:p>
        </p:txBody>
      </p:sp>
      <p:sp>
        <p:nvSpPr>
          <p:cNvPr id="5263" name="Google Shape;5263;p29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Treasury Insight &amp; Management</a:t>
            </a:r>
            <a:endParaRPr sz="750">
              <a:solidFill>
                <a:schemeClr val="lt1"/>
              </a:solidFill>
              <a:latin typeface="Century Gothic"/>
              <a:ea typeface="Century Gothic"/>
              <a:cs typeface="Century Gothic"/>
              <a:sym typeface="Century Gothic"/>
            </a:endParaRPr>
          </a:p>
        </p:txBody>
      </p:sp>
      <p:pic>
        <p:nvPicPr>
          <p:cNvPr descr="FIN-1011-L.jpg" id="5264" name="Google Shape;5264;p292"/>
          <p:cNvPicPr preferRelativeResize="0"/>
          <p:nvPr/>
        </p:nvPicPr>
        <p:blipFill rotWithShape="1">
          <a:blip r:embed="rId4">
            <a:alphaModFix/>
          </a:blip>
          <a:srcRect b="881" l="12473" r="15517" t="3131"/>
          <a:stretch/>
        </p:blipFill>
        <p:spPr>
          <a:xfrm>
            <a:off x="5648154" y="274638"/>
            <a:ext cx="3324396" cy="2215646"/>
          </a:xfrm>
          <a:prstGeom prst="rect">
            <a:avLst/>
          </a:prstGeom>
          <a:noFill/>
          <a:ln>
            <a:noFill/>
          </a:ln>
        </p:spPr>
      </p:pic>
      <p:grpSp>
        <p:nvGrpSpPr>
          <p:cNvPr id="5265" name="Google Shape;5265;p292"/>
          <p:cNvGrpSpPr/>
          <p:nvPr/>
        </p:nvGrpSpPr>
        <p:grpSpPr>
          <a:xfrm>
            <a:off x="7717533" y="4360377"/>
            <a:ext cx="1058348" cy="347375"/>
            <a:chOff x="7651698" y="4287227"/>
            <a:chExt cx="1058348" cy="347375"/>
          </a:xfrm>
        </p:grpSpPr>
        <p:grpSp>
          <p:nvGrpSpPr>
            <p:cNvPr id="5266" name="Google Shape;5266;p292"/>
            <p:cNvGrpSpPr/>
            <p:nvPr/>
          </p:nvGrpSpPr>
          <p:grpSpPr>
            <a:xfrm>
              <a:off x="7714163" y="4337598"/>
              <a:ext cx="995883" cy="297004"/>
              <a:chOff x="7711013" y="3986494"/>
              <a:chExt cx="995883" cy="297004"/>
            </a:xfrm>
          </p:grpSpPr>
          <p:sp>
            <p:nvSpPr>
              <p:cNvPr id="5267" name="Google Shape;5267;p292"/>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a:p>
            </p:txBody>
          </p:sp>
          <p:grpSp>
            <p:nvGrpSpPr>
              <p:cNvPr id="5268" name="Google Shape;5268;p292"/>
              <p:cNvGrpSpPr/>
              <p:nvPr/>
            </p:nvGrpSpPr>
            <p:grpSpPr>
              <a:xfrm>
                <a:off x="7711013" y="4002615"/>
                <a:ext cx="281520" cy="241973"/>
                <a:chOff x="5652748" y="4066000"/>
                <a:chExt cx="906498" cy="747974"/>
              </a:xfrm>
            </p:grpSpPr>
            <p:sp>
              <p:nvSpPr>
                <p:cNvPr id="5269" name="Google Shape;5269;p292"/>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270" name="Google Shape;5270;p292"/>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271" name="Google Shape;5271;p292"/>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272" name="Google Shape;5272;p292">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1" name="Shape 5291"/>
        <p:cNvGrpSpPr/>
        <p:nvPr/>
      </p:nvGrpSpPr>
      <p:grpSpPr>
        <a:xfrm>
          <a:off x="0" y="0"/>
          <a:ext cx="0" cy="0"/>
          <a:chOff x="0" y="0"/>
          <a:chExt cx="0" cy="0"/>
        </a:xfrm>
      </p:grpSpPr>
      <p:cxnSp>
        <p:nvCxnSpPr>
          <p:cNvPr id="5292" name="Google Shape;5292;p294"/>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5293" name="Google Shape;5293;p294"/>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Transfer management of interest rate and liquidity risk to a central unit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centrally manage Net Interest Margin and Cost of Funds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Fairly and reasonable price the Cost/value of funds attributable to each customer contract to  contribute to customer contract level profitability calculations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Drive/motivate the banks sales staff towards focusing sales effort on those product sets that support the banks strategic direction</a:t>
                      </a:r>
                      <a:endParaRPr sz="900">
                        <a:solidFill>
                          <a:schemeClr val="dk1"/>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Avoid inappropriate business decisions with significant impact on the bank‘s profitability (e.g. underestimated funding costs resulting in loans offered too cheaply or undervalue of deposits)</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agreement/position data, in particular balances, rates, maturities, re-pricing/repayment frequencies; customer demographic, segmentation</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Market rates/curves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3rd party calculation engines or custom built developments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Continuous availability of appropriate transfer prices, reflecting the current market and funding situation, to avoid wrong incentives and consequent costly decisions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Significant contribution towards Customer contract profitability model</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identify and fund liquidity mismatches at an optimal cost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Centralize deployment of surplus liquidity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Set targets for interest income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Lower cost due to shared data, tools and infrastructure</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294" name="Google Shape;5294;p294"/>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Funds Transfer Pricing</a:t>
            </a:r>
            <a:endParaRPr sz="1600"/>
          </a:p>
        </p:txBody>
      </p:sp>
      <p:sp>
        <p:nvSpPr>
          <p:cNvPr id="5295" name="Google Shape;5295;p29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Treasury Insight &amp; Management</a:t>
            </a:r>
            <a:endParaRPr sz="750">
              <a:solidFill>
                <a:schemeClr val="lt1"/>
              </a:solidFill>
              <a:latin typeface="Century Gothic"/>
              <a:ea typeface="Century Gothic"/>
              <a:cs typeface="Century Gothic"/>
              <a:sym typeface="Century Gothic"/>
            </a:endParaRPr>
          </a:p>
        </p:txBody>
      </p:sp>
      <p:pic>
        <p:nvPicPr>
          <p:cNvPr descr="FIN-1011-L.jpg" id="5296" name="Google Shape;5296;p294"/>
          <p:cNvPicPr preferRelativeResize="0"/>
          <p:nvPr/>
        </p:nvPicPr>
        <p:blipFill rotWithShape="1">
          <a:blip r:embed="rId4">
            <a:alphaModFix/>
          </a:blip>
          <a:srcRect b="881" l="12473" r="15517" t="3131"/>
          <a:stretch/>
        </p:blipFill>
        <p:spPr>
          <a:xfrm>
            <a:off x="5648154" y="274638"/>
            <a:ext cx="3324396" cy="2215646"/>
          </a:xfrm>
          <a:prstGeom prst="rect">
            <a:avLst/>
          </a:prstGeom>
          <a:noFill/>
          <a:ln>
            <a:noFill/>
          </a:ln>
        </p:spPr>
      </p:pic>
      <p:grpSp>
        <p:nvGrpSpPr>
          <p:cNvPr id="5297" name="Google Shape;5297;p294"/>
          <p:cNvGrpSpPr/>
          <p:nvPr/>
        </p:nvGrpSpPr>
        <p:grpSpPr>
          <a:xfrm>
            <a:off x="7717533" y="4360377"/>
            <a:ext cx="1058348" cy="347375"/>
            <a:chOff x="7651698" y="4287227"/>
            <a:chExt cx="1058348" cy="347375"/>
          </a:xfrm>
        </p:grpSpPr>
        <p:grpSp>
          <p:nvGrpSpPr>
            <p:cNvPr id="5298" name="Google Shape;5298;p294"/>
            <p:cNvGrpSpPr/>
            <p:nvPr/>
          </p:nvGrpSpPr>
          <p:grpSpPr>
            <a:xfrm>
              <a:off x="7714163" y="4337598"/>
              <a:ext cx="995883" cy="297004"/>
              <a:chOff x="7711013" y="3986494"/>
              <a:chExt cx="995883" cy="297004"/>
            </a:xfrm>
          </p:grpSpPr>
          <p:sp>
            <p:nvSpPr>
              <p:cNvPr id="5299" name="Google Shape;5299;p294"/>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a:p>
            </p:txBody>
          </p:sp>
          <p:grpSp>
            <p:nvGrpSpPr>
              <p:cNvPr id="5300" name="Google Shape;5300;p294"/>
              <p:cNvGrpSpPr/>
              <p:nvPr/>
            </p:nvGrpSpPr>
            <p:grpSpPr>
              <a:xfrm>
                <a:off x="7711013" y="4002615"/>
                <a:ext cx="281520" cy="241973"/>
                <a:chOff x="5652748" y="4066000"/>
                <a:chExt cx="906498" cy="747974"/>
              </a:xfrm>
            </p:grpSpPr>
            <p:sp>
              <p:nvSpPr>
                <p:cNvPr id="5301" name="Google Shape;5301;p294"/>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302" name="Google Shape;5302;p294"/>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303" name="Google Shape;5303;p294"/>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304" name="Google Shape;5304;p294">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3" name="Shape 5323"/>
        <p:cNvGrpSpPr/>
        <p:nvPr/>
      </p:nvGrpSpPr>
      <p:grpSpPr>
        <a:xfrm>
          <a:off x="0" y="0"/>
          <a:ext cx="0" cy="0"/>
          <a:chOff x="0" y="0"/>
          <a:chExt cx="0" cy="0"/>
        </a:xfrm>
      </p:grpSpPr>
      <p:cxnSp>
        <p:nvCxnSpPr>
          <p:cNvPr id="5324" name="Google Shape;5324;p296"/>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5325" name="Google Shape;5325;p296"/>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Identify, measure and manage the risk of losses arising from adverse movements in market prices (e.g. equity or commodity prices, interest or FX rates)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Availability of all required data to support analytics , models and reporting in a single, integrated environment.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develop and adapt models quickly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meet regulatory requirements (e.g. Basel II/III, stressed VaR, Incremental Risk Charge, Credit Value Adjustments etc.)</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Deal-level data across all trading book portfolios.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FX and Commodity positions across whole balance sheet.</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Market and reference data (price information, volatilities, index data)</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Range of possible solutions, including:</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rPr>
                        <a:t>custom-developed  in-database application</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rPr>
                        <a:t>3</a:t>
                      </a:r>
                      <a:r>
                        <a:rPr baseline="30000" lang="en-GB" sz="900">
                          <a:solidFill>
                            <a:schemeClr val="dk1"/>
                          </a:solidFill>
                        </a:rPr>
                        <a:t>rd</a:t>
                      </a:r>
                      <a:r>
                        <a:rPr lang="en-GB" sz="900">
                          <a:solidFill>
                            <a:schemeClr val="dk1"/>
                          </a:solidFill>
                        </a:rPr>
                        <a:t>-party vendor solutions (in-database or downstream of data warehouse)</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Value-at-Risk for all trading positions is calculated daily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All calculations are performed based on high-quality, integrated and validated  data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Internal model calculations are agreed, trusted and used consistently by the front office, finance, and risk</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As a result, risk positions and limits according to the risk appetite can be monitored and managed appropriately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Lower cost due to shared data, tools and infrastructure</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326" name="Google Shape;5326;p296"/>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FX &amp; Trading Book Management</a:t>
            </a:r>
            <a:endParaRPr sz="1600"/>
          </a:p>
        </p:txBody>
      </p:sp>
      <p:sp>
        <p:nvSpPr>
          <p:cNvPr id="5327" name="Google Shape;5327;p29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Treasury Insight &amp; Management</a:t>
            </a:r>
            <a:endParaRPr sz="750">
              <a:solidFill>
                <a:schemeClr val="lt1"/>
              </a:solidFill>
              <a:latin typeface="Century Gothic"/>
              <a:ea typeface="Century Gothic"/>
              <a:cs typeface="Century Gothic"/>
              <a:sym typeface="Century Gothic"/>
            </a:endParaRPr>
          </a:p>
        </p:txBody>
      </p:sp>
      <p:pic>
        <p:nvPicPr>
          <p:cNvPr descr="FIN-1011-L.jpg" id="5328" name="Google Shape;5328;p296"/>
          <p:cNvPicPr preferRelativeResize="0"/>
          <p:nvPr/>
        </p:nvPicPr>
        <p:blipFill rotWithShape="1">
          <a:blip r:embed="rId4">
            <a:alphaModFix/>
          </a:blip>
          <a:srcRect b="881" l="12473" r="15517" t="3131"/>
          <a:stretch/>
        </p:blipFill>
        <p:spPr>
          <a:xfrm>
            <a:off x="5648154" y="274638"/>
            <a:ext cx="3324396" cy="2215646"/>
          </a:xfrm>
          <a:prstGeom prst="rect">
            <a:avLst/>
          </a:prstGeom>
          <a:noFill/>
          <a:ln>
            <a:noFill/>
          </a:ln>
        </p:spPr>
      </p:pic>
      <p:grpSp>
        <p:nvGrpSpPr>
          <p:cNvPr id="5329" name="Google Shape;5329;p296"/>
          <p:cNvGrpSpPr/>
          <p:nvPr/>
        </p:nvGrpSpPr>
        <p:grpSpPr>
          <a:xfrm>
            <a:off x="7717533" y="4360377"/>
            <a:ext cx="1058348" cy="347375"/>
            <a:chOff x="7651698" y="4287227"/>
            <a:chExt cx="1058348" cy="347375"/>
          </a:xfrm>
        </p:grpSpPr>
        <p:grpSp>
          <p:nvGrpSpPr>
            <p:cNvPr id="5330" name="Google Shape;5330;p296"/>
            <p:cNvGrpSpPr/>
            <p:nvPr/>
          </p:nvGrpSpPr>
          <p:grpSpPr>
            <a:xfrm>
              <a:off x="7714163" y="4337598"/>
              <a:ext cx="995883" cy="297004"/>
              <a:chOff x="7711013" y="3986494"/>
              <a:chExt cx="995883" cy="297004"/>
            </a:xfrm>
          </p:grpSpPr>
          <p:sp>
            <p:nvSpPr>
              <p:cNvPr id="5331" name="Google Shape;5331;p296"/>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a:p>
            </p:txBody>
          </p:sp>
          <p:grpSp>
            <p:nvGrpSpPr>
              <p:cNvPr id="5332" name="Google Shape;5332;p296"/>
              <p:cNvGrpSpPr/>
              <p:nvPr/>
            </p:nvGrpSpPr>
            <p:grpSpPr>
              <a:xfrm>
                <a:off x="7711013" y="4002615"/>
                <a:ext cx="281520" cy="241973"/>
                <a:chOff x="5652748" y="4066000"/>
                <a:chExt cx="906498" cy="747974"/>
              </a:xfrm>
            </p:grpSpPr>
            <p:sp>
              <p:nvSpPr>
                <p:cNvPr id="5333" name="Google Shape;5333;p296"/>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334" name="Google Shape;5334;p296"/>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335" name="Google Shape;5335;p296"/>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336" name="Google Shape;5336;p296">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5" name="Shape 5355"/>
        <p:cNvGrpSpPr/>
        <p:nvPr/>
      </p:nvGrpSpPr>
      <p:grpSpPr>
        <a:xfrm>
          <a:off x="0" y="0"/>
          <a:ext cx="0" cy="0"/>
          <a:chOff x="0" y="0"/>
          <a:chExt cx="0" cy="0"/>
        </a:xfrm>
      </p:grpSpPr>
      <p:cxnSp>
        <p:nvCxnSpPr>
          <p:cNvPr id="5356" name="Google Shape;5356;p298"/>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5357" name="Google Shape;5357;p298"/>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Identify, measure, mitigate and manage interest rate risk (in the banking book) in order to limit losses from unexpected interest rate changes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Availability of all required data to support analytics , models and reporting in a single, integrated environment.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develop and adapt models quickly.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Understand not only the benefits but also the limits of the risk measurement methods (e.g. VaR, EaR, EVE, NII) used.</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account- and agreement-level data for all interest rate sensitive instruments (assets, liabilities, and off-balance items), including: Balances; terms; interest rates; limits; Product, Customer and Risk characteristics;  Maturity and re-pricing dates and characteristics;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Market data (e.g. interest rates and yield curves).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Range of possible solutions, including:</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rPr>
                        <a:t>custom-developed  in-database application</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rPr>
                        <a:t>3</a:t>
                      </a:r>
                      <a:r>
                        <a:rPr baseline="30000" lang="en-GB" sz="900">
                          <a:solidFill>
                            <a:schemeClr val="dk1"/>
                          </a:solidFill>
                        </a:rPr>
                        <a:t>rd</a:t>
                      </a:r>
                      <a:r>
                        <a:rPr lang="en-GB" sz="900">
                          <a:solidFill>
                            <a:schemeClr val="dk1"/>
                          </a:solidFill>
                        </a:rPr>
                        <a:t>-party vendor solutions (in-database or downstream of data warehouse)</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Net Interest margins.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Net interest income at Risk calculation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ability to react to competitor pricing.</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Reduction in earnings volatility.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Lower cost due to shared data, tools and infrastructure</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358" name="Google Shape;5358;p298"/>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Interest (Risk) Rate Management </a:t>
            </a:r>
            <a:endParaRPr sz="1600"/>
          </a:p>
        </p:txBody>
      </p:sp>
      <p:sp>
        <p:nvSpPr>
          <p:cNvPr id="5359" name="Google Shape;5359;p29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Treasury Insight &amp; Management</a:t>
            </a:r>
            <a:endParaRPr sz="750">
              <a:solidFill>
                <a:schemeClr val="lt1"/>
              </a:solidFill>
              <a:latin typeface="Century Gothic"/>
              <a:ea typeface="Century Gothic"/>
              <a:cs typeface="Century Gothic"/>
              <a:sym typeface="Century Gothic"/>
            </a:endParaRPr>
          </a:p>
        </p:txBody>
      </p:sp>
      <p:pic>
        <p:nvPicPr>
          <p:cNvPr descr="FIN-1011-L.jpg" id="5360" name="Google Shape;5360;p298"/>
          <p:cNvPicPr preferRelativeResize="0"/>
          <p:nvPr/>
        </p:nvPicPr>
        <p:blipFill rotWithShape="1">
          <a:blip r:embed="rId4">
            <a:alphaModFix/>
          </a:blip>
          <a:srcRect b="881" l="12473" r="15517" t="3131"/>
          <a:stretch/>
        </p:blipFill>
        <p:spPr>
          <a:xfrm>
            <a:off x="5648154" y="274638"/>
            <a:ext cx="3324396" cy="2215646"/>
          </a:xfrm>
          <a:prstGeom prst="rect">
            <a:avLst/>
          </a:prstGeom>
          <a:noFill/>
          <a:ln>
            <a:noFill/>
          </a:ln>
        </p:spPr>
      </p:pic>
      <p:grpSp>
        <p:nvGrpSpPr>
          <p:cNvPr id="5361" name="Google Shape;5361;p298"/>
          <p:cNvGrpSpPr/>
          <p:nvPr/>
        </p:nvGrpSpPr>
        <p:grpSpPr>
          <a:xfrm>
            <a:off x="7717533" y="4360377"/>
            <a:ext cx="1058348" cy="347375"/>
            <a:chOff x="7651698" y="4287227"/>
            <a:chExt cx="1058348" cy="347375"/>
          </a:xfrm>
        </p:grpSpPr>
        <p:grpSp>
          <p:nvGrpSpPr>
            <p:cNvPr id="5362" name="Google Shape;5362;p298"/>
            <p:cNvGrpSpPr/>
            <p:nvPr/>
          </p:nvGrpSpPr>
          <p:grpSpPr>
            <a:xfrm>
              <a:off x="7714163" y="4337598"/>
              <a:ext cx="995883" cy="297004"/>
              <a:chOff x="7711013" y="3986494"/>
              <a:chExt cx="995883" cy="297004"/>
            </a:xfrm>
          </p:grpSpPr>
          <p:sp>
            <p:nvSpPr>
              <p:cNvPr id="5363" name="Google Shape;5363;p298"/>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a:p>
            </p:txBody>
          </p:sp>
          <p:grpSp>
            <p:nvGrpSpPr>
              <p:cNvPr id="5364" name="Google Shape;5364;p298"/>
              <p:cNvGrpSpPr/>
              <p:nvPr/>
            </p:nvGrpSpPr>
            <p:grpSpPr>
              <a:xfrm>
                <a:off x="7711013" y="4002615"/>
                <a:ext cx="281520" cy="241973"/>
                <a:chOff x="5652748" y="4066000"/>
                <a:chExt cx="906498" cy="747974"/>
              </a:xfrm>
            </p:grpSpPr>
            <p:sp>
              <p:nvSpPr>
                <p:cNvPr id="5365" name="Google Shape;5365;p298"/>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366" name="Google Shape;5366;p298"/>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367" name="Google Shape;5367;p298"/>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368" name="Google Shape;5368;p298">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6" name="Shape 5386"/>
        <p:cNvGrpSpPr/>
        <p:nvPr/>
      </p:nvGrpSpPr>
      <p:grpSpPr>
        <a:xfrm>
          <a:off x="0" y="0"/>
          <a:ext cx="0" cy="0"/>
          <a:chOff x="0" y="0"/>
          <a:chExt cx="0" cy="0"/>
        </a:xfrm>
      </p:grpSpPr>
      <p:pic>
        <p:nvPicPr>
          <p:cNvPr id="5387" name="Google Shape;5387;p300"/>
          <p:cNvPicPr preferRelativeResize="0"/>
          <p:nvPr/>
        </p:nvPicPr>
        <p:blipFill rotWithShape="1">
          <a:blip r:embed="rId3">
            <a:alphaModFix/>
          </a:blip>
          <a:srcRect b="0" l="0" r="13555" t="0"/>
          <a:stretch/>
        </p:blipFill>
        <p:spPr>
          <a:xfrm>
            <a:off x="5549899" y="-7235"/>
            <a:ext cx="3594101" cy="5150735"/>
          </a:xfrm>
          <a:prstGeom prst="rect">
            <a:avLst/>
          </a:prstGeom>
          <a:noFill/>
          <a:ln>
            <a:noFill/>
          </a:ln>
        </p:spPr>
      </p:pic>
      <p:sp>
        <p:nvSpPr>
          <p:cNvPr id="5388" name="Google Shape;5388;p300"/>
          <p:cNvSpPr txBox="1"/>
          <p:nvPr>
            <p:ph idx="1" type="body"/>
          </p:nvPr>
        </p:nvSpPr>
        <p:spPr>
          <a:xfrm>
            <a:off x="455485" y="2073217"/>
            <a:ext cx="4662784" cy="2619555"/>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Why is it important</a:t>
            </a:r>
            <a:endParaRPr b="1">
              <a:solidFill>
                <a:schemeClr val="accent1"/>
              </a:solidFill>
            </a:endParaRPr>
          </a:p>
          <a:p>
            <a:pPr indent="-169863" lvl="0" marL="169863" rtl="0" algn="l">
              <a:lnSpc>
                <a:spcPct val="95000"/>
              </a:lnSpc>
              <a:spcBef>
                <a:spcPts val="200"/>
              </a:spcBef>
              <a:spcAft>
                <a:spcPts val="0"/>
              </a:spcAft>
              <a:buClr>
                <a:schemeClr val="dk1"/>
              </a:buClr>
              <a:buSzPts val="1000"/>
              <a:buChar char="•"/>
            </a:pPr>
            <a:r>
              <a:rPr lang="en-GB" sz="1000"/>
              <a:t>Financial Reporting records financial</a:t>
            </a:r>
            <a:r>
              <a:rPr b="1" lang="en-GB" sz="1000"/>
              <a:t> </a:t>
            </a:r>
            <a:r>
              <a:rPr lang="en-GB" sz="1000"/>
              <a:t>position, performance and changes in financial position of an enterprise and are very useful to a wide range of users in making economic decisions.*</a:t>
            </a:r>
            <a:endParaRPr/>
          </a:p>
          <a:p>
            <a:pPr indent="-169863" lvl="0" marL="169863" rtl="0" algn="l">
              <a:lnSpc>
                <a:spcPct val="95000"/>
              </a:lnSpc>
              <a:spcBef>
                <a:spcPts val="600"/>
              </a:spcBef>
              <a:spcAft>
                <a:spcPts val="0"/>
              </a:spcAft>
              <a:buClr>
                <a:schemeClr val="dk1"/>
              </a:buClr>
              <a:buSzPts val="1000"/>
              <a:buChar char="•"/>
            </a:pPr>
            <a:r>
              <a:rPr lang="en-GB" sz="1000"/>
              <a:t>A view of the past and present financial position of a company can be used to evaluate future risks and potential of the enterprise</a:t>
            </a:r>
            <a:endParaRPr/>
          </a:p>
          <a:p>
            <a:pPr indent="-169863" lvl="0" marL="169863" rtl="0" algn="l">
              <a:lnSpc>
                <a:spcPct val="95000"/>
              </a:lnSpc>
              <a:spcBef>
                <a:spcPts val="600"/>
              </a:spcBef>
              <a:spcAft>
                <a:spcPts val="0"/>
              </a:spcAft>
              <a:buClr>
                <a:schemeClr val="dk1"/>
              </a:buClr>
              <a:buSzPts val="1000"/>
              <a:buChar char="•"/>
            </a:pPr>
            <a:r>
              <a:rPr lang="en-GB" sz="1000"/>
              <a:t>Financial reports should be </a:t>
            </a:r>
            <a:endParaRPr/>
          </a:p>
          <a:p>
            <a:pPr indent="-230187" lvl="1" marL="515938" rtl="0" algn="l">
              <a:lnSpc>
                <a:spcPct val="85000"/>
              </a:lnSpc>
              <a:spcBef>
                <a:spcPts val="600"/>
              </a:spcBef>
              <a:spcAft>
                <a:spcPts val="0"/>
              </a:spcAft>
              <a:buClr>
                <a:schemeClr val="dk1"/>
              </a:buClr>
              <a:buSzPts val="900"/>
              <a:buChar char="–"/>
            </a:pPr>
            <a:r>
              <a:rPr lang="en-GB" sz="900"/>
              <a:t>Useful - Whether to provide credit to a customer,  whether to lend to a borrower,  and whether to invest in a business. </a:t>
            </a:r>
            <a:endParaRPr sz="900"/>
          </a:p>
          <a:p>
            <a:pPr indent="-230187" lvl="1" marL="515938" rtl="0" algn="l">
              <a:lnSpc>
                <a:spcPct val="85000"/>
              </a:lnSpc>
              <a:spcBef>
                <a:spcPts val="600"/>
              </a:spcBef>
              <a:spcAft>
                <a:spcPts val="0"/>
              </a:spcAft>
              <a:buClr>
                <a:schemeClr val="dk1"/>
              </a:buClr>
              <a:buSzPts val="900"/>
              <a:buChar char="–"/>
            </a:pPr>
            <a:r>
              <a:rPr lang="en-GB" sz="900"/>
              <a:t>Comprehensible - Simple to understand without too much of accounting  jargon</a:t>
            </a:r>
            <a:endParaRPr sz="900"/>
          </a:p>
          <a:p>
            <a:pPr indent="-230187" lvl="1" marL="515938" rtl="0" algn="l">
              <a:lnSpc>
                <a:spcPct val="85000"/>
              </a:lnSpc>
              <a:spcBef>
                <a:spcPts val="600"/>
              </a:spcBef>
              <a:spcAft>
                <a:spcPts val="0"/>
              </a:spcAft>
              <a:buClr>
                <a:schemeClr val="dk1"/>
              </a:buClr>
              <a:buSzPts val="900"/>
              <a:buChar char="–"/>
            </a:pPr>
            <a:r>
              <a:rPr lang="en-GB" sz="900"/>
              <a:t>Actionable - Cash flow information is critical for determining the liquidity of a business, as a going concern</a:t>
            </a:r>
            <a:endParaRPr/>
          </a:p>
          <a:p>
            <a:pPr indent="-230187" lvl="1" marL="515938" rtl="0" algn="l">
              <a:lnSpc>
                <a:spcPct val="85000"/>
              </a:lnSpc>
              <a:spcBef>
                <a:spcPts val="600"/>
              </a:spcBef>
              <a:spcAft>
                <a:spcPts val="0"/>
              </a:spcAft>
              <a:buClr>
                <a:schemeClr val="dk1"/>
              </a:buClr>
              <a:buSzPts val="900"/>
              <a:buChar char="–"/>
            </a:pPr>
            <a:r>
              <a:rPr lang="en-GB" sz="900"/>
              <a:t>Trustworthy - Should disclose the obligations and economic resources of an entity. There should be an emphasis on the changes in liabilities and resources, which can be used to predict future cash flows. </a:t>
            </a:r>
            <a:endParaRPr sz="900"/>
          </a:p>
        </p:txBody>
      </p:sp>
      <p:sp>
        <p:nvSpPr>
          <p:cNvPr id="5389" name="Google Shape;5389;p300"/>
          <p:cNvSpPr txBox="1"/>
          <p:nvPr>
            <p:ph type="title"/>
          </p:nvPr>
        </p:nvSpPr>
        <p:spPr>
          <a:xfrm>
            <a:off x="477880" y="0"/>
            <a:ext cx="5435240" cy="769691"/>
          </a:xfrm>
          <a:prstGeom prst="rect">
            <a:avLst/>
          </a:prstGeom>
          <a:noFill/>
          <a:ln>
            <a:noFill/>
          </a:ln>
        </p:spPr>
        <p:txBody>
          <a:bodyPr anchorCtr="0" anchor="ctr"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Financial Reporting</a:t>
            </a:r>
            <a:endParaRPr/>
          </a:p>
        </p:txBody>
      </p:sp>
      <p:sp>
        <p:nvSpPr>
          <p:cNvPr id="5390" name="Google Shape;5390;p300"/>
          <p:cNvSpPr/>
          <p:nvPr/>
        </p:nvSpPr>
        <p:spPr>
          <a:xfrm>
            <a:off x="1" y="769691"/>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406400" marR="0" rtl="0" algn="l">
              <a:spcBef>
                <a:spcPts val="0"/>
              </a:spcBef>
              <a:spcAft>
                <a:spcPts val="0"/>
              </a:spcAft>
              <a:buNone/>
            </a:pPr>
            <a:r>
              <a:rPr b="0" i="0" lang="en-GB" sz="1200" u="none" cap="none" strike="noStrike">
                <a:solidFill>
                  <a:schemeClr val="lt1"/>
                </a:solidFill>
                <a:latin typeface="Century Gothic"/>
                <a:ea typeface="Century Gothic"/>
                <a:cs typeface="Century Gothic"/>
                <a:sym typeface="Century Gothic"/>
              </a:rPr>
              <a:t>The Finance function is responsible for many aspects of reporting:</a:t>
            </a:r>
            <a:endParaRPr/>
          </a:p>
          <a:p>
            <a:pPr indent="-171450" lvl="1" marL="577850" marR="0" rtl="0" algn="l">
              <a:spcBef>
                <a:spcPts val="0"/>
              </a:spcBef>
              <a:spcAft>
                <a:spcPts val="0"/>
              </a:spcAft>
              <a:buClr>
                <a:schemeClr val="lt1"/>
              </a:buClr>
              <a:buSzPts val="1200"/>
              <a:buFont typeface="Arial"/>
              <a:buChar char="•"/>
            </a:pPr>
            <a:r>
              <a:rPr b="0" i="0" lang="en-GB" sz="1200" u="none" cap="none" strike="noStrike">
                <a:solidFill>
                  <a:schemeClr val="lt1"/>
                </a:solidFill>
                <a:latin typeface="Century Gothic"/>
                <a:ea typeface="Century Gothic"/>
                <a:cs typeface="Century Gothic"/>
                <a:sym typeface="Century Gothic"/>
              </a:rPr>
              <a:t>External reports such as statutory financial statements to investors, regulatory and compliance reports  etc.</a:t>
            </a:r>
            <a:endParaRPr/>
          </a:p>
          <a:p>
            <a:pPr indent="-171450" lvl="1" marL="577850" marR="0" rtl="0" algn="l">
              <a:spcBef>
                <a:spcPts val="0"/>
              </a:spcBef>
              <a:spcAft>
                <a:spcPts val="0"/>
              </a:spcAft>
              <a:buClr>
                <a:schemeClr val="lt1"/>
              </a:buClr>
              <a:buSzPts val="1200"/>
              <a:buFont typeface="Arial"/>
              <a:buChar char="•"/>
            </a:pPr>
            <a:r>
              <a:rPr b="0" i="0" lang="en-GB" sz="1200" u="none" cap="none" strike="noStrike">
                <a:solidFill>
                  <a:schemeClr val="lt1"/>
                </a:solidFill>
                <a:latin typeface="Century Gothic"/>
                <a:ea typeface="Century Gothic"/>
                <a:cs typeface="Century Gothic"/>
                <a:sym typeface="Century Gothic"/>
              </a:rPr>
              <a:t>Internal management reports </a:t>
            </a:r>
            <a:r>
              <a:rPr b="0" i="0" lang="en-GB" sz="1200" u="none" cap="none" strike="noStrike">
                <a:solidFill>
                  <a:srgbClr val="F2F2F2"/>
                </a:solidFill>
                <a:latin typeface="Century Gothic"/>
                <a:ea typeface="Century Gothic"/>
                <a:cs typeface="Century Gothic"/>
                <a:sym typeface="Century Gothic"/>
              </a:rPr>
              <a:t>and dashboards to monitor sales, performance and a wide range of KPIs</a:t>
            </a:r>
            <a:endParaRPr b="0" i="0" sz="1200" u="none" cap="none" strike="noStrike">
              <a:solidFill>
                <a:schemeClr val="lt1"/>
              </a:solidFill>
              <a:latin typeface="Century Gothic"/>
              <a:ea typeface="Century Gothic"/>
              <a:cs typeface="Century Gothic"/>
              <a:sym typeface="Century Gothic"/>
            </a:endParaRPr>
          </a:p>
        </p:txBody>
      </p:sp>
      <p:sp>
        <p:nvSpPr>
          <p:cNvPr id="5391" name="Google Shape;5391;p300"/>
          <p:cNvSpPr txBox="1"/>
          <p:nvPr/>
        </p:nvSpPr>
        <p:spPr>
          <a:xfrm>
            <a:off x="3629130" y="4848043"/>
            <a:ext cx="1633781" cy="238527"/>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1000">
                <a:solidFill>
                  <a:srgbClr val="231F20"/>
                </a:solidFill>
                <a:latin typeface="Century Gothic"/>
                <a:ea typeface="Century Gothic"/>
                <a:cs typeface="Century Gothic"/>
                <a:sym typeface="Century Gothic"/>
              </a:rPr>
              <a:t>* IASB Framework Study</a:t>
            </a:r>
            <a:endParaRPr/>
          </a:p>
        </p:txBody>
      </p:sp>
      <p:sp>
        <p:nvSpPr>
          <p:cNvPr id="5392" name="Google Shape;5392;p300">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Financial Reporting</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5" name="Shape 5455"/>
        <p:cNvGrpSpPr/>
        <p:nvPr/>
      </p:nvGrpSpPr>
      <p:grpSpPr>
        <a:xfrm>
          <a:off x="0" y="0"/>
          <a:ext cx="0" cy="0"/>
          <a:chOff x="0" y="0"/>
          <a:chExt cx="0" cy="0"/>
        </a:xfrm>
      </p:grpSpPr>
      <p:pic>
        <p:nvPicPr>
          <p:cNvPr descr="BIZ-1060-L.jpg" id="5456" name="Google Shape;5456;p305"/>
          <p:cNvPicPr preferRelativeResize="0"/>
          <p:nvPr/>
        </p:nvPicPr>
        <p:blipFill rotWithShape="1">
          <a:blip r:embed="rId3">
            <a:alphaModFix/>
          </a:blip>
          <a:srcRect b="0" l="4087" r="20892" t="0"/>
          <a:stretch/>
        </p:blipFill>
        <p:spPr>
          <a:xfrm>
            <a:off x="5648153" y="274638"/>
            <a:ext cx="3324397" cy="2215646"/>
          </a:xfrm>
          <a:prstGeom prst="rect">
            <a:avLst/>
          </a:prstGeom>
          <a:noFill/>
          <a:ln>
            <a:noFill/>
          </a:ln>
        </p:spPr>
      </p:pic>
      <p:cxnSp>
        <p:nvCxnSpPr>
          <p:cNvPr id="5457" name="Google Shape;5457;p305"/>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5458" name="Google Shape;5458;p305"/>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Accurate, timely and efficient production of financial statements and other statutory reports with minimal manual data collection, validation, reconciliation and adjustments.</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The Annual Report and Accounts, and other statutory reports contain much more than summary-level financial statements.</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Including</a:t>
                      </a:r>
                      <a:r>
                        <a:rPr lang="en-GB" sz="900">
                          <a:solidFill>
                            <a:srgbClr val="FF0000"/>
                          </a:solidFill>
                          <a:latin typeface="Century Gothic"/>
                          <a:ea typeface="Century Gothic"/>
                          <a:cs typeface="Century Gothic"/>
                          <a:sym typeface="Century Gothic"/>
                        </a:rPr>
                        <a:t> </a:t>
                      </a:r>
                      <a:r>
                        <a:rPr lang="en-GB" sz="900">
                          <a:solidFill>
                            <a:schemeClr val="dk1"/>
                          </a:solidFill>
                          <a:latin typeface="Century Gothic"/>
                          <a:ea typeface="Century Gothic"/>
                          <a:cs typeface="Century Gothic"/>
                          <a:sym typeface="Century Gothic"/>
                        </a:rPr>
                        <a:t>Risk Management, Financial Performance, other Key Performance Indicators (KPIs). This is often based on data which is distributed widely across the organisation, and requires considerable time and manual effort to collection and validate.</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Organisations want to reduce the time and cost for production through increased automation, and use of integrated, validated data.</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Financial / GL ; plans / budgets / forecasts for prior periods, plus performance against those metrics;  customer demographics, account/agreement, balances, limits, interest rates &amp; margins; RWA  , Provisions &amp; other Risk measures; Collections &amp; Recoveries; KPIs and other performance metrics; Market and economic data.</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Reporting / BI tool</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time to prepare financial statements and other supporting data and metrics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Lower cost due to shared data, tools and infrastructure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Release of time for financial analysts to focus their effort on value-generating activities.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Greater consistency and transparency between financial statements and detailed/operational metrics which are used to manage the business.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Direct data lineage between operational</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 transactions, regulatory data and financial data</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459" name="Google Shape;5459;p305"/>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Statutory Financial Reporting</a:t>
            </a:r>
            <a:endParaRPr sz="1600"/>
          </a:p>
        </p:txBody>
      </p:sp>
      <p:grpSp>
        <p:nvGrpSpPr>
          <p:cNvPr id="5460" name="Google Shape;5460;p305"/>
          <p:cNvGrpSpPr/>
          <p:nvPr/>
        </p:nvGrpSpPr>
        <p:grpSpPr>
          <a:xfrm>
            <a:off x="7717533" y="4360377"/>
            <a:ext cx="1058348" cy="347375"/>
            <a:chOff x="7651698" y="4287227"/>
            <a:chExt cx="1058348" cy="347375"/>
          </a:xfrm>
        </p:grpSpPr>
        <p:grpSp>
          <p:nvGrpSpPr>
            <p:cNvPr id="5461" name="Google Shape;5461;p305"/>
            <p:cNvGrpSpPr/>
            <p:nvPr/>
          </p:nvGrpSpPr>
          <p:grpSpPr>
            <a:xfrm>
              <a:off x="7714163" y="4337598"/>
              <a:ext cx="995883" cy="297004"/>
              <a:chOff x="7711013" y="3986494"/>
              <a:chExt cx="995883" cy="297004"/>
            </a:xfrm>
          </p:grpSpPr>
          <p:sp>
            <p:nvSpPr>
              <p:cNvPr id="5462" name="Google Shape;5462;p305"/>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a:p>
            </p:txBody>
          </p:sp>
          <p:grpSp>
            <p:nvGrpSpPr>
              <p:cNvPr id="5463" name="Google Shape;5463;p305"/>
              <p:cNvGrpSpPr/>
              <p:nvPr/>
            </p:nvGrpSpPr>
            <p:grpSpPr>
              <a:xfrm>
                <a:off x="7711013" y="4002615"/>
                <a:ext cx="281520" cy="241973"/>
                <a:chOff x="5652748" y="4066000"/>
                <a:chExt cx="906498" cy="747974"/>
              </a:xfrm>
            </p:grpSpPr>
            <p:sp>
              <p:nvSpPr>
                <p:cNvPr id="5464" name="Google Shape;5464;p305"/>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465" name="Google Shape;5465;p305"/>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466" name="Google Shape;5466;p305"/>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467" name="Google Shape;5467;p305">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5468" name="Google Shape;5468;p305">
            <a:hlinkClick action="ppaction://hlinksldjump" r:id="rId5"/>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Financial Reporting</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7" name="Shape 5487"/>
        <p:cNvGrpSpPr/>
        <p:nvPr/>
      </p:nvGrpSpPr>
      <p:grpSpPr>
        <a:xfrm>
          <a:off x="0" y="0"/>
          <a:ext cx="0" cy="0"/>
          <a:chOff x="0" y="0"/>
          <a:chExt cx="0" cy="0"/>
        </a:xfrm>
      </p:grpSpPr>
      <p:cxnSp>
        <p:nvCxnSpPr>
          <p:cNvPr id="5488" name="Google Shape;5488;p307"/>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5489" name="Google Shape;5489;p307"/>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Accurate, timely and efficient delivery of regulatory and compliance reports and data, consistent with statutory financial reporting.</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Organizations</a:t>
                      </a:r>
                      <a:r>
                        <a:rPr lang="en-GB" sz="900">
                          <a:solidFill>
                            <a:srgbClr val="FF0000"/>
                          </a:solidFill>
                          <a:latin typeface="Century Gothic"/>
                          <a:ea typeface="Century Gothic"/>
                          <a:cs typeface="Century Gothic"/>
                          <a:sym typeface="Century Gothic"/>
                        </a:rPr>
                        <a:t> </a:t>
                      </a:r>
                      <a:r>
                        <a:rPr lang="en-GB" sz="900">
                          <a:solidFill>
                            <a:schemeClr val="dk1"/>
                          </a:solidFill>
                          <a:latin typeface="Century Gothic"/>
                          <a:ea typeface="Century Gothic"/>
                          <a:cs typeface="Century Gothic"/>
                          <a:sym typeface="Century Gothic"/>
                        </a:rPr>
                        <a:t>face many different regulatory and compliance demands, each with different data, calculation and business logic requirements. </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There is often a substantial overlap of data requirements</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Regulation and compliance requirements frequently changing and becoming more granular, so flexibility is required cost of delivery is high.</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Organisations want to reduce the time and cost for production through increased automation, and use of integrated, validated data.</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800"/>
                        <a:buFont typeface="Arial"/>
                        <a:buChar char="•"/>
                      </a:pPr>
                      <a:r>
                        <a:rPr lang="en-GB" sz="800">
                          <a:solidFill>
                            <a:schemeClr val="dk1"/>
                          </a:solidFill>
                        </a:rPr>
                        <a:t>Very extensive range of data required across full spectrum of regulatory and compliance requirements, including: Customer ( Single customer view, identification / KYC, demographics, Risk); Account and other product-holdings, terms &amp; conditions, balances, interest rates, Risk, RWA/Capital; Application documents, product, agreement/exposure and transaction-level data; Transaction-level data across all products and systems.</a:t>
                      </a:r>
                      <a:endParaRPr sz="8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Reporting / BI tool</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General-purpose calculation / rule engine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Specific regulatory/compliance reporting solutions and/or custom built developments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operational and reputational risk through failure to meet regulatory and compliance demands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Lower cost due to shared data, tools and infrastructure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Release of time for financial analysts to focus their effort on value-generating activities.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Direct data lineage between operational transactions, regulatory data and financial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Flexible regulatory and compliance set up</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490" name="Google Shape;5490;p307"/>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Regulatory &amp; Compliance Reporting</a:t>
            </a:r>
            <a:endParaRPr sz="1600"/>
          </a:p>
        </p:txBody>
      </p:sp>
      <p:sp>
        <p:nvSpPr>
          <p:cNvPr id="5491" name="Google Shape;5491;p307">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Financial Reporting</a:t>
            </a:r>
            <a:endParaRPr sz="750">
              <a:solidFill>
                <a:schemeClr val="lt1"/>
              </a:solidFill>
              <a:latin typeface="Century Gothic"/>
              <a:ea typeface="Century Gothic"/>
              <a:cs typeface="Century Gothic"/>
              <a:sym typeface="Century Gothic"/>
            </a:endParaRPr>
          </a:p>
        </p:txBody>
      </p:sp>
      <p:pic>
        <p:nvPicPr>
          <p:cNvPr descr="BIZ-1060-L.jpg" id="5492" name="Google Shape;5492;p307"/>
          <p:cNvPicPr preferRelativeResize="0"/>
          <p:nvPr/>
        </p:nvPicPr>
        <p:blipFill rotWithShape="1">
          <a:blip r:embed="rId4">
            <a:alphaModFix/>
          </a:blip>
          <a:srcRect b="0" l="4087" r="20892" t="0"/>
          <a:stretch/>
        </p:blipFill>
        <p:spPr>
          <a:xfrm>
            <a:off x="5648153" y="274638"/>
            <a:ext cx="3324397" cy="2215646"/>
          </a:xfrm>
          <a:prstGeom prst="rect">
            <a:avLst/>
          </a:prstGeom>
          <a:noFill/>
          <a:ln>
            <a:noFill/>
          </a:ln>
        </p:spPr>
      </p:pic>
      <p:grpSp>
        <p:nvGrpSpPr>
          <p:cNvPr id="5493" name="Google Shape;5493;p307"/>
          <p:cNvGrpSpPr/>
          <p:nvPr/>
        </p:nvGrpSpPr>
        <p:grpSpPr>
          <a:xfrm>
            <a:off x="7717533" y="4360377"/>
            <a:ext cx="1058348" cy="347375"/>
            <a:chOff x="7651698" y="4287227"/>
            <a:chExt cx="1058348" cy="347375"/>
          </a:xfrm>
        </p:grpSpPr>
        <p:grpSp>
          <p:nvGrpSpPr>
            <p:cNvPr id="5494" name="Google Shape;5494;p307"/>
            <p:cNvGrpSpPr/>
            <p:nvPr/>
          </p:nvGrpSpPr>
          <p:grpSpPr>
            <a:xfrm>
              <a:off x="7714163" y="4337598"/>
              <a:ext cx="995883" cy="297004"/>
              <a:chOff x="7711013" y="3986494"/>
              <a:chExt cx="995883" cy="297004"/>
            </a:xfrm>
          </p:grpSpPr>
          <p:sp>
            <p:nvSpPr>
              <p:cNvPr id="5495" name="Google Shape;5495;p307"/>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a:p>
            </p:txBody>
          </p:sp>
          <p:grpSp>
            <p:nvGrpSpPr>
              <p:cNvPr id="5496" name="Google Shape;5496;p307"/>
              <p:cNvGrpSpPr/>
              <p:nvPr/>
            </p:nvGrpSpPr>
            <p:grpSpPr>
              <a:xfrm>
                <a:off x="7711013" y="4002615"/>
                <a:ext cx="281520" cy="241973"/>
                <a:chOff x="5652748" y="4066000"/>
                <a:chExt cx="906498" cy="747974"/>
              </a:xfrm>
            </p:grpSpPr>
            <p:sp>
              <p:nvSpPr>
                <p:cNvPr id="5497" name="Google Shape;5497;p307"/>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498" name="Google Shape;5498;p307"/>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499" name="Google Shape;5499;p307"/>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500" name="Google Shape;5500;p307">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9" name="Shape 5519"/>
        <p:cNvGrpSpPr/>
        <p:nvPr/>
      </p:nvGrpSpPr>
      <p:grpSpPr>
        <a:xfrm>
          <a:off x="0" y="0"/>
          <a:ext cx="0" cy="0"/>
          <a:chOff x="0" y="0"/>
          <a:chExt cx="0" cy="0"/>
        </a:xfrm>
      </p:grpSpPr>
      <p:cxnSp>
        <p:nvCxnSpPr>
          <p:cNvPr id="5520" name="Google Shape;5520;p309"/>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5521" name="Google Shape;5521;p309"/>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Timely, accurate and efficient reporting of sales achievement and performance across the whole organisation with the objective to identify and improve:</a:t>
                      </a:r>
                      <a:endParaRPr sz="900">
                        <a:solidFill>
                          <a:schemeClr val="dk1"/>
                        </a:solidFill>
                        <a:latin typeface="Century Gothic"/>
                        <a:ea typeface="Century Gothic"/>
                        <a:cs typeface="Century Gothic"/>
                        <a:sym typeface="Century Gothic"/>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Sales Performance and discounts per</a:t>
                      </a:r>
                      <a:endParaRPr/>
                    </a:p>
                    <a:p>
                      <a:pPr indent="-171450" lvl="1" marL="82073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Product/Service</a:t>
                      </a:r>
                      <a:endParaRPr/>
                    </a:p>
                    <a:p>
                      <a:pPr indent="-171450" lvl="1" marL="82073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Sales employee</a:t>
                      </a:r>
                      <a:endParaRPr/>
                    </a:p>
                    <a:p>
                      <a:pPr indent="-171450" lvl="1" marL="82073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Campaign</a:t>
                      </a:r>
                      <a:endParaRPr/>
                    </a:p>
                    <a:p>
                      <a:pPr indent="-171450" lvl="1" marL="82073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Customer</a:t>
                      </a:r>
                      <a:endParaRPr/>
                    </a:p>
                    <a:p>
                      <a:pPr indent="-171450" lvl="1" marL="82073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Etc.</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What happens from Sales Order to Customer invoice</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Are Sales compliant with Customer contracts</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Predictive: forecast sales, revenue, profit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Identify bottlenecks in sales processes which may be causing lost sales</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Integrated, high-quality sales data attributed by: employee / branch level, customer, product, transaction, agreement, location, etc.</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Reporting / BI / Visualisation tool(s) of choice</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Improved productivity and customer satisfaction levels</a:t>
                      </a:r>
                      <a:endParaRPr/>
                    </a:p>
                    <a:p>
                      <a:pPr indent="-171450" lvl="0" marL="171450" marR="0" rtl="0" algn="l">
                        <a:lnSpc>
                          <a:spcPct val="100000"/>
                        </a:lnSpc>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Bottlenecks in the sales process, preventing deals from being won are pinpointed.</a:t>
                      </a:r>
                      <a:endParaRPr/>
                    </a:p>
                    <a:p>
                      <a:pPr indent="-171450" lvl="0" marL="171450" marR="0" rtl="0" algn="l">
                        <a:lnSpc>
                          <a:spcPct val="100000"/>
                        </a:lnSpc>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Identifying which marketing sources generate the most revenue</a:t>
                      </a:r>
                      <a:endParaRPr/>
                    </a:p>
                    <a:p>
                      <a:pPr indent="-171450" lvl="0" marL="171450" marR="0" rtl="0" algn="l">
                        <a:lnSpc>
                          <a:spcPct val="100000"/>
                        </a:lnSpc>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Sales forecasting with predictive modelling or trend analysis are more accurate</a:t>
                      </a:r>
                      <a:endParaRPr/>
                    </a:p>
                    <a:p>
                      <a:pPr indent="-171450" lvl="0" marL="171450" marR="0" rtl="0" algn="l">
                        <a:lnSpc>
                          <a:spcPct val="100000"/>
                        </a:lnSpc>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Improved visibility into sales channels, products and customers</a:t>
                      </a:r>
                      <a:endParaRPr/>
                    </a:p>
                    <a:p>
                      <a:pPr indent="-171450" lvl="0" marL="171450" marR="0" rtl="0" algn="l">
                        <a:lnSpc>
                          <a:spcPct val="100000"/>
                        </a:lnSpc>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Higher cross-sales rates through better understanding of </a:t>
                      </a:r>
                      <a:br>
                        <a:rPr lang="en-GB" sz="800">
                          <a:solidFill>
                            <a:schemeClr val="dk1"/>
                          </a:solidFill>
                          <a:latin typeface="Century Gothic"/>
                          <a:ea typeface="Century Gothic"/>
                          <a:cs typeface="Century Gothic"/>
                          <a:sym typeface="Century Gothic"/>
                        </a:rPr>
                      </a:br>
                      <a:r>
                        <a:rPr lang="en-GB" sz="800">
                          <a:solidFill>
                            <a:schemeClr val="dk1"/>
                          </a:solidFill>
                          <a:latin typeface="Century Gothic"/>
                          <a:ea typeface="Century Gothic"/>
                          <a:cs typeface="Century Gothic"/>
                          <a:sym typeface="Century Gothic"/>
                        </a:rPr>
                        <a:t>correlations between product s, channels, customers /</a:t>
                      </a:r>
                      <a:br>
                        <a:rPr lang="en-GB" sz="800">
                          <a:solidFill>
                            <a:schemeClr val="dk1"/>
                          </a:solidFill>
                          <a:latin typeface="Century Gothic"/>
                          <a:ea typeface="Century Gothic"/>
                          <a:cs typeface="Century Gothic"/>
                          <a:sym typeface="Century Gothic"/>
                        </a:rPr>
                      </a:br>
                      <a:r>
                        <a:rPr lang="en-GB" sz="800">
                          <a:solidFill>
                            <a:schemeClr val="dk1"/>
                          </a:solidFill>
                          <a:latin typeface="Century Gothic"/>
                          <a:ea typeface="Century Gothic"/>
                          <a:cs typeface="Century Gothic"/>
                          <a:sym typeface="Century Gothic"/>
                        </a:rPr>
                        <a:t>segments and sales employees</a:t>
                      </a:r>
                      <a:endParaRPr/>
                    </a:p>
                    <a:p>
                      <a:pPr indent="-171450" lvl="0" marL="171450" marR="0" rtl="0" algn="l">
                        <a:lnSpc>
                          <a:spcPct val="100000"/>
                        </a:lnSpc>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Lower cost due to shared data, tools and</a:t>
                      </a:r>
                      <a:br>
                        <a:rPr lang="en-GB" sz="800">
                          <a:solidFill>
                            <a:schemeClr val="dk1"/>
                          </a:solidFill>
                          <a:latin typeface="Century Gothic"/>
                          <a:ea typeface="Century Gothic"/>
                          <a:cs typeface="Century Gothic"/>
                          <a:sym typeface="Century Gothic"/>
                        </a:rPr>
                      </a:br>
                      <a:r>
                        <a:rPr lang="en-GB" sz="800">
                          <a:solidFill>
                            <a:schemeClr val="dk1"/>
                          </a:solidFill>
                          <a:latin typeface="Century Gothic"/>
                          <a:ea typeface="Century Gothic"/>
                          <a:cs typeface="Century Gothic"/>
                          <a:sym typeface="Century Gothic"/>
                        </a:rPr>
                        <a:t>infrastructure</a:t>
                      </a:r>
                      <a:endParaRPr sz="8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522" name="Google Shape;5522;p309"/>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Sales Reporting</a:t>
            </a:r>
            <a:endParaRPr sz="1600"/>
          </a:p>
        </p:txBody>
      </p:sp>
      <p:sp>
        <p:nvSpPr>
          <p:cNvPr id="5523" name="Google Shape;5523;p309">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Financial Reporting</a:t>
            </a:r>
            <a:endParaRPr sz="750">
              <a:solidFill>
                <a:schemeClr val="lt1"/>
              </a:solidFill>
              <a:latin typeface="Century Gothic"/>
              <a:ea typeface="Century Gothic"/>
              <a:cs typeface="Century Gothic"/>
              <a:sym typeface="Century Gothic"/>
            </a:endParaRPr>
          </a:p>
        </p:txBody>
      </p:sp>
      <p:pic>
        <p:nvPicPr>
          <p:cNvPr descr="BIZ-1060-L.jpg" id="5524" name="Google Shape;5524;p309"/>
          <p:cNvPicPr preferRelativeResize="0"/>
          <p:nvPr/>
        </p:nvPicPr>
        <p:blipFill rotWithShape="1">
          <a:blip r:embed="rId4">
            <a:alphaModFix/>
          </a:blip>
          <a:srcRect b="0" l="4087" r="20892" t="0"/>
          <a:stretch/>
        </p:blipFill>
        <p:spPr>
          <a:xfrm>
            <a:off x="5648153" y="274638"/>
            <a:ext cx="3324397" cy="2215646"/>
          </a:xfrm>
          <a:prstGeom prst="rect">
            <a:avLst/>
          </a:prstGeom>
          <a:noFill/>
          <a:ln>
            <a:noFill/>
          </a:ln>
        </p:spPr>
      </p:pic>
      <p:grpSp>
        <p:nvGrpSpPr>
          <p:cNvPr id="5525" name="Google Shape;5525;p309"/>
          <p:cNvGrpSpPr/>
          <p:nvPr/>
        </p:nvGrpSpPr>
        <p:grpSpPr>
          <a:xfrm>
            <a:off x="7717533" y="4360377"/>
            <a:ext cx="1058348" cy="347375"/>
            <a:chOff x="7651698" y="4287227"/>
            <a:chExt cx="1058348" cy="347375"/>
          </a:xfrm>
        </p:grpSpPr>
        <p:grpSp>
          <p:nvGrpSpPr>
            <p:cNvPr id="5526" name="Google Shape;5526;p309"/>
            <p:cNvGrpSpPr/>
            <p:nvPr/>
          </p:nvGrpSpPr>
          <p:grpSpPr>
            <a:xfrm>
              <a:off x="7714163" y="4337598"/>
              <a:ext cx="995883" cy="297004"/>
              <a:chOff x="7711013" y="3986494"/>
              <a:chExt cx="995883" cy="297004"/>
            </a:xfrm>
          </p:grpSpPr>
          <p:sp>
            <p:nvSpPr>
              <p:cNvPr id="5527" name="Google Shape;5527;p309"/>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a:p>
            </p:txBody>
          </p:sp>
          <p:grpSp>
            <p:nvGrpSpPr>
              <p:cNvPr id="5528" name="Google Shape;5528;p309"/>
              <p:cNvGrpSpPr/>
              <p:nvPr/>
            </p:nvGrpSpPr>
            <p:grpSpPr>
              <a:xfrm>
                <a:off x="7711013" y="4002615"/>
                <a:ext cx="281520" cy="241973"/>
                <a:chOff x="5652748" y="4066000"/>
                <a:chExt cx="906498" cy="747974"/>
              </a:xfrm>
            </p:grpSpPr>
            <p:sp>
              <p:nvSpPr>
                <p:cNvPr id="5529" name="Google Shape;5529;p309"/>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530" name="Google Shape;5530;p309"/>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531" name="Google Shape;5531;p309"/>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532" name="Google Shape;5532;p309">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1" name="Shape 5551"/>
        <p:cNvGrpSpPr/>
        <p:nvPr/>
      </p:nvGrpSpPr>
      <p:grpSpPr>
        <a:xfrm>
          <a:off x="0" y="0"/>
          <a:ext cx="0" cy="0"/>
          <a:chOff x="0" y="0"/>
          <a:chExt cx="0" cy="0"/>
        </a:xfrm>
      </p:grpSpPr>
      <p:cxnSp>
        <p:nvCxnSpPr>
          <p:cNvPr id="5552" name="Google Shape;5552;p311"/>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5553" name="Google Shape;5553;p311"/>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Timely, accurate and efficient reporting of performance across a wide range of metrics for the whole organisation</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Performance reporting processes are often fragmented and inflexible, with high latency, levels of manual processes, and cost of production.</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Performance metrics across the organisation are often inconsistent, and utilise fragmented and non-validated data.</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Organisations are looking to simplify, standardise and automate their performance reporting to reduce cost, improve timeliness, and support better decision-making.</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Integrated, high-quality, detailed data: employee / branch level, customer, product, transaction, agreement, location  </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profitability metrics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Budget and finance related, operational data</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Choice of Reporting / BI Tools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ability to produce wide range of performance reports, including:</a:t>
                      </a:r>
                      <a:endParaRPr/>
                    </a:p>
                    <a:p>
                      <a:pPr indent="-171450" lvl="0" marL="357188"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Performance against Forecast/Budget</a:t>
                      </a:r>
                      <a:endParaRPr/>
                    </a:p>
                    <a:p>
                      <a:pPr indent="-171450" lvl="0" marL="357188"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Performance of KPIs</a:t>
                      </a:r>
                      <a:endParaRPr/>
                    </a:p>
                    <a:p>
                      <a:pPr indent="-171450" lvl="0" marL="357188"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Progress reports describing trends from past to present</a:t>
                      </a:r>
                      <a:endParaRPr/>
                    </a:p>
                    <a:p>
                      <a:pPr indent="-171450" lvl="0" marL="357188"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Status reports for describing actual status</a:t>
                      </a:r>
                      <a:endParaRPr/>
                    </a:p>
                    <a:p>
                      <a:pPr indent="-171450" lvl="0" marL="357188"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Variance reports for describing differences between the planned baseline and actuals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timeliness and accuracy of reporting through use of integrated, validated data, and increased automation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ability to monitor and track </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performance over time.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Lower cost due to shared data, tools and </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infrastructure</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554" name="Google Shape;5554;p311"/>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Performance Reporting</a:t>
            </a:r>
            <a:endParaRPr sz="1600"/>
          </a:p>
        </p:txBody>
      </p:sp>
      <p:sp>
        <p:nvSpPr>
          <p:cNvPr id="5555" name="Google Shape;5555;p311">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Financial Reporting</a:t>
            </a:r>
            <a:endParaRPr sz="750">
              <a:solidFill>
                <a:schemeClr val="lt1"/>
              </a:solidFill>
              <a:latin typeface="Century Gothic"/>
              <a:ea typeface="Century Gothic"/>
              <a:cs typeface="Century Gothic"/>
              <a:sym typeface="Century Gothic"/>
            </a:endParaRPr>
          </a:p>
        </p:txBody>
      </p:sp>
      <p:pic>
        <p:nvPicPr>
          <p:cNvPr descr="BIZ-1060-L.jpg" id="5556" name="Google Shape;5556;p311"/>
          <p:cNvPicPr preferRelativeResize="0"/>
          <p:nvPr/>
        </p:nvPicPr>
        <p:blipFill rotWithShape="1">
          <a:blip r:embed="rId4">
            <a:alphaModFix/>
          </a:blip>
          <a:srcRect b="0" l="4087" r="20892" t="0"/>
          <a:stretch/>
        </p:blipFill>
        <p:spPr>
          <a:xfrm>
            <a:off x="5648153" y="274638"/>
            <a:ext cx="3324397" cy="2215646"/>
          </a:xfrm>
          <a:prstGeom prst="rect">
            <a:avLst/>
          </a:prstGeom>
          <a:noFill/>
          <a:ln>
            <a:noFill/>
          </a:ln>
        </p:spPr>
      </p:pic>
      <p:grpSp>
        <p:nvGrpSpPr>
          <p:cNvPr id="5557" name="Google Shape;5557;p311"/>
          <p:cNvGrpSpPr/>
          <p:nvPr/>
        </p:nvGrpSpPr>
        <p:grpSpPr>
          <a:xfrm>
            <a:off x="7717533" y="4360377"/>
            <a:ext cx="1058348" cy="347375"/>
            <a:chOff x="7651698" y="4287227"/>
            <a:chExt cx="1058348" cy="347375"/>
          </a:xfrm>
        </p:grpSpPr>
        <p:grpSp>
          <p:nvGrpSpPr>
            <p:cNvPr id="5558" name="Google Shape;5558;p311"/>
            <p:cNvGrpSpPr/>
            <p:nvPr/>
          </p:nvGrpSpPr>
          <p:grpSpPr>
            <a:xfrm>
              <a:off x="7714163" y="4337598"/>
              <a:ext cx="995883" cy="297004"/>
              <a:chOff x="7711013" y="3986494"/>
              <a:chExt cx="995883" cy="297004"/>
            </a:xfrm>
          </p:grpSpPr>
          <p:sp>
            <p:nvSpPr>
              <p:cNvPr id="5559" name="Google Shape;5559;p311"/>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a:p>
            </p:txBody>
          </p:sp>
          <p:grpSp>
            <p:nvGrpSpPr>
              <p:cNvPr id="5560" name="Google Shape;5560;p311"/>
              <p:cNvGrpSpPr/>
              <p:nvPr/>
            </p:nvGrpSpPr>
            <p:grpSpPr>
              <a:xfrm>
                <a:off x="7711013" y="4002615"/>
                <a:ext cx="281520" cy="241973"/>
                <a:chOff x="5652748" y="4066000"/>
                <a:chExt cx="906498" cy="747974"/>
              </a:xfrm>
            </p:grpSpPr>
            <p:sp>
              <p:nvSpPr>
                <p:cNvPr id="5561" name="Google Shape;5561;p311"/>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562" name="Google Shape;5562;p311"/>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563" name="Google Shape;5563;p311"/>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564" name="Google Shape;5564;p311">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3" name="Shape 5583"/>
        <p:cNvGrpSpPr/>
        <p:nvPr/>
      </p:nvGrpSpPr>
      <p:grpSpPr>
        <a:xfrm>
          <a:off x="0" y="0"/>
          <a:ext cx="0" cy="0"/>
          <a:chOff x="0" y="0"/>
          <a:chExt cx="0" cy="0"/>
        </a:xfrm>
      </p:grpSpPr>
      <p:cxnSp>
        <p:nvCxnSpPr>
          <p:cNvPr id="5584" name="Google Shape;5584;p313"/>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5585" name="Google Shape;5585;p313"/>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Timely, accurate and efficient reporting of unexpected variances and other exceptions for the whole organisation</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Exception reporting processes are often fragmented and inflexible, with high latency, levels of manual processes, and cost of production.</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Variances are often identified only by manual review</a:t>
                      </a:r>
                      <a:endParaRPr sz="900" strike="sngStrike">
                        <a:solidFill>
                          <a:srgbClr val="FF0000"/>
                        </a:solidFill>
                        <a:latin typeface="Century Gothic"/>
                        <a:ea typeface="Century Gothic"/>
                        <a:cs typeface="Century Gothic"/>
                        <a:sym typeface="Century Gothic"/>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Performance metrics across the organisation are often inconsistent, and utilise fragmented and non-validated data.</a:t>
                      </a:r>
                      <a:endParaRPr/>
                    </a:p>
                    <a:p>
                      <a:pPr indent="-171450" lvl="0" marL="363538" marR="0" rtl="0" algn="l">
                        <a:lnSpc>
                          <a:spcPct val="100000"/>
                        </a:lnSpc>
                        <a:spcBef>
                          <a:spcPts val="0"/>
                        </a:spcBef>
                        <a:spcAft>
                          <a:spcPts val="0"/>
                        </a:spcAft>
                        <a:buClr>
                          <a:schemeClr val="dk1"/>
                        </a:buClr>
                        <a:buSzPts val="900"/>
                        <a:buFont typeface="Century Gothic"/>
                        <a:buChar char="−"/>
                      </a:pPr>
                      <a:r>
                        <a:rPr lang="en-GB" sz="900">
                          <a:solidFill>
                            <a:schemeClr val="dk1"/>
                          </a:solidFill>
                          <a:latin typeface="Century Gothic"/>
                          <a:ea typeface="Century Gothic"/>
                          <a:cs typeface="Century Gothic"/>
                          <a:sym typeface="Century Gothic"/>
                        </a:rPr>
                        <a:t>Organisations are looking to simplify, standardise and automate their performance reporting to reduce cost, improve timeliness, and support better decision-making.</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Reduction in risk of variances and exceptions being missed due to  reliance on manual processes</a:t>
                      </a:r>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Integrated, high-quality data, relevant for the type of exception report e.g. loan policy, GL</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Based on Key Performance Indicators (KPIs)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a:t>
                      </a:r>
                      <a:endParaRPr/>
                    </a:p>
                    <a:p>
                      <a:pPr indent="-171450" lvl="0" marL="357188" marR="0" rtl="0" algn="l">
                        <a:lnSpc>
                          <a:spcPct val="100000"/>
                        </a:lnSpc>
                        <a:spcBef>
                          <a:spcPts val="0"/>
                        </a:spcBef>
                        <a:spcAft>
                          <a:spcPts val="0"/>
                        </a:spcAft>
                        <a:buClr>
                          <a:schemeClr val="dk1"/>
                        </a:buClr>
                        <a:buSzPts val="900"/>
                        <a:buFont typeface="Arial"/>
                        <a:buChar char="•"/>
                      </a:pPr>
                      <a:r>
                        <a:rPr lang="en-GB" sz="900">
                          <a:solidFill>
                            <a:schemeClr val="dk1"/>
                          </a:solidFill>
                        </a:rPr>
                        <a:t>Operational exception reporting possible if data loaded into DWH in near real time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Reporting / BI Tool(s) of choice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Workflow / case management tool</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Staff are automatically alerted about a situation that needs corrective action, where exceptions are outside pre-determined parameters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Use of workflow / case management tool ensures that action is taken in timely manner and that performance metrics are tracked</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Reduction  in Operational and Reputational risk</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Lower cost due to shared data, tools and infrastructure</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586" name="Google Shape;5586;p313"/>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Exception Reporting</a:t>
            </a:r>
            <a:endParaRPr sz="1600"/>
          </a:p>
        </p:txBody>
      </p:sp>
      <p:sp>
        <p:nvSpPr>
          <p:cNvPr id="5587" name="Google Shape;5587;p313">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Financial Reporting</a:t>
            </a:r>
            <a:endParaRPr sz="750">
              <a:solidFill>
                <a:schemeClr val="lt1"/>
              </a:solidFill>
              <a:latin typeface="Century Gothic"/>
              <a:ea typeface="Century Gothic"/>
              <a:cs typeface="Century Gothic"/>
              <a:sym typeface="Century Gothic"/>
            </a:endParaRPr>
          </a:p>
        </p:txBody>
      </p:sp>
      <p:pic>
        <p:nvPicPr>
          <p:cNvPr descr="BIZ-1060-L.jpg" id="5588" name="Google Shape;5588;p313"/>
          <p:cNvPicPr preferRelativeResize="0"/>
          <p:nvPr/>
        </p:nvPicPr>
        <p:blipFill rotWithShape="1">
          <a:blip r:embed="rId4">
            <a:alphaModFix/>
          </a:blip>
          <a:srcRect b="0" l="4087" r="20892" t="0"/>
          <a:stretch/>
        </p:blipFill>
        <p:spPr>
          <a:xfrm>
            <a:off x="5648153" y="274638"/>
            <a:ext cx="3324397" cy="2215646"/>
          </a:xfrm>
          <a:prstGeom prst="rect">
            <a:avLst/>
          </a:prstGeom>
          <a:noFill/>
          <a:ln>
            <a:noFill/>
          </a:ln>
        </p:spPr>
      </p:pic>
      <p:grpSp>
        <p:nvGrpSpPr>
          <p:cNvPr id="5589" name="Google Shape;5589;p313"/>
          <p:cNvGrpSpPr/>
          <p:nvPr/>
        </p:nvGrpSpPr>
        <p:grpSpPr>
          <a:xfrm>
            <a:off x="7717533" y="4360377"/>
            <a:ext cx="1058348" cy="347375"/>
            <a:chOff x="7651698" y="4287227"/>
            <a:chExt cx="1058348" cy="347375"/>
          </a:xfrm>
        </p:grpSpPr>
        <p:grpSp>
          <p:nvGrpSpPr>
            <p:cNvPr id="5590" name="Google Shape;5590;p313"/>
            <p:cNvGrpSpPr/>
            <p:nvPr/>
          </p:nvGrpSpPr>
          <p:grpSpPr>
            <a:xfrm>
              <a:off x="7714163" y="4337598"/>
              <a:ext cx="995883" cy="297004"/>
              <a:chOff x="7711013" y="3986494"/>
              <a:chExt cx="995883" cy="297004"/>
            </a:xfrm>
          </p:grpSpPr>
          <p:sp>
            <p:nvSpPr>
              <p:cNvPr id="5591" name="Google Shape;5591;p313"/>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a:p>
            </p:txBody>
          </p:sp>
          <p:grpSp>
            <p:nvGrpSpPr>
              <p:cNvPr id="5592" name="Google Shape;5592;p313"/>
              <p:cNvGrpSpPr/>
              <p:nvPr/>
            </p:nvGrpSpPr>
            <p:grpSpPr>
              <a:xfrm>
                <a:off x="7711013" y="4002615"/>
                <a:ext cx="281520" cy="241973"/>
                <a:chOff x="5652748" y="4066000"/>
                <a:chExt cx="906498" cy="747974"/>
              </a:xfrm>
            </p:grpSpPr>
            <p:sp>
              <p:nvSpPr>
                <p:cNvPr id="5593" name="Google Shape;5593;p313"/>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594" name="Google Shape;5594;p313"/>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595" name="Google Shape;5595;p313"/>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596" name="Google Shape;5596;p313">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5" name="Shape 5615"/>
        <p:cNvGrpSpPr/>
        <p:nvPr/>
      </p:nvGrpSpPr>
      <p:grpSpPr>
        <a:xfrm>
          <a:off x="0" y="0"/>
          <a:ext cx="0" cy="0"/>
          <a:chOff x="0" y="0"/>
          <a:chExt cx="0" cy="0"/>
        </a:xfrm>
      </p:grpSpPr>
      <p:cxnSp>
        <p:nvCxnSpPr>
          <p:cNvPr id="5616" name="Google Shape;5616;p315"/>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5617" name="Google Shape;5617;p315"/>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Provide direct access for executives and other key decision-makers to comprehensive and up-to-date consolidated information to support and enhance management decisions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quality ,timeliness and efficiency of information production for executives</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Integrated, high-quality data across all areas relevant for scope of reporting, including:</a:t>
                      </a:r>
                      <a:endParaRPr/>
                    </a:p>
                    <a:p>
                      <a:pPr indent="-179388" lvl="0" marL="363538" marR="0" rtl="0" algn="l">
                        <a:spcBef>
                          <a:spcPts val="0"/>
                        </a:spcBef>
                        <a:spcAft>
                          <a:spcPts val="0"/>
                        </a:spcAft>
                        <a:buClr>
                          <a:schemeClr val="dk1"/>
                        </a:buClr>
                        <a:buSzPts val="900"/>
                        <a:buFont typeface="Century Gothic"/>
                        <a:buChar char="−"/>
                      </a:pPr>
                      <a:r>
                        <a:rPr lang="en-GB" sz="900">
                          <a:solidFill>
                            <a:schemeClr val="dk1"/>
                          </a:solidFill>
                        </a:rPr>
                        <a:t>Financial/GL; Product; Account / Agreement; Balances; Limits; Transactions ; Cashflows; Budgets / Forecasts; Sales &amp; other new business; Provisions / write-offs ; Profitability &amp; Future Value projections;</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Warehouse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General purpose rule engine for in-database calculations &amp; derivations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Reporting / BI Tool(s) of choice</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Executive decisions are based on the most accurate and up-to-date information.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Important  information highlighted and less likely to be missed through use of appropriate visualisations, RAG status, highlighting of exceptions etc.</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Executives can self-provision additional information to support their decisions using slice/drill-down capabilities.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Time and cost of production for executive information is reduced due to use of integrated and validated data, and increased automation.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operational and reputational risk resulting from decisions made on incorrect information.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Lower cost due to shared data, tools and </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infrastructure</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618" name="Google Shape;5618;p315"/>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Executive Dashboards</a:t>
            </a:r>
            <a:endParaRPr sz="1600"/>
          </a:p>
        </p:txBody>
      </p:sp>
      <p:sp>
        <p:nvSpPr>
          <p:cNvPr id="5619" name="Google Shape;5619;p315">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Financial Reporting</a:t>
            </a:r>
            <a:endParaRPr sz="750">
              <a:solidFill>
                <a:schemeClr val="lt1"/>
              </a:solidFill>
              <a:latin typeface="Century Gothic"/>
              <a:ea typeface="Century Gothic"/>
              <a:cs typeface="Century Gothic"/>
              <a:sym typeface="Century Gothic"/>
            </a:endParaRPr>
          </a:p>
        </p:txBody>
      </p:sp>
      <p:pic>
        <p:nvPicPr>
          <p:cNvPr descr="BIZ-1060-L.jpg" id="5620" name="Google Shape;5620;p315"/>
          <p:cNvPicPr preferRelativeResize="0"/>
          <p:nvPr/>
        </p:nvPicPr>
        <p:blipFill rotWithShape="1">
          <a:blip r:embed="rId4">
            <a:alphaModFix/>
          </a:blip>
          <a:srcRect b="0" l="4087" r="20892" t="0"/>
          <a:stretch/>
        </p:blipFill>
        <p:spPr>
          <a:xfrm>
            <a:off x="5648153" y="274638"/>
            <a:ext cx="3324397" cy="2215646"/>
          </a:xfrm>
          <a:prstGeom prst="rect">
            <a:avLst/>
          </a:prstGeom>
          <a:noFill/>
          <a:ln>
            <a:noFill/>
          </a:ln>
        </p:spPr>
      </p:pic>
      <p:grpSp>
        <p:nvGrpSpPr>
          <p:cNvPr id="5621" name="Google Shape;5621;p315"/>
          <p:cNvGrpSpPr/>
          <p:nvPr/>
        </p:nvGrpSpPr>
        <p:grpSpPr>
          <a:xfrm>
            <a:off x="7717533" y="4360377"/>
            <a:ext cx="1058348" cy="347375"/>
            <a:chOff x="7651698" y="4287227"/>
            <a:chExt cx="1058348" cy="347375"/>
          </a:xfrm>
        </p:grpSpPr>
        <p:grpSp>
          <p:nvGrpSpPr>
            <p:cNvPr id="5622" name="Google Shape;5622;p315"/>
            <p:cNvGrpSpPr/>
            <p:nvPr/>
          </p:nvGrpSpPr>
          <p:grpSpPr>
            <a:xfrm>
              <a:off x="7714163" y="4337598"/>
              <a:ext cx="995883" cy="297004"/>
              <a:chOff x="7711013" y="3986494"/>
              <a:chExt cx="995883" cy="297004"/>
            </a:xfrm>
          </p:grpSpPr>
          <p:sp>
            <p:nvSpPr>
              <p:cNvPr id="5623" name="Google Shape;5623;p315"/>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a:p>
            </p:txBody>
          </p:sp>
          <p:grpSp>
            <p:nvGrpSpPr>
              <p:cNvPr id="5624" name="Google Shape;5624;p315"/>
              <p:cNvGrpSpPr/>
              <p:nvPr/>
            </p:nvGrpSpPr>
            <p:grpSpPr>
              <a:xfrm>
                <a:off x="7711013" y="4002615"/>
                <a:ext cx="281520" cy="241973"/>
                <a:chOff x="5652748" y="4066000"/>
                <a:chExt cx="906498" cy="747974"/>
              </a:xfrm>
            </p:grpSpPr>
            <p:sp>
              <p:nvSpPr>
                <p:cNvPr id="5625" name="Google Shape;5625;p315"/>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626" name="Google Shape;5626;p315"/>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627" name="Google Shape;5627;p315"/>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5628" name="Google Shape;5628;p315">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6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itle"/>
          <p:cNvSpPr txBox="1"/>
          <p:nvPr>
            <p:ph type="title"/>
          </p:nvPr>
        </p:nvSpPr>
        <p:spPr>
          <a:xfrm>
            <a:off x="423872" y="164592"/>
            <a:ext cx="8262937" cy="378982"/>
          </a:xfrm>
          <a:prstGeom prst="rect">
            <a:avLst/>
          </a:prstGeom>
        </p:spPr>
        <p:txBody>
          <a:bodyPr anchor="b" lIns="0" tIns="0" rIns="0" bIns="0"/>
          <a:lstStyle/>
          <a:p>
            <a:pPr algn="l">
              <a:buNone/>
            </a:pPr>
            <a:r>
              <a:rPr lang="en-GB" sz="2000" b="1">
                <a:solidFill>
                  <a:schemeClr val="accent1"/>
                </a:solidFill>
                <a:latin typeface="Century Gothic"/>
              </a:rPr>
              <a:t>Finance &amp; PM Use Cases — Portfolio Dashboard</a:t>
            </a:r>
          </a:p>
        </p:txBody>
      </p:sp>
      <p:graphicFrame>
        <p:nvGraphicFramePr>
          <p:cNvPr id="9010" name="Table"/>
          <p:cNvGraphicFramePr/>
          <p:nvPr/>
        </p:nvGraphicFramePr>
        <p:xfrm>
          <a:off x="300000" y="700000"/>
          <a:ext cx="8600000" cy="2200000"/>
        </p:xfrm>
        <a:graphic>
          <a:graphicData uri="http://schemas.openxmlformats.org/drawingml/2006/table">
            <a:tbl>
              <a:tblPr firstRow="1" bandRow="1"/>
              <a:tblGrid>
                <a:gridCol w="1800000"/>
                <a:gridCol w="2200000"/>
                <a:gridCol w="1400000"/>
                <a:gridCol w="1200000"/>
                <a:gridCol w="2000000"/>
              </a:tblGrid>
              <a:tr h="280000">
                <a:tc>
                  <a:txBody>
                    <a:bodyPr/>
                    <a:lstStyle/>
                    <a:p>
                      <a:pPr algn="l"/>
                      <a:r>
                        <a:rPr lang="en-GB" sz="750" b="1">
                          <a:solidFill>
                            <a:srgbClr val="FFFFFF"/>
                          </a:solidFill>
                          <a:latin typeface="Century Gothic"/>
                        </a:rPr>
                        <a:t>Section</a:t>
                      </a:r>
                    </a:p>
                  </a:txBody>
                  <a:tcPr marL="36000" marR="36000" marT="18000" marB="18000">
                    <a:solidFill>
                      <a:srgbClr val="005AA4"/>
                    </a:solidFill>
                    <a:ln w="6350">
                      <a:solidFill>
                        <a:srgbClr val="D9D9D9"/>
                      </a:solidFill>
                    </a:ln>
                  </a:tcPr>
                </a:tc>
                <a:tc>
                  <a:txBody>
                    <a:bodyPr/>
                    <a:lstStyle/>
                    <a:p>
                      <a:pPr algn="l"/>
                      <a:r>
                        <a:rPr lang="en-GB" sz="750" b="1">
                          <a:solidFill>
                            <a:srgbClr val="FFFFFF"/>
                          </a:solidFill>
                          <a:latin typeface="Century Gothic"/>
                        </a:rPr>
                        <a:t>Use Cases</a:t>
                      </a:r>
                    </a:p>
                  </a:txBody>
                  <a:tcPr marL="36000" marR="36000" marT="18000" marB="18000">
                    <a:solidFill>
                      <a:srgbClr val="005AA4"/>
                    </a:solidFill>
                    <a:ln w="6350">
                      <a:solidFill>
                        <a:srgbClr val="D9D9D9"/>
                      </a:solidFill>
                    </a:ln>
                  </a:tcPr>
                </a:tc>
                <a:tc>
                  <a:txBody>
                    <a:bodyPr/>
                    <a:lstStyle/>
                    <a:p>
                      <a:pPr algn="l"/>
                      <a:r>
                        <a:rPr lang="en-GB" sz="750" b="1">
                          <a:solidFill>
                            <a:srgbClr val="FFFFFF"/>
                          </a:solidFill>
                          <a:latin typeface="Century Gothic"/>
                        </a:rPr>
                        <a:t>Pakistan Priority</a:t>
                      </a:r>
                    </a:p>
                  </a:txBody>
                  <a:tcPr marL="36000" marR="36000" marT="18000" marB="18000">
                    <a:solidFill>
                      <a:srgbClr val="005AA4"/>
                    </a:solidFill>
                    <a:ln w="6350">
                      <a:solidFill>
                        <a:srgbClr val="D9D9D9"/>
                      </a:solidFill>
                    </a:ln>
                  </a:tcPr>
                </a:tc>
                <a:tc>
                  <a:txBody>
                    <a:bodyPr/>
                    <a:lstStyle/>
                    <a:p>
                      <a:pPr algn="l"/>
                      <a:r>
                        <a:rPr lang="en-GB" sz="750" b="1">
                          <a:solidFill>
                            <a:srgbClr val="FFFFFF"/>
                          </a:solidFill>
                          <a:latin typeface="Century Gothic"/>
                        </a:rPr>
                        <a:t>Quick Wins</a:t>
                      </a:r>
                    </a:p>
                  </a:txBody>
                  <a:tcPr marL="36000" marR="36000" marT="18000" marB="18000">
                    <a:solidFill>
                      <a:srgbClr val="005AA4"/>
                    </a:solidFill>
                    <a:ln w="6350">
                      <a:solidFill>
                        <a:srgbClr val="D9D9D9"/>
                      </a:solidFill>
                    </a:ln>
                  </a:tcPr>
                </a:tc>
                <a:tc>
                  <a:txBody>
                    <a:bodyPr/>
                    <a:lstStyle/>
                    <a:p>
                      <a:pPr algn="l"/>
                      <a:r>
                        <a:rPr lang="en-GB" sz="750" b="1">
                          <a:solidFill>
                            <a:srgbClr val="FFFFFF"/>
                          </a:solidFill>
                          <a:latin typeface="Century Gothic"/>
                        </a:rPr>
                        <a:t>FSDM Domains</a:t>
                      </a:r>
                    </a:p>
                  </a:txBody>
                  <a:tcPr marL="36000" marR="36000" marT="18000" marB="18000">
                    <a:solidFill>
                      <a:srgbClr val="005AA4"/>
                    </a:solidFill>
                    <a:ln w="6350">
                      <a:solidFill>
                        <a:srgbClr val="D9D9D9"/>
                      </a:solidFill>
                    </a:ln>
                  </a:tcPr>
                </a:tc>
              </a:tr>
              <a:tr h="320000">
                <a:tc>
                  <a:txBody>
                    <a:bodyPr/>
                    <a:lstStyle/>
                    <a:p>
                      <a:pPr algn="l"/>
                      <a:r>
                        <a:rPr lang="en-GB" sz="750" b="1">
                          <a:solidFill>
                            <a:srgbClr val="3C3C3B"/>
                          </a:solidFill>
                          <a:latin typeface="Century Gothic"/>
                        </a:rPr>
                        <a:t>Accounting Ops (11)</a:t>
                      </a:r>
                    </a:p>
                  </a:txBody>
                  <a:tcPr marL="36000" marR="36000" marT="18000" marB="18000">
                    <a:noFill/>
                    <a:ln w="6350">
                      <a:solidFill>
                        <a:srgbClr val="D9D9D9"/>
                      </a:solidFill>
                    </a:ln>
                  </a:tcPr>
                </a:tc>
                <a:tc>
                  <a:txBody>
                    <a:bodyPr/>
                    <a:lstStyle/>
                    <a:p>
                      <a:pPr algn="l"/>
                      <a:r>
                        <a:rPr lang="en-GB" sz="700">
                          <a:solidFill>
                            <a:srgbClr val="3C3C3B"/>
                          </a:solidFill>
                          <a:latin typeface="Century Gothic"/>
                        </a:rPr>
                        <a:t>Vendor, Payables, P2P, Sub-ledger, Assets, ABS, Recon, Consolidation, Close, Data Acq</a:t>
                      </a:r>
                    </a:p>
                  </a:txBody>
                  <a:tcPr marL="36000" marR="36000" marT="18000" marB="18000">
                    <a:noFill/>
                    <a:ln w="6350">
                      <a:solidFill>
                        <a:srgbClr val="D9D9D9"/>
                      </a:solidFill>
                    </a:ln>
                  </a:tcPr>
                </a:tc>
                <a:tc>
                  <a:txBody>
                    <a:bodyPr/>
                    <a:lstStyle/>
                    <a:p>
                      <a:pPr algn="l"/>
                      <a:r>
                        <a:rPr lang="en-GB" sz="750" b="1">
                          <a:solidFill>
                            <a:srgbClr val="3C3C3B"/>
                          </a:solidFill>
                          <a:latin typeface="Century Gothic"/>
                        </a:rPr>
                        <a:t>High</a:t>
                      </a:r>
                    </a:p>
                  </a:txBody>
                  <a:tcPr marL="36000" marR="36000" marT="18000" marB="18000">
                    <a:noFill/>
                    <a:ln w="6350">
                      <a:solidFill>
                        <a:srgbClr val="D9D9D9"/>
                      </a:solidFill>
                    </a:ln>
                  </a:tcPr>
                </a:tc>
                <a:tc>
                  <a:txBody>
                    <a:bodyPr/>
                    <a:lstStyle/>
                    <a:p>
                      <a:pPr algn="l"/>
                      <a:r>
                        <a:rPr lang="en-GB" sz="700">
                          <a:solidFill>
                            <a:srgbClr val="3C3C3B"/>
                          </a:solidFill>
                          <a:latin typeface="Century Gothic"/>
                        </a:rPr>
                        <a:t>Close, Recon, Sub-ledger</a:t>
                      </a:r>
                    </a:p>
                  </a:txBody>
                  <a:tcPr marL="36000" marR="36000" marT="18000" marB="18000">
                    <a:noFill/>
                    <a:ln w="6350">
                      <a:solidFill>
                        <a:srgbClr val="D9D9D9"/>
                      </a:solidFill>
                    </a:ln>
                  </a:tcPr>
                </a:tc>
                <a:tc>
                  <a:txBody>
                    <a:bodyPr/>
                    <a:lstStyle/>
                    <a:p>
                      <a:pPr algn="l"/>
                      <a:r>
                        <a:rPr lang="en-GB" sz="700">
                          <a:solidFill>
                            <a:srgbClr val="3C3C3B"/>
                          </a:solidFill>
                          <a:latin typeface="Century Gothic"/>
                        </a:rPr>
                        <a:t>GL, Account, FI</a:t>
                      </a:r>
                    </a:p>
                  </a:txBody>
                  <a:tcPr marL="36000" marR="36000" marT="18000" marB="18000">
                    <a:noFill/>
                    <a:ln w="6350">
                      <a:solidFill>
                        <a:srgbClr val="D9D9D9"/>
                      </a:solidFill>
                    </a:ln>
                  </a:tcPr>
                </a:tc>
              </a:tr>
              <a:tr h="320000">
                <a:tc>
                  <a:txBody>
                    <a:bodyPr/>
                    <a:lstStyle/>
                    <a:p>
                      <a:pPr algn="l"/>
                      <a:r>
                        <a:rPr lang="en-GB" sz="750" b="1">
                          <a:solidFill>
                            <a:srgbClr val="3C3C3B"/>
                          </a:solidFill>
                          <a:latin typeface="Century Gothic"/>
                        </a:rPr>
                        <a:t>EPM (8)</a:t>
                      </a:r>
                    </a:p>
                  </a:txBody>
                  <a:tcPr marL="36000" marR="36000" marT="18000" marB="18000">
                    <a:noFill/>
                    <a:ln w="6350">
                      <a:solidFill>
                        <a:srgbClr val="D9D9D9"/>
                      </a:solidFill>
                    </a:ln>
                  </a:tcPr>
                </a:tc>
                <a:tc>
                  <a:txBody>
                    <a:bodyPr/>
                    <a:lstStyle/>
                    <a:p>
                      <a:pPr algn="l"/>
                      <a:r>
                        <a:rPr lang="en-GB" sz="700">
                          <a:solidFill>
                            <a:srgbClr val="3C3C3B"/>
                          </a:solidFill>
                          <a:latin typeface="Century Gothic"/>
                        </a:rPr>
                        <a:t>Revenue, HR, ABC, RAROC, Profitability, Loan Pricing, KPI, Budget</a:t>
                      </a:r>
                    </a:p>
                  </a:txBody>
                  <a:tcPr marL="36000" marR="36000" marT="18000" marB="18000">
                    <a:noFill/>
                    <a:ln w="6350">
                      <a:solidFill>
                        <a:srgbClr val="D9D9D9"/>
                      </a:solidFill>
                    </a:ln>
                  </a:tcPr>
                </a:tc>
                <a:tc>
                  <a:txBody>
                    <a:bodyPr/>
                    <a:lstStyle/>
                    <a:p>
                      <a:pPr algn="l"/>
                      <a:r>
                        <a:rPr lang="en-GB" sz="750" b="1">
                          <a:solidFill>
                            <a:srgbClr val="C00000"/>
                          </a:solidFill>
                          <a:latin typeface="Century Gothic"/>
                        </a:rPr>
                        <a:t>Critical</a:t>
                      </a:r>
                    </a:p>
                  </a:txBody>
                  <a:tcPr marL="36000" marR="36000" marT="18000" marB="18000">
                    <a:noFill/>
                    <a:ln w="6350">
                      <a:solidFill>
                        <a:srgbClr val="D9D9D9"/>
                      </a:solidFill>
                    </a:ln>
                  </a:tcPr>
                </a:tc>
                <a:tc>
                  <a:txBody>
                    <a:bodyPr/>
                    <a:lstStyle/>
                    <a:p>
                      <a:pPr algn="l"/>
                      <a:r>
                        <a:rPr lang="en-GB" sz="700">
                          <a:solidFill>
                            <a:srgbClr val="3C3C3B"/>
                          </a:solidFill>
                          <a:latin typeface="Century Gothic"/>
                        </a:rPr>
                        <a:t>Profitability, RAROC, KPI</a:t>
                      </a:r>
                    </a:p>
                  </a:txBody>
                  <a:tcPr marL="36000" marR="36000" marT="18000" marB="18000">
                    <a:noFill/>
                    <a:ln w="6350">
                      <a:solidFill>
                        <a:srgbClr val="D9D9D9"/>
                      </a:solidFill>
                    </a:ln>
                  </a:tcPr>
                </a:tc>
                <a:tc>
                  <a:txBody>
                    <a:bodyPr/>
                    <a:lstStyle/>
                    <a:p>
                      <a:pPr algn="l"/>
                      <a:r>
                        <a:rPr lang="en-GB" sz="700">
                          <a:solidFill>
                            <a:srgbClr val="3C3C3B"/>
                          </a:solidFill>
                          <a:latin typeface="Century Gothic"/>
                        </a:rPr>
                        <a:t>Party, Product, Cost</a:t>
                      </a:r>
                    </a:p>
                  </a:txBody>
                  <a:tcPr marL="36000" marR="36000" marT="18000" marB="18000">
                    <a:noFill/>
                    <a:ln w="6350">
                      <a:solidFill>
                        <a:srgbClr val="D9D9D9"/>
                      </a:solidFill>
                    </a:ln>
                  </a:tcPr>
                </a:tc>
              </a:tr>
              <a:tr h="320000">
                <a:tc>
                  <a:txBody>
                    <a:bodyPr/>
                    <a:lstStyle/>
                    <a:p>
                      <a:pPr algn="l"/>
                      <a:r>
                        <a:rPr lang="en-GB" sz="750" b="1">
                          <a:solidFill>
                            <a:srgbClr val="3C3C3B"/>
                          </a:solidFill>
                          <a:latin typeface="Century Gothic"/>
                        </a:rPr>
                        <a:t>Treasury (5)</a:t>
                      </a:r>
                    </a:p>
                  </a:txBody>
                  <a:tcPr marL="36000" marR="36000" marT="18000" marB="18000">
                    <a:noFill/>
                    <a:ln w="6350">
                      <a:solidFill>
                        <a:srgbClr val="D9D9D9"/>
                      </a:solidFill>
                    </a:ln>
                  </a:tcPr>
                </a:tc>
                <a:tc>
                  <a:txBody>
                    <a:bodyPr/>
                    <a:lstStyle/>
                    <a:p>
                      <a:pPr algn="l"/>
                      <a:r>
                        <a:rPr lang="en-GB" sz="700">
                          <a:solidFill>
                            <a:srgbClr val="3C3C3B"/>
                          </a:solidFill>
                          <a:latin typeface="Century Gothic"/>
                        </a:rPr>
                        <a:t>Cashflow, Reserve Portfolio, ALM, Liquidity, Currency Hedge</a:t>
                      </a:r>
                    </a:p>
                  </a:txBody>
                  <a:tcPr marL="36000" marR="36000" marT="18000" marB="18000">
                    <a:noFill/>
                    <a:ln w="6350">
                      <a:solidFill>
                        <a:srgbClr val="D9D9D9"/>
                      </a:solidFill>
                    </a:ln>
                  </a:tcPr>
                </a:tc>
                <a:tc>
                  <a:txBody>
                    <a:bodyPr/>
                    <a:lstStyle/>
                    <a:p>
                      <a:pPr algn="l"/>
                      <a:r>
                        <a:rPr lang="en-GB" sz="750" b="1">
                          <a:solidFill>
                            <a:srgbClr val="C00000"/>
                          </a:solidFill>
                          <a:latin typeface="Century Gothic"/>
                        </a:rPr>
                        <a:t>Critical</a:t>
                      </a:r>
                    </a:p>
                  </a:txBody>
                  <a:tcPr marL="36000" marR="36000" marT="18000" marB="18000">
                    <a:noFill/>
                    <a:ln w="6350">
                      <a:solidFill>
                        <a:srgbClr val="D9D9D9"/>
                      </a:solidFill>
                    </a:ln>
                  </a:tcPr>
                </a:tc>
                <a:tc>
                  <a:txBody>
                    <a:bodyPr/>
                    <a:lstStyle/>
                    <a:p>
                      <a:pPr algn="l"/>
                      <a:r>
                        <a:rPr lang="en-GB" sz="700">
                          <a:solidFill>
                            <a:srgbClr val="3C3C3B"/>
                          </a:solidFill>
                          <a:latin typeface="Century Gothic"/>
                        </a:rPr>
                        <a:t>Liquidity, ALM, Cashflow</a:t>
                      </a:r>
                    </a:p>
                  </a:txBody>
                  <a:tcPr marL="36000" marR="36000" marT="18000" marB="18000">
                    <a:noFill/>
                    <a:ln w="6350">
                      <a:solidFill>
                        <a:srgbClr val="D9D9D9"/>
                      </a:solidFill>
                    </a:ln>
                  </a:tcPr>
                </a:tc>
                <a:tc>
                  <a:txBody>
                    <a:bodyPr/>
                    <a:lstStyle/>
                    <a:p>
                      <a:pPr algn="l"/>
                      <a:r>
                        <a:rPr lang="en-GB" sz="700">
                          <a:solidFill>
                            <a:srgbClr val="3C3C3B"/>
                          </a:solidFill>
                          <a:latin typeface="Century Gothic"/>
                        </a:rPr>
                        <a:t>FI, Market Data, Balance</a:t>
                      </a:r>
                    </a:p>
                  </a:txBody>
                  <a:tcPr marL="36000" marR="36000" marT="18000" marB="18000">
                    <a:noFill/>
                    <a:ln w="6350">
                      <a:solidFill>
                        <a:srgbClr val="D9D9D9"/>
                      </a:solidFill>
                    </a:ln>
                  </a:tcPr>
                </a:tc>
              </a:tr>
              <a:tr h="320000">
                <a:tc>
                  <a:txBody>
                    <a:bodyPr/>
                    <a:lstStyle/>
                    <a:p>
                      <a:pPr algn="l"/>
                      <a:r>
                        <a:rPr lang="en-GB" sz="750" b="1">
                          <a:solidFill>
                            <a:srgbClr val="3C3C3B"/>
                          </a:solidFill>
                          <a:latin typeface="Century Gothic"/>
                        </a:rPr>
                        <a:t>Reporting (7)</a:t>
                      </a:r>
                    </a:p>
                  </a:txBody>
                  <a:tcPr marL="36000" marR="36000" marT="18000" marB="18000">
                    <a:noFill/>
                    <a:ln w="6350">
                      <a:solidFill>
                        <a:srgbClr val="D9D9D9"/>
                      </a:solidFill>
                    </a:ln>
                  </a:tcPr>
                </a:tc>
                <a:tc>
                  <a:txBody>
                    <a:bodyPr/>
                    <a:lstStyle/>
                    <a:p>
                      <a:pPr algn="l"/>
                      <a:r>
                        <a:rPr lang="en-GB" sz="700">
                          <a:solidFill>
                            <a:srgbClr val="3C3C3B"/>
                          </a:solidFill>
                          <a:latin typeface="Century Gothic"/>
                        </a:rPr>
                        <a:t>External, Efficiency, Regulatory, Sales, Project, Exception, Executive</a:t>
                      </a:r>
                    </a:p>
                  </a:txBody>
                  <a:tcPr marL="36000" marR="36000" marT="18000" marB="18000">
                    <a:noFill/>
                    <a:ln w="6350">
                      <a:solidFill>
                        <a:srgbClr val="D9D9D9"/>
                      </a:solidFill>
                    </a:ln>
                  </a:tcPr>
                </a:tc>
                <a:tc>
                  <a:txBody>
                    <a:bodyPr/>
                    <a:lstStyle/>
                    <a:p>
                      <a:pPr algn="l"/>
                      <a:r>
                        <a:rPr lang="en-GB" sz="750" b="1">
                          <a:solidFill>
                            <a:srgbClr val="3C3C3B"/>
                          </a:solidFill>
                          <a:latin typeface="Century Gothic"/>
                        </a:rPr>
                        <a:t>High</a:t>
                      </a:r>
                    </a:p>
                  </a:txBody>
                  <a:tcPr marL="36000" marR="36000" marT="18000" marB="18000">
                    <a:noFill/>
                    <a:ln w="6350">
                      <a:solidFill>
                        <a:srgbClr val="D9D9D9"/>
                      </a:solidFill>
                    </a:ln>
                  </a:tcPr>
                </a:tc>
                <a:tc>
                  <a:txBody>
                    <a:bodyPr/>
                    <a:lstStyle/>
                    <a:p>
                      <a:pPr algn="l"/>
                      <a:r>
                        <a:rPr lang="en-GB" sz="700">
                          <a:solidFill>
                            <a:srgbClr val="3C3C3B"/>
                          </a:solidFill>
                          <a:latin typeface="Century Gothic"/>
                        </a:rPr>
                        <a:t>Regulatory, Executive</a:t>
                      </a:r>
                    </a:p>
                  </a:txBody>
                  <a:tcPr marL="36000" marR="36000" marT="18000" marB="18000">
                    <a:noFill/>
                    <a:ln w="6350">
                      <a:solidFill>
                        <a:srgbClr val="D9D9D9"/>
                      </a:solidFill>
                    </a:ln>
                  </a:tcPr>
                </a:tc>
                <a:tc>
                  <a:txBody>
                    <a:bodyPr/>
                    <a:lstStyle/>
                    <a:p>
                      <a:pPr algn="l"/>
                      <a:r>
                        <a:rPr lang="en-GB" sz="700">
                          <a:solidFill>
                            <a:srgbClr val="3C3C3B"/>
                          </a:solidFill>
                          <a:latin typeface="Century Gothic"/>
                        </a:rPr>
                        <a:t>GL, Regulatory, Report</a:t>
                      </a:r>
                    </a:p>
                  </a:txBody>
                  <a:tcPr marL="36000" marR="36000" marT="18000" marB="18000">
                    <a:noFill/>
                    <a:ln w="6350">
                      <a:solidFill>
                        <a:srgbClr val="D9D9D9"/>
                      </a:solidFill>
                    </a:ln>
                  </a:tcPr>
                </a:tc>
              </a:tr>
              <a:tr h="320000">
                <a:tc>
                  <a:txBody>
                    <a:bodyPr/>
                    <a:lstStyle/>
                    <a:p>
                      <a:pPr algn="l"/>
                      <a:r>
                        <a:rPr lang="en-GB" sz="750" b="1">
                          <a:solidFill>
                            <a:srgbClr val="3C3C3B"/>
                          </a:solidFill>
                          <a:latin typeface="Century Gothic"/>
                        </a:rPr>
                        <a:t>TOTAL</a:t>
                      </a:r>
                    </a:p>
                  </a:txBody>
                  <a:tcPr marL="36000" marR="36000" marT="18000" marB="18000">
                    <a:solidFill>
                      <a:srgbClr val="F2F2F2"/>
                    </a:solidFill>
                    <a:ln w="6350">
                      <a:solidFill>
                        <a:srgbClr val="D9D9D9"/>
                      </a:solidFill>
                    </a:ln>
                  </a:tcPr>
                </a:tc>
                <a:tc>
                  <a:txBody>
                    <a:bodyPr/>
                    <a:lstStyle/>
                    <a:p>
                      <a:pPr algn="l"/>
                      <a:r>
                        <a:rPr lang="en-GB" sz="700">
                          <a:solidFill>
                            <a:srgbClr val="3C3C3B"/>
                          </a:solidFill>
                          <a:latin typeface="Century Gothic"/>
                        </a:rPr>
                        <a:t>31 Use Cases</a:t>
                      </a:r>
                    </a:p>
                  </a:txBody>
                  <a:tcPr marL="36000" marR="36000" marT="18000" marB="18000">
                    <a:solidFill>
                      <a:srgbClr val="F2F2F2"/>
                    </a:solidFill>
                    <a:ln w="6350">
                      <a:solidFill>
                        <a:srgbClr val="D9D9D9"/>
                      </a:solidFill>
                    </a:ln>
                  </a:tcPr>
                </a:tc>
                <a:tc>
                  <a:txBody>
                    <a:bodyPr/>
                    <a:lstStyle/>
                    <a:p>
                      <a:pPr algn="l"/>
                      <a:r>
                        <a:rPr lang="en-GB" sz="750" b="1">
                          <a:solidFill>
                            <a:srgbClr val="3C3C3B"/>
                          </a:solidFill>
                          <a:latin typeface="Century Gothic"/>
                        </a:rPr>
                        <a:t/>
                      </a:r>
                    </a:p>
                  </a:txBody>
                  <a:tcPr marL="36000" marR="36000" marT="18000" marB="18000">
                    <a:solidFill>
                      <a:srgbClr val="F2F2F2"/>
                    </a:solidFill>
                    <a:ln w="6350">
                      <a:solidFill>
                        <a:srgbClr val="D9D9D9"/>
                      </a:solidFill>
                    </a:ln>
                  </a:tcPr>
                </a:tc>
                <a:tc>
                  <a:txBody>
                    <a:bodyPr/>
                    <a:lstStyle/>
                    <a:p>
                      <a:pPr algn="l"/>
                      <a:r>
                        <a:rPr lang="en-GB" sz="700">
                          <a:solidFill>
                            <a:srgbClr val="3C3C3B"/>
                          </a:solidFill>
                          <a:latin typeface="Century Gothic"/>
                        </a:rPr>
                        <a:t/>
                      </a:r>
                    </a:p>
                  </a:txBody>
                  <a:tcPr marL="36000" marR="36000" marT="18000" marB="18000">
                    <a:solidFill>
                      <a:srgbClr val="F2F2F2"/>
                    </a:solidFill>
                    <a:ln w="6350">
                      <a:solidFill>
                        <a:srgbClr val="D9D9D9"/>
                      </a:solidFill>
                    </a:ln>
                  </a:tcPr>
                </a:tc>
                <a:tc>
                  <a:txBody>
                    <a:bodyPr/>
                    <a:lstStyle/>
                    <a:p>
                      <a:pPr algn="l"/>
                      <a:r>
                        <a:rPr lang="en-GB" sz="700">
                          <a:solidFill>
                            <a:srgbClr val="3C3C3B"/>
                          </a:solidFill>
                          <a:latin typeface="Century Gothic"/>
                        </a:rPr>
                        <a:t/>
                      </a:r>
                    </a:p>
                  </a:txBody>
                  <a:tcPr marL="36000" marR="36000" marT="18000" marB="18000">
                    <a:solidFill>
                      <a:srgbClr val="F2F2F2"/>
                    </a:solidFill>
                    <a:ln w="6350">
                      <a:solidFill>
                        <a:srgbClr val="D9D9D9"/>
                      </a:solidFill>
                    </a:ln>
                  </a:tcPr>
                </a:tc>
              </a:tr>
            </a:tbl>
          </a:graphicData>
        </a:graphic>
      </p:graphicFrame>
      <p:sp>
        <p:nvSpPr>
          <p:cNvPr id="9011" name="TextBox 9011"/>
          <p:cNvSpPr txBox="1"/>
          <p:nvPr/>
        </p:nvSpPr>
        <p:spPr>
          <a:xfrm>
            <a:off x="300000" y="3000000"/>
            <a:ext cx="8400000" cy="1400000"/>
          </a:xfrm>
          <a:prstGeom prst="rect">
            <a:avLst/>
          </a:prstGeom>
          <a:noFill/>
        </p:spPr>
        <p:txBody>
          <a:bodyPr wrap="square" lIns="36000" tIns="36000" rIns="36000" bIns="36000">
            <a:noAutofit/>
          </a:bodyPr>
          <a:lstStyle/>
          <a:p>
            <a:pPr algn="l">
              <a:spcBef>
                <a:spcPts val="0"/>
              </a:spcBef>
              <a:buNone/>
            </a:pPr>
            <a:r>
              <a:rPr lang="en-GB" sz="1000" b="1">
                <a:solidFill>
                  <a:srgbClr val="005AA4"/>
                </a:solidFill>
                <a:latin typeface="Century Gothic"/>
              </a:rPr>
              <a:t>Pakistan Implementation Priority Matrix:</a:t>
            </a:r>
          </a:p>
          <a:p>
            <a:pPr indent="-108000" marL="108000" algn="l">
              <a:spcBef>
                <a:spcPts val="200"/>
              </a:spcBef>
              <a:buClr>
                <a:srgbClr val="005AA4"/>
              </a:buClr>
              <a:buSzPts val="800"/>
              <a:buFont typeface="Arial"/>
              <a:buChar char="•"/>
            </a:pPr>
            <a:r>
              <a:rPr lang="en-GB" sz="800">
                <a:solidFill>
                  <a:srgbClr val="005AA4"/>
                </a:solidFill>
                <a:latin typeface="Century Gothic"/>
              </a:rPr>
              <a:t>IMMEDIATE (0-6mo): Recon, Close, Profitability, Regulatory, Liquidity, KPI</a:t>
            </a:r>
          </a:p>
          <a:p>
            <a:pPr indent="-108000" marL="108000" algn="l">
              <a:spcBef>
                <a:spcPts val="200"/>
              </a:spcBef>
              <a:buClr>
                <a:srgbClr val="005AA4"/>
              </a:buClr>
              <a:buSzPts val="800"/>
              <a:buFont typeface="Arial"/>
              <a:buChar char="•"/>
            </a:pPr>
            <a:r>
              <a:rPr lang="en-GB" sz="800">
                <a:solidFill>
                  <a:srgbClr val="005AA4"/>
                </a:solidFill>
                <a:latin typeface="Century Gothic"/>
              </a:rPr>
              <a:t>HIGH (6-18mo): RAROC, ALM, Revenue, ABC, Loan Pricing, Budget, Consolidation</a:t>
            </a:r>
          </a:p>
          <a:p>
            <a:pPr indent="-108000" marL="108000" algn="l">
              <a:spcBef>
                <a:spcPts val="200"/>
              </a:spcBef>
              <a:buClr>
                <a:srgbClr val="005AA4"/>
              </a:buClr>
              <a:buSzPts val="800"/>
              <a:buFont typeface="Arial"/>
              <a:buChar char="•"/>
            </a:pPr>
            <a:r>
              <a:rPr lang="en-GB" sz="800">
                <a:solidFill>
                  <a:srgbClr val="005AA4"/>
                </a:solidFill>
                <a:latin typeface="Century Gothic"/>
              </a:rPr>
              <a:t>STRATEGIC (18-36mo): Reserve Portfolio, Currency Hedge, ABS, HR, Vendor, Project</a:t>
            </a:r>
          </a:p>
        </p:txBody>
      </p:sp>
      <p:sp>
        <p:nvSpPr>
          <p:cNvPr id="9012" name="InfoBar"/>
          <p:cNvSpPr/>
          <p:nvPr/>
        </p:nvSpPr>
        <p:spPr>
          <a:xfrm>
            <a:off x="300000" y="4500000"/>
            <a:ext cx="8400000" cy="300000"/>
          </a:xfrm>
          <a:prstGeom prst="rect">
            <a:avLst/>
          </a:prstGeom>
          <a:solidFill>
            <a:srgbClr val="005AA4"/>
          </a:solidFill>
        </p:spPr>
        <p:txBody>
          <a:bodyPr wrap="square" lIns="72000" tIns="36000" rIns="72000" bIns="36000">
            <a:noAutofit/>
          </a:bodyPr>
          <a:lstStyle/>
          <a:p>
            <a:pPr algn="l"/>
            <a:r>
              <a:rPr lang="en-GB" sz="800" b="1">
                <a:solidFill>
                  <a:srgbClr val="FFFFFF"/>
                </a:solidFill>
                <a:latin typeface="Century Gothic"/>
              </a:rPr>
              <a:t>31 Finance &amp; PM Use Cases | 4 Domains | FSDM Data Foundation | UBL Customer Profitability Engine</a:t>
            </a:r>
          </a:p>
        </p:txBody>
      </p:sp>
    </p:spTree>
  </p:cSld>
  <p:clrMapOvr>
    <a:masterClrMapping/>
  </p:clrMapOvr>
</p:sld>
</file>

<file path=ppt/slides/slide6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0" name="Title"/>
          <p:cNvSpPr txBox="1"/>
          <p:nvPr>
            <p:ph type="title"/>
          </p:nvPr>
        </p:nvSpPr>
        <p:spPr>
          <a:xfrm>
            <a:off x="423872" y="164592"/>
            <a:ext cx="8262937" cy="378982"/>
          </a:xfrm>
          <a:prstGeom prst="rect">
            <a:avLst/>
          </a:prstGeom>
        </p:spPr>
        <p:txBody>
          <a:bodyPr anchor="b" lIns="0" tIns="0" rIns="0" bIns="0"/>
          <a:lstStyle/>
          <a:p>
            <a:pPr algn="l">
              <a:buNone/>
            </a:pPr>
            <a:r>
              <a:rPr lang="en-GB" sz="2000" b="1">
                <a:solidFill>
                  <a:schemeClr val="accent1"/>
                </a:solidFill>
                <a:latin typeface="Century Gothic"/>
              </a:rPr>
              <a:t>Pakistan Banking — Finance Use Case Priorities</a:t>
            </a:r>
          </a:p>
        </p:txBody>
      </p:sp>
      <p:sp>
        <p:nvSpPr>
          <p:cNvPr id="9101" name="TextBox 9101"/>
          <p:cNvSpPr txBox="1"/>
          <p:nvPr/>
        </p:nvSpPr>
        <p:spPr>
          <a:xfrm>
            <a:off x="300000" y="650000"/>
            <a:ext cx="8400000" cy="850000"/>
          </a:xfrm>
          <a:prstGeom prst="rect">
            <a:avLst/>
          </a:prstGeom>
          <a:noFill/>
        </p:spPr>
        <p:txBody>
          <a:bodyPr wrap="square" lIns="36000" tIns="36000" rIns="36000" bIns="36000">
            <a:noAutofit/>
          </a:bodyPr>
          <a:lstStyle/>
          <a:p>
            <a:pPr algn="l">
              <a:spcBef>
                <a:spcPts val="0"/>
              </a:spcBef>
              <a:buNone/>
            </a:pPr>
            <a:r>
              <a:rPr lang="en-GB" sz="1000" b="1">
                <a:solidFill>
                  <a:srgbClr val="3C3C3B"/>
                </a:solidFill>
                <a:latin typeface="Century Gothic"/>
              </a:rPr>
              <a:t>PROFITABILITY ANALYTICS (Slide 17) - MOST CRITICAL</a:t>
            </a:r>
          </a:p>
          <a:p>
            <a:pPr indent="-108000" marL="108000" algn="l">
              <a:spcBef>
                <a:spcPts val="200"/>
              </a:spcBef>
              <a:buClr>
                <a:srgbClr val="3C3C3B"/>
              </a:buClr>
              <a:buSzPts val="800"/>
              <a:buFont typeface="Arial"/>
              <a:buChar char="•"/>
            </a:pPr>
            <a:r>
              <a:rPr lang="en-GB" sz="800">
                <a:solidFill>
                  <a:srgbClr val="3C3C3B"/>
                </a:solidFill>
                <a:latin typeface="Century Gothic"/>
              </a:rPr>
              <a:t>&lt;15% of Pakistan banks can calculate customer-level profitability</a:t>
            </a:r>
          </a:p>
          <a:p>
            <a:pPr indent="-108000" marL="108000" algn="l">
              <a:spcBef>
                <a:spcPts val="200"/>
              </a:spcBef>
              <a:buClr>
                <a:srgbClr val="3C3C3B"/>
              </a:buClr>
              <a:buSzPts val="800"/>
              <a:buFont typeface="Arial"/>
              <a:buChar char="•"/>
            </a:pPr>
            <a:r>
              <a:rPr lang="en-GB" sz="800">
                <a:solidFill>
                  <a:srgbClr val="3C3C3B"/>
                </a:solidFill>
                <a:latin typeface="Century Gothic"/>
              </a:rPr>
              <a:t>FSDM star schema: NII, fees, costs, provisions at individual customer level</a:t>
            </a:r>
          </a:p>
          <a:p>
            <a:pPr indent="-108000" marL="108000" algn="l">
              <a:spcBef>
                <a:spcPts val="200"/>
              </a:spcBef>
              <a:buClr>
                <a:srgbClr val="3C3C3B"/>
              </a:buClr>
              <a:buSzPts val="800"/>
              <a:buFont typeface="Arial"/>
              <a:buChar char="•"/>
            </a:pPr>
            <a:r>
              <a:rPr lang="en-GB" sz="800">
                <a:solidFill>
                  <a:srgbClr val="3C3C3B"/>
                </a:solidFill>
                <a:latin typeface="Century Gothic"/>
              </a:rPr>
              <a:t>UBL Customer Profitability Engine already built on FSDM</a:t>
            </a:r>
          </a:p>
        </p:txBody>
      </p:sp>
      <p:sp>
        <p:nvSpPr>
          <p:cNvPr id="9102" name="TextBox 9102"/>
          <p:cNvSpPr txBox="1"/>
          <p:nvPr/>
        </p:nvSpPr>
        <p:spPr>
          <a:xfrm>
            <a:off x="300000" y="1530000"/>
            <a:ext cx="8400000" cy="850000"/>
          </a:xfrm>
          <a:prstGeom prst="rect">
            <a:avLst/>
          </a:prstGeom>
          <a:noFill/>
        </p:spPr>
        <p:txBody>
          <a:bodyPr wrap="square" lIns="36000" tIns="36000" rIns="36000" bIns="36000">
            <a:noAutofit/>
          </a:bodyPr>
          <a:lstStyle/>
          <a:p>
            <a:pPr algn="l">
              <a:spcBef>
                <a:spcPts val="0"/>
              </a:spcBef>
              <a:buNone/>
            </a:pPr>
            <a:r>
              <a:rPr lang="en-GB" sz="1000" b="1">
                <a:solidFill>
                  <a:srgbClr val="3C3C3B"/>
                </a:solidFill>
                <a:latin typeface="Century Gothic"/>
              </a:rPr>
              <a:t>RAROC (Slide 16) - CRITICAL</a:t>
            </a:r>
          </a:p>
          <a:p>
            <a:pPr indent="-108000" marL="108000" algn="l">
              <a:spcBef>
                <a:spcPts val="200"/>
              </a:spcBef>
              <a:buClr>
                <a:srgbClr val="3C3C3B"/>
              </a:buClr>
              <a:buSzPts val="800"/>
              <a:buFont typeface="Arial"/>
              <a:buChar char="•"/>
            </a:pPr>
            <a:r>
              <a:rPr lang="en-GB" sz="800">
                <a:solidFill>
                  <a:srgbClr val="3C3C3B"/>
                </a:solidFill>
                <a:latin typeface="Century Gothic"/>
              </a:rPr>
              <a:t>SBP ICAAP requires risk-adjusted performance measurement</a:t>
            </a:r>
          </a:p>
          <a:p>
            <a:pPr indent="-108000" marL="108000" algn="l">
              <a:spcBef>
                <a:spcPts val="200"/>
              </a:spcBef>
              <a:buClr>
                <a:srgbClr val="3C3C3B"/>
              </a:buClr>
              <a:buSzPts val="800"/>
              <a:buFont typeface="Arial"/>
              <a:buChar char="•"/>
            </a:pPr>
            <a:r>
              <a:rPr lang="en-GB" sz="800">
                <a:solidFill>
                  <a:srgbClr val="3C3C3B"/>
                </a:solidFill>
                <a:latin typeface="Century Gothic"/>
              </a:rPr>
              <a:t>RWA by customer/product, IFRS 9 ECL, KIBOR-based FTP, capital allocation</a:t>
            </a:r>
          </a:p>
          <a:p>
            <a:pPr indent="-108000" marL="108000" algn="l">
              <a:spcBef>
                <a:spcPts val="200"/>
              </a:spcBef>
              <a:buClr>
                <a:srgbClr val="3C3C3B"/>
              </a:buClr>
              <a:buSzPts val="800"/>
              <a:buFont typeface="Arial"/>
              <a:buChar char="•"/>
            </a:pPr>
            <a:r>
              <a:rPr lang="en-GB" sz="800">
                <a:solidFill>
                  <a:srgbClr val="3C3C3B"/>
                </a:solidFill>
                <a:latin typeface="Century Gothic"/>
              </a:rPr>
              <a:t>Enables capital optimization - redirect from low-RAROC to high-RAROC segments</a:t>
            </a:r>
          </a:p>
        </p:txBody>
      </p:sp>
      <p:sp>
        <p:nvSpPr>
          <p:cNvPr id="9103" name="TextBox 9103"/>
          <p:cNvSpPr txBox="1"/>
          <p:nvPr/>
        </p:nvSpPr>
        <p:spPr>
          <a:xfrm>
            <a:off x="300000" y="2410000"/>
            <a:ext cx="8400000" cy="850000"/>
          </a:xfrm>
          <a:prstGeom prst="rect">
            <a:avLst/>
          </a:prstGeom>
          <a:noFill/>
        </p:spPr>
        <p:txBody>
          <a:bodyPr wrap="square" lIns="36000" tIns="36000" rIns="36000" bIns="36000">
            <a:noAutofit/>
          </a:bodyPr>
          <a:lstStyle/>
          <a:p>
            <a:pPr algn="l">
              <a:spcBef>
                <a:spcPts val="0"/>
              </a:spcBef>
              <a:buNone/>
            </a:pPr>
            <a:r>
              <a:rPr lang="en-GB" sz="1000" b="1">
                <a:solidFill>
                  <a:srgbClr val="3C3C3B"/>
                </a:solidFill>
                <a:latin typeface="Century Gothic"/>
              </a:rPr>
              <a:t>LIQUIDITY MANAGEMENT (Slide 24) - HIGH PRIORITY</a:t>
            </a:r>
          </a:p>
          <a:p>
            <a:pPr indent="-108000" marL="108000" algn="l">
              <a:spcBef>
                <a:spcPts val="200"/>
              </a:spcBef>
              <a:buClr>
                <a:srgbClr val="3C3C3B"/>
              </a:buClr>
              <a:buSzPts val="800"/>
              <a:buFont typeface="Arial"/>
              <a:buChar char="•"/>
            </a:pPr>
            <a:r>
              <a:rPr lang="en-GB" sz="800">
                <a:solidFill>
                  <a:srgbClr val="3C3C3B"/>
                </a:solidFill>
                <a:latin typeface="Century Gothic"/>
              </a:rPr>
              <a:t>SBP Basel III LCR/NSFR compliance required</a:t>
            </a:r>
          </a:p>
          <a:p>
            <a:pPr indent="-108000" marL="108000" algn="l">
              <a:spcBef>
                <a:spcPts val="200"/>
              </a:spcBef>
              <a:buClr>
                <a:srgbClr val="3C3C3B"/>
              </a:buClr>
              <a:buSzPts val="800"/>
              <a:buFont typeface="Arial"/>
              <a:buChar char="•"/>
            </a:pPr>
            <a:r>
              <a:rPr lang="en-GB" sz="800">
                <a:solidFill>
                  <a:srgbClr val="3C3C3B"/>
                </a:solidFill>
                <a:latin typeface="Century Gothic"/>
              </a:rPr>
              <a:t>RAAST real-time settlement changes intraday dynamics</a:t>
            </a:r>
          </a:p>
          <a:p>
            <a:pPr indent="-108000" marL="108000" algn="l">
              <a:spcBef>
                <a:spcPts val="200"/>
              </a:spcBef>
              <a:buClr>
                <a:srgbClr val="3C3C3B"/>
              </a:buClr>
              <a:buSzPts val="800"/>
              <a:buFont typeface="Arial"/>
              <a:buChar char="•"/>
            </a:pPr>
            <a:r>
              <a:rPr lang="en-GB" sz="800">
                <a:solidFill>
                  <a:srgbClr val="3C3C3B"/>
                </a:solidFill>
                <a:latin typeface="Century Gothic"/>
              </a:rPr>
              <a:t>HQLA portfolio (PKR 10T+ in PIBs/T-Bills), deposit maturity profiles</a:t>
            </a:r>
          </a:p>
        </p:txBody>
      </p:sp>
      <p:sp>
        <p:nvSpPr>
          <p:cNvPr id="9104" name="TextBox 9104"/>
          <p:cNvSpPr txBox="1"/>
          <p:nvPr/>
        </p:nvSpPr>
        <p:spPr>
          <a:xfrm>
            <a:off x="300000" y="3290000"/>
            <a:ext cx="8400000" cy="700000"/>
          </a:xfrm>
          <a:prstGeom prst="rect">
            <a:avLst/>
          </a:prstGeom>
          <a:noFill/>
        </p:spPr>
        <p:txBody>
          <a:bodyPr wrap="square" lIns="36000" tIns="36000" rIns="36000" bIns="36000">
            <a:noAutofit/>
          </a:bodyPr>
          <a:lstStyle/>
          <a:p>
            <a:pPr algn="l">
              <a:spcBef>
                <a:spcPts val="0"/>
              </a:spcBef>
              <a:buNone/>
            </a:pPr>
            <a:r>
              <a:rPr lang="en-GB" sz="1000" b="1">
                <a:solidFill>
                  <a:srgbClr val="3C3C3B"/>
                </a:solidFill>
                <a:latin typeface="Century Gothic"/>
              </a:rPr>
              <a:t>REGULATORY REPORTING (Slide 28) - HIGH PRIORITY</a:t>
            </a:r>
          </a:p>
          <a:p>
            <a:pPr indent="-108000" marL="108000" algn="l">
              <a:spcBef>
                <a:spcPts val="200"/>
              </a:spcBef>
              <a:buClr>
                <a:srgbClr val="3C3C3B"/>
              </a:buClr>
              <a:buSzPts val="800"/>
              <a:buFont typeface="Arial"/>
              <a:buChar char="•"/>
            </a:pPr>
            <a:r>
              <a:rPr lang="en-GB" sz="800">
                <a:solidFill>
                  <a:srgbClr val="3C3C3B"/>
                </a:solidFill>
                <a:latin typeface="Century Gothic"/>
              </a:rPr>
              <a:t>30+ SBP statutory returns largely manual - 40%+ of finance team bandwidth</a:t>
            </a:r>
          </a:p>
          <a:p>
            <a:pPr indent="-108000" marL="108000" algn="l">
              <a:spcBef>
                <a:spcPts val="200"/>
              </a:spcBef>
              <a:buClr>
                <a:srgbClr val="3C3C3B"/>
              </a:buClr>
              <a:buSzPts val="800"/>
              <a:buFont typeface="Arial"/>
              <a:buChar char="•"/>
            </a:pPr>
            <a:r>
              <a:rPr lang="en-GB" sz="800">
                <a:solidFill>
                  <a:srgbClr val="3C3C3B"/>
                </a:solidFill>
                <a:latin typeface="Century Gothic"/>
              </a:rPr>
              <a:t>GL, sub-ledger, customer, product data from 4-5 core banking systems</a:t>
            </a:r>
          </a:p>
        </p:txBody>
      </p:sp>
      <p:sp>
        <p:nvSpPr>
          <p:cNvPr id="9105" name="TextBox 9105"/>
          <p:cNvSpPr txBox="1"/>
          <p:nvPr/>
        </p:nvSpPr>
        <p:spPr>
          <a:xfrm>
            <a:off x="300000" y="4020000"/>
            <a:ext cx="8400000" cy="850000"/>
          </a:xfrm>
          <a:prstGeom prst="rect">
            <a:avLst/>
          </a:prstGeom>
          <a:noFill/>
        </p:spPr>
        <p:txBody>
          <a:bodyPr wrap="square" lIns="36000" tIns="36000" rIns="36000" bIns="36000">
            <a:noAutofit/>
          </a:bodyPr>
          <a:lstStyle/>
          <a:p>
            <a:pPr algn="l">
              <a:spcBef>
                <a:spcPts val="0"/>
              </a:spcBef>
              <a:buNone/>
            </a:pPr>
            <a:r>
              <a:rPr lang="en-GB" sz="1000" b="1">
                <a:solidFill>
                  <a:srgbClr val="3C3C3B"/>
                </a:solidFill>
                <a:latin typeface="Century Gothic"/>
              </a:rPr>
              <a:t>RECONCILIATION (Slide 9) / CLOSE PROCESS (Slide 11)</a:t>
            </a:r>
          </a:p>
          <a:p>
            <a:pPr indent="-108000" marL="108000" algn="l">
              <a:spcBef>
                <a:spcPts val="200"/>
              </a:spcBef>
              <a:buClr>
                <a:srgbClr val="3C3C3B"/>
              </a:buClr>
              <a:buSzPts val="800"/>
              <a:buFont typeface="Arial"/>
              <a:buChar char="•"/>
            </a:pPr>
            <a:r>
              <a:rPr lang="en-GB" sz="800">
                <a:solidFill>
                  <a:srgbClr val="3C3C3B"/>
                </a:solidFill>
                <a:latin typeface="Century Gothic"/>
              </a:rPr>
              <a:t>4-5 core systems generate fragmented GL - reconciliation consumes weeks</a:t>
            </a:r>
          </a:p>
          <a:p>
            <a:pPr indent="-108000" marL="108000" algn="l">
              <a:spcBef>
                <a:spcPts val="200"/>
              </a:spcBef>
              <a:buClr>
                <a:srgbClr val="3C3C3B"/>
              </a:buClr>
              <a:buSzPts val="800"/>
              <a:buFont typeface="Arial"/>
              <a:buChar char="•"/>
            </a:pPr>
            <a:r>
              <a:rPr lang="en-GB" sz="800">
                <a:solidFill>
                  <a:srgbClr val="3C3C3B"/>
                </a:solidFill>
                <a:latin typeface="Century Gothic"/>
              </a:rPr>
              <a:t>Monthly close takes 15-30 days vs. 3-5 day global benchmark</a:t>
            </a:r>
          </a:p>
          <a:p>
            <a:pPr indent="-108000" marL="108000" algn="l">
              <a:spcBef>
                <a:spcPts val="200"/>
              </a:spcBef>
              <a:buClr>
                <a:srgbClr val="3C3C3B"/>
              </a:buClr>
              <a:buSzPts val="800"/>
              <a:buFont typeface="Arial"/>
              <a:buChar char="•"/>
            </a:pPr>
            <a:r>
              <a:rPr lang="en-GB" sz="800">
                <a:solidFill>
                  <a:srgbClr val="3C3C3B"/>
                </a:solidFill>
                <a:latin typeface="Century Gothic"/>
              </a:rPr>
              <a:t>All GL/sub-ledger data centralized in FSDM data warehouse</a:t>
            </a:r>
          </a:p>
        </p:txBody>
      </p:sp>
    </p:spTree>
  </p:cSld>
  <p:clrMapOvr>
    <a:masterClrMapping/>
  </p:clrMapOvr>
</p:sld>
</file>

<file path=ppt/slides/slide6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9" name="Title"/>
          <p:cNvSpPr txBox="1"/>
          <p:nvPr>
            <p:ph type="title"/>
          </p:nvPr>
        </p:nvSpPr>
        <p:spPr>
          <a:xfrm>
            <a:off x="423872" y="164592"/>
            <a:ext cx="8262937" cy="378982"/>
          </a:xfrm>
          <a:prstGeom prst="rect">
            <a:avLst/>
          </a:prstGeom>
        </p:spPr>
        <p:txBody>
          <a:bodyPr anchor="b" lIns="0" tIns="0" rIns="0" bIns="0"/>
          <a:lstStyle/>
          <a:p>
            <a:pPr algn="l">
              <a:buNone/>
            </a:pPr>
            <a:r>
              <a:rPr lang="en-GB" sz="2000" b="1">
                <a:solidFill>
                  <a:schemeClr val="accent1"/>
                </a:solidFill>
                <a:latin typeface="Century Gothic"/>
              </a:rPr>
              <a:t>Finance Use Cases — Implementation Roadmap</a:t>
            </a:r>
          </a:p>
        </p:txBody>
      </p:sp>
      <p:sp>
        <p:nvSpPr>
          <p:cNvPr id="9200" name="Phase"/>
          <p:cNvSpPr/>
          <p:nvPr/>
        </p:nvSpPr>
        <p:spPr>
          <a:xfrm>
            <a:off x="200000" y="700000"/>
            <a:ext cx="2700000" cy="2800000"/>
          </a:xfrm>
          <a:prstGeom prst="roundRect">
            <a:avLst>
              <a:gd name="adj" fmla="val 8000"/>
            </a:avLst>
          </a:prstGeom>
          <a:solidFill>
            <a:srgbClr val="005AA4"/>
          </a:solidFill>
        </p:spPr>
        <p:txBody>
          <a:bodyPr wrap="square" lIns="54000" tIns="36000" rIns="54000" bIns="36000">
            <a:noAutofit/>
          </a:bodyPr>
          <a:lstStyle/>
          <a:p>
            <a:pPr algn="ctr"/>
            <a:r>
              <a:rPr lang="en-GB" sz="1000" b="1">
                <a:solidFill>
                  <a:srgbClr val="FFFFFF"/>
                </a:solidFill>
                <a:latin typeface="Century Gothic"/>
              </a:rPr>
              <a:t>Phase 1: Foundation (0-6 months)</a:t>
            </a:r>
          </a:p>
          <a:p>
            <a:pPr algn="l">
              <a:spcBef>
                <a:spcPts val="100"/>
              </a:spcBef>
              <a:buClr>
                <a:srgbClr val="FFFFFF"/>
              </a:buClr>
              <a:buSzPts val="700"/>
              <a:buFont typeface="Arial"/>
              <a:buChar char="•"/>
            </a:pPr>
            <a:r>
              <a:rPr lang="en-GB" sz="700">
                <a:solidFill>
                  <a:srgbClr val="FFFFFF"/>
                </a:solidFill>
                <a:latin typeface="Century Gothic"/>
              </a:rPr>
              <a:t>Recon, Close, Profitability</a:t>
            </a:r>
          </a:p>
          <a:p>
            <a:pPr algn="l">
              <a:spcBef>
                <a:spcPts val="100"/>
              </a:spcBef>
              <a:buClr>
                <a:srgbClr val="FFFFFF"/>
              </a:buClr>
              <a:buSzPts val="700"/>
              <a:buFont typeface="Arial"/>
              <a:buChar char="•"/>
            </a:pPr>
            <a:r>
              <a:rPr lang="en-GB" sz="700">
                <a:solidFill>
                  <a:srgbClr val="FFFFFF"/>
                </a:solidFill>
                <a:latin typeface="Century Gothic"/>
              </a:rPr>
              <a:t>Regulatory Reporting, KPI, Liquidity</a:t>
            </a:r>
          </a:p>
          <a:p>
            <a:pPr algn="l">
              <a:spcBef>
                <a:spcPts val="100"/>
              </a:spcBef>
              <a:buClr>
                <a:srgbClr val="FFFFFF"/>
              </a:buClr>
              <a:buSzPts val="700"/>
              <a:buFont typeface="Arial"/>
              <a:buChar char="•"/>
            </a:pPr>
            <a:r>
              <a:rPr lang="en-GB" sz="700">
                <a:solidFill>
                  <a:srgbClr val="FFFFFF"/>
                </a:solidFill>
                <a:latin typeface="Century Gothic"/>
              </a:rPr>
              <a:t>6 use cases | PKR 60-120M</a:t>
            </a:r>
          </a:p>
          <a:p>
            <a:pPr algn="l">
              <a:spcBef>
                <a:spcPts val="100"/>
              </a:spcBef>
              <a:buClr>
                <a:srgbClr val="FFFFFF"/>
              </a:buClr>
              <a:buSzPts val="700"/>
              <a:buFont typeface="Arial"/>
              <a:buChar char="•"/>
            </a:pPr>
            <a:r>
              <a:rPr lang="en-GB" sz="700">
                <a:solidFill>
                  <a:srgbClr val="FFFFFF"/>
                </a:solidFill>
                <a:latin typeface="Century Gothic"/>
              </a:rPr>
              <a:t>Quick Win: Close 30d to 15d</a:t>
            </a:r>
          </a:p>
          <a:p>
            <a:pPr algn="l">
              <a:spcBef>
                <a:spcPts val="100"/>
              </a:spcBef>
              <a:buClr>
                <a:srgbClr val="FFFFFF"/>
              </a:buClr>
              <a:buSzPts val="700"/>
              <a:buFont typeface="Arial"/>
              <a:buChar char="•"/>
            </a:pPr>
            <a:r>
              <a:rPr lang="en-GB" sz="700">
                <a:solidFill>
                  <a:srgbClr val="FFFFFF"/>
                </a:solidFill>
                <a:latin typeface="Century Gothic"/>
              </a:rPr>
              <a:t>Auto SBP top-5 returns</a:t>
            </a:r>
          </a:p>
        </p:txBody>
      </p:sp>
      <p:sp>
        <p:nvSpPr>
          <p:cNvPr id="9203" name="Arrow"/>
          <p:cNvSpPr/>
          <p:nvPr/>
        </p:nvSpPr>
        <p:spPr>
          <a:xfrm>
            <a:off x="2950000" y="2000000"/>
            <a:ext cx="200000" cy="200000"/>
          </a:xfrm>
          <a:prstGeom prst="rightArrow">
            <a:avLst/>
          </a:prstGeom>
          <a:solidFill>
            <a:srgbClr val="005AA4"/>
          </a:solidFill>
        </p:spPr>
        <p:txBody>
          <a:bodyPr/>
          <a:lstStyle/>
          <a:p>
            <a:endParaRPr/>
          </a:p>
        </p:txBody>
      </p:sp>
      <p:sp>
        <p:nvSpPr>
          <p:cNvPr id="9201" name="Phase"/>
          <p:cNvSpPr/>
          <p:nvPr/>
        </p:nvSpPr>
        <p:spPr>
          <a:xfrm>
            <a:off x="3200000" y="700000"/>
            <a:ext cx="2700000" cy="2800000"/>
          </a:xfrm>
          <a:prstGeom prst="roundRect">
            <a:avLst>
              <a:gd name="adj" fmla="val 8000"/>
            </a:avLst>
          </a:prstGeom>
          <a:solidFill>
            <a:srgbClr val="0079DB"/>
          </a:solidFill>
        </p:spPr>
        <p:txBody>
          <a:bodyPr wrap="square" lIns="54000" tIns="36000" rIns="54000" bIns="36000">
            <a:noAutofit/>
          </a:bodyPr>
          <a:lstStyle/>
          <a:p>
            <a:pPr algn="ctr"/>
            <a:r>
              <a:rPr lang="en-GB" sz="1000" b="1">
                <a:solidFill>
                  <a:srgbClr val="FFFFFF"/>
                </a:solidFill>
                <a:latin typeface="Century Gothic"/>
              </a:rPr>
              <a:t>Phase 2: Performance (6-18 months)</a:t>
            </a:r>
          </a:p>
          <a:p>
            <a:pPr algn="l">
              <a:spcBef>
                <a:spcPts val="100"/>
              </a:spcBef>
              <a:buClr>
                <a:srgbClr val="FFFFFF"/>
              </a:buClr>
              <a:buSzPts val="700"/>
              <a:buFont typeface="Arial"/>
              <a:buChar char="•"/>
            </a:pPr>
            <a:r>
              <a:rPr lang="en-GB" sz="700">
                <a:solidFill>
                  <a:srgbClr val="FFFFFF"/>
                </a:solidFill>
                <a:latin typeface="Century Gothic"/>
              </a:rPr>
              <a:t>RAROC, ABC, Revenue, Loan Pricing</a:t>
            </a:r>
          </a:p>
          <a:p>
            <a:pPr algn="l">
              <a:spcBef>
                <a:spcPts val="100"/>
              </a:spcBef>
              <a:buClr>
                <a:srgbClr val="FFFFFF"/>
              </a:buClr>
              <a:buSzPts val="700"/>
              <a:buFont typeface="Arial"/>
              <a:buChar char="•"/>
            </a:pPr>
            <a:r>
              <a:rPr lang="en-GB" sz="700">
                <a:solidFill>
                  <a:srgbClr val="FFFFFF"/>
                </a:solidFill>
                <a:latin typeface="Century Gothic"/>
              </a:rPr>
              <a:t>ALM, Budget, Consolidation</a:t>
            </a:r>
          </a:p>
          <a:p>
            <a:pPr algn="l">
              <a:spcBef>
                <a:spcPts val="100"/>
              </a:spcBef>
              <a:buClr>
                <a:srgbClr val="FFFFFF"/>
              </a:buClr>
              <a:buSzPts val="700"/>
              <a:buFont typeface="Arial"/>
              <a:buChar char="•"/>
            </a:pPr>
            <a:r>
              <a:rPr lang="en-GB" sz="700">
                <a:solidFill>
                  <a:srgbClr val="FFFFFF"/>
                </a:solidFill>
                <a:latin typeface="Century Gothic"/>
              </a:rPr>
              <a:t>Executive Hub, Sales, Reporting</a:t>
            </a:r>
          </a:p>
          <a:p>
            <a:pPr algn="l">
              <a:spcBef>
                <a:spcPts val="100"/>
              </a:spcBef>
              <a:buClr>
                <a:srgbClr val="FFFFFF"/>
              </a:buClr>
              <a:buSzPts val="700"/>
              <a:buFont typeface="Arial"/>
              <a:buChar char="•"/>
            </a:pPr>
            <a:r>
              <a:rPr lang="en-GB" sz="700">
                <a:solidFill>
                  <a:srgbClr val="FFFFFF"/>
                </a:solidFill>
                <a:latin typeface="Century Gothic"/>
              </a:rPr>
              <a:t>12 use cases | PKR 150-300M</a:t>
            </a:r>
          </a:p>
          <a:p>
            <a:pPr algn="l">
              <a:spcBef>
                <a:spcPts val="100"/>
              </a:spcBef>
              <a:buClr>
                <a:srgbClr val="FFFFFF"/>
              </a:buClr>
              <a:buSzPts val="700"/>
              <a:buFont typeface="Arial"/>
              <a:buChar char="•"/>
            </a:pPr>
            <a:r>
              <a:rPr lang="en-GB" sz="700">
                <a:solidFill>
                  <a:srgbClr val="FFFFFF"/>
                </a:solidFill>
                <a:latin typeface="Century Gothic"/>
              </a:rPr>
              <a:t>Customer/branch profitability</a:t>
            </a:r>
          </a:p>
        </p:txBody>
      </p:sp>
      <p:sp>
        <p:nvSpPr>
          <p:cNvPr id="9204" name="Arrow"/>
          <p:cNvSpPr/>
          <p:nvPr/>
        </p:nvSpPr>
        <p:spPr>
          <a:xfrm>
            <a:off x="5950000" y="2000000"/>
            <a:ext cx="200000" cy="200000"/>
          </a:xfrm>
          <a:prstGeom prst="rightArrow">
            <a:avLst/>
          </a:prstGeom>
          <a:solidFill>
            <a:srgbClr val="005AA4"/>
          </a:solidFill>
        </p:spPr>
        <p:txBody>
          <a:bodyPr/>
          <a:lstStyle/>
          <a:p>
            <a:endParaRPr/>
          </a:p>
        </p:txBody>
      </p:sp>
      <p:sp>
        <p:nvSpPr>
          <p:cNvPr id="9202" name="Phase"/>
          <p:cNvSpPr/>
          <p:nvPr/>
        </p:nvSpPr>
        <p:spPr>
          <a:xfrm>
            <a:off x="6200000" y="700000"/>
            <a:ext cx="2700000" cy="2800000"/>
          </a:xfrm>
          <a:prstGeom prst="roundRect">
            <a:avLst>
              <a:gd name="adj" fmla="val 8000"/>
            </a:avLst>
          </a:prstGeom>
          <a:solidFill>
            <a:srgbClr val="00A3E0"/>
          </a:solidFill>
        </p:spPr>
        <p:txBody>
          <a:bodyPr wrap="square" lIns="54000" tIns="36000" rIns="54000" bIns="36000">
            <a:noAutofit/>
          </a:bodyPr>
          <a:lstStyle/>
          <a:p>
            <a:pPr algn="ctr"/>
            <a:r>
              <a:rPr lang="en-GB" sz="1000" b="1">
                <a:solidFill>
                  <a:srgbClr val="FFFFFF"/>
                </a:solidFill>
                <a:latin typeface="Century Gothic"/>
              </a:rPr>
              <a:t>Phase 3: Advanced (18-36 months)</a:t>
            </a:r>
          </a:p>
          <a:p>
            <a:pPr algn="l">
              <a:spcBef>
                <a:spcPts val="100"/>
              </a:spcBef>
              <a:buClr>
                <a:srgbClr val="FFFFFF"/>
              </a:buClr>
              <a:buSzPts val="700"/>
              <a:buFont typeface="Arial"/>
              <a:buChar char="•"/>
            </a:pPr>
            <a:r>
              <a:rPr lang="en-GB" sz="700">
                <a:solidFill>
                  <a:srgbClr val="FFFFFF"/>
                </a:solidFill>
                <a:latin typeface="Century Gothic"/>
              </a:rPr>
              <a:t>Reserve Portfolio, Currency Hedge</a:t>
            </a:r>
          </a:p>
          <a:p>
            <a:pPr algn="l">
              <a:spcBef>
                <a:spcPts val="100"/>
              </a:spcBef>
              <a:buClr>
                <a:srgbClr val="FFFFFF"/>
              </a:buClr>
              <a:buSzPts val="700"/>
              <a:buFont typeface="Arial"/>
              <a:buChar char="•"/>
            </a:pPr>
            <a:r>
              <a:rPr lang="en-GB" sz="700">
                <a:solidFill>
                  <a:srgbClr val="FFFFFF"/>
                </a:solidFill>
                <a:latin typeface="Century Gothic"/>
              </a:rPr>
              <a:t>ABS, Vendor, Payables, P2P</a:t>
            </a:r>
          </a:p>
          <a:p>
            <a:pPr algn="l">
              <a:spcBef>
                <a:spcPts val="100"/>
              </a:spcBef>
              <a:buClr>
                <a:srgbClr val="FFFFFF"/>
              </a:buClr>
              <a:buSzPts val="700"/>
              <a:buFont typeface="Arial"/>
              <a:buChar char="•"/>
            </a:pPr>
            <a:r>
              <a:rPr lang="en-GB" sz="700">
                <a:solidFill>
                  <a:srgbClr val="FFFFFF"/>
                </a:solidFill>
                <a:latin typeface="Century Gothic"/>
              </a:rPr>
              <a:t>Fixed Assets, HR, Project</a:t>
            </a:r>
          </a:p>
          <a:p>
            <a:pPr algn="l">
              <a:spcBef>
                <a:spcPts val="100"/>
              </a:spcBef>
              <a:buClr>
                <a:srgbClr val="FFFFFF"/>
              </a:buClr>
              <a:buSzPts val="700"/>
              <a:buFont typeface="Arial"/>
              <a:buChar char="•"/>
            </a:pPr>
            <a:r>
              <a:rPr lang="en-GB" sz="700">
                <a:solidFill>
                  <a:srgbClr val="FFFFFF"/>
                </a:solidFill>
                <a:latin typeface="Century Gothic"/>
              </a:rPr>
              <a:t>13 use cases | PKR 200-400M</a:t>
            </a:r>
          </a:p>
          <a:p>
            <a:pPr algn="l">
              <a:spcBef>
                <a:spcPts val="100"/>
              </a:spcBef>
              <a:buClr>
                <a:srgbClr val="FFFFFF"/>
              </a:buClr>
              <a:buSzPts val="700"/>
              <a:buFont typeface="Arial"/>
              <a:buChar char="•"/>
            </a:pPr>
            <a:r>
              <a:rPr lang="en-GB" sz="700">
                <a:solidFill>
                  <a:srgbClr val="FFFFFF"/>
                </a:solidFill>
                <a:latin typeface="Century Gothic"/>
              </a:rPr>
              <a:t>Real-time treasury, predictive</a:t>
            </a:r>
          </a:p>
        </p:txBody>
      </p:sp>
      <p:sp>
        <p:nvSpPr>
          <p:cNvPr id="9205" name="InfoBar"/>
          <p:cNvSpPr/>
          <p:nvPr/>
        </p:nvSpPr>
        <p:spPr>
          <a:xfrm>
            <a:off x="200000" y="3700000"/>
            <a:ext cx="8700000" cy="350000"/>
          </a:xfrm>
          <a:prstGeom prst="rect">
            <a:avLst/>
          </a:prstGeom>
          <a:solidFill>
            <a:srgbClr val="005AA4"/>
          </a:solidFill>
        </p:spPr>
        <p:txBody>
          <a:bodyPr wrap="square" lIns="72000" tIns="36000" rIns="72000" bIns="36000">
            <a:noAutofit/>
          </a:bodyPr>
          <a:lstStyle/>
          <a:p>
            <a:pPr algn="l"/>
            <a:r>
              <a:rPr lang="en-GB" sz="800" b="1">
                <a:solidFill>
                  <a:srgbClr val="FFFFFF"/>
                </a:solidFill>
                <a:latin typeface="Century Gothic"/>
              </a:rPr>
              <a:t>Total Investment: PKR 410-820M over 36 months | ROI: 3-5x through profitability, efficiency, compliance</a:t>
            </a:r>
          </a:p>
        </p:txBody>
      </p:sp>
      <p:sp>
        <p:nvSpPr>
          <p:cNvPr id="9206" name="TextBox 9206"/>
          <p:cNvSpPr txBox="1"/>
          <p:nvPr/>
        </p:nvSpPr>
        <p:spPr>
          <a:xfrm>
            <a:off x="200000" y="4150000"/>
            <a:ext cx="8700000" cy="700000"/>
          </a:xfrm>
          <a:prstGeom prst="rect">
            <a:avLst/>
          </a:prstGeom>
          <a:noFill/>
        </p:spPr>
        <p:txBody>
          <a:bodyPr wrap="square" lIns="36000" tIns="36000" rIns="36000" bIns="36000">
            <a:noAutofit/>
          </a:bodyPr>
          <a:lstStyle/>
          <a:p>
            <a:pPr algn="l">
              <a:spcBef>
                <a:spcPts val="0"/>
              </a:spcBef>
              <a:buNone/>
            </a:pPr>
            <a:r>
              <a:rPr lang="en-GB" sz="1000" b="1">
                <a:solidFill>
                  <a:srgbClr val="005AA4"/>
                </a:solidFill>
                <a:latin typeface="Century Gothic"/>
              </a:rPr>
              <a:t>FSDM Data Foundation</a:t>
            </a:r>
          </a:p>
          <a:p>
            <a:pPr indent="-108000" marL="108000" algn="l">
              <a:spcBef>
                <a:spcPts val="200"/>
              </a:spcBef>
              <a:buClr>
                <a:srgbClr val="005AA4"/>
              </a:buClr>
              <a:buSzPts val="800"/>
              <a:buFont typeface="Arial"/>
              <a:buChar char="•"/>
            </a:pPr>
            <a:r>
              <a:rPr lang="en-GB" sz="800">
                <a:solidFill>
                  <a:srgbClr val="005AA4"/>
                </a:solidFill>
                <a:latin typeface="Century Gothic"/>
              </a:rPr>
              <a:t>All phases build on FSDM integrated data warehouse</a:t>
            </a:r>
          </a:p>
          <a:p>
            <a:pPr indent="-108000" marL="108000" algn="l">
              <a:spcBef>
                <a:spcPts val="200"/>
              </a:spcBef>
              <a:buClr>
                <a:srgbClr val="005AA4"/>
              </a:buClr>
              <a:buSzPts val="800"/>
              <a:buFont typeface="Arial"/>
              <a:buChar char="•"/>
            </a:pPr>
            <a:r>
              <a:rPr lang="en-GB" sz="800">
                <a:solidFill>
                  <a:srgbClr val="005AA4"/>
                </a:solidFill>
                <a:latin typeface="Century Gothic"/>
              </a:rPr>
              <a:t>UBL Customer Profitability Engine is the core analytical asset</a:t>
            </a:r>
          </a:p>
          <a:p>
            <a:pPr indent="-108000" marL="108000" algn="l">
              <a:spcBef>
                <a:spcPts val="200"/>
              </a:spcBef>
              <a:buClr>
                <a:srgbClr val="005AA4"/>
              </a:buClr>
              <a:buSzPts val="800"/>
              <a:buFont typeface="Arial"/>
              <a:buChar char="•"/>
            </a:pPr>
            <a:r>
              <a:rPr lang="en-GB" sz="800">
                <a:solidFill>
                  <a:srgbClr val="005AA4"/>
                </a:solidFill>
                <a:latin typeface="Century Gothic"/>
              </a:rPr>
              <a:t>Each phase delivers measurable business value before next phase starts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Teradata">
      <a:dk1>
        <a:srgbClr val="000000"/>
      </a:dk1>
      <a:lt1>
        <a:srgbClr val="FFFFFF"/>
      </a:lt1>
      <a:dk2>
        <a:srgbClr val="0079DB"/>
      </a:dk2>
      <a:lt2>
        <a:srgbClr val="D8D8D8"/>
      </a:lt2>
      <a:accent1>
        <a:srgbClr val="D56D23"/>
      </a:accent1>
      <a:accent2>
        <a:srgbClr val="BBBCBE"/>
      </a:accent2>
      <a:accent3>
        <a:srgbClr val="5F6062"/>
      </a:accent3>
      <a:accent4>
        <a:srgbClr val="0088A8"/>
      </a:accent4>
      <a:accent5>
        <a:srgbClr val="703092"/>
      </a:accent5>
      <a:accent6>
        <a:srgbClr val="CD391F"/>
      </a:accent6>
      <a:hlink>
        <a:srgbClr val="0079DB"/>
      </a:hlink>
      <a:folHlink>
        <a:srgbClr val="7030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TDC_PPT_16-9_1014-lite">
  <a:themeElements>
    <a:clrScheme name="TeradataPPT2014">
      <a:dk1>
        <a:srgbClr val="3C3C3B"/>
      </a:dk1>
      <a:lt1>
        <a:srgbClr val="FFFFFF"/>
      </a:lt1>
      <a:dk2>
        <a:srgbClr val="0079DB"/>
      </a:dk2>
      <a:lt2>
        <a:srgbClr val="D8D8D8"/>
      </a:lt2>
      <a:accent1>
        <a:srgbClr val="EC881D"/>
      </a:accent1>
      <a:accent2>
        <a:srgbClr val="0079DB"/>
      </a:accent2>
      <a:accent3>
        <a:srgbClr val="CD391F"/>
      </a:accent3>
      <a:accent4>
        <a:srgbClr val="0088A8"/>
      </a:accent4>
      <a:accent5>
        <a:srgbClr val="703092"/>
      </a:accent5>
      <a:accent6>
        <a:srgbClr val="5F6062"/>
      </a:accent6>
      <a:hlink>
        <a:srgbClr val="0079DB"/>
      </a:hlink>
      <a:folHlink>
        <a:srgbClr val="7030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