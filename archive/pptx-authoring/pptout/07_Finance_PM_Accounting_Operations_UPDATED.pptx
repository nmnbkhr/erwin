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7" r:id="rId5"/>
  </p:sldMasterIdLst>
  <p:notesMasterIdLst>
    <p:notesMasterId r:id="rId6"/>
  </p:notesMasterIdLst>
  <p:sldIdLst>
    <p:sldId id="484" r:id="rId59"/>
    <p:sldId id="485" r:id="rId60"/>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6" r:id="rId61"/>
  </p:sldIdLst>
  <p:sldSz cy="5143500" cx="9144000"/>
  <p:notesSz cx="6858000" cy="9945675"/>
  <p:embeddedFontLst>
    <p:embeddedFont>
      <p:font typeface="Noto Sans Symbols"/>
      <p:regular r:id="rId626"/>
      <p:bold r:id="rId627"/>
    </p:embeddedFont>
    <p:embeddedFont>
      <p:font typeface="Century Gothic"/>
      <p:regular r:id="rId628"/>
      <p:bold r:id="rId629"/>
      <p:italic r:id="rId630"/>
      <p:boldItalic r:id="rId6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guide id="3" pos="776">
          <p15:clr>
            <a:srgbClr val="A4A3A4"/>
          </p15:clr>
        </p15:guide>
        <p15:guide id="4" pos="1764">
          <p15:clr>
            <a:srgbClr val="A4A3A4"/>
          </p15:clr>
        </p15:guide>
        <p15:guide id="5" orient="horz" pos="2229">
          <p15:clr>
            <a:srgbClr val="A4A3A4"/>
          </p15:clr>
        </p15:guide>
        <p15:guide id="6" orient="horz" pos="3140">
          <p15:clr>
            <a:srgbClr val="A4A3A4"/>
          </p15:clr>
        </p15:guide>
        <p15:guide id="7" orient="horz" pos="311">
          <p15:clr>
            <a:srgbClr val="A4A3A4"/>
          </p15:clr>
        </p15:guide>
        <p15:guide id="8" orient="horz" pos="1593">
          <p15:clr>
            <a:srgbClr val="A4A3A4"/>
          </p15:clr>
        </p15:guide>
        <p15:guide id="9" pos="5696">
          <p15:clr>
            <a:srgbClr val="A4A3A4"/>
          </p15:clr>
        </p15:guide>
        <p15:guide id="10" pos="706">
          <p15:clr>
            <a:srgbClr val="A4A3A4"/>
          </p15:clr>
        </p15:guide>
        <p15:guide id="11" pos="2941">
          <p15:clr>
            <a:srgbClr val="A4A3A4"/>
          </p15:clr>
        </p15:guide>
        <p15:guide id="12" pos="91">
          <p15:clr>
            <a:srgbClr val="A4A3A4"/>
          </p15:clr>
        </p15:guide>
        <p15:guide id="13" orient="horz" pos="105">
          <p15:clr>
            <a:srgbClr val="000000"/>
          </p15:clr>
        </p15:guide>
        <p15:guide id="14" orient="horz" pos="1616">
          <p15:clr>
            <a:srgbClr val="000000"/>
          </p15:clr>
        </p15:guide>
        <p15:guide id="15" orient="horz" pos="567">
          <p15:clr>
            <a:srgbClr val="000000"/>
          </p15:clr>
        </p15:guide>
        <p15:guide id="16" orient="horz" pos="3034">
          <p15:clr>
            <a:srgbClr val="000000"/>
          </p15:clr>
        </p15:guide>
        <p15:guide id="17" orient="horz" pos="332">
          <p15:clr>
            <a:srgbClr val="000000"/>
          </p15:clr>
        </p15:guide>
        <p15:guide id="18" pos="239">
          <p15:clr>
            <a:srgbClr val="000000"/>
          </p15:clr>
        </p15:guide>
        <p15:guide id="19" pos="5557">
          <p15:clr>
            <a:srgbClr val="000000"/>
          </p15:clr>
        </p15:guide>
        <p15:guide id="20" pos="2914">
          <p15:clr>
            <a:srgbClr val="000000"/>
          </p15:clr>
        </p15:guide>
      </p15:sldGuideLst>
    </p:ext>
    <p:ext uri="{2D200454-40CA-4A62-9FC3-DE9A4176ACB9}">
      <p15:notesGuideLst>
        <p15:guide id="1" orient="horz" pos="2880">
          <p15:clr>
            <a:srgbClr val="A4A3A4"/>
          </p15:clr>
        </p15:guide>
        <p15:guide id="2" pos="2160">
          <p15:clr>
            <a:srgbClr val="A4A3A4"/>
          </p15:clr>
        </p15:guide>
        <p15:guide id="3" orient="horz" pos="3133">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098BFCB-6916-41F2-A2A5-0DF0D5139B6F}">
  <a:tblStyle styleId="{D098BFCB-6916-41F2-A2A5-0DF0D5139B6F}" styleName="Table_0">
    <a:wholeTbl>
      <a:tcTxStyle b="off" i="off">
        <a:font>
          <a:latin typeface="Century Gothic"/>
          <a:ea typeface="Century Gothic"/>
          <a:cs typeface="Century Gothic"/>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BEDE7"/>
          </a:solidFill>
        </a:fill>
      </a:tcStyle>
    </a:wholeTbl>
    <a:band1H>
      <a:tcTxStyle/>
      <a:tcStyle>
        <a:fill>
          <a:solidFill>
            <a:srgbClr val="F8D9CB"/>
          </a:solidFill>
        </a:fill>
      </a:tcStyle>
    </a:band1H>
    <a:band2H>
      <a:tcTxStyle/>
    </a:band2H>
    <a:band1V>
      <a:tcTxStyle/>
      <a:tcStyle>
        <a:fill>
          <a:solidFill>
            <a:srgbClr val="F8D9CB"/>
          </a:solidFill>
        </a:fill>
      </a:tcStyle>
    </a:band1V>
    <a:band2V>
      <a:tcTxStyle/>
    </a:band2V>
    <a:lastCol>
      <a:tcTxStyle b="on" i="off">
        <a:font>
          <a:latin typeface="Century Gothic"/>
          <a:ea typeface="Century Gothic"/>
          <a:cs typeface="Century Gothic"/>
        </a:font>
        <a:schemeClr val="lt1"/>
      </a:tcTxStyle>
      <a:tcStyle>
        <a:fill>
          <a:solidFill>
            <a:schemeClr val="accent1"/>
          </a:solidFill>
        </a:fill>
      </a:tcStyle>
    </a:lastCol>
    <a:firstCol>
      <a:tcTxStyle b="on" i="off">
        <a:font>
          <a:latin typeface="Century Gothic"/>
          <a:ea typeface="Century Gothic"/>
          <a:cs typeface="Century Gothic"/>
        </a:font>
        <a:schemeClr val="lt1"/>
      </a:tcTxStyle>
      <a:tcStyle>
        <a:fill>
          <a:solidFill>
            <a:schemeClr val="accent1"/>
          </a:solidFill>
        </a:fill>
      </a:tcStyle>
    </a:firstCol>
    <a:lastRow>
      <a:tcTxStyle b="on" i="off">
        <a:font>
          <a:latin typeface="Century Gothic"/>
          <a:ea typeface="Century Gothic"/>
          <a:cs typeface="Century Gothic"/>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entury Gothic"/>
          <a:ea typeface="Century Gothic"/>
          <a:cs typeface="Century Gothic"/>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 pos="776"/>
        <p:guide pos="1764"/>
        <p:guide pos="2229" orient="horz"/>
        <p:guide pos="3140" orient="horz"/>
        <p:guide pos="311" orient="horz"/>
        <p:guide pos="1593" orient="horz"/>
        <p:guide pos="5696"/>
        <p:guide pos="706"/>
        <p:guide pos="2941"/>
        <p:guide pos="91"/>
        <p:guide pos="105" orient="horz"/>
        <p:guide pos="1616" orient="horz"/>
        <p:guide pos="567" orient="horz"/>
        <p:guide pos="3034" orient="horz"/>
        <p:guide pos="332" orient="horz"/>
        <p:guide pos="239"/>
        <p:guide pos="5557"/>
        <p:guide pos="2914"/>
      </p:guideLst>
    </p:cSldViewPr>
  </p:slideViewPr>
  <p:notesViewPr>
    <p:cSldViewPr snapToGrid="0">
      <p:cViewPr varScale="1">
        <p:scale>
          <a:sx n="100" d="100"/>
          <a:sy n="100" d="100"/>
        </p:scale>
        <p:origin x="0" y="0"/>
      </p:cViewPr>
      <p:guideLst>
        <p:guide pos="2880" orient="horz"/>
        <p:guide pos="2160"/>
        <p:guide pos="3133" orient="horz"/>
      </p:guideLst>
    </p:cSldViewPr>
  </p:notes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59" Type="http://schemas.openxmlformats.org/officeDocument/2006/relationships/slide" Target="slides/slide47.xml"/><Relationship Id="rId60" Type="http://schemas.openxmlformats.org/officeDocument/2006/relationships/slide" Target="slides/slide48.xml"/><Relationship Id="rId61" Type="http://schemas.openxmlformats.org/officeDocument/2006/relationships/slide" Target="slides/slide49.xml"/><Relationship Id="rId189" Type="http://schemas.openxmlformats.org/officeDocument/2006/relationships/slide" Target="slides/slide1.xml"/><Relationship Id="rId190" Type="http://schemas.openxmlformats.org/officeDocument/2006/relationships/slide" Target="slides/slide2.xml"/><Relationship Id="rId191" Type="http://schemas.openxmlformats.org/officeDocument/2006/relationships/slide" Target="slides/slide3.xml"/><Relationship Id="rId192" Type="http://schemas.openxmlformats.org/officeDocument/2006/relationships/slide" Target="slides/slide4.xml"/><Relationship Id="rId193" Type="http://schemas.openxmlformats.org/officeDocument/2006/relationships/slide" Target="slides/slide5.xml"/><Relationship Id="rId194" Type="http://schemas.openxmlformats.org/officeDocument/2006/relationships/slide" Target="slides/slide6.xml"/><Relationship Id="rId195" Type="http://schemas.openxmlformats.org/officeDocument/2006/relationships/slide" Target="slides/slide7.xml"/><Relationship Id="rId196" Type="http://schemas.openxmlformats.org/officeDocument/2006/relationships/slide" Target="slides/slide8.xml"/><Relationship Id="rId197" Type="http://schemas.openxmlformats.org/officeDocument/2006/relationships/slide" Target="slides/slide9.xml"/><Relationship Id="rId198" Type="http://schemas.openxmlformats.org/officeDocument/2006/relationships/slide" Target="slides/slide10.xml"/><Relationship Id="rId199" Type="http://schemas.openxmlformats.org/officeDocument/2006/relationships/slide" Target="slides/slide11.xml"/><Relationship Id="rId200" Type="http://schemas.openxmlformats.org/officeDocument/2006/relationships/slide" Target="slides/slide12.xml"/><Relationship Id="rId201" Type="http://schemas.openxmlformats.org/officeDocument/2006/relationships/slide" Target="slides/slide13.xml"/><Relationship Id="rId202" Type="http://schemas.openxmlformats.org/officeDocument/2006/relationships/slide" Target="slides/slide14.xml"/><Relationship Id="rId203" Type="http://schemas.openxmlformats.org/officeDocument/2006/relationships/slide" Target="slides/slide15.xml"/><Relationship Id="rId204" Type="http://schemas.openxmlformats.org/officeDocument/2006/relationships/slide" Target="slides/slide16.xml"/><Relationship Id="rId205" Type="http://schemas.openxmlformats.org/officeDocument/2006/relationships/slide" Target="slides/slide17.xml"/><Relationship Id="rId206" Type="http://schemas.openxmlformats.org/officeDocument/2006/relationships/slide" Target="slides/slide18.xml"/><Relationship Id="rId207" Type="http://schemas.openxmlformats.org/officeDocument/2006/relationships/slide" Target="slides/slide19.xml"/><Relationship Id="rId208" Type="http://schemas.openxmlformats.org/officeDocument/2006/relationships/slide" Target="slides/slide20.xml"/><Relationship Id="rId209" Type="http://schemas.openxmlformats.org/officeDocument/2006/relationships/slide" Target="slides/slide21.xml"/><Relationship Id="rId210" Type="http://schemas.openxmlformats.org/officeDocument/2006/relationships/slide" Target="slides/slide22.xml"/><Relationship Id="rId211" Type="http://schemas.openxmlformats.org/officeDocument/2006/relationships/slide" Target="slides/slide23.xml"/><Relationship Id="rId212" Type="http://schemas.openxmlformats.org/officeDocument/2006/relationships/slide" Target="slides/slide24.xml"/><Relationship Id="rId213" Type="http://schemas.openxmlformats.org/officeDocument/2006/relationships/slide" Target="slides/slide25.xml"/><Relationship Id="rId214" Type="http://schemas.openxmlformats.org/officeDocument/2006/relationships/slide" Target="slides/slide26.xml"/><Relationship Id="rId215" Type="http://schemas.openxmlformats.org/officeDocument/2006/relationships/slide" Target="slides/slide27.xml"/><Relationship Id="rId216" Type="http://schemas.openxmlformats.org/officeDocument/2006/relationships/slide" Target="slides/slide28.xml"/><Relationship Id="rId217" Type="http://schemas.openxmlformats.org/officeDocument/2006/relationships/slide" Target="slides/slide29.xml"/><Relationship Id="rId218" Type="http://schemas.openxmlformats.org/officeDocument/2006/relationships/slide" Target="slides/slide30.xml"/><Relationship Id="rId219" Type="http://schemas.openxmlformats.org/officeDocument/2006/relationships/slide" Target="slides/slide31.xml"/><Relationship Id="rId220" Type="http://schemas.openxmlformats.org/officeDocument/2006/relationships/slide" Target="slides/slide32.xml"/><Relationship Id="rId221" Type="http://schemas.openxmlformats.org/officeDocument/2006/relationships/slide" Target="slides/slide33.xml"/><Relationship Id="rId222" Type="http://schemas.openxmlformats.org/officeDocument/2006/relationships/slide" Target="slides/slide34.xml"/><Relationship Id="rId223" Type="http://schemas.openxmlformats.org/officeDocument/2006/relationships/slide" Target="slides/slide35.xml"/><Relationship Id="rId224" Type="http://schemas.openxmlformats.org/officeDocument/2006/relationships/slide" Target="slides/slide36.xml"/><Relationship Id="rId225" Type="http://schemas.openxmlformats.org/officeDocument/2006/relationships/slide" Target="slides/slide37.xml"/><Relationship Id="rId226" Type="http://schemas.openxmlformats.org/officeDocument/2006/relationships/slide" Target="slides/slide38.xml"/><Relationship Id="rId227" Type="http://schemas.openxmlformats.org/officeDocument/2006/relationships/slide" Target="slides/slide39.xml"/><Relationship Id="rId228" Type="http://schemas.openxmlformats.org/officeDocument/2006/relationships/slide" Target="slides/slide40.xml"/><Relationship Id="rId229" Type="http://schemas.openxmlformats.org/officeDocument/2006/relationships/slide" Target="slides/slide41.xml"/><Relationship Id="rId230" Type="http://schemas.openxmlformats.org/officeDocument/2006/relationships/slide" Target="slides/slide42.xml"/><Relationship Id="rId231" Type="http://schemas.openxmlformats.org/officeDocument/2006/relationships/slide" Target="slides/slide43.xml"/><Relationship Id="rId232" Type="http://schemas.openxmlformats.org/officeDocument/2006/relationships/slide" Target="slides/slide44.xml"/><Relationship Id="rId233" Type="http://schemas.openxmlformats.org/officeDocument/2006/relationships/slide" Target="slides/slide45.xml"/><Relationship Id="rId234" Type="http://schemas.openxmlformats.org/officeDocument/2006/relationships/slide" Target="slides/slide46.xml"/><Relationship Id="rId626" Type="http://schemas.openxmlformats.org/officeDocument/2006/relationships/font" Target="fonts/NotoSansSymbols-regular.fntdata"/><Relationship Id="rId627" Type="http://schemas.openxmlformats.org/officeDocument/2006/relationships/font" Target="fonts/NotoSansSymbols-bold.fntdata"/><Relationship Id="rId628" Type="http://schemas.openxmlformats.org/officeDocument/2006/relationships/font" Target="fonts/CenturyGothic-regular.fntdata"/><Relationship Id="rId629" Type="http://schemas.openxmlformats.org/officeDocument/2006/relationships/font" Target="fonts/CenturyGothic-bold.fntdata"/><Relationship Id="rId630" Type="http://schemas.openxmlformats.org/officeDocument/2006/relationships/font" Target="fonts/CenturyGothic-italic.fntdata"/><Relationship Id="rId631" Type="http://schemas.openxmlformats.org/officeDocument/2006/relationships/font" Target="fonts/CenturyGothic-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9728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4" name="Google Shape;4;n"/>
          <p:cNvSpPr txBox="1"/>
          <p:nvPr>
            <p:ph idx="10" type="dt"/>
          </p:nvPr>
        </p:nvSpPr>
        <p:spPr>
          <a:xfrm>
            <a:off x="3884613" y="0"/>
            <a:ext cx="2971800" cy="497284"/>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5" name="Google Shape;5;n"/>
          <p:cNvSpPr/>
          <p:nvPr>
            <p:ph idx="3"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lvl1pPr indent="-304800" lvl="0" marL="457200" marR="0" rtl="0" algn="l">
              <a:lnSpc>
                <a:spcPct val="95000"/>
              </a:lnSpc>
              <a:spcBef>
                <a:spcPts val="400"/>
              </a:spcBef>
              <a:spcAft>
                <a:spcPts val="0"/>
              </a:spcAft>
              <a:buClr>
                <a:schemeClr val="dk1"/>
              </a:buClr>
              <a:buSzPts val="1200"/>
              <a:buFont typeface="Arial"/>
              <a:buChar char="•"/>
              <a:defRPr b="0" i="0" sz="1200" u="none" cap="none" strike="noStrike">
                <a:solidFill>
                  <a:schemeClr val="dk1"/>
                </a:solidFill>
                <a:latin typeface="Century Gothic"/>
                <a:ea typeface="Century Gothic"/>
                <a:cs typeface="Century Gothic"/>
                <a:sym typeface="Century Gothic"/>
              </a:defRPr>
            </a:lvl1pPr>
            <a:lvl2pPr indent="-304800" lvl="1" marL="914400" marR="0" rtl="0" algn="l">
              <a:lnSpc>
                <a:spcPct val="85000"/>
              </a:lnSpc>
              <a:spcBef>
                <a:spcPts val="100"/>
              </a:spcBef>
              <a:spcAft>
                <a:spcPts val="0"/>
              </a:spcAft>
              <a:buClr>
                <a:schemeClr val="dk1"/>
              </a:buClr>
              <a:buSzPts val="1200"/>
              <a:buFont typeface="Arial"/>
              <a:buChar char="•"/>
              <a:defRPr b="0" i="0" sz="1200" u="none" cap="none" strike="noStrike">
                <a:solidFill>
                  <a:schemeClr val="dk1"/>
                </a:solidFill>
                <a:latin typeface="Century Gothic"/>
                <a:ea typeface="Century Gothic"/>
                <a:cs typeface="Century Gothic"/>
                <a:sym typeface="Century Gothic"/>
              </a:defRPr>
            </a:lvl2pPr>
            <a:lvl3pPr indent="-304800" lvl="2" marL="1371600" marR="0" rtl="0" algn="l">
              <a:lnSpc>
                <a:spcPct val="85000"/>
              </a:lnSpc>
              <a:spcBef>
                <a:spcPts val="100"/>
              </a:spcBef>
              <a:spcAft>
                <a:spcPts val="0"/>
              </a:spcAft>
              <a:buClr>
                <a:schemeClr val="dk1"/>
              </a:buClr>
              <a:buSzPts val="1200"/>
              <a:buFont typeface="Arial"/>
              <a:buChar char="•"/>
              <a:defRPr b="0" i="0" sz="1200" u="none" cap="none" strike="noStrike">
                <a:solidFill>
                  <a:schemeClr val="dk1"/>
                </a:solidFill>
                <a:latin typeface="Century Gothic"/>
                <a:ea typeface="Century Gothic"/>
                <a:cs typeface="Century Gothic"/>
                <a:sym typeface="Century Gothic"/>
              </a:defRPr>
            </a:lvl3pPr>
            <a:lvl4pPr indent="-304800" lvl="3" marL="1828800" marR="0" rtl="0" algn="l">
              <a:lnSpc>
                <a:spcPct val="85000"/>
              </a:lnSpc>
              <a:spcBef>
                <a:spcPts val="100"/>
              </a:spcBef>
              <a:spcAft>
                <a:spcPts val="0"/>
              </a:spcAft>
              <a:buClr>
                <a:schemeClr val="dk1"/>
              </a:buClr>
              <a:buSzPts val="1200"/>
              <a:buFont typeface="Arial"/>
              <a:buChar char="•"/>
              <a:defRPr b="0" i="0" sz="1200" u="none" cap="none" strike="noStrike">
                <a:solidFill>
                  <a:schemeClr val="dk1"/>
                </a:solidFill>
                <a:latin typeface="Century Gothic"/>
                <a:ea typeface="Century Gothic"/>
                <a:cs typeface="Century Gothic"/>
                <a:sym typeface="Century Gothic"/>
              </a:defRPr>
            </a:lvl4pPr>
            <a:lvl5pPr indent="-304800" lvl="4" marL="2286000" marR="0" rtl="0" algn="l">
              <a:lnSpc>
                <a:spcPct val="85000"/>
              </a:lnSpc>
              <a:spcBef>
                <a:spcPts val="100"/>
              </a:spcBef>
              <a:spcAft>
                <a:spcPts val="0"/>
              </a:spcAft>
              <a:buClr>
                <a:schemeClr val="dk1"/>
              </a:buClr>
              <a:buSzPts val="1200"/>
              <a:buFont typeface="Arial"/>
              <a:buChar char="•"/>
              <a:defRPr b="0" i="0" sz="1200" u="none" cap="none" strike="noStrike">
                <a:solidFill>
                  <a:schemeClr val="dk1"/>
                </a:solidFill>
                <a:latin typeface="Century Gothic"/>
                <a:ea typeface="Century Gothic"/>
                <a:cs typeface="Century Gothic"/>
                <a:sym typeface="Century Gothic"/>
              </a:defRPr>
            </a:lvl5pPr>
            <a:lvl6pPr indent="-228600" lvl="5" marL="2743200" marR="0" rtl="0" algn="l">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6pPr>
            <a:lvl7pPr indent="-228600" lvl="6" marL="3200400" marR="0" rtl="0" algn="l">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7pPr>
            <a:lvl8pPr indent="-228600" lvl="7" marL="3657600" marR="0" rtl="0" algn="l">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8pPr>
            <a:lvl9pPr indent="-228600" lvl="8" marL="4114800" marR="0" rtl="0" algn="l">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9pPr>
          </a:lstStyle>
          <a:p/>
        </p:txBody>
      </p:sp>
      <p:sp>
        <p:nvSpPr>
          <p:cNvPr id="7" name="Google Shape;7;n"/>
          <p:cNvSpPr txBox="1"/>
          <p:nvPr/>
        </p:nvSpPr>
        <p:spPr>
          <a:xfrm>
            <a:off x="286468" y="9509858"/>
            <a:ext cx="109004" cy="107722"/>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GB" sz="700" u="none" cap="none" strike="noStrike">
                <a:solidFill>
                  <a:schemeClr val="lt2"/>
                </a:solidFill>
                <a:latin typeface="Century Gothic"/>
                <a:ea typeface="Century Gothic"/>
                <a:cs typeface="Century Gothic"/>
                <a:sym typeface="Century Gothic"/>
              </a:rPr>
              <a:t>‹#›</a:t>
            </a:fld>
            <a:endParaRPr b="0" i="0" sz="700" u="none" cap="none" strike="noStrike">
              <a:solidFill>
                <a:schemeClr val="lt2"/>
              </a:solidFill>
              <a:latin typeface="Century Gothic"/>
              <a:ea typeface="Century Gothic"/>
              <a:cs typeface="Century Gothic"/>
              <a:sym typeface="Century Gothic"/>
            </a:endParaRPr>
          </a:p>
        </p:txBody>
      </p:sp>
      <p:grpSp>
        <p:nvGrpSpPr>
          <p:cNvPr id="8" name="Google Shape;8;n"/>
          <p:cNvGrpSpPr/>
          <p:nvPr/>
        </p:nvGrpSpPr>
        <p:grpSpPr>
          <a:xfrm>
            <a:off x="6010878" y="9504586"/>
            <a:ext cx="531812" cy="129502"/>
            <a:chOff x="5137" y="4139"/>
            <a:chExt cx="335" cy="75"/>
          </a:xfrm>
        </p:grpSpPr>
        <p:sp>
          <p:nvSpPr>
            <p:cNvPr id="9" name="Google Shape;9;n"/>
            <p:cNvSpPr/>
            <p:nvPr/>
          </p:nvSpPr>
          <p:spPr>
            <a:xfrm>
              <a:off x="5137" y="4139"/>
              <a:ext cx="324" cy="75"/>
            </a:xfrm>
            <a:custGeom>
              <a:rect b="b" l="l" r="r" t="t"/>
              <a:pathLst>
                <a:path extrusionOk="0" h="863" w="3745">
                  <a:moveTo>
                    <a:pt x="660" y="0"/>
                  </a:moveTo>
                  <a:lnTo>
                    <a:pt x="660" y="0"/>
                  </a:lnTo>
                  <a:lnTo>
                    <a:pt x="22" y="0"/>
                  </a:lnTo>
                  <a:lnTo>
                    <a:pt x="0" y="73"/>
                  </a:lnTo>
                  <a:lnTo>
                    <a:pt x="292" y="73"/>
                  </a:lnTo>
                  <a:lnTo>
                    <a:pt x="292" y="804"/>
                  </a:lnTo>
                  <a:cubicBezTo>
                    <a:pt x="292" y="843"/>
                    <a:pt x="316" y="863"/>
                    <a:pt x="360" y="863"/>
                  </a:cubicBezTo>
                  <a:lnTo>
                    <a:pt x="399" y="863"/>
                  </a:lnTo>
                  <a:lnTo>
                    <a:pt x="399" y="73"/>
                  </a:lnTo>
                  <a:lnTo>
                    <a:pt x="637" y="73"/>
                  </a:lnTo>
                  <a:lnTo>
                    <a:pt x="660" y="0"/>
                  </a:lnTo>
                  <a:lnTo>
                    <a:pt x="660" y="0"/>
                  </a:lnTo>
                  <a:close/>
                  <a:moveTo>
                    <a:pt x="2673" y="181"/>
                  </a:moveTo>
                  <a:lnTo>
                    <a:pt x="2673" y="181"/>
                  </a:lnTo>
                  <a:cubicBezTo>
                    <a:pt x="2647" y="181"/>
                    <a:pt x="2626" y="190"/>
                    <a:pt x="2621" y="203"/>
                  </a:cubicBezTo>
                  <a:lnTo>
                    <a:pt x="2408" y="768"/>
                  </a:lnTo>
                  <a:lnTo>
                    <a:pt x="2448" y="768"/>
                  </a:lnTo>
                  <a:cubicBezTo>
                    <a:pt x="2491" y="768"/>
                    <a:pt x="2509" y="764"/>
                    <a:pt x="2522" y="729"/>
                  </a:cubicBezTo>
                  <a:lnTo>
                    <a:pt x="2570" y="596"/>
                  </a:lnTo>
                  <a:lnTo>
                    <a:pt x="2698" y="596"/>
                  </a:lnTo>
                  <a:lnTo>
                    <a:pt x="2679" y="533"/>
                  </a:lnTo>
                  <a:lnTo>
                    <a:pt x="2590" y="533"/>
                  </a:lnTo>
                  <a:lnTo>
                    <a:pt x="2669" y="310"/>
                  </a:lnTo>
                  <a:lnTo>
                    <a:pt x="2812" y="729"/>
                  </a:lnTo>
                  <a:cubicBezTo>
                    <a:pt x="2824" y="764"/>
                    <a:pt x="2845" y="768"/>
                    <a:pt x="2891" y="768"/>
                  </a:cubicBezTo>
                  <a:lnTo>
                    <a:pt x="2941" y="768"/>
                  </a:lnTo>
                  <a:lnTo>
                    <a:pt x="2725" y="203"/>
                  </a:lnTo>
                  <a:cubicBezTo>
                    <a:pt x="2720" y="190"/>
                    <a:pt x="2697" y="181"/>
                    <a:pt x="2673" y="181"/>
                  </a:cubicBezTo>
                  <a:close/>
                  <a:moveTo>
                    <a:pt x="3529" y="203"/>
                  </a:moveTo>
                  <a:lnTo>
                    <a:pt x="3529" y="203"/>
                  </a:lnTo>
                  <a:cubicBezTo>
                    <a:pt x="3524" y="190"/>
                    <a:pt x="3501" y="181"/>
                    <a:pt x="3477" y="181"/>
                  </a:cubicBezTo>
                  <a:cubicBezTo>
                    <a:pt x="3451" y="181"/>
                    <a:pt x="3430" y="190"/>
                    <a:pt x="3425" y="203"/>
                  </a:cubicBezTo>
                  <a:lnTo>
                    <a:pt x="3212" y="768"/>
                  </a:lnTo>
                  <a:lnTo>
                    <a:pt x="3252" y="768"/>
                  </a:lnTo>
                  <a:cubicBezTo>
                    <a:pt x="3294" y="768"/>
                    <a:pt x="3313" y="764"/>
                    <a:pt x="3326" y="729"/>
                  </a:cubicBezTo>
                  <a:lnTo>
                    <a:pt x="3374" y="596"/>
                  </a:lnTo>
                  <a:lnTo>
                    <a:pt x="3502" y="596"/>
                  </a:lnTo>
                  <a:lnTo>
                    <a:pt x="3483" y="533"/>
                  </a:lnTo>
                  <a:lnTo>
                    <a:pt x="3394" y="533"/>
                  </a:lnTo>
                  <a:lnTo>
                    <a:pt x="3473" y="310"/>
                  </a:lnTo>
                  <a:lnTo>
                    <a:pt x="3616" y="729"/>
                  </a:lnTo>
                  <a:cubicBezTo>
                    <a:pt x="3628" y="764"/>
                    <a:pt x="3649" y="768"/>
                    <a:pt x="3695" y="768"/>
                  </a:cubicBezTo>
                  <a:lnTo>
                    <a:pt x="3745" y="768"/>
                  </a:lnTo>
                  <a:lnTo>
                    <a:pt x="3529" y="203"/>
                  </a:lnTo>
                  <a:lnTo>
                    <a:pt x="3529" y="203"/>
                  </a:lnTo>
                  <a:close/>
                  <a:moveTo>
                    <a:pt x="1655" y="181"/>
                  </a:moveTo>
                  <a:lnTo>
                    <a:pt x="1655" y="181"/>
                  </a:lnTo>
                  <a:cubicBezTo>
                    <a:pt x="1630" y="181"/>
                    <a:pt x="1608" y="190"/>
                    <a:pt x="1603" y="203"/>
                  </a:cubicBezTo>
                  <a:lnTo>
                    <a:pt x="1399" y="746"/>
                  </a:lnTo>
                  <a:lnTo>
                    <a:pt x="1247" y="515"/>
                  </a:lnTo>
                  <a:cubicBezTo>
                    <a:pt x="1327" y="501"/>
                    <a:pt x="1374" y="459"/>
                    <a:pt x="1374" y="387"/>
                  </a:cubicBezTo>
                  <a:lnTo>
                    <a:pt x="1374" y="336"/>
                  </a:lnTo>
                  <a:cubicBezTo>
                    <a:pt x="1374" y="232"/>
                    <a:pt x="1277" y="189"/>
                    <a:pt x="1149" y="189"/>
                  </a:cubicBezTo>
                  <a:lnTo>
                    <a:pt x="969" y="189"/>
                  </a:lnTo>
                  <a:lnTo>
                    <a:pt x="969" y="704"/>
                  </a:lnTo>
                  <a:lnTo>
                    <a:pt x="737" y="704"/>
                  </a:lnTo>
                  <a:cubicBezTo>
                    <a:pt x="646" y="704"/>
                    <a:pt x="625" y="684"/>
                    <a:pt x="625" y="590"/>
                  </a:cubicBezTo>
                  <a:lnTo>
                    <a:pt x="625" y="488"/>
                  </a:lnTo>
                  <a:lnTo>
                    <a:pt x="797" y="488"/>
                  </a:lnTo>
                  <a:lnTo>
                    <a:pt x="816" y="424"/>
                  </a:lnTo>
                  <a:lnTo>
                    <a:pt x="625" y="424"/>
                  </a:lnTo>
                  <a:lnTo>
                    <a:pt x="625" y="253"/>
                  </a:lnTo>
                  <a:lnTo>
                    <a:pt x="878" y="253"/>
                  </a:lnTo>
                  <a:lnTo>
                    <a:pt x="897" y="189"/>
                  </a:lnTo>
                  <a:lnTo>
                    <a:pt x="520" y="189"/>
                  </a:lnTo>
                  <a:lnTo>
                    <a:pt x="520" y="590"/>
                  </a:lnTo>
                  <a:cubicBezTo>
                    <a:pt x="520" y="724"/>
                    <a:pt x="552" y="768"/>
                    <a:pt x="735" y="768"/>
                  </a:cubicBezTo>
                  <a:lnTo>
                    <a:pt x="1074" y="766"/>
                  </a:lnTo>
                  <a:lnTo>
                    <a:pt x="1074" y="253"/>
                  </a:lnTo>
                  <a:lnTo>
                    <a:pt x="1149" y="253"/>
                  </a:lnTo>
                  <a:cubicBezTo>
                    <a:pt x="1230" y="253"/>
                    <a:pt x="1271" y="282"/>
                    <a:pt x="1271" y="337"/>
                  </a:cubicBezTo>
                  <a:lnTo>
                    <a:pt x="1271" y="387"/>
                  </a:lnTo>
                  <a:cubicBezTo>
                    <a:pt x="1271" y="443"/>
                    <a:pt x="1220" y="461"/>
                    <a:pt x="1157" y="461"/>
                  </a:cubicBezTo>
                  <a:lnTo>
                    <a:pt x="1110" y="461"/>
                  </a:lnTo>
                  <a:lnTo>
                    <a:pt x="1269" y="733"/>
                  </a:lnTo>
                  <a:cubicBezTo>
                    <a:pt x="1287" y="765"/>
                    <a:pt x="1296" y="768"/>
                    <a:pt x="1338" y="768"/>
                  </a:cubicBezTo>
                  <a:lnTo>
                    <a:pt x="1430" y="768"/>
                  </a:lnTo>
                  <a:cubicBezTo>
                    <a:pt x="1473" y="768"/>
                    <a:pt x="1492" y="764"/>
                    <a:pt x="1505" y="729"/>
                  </a:cubicBezTo>
                  <a:lnTo>
                    <a:pt x="1552" y="596"/>
                  </a:lnTo>
                  <a:lnTo>
                    <a:pt x="1680" y="596"/>
                  </a:lnTo>
                  <a:lnTo>
                    <a:pt x="1661" y="533"/>
                  </a:lnTo>
                  <a:lnTo>
                    <a:pt x="1573" y="533"/>
                  </a:lnTo>
                  <a:lnTo>
                    <a:pt x="1652" y="310"/>
                  </a:lnTo>
                  <a:lnTo>
                    <a:pt x="1795" y="729"/>
                  </a:lnTo>
                  <a:cubicBezTo>
                    <a:pt x="1807" y="764"/>
                    <a:pt x="1827" y="768"/>
                    <a:pt x="1873" y="768"/>
                  </a:cubicBezTo>
                  <a:lnTo>
                    <a:pt x="1923" y="768"/>
                  </a:lnTo>
                  <a:lnTo>
                    <a:pt x="1707" y="203"/>
                  </a:lnTo>
                  <a:cubicBezTo>
                    <a:pt x="1702" y="190"/>
                    <a:pt x="1679" y="181"/>
                    <a:pt x="1655" y="181"/>
                  </a:cubicBezTo>
                  <a:close/>
                  <a:moveTo>
                    <a:pt x="2304" y="530"/>
                  </a:moveTo>
                  <a:lnTo>
                    <a:pt x="2304" y="530"/>
                  </a:lnTo>
                  <a:cubicBezTo>
                    <a:pt x="2304" y="647"/>
                    <a:pt x="2266" y="704"/>
                    <a:pt x="2162" y="704"/>
                  </a:cubicBezTo>
                  <a:lnTo>
                    <a:pt x="2068" y="704"/>
                  </a:lnTo>
                  <a:lnTo>
                    <a:pt x="2068" y="253"/>
                  </a:lnTo>
                  <a:lnTo>
                    <a:pt x="2159" y="253"/>
                  </a:lnTo>
                  <a:cubicBezTo>
                    <a:pt x="2266" y="253"/>
                    <a:pt x="2304" y="316"/>
                    <a:pt x="2304" y="433"/>
                  </a:cubicBezTo>
                  <a:lnTo>
                    <a:pt x="2304" y="530"/>
                  </a:lnTo>
                  <a:lnTo>
                    <a:pt x="2304" y="530"/>
                  </a:lnTo>
                  <a:close/>
                  <a:moveTo>
                    <a:pt x="2409" y="432"/>
                  </a:moveTo>
                  <a:lnTo>
                    <a:pt x="2409" y="432"/>
                  </a:lnTo>
                  <a:cubicBezTo>
                    <a:pt x="2409" y="270"/>
                    <a:pt x="2326" y="189"/>
                    <a:pt x="2159" y="189"/>
                  </a:cubicBezTo>
                  <a:lnTo>
                    <a:pt x="1963" y="189"/>
                  </a:lnTo>
                  <a:lnTo>
                    <a:pt x="1963" y="709"/>
                  </a:lnTo>
                  <a:cubicBezTo>
                    <a:pt x="1963" y="748"/>
                    <a:pt x="1984" y="768"/>
                    <a:pt x="2029" y="768"/>
                  </a:cubicBezTo>
                  <a:lnTo>
                    <a:pt x="2159" y="768"/>
                  </a:lnTo>
                  <a:lnTo>
                    <a:pt x="2180" y="767"/>
                  </a:lnTo>
                  <a:cubicBezTo>
                    <a:pt x="2337" y="761"/>
                    <a:pt x="2409" y="693"/>
                    <a:pt x="2409" y="530"/>
                  </a:cubicBezTo>
                  <a:lnTo>
                    <a:pt x="2409" y="432"/>
                  </a:lnTo>
                  <a:lnTo>
                    <a:pt x="2409" y="432"/>
                  </a:lnTo>
                  <a:close/>
                  <a:moveTo>
                    <a:pt x="3332" y="190"/>
                  </a:moveTo>
                  <a:lnTo>
                    <a:pt x="3332" y="190"/>
                  </a:lnTo>
                  <a:lnTo>
                    <a:pt x="2851" y="190"/>
                  </a:lnTo>
                  <a:lnTo>
                    <a:pt x="2831" y="254"/>
                  </a:lnTo>
                  <a:lnTo>
                    <a:pt x="3028" y="254"/>
                  </a:lnTo>
                  <a:lnTo>
                    <a:pt x="3028" y="710"/>
                  </a:lnTo>
                  <a:cubicBezTo>
                    <a:pt x="3028" y="749"/>
                    <a:pt x="3052" y="768"/>
                    <a:pt x="3096" y="768"/>
                  </a:cubicBezTo>
                  <a:lnTo>
                    <a:pt x="3135" y="768"/>
                  </a:lnTo>
                  <a:lnTo>
                    <a:pt x="3135" y="254"/>
                  </a:lnTo>
                  <a:lnTo>
                    <a:pt x="3313" y="254"/>
                  </a:lnTo>
                  <a:lnTo>
                    <a:pt x="3332" y="19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0" name="Google Shape;10;n"/>
            <p:cNvSpPr/>
            <p:nvPr/>
          </p:nvSpPr>
          <p:spPr>
            <a:xfrm>
              <a:off x="5464" y="4197"/>
              <a:ext cx="8" cy="9"/>
            </a:xfrm>
            <a:custGeom>
              <a:rect b="b" l="l" r="r" t="t"/>
              <a:pathLst>
                <a:path extrusionOk="0" h="98" w="99">
                  <a:moveTo>
                    <a:pt x="59" y="30"/>
                  </a:moveTo>
                  <a:lnTo>
                    <a:pt x="59" y="30"/>
                  </a:lnTo>
                  <a:cubicBezTo>
                    <a:pt x="57" y="29"/>
                    <a:pt x="53" y="28"/>
                    <a:pt x="47" y="28"/>
                  </a:cubicBezTo>
                  <a:lnTo>
                    <a:pt x="39" y="28"/>
                  </a:lnTo>
                  <a:lnTo>
                    <a:pt x="39" y="48"/>
                  </a:lnTo>
                  <a:lnTo>
                    <a:pt x="48" y="48"/>
                  </a:lnTo>
                  <a:cubicBezTo>
                    <a:pt x="52" y="48"/>
                    <a:pt x="55" y="47"/>
                    <a:pt x="57" y="46"/>
                  </a:cubicBezTo>
                  <a:cubicBezTo>
                    <a:pt x="61" y="45"/>
                    <a:pt x="63" y="42"/>
                    <a:pt x="63" y="38"/>
                  </a:cubicBezTo>
                  <a:cubicBezTo>
                    <a:pt x="63" y="34"/>
                    <a:pt x="61" y="31"/>
                    <a:pt x="59" y="30"/>
                  </a:cubicBezTo>
                  <a:close/>
                  <a:moveTo>
                    <a:pt x="49" y="22"/>
                  </a:moveTo>
                  <a:lnTo>
                    <a:pt x="49" y="22"/>
                  </a:lnTo>
                  <a:cubicBezTo>
                    <a:pt x="55" y="22"/>
                    <a:pt x="60" y="22"/>
                    <a:pt x="63" y="23"/>
                  </a:cubicBezTo>
                  <a:cubicBezTo>
                    <a:pt x="69" y="26"/>
                    <a:pt x="72" y="30"/>
                    <a:pt x="72" y="37"/>
                  </a:cubicBezTo>
                  <a:cubicBezTo>
                    <a:pt x="72" y="42"/>
                    <a:pt x="70" y="46"/>
                    <a:pt x="66" y="48"/>
                  </a:cubicBezTo>
                  <a:cubicBezTo>
                    <a:pt x="65" y="49"/>
                    <a:pt x="62" y="50"/>
                    <a:pt x="59" y="51"/>
                  </a:cubicBezTo>
                  <a:cubicBezTo>
                    <a:pt x="63" y="51"/>
                    <a:pt x="66" y="53"/>
                    <a:pt x="68" y="56"/>
                  </a:cubicBezTo>
                  <a:cubicBezTo>
                    <a:pt x="70" y="59"/>
                    <a:pt x="71" y="62"/>
                    <a:pt x="71" y="64"/>
                  </a:cubicBezTo>
                  <a:lnTo>
                    <a:pt x="71" y="68"/>
                  </a:lnTo>
                  <a:cubicBezTo>
                    <a:pt x="71" y="69"/>
                    <a:pt x="71" y="71"/>
                    <a:pt x="71" y="72"/>
                  </a:cubicBezTo>
                  <a:cubicBezTo>
                    <a:pt x="71" y="74"/>
                    <a:pt x="71" y="75"/>
                    <a:pt x="72" y="75"/>
                  </a:cubicBezTo>
                  <a:lnTo>
                    <a:pt x="72" y="76"/>
                  </a:lnTo>
                  <a:lnTo>
                    <a:pt x="63" y="76"/>
                  </a:lnTo>
                  <a:cubicBezTo>
                    <a:pt x="63" y="76"/>
                    <a:pt x="63" y="75"/>
                    <a:pt x="63" y="75"/>
                  </a:cubicBezTo>
                  <a:cubicBezTo>
                    <a:pt x="63" y="75"/>
                    <a:pt x="63" y="75"/>
                    <a:pt x="63" y="75"/>
                  </a:cubicBezTo>
                  <a:lnTo>
                    <a:pt x="62" y="73"/>
                  </a:lnTo>
                  <a:lnTo>
                    <a:pt x="62" y="69"/>
                  </a:lnTo>
                  <a:cubicBezTo>
                    <a:pt x="62" y="62"/>
                    <a:pt x="61" y="58"/>
                    <a:pt x="57" y="56"/>
                  </a:cubicBezTo>
                  <a:cubicBezTo>
                    <a:pt x="55" y="55"/>
                    <a:pt x="52" y="54"/>
                    <a:pt x="47" y="54"/>
                  </a:cubicBezTo>
                  <a:lnTo>
                    <a:pt x="39" y="54"/>
                  </a:lnTo>
                  <a:lnTo>
                    <a:pt x="39" y="76"/>
                  </a:lnTo>
                  <a:lnTo>
                    <a:pt x="30" y="76"/>
                  </a:lnTo>
                  <a:lnTo>
                    <a:pt x="30" y="22"/>
                  </a:lnTo>
                  <a:lnTo>
                    <a:pt x="49" y="22"/>
                  </a:lnTo>
                  <a:lnTo>
                    <a:pt x="49" y="22"/>
                  </a:lnTo>
                  <a:close/>
                  <a:moveTo>
                    <a:pt x="20" y="19"/>
                  </a:moveTo>
                  <a:lnTo>
                    <a:pt x="20" y="19"/>
                  </a:lnTo>
                  <a:cubicBezTo>
                    <a:pt x="11" y="27"/>
                    <a:pt x="7" y="37"/>
                    <a:pt x="7" y="49"/>
                  </a:cubicBezTo>
                  <a:cubicBezTo>
                    <a:pt x="7" y="61"/>
                    <a:pt x="11" y="71"/>
                    <a:pt x="20" y="79"/>
                  </a:cubicBezTo>
                  <a:cubicBezTo>
                    <a:pt x="28" y="87"/>
                    <a:pt x="38" y="92"/>
                    <a:pt x="50" y="92"/>
                  </a:cubicBezTo>
                  <a:cubicBezTo>
                    <a:pt x="61" y="92"/>
                    <a:pt x="71" y="87"/>
                    <a:pt x="80" y="79"/>
                  </a:cubicBezTo>
                  <a:cubicBezTo>
                    <a:pt x="88" y="71"/>
                    <a:pt x="92" y="61"/>
                    <a:pt x="92" y="49"/>
                  </a:cubicBezTo>
                  <a:cubicBezTo>
                    <a:pt x="92" y="37"/>
                    <a:pt x="88" y="27"/>
                    <a:pt x="80" y="19"/>
                  </a:cubicBezTo>
                  <a:cubicBezTo>
                    <a:pt x="71" y="10"/>
                    <a:pt x="61" y="6"/>
                    <a:pt x="50" y="6"/>
                  </a:cubicBezTo>
                  <a:cubicBezTo>
                    <a:pt x="38" y="6"/>
                    <a:pt x="28" y="10"/>
                    <a:pt x="20" y="19"/>
                  </a:cubicBezTo>
                  <a:close/>
                  <a:moveTo>
                    <a:pt x="85" y="84"/>
                  </a:moveTo>
                  <a:lnTo>
                    <a:pt x="85" y="84"/>
                  </a:lnTo>
                  <a:cubicBezTo>
                    <a:pt x="75" y="94"/>
                    <a:pt x="63" y="98"/>
                    <a:pt x="50" y="98"/>
                  </a:cubicBezTo>
                  <a:cubicBezTo>
                    <a:pt x="36" y="98"/>
                    <a:pt x="24" y="94"/>
                    <a:pt x="15" y="84"/>
                  </a:cubicBezTo>
                  <a:cubicBezTo>
                    <a:pt x="5" y="74"/>
                    <a:pt x="0" y="63"/>
                    <a:pt x="0" y="49"/>
                  </a:cubicBezTo>
                  <a:cubicBezTo>
                    <a:pt x="0" y="35"/>
                    <a:pt x="5" y="24"/>
                    <a:pt x="15" y="14"/>
                  </a:cubicBezTo>
                  <a:cubicBezTo>
                    <a:pt x="24" y="4"/>
                    <a:pt x="36" y="0"/>
                    <a:pt x="50" y="0"/>
                  </a:cubicBezTo>
                  <a:cubicBezTo>
                    <a:pt x="63" y="0"/>
                    <a:pt x="75" y="4"/>
                    <a:pt x="85" y="14"/>
                  </a:cubicBezTo>
                  <a:cubicBezTo>
                    <a:pt x="94" y="24"/>
                    <a:pt x="99" y="35"/>
                    <a:pt x="99" y="49"/>
                  </a:cubicBezTo>
                  <a:cubicBezTo>
                    <a:pt x="99" y="63"/>
                    <a:pt x="94" y="74"/>
                    <a:pt x="85" y="84"/>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sp>
        <p:nvSpPr>
          <p:cNvPr id="11" name="Google Shape;11;n"/>
          <p:cNvSpPr txBox="1"/>
          <p:nvPr>
            <p:ph idx="11" type="ftr"/>
          </p:nvPr>
        </p:nvSpPr>
        <p:spPr>
          <a:xfrm>
            <a:off x="457200" y="9514580"/>
            <a:ext cx="2971800" cy="107722"/>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sz="700">
                <a:solidFill>
                  <a:schemeClr val="lt2"/>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FINANCE &amp; PERFORMANCE MANAGEMENT — DOMAIN DASHBOARD</a:t>
            </a:r>
            <a:br/>
            <a:br/>
            <a:r>
              <a:t>This slide provides a high-level comparison of Finance &amp; Performance Management maturity across global, regional (South Asia &amp; Middle East), and Pakistan banking markets.</a:t>
            </a:r>
            <a:br/>
            <a:br/>
            <a:r>
              <a:t>Key Takeaways:</a:t>
            </a:r>
            <a:br/>
            <a:r>
              <a:t>- Pakistan monthly close cycle is 15-30 days vs 3-5 day global benchmark</a:t>
            </a:r>
            <a:br/>
            <a:r>
              <a:t>- Financial consolidation automation at &lt;25% vs 80%+ at top global banks</a:t>
            </a:r>
            <a:br/>
            <a:r>
              <a:t>- Activity-based costing adopted by &lt;10% of Pakistan banks vs 60% globally</a:t>
            </a:r>
            <a:br/>
            <a:r>
              <a:t>- IFRS 9 ECL automation at 20-30% (SBP mandate driving adoption)</a:t>
            </a:r>
            <a:br/>
            <a:r>
              <a:t>- Branch-level P&amp;L is rare (&lt;15% of Pakistan banks) vs standard practice globally</a:t>
            </a:r>
            <a:br/>
            <a:r>
              <a:t>- Islamic accounting (AAOIFI) adds unique dual-accounting requirement</a:t>
            </a:r>
            <a:br/>
            <a:br/>
            <a:r>
              <a:t>This domain covers 35 BVF sub-capabilities with ~200+ FSDM entities across Financial Instrument, Accounting, Party, Product, GL, and Cost Center domains.</a:t>
            </a:r>
            <a:br/>
            <a:br/>
            <a:r>
              <a:t>Investment Justification: Moving from Developing to Innovating maturity can deliver PKR 5B+ annual savings from improved finance operations, reduced provisioning errors, and optimized capital allocation.</a:t>
            </a:r>
            <a:br/>
            <a:br/>
            <a:r>
              <a:t>FSDM Domains: Financial Instrument (~100+ entities), Accounting (~80+ entities), GL (~50+ entities), Cost Center (~30+ entities)</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PAKISTAN BANKING — FINANCE &amp; PERFORMANCE MANAGEMENT LANDSCAPE</a:t>
            </a:r>
            <a:br/>
            <a:br/>
            <a:r>
              <a:t>Regulatory Framework:</a:t>
            </a:r>
            <a:br/>
            <a:r>
              <a:t>- SBP: 30+ statutory returns at weekly, monthly, quarterly, annual frequencies</a:t>
            </a:r>
            <a:br/>
            <a:r>
              <a:t>- IFRS 9: ECL provisioning mandate (implemented 2018, ongoing refinement)</a:t>
            </a:r>
            <a:br/>
            <a:r>
              <a:t>- IFRS 17: Insurance contract accounting (effective 2025 for Takaful/insurance)</a:t>
            </a:r>
            <a:br/>
            <a:r>
              <a:t>- AAOIFI: Accounting standards for Islamic banking operations</a:t>
            </a:r>
            <a:br/>
            <a:r>
              <a:t>- Basel III: Capital adequacy (min 11.5%), liquidity ratios (LCR min 100%, NSFR)</a:t>
            </a:r>
            <a:br/>
            <a:r>
              <a:t>- FBR: Tax complexity (WHT 15%/30%, corporate 39%, super tax 10%)</a:t>
            </a:r>
            <a:br/>
            <a:br/>
            <a:r>
              <a:t>Key Challenges:</a:t>
            </a:r>
            <a:br/>
            <a:r>
              <a:t>- 4-5 core banking systems per bank — fragmented GL/sub-ledger data</a:t>
            </a:r>
            <a:br/>
            <a:r>
              <a:t>- Islamic banking windows require parallel IFRS + AAOIFI accounting</a:t>
            </a:r>
            <a:br/>
            <a:r>
              <a:t>- Monthly close takes 15-30 days vs 3-5 day global benchmark</a:t>
            </a:r>
            <a:br/>
            <a:r>
              <a:t>- Branch-level P&amp;L not available at most banks</a:t>
            </a:r>
            <a:br/>
            <a:r>
              <a:t>- FTP engines use simplified KIBOR spreads, not yield-curve based</a:t>
            </a:r>
            <a:br/>
            <a:r>
              <a:t>- ECIB integration required for IFRS 9 ECL calculations</a:t>
            </a:r>
            <a:br/>
            <a:br/>
            <a:r>
              <a:t>Pakistan Banking Finance Metrics:</a:t>
            </a:r>
            <a:br/>
            <a:r>
              <a:t>- Banking sector assets: PKR 35T+ (~$125B), Total deposits: PKR 25T+</a:t>
            </a:r>
            <a:br/>
            <a:r>
              <a:t>- Total advances: PKR 13T+, Industry NPLs: ~7.5% (PKR 900B+)</a:t>
            </a:r>
            <a:br/>
            <a:r>
              <a:t>- CASA ratio: ~47%, Number of banks: 33 + 5 Islamic + 11 microfinance</a:t>
            </a:r>
            <a:br/>
            <a:r>
              <a:t>- SBP policy rate: 17.5%, WHT on profit: 15% filers / 30% non-filers</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FINANCE &amp; PERFORMANCE MANAGEMENT — IMPLEMENTATION ROADMAP</a:t>
            </a:r>
            <a:br/>
            <a:br/>
            <a:r>
              <a:t>Phase 1: Accounting Foundation (0-6 months) — Investment: PKR 50-100M</a:t>
            </a:r>
            <a:br/>
            <a:r>
              <a:t>- Unified chart of accounts across all core banking systems</a:t>
            </a:r>
            <a:br/>
            <a:r>
              <a:t>- Sub-ledger integration for top 3 product systems (CASA, lending, cards)</a:t>
            </a:r>
            <a:br/>
            <a:r>
              <a:t>- IFRS 9 ECL data pipeline automation</a:t>
            </a:r>
            <a:br/>
            <a:r>
              <a:t>- Automated GL-to-sub-ledger reconciliation</a:t>
            </a:r>
            <a:br/>
            <a:r>
              <a:t>Quick Win: Close cycle from 30 to 15 days</a:t>
            </a:r>
            <a:br/>
            <a:br/>
            <a:r>
              <a:t>Phase 2: Performance Analytics (6-18 months) — Investment: PKR 120-250M</a:t>
            </a:r>
            <a:br/>
            <a:r>
              <a:t>- Funds Transfer Pricing engine (KIBOR yield-curve based)</a:t>
            </a:r>
            <a:br/>
            <a:r>
              <a:t>- Activity-based costing framework (branch, digital, ATM, agent channels)</a:t>
            </a:r>
            <a:br/>
            <a:r>
              <a:t>- Branch-level P&amp;L for all 16,000+ branches</a:t>
            </a:r>
            <a:br/>
            <a:r>
              <a:t>- Customer profitability engine (building on UBL FSDM foundation)</a:t>
            </a:r>
            <a:br/>
            <a:r>
              <a:t>Expected: Identify PKR 5B+ in cost optimization opportunities</a:t>
            </a:r>
            <a:br/>
            <a:br/>
            <a:r>
              <a:t>Phase 3: Enterprise Finance Intelligence (18-36 months) — Investment: PKR 200-400M</a:t>
            </a:r>
            <a:br/>
            <a:r>
              <a:t>- Real-time financial consolidation across all entities</a:t>
            </a:r>
            <a:br/>
            <a:r>
              <a:t>- Islamic accounting hub (dual IFRS + AAOIFI)</a:t>
            </a:r>
            <a:br/>
            <a:r>
              <a:t>- Predictive budgeting and rolling forecasts</a:t>
            </a:r>
            <a:br/>
            <a:r>
              <a:t>- Executive finance dashboard with drill-down to transaction level</a:t>
            </a:r>
            <a:br/>
            <a:r>
              <a:t>Expected: Close in &lt;5 days, 360-degree profitability view</a:t>
            </a:r>
            <a:br/>
            <a:br/>
            <a:r>
              <a:t>Total 3-Year Investment: PKR 370-750M (~USD 1.3-2.7M)</a:t>
            </a:r>
            <a:br/>
            <a:r>
              <a:t>Estimated Annual Value: PKR 5B+ from optimized finance operations</a:t>
            </a:r>
          </a:p>
        </p:txBody>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8" name="Shape 3928"/>
        <p:cNvGrpSpPr/>
        <p:nvPr/>
      </p:nvGrpSpPr>
      <p:grpSpPr>
        <a:xfrm>
          <a:off x="0" y="0"/>
          <a:ext cx="0" cy="0"/>
          <a:chOff x="0" y="0"/>
          <a:chExt cx="0" cy="0"/>
        </a:xfrm>
      </p:grpSpPr>
      <p:sp>
        <p:nvSpPr>
          <p:cNvPr id="3929" name="Google Shape;3929;p183: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30" name="Google Shape;3930;p183: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FINANCE &amp; PERFORMANCE MANAGEMENT — Domain Overview</a:t>
            </a:r>
            <a:br/>
            <a:br/>
            <a:r>
              <a:t>This domain covers 4 sub-domains with 35 BVF capabilities:</a:t>
            </a:r>
            <a:br/>
            <a:r>
              <a:t>1. Accounting Operations &amp; Close (11 capabilities) — covered in this file</a:t>
            </a:r>
            <a:br/>
            <a:r>
              <a:t>2. Enterprise Performance Management (11 capabilities) — detailed in File 08</a:t>
            </a:r>
            <a:br/>
            <a:r>
              <a:t>3. Treasury Management (7 capabilities)</a:t>
            </a:r>
            <a:br/>
            <a:r>
              <a:t>4. Financial Reporting (6 capabilities)</a:t>
            </a:r>
            <a:br/>
            <a:br/>
            <a:r>
              <a:t>PAKISTAN CONTEXT: Aligned to SBP regulatory requirements, IFRS 9/IFRS 17, Basel III capital adequacy, and AAOIFI Islamic accounting standards. Pakistan banks face dual accounting: conventional IFRS + AAOIFI for Islamic banking windows/subsidiaries.</a:t>
            </a:r>
            <a:br/>
            <a:br/>
            <a:r>
              <a:t>FSDM: GL_ACCT (General Ledger Account), GL_BLNC (GL Balance), ACCTNG_EVNT (Accounting Event), FIN_INSTRMT (Financial Instrument), CST_CNTR (Cost Center), PRDCT (Product), PRTY (Party), ORGN_UNT (Organization Unit)</a:t>
            </a:r>
            <a:endParaRPr/>
          </a:p>
        </p:txBody>
      </p:sp>
      <p:sp>
        <p:nvSpPr>
          <p:cNvPr id="3931" name="Google Shape;3931;p183:notes"/>
          <p:cNvSpPr txBox="1"/>
          <p:nvPr>
            <p:ph idx="11" type="ftr"/>
          </p:nvPr>
        </p:nvSpPr>
        <p:spPr>
          <a:xfrm>
            <a:off x="457200" y="9514580"/>
            <a:ext cx="2971800" cy="10772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a:t>© 2014 Teradata</a:t>
            </a:r>
            <a:endParaRPr/>
          </a:p>
        </p:txBody>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2" name="Shape 3952"/>
        <p:cNvGrpSpPr/>
        <p:nvPr/>
      </p:nvGrpSpPr>
      <p:grpSpPr>
        <a:xfrm>
          <a:off x="0" y="0"/>
          <a:ext cx="0" cy="0"/>
          <a:chOff x="0" y="0"/>
          <a:chExt cx="0" cy="0"/>
        </a:xfrm>
      </p:grpSpPr>
      <p:sp>
        <p:nvSpPr>
          <p:cNvPr id="3953" name="Google Shape;3953;p184: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54" name="Google Shape;3954;p184: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FPM — Accounting Operations Capabilities (11 listed)</a:t>
            </a:r>
            <a:br/>
            <a:br/>
            <a:r>
              <a:t>The 11 Accounting Operations capabilities cover the end-to-end financial close process. In Pakistan banking context:</a:t>
            </a:r>
            <a:br/>
            <a:r>
              <a:t>- Sub-ledger integration across 4-5 core banking systems is foundational</a:t>
            </a:r>
            <a:br/>
            <a:r>
              <a:t>- IFRS 9 ECL has made close significantly more complex since 2018</a:t>
            </a:r>
            <a:br/>
            <a:r>
              <a:t>- Islamic banking windows/subsidiaries require parallel IFRS + AAOIFI entries</a:t>
            </a:r>
            <a:br/>
            <a:r>
              <a:t>- SBP statutory returns require granular data that most banks cannot produce efficiently</a:t>
            </a:r>
            <a:br/>
            <a:br/>
            <a:r>
              <a:t>FSDM: SUB_LDGR (Sub-Ledger), GL_PSTNG (GL Posting), COA (Chart of Accounts), RCNCLTN (Reconciliation), CNSLDTN (Consolidation), PL_STMNT (P&amp;L Statement)</a:t>
            </a:r>
            <a:endParaRPr/>
          </a:p>
        </p:txBody>
      </p:sp>
      <p:sp>
        <p:nvSpPr>
          <p:cNvPr id="3955" name="Google Shape;3955;p184:notes"/>
          <p:cNvSpPr txBox="1"/>
          <p:nvPr>
            <p:ph idx="11" type="ftr"/>
          </p:nvPr>
        </p:nvSpPr>
        <p:spPr>
          <a:xfrm>
            <a:off x="457200" y="9514580"/>
            <a:ext cx="2971800" cy="10772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a:t>© 2014 Teradata</a:t>
            </a:r>
            <a:endParaRPr/>
          </a:p>
        </p:txBody>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2" name="Shape 3982"/>
        <p:cNvGrpSpPr/>
        <p:nvPr/>
      </p:nvGrpSpPr>
      <p:grpSpPr>
        <a:xfrm>
          <a:off x="0" y="0"/>
          <a:ext cx="0" cy="0"/>
          <a:chOff x="0" y="0"/>
          <a:chExt cx="0" cy="0"/>
        </a:xfrm>
      </p:grpSpPr>
      <p:sp>
        <p:nvSpPr>
          <p:cNvPr id="3983" name="Google Shape;3983;p185: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84" name="Google Shape;3984;p185: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FPM — EPM Capabilities (11 listed)</a:t>
            </a:r>
            <a:br/>
            <a:br/>
            <a:r>
              <a:t>EPM capabilities (detailed in File 08) include: Revenue Analytics, Activity-Based Costing, Profitability Modeling, Funds Transfer Pricing, Pricing Analytics, Performance Management, Budget &amp; Forecasting, and more.</a:t>
            </a:r>
            <a:br/>
            <a:br/>
            <a:r>
              <a:t>Pakistan banking EPM context:</a:t>
            </a:r>
            <a:br/>
            <a:r>
              <a:t>- Branch-level P&amp;L not available at most banks (vs standard practice globally)</a:t>
            </a:r>
            <a:br/>
            <a:r>
              <a:t>- FTP engines use simplified KIBOR spreads, not yield-curve based</a:t>
            </a:r>
            <a:br/>
            <a:r>
              <a:t>- Budget cycles take 3-4 months (manual process)</a:t>
            </a:r>
            <a:br/>
            <a:r>
              <a:t>- Customer profitability rarely calculated at individual level</a:t>
            </a:r>
            <a:br/>
            <a:br/>
            <a:r>
              <a:t>FSDM: PRFTBLTY (Profitability), FTP (Funds Transfer Pricing), ABC (Activity-Based Costing), BDGT (Budget), FRCST (Forecast)</a:t>
            </a:r>
            <a:endParaRPr/>
          </a:p>
        </p:txBody>
      </p:sp>
      <p:sp>
        <p:nvSpPr>
          <p:cNvPr id="3985" name="Google Shape;3985;p185:notes"/>
          <p:cNvSpPr txBox="1"/>
          <p:nvPr>
            <p:ph idx="11" type="ftr"/>
          </p:nvPr>
        </p:nvSpPr>
        <p:spPr>
          <a:xfrm>
            <a:off x="457200" y="9514580"/>
            <a:ext cx="2971800" cy="10772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a:t>© 2014 Teradata</a:t>
            </a:r>
            <a:endParaRPr/>
          </a:p>
        </p:txBody>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3" name="Shape 4013"/>
        <p:cNvGrpSpPr/>
        <p:nvPr/>
      </p:nvGrpSpPr>
      <p:grpSpPr>
        <a:xfrm>
          <a:off x="0" y="0"/>
          <a:ext cx="0" cy="0"/>
          <a:chOff x="0" y="0"/>
          <a:chExt cx="0" cy="0"/>
        </a:xfrm>
      </p:grpSpPr>
      <p:sp>
        <p:nvSpPr>
          <p:cNvPr id="4014" name="Google Shape;4014;p186: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15" name="Google Shape;4015;p186: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FPM — Treasury Capabilities (7 listed)</a:t>
            </a:r>
            <a:br/>
            <a:br/>
            <a:r>
              <a:t>Treasury capabilities cover: Investment Analytics, Liquidity Management, ALM (Asset-Liability Management), Capital Management, FX Management, and Money Market operations.</a:t>
            </a:r>
            <a:br/>
            <a:br/>
            <a:r>
              <a:t>Pakistan treasury context:</a:t>
            </a:r>
            <a:br/>
            <a:r>
              <a:t>- Banks hold PKR 10T+ in government securities — investment portfolio management is critical</a:t>
            </a:r>
            <a:br/>
            <a:r>
              <a:t>- SBP Basel III requirements: LCR (min 100%), NSFR, Capital Adequacy (min 11.5%)</a:t>
            </a:r>
            <a:br/>
            <a:r>
              <a:t>- FX management significant: USD 30B+ annual remittances, trade finance positions</a:t>
            </a:r>
            <a:br/>
            <a:r>
              <a:t>- KIBOR-based pricing dominates — yield curve construction is key for FTP and treasury</a:t>
            </a:r>
            <a:br/>
            <a:br/>
            <a:r>
              <a:t>FSDM: INVSTMNT (Investment), SCRTY (Security), LQD (Liquidity), ALM (Asset-Liability Management), FX_PSITN (FX Position)</a:t>
            </a:r>
            <a:endParaRPr/>
          </a:p>
        </p:txBody>
      </p:sp>
      <p:sp>
        <p:nvSpPr>
          <p:cNvPr id="4016" name="Google Shape;4016;p186:notes"/>
          <p:cNvSpPr txBox="1"/>
          <p:nvPr>
            <p:ph idx="11" type="ftr"/>
          </p:nvPr>
        </p:nvSpPr>
        <p:spPr>
          <a:xfrm>
            <a:off x="457200" y="9514580"/>
            <a:ext cx="2971800" cy="10772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a:t>© 2014 Teradata</a:t>
            </a:r>
            <a:endParaRPr/>
          </a:p>
        </p:txBody>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0" name="Shape 4040"/>
        <p:cNvGrpSpPr/>
        <p:nvPr/>
      </p:nvGrpSpPr>
      <p:grpSpPr>
        <a:xfrm>
          <a:off x="0" y="0"/>
          <a:ext cx="0" cy="0"/>
          <a:chOff x="0" y="0"/>
          <a:chExt cx="0" cy="0"/>
        </a:xfrm>
      </p:grpSpPr>
      <p:sp>
        <p:nvSpPr>
          <p:cNvPr id="4041" name="Google Shape;4041;p187: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42" name="Google Shape;4042;p187: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FPM — Financial Reporting Capabilities (6 listed)</a:t>
            </a:r>
            <a:br/>
            <a:br/>
            <a:r>
              <a:t>Financial reporting capabilities cover: Regulatory Reporting, Management Reporting, External Reporting (SECP/PSX), Board Reporting, Statutory Returns.</a:t>
            </a:r>
            <a:br/>
            <a:br/>
            <a:r>
              <a:t>Pakistan financial reporting context:</a:t>
            </a:r>
            <a:br/>
            <a:r>
              <a:t>- SBP requires 30+ statutory returns at varying frequencies (weekly, monthly, quarterly, annual)</a:t>
            </a:r>
            <a:br/>
            <a:r>
              <a:t>- SECP requires consolidated IFRS statements for listed banking groups</a:t>
            </a:r>
            <a:br/>
            <a:r>
              <a:t>- PSX disclosure requirements for listed banks</a:t>
            </a:r>
            <a:br/>
            <a:r>
              <a:t>- External auditors (Big 4 in Pakistan) require detailed drill-down capability</a:t>
            </a:r>
            <a:br/>
            <a:br/>
            <a:r>
              <a:t>FSDM: RPT (Report), RGLTY_RPT (Regulatory Report), FIN_STMNT (Financial Statement), DSCL (Disclosure)</a:t>
            </a:r>
            <a:endParaRPr/>
          </a:p>
        </p:txBody>
      </p:sp>
      <p:sp>
        <p:nvSpPr>
          <p:cNvPr id="4043" name="Google Shape;4043;p187:notes"/>
          <p:cNvSpPr txBox="1"/>
          <p:nvPr>
            <p:ph idx="11" type="ftr"/>
          </p:nvPr>
        </p:nvSpPr>
        <p:spPr>
          <a:xfrm>
            <a:off x="457200" y="9514580"/>
            <a:ext cx="2971800" cy="10772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a:t>© 2014 Teradata</a:t>
            </a:r>
            <a:endParaRPr/>
          </a:p>
        </p:txBody>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6" name="Shape 4066"/>
        <p:cNvGrpSpPr/>
        <p:nvPr/>
      </p:nvGrpSpPr>
      <p:grpSpPr>
        <a:xfrm>
          <a:off x="0" y="0"/>
          <a:ext cx="0" cy="0"/>
          <a:chOff x="0" y="0"/>
          <a:chExt cx="0" cy="0"/>
        </a:xfrm>
      </p:grpSpPr>
      <p:sp>
        <p:nvSpPr>
          <p:cNvPr id="4067" name="Google Shape;4067;p188: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68" name="Google Shape;4068;p188: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Finance BVF — Use Cases (1 of 3)</a:t>
            </a:r>
            <a:br/>
            <a:br/>
            <a:r>
              <a:t>Use cases mapped to Finance &amp; Performance Management capabilities. Pakistan priority use cases include:</a:t>
            </a:r>
            <a:br/>
            <a:r>
              <a:t>- IFRS 9 ECL Calculation and Reporting</a:t>
            </a:r>
            <a:br/>
            <a:r>
              <a:t>- Automated SBP Statutory Returns</a:t>
            </a:r>
            <a:br/>
            <a:r>
              <a:t>- Branch-Level Profitability Analysis</a:t>
            </a:r>
            <a:br/>
            <a:r>
              <a:t>- Customer Profitability Engine (UBL FSDM reference)</a:t>
            </a:r>
            <a:br/>
            <a:r>
              <a:t>- Islamic Accounting Hub (dual IFRS + AAOIFI)</a:t>
            </a:r>
            <a:br/>
            <a:br/>
            <a:r>
              <a:t>Note: Original triangle color legend removed. Use cases are prioritized based on Pakistan banking regulatory and business requirements.</a:t>
            </a:r>
            <a:br/>
            <a:br/>
            <a:r>
              <a:t>FSDM: Use cases span all FPM entities across Accounting, Performance, Treasury, and Reporting domains.</a:t>
            </a:r>
            <a:endParaRPr/>
          </a:p>
        </p:txBody>
      </p:sp>
      <p:sp>
        <p:nvSpPr>
          <p:cNvPr id="4069" name="Google Shape;4069;p188:notes"/>
          <p:cNvSpPr txBox="1"/>
          <p:nvPr>
            <p:ph idx="11" type="ftr"/>
          </p:nvPr>
        </p:nvSpPr>
        <p:spPr>
          <a:xfrm>
            <a:off x="457200" y="9514580"/>
            <a:ext cx="2971800" cy="10772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a:t>© 2014 Teradata</a:t>
            </a:r>
            <a:endParaRPr/>
          </a:p>
        </p:txBody>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7" name="Shape 4107"/>
        <p:cNvGrpSpPr/>
        <p:nvPr/>
      </p:nvGrpSpPr>
      <p:grpSpPr>
        <a:xfrm>
          <a:off x="0" y="0"/>
          <a:ext cx="0" cy="0"/>
          <a:chOff x="0" y="0"/>
          <a:chExt cx="0" cy="0"/>
        </a:xfrm>
      </p:grpSpPr>
      <p:sp>
        <p:nvSpPr>
          <p:cNvPr id="4108" name="Google Shape;4108;p189: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09" name="Google Shape;4109;p189: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Finance BVF — Use Cases (2 of 3)</a:t>
            </a:r>
            <a:br/>
            <a:br/>
            <a:r>
              <a:t>Continued use case mapping. Key Pakistan-relevant use cases:</a:t>
            </a:r>
            <a:br/>
            <a:r>
              <a:t>- Funds Transfer Pricing (KIBOR yield-curve based)</a:t>
            </a:r>
            <a:br/>
            <a:r>
              <a:t>- Activity-Based Costing (branch, digital, ATM, agent channels)</a:t>
            </a:r>
            <a:br/>
            <a:r>
              <a:t>- Tax Management Automation (WHT, super tax, advance tax)</a:t>
            </a:r>
            <a:br/>
            <a:r>
              <a:t>- Financial Consolidation across Group Entities</a:t>
            </a:r>
            <a:br/>
            <a:r>
              <a:t>- Reconciliation Automation (core systems, payment networks, nostro/vostro)</a:t>
            </a:r>
            <a:br/>
            <a:br/>
            <a:r>
              <a:t>FSDM: FTP (Funds Transfer Pricing), ABC (Activity-Based Costing), TAX (Tax), CNSLDTN (Consolidation), RCNCLTN (Reconciliation)</a:t>
            </a:r>
            <a:endParaRPr/>
          </a:p>
        </p:txBody>
      </p:sp>
      <p:sp>
        <p:nvSpPr>
          <p:cNvPr id="4110" name="Google Shape;4110;p189:notes"/>
          <p:cNvSpPr txBox="1"/>
          <p:nvPr>
            <p:ph idx="11" type="ftr"/>
          </p:nvPr>
        </p:nvSpPr>
        <p:spPr>
          <a:xfrm>
            <a:off x="457200" y="9514580"/>
            <a:ext cx="2971800" cy="10772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a:t>© 2014 Teradata</a:t>
            </a:r>
            <a:endParaRPr/>
          </a:p>
        </p:txBody>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5" name="Shape 4155"/>
        <p:cNvGrpSpPr/>
        <p:nvPr/>
      </p:nvGrpSpPr>
      <p:grpSpPr>
        <a:xfrm>
          <a:off x="0" y="0"/>
          <a:ext cx="0" cy="0"/>
          <a:chOff x="0" y="0"/>
          <a:chExt cx="0" cy="0"/>
        </a:xfrm>
      </p:grpSpPr>
      <p:sp>
        <p:nvSpPr>
          <p:cNvPr id="4156" name="Google Shape;4156;p190: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57" name="Google Shape;4157;p190: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Finance BVF — Use Cases (3 of 3)</a:t>
            </a:r>
            <a:br/>
            <a:br/>
            <a:r>
              <a:t>Continued use case mapping. Additional Pakistan use cases:</a:t>
            </a:r>
            <a:br/>
            <a:r>
              <a:t>- Reserve Analytics (IFRS 9 ECL with Pakistan macro scenarios)</a:t>
            </a:r>
            <a:br/>
            <a:r>
              <a:t>- Fair Value Management (Government Securities, FX)</a:t>
            </a:r>
            <a:br/>
            <a:r>
              <a:t>- Asset Valuation (16,000+ branch properties, investment portfolio)</a:t>
            </a:r>
            <a:br/>
            <a:r>
              <a:t>- Procurement Analytics (FBR WHT compliance)</a:t>
            </a:r>
            <a:br/>
            <a:r>
              <a:t>- Billing &amp; Collections (NPL management, ECIB integration)</a:t>
            </a:r>
            <a:br/>
            <a:br/>
            <a:r>
              <a:t>FSDM: ECL (Expected Credit Loss), FV_ADJSTMNT (Fair Value), ASST_VLTN (Asset Valuation), VNDR (Vendor), CLLCTN (Collection)</a:t>
            </a:r>
            <a:endParaRPr/>
          </a:p>
        </p:txBody>
      </p:sp>
      <p:sp>
        <p:nvSpPr>
          <p:cNvPr id="4158" name="Google Shape;4158;p190:notes"/>
          <p:cNvSpPr txBox="1"/>
          <p:nvPr>
            <p:ph idx="11" type="ftr"/>
          </p:nvPr>
        </p:nvSpPr>
        <p:spPr>
          <a:xfrm>
            <a:off x="457200" y="9514580"/>
            <a:ext cx="2971800" cy="10772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a:t>© 2014 Teradata</a:t>
            </a:r>
            <a:endParaRPr/>
          </a:p>
        </p:txBody>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6" name="Shape 4186"/>
        <p:cNvGrpSpPr/>
        <p:nvPr/>
      </p:nvGrpSpPr>
      <p:grpSpPr>
        <a:xfrm>
          <a:off x="0" y="0"/>
          <a:ext cx="0" cy="0"/>
          <a:chOff x="0" y="0"/>
          <a:chExt cx="0" cy="0"/>
        </a:xfrm>
      </p:grpSpPr>
      <p:sp>
        <p:nvSpPr>
          <p:cNvPr id="4187" name="Google Shape;4187;p191:notes"/>
          <p:cNvSpPr txBox="1"/>
          <p:nvPr>
            <p:ph idx="1" type="body"/>
          </p:nvPr>
        </p:nvSpPr>
        <p:spPr>
          <a:xfrm>
            <a:off x="685800" y="4724202"/>
            <a:ext cx="5486400" cy="4475560"/>
          </a:xfrm>
          <a:prstGeom prst="rect">
            <a:avLst/>
          </a:prstGeom>
        </p:spPr>
        <p:txBody>
          <a:bodyPr anchorCtr="0" anchor="t" bIns="45700" lIns="91425" spcFirstLastPara="1" rIns="91425" wrap="square" tIns="45700">
            <a:noAutofit/>
          </a:bodyPr>
          <a:lstStyle/>
          <a:p>
            <a:pPr indent="0" lvl="0" marL="0" rtl="0" algn="l">
              <a:spcBef>
                <a:spcPts val="400"/>
              </a:spcBef>
              <a:spcAft>
                <a:spcPts val="0"/>
              </a:spcAft>
              <a:buNone/>
            </a:pPr>
            <a:r>
              <a:t>FPM — Why Important</a:t>
            </a:r>
            <a:br/>
            <a:br/>
            <a:r>
              <a:t>GLOBAL: Finance function transformation is a top-3 priority for bank CFOs globally. The shift from backward-looking reporting to forward-looking analytics and real-time decisioning is accelerating.</a:t>
            </a:r>
            <a:br/>
            <a:br/>
            <a:r>
              <a:t>PAKISTAN CONTEXT:</a:t>
            </a:r>
            <a:br/>
            <a:r>
              <a:t>- Dual accounting challenge: conventional IFRS + AAOIFI for Islamic banking windows/subsidiaries</a:t>
            </a:r>
            <a:br/>
            <a:r>
              <a:t>- SBP requires 30+ statutory returns at varying frequencies — data integration is critical</a:t>
            </a:r>
            <a:br/>
            <a:r>
              <a:t>- IFRS 9 ECL provisioning requires granular loan-level data across all core banking systems</a:t>
            </a:r>
            <a:br/>
            <a:r>
              <a:t>- Monthly close takes 15-30 days (vs 3-5 day global benchmark) — competitive disadvantage</a:t>
            </a:r>
            <a:br/>
            <a:r>
              <a:t>- Branch-level P&amp;L not available — cannot make data-driven decisions on 16,000+ branches</a:t>
            </a:r>
            <a:br/>
            <a:br/>
            <a:r>
              <a:t>FSDM: All FPM entities — foundational for regulatory compliance, profitability analysis, and management decision-making.</a:t>
            </a:r>
            <a:endParaRPr/>
          </a:p>
        </p:txBody>
      </p:sp>
      <p:sp>
        <p:nvSpPr>
          <p:cNvPr id="4188" name="Google Shape;4188;p191: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6" name="Shape 4196"/>
        <p:cNvGrpSpPr/>
        <p:nvPr/>
      </p:nvGrpSpPr>
      <p:grpSpPr>
        <a:xfrm>
          <a:off x="0" y="0"/>
          <a:ext cx="0" cy="0"/>
          <a:chOff x="0" y="0"/>
          <a:chExt cx="0" cy="0"/>
        </a:xfrm>
      </p:grpSpPr>
      <p:sp>
        <p:nvSpPr>
          <p:cNvPr id="4197" name="Google Shape;4197;p192: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98" name="Google Shape;4198;p192: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FPM — Challenges</a:t>
            </a:r>
            <a:br/>
            <a:br/>
            <a:r>
              <a:t>PAKISTAN-SPECIFIC CHALLENGES:</a:t>
            </a:r>
            <a:br/>
            <a:r>
              <a:t>1. 4-5 core banking systems (CTL, Temenos, Oracle, Finacle, Symbols) with incompatible chart of accounts</a:t>
            </a:r>
            <a:br/>
            <a:r>
              <a:t>2. Islamic banking windows require parallel GL entries under both IFRS and AAOIFI</a:t>
            </a:r>
            <a:br/>
            <a:r>
              <a:t>3. FBR tax complexity: WHT on deposits (15%/30%), super tax (10%), advance tax, minimum tax</a:t>
            </a:r>
            <a:br/>
            <a:r>
              <a:t>4. Monthly close takes 15-30 days due to manual reconciliation across fragmented systems</a:t>
            </a:r>
            <a:br/>
            <a:r>
              <a:t>5. Branch-level P&amp;L not feasible without integrated sub-ledger data</a:t>
            </a:r>
            <a:br/>
            <a:r>
              <a:t>6. IFRS 9 ECL requires individual loan-level data — most banks have only summary GL</a:t>
            </a:r>
            <a:br/>
            <a:r>
              <a:t>7. External auditors (Big 4) increasingly demand transaction-level drill-down capability</a:t>
            </a:r>
            <a:br/>
            <a:br/>
            <a:r>
              <a:t>FSDM: Integration challenges span all domains — GL, Sub-Ledger, Product, Party, Financial Instrument, Cost Center.</a:t>
            </a:r>
            <a:endParaRPr/>
          </a:p>
        </p:txBody>
      </p:sp>
      <p:sp>
        <p:nvSpPr>
          <p:cNvPr id="4199" name="Google Shape;4199;p192:notes"/>
          <p:cNvSpPr txBox="1"/>
          <p:nvPr>
            <p:ph idx="11" type="ftr"/>
          </p:nvPr>
        </p:nvSpPr>
        <p:spPr>
          <a:xfrm>
            <a:off x="457200" y="9514580"/>
            <a:ext cx="2971800" cy="10772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a:t>© 2014 Teradata</a:t>
            </a:r>
            <a:endParaRPr/>
          </a:p>
        </p:txBody>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7" name="Shape 4217"/>
        <p:cNvGrpSpPr/>
        <p:nvPr/>
      </p:nvGrpSpPr>
      <p:grpSpPr>
        <a:xfrm>
          <a:off x="0" y="0"/>
          <a:ext cx="0" cy="0"/>
          <a:chOff x="0" y="0"/>
          <a:chExt cx="0" cy="0"/>
        </a:xfrm>
      </p:grpSpPr>
      <p:sp>
        <p:nvSpPr>
          <p:cNvPr id="4218" name="Google Shape;4218;p193:notes"/>
          <p:cNvSpPr txBox="1"/>
          <p:nvPr>
            <p:ph idx="1" type="body"/>
          </p:nvPr>
        </p:nvSpPr>
        <p:spPr>
          <a:xfrm>
            <a:off x="685800" y="4724202"/>
            <a:ext cx="5486400" cy="4475560"/>
          </a:xfrm>
          <a:prstGeom prst="rect">
            <a:avLst/>
          </a:prstGeom>
        </p:spPr>
        <p:txBody>
          <a:bodyPr anchorCtr="0" anchor="t" bIns="45700" lIns="91425" spcFirstLastPara="1" rIns="91425" wrap="square" tIns="45700">
            <a:noAutofit/>
          </a:bodyPr>
          <a:lstStyle/>
          <a:p>
            <a:pPr indent="0" lvl="0" marL="0" rtl="0" algn="l">
              <a:spcBef>
                <a:spcPts val="400"/>
              </a:spcBef>
              <a:spcAft>
                <a:spcPts val="0"/>
              </a:spcAft>
              <a:buNone/>
            </a:pPr>
            <a:r>
              <a:t>FPM — Challenges (continued)</a:t>
            </a:r>
            <a:br/>
            <a:br/>
            <a:r>
              <a:t>Additional Pakistan challenges:</a:t>
            </a:r>
            <a:br/>
            <a:r>
              <a:t>- SBP statutory return deadlines are strict — penalties for late/inaccurate filing</a:t>
            </a:r>
            <a:br/>
            <a:r>
              <a:t>- SECP/PSX disclosure requirements increasing for listed banking groups</a:t>
            </a:r>
            <a:br/>
            <a:r>
              <a:t>- Basel III implementation requires integrated data for LCR, NSFR, CAR calculations</a:t>
            </a:r>
            <a:br/>
            <a:r>
              <a:t>- Talent shortage: Pakistan lacks sufficient IFRS 9 / data analytics professionals</a:t>
            </a:r>
            <a:br/>
            <a:r>
              <a:t>- Legacy system retirement: Some banks still run 20+ year old core systems</a:t>
            </a:r>
            <a:br/>
            <a:br/>
            <a:r>
              <a:t>FSDM: RGLTY_RPT (Regulatory Report), BSL (Basel), LCR (Liquidity Coverage Ratio), CAR (Capital Adequacy Ratio)</a:t>
            </a:r>
            <a:endParaRPr/>
          </a:p>
        </p:txBody>
      </p:sp>
      <p:sp>
        <p:nvSpPr>
          <p:cNvPr id="4219" name="Google Shape;4219;p193: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6" name="Shape 4226"/>
        <p:cNvGrpSpPr/>
        <p:nvPr/>
      </p:nvGrpSpPr>
      <p:grpSpPr>
        <a:xfrm>
          <a:off x="0" y="0"/>
          <a:ext cx="0" cy="0"/>
          <a:chOff x="0" y="0"/>
          <a:chExt cx="0" cy="0"/>
        </a:xfrm>
      </p:grpSpPr>
      <p:sp>
        <p:nvSpPr>
          <p:cNvPr id="4227" name="Google Shape;4227;p194:notes"/>
          <p:cNvSpPr txBox="1"/>
          <p:nvPr>
            <p:ph idx="1" type="body"/>
          </p:nvPr>
        </p:nvSpPr>
        <p:spPr>
          <a:xfrm>
            <a:off x="685800" y="4724202"/>
            <a:ext cx="5486400" cy="4475560"/>
          </a:xfrm>
          <a:prstGeom prst="rect">
            <a:avLst/>
          </a:prstGeom>
        </p:spPr>
        <p:txBody>
          <a:bodyPr anchorCtr="0" anchor="t" bIns="45700" lIns="91425" spcFirstLastPara="1" rIns="91425" wrap="square" tIns="45700">
            <a:noAutofit/>
          </a:bodyPr>
          <a:lstStyle/>
          <a:p>
            <a:pPr indent="0" lvl="0" marL="0" rtl="0" algn="l">
              <a:spcBef>
                <a:spcPts val="400"/>
              </a:spcBef>
              <a:spcAft>
                <a:spcPts val="0"/>
              </a:spcAft>
              <a:buNone/>
            </a:pPr>
            <a:r>
              <a:t>FPM — Are You Able To...</a:t>
            </a:r>
            <a:br/>
            <a:br/>
            <a:r>
              <a:t>PAKISTAN ASSESSMENT QUESTIONS:</a:t>
            </a:r>
            <a:br/>
            <a:r>
              <a:t>- Can you produce branch-level P&amp;L for all 16,000+ branches?</a:t>
            </a:r>
            <a:br/>
            <a:r>
              <a:t>- Can you calculate customer profitability across conventional AND Islamic product lines?</a:t>
            </a:r>
            <a:br/>
            <a:r>
              <a:t>- Can you automate SBP statutory returns from a single data source?</a:t>
            </a:r>
            <a:br/>
            <a:r>
              <a:t>- Can you produce IFRS 9 ECL reports with full drill-down to individual loan data?</a:t>
            </a:r>
            <a:br/>
            <a:r>
              <a:t>- Can you calculate FTP using KIBOR yield curve rather than flat spreads?</a:t>
            </a:r>
            <a:br/>
            <a:r>
              <a:t>- Can you consolidate across all group entities (bank + Islamic + Takaful + AMC + brokerage)?</a:t>
            </a:r>
            <a:br/>
            <a:r>
              <a:t>- Can you close monthly books in under 10 days?</a:t>
            </a:r>
            <a:br/>
            <a:r>
              <a:t>- Can you automate reconciliation across 4-5 core banking systems?</a:t>
            </a:r>
            <a:br/>
            <a:br/>
            <a:r>
              <a:t>These questions define the gap between current Pakistan banking finance capability and global best practice.</a:t>
            </a:r>
            <a:br/>
            <a:br/>
            <a:r>
              <a:t>FSDM: Assessment questions map to all 35 FPM sub-capabilities across 4 sub-domains.</a:t>
            </a:r>
            <a:endParaRPr/>
          </a:p>
        </p:txBody>
      </p:sp>
      <p:sp>
        <p:nvSpPr>
          <p:cNvPr id="4228" name="Google Shape;4228;p194: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5" name="Shape 4235"/>
        <p:cNvGrpSpPr/>
        <p:nvPr/>
      </p:nvGrpSpPr>
      <p:grpSpPr>
        <a:xfrm>
          <a:off x="0" y="0"/>
          <a:ext cx="0" cy="0"/>
          <a:chOff x="0" y="0"/>
          <a:chExt cx="0" cy="0"/>
        </a:xfrm>
      </p:grpSpPr>
      <p:sp>
        <p:nvSpPr>
          <p:cNvPr id="4236" name="Google Shape;4236;p195:notes"/>
          <p:cNvSpPr txBox="1"/>
          <p:nvPr>
            <p:ph idx="1" type="body"/>
          </p:nvPr>
        </p:nvSpPr>
        <p:spPr>
          <a:xfrm>
            <a:off x="685800" y="4724202"/>
            <a:ext cx="5486400" cy="4475560"/>
          </a:xfrm>
          <a:prstGeom prst="rect">
            <a:avLst/>
          </a:prstGeom>
        </p:spPr>
        <p:txBody>
          <a:bodyPr anchorCtr="0" anchor="t" bIns="45700" lIns="91425" spcFirstLastPara="1" rIns="91425" wrap="square" tIns="45700">
            <a:noAutofit/>
          </a:bodyPr>
          <a:lstStyle/>
          <a:p>
            <a:pPr indent="0" lvl="0" marL="0" rtl="0" algn="l">
              <a:spcBef>
                <a:spcPts val="400"/>
              </a:spcBef>
              <a:spcAft>
                <a:spcPts val="0"/>
              </a:spcAft>
              <a:buNone/>
            </a:pPr>
            <a:r>
              <a:t>FPM — How (Capabilities)</a:t>
            </a:r>
            <a:br/>
            <a:br/>
            <a:r>
              <a:t>PAKISTAN SOLUTION APPROACH:</a:t>
            </a:r>
            <a:br/>
            <a:r>
              <a:t>FSDM-based data warehouse provides the integrated financial data foundation required for all downstream finance analytics. The approach:</a:t>
            </a:r>
            <a:br/>
            <a:br/>
            <a:r>
              <a:t>1. DATA INTEGRATION: Unified sub-ledger from all core banking systems</a:t>
            </a:r>
            <a:br/>
            <a:r>
              <a:t>2. CHART OF ACCOUNTS: Consistent COA mapping across all source systems</a:t>
            </a:r>
            <a:br/>
            <a:r>
              <a:t>3. DUAL ACCOUNTING: IFRS + AAOIFI entries from same operational transactions</a:t>
            </a:r>
            <a:br/>
            <a:r>
              <a:t>4. GRANULARITY: Transaction-level detail enabling any aggregation</a:t>
            </a:r>
            <a:br/>
            <a:r>
              <a:t>5. TIMELINESS: Near-real-time data feeds reducing close cycle</a:t>
            </a:r>
            <a:br/>
            <a:r>
              <a:t>6. AUDITABILITY: Full lineage from report to source transaction</a:t>
            </a:r>
            <a:br/>
            <a:br/>
            <a:r>
              <a:t>UBL CONTEXT: Customer Profitability Engine demonstrates how FSDM star schema enables PKR-denominated profitability across all product lines.</a:t>
            </a:r>
            <a:br/>
            <a:br/>
            <a:r>
              <a:t>FSDM: FSDM_DW (FSDM Data Warehouse), COA (Chart of Accounts), SUB_LDGR (Sub-Ledger), ACCTNG_HUB (Accounting Hub)</a:t>
            </a:r>
            <a:endParaRPr/>
          </a:p>
        </p:txBody>
      </p:sp>
      <p:sp>
        <p:nvSpPr>
          <p:cNvPr id="4237" name="Google Shape;4237;p195: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4" name="Shape 4244"/>
        <p:cNvGrpSpPr/>
        <p:nvPr/>
      </p:nvGrpSpPr>
      <p:grpSpPr>
        <a:xfrm>
          <a:off x="0" y="0"/>
          <a:ext cx="0" cy="0"/>
          <a:chOff x="0" y="0"/>
          <a:chExt cx="0" cy="0"/>
        </a:xfrm>
      </p:grpSpPr>
      <p:sp>
        <p:nvSpPr>
          <p:cNvPr id="4245" name="Google Shape;4245;p196:notes"/>
          <p:cNvSpPr txBox="1"/>
          <p:nvPr>
            <p:ph idx="1" type="body"/>
          </p:nvPr>
        </p:nvSpPr>
        <p:spPr>
          <a:xfrm>
            <a:off x="685800" y="4724202"/>
            <a:ext cx="5486400" cy="4475560"/>
          </a:xfrm>
          <a:prstGeom prst="rect">
            <a:avLst/>
          </a:prstGeom>
        </p:spPr>
        <p:txBody>
          <a:bodyPr anchorCtr="0" anchor="t" bIns="45700" lIns="91425" spcFirstLastPara="1" rIns="91425" wrap="square" tIns="45700">
            <a:noAutofit/>
          </a:bodyPr>
          <a:lstStyle/>
          <a:p>
            <a:pPr indent="0" lvl="0" marL="0" rtl="0" algn="l">
              <a:spcBef>
                <a:spcPts val="400"/>
              </a:spcBef>
              <a:spcAft>
                <a:spcPts val="0"/>
              </a:spcAft>
              <a:buNone/>
            </a:pPr>
            <a:r>
              <a:t>FPM — Value Proposition</a:t>
            </a:r>
            <a:br/>
            <a:br/>
            <a:r>
              <a:t>VALUE FOR PAKISTAN BANKS:</a:t>
            </a:r>
            <a:br/>
            <a:r>
              <a:t>1. COMPLIANCE: Timely, accurate SBP statutory returns — avoid penalties</a:t>
            </a:r>
            <a:br/>
            <a:r>
              <a:t>2. EFFICIENCY: Close cycle from 15-30 days to &lt;5 days</a:t>
            </a:r>
            <a:br/>
            <a:r>
              <a:t>3. PROFITABILITY: Branch/customer/product P&amp;L enabling data-driven decisions</a:t>
            </a:r>
            <a:br/>
            <a:r>
              <a:t>4. RISK: IFRS 9 ECL automation reducing provisioning errors</a:t>
            </a:r>
            <a:br/>
            <a:r>
              <a:t>5. TAX: Automated WHT and tax calculations — FBR compliance</a:t>
            </a:r>
            <a:br/>
            <a:r>
              <a:t>6. CONSOLIDATION: Group-wide view across all entities</a:t>
            </a:r>
            <a:br/>
            <a:br/>
            <a:r>
              <a:t>ESTIMATED VALUE: PKR 5B+ annual cost savings from optimized finance operations, reduced provisioning errors, and improved capital allocation across a top-5 Pakistan bank.</a:t>
            </a:r>
            <a:br/>
            <a:br/>
            <a:r>
              <a:t>FSDM: Value delivered through integrated data across all FPM domains.</a:t>
            </a:r>
            <a:endParaRPr/>
          </a:p>
        </p:txBody>
      </p:sp>
      <p:sp>
        <p:nvSpPr>
          <p:cNvPr id="4246" name="Google Shape;4246;p196: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7" name="Shape 4267"/>
        <p:cNvGrpSpPr/>
        <p:nvPr/>
      </p:nvGrpSpPr>
      <p:grpSpPr>
        <a:xfrm>
          <a:off x="0" y="0"/>
          <a:ext cx="0" cy="0"/>
          <a:chOff x="0" y="0"/>
          <a:chExt cx="0" cy="0"/>
        </a:xfrm>
      </p:grpSpPr>
      <p:sp>
        <p:nvSpPr>
          <p:cNvPr id="4268" name="Google Shape;4268;p197:notes"/>
          <p:cNvSpPr txBox="1"/>
          <p:nvPr>
            <p:ph idx="1" type="body"/>
          </p:nvPr>
        </p:nvSpPr>
        <p:spPr>
          <a:xfrm>
            <a:off x="685800" y="4724202"/>
            <a:ext cx="5486400" cy="4475560"/>
          </a:xfrm>
          <a:prstGeom prst="rect">
            <a:avLst/>
          </a:prstGeom>
        </p:spPr>
        <p:txBody>
          <a:bodyPr anchorCtr="0" anchor="t" bIns="45700" lIns="91425" spcFirstLastPara="1" rIns="91425" wrap="square" tIns="45700">
            <a:noAutofit/>
          </a:bodyPr>
          <a:lstStyle/>
          <a:p>
            <a:pPr indent="0" lvl="0" marL="0" rtl="0" algn="l">
              <a:spcBef>
                <a:spcPts val="400"/>
              </a:spcBef>
              <a:spcAft>
                <a:spcPts val="0"/>
              </a:spcAft>
              <a:buNone/>
            </a:pPr>
            <a:r>
              <a:t>FPM — Value (continued)</a:t>
            </a:r>
            <a:br/>
            <a:br/>
            <a:r>
              <a:t>Additional value dimensions:</a:t>
            </a:r>
            <a:br/>
            <a:r>
              <a:t>- REGULATORY: Reduced risk of SBP penalties for delayed/inaccurate returns</a:t>
            </a:r>
            <a:br/>
            <a:r>
              <a:t>- STRATEGIC: Data-driven decision making for branch network optimization</a:t>
            </a:r>
            <a:br/>
            <a:r>
              <a:t>- CAPITAL: Optimized capital allocation through accurate risk-weighted asset calculation</a:t>
            </a:r>
            <a:br/>
            <a:r>
              <a:t>- INVESTOR: Improved disclosure quality for PSX-listed banking groups</a:t>
            </a:r>
            <a:br/>
            <a:r>
              <a:t>- ISLAMIC: Proper Shariah-compliant accounting builds trust with Islamic banking customers</a:t>
            </a:r>
            <a:br/>
            <a:br/>
            <a:r>
              <a:t>ROI: Finance transformation investments typically deliver 5-8x ROI over 3 years through efficiency gains, reduced regulatory risk, and improved profitability analytics.</a:t>
            </a:r>
            <a:br/>
            <a:br/>
            <a:r>
              <a:t>FSDM: All FPM entities contribute to comprehensive value realization.</a:t>
            </a:r>
            <a:endParaRPr/>
          </a:p>
        </p:txBody>
      </p:sp>
      <p:sp>
        <p:nvSpPr>
          <p:cNvPr id="4269" name="Google Shape;4269;p197: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6" name="Shape 4276"/>
        <p:cNvGrpSpPr/>
        <p:nvPr/>
      </p:nvGrpSpPr>
      <p:grpSpPr>
        <a:xfrm>
          <a:off x="0" y="0"/>
          <a:ext cx="0" cy="0"/>
          <a:chOff x="0" y="0"/>
          <a:chExt cx="0" cy="0"/>
        </a:xfrm>
      </p:grpSpPr>
      <p:sp>
        <p:nvSpPr>
          <p:cNvPr id="4277" name="Google Shape;4277;p198:notes"/>
          <p:cNvSpPr txBox="1"/>
          <p:nvPr>
            <p:ph idx="1" type="body"/>
          </p:nvPr>
        </p:nvSpPr>
        <p:spPr>
          <a:xfrm>
            <a:off x="685800" y="4724202"/>
            <a:ext cx="5486400" cy="4475560"/>
          </a:xfrm>
          <a:prstGeom prst="rect">
            <a:avLst/>
          </a:prstGeom>
        </p:spPr>
        <p:txBody>
          <a:bodyPr anchorCtr="0" anchor="t" bIns="45700" lIns="91425" spcFirstLastPara="1" rIns="91425" wrap="square" tIns="45700">
            <a:noAutofit/>
          </a:bodyPr>
          <a:lstStyle/>
          <a:p>
            <a:pPr indent="0" lvl="0" marL="0" rtl="0" algn="l">
              <a:spcBef>
                <a:spcPts val="400"/>
              </a:spcBef>
              <a:spcAft>
                <a:spcPts val="0"/>
              </a:spcAft>
              <a:buNone/>
            </a:pPr>
            <a:r>
              <a:t>SECTION DIVIDER: Finance and Performance Management Capabilities</a:t>
            </a:r>
            <a:br/>
            <a:br/>
            <a:r>
              <a:t>This section transitions from the FPM domain overview to the detailed capability slides. The following 25 slides cover 10 Accounting Operations capabilities in detail, each with a Capability Detail slide and a Maturity Assessment slide.</a:t>
            </a:r>
            <a:br/>
            <a:br/>
            <a:r>
              <a:t>Pakistan banks should prioritize these capabilities based on:</a:t>
            </a:r>
            <a:br/>
            <a:r>
              <a:t>1. SBP regulatory requirements (IFRS 9, Basel III, statutory returns)</a:t>
            </a:r>
            <a:br/>
            <a:r>
              <a:t>2. Quick wins (reconciliation automation, WHT automation)</a:t>
            </a:r>
            <a:br/>
            <a:r>
              <a:t>3. Strategic value (branch P&amp;L, customer profitability)</a:t>
            </a:r>
            <a:br/>
            <a:r>
              <a:t>4. Islamic banking requirements (dual IFRS + AAOIFI accounting)</a:t>
            </a:r>
            <a:endParaRPr/>
          </a:p>
        </p:txBody>
      </p:sp>
      <p:sp>
        <p:nvSpPr>
          <p:cNvPr id="4278" name="Google Shape;4278;p198: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1" name="Shape 4281"/>
        <p:cNvGrpSpPr/>
        <p:nvPr/>
      </p:nvGrpSpPr>
      <p:grpSpPr>
        <a:xfrm>
          <a:off x="0" y="0"/>
          <a:ext cx="0" cy="0"/>
          <a:chOff x="0" y="0"/>
          <a:chExt cx="0" cy="0"/>
        </a:xfrm>
      </p:grpSpPr>
      <p:sp>
        <p:nvSpPr>
          <p:cNvPr id="4282" name="Google Shape;4282;p199:notes"/>
          <p:cNvSpPr txBox="1"/>
          <p:nvPr>
            <p:ph idx="1" type="body"/>
          </p:nvPr>
        </p:nvSpPr>
        <p:spPr>
          <a:xfrm>
            <a:off x="685800" y="4724202"/>
            <a:ext cx="5486400" cy="4475560"/>
          </a:xfrm>
          <a:prstGeom prst="rect">
            <a:avLst/>
          </a:prstGeom>
        </p:spPr>
        <p:txBody>
          <a:bodyPr anchorCtr="0" anchor="t" bIns="45700" lIns="91425" spcFirstLastPara="1" rIns="91425" wrap="square" tIns="45700">
            <a:noAutofit/>
          </a:bodyPr>
          <a:lstStyle/>
          <a:p>
            <a:pPr indent="0" lvl="0" marL="0" rtl="0" algn="l">
              <a:spcBef>
                <a:spcPts val="400"/>
              </a:spcBef>
              <a:spcAft>
                <a:spcPts val="0"/>
              </a:spcAft>
              <a:buNone/>
            </a:pPr>
            <a:r>
              <a:t>ACCOUNTING OPERATIONS AND CLOSE — Why Important</a:t>
            </a:r>
            <a:br/>
            <a:br/>
            <a:r>
              <a:t>Pakistan banking context: Quality of financial close is under SBP scrutiny. Banks with delayed or restated financials face regulatory action. IFRS 9 implementation (since 2018) has made the close process significantly more complex — ECL recalculation required at each reporting date.</a:t>
            </a:r>
            <a:br/>
            <a:br/>
            <a:r>
              <a:t>Key importance for Pakistan banks:</a:t>
            </a:r>
            <a:br/>
            <a:r>
              <a:t>- SBP demands increasing granularity in regulatory returns</a:t>
            </a:r>
            <a:br/>
            <a:r>
              <a:t>- External auditors require transaction-level drill-down</a:t>
            </a:r>
            <a:br/>
            <a:r>
              <a:t>- IFRS 9 ECL adds 5-10 days to close cycle at most banks</a:t>
            </a:r>
            <a:br/>
            <a:r>
              <a:t>- Islamic banking parallel books add additional reconciliation layer</a:t>
            </a:r>
            <a:br/>
            <a:br/>
            <a:r>
              <a:t>FSDM: ACCTNG_OPS (Accounting Operations), CLS (Close), PRCSS (Process), WRKFLW (Workflow)</a:t>
            </a:r>
            <a:endParaRPr/>
          </a:p>
        </p:txBody>
      </p:sp>
      <p:sp>
        <p:nvSpPr>
          <p:cNvPr id="4283" name="Google Shape;4283;p199: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0" name="Shape 4290"/>
        <p:cNvGrpSpPr/>
        <p:nvPr/>
      </p:nvGrpSpPr>
      <p:grpSpPr>
        <a:xfrm>
          <a:off x="0" y="0"/>
          <a:ext cx="0" cy="0"/>
          <a:chOff x="0" y="0"/>
          <a:chExt cx="0" cy="0"/>
        </a:xfrm>
      </p:grpSpPr>
      <p:sp>
        <p:nvSpPr>
          <p:cNvPr id="4291" name="Google Shape;4291;p200: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92" name="Google Shape;4292;p200: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ACCOUNTING OPERATIONS AND CLOSE — Business Challenges</a:t>
            </a:r>
            <a:br/>
            <a:br/>
            <a:r>
              <a:t>PAKISTAN-SPECIFIC CHALLENGES:</a:t>
            </a:r>
            <a:br/>
            <a:r>
              <a:t>1. 4-5 core banking systems with different chart of accounts — manual mapping and reconciliation</a:t>
            </a:r>
            <a:br/>
            <a:r>
              <a:t>2. Islamic banking window sub-ledger creates additional reconciliation layer</a:t>
            </a:r>
            <a:br/>
            <a:r>
              <a:t>3. SBP requires increasing granularity in regulatory returns — summary-level GL data is insufficient</a:t>
            </a:r>
            <a:br/>
            <a:r>
              <a:t>4. External auditors (Big 4 in Pakistan) require detailed drill-down capability</a:t>
            </a:r>
            <a:br/>
            <a:r>
              <a:t>5. IFRS 9 ECL recalculation at each period-end adds complexity and time</a:t>
            </a:r>
            <a:br/>
            <a:r>
              <a:t>6. Lack of automated reconciliation between payment networks (RAAST, 1Link, SWIFT) and GL</a:t>
            </a:r>
            <a:br/>
            <a:r>
              <a:t>7. Month-end close takes 15-30 days — finance team overwhelmed with manual processes</a:t>
            </a:r>
            <a:br/>
            <a:br/>
            <a:r>
              <a:t>FSDM: ACCTNG_OPS (Accounting Operations), CLS (Close), RCNCLTN (Reconciliation), SUB_LDGR (Sub-Ledger)</a:t>
            </a:r>
            <a:endParaRPr/>
          </a:p>
        </p:txBody>
      </p:sp>
      <p:sp>
        <p:nvSpPr>
          <p:cNvPr id="4293" name="Google Shape;4293;p200:notes"/>
          <p:cNvSpPr txBox="1"/>
          <p:nvPr>
            <p:ph idx="11" type="ftr"/>
          </p:nvPr>
        </p:nvSpPr>
        <p:spPr>
          <a:xfrm>
            <a:off x="457200" y="9514580"/>
            <a:ext cx="2971800" cy="10772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a:t>© 2014 Teradata</a:t>
            </a:r>
            <a:endParaRPr/>
          </a:p>
        </p:txBody>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1" name="Shape 4311"/>
        <p:cNvGrpSpPr/>
        <p:nvPr/>
      </p:nvGrpSpPr>
      <p:grpSpPr>
        <a:xfrm>
          <a:off x="0" y="0"/>
          <a:ext cx="0" cy="0"/>
          <a:chOff x="0" y="0"/>
          <a:chExt cx="0" cy="0"/>
        </a:xfrm>
      </p:grpSpPr>
      <p:sp>
        <p:nvSpPr>
          <p:cNvPr id="4312" name="Google Shape;4312;p201:notes"/>
          <p:cNvSpPr txBox="1"/>
          <p:nvPr>
            <p:ph idx="1" type="body"/>
          </p:nvPr>
        </p:nvSpPr>
        <p:spPr>
          <a:xfrm>
            <a:off x="685800" y="4724202"/>
            <a:ext cx="5486400" cy="4475560"/>
          </a:xfrm>
          <a:prstGeom prst="rect">
            <a:avLst/>
          </a:prstGeom>
        </p:spPr>
        <p:txBody>
          <a:bodyPr anchorCtr="0" anchor="t" bIns="45700" lIns="91425" spcFirstLastPara="1" rIns="91425" wrap="square" tIns="45700">
            <a:noAutofit/>
          </a:bodyPr>
          <a:lstStyle/>
          <a:p>
            <a:pPr indent="0" lvl="0" marL="0" rtl="0" algn="l">
              <a:spcBef>
                <a:spcPts val="400"/>
              </a:spcBef>
              <a:spcAft>
                <a:spcPts val="0"/>
              </a:spcAft>
              <a:buNone/>
            </a:pPr>
            <a:r>
              <a:t>ACCOUNTING OPERATIONS AND CLOSE — Are You Able To...</a:t>
            </a:r>
            <a:br/>
            <a:br/>
            <a:r>
              <a:t>Pakistan assessment questions for Accounting Operations:</a:t>
            </a:r>
            <a:br/>
            <a:r>
              <a:t>- Can you reconcile all core banking system GL balances within 24 hours?</a:t>
            </a:r>
            <a:br/>
            <a:r>
              <a:t>- Can you produce IFRS 9 ECL at individual loan level with full audit trail?</a:t>
            </a:r>
            <a:br/>
            <a:r>
              <a:t>- Can you generate dual IFRS + AAOIFI entries from the same operational transactions?</a:t>
            </a:r>
            <a:br/>
            <a:r>
              <a:t>- Can you automate nostro/vostro reconciliation with correspondent banks?</a:t>
            </a:r>
            <a:br/>
            <a:r>
              <a:t>- Can you match RAAST, 1Link, and card network settlements to GL within same day?</a:t>
            </a:r>
            <a:br/>
            <a:r>
              <a:t>- Can you close monthly books in under 10 days?</a:t>
            </a:r>
            <a:br/>
            <a:r>
              <a:t>- Can you provide external auditors with drill-down from GL to source transaction?</a:t>
            </a:r>
            <a:br/>
            <a:br/>
            <a:r>
              <a:t>FSDM: Assessment questions map to all 10 Accounting Operations sub-capabilities.</a:t>
            </a:r>
            <a:endParaRPr/>
          </a:p>
        </p:txBody>
      </p:sp>
      <p:sp>
        <p:nvSpPr>
          <p:cNvPr id="4313" name="Google Shape;4313;p201: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0" name="Shape 4320"/>
        <p:cNvGrpSpPr/>
        <p:nvPr/>
      </p:nvGrpSpPr>
      <p:grpSpPr>
        <a:xfrm>
          <a:off x="0" y="0"/>
          <a:ext cx="0" cy="0"/>
          <a:chOff x="0" y="0"/>
          <a:chExt cx="0" cy="0"/>
        </a:xfrm>
      </p:grpSpPr>
      <p:sp>
        <p:nvSpPr>
          <p:cNvPr id="4321" name="Google Shape;4321;p202:notes"/>
          <p:cNvSpPr txBox="1"/>
          <p:nvPr>
            <p:ph idx="1" type="body"/>
          </p:nvPr>
        </p:nvSpPr>
        <p:spPr>
          <a:xfrm>
            <a:off x="685800" y="4724202"/>
            <a:ext cx="5486400" cy="4475560"/>
          </a:xfrm>
          <a:prstGeom prst="rect">
            <a:avLst/>
          </a:prstGeom>
        </p:spPr>
        <p:txBody>
          <a:bodyPr anchorCtr="0" anchor="t" bIns="45700" lIns="91425" spcFirstLastPara="1" rIns="91425" wrap="square" tIns="45700">
            <a:noAutofit/>
          </a:bodyPr>
          <a:lstStyle/>
          <a:p>
            <a:pPr indent="0" lvl="0" marL="0" rtl="0" algn="l">
              <a:spcBef>
                <a:spcPts val="400"/>
              </a:spcBef>
              <a:spcAft>
                <a:spcPts val="0"/>
              </a:spcAft>
              <a:buNone/>
            </a:pPr>
            <a:r>
              <a:t>ACCOUNTING OPERATIONS AND CLOSE — How (Capabilities)</a:t>
            </a:r>
            <a:br/>
            <a:br/>
            <a:r>
              <a:t>Solution approach for Pakistan banks:</a:t>
            </a:r>
            <a:br/>
            <a:r>
              <a:t>1. UNIFIED SUB-LEDGER: Capture transaction-level data from all core banking systems</a:t>
            </a:r>
            <a:br/>
            <a:r>
              <a:t>2. COA MAPPING: Consistent chart of accounts across all source systems</a:t>
            </a:r>
            <a:br/>
            <a:r>
              <a:t>3. DUAL ACCOUNTING: Automated IFRS + AAOIFI entry generation for Islamic transactions</a:t>
            </a:r>
            <a:br/>
            <a:r>
              <a:t>4. RECONCILIATION: Automated daily reconciliation with exception-based processing</a:t>
            </a:r>
            <a:br/>
            <a:r>
              <a:t>5. IFRS 9 ENGINE: ECL calculation at individual loan level with stage monitoring</a:t>
            </a:r>
            <a:br/>
            <a:r>
              <a:t>6. CLOSE ORCHESTRATION: Automated close workflow with dependency management</a:t>
            </a:r>
            <a:br/>
            <a:r>
              <a:t>7. REPORTING: Automated SBP statutory returns from integrated data source</a:t>
            </a:r>
            <a:br/>
            <a:br/>
            <a:r>
              <a:t>FSDM: SUB_LDGR, COA, RCNCLTN, ECL, CLS_WRKFLW (Close Workflow), RGLTY_RPT (Regulatory Report)</a:t>
            </a:r>
            <a:endParaRPr/>
          </a:p>
        </p:txBody>
      </p:sp>
      <p:sp>
        <p:nvSpPr>
          <p:cNvPr id="4322" name="Google Shape;4322;p202: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9" name="Shape 4329"/>
        <p:cNvGrpSpPr/>
        <p:nvPr/>
      </p:nvGrpSpPr>
      <p:grpSpPr>
        <a:xfrm>
          <a:off x="0" y="0"/>
          <a:ext cx="0" cy="0"/>
          <a:chOff x="0" y="0"/>
          <a:chExt cx="0" cy="0"/>
        </a:xfrm>
      </p:grpSpPr>
      <p:sp>
        <p:nvSpPr>
          <p:cNvPr id="4330" name="Google Shape;4330;p203:notes"/>
          <p:cNvSpPr txBox="1"/>
          <p:nvPr>
            <p:ph idx="1" type="body"/>
          </p:nvPr>
        </p:nvSpPr>
        <p:spPr>
          <a:xfrm>
            <a:off x="685800" y="4724202"/>
            <a:ext cx="5486400" cy="4475560"/>
          </a:xfrm>
          <a:prstGeom prst="rect">
            <a:avLst/>
          </a:prstGeom>
        </p:spPr>
        <p:txBody>
          <a:bodyPr anchorCtr="0" anchor="t" bIns="45700" lIns="91425" spcFirstLastPara="1" rIns="91425" wrap="square" tIns="45700">
            <a:noAutofit/>
          </a:bodyPr>
          <a:lstStyle/>
          <a:p>
            <a:pPr indent="0" lvl="0" marL="0" rtl="0" algn="l">
              <a:spcBef>
                <a:spcPts val="400"/>
              </a:spcBef>
              <a:spcAft>
                <a:spcPts val="0"/>
              </a:spcAft>
              <a:buNone/>
            </a:pPr>
            <a:r>
              <a:t>ACCOUNTING OPERATIONS AND CLOSE — Value</a:t>
            </a:r>
            <a:br/>
            <a:br/>
            <a:r>
              <a:t>Value proposition for Pakistan banks:</a:t>
            </a:r>
            <a:br/>
            <a:r>
              <a:t>- Close cycle: From 15-30 days to &lt;5 days (global benchmark)</a:t>
            </a:r>
            <a:br/>
            <a:r>
              <a:t>- Reconciliation: From 40-50% of finance time to &lt;15%</a:t>
            </a:r>
            <a:br/>
            <a:r>
              <a:t>- IFRS 9: From semi-manual ECL to automated loan-level calculation</a:t>
            </a:r>
            <a:br/>
            <a:r>
              <a:t>- Audit: From weeks of manual drill-down requests to self-service</a:t>
            </a:r>
            <a:br/>
            <a:r>
              <a:t>- Islamic: Dual accounting from parallel manual entry to automated generation</a:t>
            </a:r>
            <a:br/>
            <a:r>
              <a:t>- Compliance: From late/restated returns to on-time, accurate SBP filing</a:t>
            </a:r>
            <a:br/>
            <a:br/>
            <a:r>
              <a:t>Estimated PKR 1-3B annual value from improved finance operations efficiency across a top-5 Pakistan bank.</a:t>
            </a:r>
            <a:br/>
            <a:br/>
            <a:r>
              <a:t>FSDM: Value delivered through integrated Accounting Operations capabilities.</a:t>
            </a:r>
            <a:endParaRPr/>
          </a:p>
        </p:txBody>
      </p:sp>
      <p:sp>
        <p:nvSpPr>
          <p:cNvPr id="4331" name="Google Shape;4331;p203: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8" name="Shape 4348"/>
        <p:cNvGrpSpPr/>
        <p:nvPr/>
      </p:nvGrpSpPr>
      <p:grpSpPr>
        <a:xfrm>
          <a:off x="0" y="0"/>
          <a:ext cx="0" cy="0"/>
          <a:chOff x="0" y="0"/>
          <a:chExt cx="0" cy="0"/>
        </a:xfrm>
      </p:grpSpPr>
      <p:sp>
        <p:nvSpPr>
          <p:cNvPr id="4349" name="Google Shape;4349;p204: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4350" name="Google Shape;4350;p204: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51" name="Google Shape;4351;p204: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BILLING &amp; COLLECTIONS — Capability Detail</a:t>
            </a:r>
            <a:br/>
            <a:br/>
            <a:r>
              <a:t>PAKISTAN COLLECTIONS CONTEXT:</a:t>
            </a:r>
            <a:br/>
            <a:r>
              <a:t>NPL landscape: PKR 900B+ in non-performing loans across industry (~7.5% ratio).</a:t>
            </a:r>
            <a:br/>
            <a:r>
              <a:t>SBP classification: Current &gt; OAEM (90 days) &gt; Substandard (180 days) &gt; Doubtful (1 year) &gt; Loss (5 years)</a:t>
            </a:r>
            <a:br/>
            <a:r>
              <a:t>Provisioning: General 1-2% + Specific (25%-100% depending on classification)</a:t>
            </a:r>
            <a:br/>
            <a:r>
              <a:t>Recovery channels: Call center, field recovery, legal (banking courts), write-off + recovery agents</a:t>
            </a:r>
            <a:br/>
            <a:r>
              <a:t>Challenge: Pakistan's legal system averages 3-7 years for loan recovery — incentivizes early analytical intervention.</a:t>
            </a:r>
            <a:br/>
            <a:br/>
            <a:r>
              <a:t>FSDM: AR_BLNC (Accounts Receivable Balance), INVCE (Invoice), PMT (Payment), CLLCTN (Collection), DPD (Days Past Due), NPL (Non-Performing Loan), CLSFCTN (Classification), PRVSN (Provision)</a:t>
            </a:r>
            <a:endParaRPr/>
          </a:p>
        </p:txBody>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6" name="Shape 4366"/>
        <p:cNvGrpSpPr/>
        <p:nvPr/>
      </p:nvGrpSpPr>
      <p:grpSpPr>
        <a:xfrm>
          <a:off x="0" y="0"/>
          <a:ext cx="0" cy="0"/>
          <a:chOff x="0" y="0"/>
          <a:chExt cx="0" cy="0"/>
        </a:xfrm>
      </p:grpSpPr>
      <p:sp>
        <p:nvSpPr>
          <p:cNvPr id="4367" name="Google Shape;4367;p205: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4368" name="Google Shape;4368;p205: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69" name="Google Shape;4369;p205: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BILLING &amp; COLLECTIONS — Maturity Assessment</a:t>
            </a:r>
            <a:br/>
            <a:br/>
            <a:r>
              <a:t>Current State (Developing): Basic collection tracking. SBP classification managed semi-manually. Limited ECIB integration for collection prioritization.</a:t>
            </a:r>
            <a:br/>
            <a:br/>
            <a:r>
              <a:t>Target State (Innovating): Automated ECIB-driven collection strategy, real-time SBP classification tracking, segment-based collection optimization, predictive early-warning system.</a:t>
            </a:r>
            <a:br/>
            <a:br/>
            <a:r>
              <a:t>Pakistan Context: With PKR 900B+ NPLs and 3-7 year legal recovery timelines, analytical early intervention is the highest-value capability.</a:t>
            </a:r>
            <a:br/>
            <a:br/>
            <a:r>
              <a:t>FSDM: CLLCTN (Collection), DPD (Days Past Due), NPL (Non-Performing Loan), CLSFCTN (Classification), PRVSN (Provision), ECIB (Credit Bureau)</a:t>
            </a:r>
            <a:endParaRPr/>
          </a:p>
        </p:txBody>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0" name="Shape 4380"/>
        <p:cNvGrpSpPr/>
        <p:nvPr/>
      </p:nvGrpSpPr>
      <p:grpSpPr>
        <a:xfrm>
          <a:off x="0" y="0"/>
          <a:ext cx="0" cy="0"/>
          <a:chOff x="0" y="0"/>
          <a:chExt cx="0" cy="0"/>
        </a:xfrm>
      </p:grpSpPr>
      <p:sp>
        <p:nvSpPr>
          <p:cNvPr id="4381" name="Google Shape;4381;p206: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4382" name="Google Shape;4382;p206: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83" name="Google Shape;4383;p206: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PROCUREMENT &amp; PAYMENT — Capability Detail</a:t>
            </a:r>
            <a:br/>
            <a:br/>
            <a:r>
              <a:t>PAKISTAN PROCUREMENT CONTEXT:</a:t>
            </a:r>
            <a:br/>
            <a:r>
              <a:t>Pakistan banks are significant purchasers: IT infrastructure, branch construction/maintenance, security, stationery, marketing services, consulting, audit fees.</a:t>
            </a:r>
            <a:br/>
            <a:br/>
            <a:r>
              <a:t>Tax complexity: Every vendor payment requires WHT deduction at source. Rates vary:</a:t>
            </a:r>
            <a:br/>
            <a:r>
              <a:t>- Services: 8% (filer) / 16% (non-filer)</a:t>
            </a:r>
            <a:br/>
            <a:r>
              <a:t>- Supplies: 4% (filer) / 8% (non-filer)</a:t>
            </a:r>
            <a:br/>
            <a:r>
              <a:t>- Contracts: 7% (filer) / 14% (non-filer)</a:t>
            </a:r>
            <a:br/>
            <a:r>
              <a:t>FBR filer status must be verified for each payment — active taxpayer list (ATL) changes monthly.</a:t>
            </a:r>
            <a:br/>
            <a:br/>
            <a:r>
              <a:t>FSDM: VNDR (Vendor), PO (Purchase Order), INVCE (Invoice), PMT (Payment), WHT (Withholding Tax), AP_BLNC (Accounts Payable Balance)</a:t>
            </a:r>
            <a:endParaRPr/>
          </a:p>
        </p:txBody>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8" name="Shape 4398"/>
        <p:cNvGrpSpPr/>
        <p:nvPr/>
      </p:nvGrpSpPr>
      <p:grpSpPr>
        <a:xfrm>
          <a:off x="0" y="0"/>
          <a:ext cx="0" cy="0"/>
          <a:chOff x="0" y="0"/>
          <a:chExt cx="0" cy="0"/>
        </a:xfrm>
      </p:grpSpPr>
      <p:sp>
        <p:nvSpPr>
          <p:cNvPr id="4399" name="Google Shape;4399;p207: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4400" name="Google Shape;4400;p207: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01" name="Google Shape;4401;p207: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PROCUREMENT &amp; PAYMENT — Maturity Assessment</a:t>
            </a:r>
            <a:br/>
            <a:br/>
            <a:r>
              <a:t>Current State (Developing): Manual FBR filer status verification. WHT calculated manually for many vendor categories. No centralized procurement across group entities.</a:t>
            </a:r>
            <a:br/>
            <a:br/>
            <a:r>
              <a:t>Target State (Innovating): Automated ATL lookup, automated WHT calculation across all vendor categories, centralized procurement analytics across all group entities.</a:t>
            </a:r>
            <a:br/>
            <a:br/>
            <a:r>
              <a:t>Pakistan Context: FBR ATL changes monthly — manual verification for thousands of vendors is error-prone and non-compliant.</a:t>
            </a:r>
            <a:br/>
            <a:br/>
            <a:r>
              <a:t>FSDM: VNDR (Vendor), WHT (Withholding Tax), ATL (Active Taxpayer List), AP_BLNC (Accounts Payable Balance)</a:t>
            </a:r>
            <a:endParaRPr/>
          </a:p>
        </p:txBody>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2" name="Shape 4412"/>
        <p:cNvGrpSpPr/>
        <p:nvPr/>
      </p:nvGrpSpPr>
      <p:grpSpPr>
        <a:xfrm>
          <a:off x="0" y="0"/>
          <a:ext cx="0" cy="0"/>
          <a:chOff x="0" y="0"/>
          <a:chExt cx="0" cy="0"/>
        </a:xfrm>
      </p:grpSpPr>
      <p:sp>
        <p:nvSpPr>
          <p:cNvPr id="4413" name="Google Shape;4413;p208: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4414" name="Google Shape;4414;p208: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15" name="Google Shape;4415;p208: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SUB-LEDGER ACCOUNTING — Capability Detail</a:t>
            </a:r>
            <a:br/>
            <a:br/>
            <a:r>
              <a:t>PAKISTAN SUB-LEDGER CONTEXT:</a:t>
            </a:r>
            <a:br/>
            <a:r>
              <a:t>Pakistan banks typically operate "thick" GLs because sub-ledger data is not centralized:</a:t>
            </a:r>
            <a:br/>
            <a:r>
              <a:t>- Core banking system generates summary GL postings (not transaction-level)</a:t>
            </a:r>
            <a:br/>
            <a:r>
              <a:t>- Cards system posts net settlements to GL</a:t>
            </a:r>
            <a:br/>
            <a:r>
              <a:t>- Islamic banking window posts separately</a:t>
            </a:r>
            <a:br/>
            <a:r>
              <a:t>- Trade finance posts separately</a:t>
            </a:r>
            <a:br/>
            <a:r>
              <a:t>- Investment/treasury system posts separately</a:t>
            </a:r>
            <a:br/>
            <a:br/>
            <a:r>
              <a:t>Result: GL has 50,000+ accounts but limited drill-down to transaction detail.</a:t>
            </a:r>
            <a:br/>
            <a:br/>
            <a:r>
              <a:t>FSDM solution: Create sub-ledger accounting hub that captures individual transaction-level entries from each source, applies consistent COA mapping, generates dual IFRS/AAOIFI entries for Islamic transactions, and enables full drill-down.</a:t>
            </a:r>
            <a:br/>
            <a:br/>
            <a:r>
              <a:t>FSDM: ACCTNG_EVNT (Accounting Event), SUB_LDGR (Sub-Ledger), GL_PSTNG (GL Posting), COA (Chart of Accounts), FIN_INSTRMT (Financial Instrument), ACCTNG_RULE (Accounting Rule)</a:t>
            </a:r>
            <a:endParaRPr/>
          </a:p>
        </p:txBody>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0" name="Shape 4430"/>
        <p:cNvGrpSpPr/>
        <p:nvPr/>
      </p:nvGrpSpPr>
      <p:grpSpPr>
        <a:xfrm>
          <a:off x="0" y="0"/>
          <a:ext cx="0" cy="0"/>
          <a:chOff x="0" y="0"/>
          <a:chExt cx="0" cy="0"/>
        </a:xfrm>
      </p:grpSpPr>
      <p:sp>
        <p:nvSpPr>
          <p:cNvPr id="4431" name="Google Shape;4431;p209: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4432" name="Google Shape;4432;p209: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33" name="Google Shape;4433;p209: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SUB-LEDGER ACCOUNTING — Maturity Assessment</a:t>
            </a:r>
            <a:br/>
            <a:br/>
            <a:r>
              <a:t>Current State (Developing): Summary GL postings from core systems. No centralized sub-ledger. Limited drill-down. Manual COA mapping between systems.</a:t>
            </a:r>
            <a:br/>
            <a:br/>
            <a:r>
              <a:t>Target State (Innovating): Unified transaction-level sub-ledger across all core systems with consistent COA, dual IFRS/AAOIFI entries, and full audit trail.</a:t>
            </a:r>
            <a:br/>
            <a:br/>
            <a:r>
              <a:t>Pakistan Context: This is the foundational capability — without unified sub-ledger, IFRS 9 ECL, branch P&amp;L, customer profitability, and regulatory reporting are all compromised.</a:t>
            </a:r>
            <a:br/>
            <a:br/>
            <a:r>
              <a:t>FSDM: SUB_LDGR (Sub-Ledger), GL_PSTNG (GL Posting), COA (Chart of Accounts), ACCTNG_EVNT (Accounting Event)</a:t>
            </a:r>
            <a:endParaRPr/>
          </a:p>
        </p:txBody>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4" name="Shape 4444"/>
        <p:cNvGrpSpPr/>
        <p:nvPr/>
      </p:nvGrpSpPr>
      <p:grpSpPr>
        <a:xfrm>
          <a:off x="0" y="0"/>
          <a:ext cx="0" cy="0"/>
          <a:chOff x="0" y="0"/>
          <a:chExt cx="0" cy="0"/>
        </a:xfrm>
      </p:grpSpPr>
      <p:sp>
        <p:nvSpPr>
          <p:cNvPr id="4445" name="Google Shape;4445;p210: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4446" name="Google Shape;4446;p210: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47" name="Google Shape;4447;p210: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FAIR VALUE &amp; HEDGE ACCOUNTING — Capability Detail</a:t>
            </a:r>
            <a:br/>
            <a:br/>
            <a:r>
              <a:t>PAKISTAN FAIR VALUE CONTEXT:</a:t>
            </a:r>
            <a:br/>
            <a:r>
              <a:t>Government securities portfolio: Pakistan banks hold PKR 10T+ in government securities (PIBs, T-Bills, Sukuk).</a:t>
            </a:r>
            <a:br/>
            <a:r>
              <a:t>SBP classification impacts P&amp;L: HTM (amortized cost) vs. AFS (OCI) vs. HFT (P&amp;L). Reclassification under IFRS 9 created significant one-time impacts.</a:t>
            </a:r>
            <a:br/>
            <a:br/>
            <a:r>
              <a:t>FX hedging: Banks hedge trade finance, remittance (USD 30B+/year), and treasury positions. SBP limits open FX positions.</a:t>
            </a:r>
            <a:br/>
            <a:br/>
            <a:r>
              <a:t>Islamic securities: Sukuk (Islamic bonds) require fair valuation under both IFRS and AAOIFI — different measurement approaches.</a:t>
            </a:r>
            <a:br/>
            <a:br/>
            <a:r>
              <a:t>FSDM: FV_ADJSTMNT (Fair Value Adjustment), HDG (Hedge), HDG_EFCTVNS (Hedge Effectiveness), SCRTY (Security), SCRTY_VLTN (Security Valuation), FX_PSITN (FX Position)</a:t>
            </a:r>
            <a:endParaRPr/>
          </a:p>
        </p:txBody>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2" name="Shape 4462"/>
        <p:cNvGrpSpPr/>
        <p:nvPr/>
      </p:nvGrpSpPr>
      <p:grpSpPr>
        <a:xfrm>
          <a:off x="0" y="0"/>
          <a:ext cx="0" cy="0"/>
          <a:chOff x="0" y="0"/>
          <a:chExt cx="0" cy="0"/>
        </a:xfrm>
      </p:grpSpPr>
      <p:sp>
        <p:nvSpPr>
          <p:cNvPr id="4463" name="Google Shape;4463;p211: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4464" name="Google Shape;4464;p211: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65" name="Google Shape;4465;p211: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FAIR VALUE &amp; HEDGE ACCOUNTING — Maturity Assessment</a:t>
            </a:r>
            <a:br/>
            <a:br/>
            <a:r>
              <a:t>Current State (Developing): Government securities valued but process is semi-manual. FX hedging documented but hedge effectiveness testing limited. Islamic securities valuation lacks standardization.</a:t>
            </a:r>
            <a:br/>
            <a:br/>
            <a:r>
              <a:t>Target State (Innovating): Automated daily mark-to-market, robust hedge effectiveness testing, integrated IFRS + AAOIFI fair value for Islamic securities.</a:t>
            </a:r>
            <a:br/>
            <a:br/>
            <a:r>
              <a:t>Pakistan Context: PKR 10T+ government securities portfolio makes fair value management a top priority for bank P&amp;L stability.</a:t>
            </a:r>
            <a:br/>
            <a:br/>
            <a:r>
              <a:t>FSDM: FV_ADJSTMNT (Fair Value), HDG_EFCTVNS (Hedge Effectiveness), SCRTY_VLTN (Security Valuation), FX_PSITN (FX Position)</a:t>
            </a:r>
            <a:endParaRPr/>
          </a:p>
        </p:txBody>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6" name="Shape 4476"/>
        <p:cNvGrpSpPr/>
        <p:nvPr/>
      </p:nvGrpSpPr>
      <p:grpSpPr>
        <a:xfrm>
          <a:off x="0" y="0"/>
          <a:ext cx="0" cy="0"/>
          <a:chOff x="0" y="0"/>
          <a:chExt cx="0" cy="0"/>
        </a:xfrm>
      </p:grpSpPr>
      <p:sp>
        <p:nvSpPr>
          <p:cNvPr id="4477" name="Google Shape;4477;p212: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4478" name="Google Shape;4478;p212: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79" name="Google Shape;4479;p212: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ASSET VALUATIONS — Capability Detail</a:t>
            </a:r>
            <a:br/>
            <a:br/>
            <a:r>
              <a:t>PAKISTAN: Bank asset valuations are SBP-regulated. Revaluation surplus on branch properties creates regulatory capital (Tier 2) but must be discounted per SBP capital adequacy rules.</a:t>
            </a:r>
            <a:br/>
            <a:br/>
            <a:r>
              <a:t>Key valuation areas:</a:t>
            </a:r>
            <a:br/>
            <a:r>
              <a:t>1. Branch properties (16,000+ — significant book value, revaluation every 3-5 years per SBP)</a:t>
            </a:r>
            <a:br/>
            <a:r>
              <a:t>2. Government securities portfolio (daily mark-to-market for AFS/HFT)</a:t>
            </a:r>
            <a:br/>
            <a:r>
              <a:t>3. Lending portfolio (IFRS 9 ECL — collective and individual impairment)</a:t>
            </a:r>
            <a:br/>
            <a:r>
              <a:t>4. Foreclosed collateral (Qarz-e-Hasna for Islamic, foreclosed properties)</a:t>
            </a:r>
            <a:br/>
            <a:r>
              <a:t>5. Equity investments (banking subsidiaries, associates, strategic holdings)</a:t>
            </a:r>
            <a:br/>
            <a:br/>
            <a:r>
              <a:t>FSDM: ASST (Asset), ASST_VLTN (Asset Valuation), IMPRM (Impairment), RVAL (Revaluation), CLLTRL (Collateral), CLLTRL_VLTN (Collateral Valuation)</a:t>
            </a:r>
            <a:endParaRPr/>
          </a:p>
        </p:txBody>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4" name="Shape 4494"/>
        <p:cNvGrpSpPr/>
        <p:nvPr/>
      </p:nvGrpSpPr>
      <p:grpSpPr>
        <a:xfrm>
          <a:off x="0" y="0"/>
          <a:ext cx="0" cy="0"/>
          <a:chOff x="0" y="0"/>
          <a:chExt cx="0" cy="0"/>
        </a:xfrm>
      </p:grpSpPr>
      <p:sp>
        <p:nvSpPr>
          <p:cNvPr id="4495" name="Google Shape;4495;p213: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4496" name="Google Shape;4496;p213: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97" name="Google Shape;4497;p213: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ASSET VALUATIONS — Maturity Assessment</a:t>
            </a:r>
            <a:br/>
            <a:br/>
            <a:r>
              <a:t>Current State (Developing): Branch property revaluation per SBP schedule but manual process. Investment impairment testing semi-automated. Collateral valuations often outdated.</a:t>
            </a:r>
            <a:br/>
            <a:br/>
            <a:r>
              <a:t>Target State (Innovating): Automated revaluation tracking, real-time impairment testing, dynamic collateral coverage monitoring, complete fixed asset lifecycle management.</a:t>
            </a:r>
            <a:br/>
            <a:br/>
            <a:r>
              <a:t>Pakistan Context: 16,000+ branch properties represent significant balance sheet value. SBP revaluation surplus rules directly impact Tier 2 capital calculation.</a:t>
            </a:r>
            <a:br/>
            <a:br/>
            <a:r>
              <a:t>FSDM: ASST_VLTN (Asset Valuation), IMPRM (Impairment), RVAL (Revaluation), CLLTRL_VLTN (Collateral Valuation)</a:t>
            </a:r>
            <a:endParaRPr/>
          </a:p>
        </p:txBody>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8" name="Shape 4508"/>
        <p:cNvGrpSpPr/>
        <p:nvPr/>
      </p:nvGrpSpPr>
      <p:grpSpPr>
        <a:xfrm>
          <a:off x="0" y="0"/>
          <a:ext cx="0" cy="0"/>
          <a:chOff x="0" y="0"/>
          <a:chExt cx="0" cy="0"/>
        </a:xfrm>
      </p:grpSpPr>
      <p:sp>
        <p:nvSpPr>
          <p:cNvPr id="4509" name="Google Shape;4509;p214: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4510" name="Google Shape;4510;p214: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11" name="Google Shape;4511;p214: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RESERVE ANALYTICS — Capability Detail</a:t>
            </a:r>
            <a:br/>
            <a:br/>
            <a:r>
              <a:t>PAKISTAN RESERVE/PROVISIONING FRAMEWORK:</a:t>
            </a:r>
            <a:br/>
            <a:r>
              <a:t>SBP requires BOTH general and specific provisioning:</a:t>
            </a:r>
            <a:br/>
            <a:r>
              <a:t>- General: 1% on consumer, 1.5% on SME, 2% on small enterprise, plus IFRS 9 Stage 1/2 ECL</a:t>
            </a:r>
            <a:br/>
            <a:r>
              <a:t>- Specific: 25% (Substandard), 50% (Doubtful), 100% (Loss) — reduced by collateral</a:t>
            </a:r>
            <a:br/>
            <a:r>
              <a:t>- IFRS 9 ECL: PD x LGD x EAD for each loan, with forward-looking macroeconomic scenarios</a:t>
            </a:r>
            <a:br/>
            <a:r>
              <a:t>- SBP allows "regulatory overlay" where SBP provisioning exceeds IFRS 9 ECL</a:t>
            </a:r>
            <a:br/>
            <a:br/>
            <a:r>
              <a:t>Pakistan-specific challenge: Historical PD data is limited (many banks have &lt;5 years of granular default data). SBP provides sector-level PD benchmarks as fallback.</a:t>
            </a:r>
            <a:br/>
            <a:br/>
            <a:r>
              <a:t>UBL Context: FSDM star schema supports ECL calculation with FACT_LOAN_PROVISION containing PD, LGD, EAD, Stage, and ECL amount at individual loan level.</a:t>
            </a:r>
            <a:br/>
            <a:br/>
            <a:r>
              <a:t>FSDM: RSRV (Reserve), ECL (Expected Credit Loss), PD (Probability of Default), LGD (Loss Given Default), EAD (Exposure at Default), PRVSN (Provision), STG (Stage), CLSFCTN (Classification)</a:t>
            </a:r>
            <a:endParaRPr/>
          </a:p>
        </p:txBody>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6" name="Shape 4526"/>
        <p:cNvGrpSpPr/>
        <p:nvPr/>
      </p:nvGrpSpPr>
      <p:grpSpPr>
        <a:xfrm>
          <a:off x="0" y="0"/>
          <a:ext cx="0" cy="0"/>
          <a:chOff x="0" y="0"/>
          <a:chExt cx="0" cy="0"/>
        </a:xfrm>
      </p:grpSpPr>
      <p:sp>
        <p:nvSpPr>
          <p:cNvPr id="4527" name="Google Shape;4527;p215: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4528" name="Google Shape;4528;p215: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29" name="Google Shape;4529;p215: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RESERVE ANALYTICS — Maturity Assessment</a:t>
            </a:r>
            <a:br/>
            <a:br/>
            <a:r>
              <a:t>Current State (Developing): IFRS 9 ECL implemented but many banks rely on simplified approaches. PD models lack granular historical data. Forward-looking scenarios limited.</a:t>
            </a:r>
            <a:br/>
            <a:br/>
            <a:r>
              <a:t>Target State (Innovating): Fully automated ECL at individual loan level, multiple Pakistan macro scenarios, Islamic provisioning under AAOIFI FAS 30, regulatory overlay management.</a:t>
            </a:r>
            <a:br/>
            <a:br/>
            <a:r>
              <a:t>Pakistan Context: SBP scrutinizes ECL adequacy — banks with insufficient provisions face regulatory action. FSDM-based ECL engine provides defensible, auditable results.</a:t>
            </a:r>
            <a:br/>
            <a:br/>
            <a:r>
              <a:t>FSDM: ECL (Expected Credit Loss), PD, LGD, EAD, PRVSN (Provision), STG (Stage)</a:t>
            </a:r>
            <a:endParaRPr/>
          </a:p>
        </p:txBody>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0" name="Shape 4540"/>
        <p:cNvGrpSpPr/>
        <p:nvPr/>
      </p:nvGrpSpPr>
      <p:grpSpPr>
        <a:xfrm>
          <a:off x="0" y="0"/>
          <a:ext cx="0" cy="0"/>
          <a:chOff x="0" y="0"/>
          <a:chExt cx="0" cy="0"/>
        </a:xfrm>
      </p:grpSpPr>
      <p:sp>
        <p:nvSpPr>
          <p:cNvPr id="4541" name="Google Shape;4541;p216: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4542" name="Google Shape;4542;p216: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43" name="Google Shape;4543;p216: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TAX MANAGEMENT &amp; OPTIMISATION — Capability Detail</a:t>
            </a:r>
            <a:br/>
            <a:br/>
            <a:r>
              <a:t>PAKISTAN BANKING TAX FRAMEWORK:</a:t>
            </a:r>
            <a:br/>
            <a:r>
              <a:t>Banks face the highest effective tax rate in Pakistan:</a:t>
            </a:r>
            <a:br/>
            <a:r>
              <a:t>- Corporate tax: 39% (banks — higher than standard 29%)</a:t>
            </a:r>
            <a:br/>
            <a:r>
              <a:t>- Super tax: 10% on banks (introduced 2022)</a:t>
            </a:r>
            <a:br/>
            <a:r>
              <a:t>- Effective rate: ~49% before other taxes</a:t>
            </a:r>
            <a:br/>
            <a:r>
              <a:t>- WHT on deposit profit: 15% (ATL filers) / 30% (non-filers) — bank acts as collection agent</a:t>
            </a:r>
            <a:br/>
            <a:r>
              <a:t>- Advance tax: Banks deduct advance tax on cash withdrawals &gt;PKR 50K/day (non-filers)</a:t>
            </a:r>
            <a:br/>
            <a:r>
              <a:t>- Minimum tax: Applies if normal tax is below threshold</a:t>
            </a:r>
            <a:br/>
            <a:br/>
            <a:r>
              <a:t>Automation opportunity:</a:t>
            </a:r>
            <a:br/>
            <a:r>
              <a:t>- Customer filer/non-filer status changes monthly — FBR ATL lookup must be automated</a:t>
            </a:r>
            <a:br/>
            <a:r>
              <a:t>- WHT calculation on millions of deposit profit payments — currently semi-manual at many banks</a:t>
            </a:r>
            <a:br/>
            <a:r>
              <a:t>- Tax provisioning for quarterly/annual filing requires consolidated data from all entities</a:t>
            </a:r>
            <a:br/>
            <a:br/>
            <a:r>
              <a:t>FSDM: TAX (Tax), WHT (Withholding Tax), TAX_CLCTN (Tax Calculation), TAX_CRDT (Tax Credit), TAX_OBLGTN (Tax Obligation), FLR_STS (Filer Status)</a:t>
            </a:r>
            <a:endParaRPr/>
          </a:p>
        </p:txBody>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8" name="Shape 4558"/>
        <p:cNvGrpSpPr/>
        <p:nvPr/>
      </p:nvGrpSpPr>
      <p:grpSpPr>
        <a:xfrm>
          <a:off x="0" y="0"/>
          <a:ext cx="0" cy="0"/>
          <a:chOff x="0" y="0"/>
          <a:chExt cx="0" cy="0"/>
        </a:xfrm>
      </p:grpSpPr>
      <p:sp>
        <p:nvSpPr>
          <p:cNvPr id="4559" name="Google Shape;4559;p217: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4560" name="Google Shape;4560;p217: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61" name="Google Shape;4561;p217: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TAX MANAGEMENT &amp; OPTIMISATION — Maturity Assessment</a:t>
            </a:r>
            <a:br/>
            <a:br/>
            <a:r>
              <a:t>Current State (Developing): WHT calculated but significant manual effort. Filer status verification semi-manual. Group tax planning limited.</a:t>
            </a:r>
            <a:br/>
            <a:br/>
            <a:r>
              <a:t>Target State (Innovating): Fully automated WHT with ATL integration, consolidated group tax planning, tax optimization within legal framework, real-time tax liability monitoring.</a:t>
            </a:r>
            <a:br/>
            <a:br/>
            <a:r>
              <a:t>Pakistan Context: 39% corporate + 10% super = ~49% effective rate makes tax optimization a critical capability for bank profitability.</a:t>
            </a:r>
            <a:br/>
            <a:br/>
            <a:r>
              <a:t>FSDM: TAX (Tax), WHT (Withholding Tax), TAX_CLCTN (Tax Calculation), FLR_STS (Filer Status)</a:t>
            </a:r>
            <a:endParaRPr/>
          </a:p>
        </p:txBody>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2" name="Shape 4572"/>
        <p:cNvGrpSpPr/>
        <p:nvPr/>
      </p:nvGrpSpPr>
      <p:grpSpPr>
        <a:xfrm>
          <a:off x="0" y="0"/>
          <a:ext cx="0" cy="0"/>
          <a:chOff x="0" y="0"/>
          <a:chExt cx="0" cy="0"/>
        </a:xfrm>
      </p:grpSpPr>
      <p:sp>
        <p:nvSpPr>
          <p:cNvPr id="4573" name="Google Shape;4573;p218: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4574" name="Google Shape;4574;p218: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75" name="Google Shape;4575;p218: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RECONCILIATION, VALIDATION &amp; ADJUSTMENTS — Capability Detail</a:t>
            </a:r>
            <a:br/>
            <a:br/>
            <a:r>
              <a:t>PAKISTAN RECONCILIATION CHALLENGE:</a:t>
            </a:r>
            <a:br/>
            <a:r>
              <a:t>Pakistan banks spend enormous effort on reconciliation because:</a:t>
            </a:r>
            <a:br/>
            <a:r>
              <a:t>1. Multiple core systems post to GL independently — totals must be reconciled daily</a:t>
            </a:r>
            <a:br/>
            <a:r>
              <a:t>2. Payment system settlements (RAAST, 1Link, SWIFT) must match internal records</a:t>
            </a:r>
            <a:br/>
            <a:r>
              <a:t>3. Card network settlements (Visa, Mastercard) reconcile against card system and GL</a:t>
            </a:r>
            <a:br/>
            <a:r>
              <a:t>4. SBP clearing house (NIFT) cheque settlements must be reconciled</a:t>
            </a:r>
            <a:br/>
            <a:r>
              <a:t>5. Nostro/vostro accounts with correspondent banks must be reconciled daily</a:t>
            </a:r>
            <a:br/>
            <a:r>
              <a:t>6. Inter-branch transactions must be reconciled (Head Office vs. branches)</a:t>
            </a:r>
            <a:br/>
            <a:br/>
            <a:r>
              <a:t>Estimated: Finance teams at Pakistan banks spend 40-50% of time on reconciliation activities that could be automated.</a:t>
            </a:r>
            <a:br/>
            <a:br/>
            <a:r>
              <a:t>FSDM: RCNCLTN (Reconciliation), ADJSTMNT (Adjustment), VLDTN (Validation), GL_BLNC (GL Balance), STLMNT (Settlement), NSTRO (Nostro), VSTRO (Vostro)</a:t>
            </a:r>
            <a:endParaRPr/>
          </a:p>
        </p:txBody>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0" name="Shape 4590"/>
        <p:cNvGrpSpPr/>
        <p:nvPr/>
      </p:nvGrpSpPr>
      <p:grpSpPr>
        <a:xfrm>
          <a:off x="0" y="0"/>
          <a:ext cx="0" cy="0"/>
          <a:chOff x="0" y="0"/>
          <a:chExt cx="0" cy="0"/>
        </a:xfrm>
      </p:grpSpPr>
      <p:sp>
        <p:nvSpPr>
          <p:cNvPr id="4591" name="Google Shape;4591;p219: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4592" name="Google Shape;4592;p219: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93" name="Google Shape;4593;p219: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RECONCILIATION, VALIDATION &amp; ADJUSTMENTS — Maturity Assessment</a:t>
            </a:r>
            <a:br/>
            <a:br/>
            <a:r>
              <a:t>Current State (Developing): Mostly manual reconciliation. GL-to-sub-ledger breaks common. Payment system reconciliation takes days. Nostro breaks require manual investigation.</a:t>
            </a:r>
            <a:br/>
            <a:br/>
            <a:r>
              <a:t>Target State (Innovating): Automated daily reconciliation across all systems, exception-based processing, real-time break identification, automated adjustment suggestions.</a:t>
            </a:r>
            <a:br/>
            <a:br/>
            <a:r>
              <a:t>Pakistan Context: 40-50% of finance team time spent on reconciliation is a massive efficiency opportunity. Automation can free capacity for analysis and advisory.</a:t>
            </a:r>
            <a:br/>
            <a:br/>
            <a:r>
              <a:t>FSDM: RCNCLTN (Reconciliation), ADJSTMNT (Adjustment), VLDTN (Validation), STLMNT (Settlement)</a:t>
            </a:r>
            <a:endParaRPr/>
          </a:p>
        </p:txBody>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4" name="Shape 4604"/>
        <p:cNvGrpSpPr/>
        <p:nvPr/>
      </p:nvGrpSpPr>
      <p:grpSpPr>
        <a:xfrm>
          <a:off x="0" y="0"/>
          <a:ext cx="0" cy="0"/>
          <a:chOff x="0" y="0"/>
          <a:chExt cx="0" cy="0"/>
        </a:xfrm>
      </p:grpSpPr>
      <p:sp>
        <p:nvSpPr>
          <p:cNvPr id="4605" name="Google Shape;4605;p220: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4606" name="Google Shape;4606;p220: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07" name="Google Shape;4607;p220: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FINANCIAL CONSOLIDATION — Capability Detail</a:t>
            </a:r>
            <a:br/>
            <a:br/>
            <a:r>
              <a:t>PAKISTAN CONSOLIDATION CONTEXT:</a:t>
            </a:r>
            <a:br/>
            <a:r>
              <a:t>Typical Pakistan banking group consolidation scope:</a:t>
            </a:r>
            <a:br/>
            <a:r>
              <a:t>- Parent bank (conventional) — e.g., CTL core banking</a:t>
            </a:r>
            <a:br/>
            <a:r>
              <a:t>- Islamic banking subsidiary or window — separate books (IFRS + AAOIFI)</a:t>
            </a:r>
            <a:br/>
            <a:r>
              <a:t>- Insurance/Takaful subsidiary</a:t>
            </a:r>
            <a:br/>
            <a:r>
              <a:t>- Asset management company (mutual funds)</a:t>
            </a:r>
            <a:br/>
            <a:r>
              <a:t>- Brokerage subsidiary</a:t>
            </a:r>
            <a:br/>
            <a:r>
              <a:t>- Modaraba company (if applicable)</a:t>
            </a:r>
            <a:br/>
            <a:r>
              <a:t>- Leasing company (if applicable)</a:t>
            </a:r>
            <a:br/>
            <a:r>
              <a:t>- Microfinance subsidiary (if applicable)</a:t>
            </a:r>
            <a:br/>
            <a:br/>
            <a:r>
              <a:t>Each may have different ERP, different chart of accounts, different fiscal year end (though SBP requires December 31 for banks).</a:t>
            </a:r>
            <a:br/>
            <a:br/>
            <a:r>
              <a:t>SBP requires BOTH solo and consolidated regulatory returns.</a:t>
            </a:r>
            <a:br/>
            <a:r>
              <a:t>SECP requires consolidated IFRS financial statements for listed banking groups.</a:t>
            </a:r>
            <a:br/>
            <a:br/>
            <a:r>
              <a:t>FSDM: CNSLDTN (Consolidation), LGL_ENTTY (Legal Entity), IC_TXN (Inter-Company Transaction), ELMNTN (Elimination), GRP_ENTTY (Group Entity), CNSLDTD_GL (Consolidated GL)</a:t>
            </a:r>
            <a:endParaRPr/>
          </a:p>
        </p:txBody>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2" name="Shape 4622"/>
        <p:cNvGrpSpPr/>
        <p:nvPr/>
      </p:nvGrpSpPr>
      <p:grpSpPr>
        <a:xfrm>
          <a:off x="0" y="0"/>
          <a:ext cx="0" cy="0"/>
          <a:chOff x="0" y="0"/>
          <a:chExt cx="0" cy="0"/>
        </a:xfrm>
      </p:grpSpPr>
      <p:sp>
        <p:nvSpPr>
          <p:cNvPr id="4623" name="Google Shape;4623;p221: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4624" name="Google Shape;4624;p221: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25" name="Google Shape;4625;p221: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FINANCIAL CONSOLIDATION — Maturity Assessment</a:t>
            </a:r>
            <a:br/>
            <a:br/>
            <a:r>
              <a:t>Current State (Developing): Manual consolidation using Excel. IC elimination done manually. Different COA across entities requires manual mapping. Solo returns only partially automated.</a:t>
            </a:r>
            <a:br/>
            <a:br/>
            <a:r>
              <a:t>Target State (Innovating): Automated consolidation across all group entities, automated IC elimination, consistent COA mapping, solo + consolidated returns from unified data.</a:t>
            </a:r>
            <a:br/>
            <a:br/>
            <a:r>
              <a:t>Pakistan Context: Most banking groups have 6-8 entities with different systems. Manual consolidation adds 5-10 days to close cycle.</a:t>
            </a:r>
            <a:br/>
            <a:br/>
            <a:r>
              <a:t>FSDM: CNSLDTN (Consolidation), LGL_ENTTY (Legal Entity), IC_TXN (Inter-Company Transaction), ELMNTN (Elimination)</a:t>
            </a:r>
            <a:endParaRPr/>
          </a:p>
        </p:txBody>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6" name="Shape 4636"/>
        <p:cNvGrpSpPr/>
        <p:nvPr/>
      </p:nvGrpSpPr>
      <p:grpSpPr>
        <a:xfrm>
          <a:off x="0" y="0"/>
          <a:ext cx="0" cy="0"/>
          <a:chOff x="0" y="0"/>
          <a:chExt cx="0" cy="0"/>
        </a:xfrm>
      </p:grpSpPr>
      <p:sp>
        <p:nvSpPr>
          <p:cNvPr id="4637" name="Google Shape;4637;p222: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4638" name="Google Shape;4638;p222: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39" name="Google Shape;4639;p222: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FUNCTIONAL PROFIT &amp; LOSS STATEMENT — Capability Detail</a:t>
            </a:r>
            <a:br/>
            <a:br/>
            <a:r>
              <a:t>This is the MOST CRITICAL capability for Pakistan banks and directly relates to UBL's Customer Profitability Engine:</a:t>
            </a:r>
            <a:br/>
            <a:br/>
            <a:r>
              <a:t>P&amp;L DIMENSIONS REQUIRED:</a:t>
            </a:r>
            <a:br/>
            <a:r>
              <a:t>1. BRANCH P&amp;L: Revenue, cost, and profit for each of 16,000+ branches</a:t>
            </a:r>
            <a:br/>
            <a:r>
              <a:t>2. CUSTOMER P&amp;L: Individual customer profitability across all products held</a:t>
            </a:r>
            <a:br/>
            <a:r>
              <a:t>3. PRODUCT P&amp;L: Profitability by product (CASA, Term Deposit, Personal Loan, Credit Card, etc.)</a:t>
            </a:r>
            <a:br/>
            <a:r>
              <a:t>4. SEGMENT P&amp;L: Business segments per IFRS 8 (Corporate, Commercial, Retail, Treasury, Islamic)</a:t>
            </a:r>
            <a:br/>
            <a:r>
              <a:t>5. CHANNEL P&amp;L: Cost-to-serve by channel (branch, ATM, digital, contact center)</a:t>
            </a:r>
            <a:br/>
            <a:r>
              <a:t>6. REGION P&amp;L: Geographic profitability (province, city, area)</a:t>
            </a:r>
            <a:br/>
            <a:br/>
            <a:r>
              <a:t>P&amp;L COMPONENTS: NII (FTP-adjusted), Non-Interest Income, Direct Costs, Allocated Costs (ABC), Provision Charge (IFRS 9 ECL), Tax.</a:t>
            </a:r>
            <a:br/>
            <a:br/>
            <a:r>
              <a:t>ISLAMIC P&amp;L: Different line items — "profit earned on financing" not "interest income". Mudaraba profit-sharing ratios replace interest rates.</a:t>
            </a:r>
            <a:br/>
            <a:br/>
            <a:r>
              <a:t>UBL CONTEXT: FACT_CUSTOMER_PROFITABILITY contains 35+ measures including FTP-adjusted NII, fee income, direct costs, allocated costs, provision charge, and net profit — all at individual customer level.</a:t>
            </a:r>
            <a:br/>
            <a:br/>
            <a:r>
              <a:t>FSDM: PL_STMNT (P&amp;L Statement), RVNU (Revenue), EXPNS (Expense), NII (Net Interest Income), FEE_INCM (Fee Income), FTP (Funds Transfer Pricing), CST_ALLCTN (Cost Allocation), PRFT (Profit), BRCH (Branch), SGMNT (Segment)</a:t>
            </a:r>
            <a:endParaRPr/>
          </a:p>
        </p:txBody>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4" name="Shape 4654"/>
        <p:cNvGrpSpPr/>
        <p:nvPr/>
      </p:nvGrpSpPr>
      <p:grpSpPr>
        <a:xfrm>
          <a:off x="0" y="0"/>
          <a:ext cx="0" cy="0"/>
          <a:chOff x="0" y="0"/>
          <a:chExt cx="0" cy="0"/>
        </a:xfrm>
      </p:grpSpPr>
      <p:sp>
        <p:nvSpPr>
          <p:cNvPr id="4655" name="Google Shape;4655;p223: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4656" name="Google Shape;4656;p223: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57" name="Google Shape;4657;p223: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FUNCTIONAL P&amp;L STATEMENT — Maturity Assessment</a:t>
            </a:r>
            <a:br/>
            <a:br/>
            <a:r>
              <a:t>Current State (Developing): Bank-level P&amp;L only. No branch-level P&amp;L. Limited segment reporting. FTP using flat KIBOR spreads. No customer profitability.</a:t>
            </a:r>
            <a:br/>
            <a:br/>
            <a:r>
              <a:t>Target State (Innovating): 360-degree profitability: branch x customer x product x segment x channel x region. FTP using KIBOR yield curve. Activity-based costing. Islamic P&amp;L with correct line items.</a:t>
            </a:r>
            <a:br/>
            <a:br/>
            <a:r>
              <a:t>Pakistan Context: Branch-level P&amp;L available at &lt;15% of banks. Customer profitability calculation virtually non-existent. This is the single highest-value FPM capability for Pakistan banks.</a:t>
            </a:r>
            <a:br/>
            <a:br/>
            <a:r>
              <a:t>FSDM: PL_STMNT, RVNU, EXPNS, NII, FTP, CST_ALLCTN, PRFT, BRCH, SGMNT</a:t>
            </a:r>
            <a:endParaRPr/>
          </a:p>
        </p:txBody>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8" name="Shape 4668"/>
        <p:cNvGrpSpPr/>
        <p:nvPr/>
      </p:nvGrpSpPr>
      <p:grpSpPr>
        <a:xfrm>
          <a:off x="0" y="0"/>
          <a:ext cx="0" cy="0"/>
          <a:chOff x="0" y="0"/>
          <a:chExt cx="0" cy="0"/>
        </a:xfrm>
      </p:grpSpPr>
      <p:sp>
        <p:nvSpPr>
          <p:cNvPr id="4669" name="Google Shape;4669;p224:notes"/>
          <p:cNvSpPr txBox="1"/>
          <p:nvPr>
            <p:ph idx="1" type="body"/>
          </p:nvPr>
        </p:nvSpPr>
        <p:spPr>
          <a:xfrm>
            <a:off x="685800" y="4724202"/>
            <a:ext cx="5486400" cy="4475560"/>
          </a:xfrm>
          <a:prstGeom prst="rect">
            <a:avLst/>
          </a:prstGeom>
        </p:spPr>
        <p:txBody>
          <a:bodyPr anchorCtr="0" anchor="t" bIns="45700" lIns="91425" spcFirstLastPara="1" rIns="91425" wrap="square" tIns="45700">
            <a:noAutofit/>
          </a:bodyPr>
          <a:lstStyle/>
          <a:p>
            <a:pPr indent="0" lvl="0" marL="0" rtl="0" algn="l">
              <a:spcBef>
                <a:spcPts val="400"/>
              </a:spcBef>
              <a:spcAft>
                <a:spcPts val="0"/>
              </a:spcAft>
              <a:buNone/>
            </a:pPr>
            <a:r>
              <a:t>ENTERPRISE PERFORMANCE MANAGEMENT — Why Important</a:t>
            </a:r>
            <a:br/>
            <a:br/>
            <a:r>
              <a:t>EPM in Pakistan banking must cover both conventional financial metrics AND Islamic banking performance indicators.</a:t>
            </a:r>
            <a:br/>
            <a:br/>
            <a:r>
              <a:t>Pakistan banking KPIs (industry benchmarks):</a:t>
            </a:r>
            <a:br/>
            <a:r>
              <a:t>- Return on Equity (ROE): 20-30% (top banks), 10-15% (mid-tier)</a:t>
            </a:r>
            <a:br/>
            <a:r>
              <a:t>- Return on Assets (ROA): 1.0-2.0%</a:t>
            </a:r>
            <a:br/>
            <a:r>
              <a:t>- Net Interest Margin (NIM): 3-5%</a:t>
            </a:r>
            <a:br/>
            <a:r>
              <a:t>- Cost-to-Income: 45-65% (range across banks)</a:t>
            </a:r>
            <a:br/>
            <a:r>
              <a:t>- NPL Ratio: 5-10% (varies by bank)</a:t>
            </a:r>
            <a:br/>
            <a:r>
              <a:t>- CASA Ratio: 40-55%</a:t>
            </a:r>
            <a:br/>
            <a:r>
              <a:t>- Capital Adequacy Ratio (CAR): Min 11.5% (SBP), top banks 15-20%</a:t>
            </a:r>
            <a:br/>
            <a:r>
              <a:t>- Advances-to-Deposits Ratio (ADR): 45-55%</a:t>
            </a:r>
            <a:br/>
            <a:r>
              <a:t>- Liquidity Coverage Ratio (LCR): Min 100% (SBP Basel III)</a:t>
            </a:r>
            <a:br/>
            <a:br/>
            <a:r>
              <a:t>SBP increasingly demands forward-looking analytics (stress testing, scenario analysis) — not just backward-looking reporting.</a:t>
            </a:r>
            <a:br/>
            <a:br/>
            <a:r>
              <a:t>FSDM: KPI (Key Performance Indicator), PRFMNC (Performance), BDGT (Budget), FRCST (Forecast), TRGTS (Targets)</a:t>
            </a:r>
            <a:endParaRPr/>
          </a:p>
        </p:txBody>
      </p:sp>
      <p:sp>
        <p:nvSpPr>
          <p:cNvPr id="4670" name="Google Shape;4670;p224: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7" name="Shape 4677"/>
        <p:cNvGrpSpPr/>
        <p:nvPr/>
      </p:nvGrpSpPr>
      <p:grpSpPr>
        <a:xfrm>
          <a:off x="0" y="0"/>
          <a:ext cx="0" cy="0"/>
          <a:chOff x="0" y="0"/>
          <a:chExt cx="0" cy="0"/>
        </a:xfrm>
      </p:grpSpPr>
      <p:sp>
        <p:nvSpPr>
          <p:cNvPr id="4678" name="Google Shape;4678;p225: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79" name="Google Shape;4679;p225: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ENTERPRISE PERFORMANCE MANAGEMENT — Challenges</a:t>
            </a:r>
            <a:br/>
            <a:br/>
            <a:r>
              <a:t>Pakistan EPM challenges:</a:t>
            </a:r>
            <a:br/>
            <a:r>
              <a:t>- Budget and planning cycles take 3-4 months (manual, Excel-based)</a:t>
            </a:r>
            <a:br/>
            <a:r>
              <a:t>- No rolling forecasts — annual budget is static, outdated within months</a:t>
            </a:r>
            <a:br/>
            <a:r>
              <a:t>- KPI reporting is backward-looking (monthly/quarterly) not forward-looking</a:t>
            </a:r>
            <a:br/>
            <a:r>
              <a:t>- SBP stress testing requirements growing — scenario-based analytics needed</a:t>
            </a:r>
            <a:br/>
            <a:r>
              <a:t>- Islamic banking performance metrics differ from conventional (no NIM, different ratios)</a:t>
            </a:r>
            <a:br/>
            <a:r>
              <a:t>- Profitability measurement at branch/customer/product level not available</a:t>
            </a:r>
            <a:br/>
            <a:r>
              <a:t>- FTP engines use simplified KIBOR spreads — distorts profitability measurement</a:t>
            </a:r>
            <a:br/>
            <a:br/>
            <a:r>
              <a:t>EPM capabilities detailed in File 08 will address these challenges.</a:t>
            </a:r>
            <a:br/>
            <a:br/>
            <a:r>
              <a:t>FSDM: BDGT (Budget), FRCST (Forecast), KPI, PRFMNC (Performance), STRSS_TST (Stress Test)</a:t>
            </a:r>
            <a:endParaRPr/>
          </a:p>
        </p:txBody>
      </p:sp>
      <p:sp>
        <p:nvSpPr>
          <p:cNvPr id="4680" name="Google Shape;4680;p225:notes"/>
          <p:cNvSpPr txBox="1"/>
          <p:nvPr>
            <p:ph idx="11" type="ftr"/>
          </p:nvPr>
        </p:nvSpPr>
        <p:spPr>
          <a:xfrm>
            <a:off x="457200" y="9514580"/>
            <a:ext cx="2971800" cy="10772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a:t>© 2014 Teradata</a:t>
            </a:r>
            <a:endParaRPr/>
          </a:p>
        </p:txBody>
      </p:sp>
    </p:spTree>
  </p:cSld>
  <p:clrMapOvr>
    <a:masterClrMapping/>
  </p:clrMapOvr>
</p:notes>
</file>

<file path=ppt/notesSlides/notesSlide2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8" name="Shape 4698"/>
        <p:cNvGrpSpPr/>
        <p:nvPr/>
      </p:nvGrpSpPr>
      <p:grpSpPr>
        <a:xfrm>
          <a:off x="0" y="0"/>
          <a:ext cx="0" cy="0"/>
          <a:chOff x="0" y="0"/>
          <a:chExt cx="0" cy="0"/>
        </a:xfrm>
      </p:grpSpPr>
      <p:sp>
        <p:nvSpPr>
          <p:cNvPr id="4699" name="Google Shape;4699;p226:notes"/>
          <p:cNvSpPr txBox="1"/>
          <p:nvPr>
            <p:ph idx="1" type="body"/>
          </p:nvPr>
        </p:nvSpPr>
        <p:spPr>
          <a:xfrm>
            <a:off x="685800" y="4724202"/>
            <a:ext cx="5486400" cy="4475560"/>
          </a:xfrm>
          <a:prstGeom prst="rect">
            <a:avLst/>
          </a:prstGeom>
        </p:spPr>
        <p:txBody>
          <a:bodyPr anchorCtr="0" anchor="t" bIns="45700" lIns="91425" spcFirstLastPara="1" rIns="91425" wrap="square" tIns="45700">
            <a:noAutofit/>
          </a:bodyPr>
          <a:lstStyle/>
          <a:p>
            <a:pPr indent="0" lvl="0" marL="0" rtl="0" algn="l">
              <a:spcBef>
                <a:spcPts val="400"/>
              </a:spcBef>
              <a:spcAft>
                <a:spcPts val="0"/>
              </a:spcAft>
              <a:buNone/>
            </a:pPr>
            <a:r>
              <a:t>ENTERPRISE PERFORMANCE MANAGEMENT — Are You Able To...</a:t>
            </a:r>
            <a:br/>
            <a:br/>
            <a:r>
              <a:t>Pakistan EPM assessment questions:</a:t>
            </a:r>
            <a:br/>
            <a:r>
              <a:t>- Can you produce rolling 12-month forecasts updated monthly?</a:t>
            </a:r>
            <a:br/>
            <a:r>
              <a:t>- Can you run stress scenarios (interest rate, FX, GDP, default rate) on P&amp;L and balance sheet?</a:t>
            </a:r>
            <a:br/>
            <a:r>
              <a:t>- Can you measure profitability at branch, customer, product, and segment level?</a:t>
            </a:r>
            <a:br/>
            <a:r>
              <a:t>- Can you track KPIs in real-time (not monthly reporting lag)?</a:t>
            </a:r>
            <a:br/>
            <a:r>
              <a:t>- Can you benchmark performance across branches adjusting for size, location, and market?</a:t>
            </a:r>
            <a:br/>
            <a:r>
              <a:t>- Can you calculate FTP using KIBOR yield curve with maturity matching?</a:t>
            </a:r>
            <a:br/>
            <a:r>
              <a:t>- Can you allocate costs using activity-based costing methodology?</a:t>
            </a:r>
            <a:br/>
            <a:br/>
            <a:r>
              <a:t>FSDM: BDGT, FRCST, KPI, FTP, ABC, STRSS_TST, PRFTBLTY (Profitability)</a:t>
            </a:r>
            <a:endParaRPr/>
          </a:p>
        </p:txBody>
      </p:sp>
      <p:sp>
        <p:nvSpPr>
          <p:cNvPr id="4700" name="Google Shape;4700;p226: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7" name="Shape 4707"/>
        <p:cNvGrpSpPr/>
        <p:nvPr/>
      </p:nvGrpSpPr>
      <p:grpSpPr>
        <a:xfrm>
          <a:off x="0" y="0"/>
          <a:ext cx="0" cy="0"/>
          <a:chOff x="0" y="0"/>
          <a:chExt cx="0" cy="0"/>
        </a:xfrm>
      </p:grpSpPr>
      <p:sp>
        <p:nvSpPr>
          <p:cNvPr id="4708" name="Google Shape;4708;p227:notes"/>
          <p:cNvSpPr txBox="1"/>
          <p:nvPr>
            <p:ph idx="1" type="body"/>
          </p:nvPr>
        </p:nvSpPr>
        <p:spPr>
          <a:xfrm>
            <a:off x="685800" y="4724202"/>
            <a:ext cx="5486400" cy="4475560"/>
          </a:xfrm>
          <a:prstGeom prst="rect">
            <a:avLst/>
          </a:prstGeom>
        </p:spPr>
        <p:txBody>
          <a:bodyPr anchorCtr="0" anchor="t" bIns="45700" lIns="91425" spcFirstLastPara="1" rIns="91425" wrap="square" tIns="45700">
            <a:noAutofit/>
          </a:bodyPr>
          <a:lstStyle/>
          <a:p>
            <a:pPr indent="0" lvl="0" marL="0" rtl="0" algn="l">
              <a:spcBef>
                <a:spcPts val="400"/>
              </a:spcBef>
              <a:spcAft>
                <a:spcPts val="0"/>
              </a:spcAft>
              <a:buNone/>
            </a:pPr>
            <a:r>
              <a:t>ENTERPRISE PERFORMANCE MANAGEMENT — How (Capabilities)</a:t>
            </a:r>
            <a:br/>
            <a:br/>
            <a:r>
              <a:t>EPM solution approach for Pakistan banks:</a:t>
            </a:r>
            <a:br/>
            <a:r>
              <a:t>1. PROFITABILITY ENGINE: Building on FSDM star schema for branch/customer/product P&amp;L</a:t>
            </a:r>
            <a:br/>
            <a:r>
              <a:t>2. FTP ENGINE: KIBOR yield-curve-based funds transfer pricing</a:t>
            </a:r>
            <a:br/>
            <a:r>
              <a:t>3. ABC FRAMEWORK: Activity-based costing across branch, digital, ATM, agent channels</a:t>
            </a:r>
            <a:br/>
            <a:r>
              <a:t>4. BUDGETING: Automated budget preparation and rolling forecast</a:t>
            </a:r>
            <a:br/>
            <a:r>
              <a:t>5. KPI DASHBOARD: Real-time executive dashboard with drill-down</a:t>
            </a:r>
            <a:br/>
            <a:r>
              <a:t>6. STRESS TESTING: Multi-scenario analysis for SBP regulatory requirements</a:t>
            </a:r>
            <a:br/>
            <a:r>
              <a:t>7. ISLAMIC METRICS: Profit-sharing ratios, Shariah-compliant performance indicators</a:t>
            </a:r>
            <a:br/>
            <a:br/>
            <a:r>
              <a:t>Detailed capability slides in File 08.</a:t>
            </a:r>
            <a:br/>
            <a:br/>
            <a:r>
              <a:t>FSDM: PRFTBLTY, FTP, ABC, BDGT, FRCST, KPI, STRSS_TST</a:t>
            </a:r>
            <a:endParaRPr/>
          </a:p>
        </p:txBody>
      </p:sp>
      <p:sp>
        <p:nvSpPr>
          <p:cNvPr id="4709" name="Google Shape;4709;p227: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6" name="Shape 4716"/>
        <p:cNvGrpSpPr/>
        <p:nvPr/>
      </p:nvGrpSpPr>
      <p:grpSpPr>
        <a:xfrm>
          <a:off x="0" y="0"/>
          <a:ext cx="0" cy="0"/>
          <a:chOff x="0" y="0"/>
          <a:chExt cx="0" cy="0"/>
        </a:xfrm>
      </p:grpSpPr>
      <p:sp>
        <p:nvSpPr>
          <p:cNvPr id="4717" name="Google Shape;4717;p228:notes"/>
          <p:cNvSpPr txBox="1"/>
          <p:nvPr>
            <p:ph idx="1" type="body"/>
          </p:nvPr>
        </p:nvSpPr>
        <p:spPr>
          <a:xfrm>
            <a:off x="685800" y="4724202"/>
            <a:ext cx="5486400" cy="4475560"/>
          </a:xfrm>
          <a:prstGeom prst="rect">
            <a:avLst/>
          </a:prstGeom>
        </p:spPr>
        <p:txBody>
          <a:bodyPr anchorCtr="0" anchor="t" bIns="45700" lIns="91425" spcFirstLastPara="1" rIns="91425" wrap="square" tIns="45700">
            <a:noAutofit/>
          </a:bodyPr>
          <a:lstStyle/>
          <a:p>
            <a:pPr indent="0" lvl="0" marL="0" rtl="0" algn="l">
              <a:spcBef>
                <a:spcPts val="400"/>
              </a:spcBef>
              <a:spcAft>
                <a:spcPts val="0"/>
              </a:spcAft>
              <a:buNone/>
            </a:pPr>
            <a:r>
              <a:t>ENTERPRISE PERFORMANCE MANAGEMENT — Value</a:t>
            </a:r>
            <a:br/>
            <a:br/>
            <a:r>
              <a:t>Value of EPM for Pakistan banks:</a:t>
            </a:r>
            <a:br/>
            <a:r>
              <a:t>- BUDGET: From 3-4 month manual cycle to automated 2-week rolling forecast</a:t>
            </a:r>
            <a:br/>
            <a:r>
              <a:t>- PROFITABILITY: From bank-level only to 360-degree branch/customer/product/segment/channel</a:t>
            </a:r>
            <a:br/>
            <a:r>
              <a:t>- FTP: From flat KIBOR spread to yield-curve-based — accurate profitability measurement</a:t>
            </a:r>
            <a:br/>
            <a:r>
              <a:t>- STRESS TESTING: SBP-compliant scenario analysis for capital planning</a:t>
            </a:r>
            <a:br/>
            <a:r>
              <a:t>- DECISION MAKING: Data-driven decisions on pricing, branch network, customer segments</a:t>
            </a:r>
            <a:br/>
            <a:br/>
            <a:r>
              <a:t>Pakistan banking EPM KPI targets:</a:t>
            </a:r>
            <a:br/>
            <a:r>
              <a:t>- ROE &gt; 20%, ROA &gt; 1.5%, NIM 3-5%, C/I &lt; 50%, NPL &lt; 5%, CASA &gt; 50%, CAR &gt; 15%</a:t>
            </a:r>
            <a:br/>
            <a:br/>
            <a:r>
              <a:t>Detailed EPM capabilities and value covered in File 08.</a:t>
            </a:r>
            <a:br/>
            <a:br/>
            <a:r>
              <a:t>FSDM: All EPM entities — delivered through integrated data foundation.</a:t>
            </a:r>
            <a:endParaRPr/>
          </a:p>
        </p:txBody>
      </p:sp>
      <p:sp>
        <p:nvSpPr>
          <p:cNvPr id="4718" name="Google Shape;4718;p228: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Alternate Title Slide" showMasterSp="0">
  <p:cSld name="1_Alternate Title Slide">
    <p:spTree>
      <p:nvGrpSpPr>
        <p:cNvPr id="20" name="Shape 20"/>
        <p:cNvGrpSpPr/>
        <p:nvPr/>
      </p:nvGrpSpPr>
      <p:grpSpPr>
        <a:xfrm>
          <a:off x="0" y="0"/>
          <a:ext cx="0" cy="0"/>
          <a:chOff x="0" y="0"/>
          <a:chExt cx="0" cy="0"/>
        </a:xfrm>
      </p:grpSpPr>
      <p:pic>
        <p:nvPicPr>
          <p:cNvPr id="21" name="Google Shape;21;p2"/>
          <p:cNvPicPr preferRelativeResize="0"/>
          <p:nvPr/>
        </p:nvPicPr>
        <p:blipFill rotWithShape="1">
          <a:blip r:embed="rId2">
            <a:alphaModFix/>
          </a:blip>
          <a:srcRect b="-80" l="5141" r="6732" t="25561"/>
          <a:stretch/>
        </p:blipFill>
        <p:spPr>
          <a:xfrm>
            <a:off x="0" y="-5583"/>
            <a:ext cx="9144000" cy="5154666"/>
          </a:xfrm>
          <a:prstGeom prst="rect">
            <a:avLst/>
          </a:prstGeom>
          <a:noFill/>
          <a:ln>
            <a:noFill/>
          </a:ln>
        </p:spPr>
      </p:pic>
      <p:sp>
        <p:nvSpPr>
          <p:cNvPr id="22" name="Google Shape;22;p2"/>
          <p:cNvSpPr/>
          <p:nvPr/>
        </p:nvSpPr>
        <p:spPr>
          <a:xfrm>
            <a:off x="457200" y="-9525"/>
            <a:ext cx="2438400" cy="914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grpSp>
        <p:nvGrpSpPr>
          <p:cNvPr id="23" name="Google Shape;23;p2"/>
          <p:cNvGrpSpPr/>
          <p:nvPr/>
        </p:nvGrpSpPr>
        <p:grpSpPr>
          <a:xfrm>
            <a:off x="994118" y="305466"/>
            <a:ext cx="1362335" cy="305001"/>
            <a:chOff x="5137" y="4139"/>
            <a:chExt cx="335" cy="75"/>
          </a:xfrm>
        </p:grpSpPr>
        <p:sp>
          <p:nvSpPr>
            <p:cNvPr id="24" name="Google Shape;24;p2"/>
            <p:cNvSpPr/>
            <p:nvPr/>
          </p:nvSpPr>
          <p:spPr>
            <a:xfrm>
              <a:off x="5137" y="4139"/>
              <a:ext cx="324" cy="75"/>
            </a:xfrm>
            <a:custGeom>
              <a:rect b="b" l="l" r="r" t="t"/>
              <a:pathLst>
                <a:path extrusionOk="0" h="863" w="3745">
                  <a:moveTo>
                    <a:pt x="660" y="0"/>
                  </a:moveTo>
                  <a:lnTo>
                    <a:pt x="660" y="0"/>
                  </a:lnTo>
                  <a:lnTo>
                    <a:pt x="22" y="0"/>
                  </a:lnTo>
                  <a:lnTo>
                    <a:pt x="0" y="73"/>
                  </a:lnTo>
                  <a:lnTo>
                    <a:pt x="292" y="73"/>
                  </a:lnTo>
                  <a:lnTo>
                    <a:pt x="292" y="804"/>
                  </a:lnTo>
                  <a:cubicBezTo>
                    <a:pt x="292" y="843"/>
                    <a:pt x="316" y="863"/>
                    <a:pt x="360" y="863"/>
                  </a:cubicBezTo>
                  <a:lnTo>
                    <a:pt x="399" y="863"/>
                  </a:lnTo>
                  <a:lnTo>
                    <a:pt x="399" y="73"/>
                  </a:lnTo>
                  <a:lnTo>
                    <a:pt x="637" y="73"/>
                  </a:lnTo>
                  <a:lnTo>
                    <a:pt x="660" y="0"/>
                  </a:lnTo>
                  <a:lnTo>
                    <a:pt x="660" y="0"/>
                  </a:lnTo>
                  <a:close/>
                  <a:moveTo>
                    <a:pt x="2673" y="181"/>
                  </a:moveTo>
                  <a:lnTo>
                    <a:pt x="2673" y="181"/>
                  </a:lnTo>
                  <a:cubicBezTo>
                    <a:pt x="2647" y="181"/>
                    <a:pt x="2626" y="190"/>
                    <a:pt x="2621" y="203"/>
                  </a:cubicBezTo>
                  <a:lnTo>
                    <a:pt x="2408" y="768"/>
                  </a:lnTo>
                  <a:lnTo>
                    <a:pt x="2448" y="768"/>
                  </a:lnTo>
                  <a:cubicBezTo>
                    <a:pt x="2491" y="768"/>
                    <a:pt x="2509" y="764"/>
                    <a:pt x="2522" y="729"/>
                  </a:cubicBezTo>
                  <a:lnTo>
                    <a:pt x="2570" y="596"/>
                  </a:lnTo>
                  <a:lnTo>
                    <a:pt x="2698" y="596"/>
                  </a:lnTo>
                  <a:lnTo>
                    <a:pt x="2679" y="533"/>
                  </a:lnTo>
                  <a:lnTo>
                    <a:pt x="2590" y="533"/>
                  </a:lnTo>
                  <a:lnTo>
                    <a:pt x="2669" y="310"/>
                  </a:lnTo>
                  <a:lnTo>
                    <a:pt x="2812" y="729"/>
                  </a:lnTo>
                  <a:cubicBezTo>
                    <a:pt x="2824" y="764"/>
                    <a:pt x="2845" y="768"/>
                    <a:pt x="2891" y="768"/>
                  </a:cubicBezTo>
                  <a:lnTo>
                    <a:pt x="2941" y="768"/>
                  </a:lnTo>
                  <a:lnTo>
                    <a:pt x="2725" y="203"/>
                  </a:lnTo>
                  <a:cubicBezTo>
                    <a:pt x="2720" y="190"/>
                    <a:pt x="2697" y="181"/>
                    <a:pt x="2673" y="181"/>
                  </a:cubicBezTo>
                  <a:close/>
                  <a:moveTo>
                    <a:pt x="3529" y="203"/>
                  </a:moveTo>
                  <a:lnTo>
                    <a:pt x="3529" y="203"/>
                  </a:lnTo>
                  <a:cubicBezTo>
                    <a:pt x="3524" y="190"/>
                    <a:pt x="3501" y="181"/>
                    <a:pt x="3477" y="181"/>
                  </a:cubicBezTo>
                  <a:cubicBezTo>
                    <a:pt x="3451" y="181"/>
                    <a:pt x="3430" y="190"/>
                    <a:pt x="3425" y="203"/>
                  </a:cubicBezTo>
                  <a:lnTo>
                    <a:pt x="3212" y="768"/>
                  </a:lnTo>
                  <a:lnTo>
                    <a:pt x="3252" y="768"/>
                  </a:lnTo>
                  <a:cubicBezTo>
                    <a:pt x="3294" y="768"/>
                    <a:pt x="3313" y="764"/>
                    <a:pt x="3326" y="729"/>
                  </a:cubicBezTo>
                  <a:lnTo>
                    <a:pt x="3374" y="596"/>
                  </a:lnTo>
                  <a:lnTo>
                    <a:pt x="3502" y="596"/>
                  </a:lnTo>
                  <a:lnTo>
                    <a:pt x="3483" y="533"/>
                  </a:lnTo>
                  <a:lnTo>
                    <a:pt x="3394" y="533"/>
                  </a:lnTo>
                  <a:lnTo>
                    <a:pt x="3473" y="310"/>
                  </a:lnTo>
                  <a:lnTo>
                    <a:pt x="3616" y="729"/>
                  </a:lnTo>
                  <a:cubicBezTo>
                    <a:pt x="3628" y="764"/>
                    <a:pt x="3649" y="768"/>
                    <a:pt x="3695" y="768"/>
                  </a:cubicBezTo>
                  <a:lnTo>
                    <a:pt x="3745" y="768"/>
                  </a:lnTo>
                  <a:lnTo>
                    <a:pt x="3529" y="203"/>
                  </a:lnTo>
                  <a:lnTo>
                    <a:pt x="3529" y="203"/>
                  </a:lnTo>
                  <a:close/>
                  <a:moveTo>
                    <a:pt x="1655" y="181"/>
                  </a:moveTo>
                  <a:lnTo>
                    <a:pt x="1655" y="181"/>
                  </a:lnTo>
                  <a:cubicBezTo>
                    <a:pt x="1630" y="181"/>
                    <a:pt x="1608" y="190"/>
                    <a:pt x="1603" y="203"/>
                  </a:cubicBezTo>
                  <a:lnTo>
                    <a:pt x="1399" y="746"/>
                  </a:lnTo>
                  <a:lnTo>
                    <a:pt x="1247" y="515"/>
                  </a:lnTo>
                  <a:cubicBezTo>
                    <a:pt x="1327" y="501"/>
                    <a:pt x="1374" y="459"/>
                    <a:pt x="1374" y="387"/>
                  </a:cubicBezTo>
                  <a:lnTo>
                    <a:pt x="1374" y="336"/>
                  </a:lnTo>
                  <a:cubicBezTo>
                    <a:pt x="1374" y="232"/>
                    <a:pt x="1277" y="189"/>
                    <a:pt x="1149" y="189"/>
                  </a:cubicBezTo>
                  <a:lnTo>
                    <a:pt x="969" y="189"/>
                  </a:lnTo>
                  <a:lnTo>
                    <a:pt x="969" y="704"/>
                  </a:lnTo>
                  <a:lnTo>
                    <a:pt x="737" y="704"/>
                  </a:lnTo>
                  <a:cubicBezTo>
                    <a:pt x="646" y="704"/>
                    <a:pt x="625" y="684"/>
                    <a:pt x="625" y="590"/>
                  </a:cubicBezTo>
                  <a:lnTo>
                    <a:pt x="625" y="488"/>
                  </a:lnTo>
                  <a:lnTo>
                    <a:pt x="797" y="488"/>
                  </a:lnTo>
                  <a:lnTo>
                    <a:pt x="816" y="424"/>
                  </a:lnTo>
                  <a:lnTo>
                    <a:pt x="625" y="424"/>
                  </a:lnTo>
                  <a:lnTo>
                    <a:pt x="625" y="253"/>
                  </a:lnTo>
                  <a:lnTo>
                    <a:pt x="878" y="253"/>
                  </a:lnTo>
                  <a:lnTo>
                    <a:pt x="897" y="189"/>
                  </a:lnTo>
                  <a:lnTo>
                    <a:pt x="520" y="189"/>
                  </a:lnTo>
                  <a:lnTo>
                    <a:pt x="520" y="590"/>
                  </a:lnTo>
                  <a:cubicBezTo>
                    <a:pt x="520" y="724"/>
                    <a:pt x="552" y="768"/>
                    <a:pt x="735" y="768"/>
                  </a:cubicBezTo>
                  <a:lnTo>
                    <a:pt x="1074" y="766"/>
                  </a:lnTo>
                  <a:lnTo>
                    <a:pt x="1074" y="253"/>
                  </a:lnTo>
                  <a:lnTo>
                    <a:pt x="1149" y="253"/>
                  </a:lnTo>
                  <a:cubicBezTo>
                    <a:pt x="1230" y="253"/>
                    <a:pt x="1271" y="282"/>
                    <a:pt x="1271" y="337"/>
                  </a:cubicBezTo>
                  <a:lnTo>
                    <a:pt x="1271" y="387"/>
                  </a:lnTo>
                  <a:cubicBezTo>
                    <a:pt x="1271" y="443"/>
                    <a:pt x="1220" y="461"/>
                    <a:pt x="1157" y="461"/>
                  </a:cubicBezTo>
                  <a:lnTo>
                    <a:pt x="1110" y="461"/>
                  </a:lnTo>
                  <a:lnTo>
                    <a:pt x="1269" y="733"/>
                  </a:lnTo>
                  <a:cubicBezTo>
                    <a:pt x="1287" y="765"/>
                    <a:pt x="1296" y="768"/>
                    <a:pt x="1338" y="768"/>
                  </a:cubicBezTo>
                  <a:lnTo>
                    <a:pt x="1430" y="768"/>
                  </a:lnTo>
                  <a:cubicBezTo>
                    <a:pt x="1473" y="768"/>
                    <a:pt x="1492" y="764"/>
                    <a:pt x="1505" y="729"/>
                  </a:cubicBezTo>
                  <a:lnTo>
                    <a:pt x="1552" y="596"/>
                  </a:lnTo>
                  <a:lnTo>
                    <a:pt x="1680" y="596"/>
                  </a:lnTo>
                  <a:lnTo>
                    <a:pt x="1661" y="533"/>
                  </a:lnTo>
                  <a:lnTo>
                    <a:pt x="1573" y="533"/>
                  </a:lnTo>
                  <a:lnTo>
                    <a:pt x="1652" y="310"/>
                  </a:lnTo>
                  <a:lnTo>
                    <a:pt x="1795" y="729"/>
                  </a:lnTo>
                  <a:cubicBezTo>
                    <a:pt x="1807" y="764"/>
                    <a:pt x="1827" y="768"/>
                    <a:pt x="1873" y="768"/>
                  </a:cubicBezTo>
                  <a:lnTo>
                    <a:pt x="1923" y="768"/>
                  </a:lnTo>
                  <a:lnTo>
                    <a:pt x="1707" y="203"/>
                  </a:lnTo>
                  <a:cubicBezTo>
                    <a:pt x="1702" y="190"/>
                    <a:pt x="1679" y="181"/>
                    <a:pt x="1655" y="181"/>
                  </a:cubicBezTo>
                  <a:close/>
                  <a:moveTo>
                    <a:pt x="2304" y="530"/>
                  </a:moveTo>
                  <a:lnTo>
                    <a:pt x="2304" y="530"/>
                  </a:lnTo>
                  <a:cubicBezTo>
                    <a:pt x="2304" y="647"/>
                    <a:pt x="2266" y="704"/>
                    <a:pt x="2162" y="704"/>
                  </a:cubicBezTo>
                  <a:lnTo>
                    <a:pt x="2068" y="704"/>
                  </a:lnTo>
                  <a:lnTo>
                    <a:pt x="2068" y="253"/>
                  </a:lnTo>
                  <a:lnTo>
                    <a:pt x="2159" y="253"/>
                  </a:lnTo>
                  <a:cubicBezTo>
                    <a:pt x="2266" y="253"/>
                    <a:pt x="2304" y="316"/>
                    <a:pt x="2304" y="433"/>
                  </a:cubicBezTo>
                  <a:lnTo>
                    <a:pt x="2304" y="530"/>
                  </a:lnTo>
                  <a:lnTo>
                    <a:pt x="2304" y="530"/>
                  </a:lnTo>
                  <a:close/>
                  <a:moveTo>
                    <a:pt x="2409" y="432"/>
                  </a:moveTo>
                  <a:lnTo>
                    <a:pt x="2409" y="432"/>
                  </a:lnTo>
                  <a:cubicBezTo>
                    <a:pt x="2409" y="270"/>
                    <a:pt x="2326" y="189"/>
                    <a:pt x="2159" y="189"/>
                  </a:cubicBezTo>
                  <a:lnTo>
                    <a:pt x="1963" y="189"/>
                  </a:lnTo>
                  <a:lnTo>
                    <a:pt x="1963" y="709"/>
                  </a:lnTo>
                  <a:cubicBezTo>
                    <a:pt x="1963" y="748"/>
                    <a:pt x="1984" y="768"/>
                    <a:pt x="2029" y="768"/>
                  </a:cubicBezTo>
                  <a:lnTo>
                    <a:pt x="2159" y="768"/>
                  </a:lnTo>
                  <a:lnTo>
                    <a:pt x="2180" y="767"/>
                  </a:lnTo>
                  <a:cubicBezTo>
                    <a:pt x="2337" y="761"/>
                    <a:pt x="2409" y="693"/>
                    <a:pt x="2409" y="530"/>
                  </a:cubicBezTo>
                  <a:lnTo>
                    <a:pt x="2409" y="432"/>
                  </a:lnTo>
                  <a:lnTo>
                    <a:pt x="2409" y="432"/>
                  </a:lnTo>
                  <a:close/>
                  <a:moveTo>
                    <a:pt x="3332" y="190"/>
                  </a:moveTo>
                  <a:lnTo>
                    <a:pt x="3332" y="190"/>
                  </a:lnTo>
                  <a:lnTo>
                    <a:pt x="2851" y="190"/>
                  </a:lnTo>
                  <a:lnTo>
                    <a:pt x="2831" y="254"/>
                  </a:lnTo>
                  <a:lnTo>
                    <a:pt x="3028" y="254"/>
                  </a:lnTo>
                  <a:lnTo>
                    <a:pt x="3028" y="710"/>
                  </a:lnTo>
                  <a:cubicBezTo>
                    <a:pt x="3028" y="749"/>
                    <a:pt x="3052" y="768"/>
                    <a:pt x="3096" y="768"/>
                  </a:cubicBezTo>
                  <a:lnTo>
                    <a:pt x="3135" y="768"/>
                  </a:lnTo>
                  <a:lnTo>
                    <a:pt x="3135" y="254"/>
                  </a:lnTo>
                  <a:lnTo>
                    <a:pt x="3313" y="254"/>
                  </a:lnTo>
                  <a:lnTo>
                    <a:pt x="3332" y="19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5" name="Google Shape;25;p2"/>
            <p:cNvSpPr/>
            <p:nvPr/>
          </p:nvSpPr>
          <p:spPr>
            <a:xfrm>
              <a:off x="5464" y="4197"/>
              <a:ext cx="8" cy="9"/>
            </a:xfrm>
            <a:custGeom>
              <a:rect b="b" l="l" r="r" t="t"/>
              <a:pathLst>
                <a:path extrusionOk="0" h="98" w="99">
                  <a:moveTo>
                    <a:pt x="59" y="30"/>
                  </a:moveTo>
                  <a:lnTo>
                    <a:pt x="59" y="30"/>
                  </a:lnTo>
                  <a:cubicBezTo>
                    <a:pt x="57" y="29"/>
                    <a:pt x="53" y="28"/>
                    <a:pt x="47" y="28"/>
                  </a:cubicBezTo>
                  <a:lnTo>
                    <a:pt x="39" y="28"/>
                  </a:lnTo>
                  <a:lnTo>
                    <a:pt x="39" y="48"/>
                  </a:lnTo>
                  <a:lnTo>
                    <a:pt x="48" y="48"/>
                  </a:lnTo>
                  <a:cubicBezTo>
                    <a:pt x="52" y="48"/>
                    <a:pt x="55" y="47"/>
                    <a:pt x="57" y="46"/>
                  </a:cubicBezTo>
                  <a:cubicBezTo>
                    <a:pt x="61" y="45"/>
                    <a:pt x="63" y="42"/>
                    <a:pt x="63" y="38"/>
                  </a:cubicBezTo>
                  <a:cubicBezTo>
                    <a:pt x="63" y="34"/>
                    <a:pt x="61" y="31"/>
                    <a:pt x="59" y="30"/>
                  </a:cubicBezTo>
                  <a:close/>
                  <a:moveTo>
                    <a:pt x="49" y="22"/>
                  </a:moveTo>
                  <a:lnTo>
                    <a:pt x="49" y="22"/>
                  </a:lnTo>
                  <a:cubicBezTo>
                    <a:pt x="55" y="22"/>
                    <a:pt x="60" y="22"/>
                    <a:pt x="63" y="23"/>
                  </a:cubicBezTo>
                  <a:cubicBezTo>
                    <a:pt x="69" y="26"/>
                    <a:pt x="72" y="30"/>
                    <a:pt x="72" y="37"/>
                  </a:cubicBezTo>
                  <a:cubicBezTo>
                    <a:pt x="72" y="42"/>
                    <a:pt x="70" y="46"/>
                    <a:pt x="66" y="48"/>
                  </a:cubicBezTo>
                  <a:cubicBezTo>
                    <a:pt x="65" y="49"/>
                    <a:pt x="62" y="50"/>
                    <a:pt x="59" y="51"/>
                  </a:cubicBezTo>
                  <a:cubicBezTo>
                    <a:pt x="63" y="51"/>
                    <a:pt x="66" y="53"/>
                    <a:pt x="68" y="56"/>
                  </a:cubicBezTo>
                  <a:cubicBezTo>
                    <a:pt x="70" y="59"/>
                    <a:pt x="71" y="62"/>
                    <a:pt x="71" y="64"/>
                  </a:cubicBezTo>
                  <a:lnTo>
                    <a:pt x="71" y="68"/>
                  </a:lnTo>
                  <a:cubicBezTo>
                    <a:pt x="71" y="69"/>
                    <a:pt x="71" y="71"/>
                    <a:pt x="71" y="72"/>
                  </a:cubicBezTo>
                  <a:cubicBezTo>
                    <a:pt x="71" y="74"/>
                    <a:pt x="71" y="75"/>
                    <a:pt x="72" y="75"/>
                  </a:cubicBezTo>
                  <a:lnTo>
                    <a:pt x="72" y="76"/>
                  </a:lnTo>
                  <a:lnTo>
                    <a:pt x="63" y="76"/>
                  </a:lnTo>
                  <a:cubicBezTo>
                    <a:pt x="63" y="76"/>
                    <a:pt x="63" y="75"/>
                    <a:pt x="63" y="75"/>
                  </a:cubicBezTo>
                  <a:cubicBezTo>
                    <a:pt x="63" y="75"/>
                    <a:pt x="63" y="75"/>
                    <a:pt x="63" y="75"/>
                  </a:cubicBezTo>
                  <a:lnTo>
                    <a:pt x="62" y="73"/>
                  </a:lnTo>
                  <a:lnTo>
                    <a:pt x="62" y="69"/>
                  </a:lnTo>
                  <a:cubicBezTo>
                    <a:pt x="62" y="62"/>
                    <a:pt x="61" y="58"/>
                    <a:pt x="57" y="56"/>
                  </a:cubicBezTo>
                  <a:cubicBezTo>
                    <a:pt x="55" y="55"/>
                    <a:pt x="52" y="54"/>
                    <a:pt x="47" y="54"/>
                  </a:cubicBezTo>
                  <a:lnTo>
                    <a:pt x="39" y="54"/>
                  </a:lnTo>
                  <a:lnTo>
                    <a:pt x="39" y="76"/>
                  </a:lnTo>
                  <a:lnTo>
                    <a:pt x="30" y="76"/>
                  </a:lnTo>
                  <a:lnTo>
                    <a:pt x="30" y="22"/>
                  </a:lnTo>
                  <a:lnTo>
                    <a:pt x="49" y="22"/>
                  </a:lnTo>
                  <a:lnTo>
                    <a:pt x="49" y="22"/>
                  </a:lnTo>
                  <a:close/>
                  <a:moveTo>
                    <a:pt x="20" y="19"/>
                  </a:moveTo>
                  <a:lnTo>
                    <a:pt x="20" y="19"/>
                  </a:lnTo>
                  <a:cubicBezTo>
                    <a:pt x="11" y="27"/>
                    <a:pt x="7" y="37"/>
                    <a:pt x="7" y="49"/>
                  </a:cubicBezTo>
                  <a:cubicBezTo>
                    <a:pt x="7" y="61"/>
                    <a:pt x="11" y="71"/>
                    <a:pt x="20" y="79"/>
                  </a:cubicBezTo>
                  <a:cubicBezTo>
                    <a:pt x="28" y="87"/>
                    <a:pt x="38" y="92"/>
                    <a:pt x="50" y="92"/>
                  </a:cubicBezTo>
                  <a:cubicBezTo>
                    <a:pt x="61" y="92"/>
                    <a:pt x="71" y="87"/>
                    <a:pt x="80" y="79"/>
                  </a:cubicBezTo>
                  <a:cubicBezTo>
                    <a:pt x="88" y="71"/>
                    <a:pt x="92" y="61"/>
                    <a:pt x="92" y="49"/>
                  </a:cubicBezTo>
                  <a:cubicBezTo>
                    <a:pt x="92" y="37"/>
                    <a:pt x="88" y="27"/>
                    <a:pt x="80" y="19"/>
                  </a:cubicBezTo>
                  <a:cubicBezTo>
                    <a:pt x="71" y="10"/>
                    <a:pt x="61" y="6"/>
                    <a:pt x="50" y="6"/>
                  </a:cubicBezTo>
                  <a:cubicBezTo>
                    <a:pt x="38" y="6"/>
                    <a:pt x="28" y="10"/>
                    <a:pt x="20" y="19"/>
                  </a:cubicBezTo>
                  <a:close/>
                  <a:moveTo>
                    <a:pt x="85" y="84"/>
                  </a:moveTo>
                  <a:lnTo>
                    <a:pt x="85" y="84"/>
                  </a:lnTo>
                  <a:cubicBezTo>
                    <a:pt x="75" y="94"/>
                    <a:pt x="63" y="98"/>
                    <a:pt x="50" y="98"/>
                  </a:cubicBezTo>
                  <a:cubicBezTo>
                    <a:pt x="36" y="98"/>
                    <a:pt x="24" y="94"/>
                    <a:pt x="15" y="84"/>
                  </a:cubicBezTo>
                  <a:cubicBezTo>
                    <a:pt x="5" y="74"/>
                    <a:pt x="0" y="63"/>
                    <a:pt x="0" y="49"/>
                  </a:cubicBezTo>
                  <a:cubicBezTo>
                    <a:pt x="0" y="35"/>
                    <a:pt x="5" y="24"/>
                    <a:pt x="15" y="14"/>
                  </a:cubicBezTo>
                  <a:cubicBezTo>
                    <a:pt x="24" y="4"/>
                    <a:pt x="36" y="0"/>
                    <a:pt x="50" y="0"/>
                  </a:cubicBezTo>
                  <a:cubicBezTo>
                    <a:pt x="63" y="0"/>
                    <a:pt x="75" y="4"/>
                    <a:pt x="85" y="14"/>
                  </a:cubicBezTo>
                  <a:cubicBezTo>
                    <a:pt x="94" y="24"/>
                    <a:pt x="99" y="35"/>
                    <a:pt x="99" y="49"/>
                  </a:cubicBezTo>
                  <a:cubicBezTo>
                    <a:pt x="99" y="63"/>
                    <a:pt x="94" y="74"/>
                    <a:pt x="85" y="84"/>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sp>
        <p:nvSpPr>
          <p:cNvPr id="26" name="Google Shape;26;p2"/>
          <p:cNvSpPr txBox="1"/>
          <p:nvPr>
            <p:ph idx="1" type="body"/>
          </p:nvPr>
        </p:nvSpPr>
        <p:spPr>
          <a:xfrm>
            <a:off x="0" y="2915344"/>
            <a:ext cx="9144000" cy="1065420"/>
          </a:xfrm>
          <a:prstGeom prst="rect">
            <a:avLst/>
          </a:prstGeom>
          <a:solidFill>
            <a:schemeClr val="accent1">
              <a:alpha val="89803"/>
            </a:schemeClr>
          </a:solidFill>
          <a:ln>
            <a:noFill/>
          </a:ln>
        </p:spPr>
        <p:txBody>
          <a:bodyPr anchorCtr="1" anchor="ctr" bIns="137150" lIns="457200" spcFirstLastPara="1" rIns="457200" wrap="square" tIns="137150">
            <a:noAutofit/>
          </a:bodyPr>
          <a:lstStyle>
            <a:lvl1pPr indent="-355600" lvl="0" marL="457200" algn="ctr">
              <a:lnSpc>
                <a:spcPct val="85000"/>
              </a:lnSpc>
              <a:spcBef>
                <a:spcPts val="200"/>
              </a:spcBef>
              <a:spcAft>
                <a:spcPts val="0"/>
              </a:spcAft>
              <a:buClr>
                <a:schemeClr val="lt1"/>
              </a:buClr>
              <a:buSzPts val="2000"/>
              <a:buFont typeface="Arial"/>
              <a:buChar char="​"/>
              <a:defRPr b="0" sz="2000">
                <a:solidFill>
                  <a:schemeClr val="lt1"/>
                </a:solidFill>
              </a:defRPr>
            </a:lvl1pPr>
            <a:lvl2pPr indent="-317500" lvl="1" marL="914400" algn="ctr">
              <a:lnSpc>
                <a:spcPct val="85000"/>
              </a:lnSpc>
              <a:spcBef>
                <a:spcPts val="200"/>
              </a:spcBef>
              <a:spcAft>
                <a:spcPts val="0"/>
              </a:spcAft>
              <a:buClr>
                <a:schemeClr val="lt1"/>
              </a:buClr>
              <a:buSzPts val="1400"/>
              <a:buFont typeface="Arial"/>
              <a:buChar char="​"/>
              <a:defRPr b="0" sz="1400">
                <a:solidFill>
                  <a:schemeClr val="lt1"/>
                </a:solidFill>
              </a:defRPr>
            </a:lvl2pPr>
            <a:lvl3pPr indent="-330200" lvl="2" marL="1371600" algn="ctr">
              <a:lnSpc>
                <a:spcPct val="85000"/>
              </a:lnSpc>
              <a:spcBef>
                <a:spcPts val="600"/>
              </a:spcBef>
              <a:spcAft>
                <a:spcPts val="0"/>
              </a:spcAft>
              <a:buClr>
                <a:schemeClr val="lt1"/>
              </a:buClr>
              <a:buSzPts val="1600"/>
              <a:buFont typeface="Arial"/>
              <a:buChar char="​"/>
              <a:defRPr b="1" sz="1600">
                <a:solidFill>
                  <a:schemeClr val="lt1"/>
                </a:solidFill>
              </a:defRPr>
            </a:lvl3pPr>
            <a:lvl4pPr indent="-317500" lvl="3" marL="1828800" algn="ctr">
              <a:lnSpc>
                <a:spcPct val="85000"/>
              </a:lnSpc>
              <a:spcBef>
                <a:spcPts val="200"/>
              </a:spcBef>
              <a:spcAft>
                <a:spcPts val="0"/>
              </a:spcAft>
              <a:buClr>
                <a:schemeClr val="lt1"/>
              </a:buClr>
              <a:buSzPts val="1400"/>
              <a:buFont typeface="Arial"/>
              <a:buChar char="​"/>
              <a:defRPr b="0" sz="1400">
                <a:solidFill>
                  <a:schemeClr val="lt1"/>
                </a:solidFill>
              </a:defRPr>
            </a:lvl4pPr>
            <a:lvl5pPr indent="-317500" lvl="4" marL="2286000" algn="ctr">
              <a:lnSpc>
                <a:spcPct val="85000"/>
              </a:lnSpc>
              <a:spcBef>
                <a:spcPts val="200"/>
              </a:spcBef>
              <a:spcAft>
                <a:spcPts val="0"/>
              </a:spcAft>
              <a:buClr>
                <a:schemeClr val="lt1"/>
              </a:buClr>
              <a:buSzPts val="1400"/>
              <a:buFont typeface="Arial"/>
              <a:buChar char="​"/>
              <a:defRPr b="0" sz="1400">
                <a:solidFill>
                  <a:schemeClr val="lt1"/>
                </a:solidFill>
              </a:defRPr>
            </a:lvl5pPr>
            <a:lvl6pPr indent="-317500" lvl="5" marL="2743200" algn="ctr">
              <a:lnSpc>
                <a:spcPct val="85000"/>
              </a:lnSpc>
              <a:spcBef>
                <a:spcPts val="200"/>
              </a:spcBef>
              <a:spcAft>
                <a:spcPts val="0"/>
              </a:spcAft>
              <a:buClr>
                <a:schemeClr val="lt1"/>
              </a:buClr>
              <a:buSzPts val="1400"/>
              <a:buFont typeface="Arial"/>
              <a:buChar char="​"/>
              <a:defRPr b="0" sz="1400">
                <a:solidFill>
                  <a:schemeClr val="lt1"/>
                </a:solidFill>
              </a:defRPr>
            </a:lvl6pPr>
            <a:lvl7pPr indent="-317500" lvl="6" marL="3200400" algn="ctr">
              <a:lnSpc>
                <a:spcPct val="85000"/>
              </a:lnSpc>
              <a:spcBef>
                <a:spcPts val="200"/>
              </a:spcBef>
              <a:spcAft>
                <a:spcPts val="0"/>
              </a:spcAft>
              <a:buClr>
                <a:schemeClr val="lt1"/>
              </a:buClr>
              <a:buSzPts val="1400"/>
              <a:buFont typeface="Arial"/>
              <a:buChar char="​"/>
              <a:defRPr b="0" sz="1400">
                <a:solidFill>
                  <a:schemeClr val="lt1"/>
                </a:solidFill>
              </a:defRPr>
            </a:lvl7pPr>
            <a:lvl8pPr indent="-317500" lvl="7" marL="3657600" algn="ctr">
              <a:lnSpc>
                <a:spcPct val="85000"/>
              </a:lnSpc>
              <a:spcBef>
                <a:spcPts val="200"/>
              </a:spcBef>
              <a:spcAft>
                <a:spcPts val="0"/>
              </a:spcAft>
              <a:buClr>
                <a:schemeClr val="lt1"/>
              </a:buClr>
              <a:buSzPts val="1400"/>
              <a:buFont typeface="Arial"/>
              <a:buChar char="​"/>
              <a:defRPr b="0" sz="1400">
                <a:solidFill>
                  <a:schemeClr val="lt1"/>
                </a:solidFill>
              </a:defRPr>
            </a:lvl8pPr>
            <a:lvl9pPr indent="-317500" lvl="8" marL="4114800" algn="ctr">
              <a:lnSpc>
                <a:spcPct val="85000"/>
              </a:lnSpc>
              <a:spcBef>
                <a:spcPts val="200"/>
              </a:spcBef>
              <a:spcAft>
                <a:spcPts val="200"/>
              </a:spcAft>
              <a:buClr>
                <a:schemeClr val="lt1"/>
              </a:buClr>
              <a:buSzPts val="1400"/>
              <a:buFont typeface="Arial"/>
              <a:buChar char="​"/>
              <a:defRPr b="0" sz="1400">
                <a:solidFill>
                  <a:schemeClr val="lt1"/>
                </a:solidFill>
              </a:defRPr>
            </a:lvl9pPr>
          </a:lstStyle>
          <a:p/>
        </p:txBody>
      </p:sp>
    </p:spTree>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27" name="Shape 27"/>
        <p:cNvGrpSpPr/>
        <p:nvPr/>
      </p:nvGrpSpPr>
      <p:grpSpPr>
        <a:xfrm>
          <a:off x="0" y="0"/>
          <a:ext cx="0" cy="0"/>
          <a:chOff x="0" y="0"/>
          <a:chExt cx="0" cy="0"/>
        </a:xfrm>
      </p:grpSpPr>
      <p:sp>
        <p:nvSpPr>
          <p:cNvPr id="28" name="Google Shape;28;p3"/>
          <p:cNvSpPr txBox="1"/>
          <p:nvPr>
            <p:ph idx="1" type="body"/>
          </p:nvPr>
        </p:nvSpPr>
        <p:spPr>
          <a:xfrm>
            <a:off x="457200" y="1115806"/>
            <a:ext cx="8229600" cy="3507581"/>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solidFill>
                  <a:schemeClr val="dk1"/>
                </a:solidFill>
              </a:defRPr>
            </a:lvl1pPr>
            <a:lvl2pPr indent="-330200" lvl="1" marL="914400" algn="l">
              <a:lnSpc>
                <a:spcPct val="85000"/>
              </a:lnSpc>
              <a:spcBef>
                <a:spcPts val="200"/>
              </a:spcBef>
              <a:spcAft>
                <a:spcPts val="0"/>
              </a:spcAft>
              <a:buClr>
                <a:schemeClr val="dk1"/>
              </a:buClr>
              <a:buSzPts val="1600"/>
              <a:buChar char="–"/>
              <a:defRPr sz="1600">
                <a:solidFill>
                  <a:schemeClr val="dk1"/>
                </a:solidFill>
              </a:defRPr>
            </a:lvl2pPr>
            <a:lvl3pPr indent="-317500" lvl="2" marL="1371600" algn="l">
              <a:lnSpc>
                <a:spcPct val="85000"/>
              </a:lnSpc>
              <a:spcBef>
                <a:spcPts val="200"/>
              </a:spcBef>
              <a:spcAft>
                <a:spcPts val="0"/>
              </a:spcAft>
              <a:buClr>
                <a:schemeClr val="dk1"/>
              </a:buClr>
              <a:buSzPts val="1400"/>
              <a:buChar char="-"/>
              <a:defRPr sz="1400">
                <a:solidFill>
                  <a:schemeClr val="dk1"/>
                </a:solidFill>
              </a:defRPr>
            </a:lvl3pPr>
            <a:lvl4pPr indent="-342900" lvl="3" marL="1828800" algn="l">
              <a:lnSpc>
                <a:spcPct val="95000"/>
              </a:lnSpc>
              <a:spcBef>
                <a:spcPts val="600"/>
              </a:spcBef>
              <a:spcAft>
                <a:spcPts val="0"/>
              </a:spcAft>
              <a:buClr>
                <a:schemeClr val="dk1"/>
              </a:buClr>
              <a:buSzPts val="1800"/>
              <a:buChar char="​"/>
              <a:defRPr sz="1800">
                <a:solidFill>
                  <a:schemeClr val="dk1"/>
                </a:solidFill>
              </a:defRPr>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29" name="Google Shape;29;p3"/>
          <p:cNvSpPr txBox="1"/>
          <p:nvPr>
            <p:ph idx="2" type="body"/>
          </p:nvPr>
        </p:nvSpPr>
        <p:spPr>
          <a:xfrm>
            <a:off x="457200" y="703405"/>
            <a:ext cx="8229600" cy="353174"/>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dk1"/>
              </a:buClr>
              <a:buSzPts val="1800"/>
              <a:buFont typeface="Century Gothic"/>
              <a:buNone/>
              <a:defRPr sz="1800">
                <a:solidFill>
                  <a:schemeClr val="dk1"/>
                </a:solidFill>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30" name="Google Shape;30;p3"/>
          <p:cNvSpPr txBox="1"/>
          <p:nvPr>
            <p:ph type="title"/>
          </p:nvPr>
        </p:nvSpPr>
        <p:spPr>
          <a:xfrm>
            <a:off x="457200" y="128588"/>
            <a:ext cx="8229600" cy="526298"/>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3"/>
          <p:cNvSpPr txBox="1"/>
          <p:nvPr>
            <p:ph idx="3" type="body"/>
          </p:nvPr>
        </p:nvSpPr>
        <p:spPr>
          <a:xfrm>
            <a:off x="3297994" y="4943703"/>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Title and Content">
  <p:cSld name="17_Title and Content">
    <p:spTree>
      <p:nvGrpSpPr>
        <p:cNvPr id="32" name="Shape 32"/>
        <p:cNvGrpSpPr/>
        <p:nvPr/>
      </p:nvGrpSpPr>
      <p:grpSpPr>
        <a:xfrm>
          <a:off x="0" y="0"/>
          <a:ext cx="0" cy="0"/>
          <a:chOff x="0" y="0"/>
          <a:chExt cx="0" cy="0"/>
        </a:xfrm>
      </p:grpSpPr>
      <p:sp>
        <p:nvSpPr>
          <p:cNvPr id="33" name="Google Shape;33;p4"/>
          <p:cNvSpPr txBox="1"/>
          <p:nvPr>
            <p:ph idx="1" type="body"/>
          </p:nvPr>
        </p:nvSpPr>
        <p:spPr>
          <a:xfrm>
            <a:off x="457200" y="1216372"/>
            <a:ext cx="8229600" cy="3340559"/>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a:lvl1pPr>
            <a:lvl2pPr indent="-342900" lvl="1" marL="914400" algn="l">
              <a:lnSpc>
                <a:spcPct val="85000"/>
              </a:lnSpc>
              <a:spcBef>
                <a:spcPts val="200"/>
              </a:spcBef>
              <a:spcAft>
                <a:spcPts val="0"/>
              </a:spcAft>
              <a:buClr>
                <a:schemeClr val="dk1"/>
              </a:buClr>
              <a:buSzPts val="1800"/>
              <a:buChar char="–"/>
              <a:defRPr/>
            </a:lvl2pPr>
            <a:lvl3pPr indent="-342900" lvl="2" marL="1371600" algn="l">
              <a:lnSpc>
                <a:spcPct val="85000"/>
              </a:lnSpc>
              <a:spcBef>
                <a:spcPts val="200"/>
              </a:spcBef>
              <a:spcAft>
                <a:spcPts val="0"/>
              </a:spcAft>
              <a:buClr>
                <a:schemeClr val="dk1"/>
              </a:buClr>
              <a:buSzPts val="1800"/>
              <a:buChar char="-"/>
              <a:defRPr/>
            </a:lvl3pPr>
            <a:lvl4pPr indent="-342900" lvl="3" marL="1828800" algn="l">
              <a:lnSpc>
                <a:spcPct val="95000"/>
              </a:lnSpc>
              <a:spcBef>
                <a:spcPts val="600"/>
              </a:spcBef>
              <a:spcAft>
                <a:spcPts val="0"/>
              </a:spcAft>
              <a:buClr>
                <a:schemeClr val="dk1"/>
              </a:buClr>
              <a:buSzPts val="1800"/>
              <a:buChar char="​"/>
              <a:defRPr/>
            </a:lvl4pPr>
            <a:lvl5pPr indent="-342900" lvl="4" marL="2286000" algn="l">
              <a:lnSpc>
                <a:spcPct val="95000"/>
              </a:lnSpc>
              <a:spcBef>
                <a:spcPts val="600"/>
              </a:spcBef>
              <a:spcAft>
                <a:spcPts val="0"/>
              </a:spcAft>
              <a:buClr>
                <a:schemeClr val="accent1"/>
              </a:buClr>
              <a:buSzPts val="1800"/>
              <a:buChar char="​"/>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34" name="Google Shape;34;p4"/>
          <p:cNvSpPr txBox="1"/>
          <p:nvPr>
            <p:ph type="title"/>
          </p:nvPr>
        </p:nvSpPr>
        <p:spPr>
          <a:xfrm>
            <a:off x="457200" y="164592"/>
            <a:ext cx="8229600" cy="704088"/>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Subtitle Only">
  <p:cSld name="1_Title and Subtitle Only">
    <p:spTree>
      <p:nvGrpSpPr>
        <p:cNvPr id="35" name="Shape 35"/>
        <p:cNvGrpSpPr/>
        <p:nvPr/>
      </p:nvGrpSpPr>
      <p:grpSpPr>
        <a:xfrm>
          <a:off x="0" y="0"/>
          <a:ext cx="0" cy="0"/>
          <a:chOff x="0" y="0"/>
          <a:chExt cx="0" cy="0"/>
        </a:xfrm>
      </p:grpSpPr>
      <p:sp>
        <p:nvSpPr>
          <p:cNvPr id="36" name="Google Shape;36;p5"/>
          <p:cNvSpPr txBox="1"/>
          <p:nvPr>
            <p:ph idx="1" type="body"/>
          </p:nvPr>
        </p:nvSpPr>
        <p:spPr>
          <a:xfrm>
            <a:off x="3297994" y="4943703"/>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37" name="Google Shape;37;p5"/>
          <p:cNvSpPr txBox="1"/>
          <p:nvPr>
            <p:ph idx="2" type="body"/>
          </p:nvPr>
        </p:nvSpPr>
        <p:spPr>
          <a:xfrm>
            <a:off x="457200" y="703405"/>
            <a:ext cx="8229600" cy="353174"/>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dk1"/>
              </a:buClr>
              <a:buSzPts val="1800"/>
              <a:buFont typeface="Century Gothic"/>
              <a:buNone/>
              <a:defRPr sz="1800">
                <a:solidFill>
                  <a:schemeClr val="dk1"/>
                </a:solidFill>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38" name="Google Shape;38;p5"/>
          <p:cNvSpPr txBox="1"/>
          <p:nvPr>
            <p:ph type="title"/>
          </p:nvPr>
        </p:nvSpPr>
        <p:spPr>
          <a:xfrm>
            <a:off x="457200" y="128590"/>
            <a:ext cx="8229600" cy="526298"/>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Title and Content">
  <p:cSld name="15_Title and Content">
    <p:spTree>
      <p:nvGrpSpPr>
        <p:cNvPr id="39" name="Shape 39"/>
        <p:cNvGrpSpPr/>
        <p:nvPr/>
      </p:nvGrpSpPr>
      <p:grpSpPr>
        <a:xfrm>
          <a:off x="0" y="0"/>
          <a:ext cx="0" cy="0"/>
          <a:chOff x="0" y="0"/>
          <a:chExt cx="0" cy="0"/>
        </a:xfrm>
      </p:grpSpPr>
      <p:sp>
        <p:nvSpPr>
          <p:cNvPr id="40" name="Google Shape;40;p6"/>
          <p:cNvSpPr txBox="1"/>
          <p:nvPr>
            <p:ph type="title"/>
          </p:nvPr>
        </p:nvSpPr>
        <p:spPr>
          <a:xfrm>
            <a:off x="457200" y="173736"/>
            <a:ext cx="8229600" cy="698572"/>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6"/>
          <p:cNvSpPr txBox="1"/>
          <p:nvPr>
            <p:ph idx="1" type="body"/>
          </p:nvPr>
        </p:nvSpPr>
        <p:spPr>
          <a:xfrm>
            <a:off x="457200" y="1216152"/>
            <a:ext cx="8229600" cy="3344033"/>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solidFill>
                  <a:schemeClr val="dk1"/>
                </a:solidFill>
              </a:defRPr>
            </a:lvl1pPr>
            <a:lvl2pPr indent="-330200" lvl="1" marL="914400" algn="l">
              <a:lnSpc>
                <a:spcPct val="85000"/>
              </a:lnSpc>
              <a:spcBef>
                <a:spcPts val="200"/>
              </a:spcBef>
              <a:spcAft>
                <a:spcPts val="0"/>
              </a:spcAft>
              <a:buClr>
                <a:schemeClr val="dk1"/>
              </a:buClr>
              <a:buSzPts val="1600"/>
              <a:buChar char="–"/>
              <a:defRPr sz="1600">
                <a:solidFill>
                  <a:schemeClr val="dk1"/>
                </a:solidFill>
              </a:defRPr>
            </a:lvl2pPr>
            <a:lvl3pPr indent="-317500" lvl="2" marL="1371600" algn="l">
              <a:lnSpc>
                <a:spcPct val="85000"/>
              </a:lnSpc>
              <a:spcBef>
                <a:spcPts val="200"/>
              </a:spcBef>
              <a:spcAft>
                <a:spcPts val="0"/>
              </a:spcAft>
              <a:buClr>
                <a:schemeClr val="dk1"/>
              </a:buClr>
              <a:buSzPts val="1400"/>
              <a:buChar char="-"/>
              <a:defRPr sz="1400">
                <a:solidFill>
                  <a:schemeClr val="dk1"/>
                </a:solidFill>
              </a:defRPr>
            </a:lvl3pPr>
            <a:lvl4pPr indent="-342900" lvl="3" marL="1828800" algn="l">
              <a:lnSpc>
                <a:spcPct val="95000"/>
              </a:lnSpc>
              <a:spcBef>
                <a:spcPts val="600"/>
              </a:spcBef>
              <a:spcAft>
                <a:spcPts val="0"/>
              </a:spcAft>
              <a:buClr>
                <a:schemeClr val="dk1"/>
              </a:buClr>
              <a:buSzPts val="1800"/>
              <a:buChar char="​"/>
              <a:defRPr sz="1800">
                <a:solidFill>
                  <a:schemeClr val="dk1"/>
                </a:solidFill>
              </a:defRPr>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42" name="Google Shape;42;p6"/>
          <p:cNvSpPr txBox="1"/>
          <p:nvPr>
            <p:ph idx="2"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Title and Content">
  <p:cSld name="16_Title and Content">
    <p:spTree>
      <p:nvGrpSpPr>
        <p:cNvPr id="43" name="Shape 43"/>
        <p:cNvGrpSpPr/>
        <p:nvPr/>
      </p:nvGrpSpPr>
      <p:grpSpPr>
        <a:xfrm>
          <a:off x="0" y="0"/>
          <a:ext cx="0" cy="0"/>
          <a:chOff x="0" y="0"/>
          <a:chExt cx="0" cy="0"/>
        </a:xfrm>
      </p:grpSpPr>
      <p:sp>
        <p:nvSpPr>
          <p:cNvPr id="44" name="Google Shape;44;p7"/>
          <p:cNvSpPr txBox="1"/>
          <p:nvPr>
            <p:ph type="title"/>
          </p:nvPr>
        </p:nvSpPr>
        <p:spPr>
          <a:xfrm>
            <a:off x="457200" y="173736"/>
            <a:ext cx="8229600" cy="698572"/>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7"/>
          <p:cNvSpPr txBox="1"/>
          <p:nvPr>
            <p:ph idx="1" type="body"/>
          </p:nvPr>
        </p:nvSpPr>
        <p:spPr>
          <a:xfrm>
            <a:off x="457200" y="1216152"/>
            <a:ext cx="8229600" cy="3344033"/>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solidFill>
                  <a:schemeClr val="dk1"/>
                </a:solidFill>
              </a:defRPr>
            </a:lvl1pPr>
            <a:lvl2pPr indent="-330200" lvl="1" marL="914400" algn="l">
              <a:lnSpc>
                <a:spcPct val="85000"/>
              </a:lnSpc>
              <a:spcBef>
                <a:spcPts val="200"/>
              </a:spcBef>
              <a:spcAft>
                <a:spcPts val="0"/>
              </a:spcAft>
              <a:buClr>
                <a:schemeClr val="dk1"/>
              </a:buClr>
              <a:buSzPts val="1600"/>
              <a:buChar char="–"/>
              <a:defRPr sz="1600">
                <a:solidFill>
                  <a:schemeClr val="dk1"/>
                </a:solidFill>
              </a:defRPr>
            </a:lvl2pPr>
            <a:lvl3pPr indent="-317500" lvl="2" marL="1371600" algn="l">
              <a:lnSpc>
                <a:spcPct val="85000"/>
              </a:lnSpc>
              <a:spcBef>
                <a:spcPts val="200"/>
              </a:spcBef>
              <a:spcAft>
                <a:spcPts val="0"/>
              </a:spcAft>
              <a:buClr>
                <a:schemeClr val="dk1"/>
              </a:buClr>
              <a:buSzPts val="1400"/>
              <a:buChar char="-"/>
              <a:defRPr sz="1400">
                <a:solidFill>
                  <a:schemeClr val="dk1"/>
                </a:solidFill>
              </a:defRPr>
            </a:lvl3pPr>
            <a:lvl4pPr indent="-342900" lvl="3" marL="1828800" algn="l">
              <a:lnSpc>
                <a:spcPct val="95000"/>
              </a:lnSpc>
              <a:spcBef>
                <a:spcPts val="600"/>
              </a:spcBef>
              <a:spcAft>
                <a:spcPts val="0"/>
              </a:spcAft>
              <a:buClr>
                <a:schemeClr val="dk1"/>
              </a:buClr>
              <a:buSzPts val="1800"/>
              <a:buChar char="​"/>
              <a:defRPr sz="1800">
                <a:solidFill>
                  <a:schemeClr val="dk1"/>
                </a:solidFill>
              </a:defRPr>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46" name="Google Shape;46;p7"/>
          <p:cNvSpPr txBox="1"/>
          <p:nvPr>
            <p:ph idx="2"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47" name="Shape 47"/>
        <p:cNvGrpSpPr/>
        <p:nvPr/>
      </p:nvGrpSpPr>
      <p:grpSpPr>
        <a:xfrm>
          <a:off x="0" y="0"/>
          <a:ext cx="0" cy="0"/>
          <a:chOff x="0" y="0"/>
          <a:chExt cx="0" cy="0"/>
        </a:xfrm>
      </p:grpSpPr>
      <p:sp>
        <p:nvSpPr>
          <p:cNvPr id="48" name="Google Shape;48;p8"/>
          <p:cNvSpPr txBox="1"/>
          <p:nvPr>
            <p:ph type="title"/>
          </p:nvPr>
        </p:nvSpPr>
        <p:spPr>
          <a:xfrm>
            <a:off x="457200" y="173736"/>
            <a:ext cx="8229600" cy="413639"/>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8"/>
          <p:cNvSpPr txBox="1"/>
          <p:nvPr>
            <p:ph idx="1" type="body"/>
          </p:nvPr>
        </p:nvSpPr>
        <p:spPr>
          <a:xfrm>
            <a:off x="457200" y="865188"/>
            <a:ext cx="8229600" cy="3694997"/>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solidFill>
                  <a:schemeClr val="dk1"/>
                </a:solidFill>
              </a:defRPr>
            </a:lvl1pPr>
            <a:lvl2pPr indent="-330200" lvl="1" marL="914400" algn="l">
              <a:lnSpc>
                <a:spcPct val="85000"/>
              </a:lnSpc>
              <a:spcBef>
                <a:spcPts val="200"/>
              </a:spcBef>
              <a:spcAft>
                <a:spcPts val="0"/>
              </a:spcAft>
              <a:buClr>
                <a:schemeClr val="dk1"/>
              </a:buClr>
              <a:buSzPts val="1600"/>
              <a:buChar char="–"/>
              <a:defRPr sz="1600">
                <a:solidFill>
                  <a:schemeClr val="dk1"/>
                </a:solidFill>
              </a:defRPr>
            </a:lvl2pPr>
            <a:lvl3pPr indent="-317500" lvl="2" marL="1371600" algn="l">
              <a:lnSpc>
                <a:spcPct val="85000"/>
              </a:lnSpc>
              <a:spcBef>
                <a:spcPts val="200"/>
              </a:spcBef>
              <a:spcAft>
                <a:spcPts val="0"/>
              </a:spcAft>
              <a:buClr>
                <a:schemeClr val="dk1"/>
              </a:buClr>
              <a:buSzPts val="1400"/>
              <a:buChar char="-"/>
              <a:defRPr sz="1400">
                <a:solidFill>
                  <a:schemeClr val="dk1"/>
                </a:solidFill>
              </a:defRPr>
            </a:lvl3pPr>
            <a:lvl4pPr indent="-342900" lvl="3" marL="1828800" algn="l">
              <a:lnSpc>
                <a:spcPct val="95000"/>
              </a:lnSpc>
              <a:spcBef>
                <a:spcPts val="600"/>
              </a:spcBef>
              <a:spcAft>
                <a:spcPts val="0"/>
              </a:spcAft>
              <a:buClr>
                <a:schemeClr val="dk1"/>
              </a:buClr>
              <a:buSzPts val="1800"/>
              <a:buChar char="​"/>
              <a:defRPr sz="1800">
                <a:solidFill>
                  <a:schemeClr val="dk1"/>
                </a:solidFill>
              </a:defRPr>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50" name="Google Shape;50;p8"/>
          <p:cNvSpPr txBox="1"/>
          <p:nvPr>
            <p:ph idx="2" type="body"/>
          </p:nvPr>
        </p:nvSpPr>
        <p:spPr>
          <a:xfrm>
            <a:off x="3297994" y="4923703"/>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_Title and Content">
  <p:cSld name="21_Title and Content">
    <p:spTree>
      <p:nvGrpSpPr>
        <p:cNvPr id="51" name="Shape 51"/>
        <p:cNvGrpSpPr/>
        <p:nvPr/>
      </p:nvGrpSpPr>
      <p:grpSpPr>
        <a:xfrm>
          <a:off x="0" y="0"/>
          <a:ext cx="0" cy="0"/>
          <a:chOff x="0" y="0"/>
          <a:chExt cx="0" cy="0"/>
        </a:xfrm>
      </p:grpSpPr>
      <p:sp>
        <p:nvSpPr>
          <p:cNvPr id="52" name="Google Shape;52;p9"/>
          <p:cNvSpPr txBox="1"/>
          <p:nvPr>
            <p:ph type="title"/>
          </p:nvPr>
        </p:nvSpPr>
        <p:spPr>
          <a:xfrm>
            <a:off x="457200" y="173736"/>
            <a:ext cx="8229600" cy="698572"/>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9"/>
          <p:cNvSpPr txBox="1"/>
          <p:nvPr>
            <p:ph idx="1" type="body"/>
          </p:nvPr>
        </p:nvSpPr>
        <p:spPr>
          <a:xfrm>
            <a:off x="457200" y="1216152"/>
            <a:ext cx="8229600" cy="3344033"/>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solidFill>
                  <a:schemeClr val="dk1"/>
                </a:solidFill>
              </a:defRPr>
            </a:lvl1pPr>
            <a:lvl2pPr indent="-330200" lvl="1" marL="914400" algn="l">
              <a:lnSpc>
                <a:spcPct val="85000"/>
              </a:lnSpc>
              <a:spcBef>
                <a:spcPts val="200"/>
              </a:spcBef>
              <a:spcAft>
                <a:spcPts val="0"/>
              </a:spcAft>
              <a:buClr>
                <a:schemeClr val="dk1"/>
              </a:buClr>
              <a:buSzPts val="1600"/>
              <a:buChar char="–"/>
              <a:defRPr sz="1600">
                <a:solidFill>
                  <a:schemeClr val="dk1"/>
                </a:solidFill>
              </a:defRPr>
            </a:lvl2pPr>
            <a:lvl3pPr indent="-317500" lvl="2" marL="1371600" algn="l">
              <a:lnSpc>
                <a:spcPct val="85000"/>
              </a:lnSpc>
              <a:spcBef>
                <a:spcPts val="200"/>
              </a:spcBef>
              <a:spcAft>
                <a:spcPts val="0"/>
              </a:spcAft>
              <a:buClr>
                <a:schemeClr val="dk1"/>
              </a:buClr>
              <a:buSzPts val="1400"/>
              <a:buChar char="-"/>
              <a:defRPr sz="1400">
                <a:solidFill>
                  <a:schemeClr val="dk1"/>
                </a:solidFill>
              </a:defRPr>
            </a:lvl3pPr>
            <a:lvl4pPr indent="-342900" lvl="3" marL="1828800" algn="l">
              <a:lnSpc>
                <a:spcPct val="95000"/>
              </a:lnSpc>
              <a:spcBef>
                <a:spcPts val="600"/>
              </a:spcBef>
              <a:spcAft>
                <a:spcPts val="0"/>
              </a:spcAft>
              <a:buClr>
                <a:schemeClr val="dk1"/>
              </a:buClr>
              <a:buSzPts val="1800"/>
              <a:buChar char="​"/>
              <a:defRPr sz="1800">
                <a:solidFill>
                  <a:schemeClr val="dk1"/>
                </a:solidFill>
              </a:defRPr>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54" name="Google Shape;54;p9"/>
          <p:cNvSpPr txBox="1"/>
          <p:nvPr>
            <p:ph idx="2"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gue" showMasterSp="0">
  <p:cSld name="Segue">
    <p:bg>
      <p:bgPr>
        <a:solidFill>
          <a:schemeClr val="accent1"/>
        </a:solidFill>
      </p:bgPr>
    </p:bg>
    <p:spTree>
      <p:nvGrpSpPr>
        <p:cNvPr id="55" name="Shape 55"/>
        <p:cNvGrpSpPr/>
        <p:nvPr/>
      </p:nvGrpSpPr>
      <p:grpSpPr>
        <a:xfrm>
          <a:off x="0" y="0"/>
          <a:ext cx="0" cy="0"/>
          <a:chOff x="0" y="0"/>
          <a:chExt cx="0" cy="0"/>
        </a:xfrm>
      </p:grpSpPr>
      <p:sp>
        <p:nvSpPr>
          <p:cNvPr id="56" name="Google Shape;56;p10"/>
          <p:cNvSpPr txBox="1"/>
          <p:nvPr>
            <p:ph idx="1" type="body"/>
          </p:nvPr>
        </p:nvSpPr>
        <p:spPr>
          <a:xfrm>
            <a:off x="0" y="2342217"/>
            <a:ext cx="9144000" cy="459100"/>
          </a:xfrm>
          <a:prstGeom prst="rect">
            <a:avLst/>
          </a:prstGeom>
          <a:solidFill>
            <a:schemeClr val="lt1"/>
          </a:solidFill>
          <a:ln>
            <a:noFill/>
          </a:ln>
        </p:spPr>
        <p:txBody>
          <a:bodyPr anchorCtr="1" anchor="ctr" bIns="45700" lIns="457200" spcFirstLastPara="1" rIns="457200" wrap="square" tIns="45700">
            <a:noAutofit/>
          </a:bodyPr>
          <a:lstStyle>
            <a:lvl1pPr indent="-228600" lvl="0" marL="457200" algn="ctr">
              <a:lnSpc>
                <a:spcPct val="110000"/>
              </a:lnSpc>
              <a:spcBef>
                <a:spcPts val="200"/>
              </a:spcBef>
              <a:spcAft>
                <a:spcPts val="0"/>
              </a:spcAft>
              <a:buClr>
                <a:schemeClr val="accent1"/>
              </a:buClr>
              <a:buSzPts val="2200"/>
              <a:buFont typeface="Century Gothic"/>
              <a:buNone/>
              <a:defRPr sz="2200">
                <a:solidFill>
                  <a:schemeClr val="accent1"/>
                </a:solidFill>
              </a:defRPr>
            </a:lvl1pPr>
            <a:lvl2pPr indent="-342900" lvl="1" marL="914400" algn="ctr">
              <a:lnSpc>
                <a:spcPct val="100000"/>
              </a:lnSpc>
              <a:spcBef>
                <a:spcPts val="200"/>
              </a:spcBef>
              <a:spcAft>
                <a:spcPts val="0"/>
              </a:spcAft>
              <a:buClr>
                <a:schemeClr val="accent1"/>
              </a:buClr>
              <a:buSzPts val="1800"/>
              <a:buFont typeface="Arial"/>
              <a:buChar char="​"/>
              <a:defRPr sz="1800">
                <a:solidFill>
                  <a:schemeClr val="accent1"/>
                </a:solidFill>
              </a:defRPr>
            </a:lvl2pPr>
            <a:lvl3pPr indent="-317500" lvl="2" marL="1371600" algn="ctr">
              <a:lnSpc>
                <a:spcPct val="85000"/>
              </a:lnSpc>
              <a:spcBef>
                <a:spcPts val="600"/>
              </a:spcBef>
              <a:spcAft>
                <a:spcPts val="0"/>
              </a:spcAft>
              <a:buClr>
                <a:schemeClr val="accent1"/>
              </a:buClr>
              <a:buSzPts val="1400"/>
              <a:buFont typeface="Arial"/>
              <a:buChar char="​"/>
              <a:defRPr b="1" sz="1400">
                <a:solidFill>
                  <a:schemeClr val="accent1"/>
                </a:solidFill>
              </a:defRPr>
            </a:lvl3pPr>
            <a:lvl4pPr indent="-317500" lvl="3" marL="1828800" algn="ctr">
              <a:lnSpc>
                <a:spcPct val="85000"/>
              </a:lnSpc>
              <a:spcBef>
                <a:spcPts val="200"/>
              </a:spcBef>
              <a:spcAft>
                <a:spcPts val="0"/>
              </a:spcAft>
              <a:buClr>
                <a:schemeClr val="accent1"/>
              </a:buClr>
              <a:buSzPts val="1400"/>
              <a:buFont typeface="Arial"/>
              <a:buChar char="​"/>
              <a:defRPr b="0" sz="1400">
                <a:solidFill>
                  <a:schemeClr val="accent1"/>
                </a:solidFill>
              </a:defRPr>
            </a:lvl4pPr>
            <a:lvl5pPr indent="-317500" lvl="4" marL="2286000" algn="ctr">
              <a:lnSpc>
                <a:spcPct val="85000"/>
              </a:lnSpc>
              <a:spcBef>
                <a:spcPts val="200"/>
              </a:spcBef>
              <a:spcAft>
                <a:spcPts val="0"/>
              </a:spcAft>
              <a:buClr>
                <a:schemeClr val="accent1"/>
              </a:buClr>
              <a:buSzPts val="1400"/>
              <a:buFont typeface="Arial"/>
              <a:buChar char="​"/>
              <a:defRPr b="0" sz="1400">
                <a:solidFill>
                  <a:schemeClr val="accent1"/>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57" name="Google Shape;57;p10"/>
          <p:cNvSpPr txBox="1"/>
          <p:nvPr/>
        </p:nvSpPr>
        <p:spPr>
          <a:xfrm>
            <a:off x="153254" y="4837176"/>
            <a:ext cx="133221" cy="130805"/>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lang="en-GB" sz="850">
                <a:solidFill>
                  <a:srgbClr val="D8D8D8"/>
                </a:solidFill>
                <a:latin typeface="Century Gothic"/>
                <a:ea typeface="Century Gothic"/>
                <a:cs typeface="Century Gothic"/>
                <a:sym typeface="Century Gothic"/>
              </a:rPr>
              <a:t>‹#›</a:t>
            </a:fld>
            <a:endParaRPr sz="850">
              <a:solidFill>
                <a:srgbClr val="D8D8D8"/>
              </a:solidFill>
              <a:latin typeface="Century Gothic"/>
              <a:ea typeface="Century Gothic"/>
              <a:cs typeface="Century Gothic"/>
              <a:sym typeface="Century Gothic"/>
            </a:endParaRPr>
          </a:p>
        </p:txBody>
      </p:sp>
      <p:sp>
        <p:nvSpPr>
          <p:cNvPr id="58" name="Google Shape;58;p10"/>
          <p:cNvSpPr txBox="1"/>
          <p:nvPr>
            <p:ph idx="2" type="body"/>
          </p:nvPr>
        </p:nvSpPr>
        <p:spPr>
          <a:xfrm>
            <a:off x="3242535" y="4855464"/>
            <a:ext cx="2658930"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chemeClr val="lt1"/>
              </a:buClr>
              <a:buSzPts val="700"/>
              <a:buFont typeface="Century Gothic"/>
              <a:buNone/>
              <a:defRPr b="1" sz="700">
                <a:solidFill>
                  <a:schemeClr val="lt1"/>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Subtitle Only">
  <p:cSld name="2_Title and Subtitle Only">
    <p:spTree>
      <p:nvGrpSpPr>
        <p:cNvPr id="59" name="Shape 59"/>
        <p:cNvGrpSpPr/>
        <p:nvPr/>
      </p:nvGrpSpPr>
      <p:grpSpPr>
        <a:xfrm>
          <a:off x="0" y="0"/>
          <a:ext cx="0" cy="0"/>
          <a:chOff x="0" y="0"/>
          <a:chExt cx="0" cy="0"/>
        </a:xfrm>
      </p:grpSpPr>
      <p:sp>
        <p:nvSpPr>
          <p:cNvPr id="60" name="Google Shape;60;p11"/>
          <p:cNvSpPr txBox="1"/>
          <p:nvPr>
            <p:ph type="title"/>
          </p:nvPr>
        </p:nvSpPr>
        <p:spPr>
          <a:xfrm>
            <a:off x="457200" y="173736"/>
            <a:ext cx="8229600" cy="704088"/>
          </a:xfrm>
          <a:prstGeom prst="rect">
            <a:avLst/>
          </a:prstGeom>
          <a:noFill/>
          <a:ln>
            <a:noFill/>
          </a:ln>
        </p:spPr>
        <p:txBody>
          <a:bodyPr anchorCtr="0" anchor="t"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and Subtitle Only">
  <p:cSld name="4_Title and Subtitle Only">
    <p:spTree>
      <p:nvGrpSpPr>
        <p:cNvPr id="61" name="Shape 61"/>
        <p:cNvGrpSpPr/>
        <p:nvPr/>
      </p:nvGrpSpPr>
      <p:grpSpPr>
        <a:xfrm>
          <a:off x="0" y="0"/>
          <a:ext cx="0" cy="0"/>
          <a:chOff x="0" y="0"/>
          <a:chExt cx="0" cy="0"/>
        </a:xfrm>
      </p:grpSpPr>
      <p:sp>
        <p:nvSpPr>
          <p:cNvPr id="62" name="Google Shape;62;p12"/>
          <p:cNvSpPr txBox="1"/>
          <p:nvPr>
            <p:ph type="title"/>
          </p:nvPr>
        </p:nvSpPr>
        <p:spPr>
          <a:xfrm>
            <a:off x="457200" y="173736"/>
            <a:ext cx="8229600" cy="704088"/>
          </a:xfrm>
          <a:prstGeom prst="rect">
            <a:avLst/>
          </a:prstGeom>
          <a:noFill/>
          <a:ln>
            <a:noFill/>
          </a:ln>
        </p:spPr>
        <p:txBody>
          <a:bodyPr anchorCtr="0" anchor="t"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spd="med">
    <p:fade/>
  </p:transition>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Image">
  <p:cSld name="Content Image">
    <p:spTree>
      <p:nvGrpSpPr>
        <p:cNvPr id="63" name="Shape 63"/>
        <p:cNvGrpSpPr/>
        <p:nvPr/>
      </p:nvGrpSpPr>
      <p:grpSpPr>
        <a:xfrm>
          <a:off x="0" y="0"/>
          <a:ext cx="0" cy="0"/>
          <a:chOff x="0" y="0"/>
          <a:chExt cx="0" cy="0"/>
        </a:xfrm>
      </p:grpSpPr>
      <p:sp>
        <p:nvSpPr>
          <p:cNvPr id="64" name="Google Shape;64;p13"/>
          <p:cNvSpPr/>
          <p:nvPr>
            <p:ph idx="2" type="pic"/>
          </p:nvPr>
        </p:nvSpPr>
        <p:spPr>
          <a:xfrm>
            <a:off x="4800600" y="1216152"/>
            <a:ext cx="3886200" cy="3069714"/>
          </a:xfrm>
          <a:prstGeom prst="rect">
            <a:avLst/>
          </a:prstGeom>
          <a:noFill/>
          <a:ln>
            <a:noFill/>
          </a:ln>
        </p:spPr>
        <p:txBody>
          <a:bodyPr anchorCtr="0" anchor="t" bIns="0" lIns="0" spcFirstLastPara="1" rIns="0" wrap="square" tIns="0">
            <a:noAutofit/>
          </a:bodyPr>
          <a:lstStyle>
            <a:lvl1pPr lvl="0"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1pPr>
            <a:lvl2pPr lvl="1" marR="0" rtl="0" algn="l">
              <a:lnSpc>
                <a:spcPct val="85000"/>
              </a:lnSpc>
              <a:spcBef>
                <a:spcPts val="200"/>
              </a:spcBef>
              <a:spcAft>
                <a:spcPts val="0"/>
              </a:spcAft>
              <a:buClr>
                <a:schemeClr val="dk1"/>
              </a:buClr>
              <a:buSzPts val="1600"/>
              <a:buFont typeface="Arial"/>
              <a:buChar char="–"/>
              <a:defRPr b="0" i="0" sz="1600" u="none" cap="none" strike="noStrike">
                <a:solidFill>
                  <a:schemeClr val="dk1"/>
                </a:solidFill>
                <a:latin typeface="Century Gothic"/>
                <a:ea typeface="Century Gothic"/>
                <a:cs typeface="Century Gothic"/>
                <a:sym typeface="Century Gothic"/>
              </a:defRPr>
            </a:lvl2pPr>
            <a:lvl3pPr lvl="2" marR="0" rtl="0" algn="l">
              <a:lnSpc>
                <a:spcPct val="85000"/>
              </a:lnSpc>
              <a:spcBef>
                <a:spcPts val="200"/>
              </a:spcBef>
              <a:spcAft>
                <a:spcPts val="0"/>
              </a:spcAft>
              <a:buClr>
                <a:schemeClr val="dk1"/>
              </a:buClr>
              <a:buSzPts val="1400"/>
              <a:buFont typeface="Arial"/>
              <a:buChar char="-"/>
              <a:defRPr b="0" i="0" sz="1400" u="none" cap="none" strike="noStrike">
                <a:solidFill>
                  <a:schemeClr val="dk1"/>
                </a:solidFill>
                <a:latin typeface="Century Gothic"/>
                <a:ea typeface="Century Gothic"/>
                <a:cs typeface="Century Gothic"/>
                <a:sym typeface="Century Gothic"/>
              </a:defRPr>
            </a:lvl3pPr>
            <a:lvl4pPr lvl="3"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4pPr>
            <a:lvl5pPr lvl="4" marR="0" rtl="0" algn="l">
              <a:lnSpc>
                <a:spcPct val="95000"/>
              </a:lnSpc>
              <a:spcBef>
                <a:spcPts val="600"/>
              </a:spcBef>
              <a:spcAft>
                <a:spcPts val="0"/>
              </a:spcAft>
              <a:buClr>
                <a:schemeClr val="accent1"/>
              </a:buClr>
              <a:buSzPts val="1800"/>
              <a:buFont typeface="Arial"/>
              <a:buChar char="​"/>
              <a:defRPr b="0" i="0" sz="1800" u="none" cap="none" strike="noStrike">
                <a:solidFill>
                  <a:schemeClr val="accent1"/>
                </a:solidFill>
                <a:latin typeface="Century Gothic"/>
                <a:ea typeface="Century Gothic"/>
                <a:cs typeface="Century Gothic"/>
                <a:sym typeface="Century Gothic"/>
              </a:defRPr>
            </a:lvl5pPr>
            <a:lvl6pPr lvl="5" marR="0" rtl="0" algn="l">
              <a:lnSpc>
                <a:spcPct val="95000"/>
              </a:lnSpc>
              <a:spcBef>
                <a:spcPts val="600"/>
              </a:spcBef>
              <a:spcAft>
                <a:spcPts val="0"/>
              </a:spcAft>
              <a:buClr>
                <a:schemeClr val="accent2"/>
              </a:buClr>
              <a:buSzPts val="1800"/>
              <a:buFont typeface="Arial"/>
              <a:buChar char="​"/>
              <a:defRPr b="0" i="0" sz="1800" u="none" cap="none" strike="noStrike">
                <a:solidFill>
                  <a:schemeClr val="accent2"/>
                </a:solidFill>
                <a:latin typeface="Century Gothic"/>
                <a:ea typeface="Century Gothic"/>
                <a:cs typeface="Century Gothic"/>
                <a:sym typeface="Century Gothic"/>
              </a:defRPr>
            </a:lvl6pPr>
            <a:lvl7pPr lvl="6" marR="0" rtl="0" algn="l">
              <a:lnSpc>
                <a:spcPct val="95000"/>
              </a:lnSpc>
              <a:spcBef>
                <a:spcPts val="1000"/>
              </a:spcBef>
              <a:spcAft>
                <a:spcPts val="0"/>
              </a:spcAft>
              <a:buClr>
                <a:schemeClr val="dk1"/>
              </a:buClr>
              <a:buSzPts val="1800"/>
              <a:buFont typeface="Arial"/>
              <a:buChar char="​"/>
              <a:defRPr b="1" i="0" sz="1800" u="none" cap="none" strike="noStrike">
                <a:solidFill>
                  <a:schemeClr val="dk1"/>
                </a:solidFill>
                <a:latin typeface="Century Gothic"/>
                <a:ea typeface="Century Gothic"/>
                <a:cs typeface="Century Gothic"/>
                <a:sym typeface="Century Gothic"/>
              </a:defRPr>
            </a:lvl7pPr>
            <a:lvl8pPr lvl="7" marR="0" rtl="0" algn="l">
              <a:lnSpc>
                <a:spcPct val="95000"/>
              </a:lnSpc>
              <a:spcBef>
                <a:spcPts val="200"/>
              </a:spcBef>
              <a:spcAft>
                <a:spcPts val="0"/>
              </a:spcAft>
              <a:buClr>
                <a:schemeClr val="dk1"/>
              </a:buClr>
              <a:buSzPts val="1800"/>
              <a:buFont typeface="Century Gothic"/>
              <a:buAutoNum type="arabicPeriod"/>
              <a:defRPr b="0" i="0" sz="1800" u="none" cap="none" strike="noStrike">
                <a:solidFill>
                  <a:schemeClr val="dk1"/>
                </a:solidFill>
                <a:latin typeface="Century Gothic"/>
                <a:ea typeface="Century Gothic"/>
                <a:cs typeface="Century Gothic"/>
                <a:sym typeface="Century Gothic"/>
              </a:defRPr>
            </a:lvl8pPr>
            <a:lvl9pPr lvl="8" marR="0" rtl="0" algn="l">
              <a:lnSpc>
                <a:spcPct val="95000"/>
              </a:lnSpc>
              <a:spcBef>
                <a:spcPts val="400"/>
              </a:spcBef>
              <a:spcAft>
                <a:spcPts val="400"/>
              </a:spcAft>
              <a:buClr>
                <a:schemeClr val="accent6"/>
              </a:buClr>
              <a:buSzPts val="900"/>
              <a:buFont typeface="Arial"/>
              <a:buChar char="​"/>
              <a:defRPr b="0" i="0" sz="900" u="none" cap="none" strike="noStrike">
                <a:solidFill>
                  <a:schemeClr val="accent6"/>
                </a:solidFill>
                <a:latin typeface="Century Gothic"/>
                <a:ea typeface="Century Gothic"/>
                <a:cs typeface="Century Gothic"/>
                <a:sym typeface="Century Gothic"/>
              </a:defRPr>
            </a:lvl9pPr>
          </a:lstStyle>
          <a:p/>
        </p:txBody>
      </p:sp>
      <p:sp>
        <p:nvSpPr>
          <p:cNvPr id="65" name="Google Shape;65;p13"/>
          <p:cNvSpPr txBox="1"/>
          <p:nvPr>
            <p:ph idx="1" type="body"/>
          </p:nvPr>
        </p:nvSpPr>
        <p:spPr>
          <a:xfrm>
            <a:off x="457200" y="1216152"/>
            <a:ext cx="3886200" cy="3350596"/>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lvl1pPr>
            <a:lvl2pPr indent="-330200" lvl="1" marL="914400" algn="l">
              <a:lnSpc>
                <a:spcPct val="85000"/>
              </a:lnSpc>
              <a:spcBef>
                <a:spcPts val="200"/>
              </a:spcBef>
              <a:spcAft>
                <a:spcPts val="0"/>
              </a:spcAft>
              <a:buClr>
                <a:schemeClr val="dk1"/>
              </a:buClr>
              <a:buSzPts val="1600"/>
              <a:buChar char="–"/>
              <a:defRPr sz="1600"/>
            </a:lvl2pPr>
            <a:lvl3pPr indent="-317500" lvl="2" marL="1371600" algn="l">
              <a:lnSpc>
                <a:spcPct val="85000"/>
              </a:lnSpc>
              <a:spcBef>
                <a:spcPts val="200"/>
              </a:spcBef>
              <a:spcAft>
                <a:spcPts val="0"/>
              </a:spcAft>
              <a:buClr>
                <a:schemeClr val="dk1"/>
              </a:buClr>
              <a:buSzPts val="1400"/>
              <a:buChar char="-"/>
              <a:defRPr sz="14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66" name="Google Shape;66;p13"/>
          <p:cNvSpPr txBox="1"/>
          <p:nvPr>
            <p:ph idx="3"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67" name="Google Shape;67;p13"/>
          <p:cNvSpPr txBox="1"/>
          <p:nvPr>
            <p:ph type="title"/>
          </p:nvPr>
        </p:nvSpPr>
        <p:spPr>
          <a:xfrm>
            <a:off x="457200" y="173736"/>
            <a:ext cx="8229600" cy="704088"/>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spd="med">
    <p:fade/>
  </p:transition>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Title and Content">
  <p:cSld name="6_Title and Content">
    <p:spTree>
      <p:nvGrpSpPr>
        <p:cNvPr id="68" name="Shape 68"/>
        <p:cNvGrpSpPr/>
        <p:nvPr/>
      </p:nvGrpSpPr>
      <p:grpSpPr>
        <a:xfrm>
          <a:off x="0" y="0"/>
          <a:ext cx="0" cy="0"/>
          <a:chOff x="0" y="0"/>
          <a:chExt cx="0" cy="0"/>
        </a:xfrm>
      </p:grpSpPr>
      <p:sp>
        <p:nvSpPr>
          <p:cNvPr id="69" name="Google Shape;69;p14"/>
          <p:cNvSpPr txBox="1"/>
          <p:nvPr>
            <p:ph idx="1" type="body"/>
          </p:nvPr>
        </p:nvSpPr>
        <p:spPr>
          <a:xfrm>
            <a:off x="457200" y="1216372"/>
            <a:ext cx="8229600" cy="3340559"/>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a:lvl1pPr>
            <a:lvl2pPr indent="-342900" lvl="1" marL="914400" algn="l">
              <a:lnSpc>
                <a:spcPct val="85000"/>
              </a:lnSpc>
              <a:spcBef>
                <a:spcPts val="200"/>
              </a:spcBef>
              <a:spcAft>
                <a:spcPts val="0"/>
              </a:spcAft>
              <a:buClr>
                <a:schemeClr val="dk1"/>
              </a:buClr>
              <a:buSzPts val="1800"/>
              <a:buChar char="–"/>
              <a:defRPr/>
            </a:lvl2pPr>
            <a:lvl3pPr indent="-342900" lvl="2" marL="1371600" algn="l">
              <a:lnSpc>
                <a:spcPct val="85000"/>
              </a:lnSpc>
              <a:spcBef>
                <a:spcPts val="200"/>
              </a:spcBef>
              <a:spcAft>
                <a:spcPts val="0"/>
              </a:spcAft>
              <a:buClr>
                <a:schemeClr val="dk1"/>
              </a:buClr>
              <a:buSzPts val="1800"/>
              <a:buChar char="-"/>
              <a:defRPr/>
            </a:lvl3pPr>
            <a:lvl4pPr indent="-342900" lvl="3" marL="1828800" algn="l">
              <a:lnSpc>
                <a:spcPct val="95000"/>
              </a:lnSpc>
              <a:spcBef>
                <a:spcPts val="600"/>
              </a:spcBef>
              <a:spcAft>
                <a:spcPts val="0"/>
              </a:spcAft>
              <a:buClr>
                <a:schemeClr val="dk1"/>
              </a:buClr>
              <a:buSzPts val="1800"/>
              <a:buChar char="​"/>
              <a:defRPr/>
            </a:lvl4pPr>
            <a:lvl5pPr indent="-342900" lvl="4" marL="2286000" algn="l">
              <a:lnSpc>
                <a:spcPct val="95000"/>
              </a:lnSpc>
              <a:spcBef>
                <a:spcPts val="600"/>
              </a:spcBef>
              <a:spcAft>
                <a:spcPts val="0"/>
              </a:spcAft>
              <a:buClr>
                <a:schemeClr val="accent1"/>
              </a:buClr>
              <a:buSzPts val="1800"/>
              <a:buChar char="​"/>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70" name="Google Shape;70;p14"/>
          <p:cNvSpPr txBox="1"/>
          <p:nvPr>
            <p:ph type="title"/>
          </p:nvPr>
        </p:nvSpPr>
        <p:spPr>
          <a:xfrm>
            <a:off x="457200" y="164592"/>
            <a:ext cx="8229600" cy="704088"/>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Segue" showMasterSp="0">
  <p:cSld name="3_Segue">
    <p:bg>
      <p:bgPr>
        <a:solidFill>
          <a:schemeClr val="accent1"/>
        </a:solidFill>
      </p:bgPr>
    </p:bg>
    <p:spTree>
      <p:nvGrpSpPr>
        <p:cNvPr id="71" name="Shape 71"/>
        <p:cNvGrpSpPr/>
        <p:nvPr/>
      </p:nvGrpSpPr>
      <p:grpSpPr>
        <a:xfrm>
          <a:off x="0" y="0"/>
          <a:ext cx="0" cy="0"/>
          <a:chOff x="0" y="0"/>
          <a:chExt cx="0" cy="0"/>
        </a:xfrm>
      </p:grpSpPr>
      <p:sp>
        <p:nvSpPr>
          <p:cNvPr id="72" name="Google Shape;72;p15"/>
          <p:cNvSpPr txBox="1"/>
          <p:nvPr>
            <p:ph idx="1" type="body"/>
          </p:nvPr>
        </p:nvSpPr>
        <p:spPr>
          <a:xfrm>
            <a:off x="0" y="2342217"/>
            <a:ext cx="9144000" cy="459100"/>
          </a:xfrm>
          <a:prstGeom prst="rect">
            <a:avLst/>
          </a:prstGeom>
          <a:solidFill>
            <a:schemeClr val="lt1"/>
          </a:solidFill>
          <a:ln>
            <a:noFill/>
          </a:ln>
        </p:spPr>
        <p:txBody>
          <a:bodyPr anchorCtr="1" anchor="ctr" bIns="45700" lIns="457200" spcFirstLastPara="1" rIns="457200" wrap="square" tIns="45700">
            <a:noAutofit/>
          </a:bodyPr>
          <a:lstStyle>
            <a:lvl1pPr indent="-228600" lvl="0" marL="457200" algn="ctr">
              <a:lnSpc>
                <a:spcPct val="110000"/>
              </a:lnSpc>
              <a:spcBef>
                <a:spcPts val="200"/>
              </a:spcBef>
              <a:spcAft>
                <a:spcPts val="0"/>
              </a:spcAft>
              <a:buClr>
                <a:schemeClr val="accent1"/>
              </a:buClr>
              <a:buSzPts val="2200"/>
              <a:buFont typeface="Century Gothic"/>
              <a:buNone/>
              <a:defRPr sz="2200">
                <a:solidFill>
                  <a:schemeClr val="accent1"/>
                </a:solidFill>
              </a:defRPr>
            </a:lvl1pPr>
            <a:lvl2pPr indent="-342900" lvl="1" marL="914400" algn="ctr">
              <a:lnSpc>
                <a:spcPct val="100000"/>
              </a:lnSpc>
              <a:spcBef>
                <a:spcPts val="200"/>
              </a:spcBef>
              <a:spcAft>
                <a:spcPts val="0"/>
              </a:spcAft>
              <a:buClr>
                <a:schemeClr val="accent1"/>
              </a:buClr>
              <a:buSzPts val="1800"/>
              <a:buFont typeface="Arial"/>
              <a:buChar char="​"/>
              <a:defRPr sz="1800">
                <a:solidFill>
                  <a:schemeClr val="accent1"/>
                </a:solidFill>
              </a:defRPr>
            </a:lvl2pPr>
            <a:lvl3pPr indent="-317500" lvl="2" marL="1371600" algn="ctr">
              <a:lnSpc>
                <a:spcPct val="85000"/>
              </a:lnSpc>
              <a:spcBef>
                <a:spcPts val="600"/>
              </a:spcBef>
              <a:spcAft>
                <a:spcPts val="0"/>
              </a:spcAft>
              <a:buClr>
                <a:schemeClr val="accent1"/>
              </a:buClr>
              <a:buSzPts val="1400"/>
              <a:buFont typeface="Arial"/>
              <a:buChar char="​"/>
              <a:defRPr b="1" sz="1400">
                <a:solidFill>
                  <a:schemeClr val="accent1"/>
                </a:solidFill>
              </a:defRPr>
            </a:lvl3pPr>
            <a:lvl4pPr indent="-317500" lvl="3" marL="1828800" algn="ctr">
              <a:lnSpc>
                <a:spcPct val="85000"/>
              </a:lnSpc>
              <a:spcBef>
                <a:spcPts val="200"/>
              </a:spcBef>
              <a:spcAft>
                <a:spcPts val="0"/>
              </a:spcAft>
              <a:buClr>
                <a:schemeClr val="accent1"/>
              </a:buClr>
              <a:buSzPts val="1400"/>
              <a:buFont typeface="Arial"/>
              <a:buChar char="​"/>
              <a:defRPr b="0" sz="1400">
                <a:solidFill>
                  <a:schemeClr val="accent1"/>
                </a:solidFill>
              </a:defRPr>
            </a:lvl4pPr>
            <a:lvl5pPr indent="-317500" lvl="4" marL="2286000" algn="ctr">
              <a:lnSpc>
                <a:spcPct val="85000"/>
              </a:lnSpc>
              <a:spcBef>
                <a:spcPts val="200"/>
              </a:spcBef>
              <a:spcAft>
                <a:spcPts val="0"/>
              </a:spcAft>
              <a:buClr>
                <a:schemeClr val="accent1"/>
              </a:buClr>
              <a:buSzPts val="1400"/>
              <a:buFont typeface="Arial"/>
              <a:buChar char="​"/>
              <a:defRPr b="0" sz="1400">
                <a:solidFill>
                  <a:schemeClr val="accent1"/>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73" name="Google Shape;73;p15"/>
          <p:cNvSpPr txBox="1"/>
          <p:nvPr/>
        </p:nvSpPr>
        <p:spPr>
          <a:xfrm>
            <a:off x="153254" y="4837176"/>
            <a:ext cx="133221" cy="130805"/>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lang="en-GB" sz="850">
                <a:solidFill>
                  <a:schemeClr val="lt2"/>
                </a:solidFill>
                <a:latin typeface="Century Gothic"/>
                <a:ea typeface="Century Gothic"/>
                <a:cs typeface="Century Gothic"/>
                <a:sym typeface="Century Gothic"/>
              </a:rPr>
              <a:t>‹#›</a:t>
            </a:fld>
            <a:endParaRPr sz="850">
              <a:solidFill>
                <a:schemeClr val="lt2"/>
              </a:solidFill>
              <a:latin typeface="Century Gothic"/>
              <a:ea typeface="Century Gothic"/>
              <a:cs typeface="Century Gothic"/>
              <a:sym typeface="Century Gothic"/>
            </a:endParaRPr>
          </a:p>
        </p:txBody>
      </p:sp>
    </p:spTree>
  </p:cSld>
  <p:clrMapOvr>
    <a:masterClrMapping/>
  </p:clrMapOvr>
  <p:transition spd="med">
    <p:fade/>
  </p:transition>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Segue" showMasterSp="0">
  <p:cSld name="2_Segue">
    <p:bg>
      <p:bgPr>
        <a:solidFill>
          <a:schemeClr val="accent1"/>
        </a:solidFill>
      </p:bgPr>
    </p:bg>
    <p:spTree>
      <p:nvGrpSpPr>
        <p:cNvPr id="74" name="Shape 74"/>
        <p:cNvGrpSpPr/>
        <p:nvPr/>
      </p:nvGrpSpPr>
      <p:grpSpPr>
        <a:xfrm>
          <a:off x="0" y="0"/>
          <a:ext cx="0" cy="0"/>
          <a:chOff x="0" y="0"/>
          <a:chExt cx="0" cy="0"/>
        </a:xfrm>
      </p:grpSpPr>
      <p:sp>
        <p:nvSpPr>
          <p:cNvPr id="75" name="Google Shape;75;p16"/>
          <p:cNvSpPr txBox="1"/>
          <p:nvPr>
            <p:ph idx="1" type="body"/>
          </p:nvPr>
        </p:nvSpPr>
        <p:spPr>
          <a:xfrm>
            <a:off x="0" y="2342217"/>
            <a:ext cx="9144000" cy="459100"/>
          </a:xfrm>
          <a:prstGeom prst="rect">
            <a:avLst/>
          </a:prstGeom>
          <a:solidFill>
            <a:schemeClr val="lt1"/>
          </a:solidFill>
          <a:ln>
            <a:noFill/>
          </a:ln>
        </p:spPr>
        <p:txBody>
          <a:bodyPr anchorCtr="1" anchor="ctr" bIns="45700" lIns="457200" spcFirstLastPara="1" rIns="457200" wrap="square" tIns="45700">
            <a:noAutofit/>
          </a:bodyPr>
          <a:lstStyle>
            <a:lvl1pPr indent="-228600" lvl="0" marL="457200" algn="ctr">
              <a:lnSpc>
                <a:spcPct val="110000"/>
              </a:lnSpc>
              <a:spcBef>
                <a:spcPts val="200"/>
              </a:spcBef>
              <a:spcAft>
                <a:spcPts val="0"/>
              </a:spcAft>
              <a:buClr>
                <a:schemeClr val="accent1"/>
              </a:buClr>
              <a:buSzPts val="2200"/>
              <a:buFont typeface="Century Gothic"/>
              <a:buNone/>
              <a:defRPr sz="2200">
                <a:solidFill>
                  <a:schemeClr val="accent1"/>
                </a:solidFill>
              </a:defRPr>
            </a:lvl1pPr>
            <a:lvl2pPr indent="-342900" lvl="1" marL="914400" algn="ctr">
              <a:lnSpc>
                <a:spcPct val="100000"/>
              </a:lnSpc>
              <a:spcBef>
                <a:spcPts val="200"/>
              </a:spcBef>
              <a:spcAft>
                <a:spcPts val="0"/>
              </a:spcAft>
              <a:buClr>
                <a:schemeClr val="accent1"/>
              </a:buClr>
              <a:buSzPts val="1800"/>
              <a:buFont typeface="Arial"/>
              <a:buChar char="​"/>
              <a:defRPr sz="1800">
                <a:solidFill>
                  <a:schemeClr val="accent1"/>
                </a:solidFill>
              </a:defRPr>
            </a:lvl2pPr>
            <a:lvl3pPr indent="-317500" lvl="2" marL="1371600" algn="ctr">
              <a:lnSpc>
                <a:spcPct val="85000"/>
              </a:lnSpc>
              <a:spcBef>
                <a:spcPts val="600"/>
              </a:spcBef>
              <a:spcAft>
                <a:spcPts val="0"/>
              </a:spcAft>
              <a:buClr>
                <a:schemeClr val="accent1"/>
              </a:buClr>
              <a:buSzPts val="1400"/>
              <a:buFont typeface="Arial"/>
              <a:buChar char="​"/>
              <a:defRPr b="1" sz="1400">
                <a:solidFill>
                  <a:schemeClr val="accent1"/>
                </a:solidFill>
              </a:defRPr>
            </a:lvl3pPr>
            <a:lvl4pPr indent="-317500" lvl="3" marL="1828800" algn="ctr">
              <a:lnSpc>
                <a:spcPct val="85000"/>
              </a:lnSpc>
              <a:spcBef>
                <a:spcPts val="200"/>
              </a:spcBef>
              <a:spcAft>
                <a:spcPts val="0"/>
              </a:spcAft>
              <a:buClr>
                <a:schemeClr val="accent1"/>
              </a:buClr>
              <a:buSzPts val="1400"/>
              <a:buFont typeface="Arial"/>
              <a:buChar char="​"/>
              <a:defRPr b="0" sz="1400">
                <a:solidFill>
                  <a:schemeClr val="accent1"/>
                </a:solidFill>
              </a:defRPr>
            </a:lvl4pPr>
            <a:lvl5pPr indent="-317500" lvl="4" marL="2286000" algn="ctr">
              <a:lnSpc>
                <a:spcPct val="85000"/>
              </a:lnSpc>
              <a:spcBef>
                <a:spcPts val="200"/>
              </a:spcBef>
              <a:spcAft>
                <a:spcPts val="0"/>
              </a:spcAft>
              <a:buClr>
                <a:schemeClr val="accent1"/>
              </a:buClr>
              <a:buSzPts val="1400"/>
              <a:buFont typeface="Arial"/>
              <a:buChar char="​"/>
              <a:defRPr b="0" sz="1400">
                <a:solidFill>
                  <a:schemeClr val="accent1"/>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76" name="Google Shape;76;p16"/>
          <p:cNvSpPr txBox="1"/>
          <p:nvPr/>
        </p:nvSpPr>
        <p:spPr>
          <a:xfrm>
            <a:off x="153254" y="4837176"/>
            <a:ext cx="133221" cy="130805"/>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lang="en-GB" sz="850">
                <a:solidFill>
                  <a:schemeClr val="lt2"/>
                </a:solidFill>
                <a:latin typeface="Century Gothic"/>
                <a:ea typeface="Century Gothic"/>
                <a:cs typeface="Century Gothic"/>
                <a:sym typeface="Century Gothic"/>
              </a:rPr>
              <a:t>‹#›</a:t>
            </a:fld>
            <a:endParaRPr sz="850">
              <a:solidFill>
                <a:schemeClr val="lt2"/>
              </a:solidFill>
              <a:latin typeface="Century Gothic"/>
              <a:ea typeface="Century Gothic"/>
              <a:cs typeface="Century Gothic"/>
              <a:sym typeface="Century Gothic"/>
            </a:endParaRPr>
          </a:p>
        </p:txBody>
      </p:sp>
    </p:spTree>
  </p:cSld>
  <p:clrMapOvr>
    <a:masterClrMapping/>
  </p:clrMapOvr>
  <p:transition spd="med">
    <p:fade/>
  </p:transition>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Text, and 2 Content">
  <p:cSld name="1_Title, Text, and 2 Content">
    <p:spTree>
      <p:nvGrpSpPr>
        <p:cNvPr id="77" name="Shape 77"/>
        <p:cNvGrpSpPr/>
        <p:nvPr/>
      </p:nvGrpSpPr>
      <p:grpSpPr>
        <a:xfrm>
          <a:off x="0" y="0"/>
          <a:ext cx="0" cy="0"/>
          <a:chOff x="0" y="0"/>
          <a:chExt cx="0" cy="0"/>
        </a:xfrm>
      </p:grpSpPr>
      <p:sp>
        <p:nvSpPr>
          <p:cNvPr id="78" name="Google Shape;78;p17"/>
          <p:cNvSpPr txBox="1"/>
          <p:nvPr>
            <p:ph type="title"/>
          </p:nvPr>
        </p:nvSpPr>
        <p:spPr>
          <a:xfrm>
            <a:off x="466725" y="3747"/>
            <a:ext cx="5087938" cy="617601"/>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17"/>
          <p:cNvSpPr/>
          <p:nvPr/>
        </p:nvSpPr>
        <p:spPr>
          <a:xfrm>
            <a:off x="0" y="777875"/>
            <a:ext cx="7205662" cy="1160709"/>
          </a:xfrm>
          <a:prstGeom prst="rect">
            <a:avLst/>
          </a:prstGeom>
          <a:solidFill>
            <a:srgbClr val="005AA4"/>
          </a:solidFill>
          <a:ln>
            <a:noFill/>
          </a:ln>
          <a:effectLst>
            <a:outerShdw blurRad="50800" rotWithShape="0" algn="tl" dir="2700000" dist="38100">
              <a:srgbClr val="000000">
                <a:alpha val="40000"/>
              </a:srgbClr>
            </a:outerShdw>
          </a:effectLst>
        </p:spPr>
        <p:txBody>
          <a:bodyPr anchorCtr="0" anchor="ctr" bIns="91425" lIns="91425" spcFirstLastPara="1" rIns="91425" wrap="square" tIns="91425">
            <a:noAutofit/>
          </a:bodyPr>
          <a:lstStyle/>
          <a:p>
            <a:pPr indent="0" lvl="1" marL="406400" marR="0" rtl="0" algn="l">
              <a:spcBef>
                <a:spcPts val="0"/>
              </a:spcBef>
              <a:spcAft>
                <a:spcPts val="0"/>
              </a:spcAft>
              <a:buNone/>
            </a:pPr>
            <a:r>
              <a:t/>
            </a:r>
            <a:endParaRPr b="0" i="0" sz="1400" u="none" cap="none" strike="noStrike">
              <a:solidFill>
                <a:schemeClr val="lt1"/>
              </a:solidFill>
              <a:latin typeface="Century Gothic"/>
              <a:ea typeface="Century Gothic"/>
              <a:cs typeface="Century Gothic"/>
              <a:sym typeface="Century Gothic"/>
            </a:endParaRPr>
          </a:p>
        </p:txBody>
      </p:sp>
      <p:sp>
        <p:nvSpPr>
          <p:cNvPr id="80" name="Google Shape;80;p17"/>
          <p:cNvSpPr txBox="1"/>
          <p:nvPr>
            <p:ph idx="1" type="body"/>
          </p:nvPr>
        </p:nvSpPr>
        <p:spPr>
          <a:xfrm>
            <a:off x="449263" y="2201863"/>
            <a:ext cx="4866449" cy="2652712"/>
          </a:xfrm>
          <a:prstGeom prst="rect">
            <a:avLst/>
          </a:prstGeom>
          <a:noFill/>
          <a:ln>
            <a:noFill/>
          </a:ln>
        </p:spPr>
        <p:txBody>
          <a:bodyPr anchorCtr="0" anchor="t" bIns="0" lIns="0" spcFirstLastPara="1" rIns="0" wrap="square" tIns="0">
            <a:noAutofit/>
          </a:bodyPr>
          <a:lstStyle>
            <a:lvl1pPr indent="-228600" lvl="0" marL="457200" algn="l">
              <a:lnSpc>
                <a:spcPct val="95000"/>
              </a:lnSpc>
              <a:spcBef>
                <a:spcPts val="600"/>
              </a:spcBef>
              <a:spcAft>
                <a:spcPts val="0"/>
              </a:spcAft>
              <a:buClr>
                <a:schemeClr val="dk2"/>
              </a:buClr>
              <a:buSzPts val="1800"/>
              <a:buNone/>
              <a:defRPr sz="1800">
                <a:solidFill>
                  <a:schemeClr val="dk2"/>
                </a:solidFill>
              </a:defRPr>
            </a:lvl1pPr>
            <a:lvl2pPr indent="-317500" lvl="1" marL="914400" algn="l">
              <a:lnSpc>
                <a:spcPct val="100000"/>
              </a:lnSpc>
              <a:spcBef>
                <a:spcPts val="200"/>
              </a:spcBef>
              <a:spcAft>
                <a:spcPts val="0"/>
              </a:spcAft>
              <a:buClr>
                <a:schemeClr val="dk1"/>
              </a:buClr>
              <a:buSzPts val="1400"/>
              <a:buFont typeface="Arial"/>
              <a:buChar char="•"/>
              <a:defRPr sz="1400"/>
            </a:lvl2pPr>
            <a:lvl3pPr indent="-342900" lvl="2" marL="1371600" algn="l">
              <a:lnSpc>
                <a:spcPct val="85000"/>
              </a:lnSpc>
              <a:spcBef>
                <a:spcPts val="600"/>
              </a:spcBef>
              <a:spcAft>
                <a:spcPts val="0"/>
              </a:spcAft>
              <a:buClr>
                <a:schemeClr val="dk1"/>
              </a:buClr>
              <a:buSzPts val="1800"/>
              <a:buChar char="-"/>
              <a:defRPr/>
            </a:lvl3pPr>
            <a:lvl4pPr indent="-342900" lvl="3" marL="1828800" algn="l">
              <a:lnSpc>
                <a:spcPct val="95000"/>
              </a:lnSpc>
              <a:spcBef>
                <a:spcPts val="600"/>
              </a:spcBef>
              <a:spcAft>
                <a:spcPts val="0"/>
              </a:spcAft>
              <a:buClr>
                <a:schemeClr val="dk1"/>
              </a:buClr>
              <a:buSzPts val="1800"/>
              <a:buChar char="​"/>
              <a:defRPr/>
            </a:lvl4pPr>
            <a:lvl5pPr indent="-342900" lvl="4" marL="2286000" algn="l">
              <a:lnSpc>
                <a:spcPct val="95000"/>
              </a:lnSpc>
              <a:spcBef>
                <a:spcPts val="600"/>
              </a:spcBef>
              <a:spcAft>
                <a:spcPts val="0"/>
              </a:spcAft>
              <a:buClr>
                <a:schemeClr val="accent1"/>
              </a:buClr>
              <a:buSzPts val="1800"/>
              <a:buChar char="​"/>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81" name="Google Shape;81;p17"/>
          <p:cNvSpPr txBox="1"/>
          <p:nvPr>
            <p:ph idx="2" type="body"/>
          </p:nvPr>
        </p:nvSpPr>
        <p:spPr>
          <a:xfrm>
            <a:off x="449262" y="904312"/>
            <a:ext cx="6622097" cy="1029264"/>
          </a:xfrm>
          <a:prstGeom prst="rect">
            <a:avLst/>
          </a:prstGeom>
          <a:noFill/>
          <a:ln>
            <a:noFill/>
          </a:ln>
        </p:spPr>
        <p:txBody>
          <a:bodyPr anchorCtr="0" anchor="t" bIns="0" lIns="0" spcFirstLastPara="1" rIns="0" wrap="square" tIns="0">
            <a:noAutofit/>
          </a:bodyPr>
          <a:lstStyle>
            <a:lvl1pPr indent="-228600" lvl="0" marL="457200" algn="l">
              <a:lnSpc>
                <a:spcPct val="95000"/>
              </a:lnSpc>
              <a:spcBef>
                <a:spcPts val="600"/>
              </a:spcBef>
              <a:spcAft>
                <a:spcPts val="0"/>
              </a:spcAft>
              <a:buClr>
                <a:schemeClr val="lt1"/>
              </a:buClr>
              <a:buSzPts val="1800"/>
              <a:buNone/>
              <a:defRPr sz="1800">
                <a:solidFill>
                  <a:schemeClr val="lt1"/>
                </a:solidFill>
              </a:defRPr>
            </a:lvl1pPr>
            <a:lvl2pPr indent="-342900" lvl="1" marL="914400" algn="l">
              <a:lnSpc>
                <a:spcPct val="85000"/>
              </a:lnSpc>
              <a:spcBef>
                <a:spcPts val="200"/>
              </a:spcBef>
              <a:spcAft>
                <a:spcPts val="0"/>
              </a:spcAft>
              <a:buClr>
                <a:schemeClr val="dk1"/>
              </a:buClr>
              <a:buSzPts val="1800"/>
              <a:buChar char="–"/>
              <a:defRPr sz="1800"/>
            </a:lvl2pPr>
            <a:lvl3pPr indent="-342900" lvl="2" marL="1371600" algn="l">
              <a:lnSpc>
                <a:spcPct val="85000"/>
              </a:lnSpc>
              <a:spcBef>
                <a:spcPts val="200"/>
              </a:spcBef>
              <a:spcAft>
                <a:spcPts val="0"/>
              </a:spcAft>
              <a:buClr>
                <a:schemeClr val="dk1"/>
              </a:buClr>
              <a:buSzPts val="1800"/>
              <a:buChar char="-"/>
              <a:defRPr sz="18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ase Study_Option2">
  <p:cSld name="2_Case Study_Option2">
    <p:spTree>
      <p:nvGrpSpPr>
        <p:cNvPr id="82" name="Shape 82"/>
        <p:cNvGrpSpPr/>
        <p:nvPr/>
      </p:nvGrpSpPr>
      <p:grpSpPr>
        <a:xfrm>
          <a:off x="0" y="0"/>
          <a:ext cx="0" cy="0"/>
          <a:chOff x="0" y="0"/>
          <a:chExt cx="0" cy="0"/>
        </a:xfrm>
      </p:grpSpPr>
      <p:sp>
        <p:nvSpPr>
          <p:cNvPr id="83" name="Google Shape;83;p18"/>
          <p:cNvSpPr txBox="1"/>
          <p:nvPr>
            <p:ph idx="1" type="body"/>
          </p:nvPr>
        </p:nvSpPr>
        <p:spPr>
          <a:xfrm>
            <a:off x="3495437" y="128016"/>
            <a:ext cx="5648693" cy="914400"/>
          </a:xfrm>
          <a:prstGeom prst="rect">
            <a:avLst/>
          </a:prstGeom>
          <a:solidFill>
            <a:srgbClr val="0079DB"/>
          </a:solidFill>
          <a:ln>
            <a:noFill/>
          </a:ln>
        </p:spPr>
        <p:txBody>
          <a:bodyPr anchorCtr="0" anchor="b" bIns="227825" lIns="227825" spcFirstLastPara="1" rIns="455800" wrap="square" tIns="136775">
            <a:noAutofit/>
          </a:bodyPr>
          <a:lstStyle>
            <a:lvl1pPr indent="-368300" lvl="0" marL="457200" algn="l">
              <a:lnSpc>
                <a:spcPct val="85000"/>
              </a:lnSpc>
              <a:spcBef>
                <a:spcPts val="200"/>
              </a:spcBef>
              <a:spcAft>
                <a:spcPts val="0"/>
              </a:spcAft>
              <a:buClr>
                <a:schemeClr val="lt1"/>
              </a:buClr>
              <a:buSzPts val="2200"/>
              <a:buFont typeface="Arial"/>
              <a:buChar char="​"/>
              <a:defRPr sz="2200">
                <a:solidFill>
                  <a:schemeClr val="lt1"/>
                </a:solidFill>
              </a:defRPr>
            </a:lvl1pPr>
            <a:lvl2pPr indent="-342900" lvl="1" marL="914400" algn="l">
              <a:lnSpc>
                <a:spcPct val="85000"/>
              </a:lnSpc>
              <a:spcBef>
                <a:spcPts val="200"/>
              </a:spcBef>
              <a:spcAft>
                <a:spcPts val="0"/>
              </a:spcAft>
              <a:buClr>
                <a:schemeClr val="lt1"/>
              </a:buClr>
              <a:buSzPts val="1800"/>
              <a:buFont typeface="Arial"/>
              <a:buChar char="​"/>
              <a:defRPr sz="1800">
                <a:solidFill>
                  <a:schemeClr val="lt1"/>
                </a:solidFill>
              </a:defRPr>
            </a:lvl2pPr>
            <a:lvl3pPr indent="-317500" lvl="2" marL="1371600" algn="l">
              <a:lnSpc>
                <a:spcPct val="85000"/>
              </a:lnSpc>
              <a:spcBef>
                <a:spcPts val="600"/>
              </a:spcBef>
              <a:spcAft>
                <a:spcPts val="0"/>
              </a:spcAft>
              <a:buClr>
                <a:schemeClr val="lt1"/>
              </a:buClr>
              <a:buSzPts val="1400"/>
              <a:buFont typeface="Arial"/>
              <a:buChar char="​"/>
              <a:defRPr b="1" sz="1400">
                <a:solidFill>
                  <a:schemeClr val="lt1"/>
                </a:solidFill>
              </a:defRPr>
            </a:lvl3pPr>
            <a:lvl4pPr indent="-317500" lvl="3" marL="1828800" algn="l">
              <a:lnSpc>
                <a:spcPct val="85000"/>
              </a:lnSpc>
              <a:spcBef>
                <a:spcPts val="200"/>
              </a:spcBef>
              <a:spcAft>
                <a:spcPts val="0"/>
              </a:spcAft>
              <a:buClr>
                <a:schemeClr val="lt1"/>
              </a:buClr>
              <a:buSzPts val="1400"/>
              <a:buFont typeface="Arial"/>
              <a:buChar char="​"/>
              <a:defRPr b="0" sz="1400">
                <a:solidFill>
                  <a:schemeClr val="lt1"/>
                </a:solidFill>
              </a:defRPr>
            </a:lvl4pPr>
            <a:lvl5pPr indent="-317500" lvl="4" marL="2286000" algn="l">
              <a:lnSpc>
                <a:spcPct val="85000"/>
              </a:lnSpc>
              <a:spcBef>
                <a:spcPts val="200"/>
              </a:spcBef>
              <a:spcAft>
                <a:spcPts val="0"/>
              </a:spcAft>
              <a:buClr>
                <a:schemeClr val="lt1"/>
              </a:buClr>
              <a:buSzPts val="1400"/>
              <a:buFont typeface="Arial"/>
              <a:buChar char="​"/>
              <a:defRPr b="0" sz="1400">
                <a:solidFill>
                  <a:schemeClr val="lt1"/>
                </a:solidFill>
              </a:defRPr>
            </a:lvl5pPr>
            <a:lvl6pPr indent="-317500" lvl="5" marL="2743200" algn="ctr">
              <a:lnSpc>
                <a:spcPct val="85000"/>
              </a:lnSpc>
              <a:spcBef>
                <a:spcPts val="200"/>
              </a:spcBef>
              <a:spcAft>
                <a:spcPts val="0"/>
              </a:spcAft>
              <a:buClr>
                <a:schemeClr val="lt1"/>
              </a:buClr>
              <a:buSzPts val="1400"/>
              <a:buFont typeface="Arial"/>
              <a:buChar char="​"/>
              <a:defRPr b="0" sz="1400">
                <a:solidFill>
                  <a:schemeClr val="lt1"/>
                </a:solidFill>
              </a:defRPr>
            </a:lvl6pPr>
            <a:lvl7pPr indent="-317500" lvl="6" marL="3200400" algn="ctr">
              <a:lnSpc>
                <a:spcPct val="85000"/>
              </a:lnSpc>
              <a:spcBef>
                <a:spcPts val="200"/>
              </a:spcBef>
              <a:spcAft>
                <a:spcPts val="0"/>
              </a:spcAft>
              <a:buClr>
                <a:schemeClr val="lt1"/>
              </a:buClr>
              <a:buSzPts val="1400"/>
              <a:buFont typeface="Arial"/>
              <a:buChar char="​"/>
              <a:defRPr b="0" sz="1400">
                <a:solidFill>
                  <a:schemeClr val="lt1"/>
                </a:solidFill>
              </a:defRPr>
            </a:lvl7pPr>
            <a:lvl8pPr indent="-317500" lvl="7" marL="3657600" algn="ctr">
              <a:lnSpc>
                <a:spcPct val="85000"/>
              </a:lnSpc>
              <a:spcBef>
                <a:spcPts val="200"/>
              </a:spcBef>
              <a:spcAft>
                <a:spcPts val="0"/>
              </a:spcAft>
              <a:buClr>
                <a:schemeClr val="lt1"/>
              </a:buClr>
              <a:buSzPts val="1400"/>
              <a:buFont typeface="Arial"/>
              <a:buChar char="​"/>
              <a:defRPr b="0" sz="1400">
                <a:solidFill>
                  <a:schemeClr val="lt1"/>
                </a:solidFill>
              </a:defRPr>
            </a:lvl8pPr>
            <a:lvl9pPr indent="-317500" lvl="8" marL="4114800" algn="ctr">
              <a:lnSpc>
                <a:spcPct val="85000"/>
              </a:lnSpc>
              <a:spcBef>
                <a:spcPts val="200"/>
              </a:spcBef>
              <a:spcAft>
                <a:spcPts val="200"/>
              </a:spcAft>
              <a:buClr>
                <a:schemeClr val="lt1"/>
              </a:buClr>
              <a:buSzPts val="1400"/>
              <a:buFont typeface="Arial"/>
              <a:buChar char="​"/>
              <a:defRPr b="0" sz="1400">
                <a:solidFill>
                  <a:schemeClr val="lt1"/>
                </a:solidFill>
              </a:defRPr>
            </a:lvl9pPr>
          </a:lstStyle>
          <a:p/>
        </p:txBody>
      </p:sp>
      <p:sp>
        <p:nvSpPr>
          <p:cNvPr id="84" name="Google Shape;84;p18"/>
          <p:cNvSpPr/>
          <p:nvPr>
            <p:ph idx="2" type="pic"/>
          </p:nvPr>
        </p:nvSpPr>
        <p:spPr>
          <a:xfrm>
            <a:off x="0" y="0"/>
            <a:ext cx="2971800" cy="5143500"/>
          </a:xfrm>
          <a:prstGeom prst="rect">
            <a:avLst/>
          </a:prstGeom>
          <a:noFill/>
          <a:ln>
            <a:noFill/>
          </a:ln>
        </p:spPr>
        <p:txBody>
          <a:bodyPr anchorCtr="0" anchor="t" bIns="0" lIns="0" spcFirstLastPara="1" rIns="0" wrap="square" tIns="0">
            <a:noAutofit/>
          </a:bodyPr>
          <a:lstStyle>
            <a:lvl1pPr lvl="0" marR="0" rtl="0" algn="ctr">
              <a:lnSpc>
                <a:spcPct val="95000"/>
              </a:lnSpc>
              <a:spcBef>
                <a:spcPts val="600"/>
              </a:spcBef>
              <a:spcAft>
                <a:spcPts val="0"/>
              </a:spcAft>
              <a:buClr>
                <a:schemeClr val="dk1"/>
              </a:buClr>
              <a:buSzPts val="1600"/>
              <a:buFont typeface="Arial"/>
              <a:buNone/>
              <a:defRPr b="0" i="0" sz="1600" u="none" cap="none" strike="noStrike">
                <a:solidFill>
                  <a:schemeClr val="dk1"/>
                </a:solidFill>
                <a:latin typeface="Century Gothic"/>
                <a:ea typeface="Century Gothic"/>
                <a:cs typeface="Century Gothic"/>
                <a:sym typeface="Century Gothic"/>
              </a:defRPr>
            </a:lvl1pPr>
            <a:lvl2pPr lvl="1" marR="0" rtl="0" algn="l">
              <a:lnSpc>
                <a:spcPct val="85000"/>
              </a:lnSpc>
              <a:spcBef>
                <a:spcPts val="200"/>
              </a:spcBef>
              <a:spcAft>
                <a:spcPts val="0"/>
              </a:spcAft>
              <a:buClr>
                <a:schemeClr val="dk1"/>
              </a:buClr>
              <a:buSzPts val="1600"/>
              <a:buFont typeface="Arial"/>
              <a:buChar char="–"/>
              <a:defRPr b="0" i="0" sz="1600" u="none" cap="none" strike="noStrike">
                <a:solidFill>
                  <a:schemeClr val="dk1"/>
                </a:solidFill>
                <a:latin typeface="Century Gothic"/>
                <a:ea typeface="Century Gothic"/>
                <a:cs typeface="Century Gothic"/>
                <a:sym typeface="Century Gothic"/>
              </a:defRPr>
            </a:lvl2pPr>
            <a:lvl3pPr lvl="2" marR="0" rtl="0" algn="l">
              <a:lnSpc>
                <a:spcPct val="85000"/>
              </a:lnSpc>
              <a:spcBef>
                <a:spcPts val="200"/>
              </a:spcBef>
              <a:spcAft>
                <a:spcPts val="0"/>
              </a:spcAft>
              <a:buClr>
                <a:schemeClr val="dk1"/>
              </a:buClr>
              <a:buSzPts val="1400"/>
              <a:buFont typeface="Arial"/>
              <a:buChar char="-"/>
              <a:defRPr b="0" i="0" sz="1400" u="none" cap="none" strike="noStrike">
                <a:solidFill>
                  <a:schemeClr val="dk1"/>
                </a:solidFill>
                <a:latin typeface="Century Gothic"/>
                <a:ea typeface="Century Gothic"/>
                <a:cs typeface="Century Gothic"/>
                <a:sym typeface="Century Gothic"/>
              </a:defRPr>
            </a:lvl3pPr>
            <a:lvl4pPr lvl="3"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4pPr>
            <a:lvl5pPr lvl="4" marR="0" rtl="0" algn="l">
              <a:lnSpc>
                <a:spcPct val="95000"/>
              </a:lnSpc>
              <a:spcBef>
                <a:spcPts val="600"/>
              </a:spcBef>
              <a:spcAft>
                <a:spcPts val="0"/>
              </a:spcAft>
              <a:buClr>
                <a:schemeClr val="accent1"/>
              </a:buClr>
              <a:buSzPts val="1800"/>
              <a:buFont typeface="Arial"/>
              <a:buChar char="​"/>
              <a:defRPr b="0" i="0" sz="1800" u="none" cap="none" strike="noStrike">
                <a:solidFill>
                  <a:schemeClr val="accent1"/>
                </a:solidFill>
                <a:latin typeface="Century Gothic"/>
                <a:ea typeface="Century Gothic"/>
                <a:cs typeface="Century Gothic"/>
                <a:sym typeface="Century Gothic"/>
              </a:defRPr>
            </a:lvl5pPr>
            <a:lvl6pPr lvl="5" marR="0" rtl="0" algn="l">
              <a:lnSpc>
                <a:spcPct val="95000"/>
              </a:lnSpc>
              <a:spcBef>
                <a:spcPts val="600"/>
              </a:spcBef>
              <a:spcAft>
                <a:spcPts val="0"/>
              </a:spcAft>
              <a:buClr>
                <a:schemeClr val="accent2"/>
              </a:buClr>
              <a:buSzPts val="1800"/>
              <a:buFont typeface="Arial"/>
              <a:buChar char="​"/>
              <a:defRPr b="0" i="0" sz="1800" u="none" cap="none" strike="noStrike">
                <a:solidFill>
                  <a:schemeClr val="accent2"/>
                </a:solidFill>
                <a:latin typeface="Century Gothic"/>
                <a:ea typeface="Century Gothic"/>
                <a:cs typeface="Century Gothic"/>
                <a:sym typeface="Century Gothic"/>
              </a:defRPr>
            </a:lvl6pPr>
            <a:lvl7pPr lvl="6" marR="0" rtl="0" algn="l">
              <a:lnSpc>
                <a:spcPct val="95000"/>
              </a:lnSpc>
              <a:spcBef>
                <a:spcPts val="1000"/>
              </a:spcBef>
              <a:spcAft>
                <a:spcPts val="0"/>
              </a:spcAft>
              <a:buClr>
                <a:schemeClr val="dk1"/>
              </a:buClr>
              <a:buSzPts val="1800"/>
              <a:buFont typeface="Arial"/>
              <a:buChar char="​"/>
              <a:defRPr b="1" i="0" sz="1800" u="none" cap="none" strike="noStrike">
                <a:solidFill>
                  <a:schemeClr val="dk1"/>
                </a:solidFill>
                <a:latin typeface="Century Gothic"/>
                <a:ea typeface="Century Gothic"/>
                <a:cs typeface="Century Gothic"/>
                <a:sym typeface="Century Gothic"/>
              </a:defRPr>
            </a:lvl7pPr>
            <a:lvl8pPr lvl="7" marR="0" rtl="0" algn="l">
              <a:lnSpc>
                <a:spcPct val="95000"/>
              </a:lnSpc>
              <a:spcBef>
                <a:spcPts val="200"/>
              </a:spcBef>
              <a:spcAft>
                <a:spcPts val="0"/>
              </a:spcAft>
              <a:buClr>
                <a:schemeClr val="dk1"/>
              </a:buClr>
              <a:buSzPts val="1800"/>
              <a:buFont typeface="Century Gothic"/>
              <a:buAutoNum type="arabicPeriod"/>
              <a:defRPr b="0" i="0" sz="1800" u="none" cap="none" strike="noStrike">
                <a:solidFill>
                  <a:schemeClr val="dk1"/>
                </a:solidFill>
                <a:latin typeface="Century Gothic"/>
                <a:ea typeface="Century Gothic"/>
                <a:cs typeface="Century Gothic"/>
                <a:sym typeface="Century Gothic"/>
              </a:defRPr>
            </a:lvl8pPr>
            <a:lvl9pPr lvl="8" marR="0" rtl="0" algn="l">
              <a:lnSpc>
                <a:spcPct val="95000"/>
              </a:lnSpc>
              <a:spcBef>
                <a:spcPts val="400"/>
              </a:spcBef>
              <a:spcAft>
                <a:spcPts val="400"/>
              </a:spcAft>
              <a:buClr>
                <a:schemeClr val="accent6"/>
              </a:buClr>
              <a:buSzPts val="900"/>
              <a:buFont typeface="Arial"/>
              <a:buChar char="​"/>
              <a:defRPr b="0" i="0" sz="900" u="none" cap="none" strike="noStrike">
                <a:solidFill>
                  <a:schemeClr val="accent6"/>
                </a:solidFill>
                <a:latin typeface="Century Gothic"/>
                <a:ea typeface="Century Gothic"/>
                <a:cs typeface="Century Gothic"/>
                <a:sym typeface="Century Gothic"/>
              </a:defRPr>
            </a:lvl9pPr>
          </a:lstStyle>
          <a:p/>
        </p:txBody>
      </p:sp>
      <p:sp>
        <p:nvSpPr>
          <p:cNvPr id="85" name="Google Shape;85;p18"/>
          <p:cNvSpPr txBox="1"/>
          <p:nvPr>
            <p:ph idx="3" type="body"/>
          </p:nvPr>
        </p:nvSpPr>
        <p:spPr>
          <a:xfrm>
            <a:off x="3511296" y="1152143"/>
            <a:ext cx="5164694" cy="3511296"/>
          </a:xfrm>
          <a:prstGeom prst="rect">
            <a:avLst/>
          </a:prstGeom>
          <a:noFill/>
          <a:ln>
            <a:noFill/>
          </a:ln>
        </p:spPr>
        <p:txBody>
          <a:bodyPr anchorCtr="0" anchor="t" bIns="0" lIns="0" spcFirstLastPara="1" rIns="0" wrap="square" tIns="0">
            <a:noAutofit/>
          </a:bodyPr>
          <a:lstStyle>
            <a:lvl1pPr indent="-355600" lvl="0" marL="457200" algn="l">
              <a:lnSpc>
                <a:spcPct val="95000"/>
              </a:lnSpc>
              <a:spcBef>
                <a:spcPts val="400"/>
              </a:spcBef>
              <a:spcAft>
                <a:spcPts val="0"/>
              </a:spcAft>
              <a:buClr>
                <a:schemeClr val="dk1"/>
              </a:buClr>
              <a:buSzPts val="2000"/>
              <a:buChar char="•"/>
              <a:defRPr sz="2000"/>
            </a:lvl1pPr>
            <a:lvl2pPr indent="-342900" lvl="1" marL="914400" algn="l">
              <a:lnSpc>
                <a:spcPct val="85000"/>
              </a:lnSpc>
              <a:spcBef>
                <a:spcPts val="200"/>
              </a:spcBef>
              <a:spcAft>
                <a:spcPts val="0"/>
              </a:spcAft>
              <a:buClr>
                <a:schemeClr val="dk1"/>
              </a:buClr>
              <a:buSzPts val="1800"/>
              <a:buChar char="–"/>
              <a:defRPr sz="1800"/>
            </a:lvl2pPr>
            <a:lvl3pPr indent="-330200" lvl="2" marL="1371600" algn="l">
              <a:lnSpc>
                <a:spcPct val="85000"/>
              </a:lnSpc>
              <a:spcBef>
                <a:spcPts val="200"/>
              </a:spcBef>
              <a:spcAft>
                <a:spcPts val="0"/>
              </a:spcAft>
              <a:buClr>
                <a:schemeClr val="dk1"/>
              </a:buClr>
              <a:buSzPts val="1600"/>
              <a:buChar char="-"/>
              <a:defRPr sz="16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e Title Slide" showMasterSp="0">
  <p:cSld name="Alternate Title Slide">
    <p:spTree>
      <p:nvGrpSpPr>
        <p:cNvPr id="86" name="Shape 86"/>
        <p:cNvGrpSpPr/>
        <p:nvPr/>
      </p:nvGrpSpPr>
      <p:grpSpPr>
        <a:xfrm>
          <a:off x="0" y="0"/>
          <a:ext cx="0" cy="0"/>
          <a:chOff x="0" y="0"/>
          <a:chExt cx="0" cy="0"/>
        </a:xfrm>
      </p:grpSpPr>
      <p:sp>
        <p:nvSpPr>
          <p:cNvPr id="87" name="Google Shape;87;p19"/>
          <p:cNvSpPr txBox="1"/>
          <p:nvPr>
            <p:ph idx="1" type="body"/>
          </p:nvPr>
        </p:nvSpPr>
        <p:spPr>
          <a:xfrm>
            <a:off x="0" y="1765763"/>
            <a:ext cx="9144000" cy="1611980"/>
          </a:xfrm>
          <a:prstGeom prst="rect">
            <a:avLst/>
          </a:prstGeom>
          <a:solidFill>
            <a:schemeClr val="accent1">
              <a:alpha val="89803"/>
            </a:schemeClr>
          </a:solidFill>
          <a:ln>
            <a:noFill/>
          </a:ln>
        </p:spPr>
        <p:txBody>
          <a:bodyPr anchorCtr="1" anchor="ctr" bIns="137150" lIns="457200" spcFirstLastPara="1" rIns="457200" wrap="square" tIns="137150">
            <a:noAutofit/>
          </a:bodyPr>
          <a:lstStyle>
            <a:lvl1pPr indent="-381000" lvl="0" marL="457200" algn="ctr">
              <a:lnSpc>
                <a:spcPct val="85000"/>
              </a:lnSpc>
              <a:spcBef>
                <a:spcPts val="200"/>
              </a:spcBef>
              <a:spcAft>
                <a:spcPts val="0"/>
              </a:spcAft>
              <a:buClr>
                <a:schemeClr val="lt1"/>
              </a:buClr>
              <a:buSzPts val="2400"/>
              <a:buFont typeface="Arial"/>
              <a:buChar char="​"/>
              <a:defRPr b="1" sz="2400">
                <a:solidFill>
                  <a:schemeClr val="lt1"/>
                </a:solidFill>
              </a:defRPr>
            </a:lvl1pPr>
            <a:lvl2pPr indent="-342900" lvl="1" marL="914400" algn="ctr">
              <a:lnSpc>
                <a:spcPct val="85000"/>
              </a:lnSpc>
              <a:spcBef>
                <a:spcPts val="200"/>
              </a:spcBef>
              <a:spcAft>
                <a:spcPts val="0"/>
              </a:spcAft>
              <a:buClr>
                <a:schemeClr val="lt1"/>
              </a:buClr>
              <a:buSzPts val="1800"/>
              <a:buFont typeface="Arial"/>
              <a:buChar char="​"/>
              <a:defRPr b="1" sz="1800">
                <a:solidFill>
                  <a:schemeClr val="lt1"/>
                </a:solidFill>
              </a:defRPr>
            </a:lvl2pPr>
            <a:lvl3pPr indent="-317500" lvl="2" marL="1371600" algn="ctr">
              <a:lnSpc>
                <a:spcPct val="85000"/>
              </a:lnSpc>
              <a:spcBef>
                <a:spcPts val="600"/>
              </a:spcBef>
              <a:spcAft>
                <a:spcPts val="0"/>
              </a:spcAft>
              <a:buClr>
                <a:schemeClr val="lt1"/>
              </a:buClr>
              <a:buSzPts val="1400"/>
              <a:buFont typeface="Arial"/>
              <a:buChar char="​"/>
              <a:defRPr b="1" sz="1400">
                <a:solidFill>
                  <a:schemeClr val="lt1"/>
                </a:solidFill>
              </a:defRPr>
            </a:lvl3pPr>
            <a:lvl4pPr indent="-317500" lvl="3" marL="1828800" algn="ctr">
              <a:lnSpc>
                <a:spcPct val="85000"/>
              </a:lnSpc>
              <a:spcBef>
                <a:spcPts val="200"/>
              </a:spcBef>
              <a:spcAft>
                <a:spcPts val="0"/>
              </a:spcAft>
              <a:buClr>
                <a:schemeClr val="lt1"/>
              </a:buClr>
              <a:buSzPts val="1400"/>
              <a:buFont typeface="Arial"/>
              <a:buChar char="​"/>
              <a:defRPr b="0" sz="1400">
                <a:solidFill>
                  <a:schemeClr val="lt1"/>
                </a:solidFill>
              </a:defRPr>
            </a:lvl4pPr>
            <a:lvl5pPr indent="-317500" lvl="4" marL="2286000" algn="ctr">
              <a:lnSpc>
                <a:spcPct val="85000"/>
              </a:lnSpc>
              <a:spcBef>
                <a:spcPts val="200"/>
              </a:spcBef>
              <a:spcAft>
                <a:spcPts val="0"/>
              </a:spcAft>
              <a:buClr>
                <a:schemeClr val="lt1"/>
              </a:buClr>
              <a:buSzPts val="1400"/>
              <a:buFont typeface="Arial"/>
              <a:buChar char="​"/>
              <a:defRPr b="0" sz="1400">
                <a:solidFill>
                  <a:schemeClr val="lt1"/>
                </a:solidFill>
              </a:defRPr>
            </a:lvl5pPr>
            <a:lvl6pPr indent="-317500" lvl="5" marL="2743200" algn="ctr">
              <a:lnSpc>
                <a:spcPct val="85000"/>
              </a:lnSpc>
              <a:spcBef>
                <a:spcPts val="200"/>
              </a:spcBef>
              <a:spcAft>
                <a:spcPts val="0"/>
              </a:spcAft>
              <a:buClr>
                <a:schemeClr val="lt1"/>
              </a:buClr>
              <a:buSzPts val="1400"/>
              <a:buFont typeface="Arial"/>
              <a:buChar char="​"/>
              <a:defRPr b="0" sz="1400">
                <a:solidFill>
                  <a:schemeClr val="lt1"/>
                </a:solidFill>
              </a:defRPr>
            </a:lvl6pPr>
            <a:lvl7pPr indent="-317500" lvl="6" marL="3200400" algn="ctr">
              <a:lnSpc>
                <a:spcPct val="85000"/>
              </a:lnSpc>
              <a:spcBef>
                <a:spcPts val="200"/>
              </a:spcBef>
              <a:spcAft>
                <a:spcPts val="0"/>
              </a:spcAft>
              <a:buClr>
                <a:schemeClr val="lt1"/>
              </a:buClr>
              <a:buSzPts val="1400"/>
              <a:buFont typeface="Arial"/>
              <a:buChar char="​"/>
              <a:defRPr b="0" sz="1400">
                <a:solidFill>
                  <a:schemeClr val="lt1"/>
                </a:solidFill>
              </a:defRPr>
            </a:lvl7pPr>
            <a:lvl8pPr indent="-317500" lvl="7" marL="3657600" algn="ctr">
              <a:lnSpc>
                <a:spcPct val="85000"/>
              </a:lnSpc>
              <a:spcBef>
                <a:spcPts val="200"/>
              </a:spcBef>
              <a:spcAft>
                <a:spcPts val="0"/>
              </a:spcAft>
              <a:buClr>
                <a:schemeClr val="lt1"/>
              </a:buClr>
              <a:buSzPts val="1400"/>
              <a:buFont typeface="Arial"/>
              <a:buChar char="​"/>
              <a:defRPr b="0" sz="1400">
                <a:solidFill>
                  <a:schemeClr val="lt1"/>
                </a:solidFill>
              </a:defRPr>
            </a:lvl8pPr>
            <a:lvl9pPr indent="-317500" lvl="8" marL="4114800" algn="ctr">
              <a:lnSpc>
                <a:spcPct val="85000"/>
              </a:lnSpc>
              <a:spcBef>
                <a:spcPts val="200"/>
              </a:spcBef>
              <a:spcAft>
                <a:spcPts val="200"/>
              </a:spcAft>
              <a:buClr>
                <a:schemeClr val="lt1"/>
              </a:buClr>
              <a:buSzPts val="1400"/>
              <a:buFont typeface="Arial"/>
              <a:buChar char="​"/>
              <a:defRPr b="0" sz="1400">
                <a:solidFill>
                  <a:schemeClr val="lt1"/>
                </a:solidFill>
              </a:defRPr>
            </a:lvl9pPr>
          </a:lstStyle>
          <a:p/>
        </p:txBody>
      </p:sp>
      <p:sp>
        <p:nvSpPr>
          <p:cNvPr id="88" name="Google Shape;88;p19"/>
          <p:cNvSpPr/>
          <p:nvPr/>
        </p:nvSpPr>
        <p:spPr>
          <a:xfrm>
            <a:off x="457200" y="0"/>
            <a:ext cx="2438400" cy="914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nvGrpSpPr>
          <p:cNvPr id="89" name="Google Shape;89;p19"/>
          <p:cNvGrpSpPr/>
          <p:nvPr/>
        </p:nvGrpSpPr>
        <p:grpSpPr>
          <a:xfrm>
            <a:off x="994117" y="305466"/>
            <a:ext cx="1362335" cy="305001"/>
            <a:chOff x="5137" y="4139"/>
            <a:chExt cx="335" cy="75"/>
          </a:xfrm>
        </p:grpSpPr>
        <p:sp>
          <p:nvSpPr>
            <p:cNvPr id="90" name="Google Shape;90;p19"/>
            <p:cNvSpPr/>
            <p:nvPr/>
          </p:nvSpPr>
          <p:spPr>
            <a:xfrm>
              <a:off x="5137" y="4139"/>
              <a:ext cx="324" cy="75"/>
            </a:xfrm>
            <a:custGeom>
              <a:rect b="b" l="l" r="r" t="t"/>
              <a:pathLst>
                <a:path extrusionOk="0" h="863" w="3745">
                  <a:moveTo>
                    <a:pt x="660" y="0"/>
                  </a:moveTo>
                  <a:lnTo>
                    <a:pt x="660" y="0"/>
                  </a:lnTo>
                  <a:lnTo>
                    <a:pt x="22" y="0"/>
                  </a:lnTo>
                  <a:lnTo>
                    <a:pt x="0" y="73"/>
                  </a:lnTo>
                  <a:lnTo>
                    <a:pt x="292" y="73"/>
                  </a:lnTo>
                  <a:lnTo>
                    <a:pt x="292" y="804"/>
                  </a:lnTo>
                  <a:cubicBezTo>
                    <a:pt x="292" y="843"/>
                    <a:pt x="316" y="863"/>
                    <a:pt x="360" y="863"/>
                  </a:cubicBezTo>
                  <a:lnTo>
                    <a:pt x="399" y="863"/>
                  </a:lnTo>
                  <a:lnTo>
                    <a:pt x="399" y="73"/>
                  </a:lnTo>
                  <a:lnTo>
                    <a:pt x="637" y="73"/>
                  </a:lnTo>
                  <a:lnTo>
                    <a:pt x="660" y="0"/>
                  </a:lnTo>
                  <a:lnTo>
                    <a:pt x="660" y="0"/>
                  </a:lnTo>
                  <a:close/>
                  <a:moveTo>
                    <a:pt x="2673" y="181"/>
                  </a:moveTo>
                  <a:lnTo>
                    <a:pt x="2673" y="181"/>
                  </a:lnTo>
                  <a:cubicBezTo>
                    <a:pt x="2647" y="181"/>
                    <a:pt x="2626" y="190"/>
                    <a:pt x="2621" y="203"/>
                  </a:cubicBezTo>
                  <a:lnTo>
                    <a:pt x="2408" y="768"/>
                  </a:lnTo>
                  <a:lnTo>
                    <a:pt x="2448" y="768"/>
                  </a:lnTo>
                  <a:cubicBezTo>
                    <a:pt x="2491" y="768"/>
                    <a:pt x="2509" y="764"/>
                    <a:pt x="2522" y="729"/>
                  </a:cubicBezTo>
                  <a:lnTo>
                    <a:pt x="2570" y="596"/>
                  </a:lnTo>
                  <a:lnTo>
                    <a:pt x="2698" y="596"/>
                  </a:lnTo>
                  <a:lnTo>
                    <a:pt x="2679" y="533"/>
                  </a:lnTo>
                  <a:lnTo>
                    <a:pt x="2590" y="533"/>
                  </a:lnTo>
                  <a:lnTo>
                    <a:pt x="2669" y="310"/>
                  </a:lnTo>
                  <a:lnTo>
                    <a:pt x="2812" y="729"/>
                  </a:lnTo>
                  <a:cubicBezTo>
                    <a:pt x="2824" y="764"/>
                    <a:pt x="2845" y="768"/>
                    <a:pt x="2891" y="768"/>
                  </a:cubicBezTo>
                  <a:lnTo>
                    <a:pt x="2941" y="768"/>
                  </a:lnTo>
                  <a:lnTo>
                    <a:pt x="2725" y="203"/>
                  </a:lnTo>
                  <a:cubicBezTo>
                    <a:pt x="2720" y="190"/>
                    <a:pt x="2697" y="181"/>
                    <a:pt x="2673" y="181"/>
                  </a:cubicBezTo>
                  <a:close/>
                  <a:moveTo>
                    <a:pt x="3529" y="203"/>
                  </a:moveTo>
                  <a:lnTo>
                    <a:pt x="3529" y="203"/>
                  </a:lnTo>
                  <a:cubicBezTo>
                    <a:pt x="3524" y="190"/>
                    <a:pt x="3501" y="181"/>
                    <a:pt x="3477" y="181"/>
                  </a:cubicBezTo>
                  <a:cubicBezTo>
                    <a:pt x="3451" y="181"/>
                    <a:pt x="3430" y="190"/>
                    <a:pt x="3425" y="203"/>
                  </a:cubicBezTo>
                  <a:lnTo>
                    <a:pt x="3212" y="768"/>
                  </a:lnTo>
                  <a:lnTo>
                    <a:pt x="3252" y="768"/>
                  </a:lnTo>
                  <a:cubicBezTo>
                    <a:pt x="3294" y="768"/>
                    <a:pt x="3313" y="764"/>
                    <a:pt x="3326" y="729"/>
                  </a:cubicBezTo>
                  <a:lnTo>
                    <a:pt x="3374" y="596"/>
                  </a:lnTo>
                  <a:lnTo>
                    <a:pt x="3502" y="596"/>
                  </a:lnTo>
                  <a:lnTo>
                    <a:pt x="3483" y="533"/>
                  </a:lnTo>
                  <a:lnTo>
                    <a:pt x="3394" y="533"/>
                  </a:lnTo>
                  <a:lnTo>
                    <a:pt x="3473" y="310"/>
                  </a:lnTo>
                  <a:lnTo>
                    <a:pt x="3616" y="729"/>
                  </a:lnTo>
                  <a:cubicBezTo>
                    <a:pt x="3628" y="764"/>
                    <a:pt x="3649" y="768"/>
                    <a:pt x="3695" y="768"/>
                  </a:cubicBezTo>
                  <a:lnTo>
                    <a:pt x="3745" y="768"/>
                  </a:lnTo>
                  <a:lnTo>
                    <a:pt x="3529" y="203"/>
                  </a:lnTo>
                  <a:lnTo>
                    <a:pt x="3529" y="203"/>
                  </a:lnTo>
                  <a:close/>
                  <a:moveTo>
                    <a:pt x="1655" y="181"/>
                  </a:moveTo>
                  <a:lnTo>
                    <a:pt x="1655" y="181"/>
                  </a:lnTo>
                  <a:cubicBezTo>
                    <a:pt x="1630" y="181"/>
                    <a:pt x="1608" y="190"/>
                    <a:pt x="1603" y="203"/>
                  </a:cubicBezTo>
                  <a:lnTo>
                    <a:pt x="1399" y="746"/>
                  </a:lnTo>
                  <a:lnTo>
                    <a:pt x="1247" y="515"/>
                  </a:lnTo>
                  <a:cubicBezTo>
                    <a:pt x="1327" y="501"/>
                    <a:pt x="1374" y="459"/>
                    <a:pt x="1374" y="387"/>
                  </a:cubicBezTo>
                  <a:lnTo>
                    <a:pt x="1374" y="336"/>
                  </a:lnTo>
                  <a:cubicBezTo>
                    <a:pt x="1374" y="232"/>
                    <a:pt x="1277" y="189"/>
                    <a:pt x="1149" y="189"/>
                  </a:cubicBezTo>
                  <a:lnTo>
                    <a:pt x="969" y="189"/>
                  </a:lnTo>
                  <a:lnTo>
                    <a:pt x="969" y="704"/>
                  </a:lnTo>
                  <a:lnTo>
                    <a:pt x="737" y="704"/>
                  </a:lnTo>
                  <a:cubicBezTo>
                    <a:pt x="646" y="704"/>
                    <a:pt x="625" y="684"/>
                    <a:pt x="625" y="590"/>
                  </a:cubicBezTo>
                  <a:lnTo>
                    <a:pt x="625" y="488"/>
                  </a:lnTo>
                  <a:lnTo>
                    <a:pt x="797" y="488"/>
                  </a:lnTo>
                  <a:lnTo>
                    <a:pt x="816" y="424"/>
                  </a:lnTo>
                  <a:lnTo>
                    <a:pt x="625" y="424"/>
                  </a:lnTo>
                  <a:lnTo>
                    <a:pt x="625" y="253"/>
                  </a:lnTo>
                  <a:lnTo>
                    <a:pt x="878" y="253"/>
                  </a:lnTo>
                  <a:lnTo>
                    <a:pt x="897" y="189"/>
                  </a:lnTo>
                  <a:lnTo>
                    <a:pt x="520" y="189"/>
                  </a:lnTo>
                  <a:lnTo>
                    <a:pt x="520" y="590"/>
                  </a:lnTo>
                  <a:cubicBezTo>
                    <a:pt x="520" y="724"/>
                    <a:pt x="552" y="768"/>
                    <a:pt x="735" y="768"/>
                  </a:cubicBezTo>
                  <a:lnTo>
                    <a:pt x="1074" y="766"/>
                  </a:lnTo>
                  <a:lnTo>
                    <a:pt x="1074" y="253"/>
                  </a:lnTo>
                  <a:lnTo>
                    <a:pt x="1149" y="253"/>
                  </a:lnTo>
                  <a:cubicBezTo>
                    <a:pt x="1230" y="253"/>
                    <a:pt x="1271" y="282"/>
                    <a:pt x="1271" y="337"/>
                  </a:cubicBezTo>
                  <a:lnTo>
                    <a:pt x="1271" y="387"/>
                  </a:lnTo>
                  <a:cubicBezTo>
                    <a:pt x="1271" y="443"/>
                    <a:pt x="1220" y="461"/>
                    <a:pt x="1157" y="461"/>
                  </a:cubicBezTo>
                  <a:lnTo>
                    <a:pt x="1110" y="461"/>
                  </a:lnTo>
                  <a:lnTo>
                    <a:pt x="1269" y="733"/>
                  </a:lnTo>
                  <a:cubicBezTo>
                    <a:pt x="1287" y="765"/>
                    <a:pt x="1296" y="768"/>
                    <a:pt x="1338" y="768"/>
                  </a:cubicBezTo>
                  <a:lnTo>
                    <a:pt x="1430" y="768"/>
                  </a:lnTo>
                  <a:cubicBezTo>
                    <a:pt x="1473" y="768"/>
                    <a:pt x="1492" y="764"/>
                    <a:pt x="1505" y="729"/>
                  </a:cubicBezTo>
                  <a:lnTo>
                    <a:pt x="1552" y="596"/>
                  </a:lnTo>
                  <a:lnTo>
                    <a:pt x="1680" y="596"/>
                  </a:lnTo>
                  <a:lnTo>
                    <a:pt x="1661" y="533"/>
                  </a:lnTo>
                  <a:lnTo>
                    <a:pt x="1573" y="533"/>
                  </a:lnTo>
                  <a:lnTo>
                    <a:pt x="1652" y="310"/>
                  </a:lnTo>
                  <a:lnTo>
                    <a:pt x="1795" y="729"/>
                  </a:lnTo>
                  <a:cubicBezTo>
                    <a:pt x="1807" y="764"/>
                    <a:pt x="1827" y="768"/>
                    <a:pt x="1873" y="768"/>
                  </a:cubicBezTo>
                  <a:lnTo>
                    <a:pt x="1923" y="768"/>
                  </a:lnTo>
                  <a:lnTo>
                    <a:pt x="1707" y="203"/>
                  </a:lnTo>
                  <a:cubicBezTo>
                    <a:pt x="1702" y="190"/>
                    <a:pt x="1679" y="181"/>
                    <a:pt x="1655" y="181"/>
                  </a:cubicBezTo>
                  <a:close/>
                  <a:moveTo>
                    <a:pt x="2304" y="530"/>
                  </a:moveTo>
                  <a:lnTo>
                    <a:pt x="2304" y="530"/>
                  </a:lnTo>
                  <a:cubicBezTo>
                    <a:pt x="2304" y="647"/>
                    <a:pt x="2266" y="704"/>
                    <a:pt x="2162" y="704"/>
                  </a:cubicBezTo>
                  <a:lnTo>
                    <a:pt x="2068" y="704"/>
                  </a:lnTo>
                  <a:lnTo>
                    <a:pt x="2068" y="253"/>
                  </a:lnTo>
                  <a:lnTo>
                    <a:pt x="2159" y="253"/>
                  </a:lnTo>
                  <a:cubicBezTo>
                    <a:pt x="2266" y="253"/>
                    <a:pt x="2304" y="316"/>
                    <a:pt x="2304" y="433"/>
                  </a:cubicBezTo>
                  <a:lnTo>
                    <a:pt x="2304" y="530"/>
                  </a:lnTo>
                  <a:lnTo>
                    <a:pt x="2304" y="530"/>
                  </a:lnTo>
                  <a:close/>
                  <a:moveTo>
                    <a:pt x="2409" y="432"/>
                  </a:moveTo>
                  <a:lnTo>
                    <a:pt x="2409" y="432"/>
                  </a:lnTo>
                  <a:cubicBezTo>
                    <a:pt x="2409" y="270"/>
                    <a:pt x="2326" y="189"/>
                    <a:pt x="2159" y="189"/>
                  </a:cubicBezTo>
                  <a:lnTo>
                    <a:pt x="1963" y="189"/>
                  </a:lnTo>
                  <a:lnTo>
                    <a:pt x="1963" y="709"/>
                  </a:lnTo>
                  <a:cubicBezTo>
                    <a:pt x="1963" y="748"/>
                    <a:pt x="1984" y="768"/>
                    <a:pt x="2029" y="768"/>
                  </a:cubicBezTo>
                  <a:lnTo>
                    <a:pt x="2159" y="768"/>
                  </a:lnTo>
                  <a:lnTo>
                    <a:pt x="2180" y="767"/>
                  </a:lnTo>
                  <a:cubicBezTo>
                    <a:pt x="2337" y="761"/>
                    <a:pt x="2409" y="693"/>
                    <a:pt x="2409" y="530"/>
                  </a:cubicBezTo>
                  <a:lnTo>
                    <a:pt x="2409" y="432"/>
                  </a:lnTo>
                  <a:lnTo>
                    <a:pt x="2409" y="432"/>
                  </a:lnTo>
                  <a:close/>
                  <a:moveTo>
                    <a:pt x="3332" y="190"/>
                  </a:moveTo>
                  <a:lnTo>
                    <a:pt x="3332" y="190"/>
                  </a:lnTo>
                  <a:lnTo>
                    <a:pt x="2851" y="190"/>
                  </a:lnTo>
                  <a:lnTo>
                    <a:pt x="2831" y="254"/>
                  </a:lnTo>
                  <a:lnTo>
                    <a:pt x="3028" y="254"/>
                  </a:lnTo>
                  <a:lnTo>
                    <a:pt x="3028" y="710"/>
                  </a:lnTo>
                  <a:cubicBezTo>
                    <a:pt x="3028" y="749"/>
                    <a:pt x="3052" y="768"/>
                    <a:pt x="3096" y="768"/>
                  </a:cubicBezTo>
                  <a:lnTo>
                    <a:pt x="3135" y="768"/>
                  </a:lnTo>
                  <a:lnTo>
                    <a:pt x="3135" y="254"/>
                  </a:lnTo>
                  <a:lnTo>
                    <a:pt x="3313" y="254"/>
                  </a:lnTo>
                  <a:lnTo>
                    <a:pt x="3332" y="19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3C3B"/>
                </a:solidFill>
                <a:latin typeface="Century Gothic"/>
                <a:ea typeface="Century Gothic"/>
                <a:cs typeface="Century Gothic"/>
                <a:sym typeface="Century Gothic"/>
              </a:endParaRPr>
            </a:p>
          </p:txBody>
        </p:sp>
        <p:sp>
          <p:nvSpPr>
            <p:cNvPr id="91" name="Google Shape;91;p19"/>
            <p:cNvSpPr/>
            <p:nvPr/>
          </p:nvSpPr>
          <p:spPr>
            <a:xfrm>
              <a:off x="5464" y="4197"/>
              <a:ext cx="8" cy="9"/>
            </a:xfrm>
            <a:custGeom>
              <a:rect b="b" l="l" r="r" t="t"/>
              <a:pathLst>
                <a:path extrusionOk="0" h="98" w="99">
                  <a:moveTo>
                    <a:pt x="59" y="30"/>
                  </a:moveTo>
                  <a:lnTo>
                    <a:pt x="59" y="30"/>
                  </a:lnTo>
                  <a:cubicBezTo>
                    <a:pt x="57" y="29"/>
                    <a:pt x="53" y="28"/>
                    <a:pt x="47" y="28"/>
                  </a:cubicBezTo>
                  <a:lnTo>
                    <a:pt x="39" y="28"/>
                  </a:lnTo>
                  <a:lnTo>
                    <a:pt x="39" y="48"/>
                  </a:lnTo>
                  <a:lnTo>
                    <a:pt x="48" y="48"/>
                  </a:lnTo>
                  <a:cubicBezTo>
                    <a:pt x="52" y="48"/>
                    <a:pt x="55" y="47"/>
                    <a:pt x="57" y="46"/>
                  </a:cubicBezTo>
                  <a:cubicBezTo>
                    <a:pt x="61" y="45"/>
                    <a:pt x="63" y="42"/>
                    <a:pt x="63" y="38"/>
                  </a:cubicBezTo>
                  <a:cubicBezTo>
                    <a:pt x="63" y="34"/>
                    <a:pt x="61" y="31"/>
                    <a:pt x="59" y="30"/>
                  </a:cubicBezTo>
                  <a:close/>
                  <a:moveTo>
                    <a:pt x="49" y="22"/>
                  </a:moveTo>
                  <a:lnTo>
                    <a:pt x="49" y="22"/>
                  </a:lnTo>
                  <a:cubicBezTo>
                    <a:pt x="55" y="22"/>
                    <a:pt x="60" y="22"/>
                    <a:pt x="63" y="23"/>
                  </a:cubicBezTo>
                  <a:cubicBezTo>
                    <a:pt x="69" y="26"/>
                    <a:pt x="72" y="30"/>
                    <a:pt x="72" y="37"/>
                  </a:cubicBezTo>
                  <a:cubicBezTo>
                    <a:pt x="72" y="42"/>
                    <a:pt x="70" y="46"/>
                    <a:pt x="66" y="48"/>
                  </a:cubicBezTo>
                  <a:cubicBezTo>
                    <a:pt x="65" y="49"/>
                    <a:pt x="62" y="50"/>
                    <a:pt x="59" y="51"/>
                  </a:cubicBezTo>
                  <a:cubicBezTo>
                    <a:pt x="63" y="51"/>
                    <a:pt x="66" y="53"/>
                    <a:pt x="68" y="56"/>
                  </a:cubicBezTo>
                  <a:cubicBezTo>
                    <a:pt x="70" y="59"/>
                    <a:pt x="71" y="62"/>
                    <a:pt x="71" y="64"/>
                  </a:cubicBezTo>
                  <a:lnTo>
                    <a:pt x="71" y="68"/>
                  </a:lnTo>
                  <a:cubicBezTo>
                    <a:pt x="71" y="69"/>
                    <a:pt x="71" y="71"/>
                    <a:pt x="71" y="72"/>
                  </a:cubicBezTo>
                  <a:cubicBezTo>
                    <a:pt x="71" y="74"/>
                    <a:pt x="71" y="75"/>
                    <a:pt x="72" y="75"/>
                  </a:cubicBezTo>
                  <a:lnTo>
                    <a:pt x="72" y="76"/>
                  </a:lnTo>
                  <a:lnTo>
                    <a:pt x="63" y="76"/>
                  </a:lnTo>
                  <a:cubicBezTo>
                    <a:pt x="63" y="76"/>
                    <a:pt x="63" y="75"/>
                    <a:pt x="63" y="75"/>
                  </a:cubicBezTo>
                  <a:cubicBezTo>
                    <a:pt x="63" y="75"/>
                    <a:pt x="63" y="75"/>
                    <a:pt x="63" y="75"/>
                  </a:cubicBezTo>
                  <a:lnTo>
                    <a:pt x="62" y="73"/>
                  </a:lnTo>
                  <a:lnTo>
                    <a:pt x="62" y="69"/>
                  </a:lnTo>
                  <a:cubicBezTo>
                    <a:pt x="62" y="62"/>
                    <a:pt x="61" y="58"/>
                    <a:pt x="57" y="56"/>
                  </a:cubicBezTo>
                  <a:cubicBezTo>
                    <a:pt x="55" y="55"/>
                    <a:pt x="52" y="54"/>
                    <a:pt x="47" y="54"/>
                  </a:cubicBezTo>
                  <a:lnTo>
                    <a:pt x="39" y="54"/>
                  </a:lnTo>
                  <a:lnTo>
                    <a:pt x="39" y="76"/>
                  </a:lnTo>
                  <a:lnTo>
                    <a:pt x="30" y="76"/>
                  </a:lnTo>
                  <a:lnTo>
                    <a:pt x="30" y="22"/>
                  </a:lnTo>
                  <a:lnTo>
                    <a:pt x="49" y="22"/>
                  </a:lnTo>
                  <a:lnTo>
                    <a:pt x="49" y="22"/>
                  </a:lnTo>
                  <a:close/>
                  <a:moveTo>
                    <a:pt x="20" y="19"/>
                  </a:moveTo>
                  <a:lnTo>
                    <a:pt x="20" y="19"/>
                  </a:lnTo>
                  <a:cubicBezTo>
                    <a:pt x="11" y="27"/>
                    <a:pt x="7" y="37"/>
                    <a:pt x="7" y="49"/>
                  </a:cubicBezTo>
                  <a:cubicBezTo>
                    <a:pt x="7" y="61"/>
                    <a:pt x="11" y="71"/>
                    <a:pt x="20" y="79"/>
                  </a:cubicBezTo>
                  <a:cubicBezTo>
                    <a:pt x="28" y="87"/>
                    <a:pt x="38" y="92"/>
                    <a:pt x="50" y="92"/>
                  </a:cubicBezTo>
                  <a:cubicBezTo>
                    <a:pt x="61" y="92"/>
                    <a:pt x="71" y="87"/>
                    <a:pt x="80" y="79"/>
                  </a:cubicBezTo>
                  <a:cubicBezTo>
                    <a:pt x="88" y="71"/>
                    <a:pt x="92" y="61"/>
                    <a:pt x="92" y="49"/>
                  </a:cubicBezTo>
                  <a:cubicBezTo>
                    <a:pt x="92" y="37"/>
                    <a:pt x="88" y="27"/>
                    <a:pt x="80" y="19"/>
                  </a:cubicBezTo>
                  <a:cubicBezTo>
                    <a:pt x="71" y="10"/>
                    <a:pt x="61" y="6"/>
                    <a:pt x="50" y="6"/>
                  </a:cubicBezTo>
                  <a:cubicBezTo>
                    <a:pt x="38" y="6"/>
                    <a:pt x="28" y="10"/>
                    <a:pt x="20" y="19"/>
                  </a:cubicBezTo>
                  <a:close/>
                  <a:moveTo>
                    <a:pt x="85" y="84"/>
                  </a:moveTo>
                  <a:lnTo>
                    <a:pt x="85" y="84"/>
                  </a:lnTo>
                  <a:cubicBezTo>
                    <a:pt x="75" y="94"/>
                    <a:pt x="63" y="98"/>
                    <a:pt x="50" y="98"/>
                  </a:cubicBezTo>
                  <a:cubicBezTo>
                    <a:pt x="36" y="98"/>
                    <a:pt x="24" y="94"/>
                    <a:pt x="15" y="84"/>
                  </a:cubicBezTo>
                  <a:cubicBezTo>
                    <a:pt x="5" y="74"/>
                    <a:pt x="0" y="63"/>
                    <a:pt x="0" y="49"/>
                  </a:cubicBezTo>
                  <a:cubicBezTo>
                    <a:pt x="0" y="35"/>
                    <a:pt x="5" y="24"/>
                    <a:pt x="15" y="14"/>
                  </a:cubicBezTo>
                  <a:cubicBezTo>
                    <a:pt x="24" y="4"/>
                    <a:pt x="36" y="0"/>
                    <a:pt x="50" y="0"/>
                  </a:cubicBezTo>
                  <a:cubicBezTo>
                    <a:pt x="63" y="0"/>
                    <a:pt x="75" y="4"/>
                    <a:pt x="85" y="14"/>
                  </a:cubicBezTo>
                  <a:cubicBezTo>
                    <a:pt x="94" y="24"/>
                    <a:pt x="99" y="35"/>
                    <a:pt x="99" y="49"/>
                  </a:cubicBezTo>
                  <a:cubicBezTo>
                    <a:pt x="99" y="63"/>
                    <a:pt x="94" y="74"/>
                    <a:pt x="85" y="84"/>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3C3B"/>
                </a:solidFill>
                <a:latin typeface="Century Gothic"/>
                <a:ea typeface="Century Gothic"/>
                <a:cs typeface="Century Gothic"/>
                <a:sym typeface="Century Gothic"/>
              </a:endParaRPr>
            </a:p>
          </p:txBody>
        </p:sp>
      </p:grpSp>
    </p:spTree>
  </p:cSld>
  <p:clrMapOvr>
    <a:masterClrMapping/>
  </p:clrMapOvr>
  <p:transition spd="med">
    <p:fade/>
  </p:transition>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Table Contents">
  <p:cSld name="Agenda/Table Contents">
    <p:spTree>
      <p:nvGrpSpPr>
        <p:cNvPr id="92" name="Shape 92"/>
        <p:cNvGrpSpPr/>
        <p:nvPr/>
      </p:nvGrpSpPr>
      <p:grpSpPr>
        <a:xfrm>
          <a:off x="0" y="0"/>
          <a:ext cx="0" cy="0"/>
          <a:chOff x="0" y="0"/>
          <a:chExt cx="0" cy="0"/>
        </a:xfrm>
      </p:grpSpPr>
      <p:sp>
        <p:nvSpPr>
          <p:cNvPr id="93" name="Google Shape;93;p20"/>
          <p:cNvSpPr txBox="1"/>
          <p:nvPr>
            <p:ph idx="1" type="body"/>
          </p:nvPr>
        </p:nvSpPr>
        <p:spPr>
          <a:xfrm>
            <a:off x="4800600" y="1216152"/>
            <a:ext cx="3886200" cy="3349777"/>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solidFill>
                  <a:schemeClr val="dk1"/>
                </a:solidFill>
              </a:defRPr>
            </a:lvl1pPr>
            <a:lvl2pPr indent="-330200" lvl="1" marL="914400" algn="l">
              <a:lnSpc>
                <a:spcPct val="85000"/>
              </a:lnSpc>
              <a:spcBef>
                <a:spcPts val="200"/>
              </a:spcBef>
              <a:spcAft>
                <a:spcPts val="0"/>
              </a:spcAft>
              <a:buClr>
                <a:schemeClr val="dk1"/>
              </a:buClr>
              <a:buSzPts val="1600"/>
              <a:buChar char="–"/>
              <a:defRPr sz="1600">
                <a:solidFill>
                  <a:schemeClr val="dk1"/>
                </a:solidFill>
              </a:defRPr>
            </a:lvl2pPr>
            <a:lvl3pPr indent="-317500" lvl="2" marL="1371600" algn="l">
              <a:lnSpc>
                <a:spcPct val="85000"/>
              </a:lnSpc>
              <a:spcBef>
                <a:spcPts val="200"/>
              </a:spcBef>
              <a:spcAft>
                <a:spcPts val="0"/>
              </a:spcAft>
              <a:buClr>
                <a:schemeClr val="dk1"/>
              </a:buClr>
              <a:buSzPts val="1400"/>
              <a:buChar char="-"/>
              <a:defRPr sz="1400">
                <a:solidFill>
                  <a:schemeClr val="dk1"/>
                </a:solidFill>
              </a:defRPr>
            </a:lvl3pPr>
            <a:lvl4pPr indent="-342900" lvl="3" marL="1828800" algn="l">
              <a:lnSpc>
                <a:spcPct val="95000"/>
              </a:lnSpc>
              <a:spcBef>
                <a:spcPts val="600"/>
              </a:spcBef>
              <a:spcAft>
                <a:spcPts val="0"/>
              </a:spcAft>
              <a:buClr>
                <a:schemeClr val="dk1"/>
              </a:buClr>
              <a:buSzPts val="1800"/>
              <a:buChar char="​"/>
              <a:defRPr sz="1800">
                <a:solidFill>
                  <a:schemeClr val="dk1"/>
                </a:solidFill>
              </a:defRPr>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94" name="Google Shape;94;p20"/>
          <p:cNvSpPr txBox="1"/>
          <p:nvPr>
            <p:ph type="title"/>
          </p:nvPr>
        </p:nvSpPr>
        <p:spPr>
          <a:xfrm>
            <a:off x="4800600" y="263385"/>
            <a:ext cx="3886200" cy="704088"/>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5" name="Google Shape;95;p20"/>
          <p:cNvSpPr/>
          <p:nvPr/>
        </p:nvSpPr>
        <p:spPr>
          <a:xfrm>
            <a:off x="99060" y="4858087"/>
            <a:ext cx="236220" cy="177165"/>
          </a:xfrm>
          <a:prstGeom prst="rect">
            <a:avLst/>
          </a:prstGeom>
          <a:solidFill>
            <a:schemeClr val="l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96" name="Google Shape;96;p20"/>
          <p:cNvSpPr/>
          <p:nvPr>
            <p:ph idx="2" type="pic"/>
          </p:nvPr>
        </p:nvSpPr>
        <p:spPr>
          <a:xfrm>
            <a:off x="0" y="0"/>
            <a:ext cx="4343400" cy="5143500"/>
          </a:xfrm>
          <a:prstGeom prst="rect">
            <a:avLst/>
          </a:prstGeom>
          <a:noFill/>
          <a:ln>
            <a:noFill/>
          </a:ln>
        </p:spPr>
        <p:txBody>
          <a:bodyPr anchorCtr="0" anchor="t" bIns="0" lIns="0" spcFirstLastPara="1" rIns="0" wrap="square" tIns="0">
            <a:noAutofit/>
          </a:bodyPr>
          <a:lstStyle>
            <a:lvl1pPr lvl="0" marR="0" rtl="0" algn="ctr">
              <a:lnSpc>
                <a:spcPct val="95000"/>
              </a:lnSpc>
              <a:spcBef>
                <a:spcPts val="600"/>
              </a:spcBef>
              <a:spcAft>
                <a:spcPts val="0"/>
              </a:spcAft>
              <a:buClr>
                <a:schemeClr val="dk1"/>
              </a:buClr>
              <a:buSzPts val="1200"/>
              <a:buFont typeface="Arial"/>
              <a:buNone/>
              <a:defRPr b="0" i="0" sz="1200" u="none" cap="none" strike="noStrike">
                <a:solidFill>
                  <a:schemeClr val="dk1"/>
                </a:solidFill>
                <a:latin typeface="Century Gothic"/>
                <a:ea typeface="Century Gothic"/>
                <a:cs typeface="Century Gothic"/>
                <a:sym typeface="Century Gothic"/>
              </a:defRPr>
            </a:lvl1pPr>
            <a:lvl2pPr lvl="1" marR="0" rtl="0" algn="l">
              <a:lnSpc>
                <a:spcPct val="85000"/>
              </a:lnSpc>
              <a:spcBef>
                <a:spcPts val="200"/>
              </a:spcBef>
              <a:spcAft>
                <a:spcPts val="0"/>
              </a:spcAft>
              <a:buClr>
                <a:schemeClr val="dk1"/>
              </a:buClr>
              <a:buSzPts val="1600"/>
              <a:buFont typeface="Arial"/>
              <a:buChar char="–"/>
              <a:defRPr b="0" i="0" sz="1600" u="none" cap="none" strike="noStrike">
                <a:solidFill>
                  <a:schemeClr val="dk1"/>
                </a:solidFill>
                <a:latin typeface="Century Gothic"/>
                <a:ea typeface="Century Gothic"/>
                <a:cs typeface="Century Gothic"/>
                <a:sym typeface="Century Gothic"/>
              </a:defRPr>
            </a:lvl2pPr>
            <a:lvl3pPr lvl="2" marR="0" rtl="0" algn="l">
              <a:lnSpc>
                <a:spcPct val="85000"/>
              </a:lnSpc>
              <a:spcBef>
                <a:spcPts val="200"/>
              </a:spcBef>
              <a:spcAft>
                <a:spcPts val="0"/>
              </a:spcAft>
              <a:buClr>
                <a:schemeClr val="dk1"/>
              </a:buClr>
              <a:buSzPts val="1400"/>
              <a:buFont typeface="Arial"/>
              <a:buChar char="-"/>
              <a:defRPr b="0" i="0" sz="1400" u="none" cap="none" strike="noStrike">
                <a:solidFill>
                  <a:schemeClr val="dk1"/>
                </a:solidFill>
                <a:latin typeface="Century Gothic"/>
                <a:ea typeface="Century Gothic"/>
                <a:cs typeface="Century Gothic"/>
                <a:sym typeface="Century Gothic"/>
              </a:defRPr>
            </a:lvl3pPr>
            <a:lvl4pPr lvl="3"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4pPr>
            <a:lvl5pPr lvl="4" marR="0" rtl="0" algn="l">
              <a:lnSpc>
                <a:spcPct val="95000"/>
              </a:lnSpc>
              <a:spcBef>
                <a:spcPts val="600"/>
              </a:spcBef>
              <a:spcAft>
                <a:spcPts val="0"/>
              </a:spcAft>
              <a:buClr>
                <a:schemeClr val="accent1"/>
              </a:buClr>
              <a:buSzPts val="1800"/>
              <a:buFont typeface="Arial"/>
              <a:buChar char="​"/>
              <a:defRPr b="0" i="0" sz="1800" u="none" cap="none" strike="noStrike">
                <a:solidFill>
                  <a:schemeClr val="accent1"/>
                </a:solidFill>
                <a:latin typeface="Century Gothic"/>
                <a:ea typeface="Century Gothic"/>
                <a:cs typeface="Century Gothic"/>
                <a:sym typeface="Century Gothic"/>
              </a:defRPr>
            </a:lvl5pPr>
            <a:lvl6pPr lvl="5" marR="0" rtl="0" algn="l">
              <a:lnSpc>
                <a:spcPct val="95000"/>
              </a:lnSpc>
              <a:spcBef>
                <a:spcPts val="600"/>
              </a:spcBef>
              <a:spcAft>
                <a:spcPts val="0"/>
              </a:spcAft>
              <a:buClr>
                <a:schemeClr val="accent2"/>
              </a:buClr>
              <a:buSzPts val="1800"/>
              <a:buFont typeface="Arial"/>
              <a:buChar char="​"/>
              <a:defRPr b="0" i="0" sz="1800" u="none" cap="none" strike="noStrike">
                <a:solidFill>
                  <a:schemeClr val="accent2"/>
                </a:solidFill>
                <a:latin typeface="Century Gothic"/>
                <a:ea typeface="Century Gothic"/>
                <a:cs typeface="Century Gothic"/>
                <a:sym typeface="Century Gothic"/>
              </a:defRPr>
            </a:lvl6pPr>
            <a:lvl7pPr lvl="6" marR="0" rtl="0" algn="l">
              <a:lnSpc>
                <a:spcPct val="95000"/>
              </a:lnSpc>
              <a:spcBef>
                <a:spcPts val="1000"/>
              </a:spcBef>
              <a:spcAft>
                <a:spcPts val="0"/>
              </a:spcAft>
              <a:buClr>
                <a:schemeClr val="dk1"/>
              </a:buClr>
              <a:buSzPts val="1800"/>
              <a:buFont typeface="Arial"/>
              <a:buChar char="​"/>
              <a:defRPr b="1" i="0" sz="1800" u="none" cap="none" strike="noStrike">
                <a:solidFill>
                  <a:schemeClr val="dk1"/>
                </a:solidFill>
                <a:latin typeface="Century Gothic"/>
                <a:ea typeface="Century Gothic"/>
                <a:cs typeface="Century Gothic"/>
                <a:sym typeface="Century Gothic"/>
              </a:defRPr>
            </a:lvl7pPr>
            <a:lvl8pPr lvl="7" marR="0" rtl="0" algn="l">
              <a:lnSpc>
                <a:spcPct val="95000"/>
              </a:lnSpc>
              <a:spcBef>
                <a:spcPts val="200"/>
              </a:spcBef>
              <a:spcAft>
                <a:spcPts val="0"/>
              </a:spcAft>
              <a:buClr>
                <a:schemeClr val="dk1"/>
              </a:buClr>
              <a:buSzPts val="1800"/>
              <a:buFont typeface="Century Gothic"/>
              <a:buAutoNum type="arabicPeriod"/>
              <a:defRPr b="0" i="0" sz="1800" u="none" cap="none" strike="noStrike">
                <a:solidFill>
                  <a:schemeClr val="dk1"/>
                </a:solidFill>
                <a:latin typeface="Century Gothic"/>
                <a:ea typeface="Century Gothic"/>
                <a:cs typeface="Century Gothic"/>
                <a:sym typeface="Century Gothic"/>
              </a:defRPr>
            </a:lvl8pPr>
            <a:lvl9pPr lvl="8" marR="0" rtl="0" algn="l">
              <a:lnSpc>
                <a:spcPct val="95000"/>
              </a:lnSpc>
              <a:spcBef>
                <a:spcPts val="400"/>
              </a:spcBef>
              <a:spcAft>
                <a:spcPts val="400"/>
              </a:spcAft>
              <a:buClr>
                <a:schemeClr val="accent6"/>
              </a:buClr>
              <a:buSzPts val="900"/>
              <a:buFont typeface="Arial"/>
              <a:buChar char="​"/>
              <a:defRPr b="0" i="0" sz="900" u="none" cap="none" strike="noStrike">
                <a:solidFill>
                  <a:schemeClr val="accent6"/>
                </a:solidFill>
                <a:latin typeface="Century Gothic"/>
                <a:ea typeface="Century Gothic"/>
                <a:cs typeface="Century Gothic"/>
                <a:sym typeface="Century Gothic"/>
              </a:defRPr>
            </a:lvl9pPr>
          </a:lstStyle>
          <a:p/>
        </p:txBody>
      </p:sp>
    </p:spTree>
  </p:cSld>
  <p:clrMapOvr>
    <a:masterClrMapping/>
  </p:clrMapOvr>
  <p:transition spd="med">
    <p:fade/>
  </p:transition>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spTree>
      <p:nvGrpSpPr>
        <p:cNvPr id="97" name="Shape 97"/>
        <p:cNvGrpSpPr/>
        <p:nvPr/>
      </p:nvGrpSpPr>
      <p:grpSpPr>
        <a:xfrm>
          <a:off x="0" y="0"/>
          <a:ext cx="0" cy="0"/>
          <a:chOff x="0" y="0"/>
          <a:chExt cx="0" cy="0"/>
        </a:xfrm>
      </p:grpSpPr>
      <p:sp>
        <p:nvSpPr>
          <p:cNvPr id="98" name="Google Shape;98;p21"/>
          <p:cNvSpPr txBox="1"/>
          <p:nvPr>
            <p:ph idx="1" type="body"/>
          </p:nvPr>
        </p:nvSpPr>
        <p:spPr>
          <a:xfrm>
            <a:off x="4800600" y="1216188"/>
            <a:ext cx="3886200" cy="3343998"/>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lvl1pPr>
            <a:lvl2pPr indent="-330200" lvl="1" marL="914400" algn="l">
              <a:lnSpc>
                <a:spcPct val="85000"/>
              </a:lnSpc>
              <a:spcBef>
                <a:spcPts val="200"/>
              </a:spcBef>
              <a:spcAft>
                <a:spcPts val="0"/>
              </a:spcAft>
              <a:buClr>
                <a:schemeClr val="dk1"/>
              </a:buClr>
              <a:buSzPts val="1600"/>
              <a:buChar char="–"/>
              <a:defRPr sz="1600"/>
            </a:lvl2pPr>
            <a:lvl3pPr indent="-317500" lvl="2" marL="1371600" algn="l">
              <a:lnSpc>
                <a:spcPct val="85000"/>
              </a:lnSpc>
              <a:spcBef>
                <a:spcPts val="200"/>
              </a:spcBef>
              <a:spcAft>
                <a:spcPts val="0"/>
              </a:spcAft>
              <a:buClr>
                <a:schemeClr val="dk1"/>
              </a:buClr>
              <a:buSzPts val="1400"/>
              <a:buChar char="-"/>
              <a:defRPr sz="14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99" name="Google Shape;99;p21"/>
          <p:cNvSpPr txBox="1"/>
          <p:nvPr>
            <p:ph idx="2" type="body"/>
          </p:nvPr>
        </p:nvSpPr>
        <p:spPr>
          <a:xfrm>
            <a:off x="457200" y="1216152"/>
            <a:ext cx="3886200" cy="3344436"/>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lvl1pPr>
            <a:lvl2pPr indent="-330200" lvl="1" marL="914400" algn="l">
              <a:lnSpc>
                <a:spcPct val="85000"/>
              </a:lnSpc>
              <a:spcBef>
                <a:spcPts val="200"/>
              </a:spcBef>
              <a:spcAft>
                <a:spcPts val="0"/>
              </a:spcAft>
              <a:buClr>
                <a:schemeClr val="dk1"/>
              </a:buClr>
              <a:buSzPts val="1600"/>
              <a:buChar char="–"/>
              <a:defRPr sz="1600"/>
            </a:lvl2pPr>
            <a:lvl3pPr indent="-317500" lvl="2" marL="1371600" algn="l">
              <a:lnSpc>
                <a:spcPct val="85000"/>
              </a:lnSpc>
              <a:spcBef>
                <a:spcPts val="200"/>
              </a:spcBef>
              <a:spcAft>
                <a:spcPts val="0"/>
              </a:spcAft>
              <a:buClr>
                <a:schemeClr val="dk1"/>
              </a:buClr>
              <a:buSzPts val="1400"/>
              <a:buChar char="-"/>
              <a:defRPr sz="14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00" name="Google Shape;100;p21"/>
          <p:cNvSpPr txBox="1"/>
          <p:nvPr>
            <p:ph idx="3"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01" name="Google Shape;101;p21"/>
          <p:cNvSpPr txBox="1"/>
          <p:nvPr>
            <p:ph type="title"/>
          </p:nvPr>
        </p:nvSpPr>
        <p:spPr>
          <a:xfrm>
            <a:off x="457200" y="173735"/>
            <a:ext cx="8229600" cy="700031"/>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spd="med">
    <p:fade/>
  </p:transition>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ntent">
  <p:cSld name="Title and Three Content">
    <p:spTree>
      <p:nvGrpSpPr>
        <p:cNvPr id="102" name="Shape 102"/>
        <p:cNvGrpSpPr/>
        <p:nvPr/>
      </p:nvGrpSpPr>
      <p:grpSpPr>
        <a:xfrm>
          <a:off x="0" y="0"/>
          <a:ext cx="0" cy="0"/>
          <a:chOff x="0" y="0"/>
          <a:chExt cx="0" cy="0"/>
        </a:xfrm>
      </p:grpSpPr>
      <p:sp>
        <p:nvSpPr>
          <p:cNvPr id="103" name="Google Shape;103;p22"/>
          <p:cNvSpPr txBox="1"/>
          <p:nvPr>
            <p:ph idx="1" type="body"/>
          </p:nvPr>
        </p:nvSpPr>
        <p:spPr>
          <a:xfrm>
            <a:off x="457200" y="1216152"/>
            <a:ext cx="2438400" cy="3344034"/>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lvl1pPr>
            <a:lvl2pPr indent="-330200" lvl="1" marL="914400" algn="l">
              <a:lnSpc>
                <a:spcPct val="85000"/>
              </a:lnSpc>
              <a:spcBef>
                <a:spcPts val="200"/>
              </a:spcBef>
              <a:spcAft>
                <a:spcPts val="0"/>
              </a:spcAft>
              <a:buClr>
                <a:schemeClr val="dk1"/>
              </a:buClr>
              <a:buSzPts val="1600"/>
              <a:buChar char="–"/>
              <a:defRPr sz="1600"/>
            </a:lvl2pPr>
            <a:lvl3pPr indent="-317500" lvl="2" marL="1371600" algn="l">
              <a:lnSpc>
                <a:spcPct val="85000"/>
              </a:lnSpc>
              <a:spcBef>
                <a:spcPts val="200"/>
              </a:spcBef>
              <a:spcAft>
                <a:spcPts val="0"/>
              </a:spcAft>
              <a:buClr>
                <a:schemeClr val="dk1"/>
              </a:buClr>
              <a:buSzPts val="1400"/>
              <a:buChar char="-"/>
              <a:defRPr sz="14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04" name="Google Shape;104;p22"/>
          <p:cNvSpPr txBox="1"/>
          <p:nvPr>
            <p:ph idx="2" type="body"/>
          </p:nvPr>
        </p:nvSpPr>
        <p:spPr>
          <a:xfrm>
            <a:off x="3352800" y="1216152"/>
            <a:ext cx="2438400" cy="3344034"/>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lvl1pPr>
            <a:lvl2pPr indent="-330200" lvl="1" marL="914400" algn="l">
              <a:lnSpc>
                <a:spcPct val="85000"/>
              </a:lnSpc>
              <a:spcBef>
                <a:spcPts val="200"/>
              </a:spcBef>
              <a:spcAft>
                <a:spcPts val="0"/>
              </a:spcAft>
              <a:buClr>
                <a:schemeClr val="dk1"/>
              </a:buClr>
              <a:buSzPts val="1600"/>
              <a:buChar char="–"/>
              <a:defRPr sz="1600"/>
            </a:lvl2pPr>
            <a:lvl3pPr indent="-317500" lvl="2" marL="1371600" algn="l">
              <a:lnSpc>
                <a:spcPct val="85000"/>
              </a:lnSpc>
              <a:spcBef>
                <a:spcPts val="200"/>
              </a:spcBef>
              <a:spcAft>
                <a:spcPts val="0"/>
              </a:spcAft>
              <a:buClr>
                <a:schemeClr val="dk1"/>
              </a:buClr>
              <a:buSzPts val="1400"/>
              <a:buChar char="-"/>
              <a:defRPr sz="14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05" name="Google Shape;105;p22"/>
          <p:cNvSpPr txBox="1"/>
          <p:nvPr>
            <p:ph idx="3" type="body"/>
          </p:nvPr>
        </p:nvSpPr>
        <p:spPr>
          <a:xfrm>
            <a:off x="6248400" y="1216152"/>
            <a:ext cx="2438400" cy="3344034"/>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lvl1pPr>
            <a:lvl2pPr indent="-330200" lvl="1" marL="914400" algn="l">
              <a:lnSpc>
                <a:spcPct val="85000"/>
              </a:lnSpc>
              <a:spcBef>
                <a:spcPts val="200"/>
              </a:spcBef>
              <a:spcAft>
                <a:spcPts val="0"/>
              </a:spcAft>
              <a:buClr>
                <a:schemeClr val="dk1"/>
              </a:buClr>
              <a:buSzPts val="1600"/>
              <a:buChar char="–"/>
              <a:defRPr sz="1600"/>
            </a:lvl2pPr>
            <a:lvl3pPr indent="-317500" lvl="2" marL="1371600" algn="l">
              <a:lnSpc>
                <a:spcPct val="85000"/>
              </a:lnSpc>
              <a:spcBef>
                <a:spcPts val="200"/>
              </a:spcBef>
              <a:spcAft>
                <a:spcPts val="0"/>
              </a:spcAft>
              <a:buClr>
                <a:schemeClr val="dk1"/>
              </a:buClr>
              <a:buSzPts val="1400"/>
              <a:buChar char="-"/>
              <a:defRPr sz="14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06" name="Google Shape;106;p22"/>
          <p:cNvSpPr txBox="1"/>
          <p:nvPr>
            <p:ph idx="4"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07" name="Google Shape;107;p22"/>
          <p:cNvSpPr txBox="1"/>
          <p:nvPr>
            <p:ph type="title"/>
          </p:nvPr>
        </p:nvSpPr>
        <p:spPr>
          <a:xfrm>
            <a:off x="457200" y="173736"/>
            <a:ext cx="8229600" cy="704088"/>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spd="med">
    <p:fade/>
  </p:transition>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Left Weighted">
  <p:cSld name="Title and Two Left Weighted">
    <p:spTree>
      <p:nvGrpSpPr>
        <p:cNvPr id="108" name="Shape 108"/>
        <p:cNvGrpSpPr/>
        <p:nvPr/>
      </p:nvGrpSpPr>
      <p:grpSpPr>
        <a:xfrm>
          <a:off x="0" y="0"/>
          <a:ext cx="0" cy="0"/>
          <a:chOff x="0" y="0"/>
          <a:chExt cx="0" cy="0"/>
        </a:xfrm>
      </p:grpSpPr>
      <p:sp>
        <p:nvSpPr>
          <p:cNvPr id="109" name="Google Shape;109;p23"/>
          <p:cNvSpPr/>
          <p:nvPr>
            <p:ph idx="2" type="pic"/>
          </p:nvPr>
        </p:nvSpPr>
        <p:spPr>
          <a:xfrm>
            <a:off x="6258796" y="1216152"/>
            <a:ext cx="2438400" cy="3068356"/>
          </a:xfrm>
          <a:prstGeom prst="rect">
            <a:avLst/>
          </a:prstGeom>
          <a:noFill/>
          <a:ln>
            <a:noFill/>
          </a:ln>
        </p:spPr>
        <p:txBody>
          <a:bodyPr anchorCtr="0" anchor="t" bIns="0" lIns="0" spcFirstLastPara="1" rIns="0" wrap="square" tIns="0">
            <a:noAutofit/>
          </a:bodyPr>
          <a:lstStyle>
            <a:lvl1pPr lvl="0"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1pPr>
            <a:lvl2pPr lvl="1" marR="0" rtl="0" algn="l">
              <a:lnSpc>
                <a:spcPct val="85000"/>
              </a:lnSpc>
              <a:spcBef>
                <a:spcPts val="200"/>
              </a:spcBef>
              <a:spcAft>
                <a:spcPts val="0"/>
              </a:spcAft>
              <a:buClr>
                <a:schemeClr val="dk1"/>
              </a:buClr>
              <a:buSzPts val="1600"/>
              <a:buFont typeface="Arial"/>
              <a:buChar char="–"/>
              <a:defRPr b="0" i="0" sz="1600" u="none" cap="none" strike="noStrike">
                <a:solidFill>
                  <a:schemeClr val="dk1"/>
                </a:solidFill>
                <a:latin typeface="Century Gothic"/>
                <a:ea typeface="Century Gothic"/>
                <a:cs typeface="Century Gothic"/>
                <a:sym typeface="Century Gothic"/>
              </a:defRPr>
            </a:lvl2pPr>
            <a:lvl3pPr lvl="2" marR="0" rtl="0" algn="l">
              <a:lnSpc>
                <a:spcPct val="85000"/>
              </a:lnSpc>
              <a:spcBef>
                <a:spcPts val="200"/>
              </a:spcBef>
              <a:spcAft>
                <a:spcPts val="0"/>
              </a:spcAft>
              <a:buClr>
                <a:schemeClr val="dk1"/>
              </a:buClr>
              <a:buSzPts val="1400"/>
              <a:buFont typeface="Arial"/>
              <a:buChar char="-"/>
              <a:defRPr b="0" i="0" sz="1400" u="none" cap="none" strike="noStrike">
                <a:solidFill>
                  <a:schemeClr val="dk1"/>
                </a:solidFill>
                <a:latin typeface="Century Gothic"/>
                <a:ea typeface="Century Gothic"/>
                <a:cs typeface="Century Gothic"/>
                <a:sym typeface="Century Gothic"/>
              </a:defRPr>
            </a:lvl3pPr>
            <a:lvl4pPr lvl="3"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4pPr>
            <a:lvl5pPr lvl="4" marR="0" rtl="0" algn="l">
              <a:lnSpc>
                <a:spcPct val="95000"/>
              </a:lnSpc>
              <a:spcBef>
                <a:spcPts val="600"/>
              </a:spcBef>
              <a:spcAft>
                <a:spcPts val="0"/>
              </a:spcAft>
              <a:buClr>
                <a:schemeClr val="accent1"/>
              </a:buClr>
              <a:buSzPts val="1800"/>
              <a:buFont typeface="Arial"/>
              <a:buChar char="​"/>
              <a:defRPr b="0" i="0" sz="1800" u="none" cap="none" strike="noStrike">
                <a:solidFill>
                  <a:schemeClr val="accent1"/>
                </a:solidFill>
                <a:latin typeface="Century Gothic"/>
                <a:ea typeface="Century Gothic"/>
                <a:cs typeface="Century Gothic"/>
                <a:sym typeface="Century Gothic"/>
              </a:defRPr>
            </a:lvl5pPr>
            <a:lvl6pPr lvl="5" marR="0" rtl="0" algn="l">
              <a:lnSpc>
                <a:spcPct val="95000"/>
              </a:lnSpc>
              <a:spcBef>
                <a:spcPts val="600"/>
              </a:spcBef>
              <a:spcAft>
                <a:spcPts val="0"/>
              </a:spcAft>
              <a:buClr>
                <a:schemeClr val="accent2"/>
              </a:buClr>
              <a:buSzPts val="1800"/>
              <a:buFont typeface="Arial"/>
              <a:buChar char="​"/>
              <a:defRPr b="0" i="0" sz="1800" u="none" cap="none" strike="noStrike">
                <a:solidFill>
                  <a:schemeClr val="accent2"/>
                </a:solidFill>
                <a:latin typeface="Century Gothic"/>
                <a:ea typeface="Century Gothic"/>
                <a:cs typeface="Century Gothic"/>
                <a:sym typeface="Century Gothic"/>
              </a:defRPr>
            </a:lvl6pPr>
            <a:lvl7pPr lvl="6" marR="0" rtl="0" algn="l">
              <a:lnSpc>
                <a:spcPct val="95000"/>
              </a:lnSpc>
              <a:spcBef>
                <a:spcPts val="1000"/>
              </a:spcBef>
              <a:spcAft>
                <a:spcPts val="0"/>
              </a:spcAft>
              <a:buClr>
                <a:schemeClr val="dk1"/>
              </a:buClr>
              <a:buSzPts val="1800"/>
              <a:buFont typeface="Arial"/>
              <a:buChar char="​"/>
              <a:defRPr b="1" i="0" sz="1800" u="none" cap="none" strike="noStrike">
                <a:solidFill>
                  <a:schemeClr val="dk1"/>
                </a:solidFill>
                <a:latin typeface="Century Gothic"/>
                <a:ea typeface="Century Gothic"/>
                <a:cs typeface="Century Gothic"/>
                <a:sym typeface="Century Gothic"/>
              </a:defRPr>
            </a:lvl7pPr>
            <a:lvl8pPr lvl="7" marR="0" rtl="0" algn="l">
              <a:lnSpc>
                <a:spcPct val="95000"/>
              </a:lnSpc>
              <a:spcBef>
                <a:spcPts val="200"/>
              </a:spcBef>
              <a:spcAft>
                <a:spcPts val="0"/>
              </a:spcAft>
              <a:buClr>
                <a:schemeClr val="dk1"/>
              </a:buClr>
              <a:buSzPts val="1800"/>
              <a:buFont typeface="Century Gothic"/>
              <a:buAutoNum type="arabicPeriod"/>
              <a:defRPr b="0" i="0" sz="1800" u="none" cap="none" strike="noStrike">
                <a:solidFill>
                  <a:schemeClr val="dk1"/>
                </a:solidFill>
                <a:latin typeface="Century Gothic"/>
                <a:ea typeface="Century Gothic"/>
                <a:cs typeface="Century Gothic"/>
                <a:sym typeface="Century Gothic"/>
              </a:defRPr>
            </a:lvl8pPr>
            <a:lvl9pPr lvl="8" marR="0" rtl="0" algn="l">
              <a:lnSpc>
                <a:spcPct val="95000"/>
              </a:lnSpc>
              <a:spcBef>
                <a:spcPts val="400"/>
              </a:spcBef>
              <a:spcAft>
                <a:spcPts val="400"/>
              </a:spcAft>
              <a:buClr>
                <a:schemeClr val="accent6"/>
              </a:buClr>
              <a:buSzPts val="900"/>
              <a:buFont typeface="Arial"/>
              <a:buChar char="​"/>
              <a:defRPr b="0" i="0" sz="900" u="none" cap="none" strike="noStrike">
                <a:solidFill>
                  <a:schemeClr val="accent6"/>
                </a:solidFill>
                <a:latin typeface="Century Gothic"/>
                <a:ea typeface="Century Gothic"/>
                <a:cs typeface="Century Gothic"/>
                <a:sym typeface="Century Gothic"/>
              </a:defRPr>
            </a:lvl9pPr>
          </a:lstStyle>
          <a:p/>
        </p:txBody>
      </p:sp>
      <p:sp>
        <p:nvSpPr>
          <p:cNvPr id="110" name="Google Shape;110;p23"/>
          <p:cNvSpPr txBox="1"/>
          <p:nvPr>
            <p:ph idx="1" type="body"/>
          </p:nvPr>
        </p:nvSpPr>
        <p:spPr>
          <a:xfrm>
            <a:off x="457200" y="1216152"/>
            <a:ext cx="5334000" cy="3344035"/>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lvl1pPr>
            <a:lvl2pPr indent="-330200" lvl="1" marL="914400" algn="l">
              <a:lnSpc>
                <a:spcPct val="85000"/>
              </a:lnSpc>
              <a:spcBef>
                <a:spcPts val="200"/>
              </a:spcBef>
              <a:spcAft>
                <a:spcPts val="0"/>
              </a:spcAft>
              <a:buClr>
                <a:schemeClr val="dk1"/>
              </a:buClr>
              <a:buSzPts val="1600"/>
              <a:buChar char="–"/>
              <a:defRPr sz="1600"/>
            </a:lvl2pPr>
            <a:lvl3pPr indent="-317500" lvl="2" marL="1371600" algn="l">
              <a:lnSpc>
                <a:spcPct val="85000"/>
              </a:lnSpc>
              <a:spcBef>
                <a:spcPts val="200"/>
              </a:spcBef>
              <a:spcAft>
                <a:spcPts val="0"/>
              </a:spcAft>
              <a:buClr>
                <a:schemeClr val="dk1"/>
              </a:buClr>
              <a:buSzPts val="1400"/>
              <a:buChar char="-"/>
              <a:defRPr sz="14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11" name="Google Shape;111;p23"/>
          <p:cNvSpPr txBox="1"/>
          <p:nvPr>
            <p:ph idx="3"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12" name="Google Shape;112;p23"/>
          <p:cNvSpPr txBox="1"/>
          <p:nvPr>
            <p:ph type="title"/>
          </p:nvPr>
        </p:nvSpPr>
        <p:spPr>
          <a:xfrm>
            <a:off x="457200" y="173736"/>
            <a:ext cx="8229600" cy="704088"/>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spd="med">
    <p:fade/>
  </p:transition>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Right Weighted">
  <p:cSld name="Title and Two Right Weighted">
    <p:spTree>
      <p:nvGrpSpPr>
        <p:cNvPr id="113" name="Shape 113"/>
        <p:cNvGrpSpPr/>
        <p:nvPr/>
      </p:nvGrpSpPr>
      <p:grpSpPr>
        <a:xfrm>
          <a:off x="0" y="0"/>
          <a:ext cx="0" cy="0"/>
          <a:chOff x="0" y="0"/>
          <a:chExt cx="0" cy="0"/>
        </a:xfrm>
      </p:grpSpPr>
      <p:sp>
        <p:nvSpPr>
          <p:cNvPr id="114" name="Google Shape;114;p24"/>
          <p:cNvSpPr/>
          <p:nvPr>
            <p:ph idx="2" type="pic"/>
          </p:nvPr>
        </p:nvSpPr>
        <p:spPr>
          <a:xfrm>
            <a:off x="457200" y="1216152"/>
            <a:ext cx="2438400" cy="3070129"/>
          </a:xfrm>
          <a:prstGeom prst="rect">
            <a:avLst/>
          </a:prstGeom>
          <a:noFill/>
          <a:ln>
            <a:noFill/>
          </a:ln>
        </p:spPr>
        <p:txBody>
          <a:bodyPr anchorCtr="0" anchor="t" bIns="0" lIns="0" spcFirstLastPara="1" rIns="0" wrap="square" tIns="0">
            <a:noAutofit/>
          </a:bodyPr>
          <a:lstStyle>
            <a:lvl1pPr lvl="0"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1pPr>
            <a:lvl2pPr lvl="1" marR="0" rtl="0" algn="l">
              <a:lnSpc>
                <a:spcPct val="85000"/>
              </a:lnSpc>
              <a:spcBef>
                <a:spcPts val="200"/>
              </a:spcBef>
              <a:spcAft>
                <a:spcPts val="0"/>
              </a:spcAft>
              <a:buClr>
                <a:schemeClr val="dk1"/>
              </a:buClr>
              <a:buSzPts val="1600"/>
              <a:buFont typeface="Arial"/>
              <a:buChar char="–"/>
              <a:defRPr b="0" i="0" sz="1600" u="none" cap="none" strike="noStrike">
                <a:solidFill>
                  <a:schemeClr val="dk1"/>
                </a:solidFill>
                <a:latin typeface="Century Gothic"/>
                <a:ea typeface="Century Gothic"/>
                <a:cs typeface="Century Gothic"/>
                <a:sym typeface="Century Gothic"/>
              </a:defRPr>
            </a:lvl2pPr>
            <a:lvl3pPr lvl="2" marR="0" rtl="0" algn="l">
              <a:lnSpc>
                <a:spcPct val="85000"/>
              </a:lnSpc>
              <a:spcBef>
                <a:spcPts val="200"/>
              </a:spcBef>
              <a:spcAft>
                <a:spcPts val="0"/>
              </a:spcAft>
              <a:buClr>
                <a:schemeClr val="dk1"/>
              </a:buClr>
              <a:buSzPts val="1400"/>
              <a:buFont typeface="Arial"/>
              <a:buChar char="-"/>
              <a:defRPr b="0" i="0" sz="1400" u="none" cap="none" strike="noStrike">
                <a:solidFill>
                  <a:schemeClr val="dk1"/>
                </a:solidFill>
                <a:latin typeface="Century Gothic"/>
                <a:ea typeface="Century Gothic"/>
                <a:cs typeface="Century Gothic"/>
                <a:sym typeface="Century Gothic"/>
              </a:defRPr>
            </a:lvl3pPr>
            <a:lvl4pPr lvl="3"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4pPr>
            <a:lvl5pPr lvl="4" marR="0" rtl="0" algn="l">
              <a:lnSpc>
                <a:spcPct val="95000"/>
              </a:lnSpc>
              <a:spcBef>
                <a:spcPts val="600"/>
              </a:spcBef>
              <a:spcAft>
                <a:spcPts val="0"/>
              </a:spcAft>
              <a:buClr>
                <a:schemeClr val="accent1"/>
              </a:buClr>
              <a:buSzPts val="1800"/>
              <a:buFont typeface="Arial"/>
              <a:buChar char="​"/>
              <a:defRPr b="0" i="0" sz="1800" u="none" cap="none" strike="noStrike">
                <a:solidFill>
                  <a:schemeClr val="accent1"/>
                </a:solidFill>
                <a:latin typeface="Century Gothic"/>
                <a:ea typeface="Century Gothic"/>
                <a:cs typeface="Century Gothic"/>
                <a:sym typeface="Century Gothic"/>
              </a:defRPr>
            </a:lvl5pPr>
            <a:lvl6pPr lvl="5" marR="0" rtl="0" algn="l">
              <a:lnSpc>
                <a:spcPct val="95000"/>
              </a:lnSpc>
              <a:spcBef>
                <a:spcPts val="600"/>
              </a:spcBef>
              <a:spcAft>
                <a:spcPts val="0"/>
              </a:spcAft>
              <a:buClr>
                <a:schemeClr val="accent2"/>
              </a:buClr>
              <a:buSzPts val="1800"/>
              <a:buFont typeface="Arial"/>
              <a:buChar char="​"/>
              <a:defRPr b="0" i="0" sz="1800" u="none" cap="none" strike="noStrike">
                <a:solidFill>
                  <a:schemeClr val="accent2"/>
                </a:solidFill>
                <a:latin typeface="Century Gothic"/>
                <a:ea typeface="Century Gothic"/>
                <a:cs typeface="Century Gothic"/>
                <a:sym typeface="Century Gothic"/>
              </a:defRPr>
            </a:lvl6pPr>
            <a:lvl7pPr lvl="6" marR="0" rtl="0" algn="l">
              <a:lnSpc>
                <a:spcPct val="95000"/>
              </a:lnSpc>
              <a:spcBef>
                <a:spcPts val="1000"/>
              </a:spcBef>
              <a:spcAft>
                <a:spcPts val="0"/>
              </a:spcAft>
              <a:buClr>
                <a:schemeClr val="dk1"/>
              </a:buClr>
              <a:buSzPts val="1800"/>
              <a:buFont typeface="Arial"/>
              <a:buChar char="​"/>
              <a:defRPr b="1" i="0" sz="1800" u="none" cap="none" strike="noStrike">
                <a:solidFill>
                  <a:schemeClr val="dk1"/>
                </a:solidFill>
                <a:latin typeface="Century Gothic"/>
                <a:ea typeface="Century Gothic"/>
                <a:cs typeface="Century Gothic"/>
                <a:sym typeface="Century Gothic"/>
              </a:defRPr>
            </a:lvl7pPr>
            <a:lvl8pPr lvl="7" marR="0" rtl="0" algn="l">
              <a:lnSpc>
                <a:spcPct val="95000"/>
              </a:lnSpc>
              <a:spcBef>
                <a:spcPts val="200"/>
              </a:spcBef>
              <a:spcAft>
                <a:spcPts val="0"/>
              </a:spcAft>
              <a:buClr>
                <a:schemeClr val="dk1"/>
              </a:buClr>
              <a:buSzPts val="1800"/>
              <a:buFont typeface="Century Gothic"/>
              <a:buAutoNum type="arabicPeriod"/>
              <a:defRPr b="0" i="0" sz="1800" u="none" cap="none" strike="noStrike">
                <a:solidFill>
                  <a:schemeClr val="dk1"/>
                </a:solidFill>
                <a:latin typeface="Century Gothic"/>
                <a:ea typeface="Century Gothic"/>
                <a:cs typeface="Century Gothic"/>
                <a:sym typeface="Century Gothic"/>
              </a:defRPr>
            </a:lvl8pPr>
            <a:lvl9pPr lvl="8" marR="0" rtl="0" algn="l">
              <a:lnSpc>
                <a:spcPct val="95000"/>
              </a:lnSpc>
              <a:spcBef>
                <a:spcPts val="400"/>
              </a:spcBef>
              <a:spcAft>
                <a:spcPts val="400"/>
              </a:spcAft>
              <a:buClr>
                <a:schemeClr val="accent6"/>
              </a:buClr>
              <a:buSzPts val="900"/>
              <a:buFont typeface="Arial"/>
              <a:buChar char="​"/>
              <a:defRPr b="0" i="0" sz="900" u="none" cap="none" strike="noStrike">
                <a:solidFill>
                  <a:schemeClr val="accent6"/>
                </a:solidFill>
                <a:latin typeface="Century Gothic"/>
                <a:ea typeface="Century Gothic"/>
                <a:cs typeface="Century Gothic"/>
                <a:sym typeface="Century Gothic"/>
              </a:defRPr>
            </a:lvl9pPr>
          </a:lstStyle>
          <a:p/>
        </p:txBody>
      </p:sp>
      <p:sp>
        <p:nvSpPr>
          <p:cNvPr id="115" name="Google Shape;115;p24"/>
          <p:cNvSpPr txBox="1"/>
          <p:nvPr>
            <p:ph idx="1" type="body"/>
          </p:nvPr>
        </p:nvSpPr>
        <p:spPr>
          <a:xfrm>
            <a:off x="3352800" y="1216152"/>
            <a:ext cx="5334000" cy="3344034"/>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lvl1pPr>
            <a:lvl2pPr indent="-330200" lvl="1" marL="914400" algn="l">
              <a:lnSpc>
                <a:spcPct val="85000"/>
              </a:lnSpc>
              <a:spcBef>
                <a:spcPts val="200"/>
              </a:spcBef>
              <a:spcAft>
                <a:spcPts val="0"/>
              </a:spcAft>
              <a:buClr>
                <a:schemeClr val="dk1"/>
              </a:buClr>
              <a:buSzPts val="1600"/>
              <a:buChar char="–"/>
              <a:defRPr sz="1600"/>
            </a:lvl2pPr>
            <a:lvl3pPr indent="-317500" lvl="2" marL="1371600" algn="l">
              <a:lnSpc>
                <a:spcPct val="85000"/>
              </a:lnSpc>
              <a:spcBef>
                <a:spcPts val="200"/>
              </a:spcBef>
              <a:spcAft>
                <a:spcPts val="0"/>
              </a:spcAft>
              <a:buClr>
                <a:schemeClr val="dk1"/>
              </a:buClr>
              <a:buSzPts val="1400"/>
              <a:buChar char="-"/>
              <a:defRPr sz="14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16" name="Google Shape;116;p24"/>
          <p:cNvSpPr txBox="1"/>
          <p:nvPr>
            <p:ph idx="3"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17" name="Google Shape;117;p24"/>
          <p:cNvSpPr txBox="1"/>
          <p:nvPr>
            <p:ph type="title"/>
          </p:nvPr>
        </p:nvSpPr>
        <p:spPr>
          <a:xfrm>
            <a:off x="457200" y="173736"/>
            <a:ext cx="8229600" cy="704088"/>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spd="med">
    <p:fade/>
  </p:transition>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Only">
  <p:cSld name="Title and Subtitle Only">
    <p:spTree>
      <p:nvGrpSpPr>
        <p:cNvPr id="118" name="Shape 118"/>
        <p:cNvGrpSpPr/>
        <p:nvPr/>
      </p:nvGrpSpPr>
      <p:grpSpPr>
        <a:xfrm>
          <a:off x="0" y="0"/>
          <a:ext cx="0" cy="0"/>
          <a:chOff x="0" y="0"/>
          <a:chExt cx="0" cy="0"/>
        </a:xfrm>
      </p:grpSpPr>
      <p:sp>
        <p:nvSpPr>
          <p:cNvPr id="119" name="Google Shape;119;p25"/>
          <p:cNvSpPr txBox="1"/>
          <p:nvPr>
            <p:ph idx="1"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20" name="Google Shape;120;p25"/>
          <p:cNvSpPr txBox="1"/>
          <p:nvPr>
            <p:ph type="title"/>
          </p:nvPr>
        </p:nvSpPr>
        <p:spPr>
          <a:xfrm>
            <a:off x="457200" y="173736"/>
            <a:ext cx="8229600" cy="413639"/>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spd="med">
    <p:fade/>
  </p:transition>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21" name="Shape 121"/>
        <p:cNvGrpSpPr/>
        <p:nvPr/>
      </p:nvGrpSpPr>
      <p:grpSpPr>
        <a:xfrm>
          <a:off x="0" y="0"/>
          <a:ext cx="0" cy="0"/>
          <a:chOff x="0" y="0"/>
          <a:chExt cx="0" cy="0"/>
        </a:xfrm>
      </p:grpSpPr>
      <p:sp>
        <p:nvSpPr>
          <p:cNvPr id="122" name="Google Shape;122;p26"/>
          <p:cNvSpPr txBox="1"/>
          <p:nvPr>
            <p:ph idx="1"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se Study">
  <p:cSld name="Case Study">
    <p:spTree>
      <p:nvGrpSpPr>
        <p:cNvPr id="123" name="Shape 123"/>
        <p:cNvGrpSpPr/>
        <p:nvPr/>
      </p:nvGrpSpPr>
      <p:grpSpPr>
        <a:xfrm>
          <a:off x="0" y="0"/>
          <a:ext cx="0" cy="0"/>
          <a:chOff x="0" y="0"/>
          <a:chExt cx="0" cy="0"/>
        </a:xfrm>
      </p:grpSpPr>
      <p:sp>
        <p:nvSpPr>
          <p:cNvPr id="124" name="Google Shape;124;p27"/>
          <p:cNvSpPr txBox="1"/>
          <p:nvPr>
            <p:ph idx="1" type="body"/>
          </p:nvPr>
        </p:nvSpPr>
        <p:spPr>
          <a:xfrm>
            <a:off x="3514722" y="777240"/>
            <a:ext cx="5629278" cy="914400"/>
          </a:xfrm>
          <a:prstGeom prst="rect">
            <a:avLst/>
          </a:prstGeom>
          <a:solidFill>
            <a:srgbClr val="0079DB"/>
          </a:solidFill>
          <a:ln>
            <a:noFill/>
          </a:ln>
        </p:spPr>
        <p:txBody>
          <a:bodyPr anchorCtr="0" anchor="b" bIns="228600" lIns="228600" spcFirstLastPara="1" rIns="457200" wrap="square" tIns="137150">
            <a:noAutofit/>
          </a:bodyPr>
          <a:lstStyle>
            <a:lvl1pPr indent="-368300" lvl="0" marL="457200" algn="l">
              <a:lnSpc>
                <a:spcPct val="85000"/>
              </a:lnSpc>
              <a:spcBef>
                <a:spcPts val="200"/>
              </a:spcBef>
              <a:spcAft>
                <a:spcPts val="0"/>
              </a:spcAft>
              <a:buClr>
                <a:schemeClr val="lt1"/>
              </a:buClr>
              <a:buSzPts val="2200"/>
              <a:buFont typeface="Arial"/>
              <a:buChar char="​"/>
              <a:defRPr sz="2200">
                <a:solidFill>
                  <a:schemeClr val="lt1"/>
                </a:solidFill>
              </a:defRPr>
            </a:lvl1pPr>
            <a:lvl2pPr indent="-342900" lvl="1" marL="914400" algn="l">
              <a:lnSpc>
                <a:spcPct val="85000"/>
              </a:lnSpc>
              <a:spcBef>
                <a:spcPts val="200"/>
              </a:spcBef>
              <a:spcAft>
                <a:spcPts val="0"/>
              </a:spcAft>
              <a:buClr>
                <a:schemeClr val="lt1"/>
              </a:buClr>
              <a:buSzPts val="1800"/>
              <a:buFont typeface="Arial"/>
              <a:buChar char="​"/>
              <a:defRPr sz="1800">
                <a:solidFill>
                  <a:schemeClr val="lt1"/>
                </a:solidFill>
              </a:defRPr>
            </a:lvl2pPr>
            <a:lvl3pPr indent="-317500" lvl="2" marL="1371600" algn="l">
              <a:lnSpc>
                <a:spcPct val="85000"/>
              </a:lnSpc>
              <a:spcBef>
                <a:spcPts val="600"/>
              </a:spcBef>
              <a:spcAft>
                <a:spcPts val="0"/>
              </a:spcAft>
              <a:buClr>
                <a:schemeClr val="lt1"/>
              </a:buClr>
              <a:buSzPts val="1400"/>
              <a:buFont typeface="Arial"/>
              <a:buChar char="​"/>
              <a:defRPr b="1" sz="1400">
                <a:solidFill>
                  <a:schemeClr val="lt1"/>
                </a:solidFill>
              </a:defRPr>
            </a:lvl3pPr>
            <a:lvl4pPr indent="-317500" lvl="3" marL="1828800" algn="l">
              <a:lnSpc>
                <a:spcPct val="85000"/>
              </a:lnSpc>
              <a:spcBef>
                <a:spcPts val="200"/>
              </a:spcBef>
              <a:spcAft>
                <a:spcPts val="0"/>
              </a:spcAft>
              <a:buClr>
                <a:schemeClr val="lt1"/>
              </a:buClr>
              <a:buSzPts val="1400"/>
              <a:buFont typeface="Arial"/>
              <a:buChar char="​"/>
              <a:defRPr b="0" sz="1400">
                <a:solidFill>
                  <a:schemeClr val="lt1"/>
                </a:solidFill>
              </a:defRPr>
            </a:lvl4pPr>
            <a:lvl5pPr indent="-317500" lvl="4" marL="2286000" algn="l">
              <a:lnSpc>
                <a:spcPct val="85000"/>
              </a:lnSpc>
              <a:spcBef>
                <a:spcPts val="200"/>
              </a:spcBef>
              <a:spcAft>
                <a:spcPts val="0"/>
              </a:spcAft>
              <a:buClr>
                <a:schemeClr val="lt1"/>
              </a:buClr>
              <a:buSzPts val="1400"/>
              <a:buFont typeface="Arial"/>
              <a:buChar char="​"/>
              <a:defRPr b="0" sz="1400">
                <a:solidFill>
                  <a:schemeClr val="lt1"/>
                </a:solidFill>
              </a:defRPr>
            </a:lvl5pPr>
            <a:lvl6pPr indent="-317500" lvl="5" marL="2743200" algn="ctr">
              <a:lnSpc>
                <a:spcPct val="85000"/>
              </a:lnSpc>
              <a:spcBef>
                <a:spcPts val="200"/>
              </a:spcBef>
              <a:spcAft>
                <a:spcPts val="0"/>
              </a:spcAft>
              <a:buClr>
                <a:schemeClr val="lt1"/>
              </a:buClr>
              <a:buSzPts val="1400"/>
              <a:buFont typeface="Arial"/>
              <a:buChar char="​"/>
              <a:defRPr b="0" sz="1400">
                <a:solidFill>
                  <a:schemeClr val="lt1"/>
                </a:solidFill>
              </a:defRPr>
            </a:lvl6pPr>
            <a:lvl7pPr indent="-317500" lvl="6" marL="3200400" algn="ctr">
              <a:lnSpc>
                <a:spcPct val="85000"/>
              </a:lnSpc>
              <a:spcBef>
                <a:spcPts val="200"/>
              </a:spcBef>
              <a:spcAft>
                <a:spcPts val="0"/>
              </a:spcAft>
              <a:buClr>
                <a:schemeClr val="lt1"/>
              </a:buClr>
              <a:buSzPts val="1400"/>
              <a:buFont typeface="Arial"/>
              <a:buChar char="​"/>
              <a:defRPr b="0" sz="1400">
                <a:solidFill>
                  <a:schemeClr val="lt1"/>
                </a:solidFill>
              </a:defRPr>
            </a:lvl7pPr>
            <a:lvl8pPr indent="-317500" lvl="7" marL="3657600" algn="ctr">
              <a:lnSpc>
                <a:spcPct val="85000"/>
              </a:lnSpc>
              <a:spcBef>
                <a:spcPts val="200"/>
              </a:spcBef>
              <a:spcAft>
                <a:spcPts val="0"/>
              </a:spcAft>
              <a:buClr>
                <a:schemeClr val="lt1"/>
              </a:buClr>
              <a:buSzPts val="1400"/>
              <a:buFont typeface="Arial"/>
              <a:buChar char="​"/>
              <a:defRPr b="0" sz="1400">
                <a:solidFill>
                  <a:schemeClr val="lt1"/>
                </a:solidFill>
              </a:defRPr>
            </a:lvl8pPr>
            <a:lvl9pPr indent="-317500" lvl="8" marL="4114800" algn="ctr">
              <a:lnSpc>
                <a:spcPct val="85000"/>
              </a:lnSpc>
              <a:spcBef>
                <a:spcPts val="200"/>
              </a:spcBef>
              <a:spcAft>
                <a:spcPts val="200"/>
              </a:spcAft>
              <a:buClr>
                <a:schemeClr val="lt1"/>
              </a:buClr>
              <a:buSzPts val="1400"/>
              <a:buFont typeface="Arial"/>
              <a:buChar char="​"/>
              <a:defRPr b="0" sz="1400">
                <a:solidFill>
                  <a:schemeClr val="lt1"/>
                </a:solidFill>
              </a:defRPr>
            </a:lvl9pPr>
          </a:lstStyle>
          <a:p/>
        </p:txBody>
      </p:sp>
      <p:sp>
        <p:nvSpPr>
          <p:cNvPr id="125" name="Google Shape;125;p27"/>
          <p:cNvSpPr/>
          <p:nvPr>
            <p:ph idx="2" type="pic"/>
          </p:nvPr>
        </p:nvSpPr>
        <p:spPr>
          <a:xfrm>
            <a:off x="0" y="0"/>
            <a:ext cx="2971800" cy="5143500"/>
          </a:xfrm>
          <a:prstGeom prst="rect">
            <a:avLst/>
          </a:prstGeom>
          <a:noFill/>
          <a:ln>
            <a:noFill/>
          </a:ln>
        </p:spPr>
        <p:txBody>
          <a:bodyPr anchorCtr="0" anchor="t" bIns="0" lIns="0" spcFirstLastPara="1" rIns="0" wrap="square" tIns="0">
            <a:noAutofit/>
          </a:bodyPr>
          <a:lstStyle>
            <a:lvl1pPr lvl="0" marR="0" rtl="0" algn="ctr">
              <a:lnSpc>
                <a:spcPct val="95000"/>
              </a:lnSpc>
              <a:spcBef>
                <a:spcPts val="600"/>
              </a:spcBef>
              <a:spcAft>
                <a:spcPts val="0"/>
              </a:spcAft>
              <a:buClr>
                <a:schemeClr val="dk1"/>
              </a:buClr>
              <a:buSzPts val="1600"/>
              <a:buFont typeface="Arial"/>
              <a:buNone/>
              <a:defRPr b="0" i="0" sz="1600" u="none" cap="none" strike="noStrike">
                <a:solidFill>
                  <a:schemeClr val="dk1"/>
                </a:solidFill>
                <a:latin typeface="Century Gothic"/>
                <a:ea typeface="Century Gothic"/>
                <a:cs typeface="Century Gothic"/>
                <a:sym typeface="Century Gothic"/>
              </a:defRPr>
            </a:lvl1pPr>
            <a:lvl2pPr lvl="1" marR="0" rtl="0" algn="l">
              <a:lnSpc>
                <a:spcPct val="85000"/>
              </a:lnSpc>
              <a:spcBef>
                <a:spcPts val="200"/>
              </a:spcBef>
              <a:spcAft>
                <a:spcPts val="0"/>
              </a:spcAft>
              <a:buClr>
                <a:schemeClr val="dk1"/>
              </a:buClr>
              <a:buSzPts val="1600"/>
              <a:buFont typeface="Arial"/>
              <a:buChar char="–"/>
              <a:defRPr b="0" i="0" sz="1600" u="none" cap="none" strike="noStrike">
                <a:solidFill>
                  <a:schemeClr val="dk1"/>
                </a:solidFill>
                <a:latin typeface="Century Gothic"/>
                <a:ea typeface="Century Gothic"/>
                <a:cs typeface="Century Gothic"/>
                <a:sym typeface="Century Gothic"/>
              </a:defRPr>
            </a:lvl2pPr>
            <a:lvl3pPr lvl="2" marR="0" rtl="0" algn="l">
              <a:lnSpc>
                <a:spcPct val="85000"/>
              </a:lnSpc>
              <a:spcBef>
                <a:spcPts val="200"/>
              </a:spcBef>
              <a:spcAft>
                <a:spcPts val="0"/>
              </a:spcAft>
              <a:buClr>
                <a:schemeClr val="dk1"/>
              </a:buClr>
              <a:buSzPts val="1400"/>
              <a:buFont typeface="Arial"/>
              <a:buChar char="-"/>
              <a:defRPr b="0" i="0" sz="1400" u="none" cap="none" strike="noStrike">
                <a:solidFill>
                  <a:schemeClr val="dk1"/>
                </a:solidFill>
                <a:latin typeface="Century Gothic"/>
                <a:ea typeface="Century Gothic"/>
                <a:cs typeface="Century Gothic"/>
                <a:sym typeface="Century Gothic"/>
              </a:defRPr>
            </a:lvl3pPr>
            <a:lvl4pPr lvl="3"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4pPr>
            <a:lvl5pPr lvl="4" marR="0" rtl="0" algn="l">
              <a:lnSpc>
                <a:spcPct val="95000"/>
              </a:lnSpc>
              <a:spcBef>
                <a:spcPts val="600"/>
              </a:spcBef>
              <a:spcAft>
                <a:spcPts val="0"/>
              </a:spcAft>
              <a:buClr>
                <a:schemeClr val="accent1"/>
              </a:buClr>
              <a:buSzPts val="1800"/>
              <a:buFont typeface="Arial"/>
              <a:buChar char="​"/>
              <a:defRPr b="0" i="0" sz="1800" u="none" cap="none" strike="noStrike">
                <a:solidFill>
                  <a:schemeClr val="accent1"/>
                </a:solidFill>
                <a:latin typeface="Century Gothic"/>
                <a:ea typeface="Century Gothic"/>
                <a:cs typeface="Century Gothic"/>
                <a:sym typeface="Century Gothic"/>
              </a:defRPr>
            </a:lvl5pPr>
            <a:lvl6pPr lvl="5" marR="0" rtl="0" algn="l">
              <a:lnSpc>
                <a:spcPct val="95000"/>
              </a:lnSpc>
              <a:spcBef>
                <a:spcPts val="600"/>
              </a:spcBef>
              <a:spcAft>
                <a:spcPts val="0"/>
              </a:spcAft>
              <a:buClr>
                <a:schemeClr val="accent2"/>
              </a:buClr>
              <a:buSzPts val="1800"/>
              <a:buFont typeface="Arial"/>
              <a:buChar char="​"/>
              <a:defRPr b="0" i="0" sz="1800" u="none" cap="none" strike="noStrike">
                <a:solidFill>
                  <a:schemeClr val="accent2"/>
                </a:solidFill>
                <a:latin typeface="Century Gothic"/>
                <a:ea typeface="Century Gothic"/>
                <a:cs typeface="Century Gothic"/>
                <a:sym typeface="Century Gothic"/>
              </a:defRPr>
            </a:lvl6pPr>
            <a:lvl7pPr lvl="6" marR="0" rtl="0" algn="l">
              <a:lnSpc>
                <a:spcPct val="95000"/>
              </a:lnSpc>
              <a:spcBef>
                <a:spcPts val="1000"/>
              </a:spcBef>
              <a:spcAft>
                <a:spcPts val="0"/>
              </a:spcAft>
              <a:buClr>
                <a:schemeClr val="dk1"/>
              </a:buClr>
              <a:buSzPts val="1800"/>
              <a:buFont typeface="Arial"/>
              <a:buChar char="​"/>
              <a:defRPr b="1" i="0" sz="1800" u="none" cap="none" strike="noStrike">
                <a:solidFill>
                  <a:schemeClr val="dk1"/>
                </a:solidFill>
                <a:latin typeface="Century Gothic"/>
                <a:ea typeface="Century Gothic"/>
                <a:cs typeface="Century Gothic"/>
                <a:sym typeface="Century Gothic"/>
              </a:defRPr>
            </a:lvl7pPr>
            <a:lvl8pPr lvl="7" marR="0" rtl="0" algn="l">
              <a:lnSpc>
                <a:spcPct val="95000"/>
              </a:lnSpc>
              <a:spcBef>
                <a:spcPts val="200"/>
              </a:spcBef>
              <a:spcAft>
                <a:spcPts val="0"/>
              </a:spcAft>
              <a:buClr>
                <a:schemeClr val="dk1"/>
              </a:buClr>
              <a:buSzPts val="1800"/>
              <a:buFont typeface="Century Gothic"/>
              <a:buAutoNum type="arabicPeriod"/>
              <a:defRPr b="0" i="0" sz="1800" u="none" cap="none" strike="noStrike">
                <a:solidFill>
                  <a:schemeClr val="dk1"/>
                </a:solidFill>
                <a:latin typeface="Century Gothic"/>
                <a:ea typeface="Century Gothic"/>
                <a:cs typeface="Century Gothic"/>
                <a:sym typeface="Century Gothic"/>
              </a:defRPr>
            </a:lvl8pPr>
            <a:lvl9pPr lvl="8" marR="0" rtl="0" algn="l">
              <a:lnSpc>
                <a:spcPct val="95000"/>
              </a:lnSpc>
              <a:spcBef>
                <a:spcPts val="400"/>
              </a:spcBef>
              <a:spcAft>
                <a:spcPts val="400"/>
              </a:spcAft>
              <a:buClr>
                <a:schemeClr val="accent6"/>
              </a:buClr>
              <a:buSzPts val="900"/>
              <a:buFont typeface="Arial"/>
              <a:buChar char="​"/>
              <a:defRPr b="0" i="0" sz="900" u="none" cap="none" strike="noStrike">
                <a:solidFill>
                  <a:schemeClr val="accent6"/>
                </a:solidFill>
                <a:latin typeface="Century Gothic"/>
                <a:ea typeface="Century Gothic"/>
                <a:cs typeface="Century Gothic"/>
                <a:sym typeface="Century Gothic"/>
              </a:defRPr>
            </a:lvl9pPr>
          </a:lstStyle>
          <a:p/>
        </p:txBody>
      </p:sp>
      <p:sp>
        <p:nvSpPr>
          <p:cNvPr id="126" name="Google Shape;126;p27"/>
          <p:cNvSpPr txBox="1"/>
          <p:nvPr>
            <p:ph idx="3" type="body"/>
          </p:nvPr>
        </p:nvSpPr>
        <p:spPr>
          <a:xfrm>
            <a:off x="3511296" y="1878314"/>
            <a:ext cx="5146943" cy="2783250"/>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400"/>
              </a:spcBef>
              <a:spcAft>
                <a:spcPts val="0"/>
              </a:spcAft>
              <a:buClr>
                <a:schemeClr val="dk1"/>
              </a:buClr>
              <a:buSzPts val="1800"/>
              <a:buChar char="•"/>
              <a:defRPr sz="1800"/>
            </a:lvl1pPr>
            <a:lvl2pPr indent="-330200" lvl="1" marL="914400" algn="l">
              <a:lnSpc>
                <a:spcPct val="85000"/>
              </a:lnSpc>
              <a:spcBef>
                <a:spcPts val="200"/>
              </a:spcBef>
              <a:spcAft>
                <a:spcPts val="0"/>
              </a:spcAft>
              <a:buClr>
                <a:schemeClr val="dk1"/>
              </a:buClr>
              <a:buSzPts val="1600"/>
              <a:buChar char="–"/>
              <a:defRPr sz="1600"/>
            </a:lvl2pPr>
            <a:lvl3pPr indent="-317500" lvl="2" marL="1371600" algn="l">
              <a:lnSpc>
                <a:spcPct val="85000"/>
              </a:lnSpc>
              <a:spcBef>
                <a:spcPts val="200"/>
              </a:spcBef>
              <a:spcAft>
                <a:spcPts val="0"/>
              </a:spcAft>
              <a:buClr>
                <a:schemeClr val="dk1"/>
              </a:buClr>
              <a:buSzPts val="1400"/>
              <a:buChar char="-"/>
              <a:defRPr sz="14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27" name="Google Shape;127;p27"/>
          <p:cNvSpPr/>
          <p:nvPr>
            <p:ph idx="4" type="pic"/>
          </p:nvPr>
        </p:nvSpPr>
        <p:spPr>
          <a:xfrm>
            <a:off x="3505200" y="73152"/>
            <a:ext cx="1371600" cy="621792"/>
          </a:xfrm>
          <a:prstGeom prst="rect">
            <a:avLst/>
          </a:prstGeom>
          <a:noFill/>
          <a:ln>
            <a:noFill/>
          </a:ln>
        </p:spPr>
        <p:txBody>
          <a:bodyPr anchorCtr="0" anchor="ctr" bIns="0" lIns="0" spcFirstLastPara="1" rIns="0" wrap="square" tIns="0">
            <a:noAutofit/>
          </a:bodyPr>
          <a:lstStyle>
            <a:lvl1pPr lvl="0" marR="0" rtl="0" algn="ctr">
              <a:lnSpc>
                <a:spcPct val="95000"/>
              </a:lnSpc>
              <a:spcBef>
                <a:spcPts val="600"/>
              </a:spcBef>
              <a:spcAft>
                <a:spcPts val="0"/>
              </a:spcAft>
              <a:buClr>
                <a:schemeClr val="dk1"/>
              </a:buClr>
              <a:buSzPts val="900"/>
              <a:buFont typeface="Arial"/>
              <a:buNone/>
              <a:defRPr b="0" i="0" sz="900" u="none" cap="none" strike="noStrike">
                <a:solidFill>
                  <a:schemeClr val="dk1"/>
                </a:solidFill>
                <a:latin typeface="Century Gothic"/>
                <a:ea typeface="Century Gothic"/>
                <a:cs typeface="Century Gothic"/>
                <a:sym typeface="Century Gothic"/>
              </a:defRPr>
            </a:lvl1pPr>
            <a:lvl2pPr lvl="1" marR="0" rtl="0" algn="l">
              <a:lnSpc>
                <a:spcPct val="85000"/>
              </a:lnSpc>
              <a:spcBef>
                <a:spcPts val="200"/>
              </a:spcBef>
              <a:spcAft>
                <a:spcPts val="0"/>
              </a:spcAft>
              <a:buClr>
                <a:schemeClr val="dk1"/>
              </a:buClr>
              <a:buSzPts val="1600"/>
              <a:buFont typeface="Arial"/>
              <a:buChar char="–"/>
              <a:defRPr b="0" i="0" sz="1600" u="none" cap="none" strike="noStrike">
                <a:solidFill>
                  <a:schemeClr val="dk1"/>
                </a:solidFill>
                <a:latin typeface="Century Gothic"/>
                <a:ea typeface="Century Gothic"/>
                <a:cs typeface="Century Gothic"/>
                <a:sym typeface="Century Gothic"/>
              </a:defRPr>
            </a:lvl2pPr>
            <a:lvl3pPr lvl="2" marR="0" rtl="0" algn="l">
              <a:lnSpc>
                <a:spcPct val="85000"/>
              </a:lnSpc>
              <a:spcBef>
                <a:spcPts val="200"/>
              </a:spcBef>
              <a:spcAft>
                <a:spcPts val="0"/>
              </a:spcAft>
              <a:buClr>
                <a:schemeClr val="dk1"/>
              </a:buClr>
              <a:buSzPts val="1400"/>
              <a:buFont typeface="Arial"/>
              <a:buChar char="-"/>
              <a:defRPr b="0" i="0" sz="1400" u="none" cap="none" strike="noStrike">
                <a:solidFill>
                  <a:schemeClr val="dk1"/>
                </a:solidFill>
                <a:latin typeface="Century Gothic"/>
                <a:ea typeface="Century Gothic"/>
                <a:cs typeface="Century Gothic"/>
                <a:sym typeface="Century Gothic"/>
              </a:defRPr>
            </a:lvl3pPr>
            <a:lvl4pPr lvl="3"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4pPr>
            <a:lvl5pPr lvl="4" marR="0" rtl="0" algn="l">
              <a:lnSpc>
                <a:spcPct val="95000"/>
              </a:lnSpc>
              <a:spcBef>
                <a:spcPts val="600"/>
              </a:spcBef>
              <a:spcAft>
                <a:spcPts val="0"/>
              </a:spcAft>
              <a:buClr>
                <a:schemeClr val="accent1"/>
              </a:buClr>
              <a:buSzPts val="1800"/>
              <a:buFont typeface="Arial"/>
              <a:buChar char="​"/>
              <a:defRPr b="0" i="0" sz="1800" u="none" cap="none" strike="noStrike">
                <a:solidFill>
                  <a:schemeClr val="accent1"/>
                </a:solidFill>
                <a:latin typeface="Century Gothic"/>
                <a:ea typeface="Century Gothic"/>
                <a:cs typeface="Century Gothic"/>
                <a:sym typeface="Century Gothic"/>
              </a:defRPr>
            </a:lvl5pPr>
            <a:lvl6pPr lvl="5" marR="0" rtl="0" algn="l">
              <a:lnSpc>
                <a:spcPct val="95000"/>
              </a:lnSpc>
              <a:spcBef>
                <a:spcPts val="600"/>
              </a:spcBef>
              <a:spcAft>
                <a:spcPts val="0"/>
              </a:spcAft>
              <a:buClr>
                <a:schemeClr val="accent2"/>
              </a:buClr>
              <a:buSzPts val="1800"/>
              <a:buFont typeface="Arial"/>
              <a:buChar char="​"/>
              <a:defRPr b="0" i="0" sz="1800" u="none" cap="none" strike="noStrike">
                <a:solidFill>
                  <a:schemeClr val="accent2"/>
                </a:solidFill>
                <a:latin typeface="Century Gothic"/>
                <a:ea typeface="Century Gothic"/>
                <a:cs typeface="Century Gothic"/>
                <a:sym typeface="Century Gothic"/>
              </a:defRPr>
            </a:lvl6pPr>
            <a:lvl7pPr lvl="6" marR="0" rtl="0" algn="l">
              <a:lnSpc>
                <a:spcPct val="95000"/>
              </a:lnSpc>
              <a:spcBef>
                <a:spcPts val="1000"/>
              </a:spcBef>
              <a:spcAft>
                <a:spcPts val="0"/>
              </a:spcAft>
              <a:buClr>
                <a:schemeClr val="dk1"/>
              </a:buClr>
              <a:buSzPts val="1800"/>
              <a:buFont typeface="Arial"/>
              <a:buChar char="​"/>
              <a:defRPr b="1" i="0" sz="1800" u="none" cap="none" strike="noStrike">
                <a:solidFill>
                  <a:schemeClr val="dk1"/>
                </a:solidFill>
                <a:latin typeface="Century Gothic"/>
                <a:ea typeface="Century Gothic"/>
                <a:cs typeface="Century Gothic"/>
                <a:sym typeface="Century Gothic"/>
              </a:defRPr>
            </a:lvl7pPr>
            <a:lvl8pPr lvl="7" marR="0" rtl="0" algn="l">
              <a:lnSpc>
                <a:spcPct val="95000"/>
              </a:lnSpc>
              <a:spcBef>
                <a:spcPts val="200"/>
              </a:spcBef>
              <a:spcAft>
                <a:spcPts val="0"/>
              </a:spcAft>
              <a:buClr>
                <a:schemeClr val="dk1"/>
              </a:buClr>
              <a:buSzPts val="1800"/>
              <a:buFont typeface="Century Gothic"/>
              <a:buAutoNum type="arabicPeriod"/>
              <a:defRPr b="0" i="0" sz="1800" u="none" cap="none" strike="noStrike">
                <a:solidFill>
                  <a:schemeClr val="dk1"/>
                </a:solidFill>
                <a:latin typeface="Century Gothic"/>
                <a:ea typeface="Century Gothic"/>
                <a:cs typeface="Century Gothic"/>
                <a:sym typeface="Century Gothic"/>
              </a:defRPr>
            </a:lvl8pPr>
            <a:lvl9pPr lvl="8" marR="0" rtl="0" algn="l">
              <a:lnSpc>
                <a:spcPct val="95000"/>
              </a:lnSpc>
              <a:spcBef>
                <a:spcPts val="400"/>
              </a:spcBef>
              <a:spcAft>
                <a:spcPts val="400"/>
              </a:spcAft>
              <a:buClr>
                <a:schemeClr val="accent6"/>
              </a:buClr>
              <a:buSzPts val="900"/>
              <a:buFont typeface="Arial"/>
              <a:buChar char="​"/>
              <a:defRPr b="0" i="0" sz="900" u="none" cap="none" strike="noStrike">
                <a:solidFill>
                  <a:schemeClr val="accent6"/>
                </a:solidFill>
                <a:latin typeface="Century Gothic"/>
                <a:ea typeface="Century Gothic"/>
                <a:cs typeface="Century Gothic"/>
                <a:sym typeface="Century Gothic"/>
              </a:defRPr>
            </a:lvl9pPr>
          </a:lstStyle>
          <a:p/>
        </p:txBody>
      </p:sp>
    </p:spTree>
  </p:cSld>
  <p:clrMapOvr>
    <a:masterClrMapping/>
  </p:clrMapOvr>
  <p:transition spd="med">
    <p:fade/>
  </p:transition>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ase Study_Option2">
  <p:cSld name="1_Case Study_Option2">
    <p:spTree>
      <p:nvGrpSpPr>
        <p:cNvPr id="128" name="Shape 128"/>
        <p:cNvGrpSpPr/>
        <p:nvPr/>
      </p:nvGrpSpPr>
      <p:grpSpPr>
        <a:xfrm>
          <a:off x="0" y="0"/>
          <a:ext cx="0" cy="0"/>
          <a:chOff x="0" y="0"/>
          <a:chExt cx="0" cy="0"/>
        </a:xfrm>
      </p:grpSpPr>
      <p:sp>
        <p:nvSpPr>
          <p:cNvPr id="129" name="Google Shape;129;p28"/>
          <p:cNvSpPr txBox="1"/>
          <p:nvPr>
            <p:ph idx="1" type="body"/>
          </p:nvPr>
        </p:nvSpPr>
        <p:spPr>
          <a:xfrm>
            <a:off x="3495307" y="128016"/>
            <a:ext cx="5648693" cy="914400"/>
          </a:xfrm>
          <a:prstGeom prst="rect">
            <a:avLst/>
          </a:prstGeom>
          <a:solidFill>
            <a:srgbClr val="0079DB"/>
          </a:solidFill>
          <a:ln>
            <a:noFill/>
          </a:ln>
        </p:spPr>
        <p:txBody>
          <a:bodyPr anchorCtr="0" anchor="b" bIns="228600" lIns="228600" spcFirstLastPara="1" rIns="457200" wrap="square" tIns="137150">
            <a:noAutofit/>
          </a:bodyPr>
          <a:lstStyle>
            <a:lvl1pPr indent="-368300" lvl="0" marL="457200" algn="l">
              <a:lnSpc>
                <a:spcPct val="85000"/>
              </a:lnSpc>
              <a:spcBef>
                <a:spcPts val="200"/>
              </a:spcBef>
              <a:spcAft>
                <a:spcPts val="0"/>
              </a:spcAft>
              <a:buClr>
                <a:schemeClr val="lt1"/>
              </a:buClr>
              <a:buSzPts val="2200"/>
              <a:buFont typeface="Arial"/>
              <a:buChar char="​"/>
              <a:defRPr sz="2200">
                <a:solidFill>
                  <a:schemeClr val="lt1"/>
                </a:solidFill>
              </a:defRPr>
            </a:lvl1pPr>
            <a:lvl2pPr indent="-342900" lvl="1" marL="914400" algn="l">
              <a:lnSpc>
                <a:spcPct val="85000"/>
              </a:lnSpc>
              <a:spcBef>
                <a:spcPts val="200"/>
              </a:spcBef>
              <a:spcAft>
                <a:spcPts val="0"/>
              </a:spcAft>
              <a:buClr>
                <a:schemeClr val="lt1"/>
              </a:buClr>
              <a:buSzPts val="1800"/>
              <a:buFont typeface="Arial"/>
              <a:buChar char="​"/>
              <a:defRPr sz="1800">
                <a:solidFill>
                  <a:schemeClr val="lt1"/>
                </a:solidFill>
              </a:defRPr>
            </a:lvl2pPr>
            <a:lvl3pPr indent="-317500" lvl="2" marL="1371600" algn="l">
              <a:lnSpc>
                <a:spcPct val="85000"/>
              </a:lnSpc>
              <a:spcBef>
                <a:spcPts val="600"/>
              </a:spcBef>
              <a:spcAft>
                <a:spcPts val="0"/>
              </a:spcAft>
              <a:buClr>
                <a:schemeClr val="lt1"/>
              </a:buClr>
              <a:buSzPts val="1400"/>
              <a:buFont typeface="Arial"/>
              <a:buChar char="​"/>
              <a:defRPr b="1" sz="1400">
                <a:solidFill>
                  <a:schemeClr val="lt1"/>
                </a:solidFill>
              </a:defRPr>
            </a:lvl3pPr>
            <a:lvl4pPr indent="-317500" lvl="3" marL="1828800" algn="l">
              <a:lnSpc>
                <a:spcPct val="85000"/>
              </a:lnSpc>
              <a:spcBef>
                <a:spcPts val="200"/>
              </a:spcBef>
              <a:spcAft>
                <a:spcPts val="0"/>
              </a:spcAft>
              <a:buClr>
                <a:schemeClr val="lt1"/>
              </a:buClr>
              <a:buSzPts val="1400"/>
              <a:buFont typeface="Arial"/>
              <a:buChar char="​"/>
              <a:defRPr b="0" sz="1400">
                <a:solidFill>
                  <a:schemeClr val="lt1"/>
                </a:solidFill>
              </a:defRPr>
            </a:lvl4pPr>
            <a:lvl5pPr indent="-317500" lvl="4" marL="2286000" algn="l">
              <a:lnSpc>
                <a:spcPct val="85000"/>
              </a:lnSpc>
              <a:spcBef>
                <a:spcPts val="200"/>
              </a:spcBef>
              <a:spcAft>
                <a:spcPts val="0"/>
              </a:spcAft>
              <a:buClr>
                <a:schemeClr val="lt1"/>
              </a:buClr>
              <a:buSzPts val="1400"/>
              <a:buFont typeface="Arial"/>
              <a:buChar char="​"/>
              <a:defRPr b="0" sz="1400">
                <a:solidFill>
                  <a:schemeClr val="lt1"/>
                </a:solidFill>
              </a:defRPr>
            </a:lvl5pPr>
            <a:lvl6pPr indent="-317500" lvl="5" marL="2743200" algn="ctr">
              <a:lnSpc>
                <a:spcPct val="85000"/>
              </a:lnSpc>
              <a:spcBef>
                <a:spcPts val="200"/>
              </a:spcBef>
              <a:spcAft>
                <a:spcPts val="0"/>
              </a:spcAft>
              <a:buClr>
                <a:schemeClr val="lt1"/>
              </a:buClr>
              <a:buSzPts val="1400"/>
              <a:buFont typeface="Arial"/>
              <a:buChar char="​"/>
              <a:defRPr b="0" sz="1400">
                <a:solidFill>
                  <a:schemeClr val="lt1"/>
                </a:solidFill>
              </a:defRPr>
            </a:lvl6pPr>
            <a:lvl7pPr indent="-317500" lvl="6" marL="3200400" algn="ctr">
              <a:lnSpc>
                <a:spcPct val="85000"/>
              </a:lnSpc>
              <a:spcBef>
                <a:spcPts val="200"/>
              </a:spcBef>
              <a:spcAft>
                <a:spcPts val="0"/>
              </a:spcAft>
              <a:buClr>
                <a:schemeClr val="lt1"/>
              </a:buClr>
              <a:buSzPts val="1400"/>
              <a:buFont typeface="Arial"/>
              <a:buChar char="​"/>
              <a:defRPr b="0" sz="1400">
                <a:solidFill>
                  <a:schemeClr val="lt1"/>
                </a:solidFill>
              </a:defRPr>
            </a:lvl7pPr>
            <a:lvl8pPr indent="-317500" lvl="7" marL="3657600" algn="ctr">
              <a:lnSpc>
                <a:spcPct val="85000"/>
              </a:lnSpc>
              <a:spcBef>
                <a:spcPts val="200"/>
              </a:spcBef>
              <a:spcAft>
                <a:spcPts val="0"/>
              </a:spcAft>
              <a:buClr>
                <a:schemeClr val="lt1"/>
              </a:buClr>
              <a:buSzPts val="1400"/>
              <a:buFont typeface="Arial"/>
              <a:buChar char="​"/>
              <a:defRPr b="0" sz="1400">
                <a:solidFill>
                  <a:schemeClr val="lt1"/>
                </a:solidFill>
              </a:defRPr>
            </a:lvl8pPr>
            <a:lvl9pPr indent="-317500" lvl="8" marL="4114800" algn="ctr">
              <a:lnSpc>
                <a:spcPct val="85000"/>
              </a:lnSpc>
              <a:spcBef>
                <a:spcPts val="200"/>
              </a:spcBef>
              <a:spcAft>
                <a:spcPts val="200"/>
              </a:spcAft>
              <a:buClr>
                <a:schemeClr val="lt1"/>
              </a:buClr>
              <a:buSzPts val="1400"/>
              <a:buFont typeface="Arial"/>
              <a:buChar char="​"/>
              <a:defRPr b="0" sz="1400">
                <a:solidFill>
                  <a:schemeClr val="lt1"/>
                </a:solidFill>
              </a:defRPr>
            </a:lvl9pPr>
          </a:lstStyle>
          <a:p/>
        </p:txBody>
      </p:sp>
      <p:sp>
        <p:nvSpPr>
          <p:cNvPr id="130" name="Google Shape;130;p28"/>
          <p:cNvSpPr/>
          <p:nvPr>
            <p:ph idx="2" type="pic"/>
          </p:nvPr>
        </p:nvSpPr>
        <p:spPr>
          <a:xfrm>
            <a:off x="0" y="0"/>
            <a:ext cx="2971800" cy="5143500"/>
          </a:xfrm>
          <a:prstGeom prst="rect">
            <a:avLst/>
          </a:prstGeom>
          <a:noFill/>
          <a:ln>
            <a:noFill/>
          </a:ln>
        </p:spPr>
        <p:txBody>
          <a:bodyPr anchorCtr="0" anchor="t" bIns="0" lIns="0" spcFirstLastPara="1" rIns="0" wrap="square" tIns="0">
            <a:noAutofit/>
          </a:bodyPr>
          <a:lstStyle>
            <a:lvl1pPr lvl="0" marR="0" rtl="0" algn="ctr">
              <a:lnSpc>
                <a:spcPct val="95000"/>
              </a:lnSpc>
              <a:spcBef>
                <a:spcPts val="600"/>
              </a:spcBef>
              <a:spcAft>
                <a:spcPts val="0"/>
              </a:spcAft>
              <a:buClr>
                <a:schemeClr val="dk1"/>
              </a:buClr>
              <a:buSzPts val="1600"/>
              <a:buFont typeface="Arial"/>
              <a:buNone/>
              <a:defRPr b="0" i="0" sz="1600" u="none" cap="none" strike="noStrike">
                <a:solidFill>
                  <a:schemeClr val="dk1"/>
                </a:solidFill>
                <a:latin typeface="Century Gothic"/>
                <a:ea typeface="Century Gothic"/>
                <a:cs typeface="Century Gothic"/>
                <a:sym typeface="Century Gothic"/>
              </a:defRPr>
            </a:lvl1pPr>
            <a:lvl2pPr lvl="1" marR="0" rtl="0" algn="l">
              <a:lnSpc>
                <a:spcPct val="85000"/>
              </a:lnSpc>
              <a:spcBef>
                <a:spcPts val="200"/>
              </a:spcBef>
              <a:spcAft>
                <a:spcPts val="0"/>
              </a:spcAft>
              <a:buClr>
                <a:schemeClr val="dk1"/>
              </a:buClr>
              <a:buSzPts val="1600"/>
              <a:buFont typeface="Arial"/>
              <a:buChar char="–"/>
              <a:defRPr b="0" i="0" sz="1600" u="none" cap="none" strike="noStrike">
                <a:solidFill>
                  <a:schemeClr val="dk1"/>
                </a:solidFill>
                <a:latin typeface="Century Gothic"/>
                <a:ea typeface="Century Gothic"/>
                <a:cs typeface="Century Gothic"/>
                <a:sym typeface="Century Gothic"/>
              </a:defRPr>
            </a:lvl2pPr>
            <a:lvl3pPr lvl="2" marR="0" rtl="0" algn="l">
              <a:lnSpc>
                <a:spcPct val="85000"/>
              </a:lnSpc>
              <a:spcBef>
                <a:spcPts val="200"/>
              </a:spcBef>
              <a:spcAft>
                <a:spcPts val="0"/>
              </a:spcAft>
              <a:buClr>
                <a:schemeClr val="dk1"/>
              </a:buClr>
              <a:buSzPts val="1400"/>
              <a:buFont typeface="Arial"/>
              <a:buChar char="-"/>
              <a:defRPr b="0" i="0" sz="1400" u="none" cap="none" strike="noStrike">
                <a:solidFill>
                  <a:schemeClr val="dk1"/>
                </a:solidFill>
                <a:latin typeface="Century Gothic"/>
                <a:ea typeface="Century Gothic"/>
                <a:cs typeface="Century Gothic"/>
                <a:sym typeface="Century Gothic"/>
              </a:defRPr>
            </a:lvl3pPr>
            <a:lvl4pPr lvl="3"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4pPr>
            <a:lvl5pPr lvl="4" marR="0" rtl="0" algn="l">
              <a:lnSpc>
                <a:spcPct val="95000"/>
              </a:lnSpc>
              <a:spcBef>
                <a:spcPts val="600"/>
              </a:spcBef>
              <a:spcAft>
                <a:spcPts val="0"/>
              </a:spcAft>
              <a:buClr>
                <a:schemeClr val="accent1"/>
              </a:buClr>
              <a:buSzPts val="1800"/>
              <a:buFont typeface="Arial"/>
              <a:buChar char="​"/>
              <a:defRPr b="0" i="0" sz="1800" u="none" cap="none" strike="noStrike">
                <a:solidFill>
                  <a:schemeClr val="accent1"/>
                </a:solidFill>
                <a:latin typeface="Century Gothic"/>
                <a:ea typeface="Century Gothic"/>
                <a:cs typeface="Century Gothic"/>
                <a:sym typeface="Century Gothic"/>
              </a:defRPr>
            </a:lvl5pPr>
            <a:lvl6pPr lvl="5" marR="0" rtl="0" algn="l">
              <a:lnSpc>
                <a:spcPct val="95000"/>
              </a:lnSpc>
              <a:spcBef>
                <a:spcPts val="600"/>
              </a:spcBef>
              <a:spcAft>
                <a:spcPts val="0"/>
              </a:spcAft>
              <a:buClr>
                <a:schemeClr val="accent2"/>
              </a:buClr>
              <a:buSzPts val="1800"/>
              <a:buFont typeface="Arial"/>
              <a:buChar char="​"/>
              <a:defRPr b="0" i="0" sz="1800" u="none" cap="none" strike="noStrike">
                <a:solidFill>
                  <a:schemeClr val="accent2"/>
                </a:solidFill>
                <a:latin typeface="Century Gothic"/>
                <a:ea typeface="Century Gothic"/>
                <a:cs typeface="Century Gothic"/>
                <a:sym typeface="Century Gothic"/>
              </a:defRPr>
            </a:lvl6pPr>
            <a:lvl7pPr lvl="6" marR="0" rtl="0" algn="l">
              <a:lnSpc>
                <a:spcPct val="95000"/>
              </a:lnSpc>
              <a:spcBef>
                <a:spcPts val="1000"/>
              </a:spcBef>
              <a:spcAft>
                <a:spcPts val="0"/>
              </a:spcAft>
              <a:buClr>
                <a:schemeClr val="dk1"/>
              </a:buClr>
              <a:buSzPts val="1800"/>
              <a:buFont typeface="Arial"/>
              <a:buChar char="​"/>
              <a:defRPr b="1" i="0" sz="1800" u="none" cap="none" strike="noStrike">
                <a:solidFill>
                  <a:schemeClr val="dk1"/>
                </a:solidFill>
                <a:latin typeface="Century Gothic"/>
                <a:ea typeface="Century Gothic"/>
                <a:cs typeface="Century Gothic"/>
                <a:sym typeface="Century Gothic"/>
              </a:defRPr>
            </a:lvl7pPr>
            <a:lvl8pPr lvl="7" marR="0" rtl="0" algn="l">
              <a:lnSpc>
                <a:spcPct val="95000"/>
              </a:lnSpc>
              <a:spcBef>
                <a:spcPts val="200"/>
              </a:spcBef>
              <a:spcAft>
                <a:spcPts val="0"/>
              </a:spcAft>
              <a:buClr>
                <a:schemeClr val="dk1"/>
              </a:buClr>
              <a:buSzPts val="1800"/>
              <a:buFont typeface="Century Gothic"/>
              <a:buAutoNum type="arabicPeriod"/>
              <a:defRPr b="0" i="0" sz="1800" u="none" cap="none" strike="noStrike">
                <a:solidFill>
                  <a:schemeClr val="dk1"/>
                </a:solidFill>
                <a:latin typeface="Century Gothic"/>
                <a:ea typeface="Century Gothic"/>
                <a:cs typeface="Century Gothic"/>
                <a:sym typeface="Century Gothic"/>
              </a:defRPr>
            </a:lvl8pPr>
            <a:lvl9pPr lvl="8" marR="0" rtl="0" algn="l">
              <a:lnSpc>
                <a:spcPct val="95000"/>
              </a:lnSpc>
              <a:spcBef>
                <a:spcPts val="400"/>
              </a:spcBef>
              <a:spcAft>
                <a:spcPts val="400"/>
              </a:spcAft>
              <a:buClr>
                <a:schemeClr val="accent6"/>
              </a:buClr>
              <a:buSzPts val="900"/>
              <a:buFont typeface="Arial"/>
              <a:buChar char="​"/>
              <a:defRPr b="0" i="0" sz="900" u="none" cap="none" strike="noStrike">
                <a:solidFill>
                  <a:schemeClr val="accent6"/>
                </a:solidFill>
                <a:latin typeface="Century Gothic"/>
                <a:ea typeface="Century Gothic"/>
                <a:cs typeface="Century Gothic"/>
                <a:sym typeface="Century Gothic"/>
              </a:defRPr>
            </a:lvl9pPr>
          </a:lstStyle>
          <a:p/>
        </p:txBody>
      </p:sp>
      <p:sp>
        <p:nvSpPr>
          <p:cNvPr id="131" name="Google Shape;131;p28"/>
          <p:cNvSpPr txBox="1"/>
          <p:nvPr>
            <p:ph idx="3" type="body"/>
          </p:nvPr>
        </p:nvSpPr>
        <p:spPr>
          <a:xfrm>
            <a:off x="3511296" y="1152143"/>
            <a:ext cx="5164694" cy="3511296"/>
          </a:xfrm>
          <a:prstGeom prst="rect">
            <a:avLst/>
          </a:prstGeom>
          <a:noFill/>
          <a:ln>
            <a:noFill/>
          </a:ln>
        </p:spPr>
        <p:txBody>
          <a:bodyPr anchorCtr="0" anchor="t" bIns="0" lIns="0" spcFirstLastPara="1" rIns="0" wrap="square" tIns="0">
            <a:noAutofit/>
          </a:bodyPr>
          <a:lstStyle>
            <a:lvl1pPr indent="-355600" lvl="0" marL="457200" algn="l">
              <a:lnSpc>
                <a:spcPct val="95000"/>
              </a:lnSpc>
              <a:spcBef>
                <a:spcPts val="400"/>
              </a:spcBef>
              <a:spcAft>
                <a:spcPts val="0"/>
              </a:spcAft>
              <a:buClr>
                <a:schemeClr val="dk1"/>
              </a:buClr>
              <a:buSzPts val="2000"/>
              <a:buChar char="•"/>
              <a:defRPr sz="2000"/>
            </a:lvl1pPr>
            <a:lvl2pPr indent="-342900" lvl="1" marL="914400" algn="l">
              <a:lnSpc>
                <a:spcPct val="85000"/>
              </a:lnSpc>
              <a:spcBef>
                <a:spcPts val="200"/>
              </a:spcBef>
              <a:spcAft>
                <a:spcPts val="0"/>
              </a:spcAft>
              <a:buClr>
                <a:schemeClr val="dk1"/>
              </a:buClr>
              <a:buSzPts val="1800"/>
              <a:buChar char="–"/>
              <a:defRPr sz="1800"/>
            </a:lvl2pPr>
            <a:lvl3pPr indent="-330200" lvl="2" marL="1371600" algn="l">
              <a:lnSpc>
                <a:spcPct val="85000"/>
              </a:lnSpc>
              <a:spcBef>
                <a:spcPts val="200"/>
              </a:spcBef>
              <a:spcAft>
                <a:spcPts val="0"/>
              </a:spcAft>
              <a:buClr>
                <a:schemeClr val="dk1"/>
              </a:buClr>
              <a:buSzPts val="1600"/>
              <a:buChar char="-"/>
              <a:defRPr sz="16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Slide" showMasterSp="0">
  <p:cSld name="End Slide">
    <p:spTree>
      <p:nvGrpSpPr>
        <p:cNvPr id="132" name="Shape 132"/>
        <p:cNvGrpSpPr/>
        <p:nvPr/>
      </p:nvGrpSpPr>
      <p:grpSpPr>
        <a:xfrm>
          <a:off x="0" y="0"/>
          <a:ext cx="0" cy="0"/>
          <a:chOff x="0" y="0"/>
          <a:chExt cx="0" cy="0"/>
        </a:xfrm>
      </p:grpSpPr>
      <p:sp>
        <p:nvSpPr>
          <p:cNvPr id="133" name="Google Shape;133;p29"/>
          <p:cNvSpPr txBox="1"/>
          <p:nvPr/>
        </p:nvSpPr>
        <p:spPr>
          <a:xfrm>
            <a:off x="171052" y="4837176"/>
            <a:ext cx="115416" cy="107722"/>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lang="en-GB" sz="700">
                <a:solidFill>
                  <a:srgbClr val="A2A2A2"/>
                </a:solidFill>
                <a:latin typeface="Century Gothic"/>
                <a:ea typeface="Century Gothic"/>
                <a:cs typeface="Century Gothic"/>
                <a:sym typeface="Century Gothic"/>
              </a:rPr>
              <a:t>‹#›</a:t>
            </a:fld>
            <a:endParaRPr sz="700">
              <a:solidFill>
                <a:srgbClr val="A2A2A2"/>
              </a:solidFill>
              <a:latin typeface="Century Gothic"/>
              <a:ea typeface="Century Gothic"/>
              <a:cs typeface="Century Gothic"/>
              <a:sym typeface="Century Gothic"/>
            </a:endParaRPr>
          </a:p>
        </p:txBody>
      </p:sp>
      <p:sp>
        <p:nvSpPr>
          <p:cNvPr id="134" name="Google Shape;134;p29"/>
          <p:cNvSpPr txBox="1"/>
          <p:nvPr>
            <p:ph idx="1"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35" name="Google Shape;135;p29"/>
          <p:cNvSpPr txBox="1"/>
          <p:nvPr/>
        </p:nvSpPr>
        <p:spPr>
          <a:xfrm>
            <a:off x="153254" y="4837176"/>
            <a:ext cx="133221" cy="130805"/>
          </a:xfrm>
          <a:prstGeom prst="rect">
            <a:avLst/>
          </a:prstGeom>
          <a:solidFill>
            <a:schemeClr val="lt1"/>
          </a:solid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lang="en-GB" sz="850">
                <a:solidFill>
                  <a:srgbClr val="6C6C6C"/>
                </a:solidFill>
                <a:latin typeface="Century Gothic"/>
                <a:ea typeface="Century Gothic"/>
                <a:cs typeface="Century Gothic"/>
                <a:sym typeface="Century Gothic"/>
              </a:rPr>
              <a:t>‹#›</a:t>
            </a:fld>
            <a:endParaRPr sz="850">
              <a:solidFill>
                <a:srgbClr val="6C6C6C"/>
              </a:solidFill>
              <a:latin typeface="Century Gothic"/>
              <a:ea typeface="Century Gothic"/>
              <a:cs typeface="Century Gothic"/>
              <a:sym typeface="Century Gothic"/>
            </a:endParaRPr>
          </a:p>
        </p:txBody>
      </p:sp>
      <p:grpSp>
        <p:nvGrpSpPr>
          <p:cNvPr id="136" name="Google Shape;136;p29"/>
          <p:cNvGrpSpPr/>
          <p:nvPr/>
        </p:nvGrpSpPr>
        <p:grpSpPr>
          <a:xfrm>
            <a:off x="2742406" y="2158207"/>
            <a:ext cx="3659188" cy="827087"/>
            <a:chOff x="1728" y="1805"/>
            <a:chExt cx="2305" cy="521"/>
          </a:xfrm>
        </p:grpSpPr>
        <p:sp>
          <p:nvSpPr>
            <p:cNvPr id="137" name="Google Shape;137;p29"/>
            <p:cNvSpPr/>
            <p:nvPr/>
          </p:nvSpPr>
          <p:spPr>
            <a:xfrm>
              <a:off x="1728" y="1805"/>
              <a:ext cx="2231" cy="521"/>
            </a:xfrm>
            <a:custGeom>
              <a:rect b="b" l="l" r="r" t="t"/>
              <a:pathLst>
                <a:path extrusionOk="0" h="863" w="3745">
                  <a:moveTo>
                    <a:pt x="660" y="0"/>
                  </a:moveTo>
                  <a:lnTo>
                    <a:pt x="660" y="0"/>
                  </a:lnTo>
                  <a:lnTo>
                    <a:pt x="22" y="0"/>
                  </a:lnTo>
                  <a:lnTo>
                    <a:pt x="0" y="73"/>
                  </a:lnTo>
                  <a:lnTo>
                    <a:pt x="292" y="73"/>
                  </a:lnTo>
                  <a:lnTo>
                    <a:pt x="292" y="804"/>
                  </a:lnTo>
                  <a:cubicBezTo>
                    <a:pt x="292" y="843"/>
                    <a:pt x="316" y="863"/>
                    <a:pt x="360" y="863"/>
                  </a:cubicBezTo>
                  <a:lnTo>
                    <a:pt x="399" y="863"/>
                  </a:lnTo>
                  <a:lnTo>
                    <a:pt x="399" y="73"/>
                  </a:lnTo>
                  <a:lnTo>
                    <a:pt x="637" y="73"/>
                  </a:lnTo>
                  <a:lnTo>
                    <a:pt x="660" y="0"/>
                  </a:lnTo>
                  <a:lnTo>
                    <a:pt x="660" y="0"/>
                  </a:lnTo>
                  <a:close/>
                  <a:moveTo>
                    <a:pt x="2673" y="181"/>
                  </a:moveTo>
                  <a:lnTo>
                    <a:pt x="2673" y="181"/>
                  </a:lnTo>
                  <a:cubicBezTo>
                    <a:pt x="2647" y="181"/>
                    <a:pt x="2626" y="190"/>
                    <a:pt x="2621" y="203"/>
                  </a:cubicBezTo>
                  <a:lnTo>
                    <a:pt x="2408" y="768"/>
                  </a:lnTo>
                  <a:lnTo>
                    <a:pt x="2448" y="768"/>
                  </a:lnTo>
                  <a:cubicBezTo>
                    <a:pt x="2491" y="768"/>
                    <a:pt x="2509" y="764"/>
                    <a:pt x="2522" y="729"/>
                  </a:cubicBezTo>
                  <a:lnTo>
                    <a:pt x="2570" y="596"/>
                  </a:lnTo>
                  <a:lnTo>
                    <a:pt x="2698" y="596"/>
                  </a:lnTo>
                  <a:lnTo>
                    <a:pt x="2679" y="533"/>
                  </a:lnTo>
                  <a:lnTo>
                    <a:pt x="2590" y="533"/>
                  </a:lnTo>
                  <a:lnTo>
                    <a:pt x="2669" y="310"/>
                  </a:lnTo>
                  <a:lnTo>
                    <a:pt x="2812" y="729"/>
                  </a:lnTo>
                  <a:cubicBezTo>
                    <a:pt x="2824" y="764"/>
                    <a:pt x="2845" y="768"/>
                    <a:pt x="2891" y="768"/>
                  </a:cubicBezTo>
                  <a:lnTo>
                    <a:pt x="2941" y="768"/>
                  </a:lnTo>
                  <a:lnTo>
                    <a:pt x="2725" y="203"/>
                  </a:lnTo>
                  <a:cubicBezTo>
                    <a:pt x="2720" y="190"/>
                    <a:pt x="2697" y="181"/>
                    <a:pt x="2673" y="181"/>
                  </a:cubicBezTo>
                  <a:close/>
                  <a:moveTo>
                    <a:pt x="3529" y="203"/>
                  </a:moveTo>
                  <a:lnTo>
                    <a:pt x="3529" y="203"/>
                  </a:lnTo>
                  <a:cubicBezTo>
                    <a:pt x="3524" y="190"/>
                    <a:pt x="3501" y="181"/>
                    <a:pt x="3477" y="181"/>
                  </a:cubicBezTo>
                  <a:cubicBezTo>
                    <a:pt x="3451" y="181"/>
                    <a:pt x="3430" y="190"/>
                    <a:pt x="3425" y="203"/>
                  </a:cubicBezTo>
                  <a:lnTo>
                    <a:pt x="3212" y="768"/>
                  </a:lnTo>
                  <a:lnTo>
                    <a:pt x="3252" y="768"/>
                  </a:lnTo>
                  <a:cubicBezTo>
                    <a:pt x="3294" y="768"/>
                    <a:pt x="3313" y="764"/>
                    <a:pt x="3326" y="729"/>
                  </a:cubicBezTo>
                  <a:lnTo>
                    <a:pt x="3374" y="596"/>
                  </a:lnTo>
                  <a:lnTo>
                    <a:pt x="3502" y="596"/>
                  </a:lnTo>
                  <a:lnTo>
                    <a:pt x="3483" y="533"/>
                  </a:lnTo>
                  <a:lnTo>
                    <a:pt x="3394" y="533"/>
                  </a:lnTo>
                  <a:lnTo>
                    <a:pt x="3473" y="310"/>
                  </a:lnTo>
                  <a:lnTo>
                    <a:pt x="3616" y="729"/>
                  </a:lnTo>
                  <a:cubicBezTo>
                    <a:pt x="3628" y="764"/>
                    <a:pt x="3649" y="768"/>
                    <a:pt x="3695" y="768"/>
                  </a:cubicBezTo>
                  <a:lnTo>
                    <a:pt x="3745" y="768"/>
                  </a:lnTo>
                  <a:lnTo>
                    <a:pt x="3529" y="203"/>
                  </a:lnTo>
                  <a:lnTo>
                    <a:pt x="3529" y="203"/>
                  </a:lnTo>
                  <a:close/>
                  <a:moveTo>
                    <a:pt x="1655" y="181"/>
                  </a:moveTo>
                  <a:lnTo>
                    <a:pt x="1655" y="181"/>
                  </a:lnTo>
                  <a:cubicBezTo>
                    <a:pt x="1630" y="181"/>
                    <a:pt x="1608" y="190"/>
                    <a:pt x="1603" y="203"/>
                  </a:cubicBezTo>
                  <a:lnTo>
                    <a:pt x="1399" y="746"/>
                  </a:lnTo>
                  <a:lnTo>
                    <a:pt x="1247" y="515"/>
                  </a:lnTo>
                  <a:cubicBezTo>
                    <a:pt x="1327" y="501"/>
                    <a:pt x="1374" y="459"/>
                    <a:pt x="1374" y="387"/>
                  </a:cubicBezTo>
                  <a:lnTo>
                    <a:pt x="1374" y="336"/>
                  </a:lnTo>
                  <a:cubicBezTo>
                    <a:pt x="1374" y="232"/>
                    <a:pt x="1277" y="189"/>
                    <a:pt x="1149" y="189"/>
                  </a:cubicBezTo>
                  <a:lnTo>
                    <a:pt x="969" y="189"/>
                  </a:lnTo>
                  <a:lnTo>
                    <a:pt x="969" y="704"/>
                  </a:lnTo>
                  <a:lnTo>
                    <a:pt x="737" y="704"/>
                  </a:lnTo>
                  <a:cubicBezTo>
                    <a:pt x="646" y="704"/>
                    <a:pt x="625" y="684"/>
                    <a:pt x="625" y="590"/>
                  </a:cubicBezTo>
                  <a:lnTo>
                    <a:pt x="625" y="488"/>
                  </a:lnTo>
                  <a:lnTo>
                    <a:pt x="797" y="488"/>
                  </a:lnTo>
                  <a:lnTo>
                    <a:pt x="816" y="424"/>
                  </a:lnTo>
                  <a:lnTo>
                    <a:pt x="625" y="424"/>
                  </a:lnTo>
                  <a:lnTo>
                    <a:pt x="625" y="253"/>
                  </a:lnTo>
                  <a:lnTo>
                    <a:pt x="878" y="253"/>
                  </a:lnTo>
                  <a:lnTo>
                    <a:pt x="897" y="189"/>
                  </a:lnTo>
                  <a:lnTo>
                    <a:pt x="520" y="189"/>
                  </a:lnTo>
                  <a:lnTo>
                    <a:pt x="520" y="590"/>
                  </a:lnTo>
                  <a:cubicBezTo>
                    <a:pt x="520" y="724"/>
                    <a:pt x="552" y="768"/>
                    <a:pt x="735" y="768"/>
                  </a:cubicBezTo>
                  <a:lnTo>
                    <a:pt x="1074" y="766"/>
                  </a:lnTo>
                  <a:lnTo>
                    <a:pt x="1074" y="253"/>
                  </a:lnTo>
                  <a:lnTo>
                    <a:pt x="1149" y="253"/>
                  </a:lnTo>
                  <a:cubicBezTo>
                    <a:pt x="1230" y="253"/>
                    <a:pt x="1271" y="282"/>
                    <a:pt x="1271" y="337"/>
                  </a:cubicBezTo>
                  <a:lnTo>
                    <a:pt x="1271" y="387"/>
                  </a:lnTo>
                  <a:cubicBezTo>
                    <a:pt x="1271" y="443"/>
                    <a:pt x="1220" y="461"/>
                    <a:pt x="1157" y="461"/>
                  </a:cubicBezTo>
                  <a:lnTo>
                    <a:pt x="1110" y="461"/>
                  </a:lnTo>
                  <a:lnTo>
                    <a:pt x="1269" y="733"/>
                  </a:lnTo>
                  <a:cubicBezTo>
                    <a:pt x="1287" y="765"/>
                    <a:pt x="1296" y="768"/>
                    <a:pt x="1338" y="768"/>
                  </a:cubicBezTo>
                  <a:lnTo>
                    <a:pt x="1430" y="768"/>
                  </a:lnTo>
                  <a:cubicBezTo>
                    <a:pt x="1473" y="768"/>
                    <a:pt x="1492" y="764"/>
                    <a:pt x="1505" y="729"/>
                  </a:cubicBezTo>
                  <a:lnTo>
                    <a:pt x="1552" y="596"/>
                  </a:lnTo>
                  <a:lnTo>
                    <a:pt x="1680" y="596"/>
                  </a:lnTo>
                  <a:lnTo>
                    <a:pt x="1661" y="533"/>
                  </a:lnTo>
                  <a:lnTo>
                    <a:pt x="1573" y="533"/>
                  </a:lnTo>
                  <a:lnTo>
                    <a:pt x="1652" y="310"/>
                  </a:lnTo>
                  <a:lnTo>
                    <a:pt x="1795" y="729"/>
                  </a:lnTo>
                  <a:cubicBezTo>
                    <a:pt x="1807" y="764"/>
                    <a:pt x="1827" y="768"/>
                    <a:pt x="1873" y="768"/>
                  </a:cubicBezTo>
                  <a:lnTo>
                    <a:pt x="1923" y="768"/>
                  </a:lnTo>
                  <a:lnTo>
                    <a:pt x="1707" y="203"/>
                  </a:lnTo>
                  <a:cubicBezTo>
                    <a:pt x="1702" y="190"/>
                    <a:pt x="1679" y="181"/>
                    <a:pt x="1655" y="181"/>
                  </a:cubicBezTo>
                  <a:close/>
                  <a:moveTo>
                    <a:pt x="2304" y="530"/>
                  </a:moveTo>
                  <a:lnTo>
                    <a:pt x="2304" y="530"/>
                  </a:lnTo>
                  <a:cubicBezTo>
                    <a:pt x="2304" y="647"/>
                    <a:pt x="2266" y="704"/>
                    <a:pt x="2162" y="704"/>
                  </a:cubicBezTo>
                  <a:lnTo>
                    <a:pt x="2068" y="704"/>
                  </a:lnTo>
                  <a:lnTo>
                    <a:pt x="2068" y="253"/>
                  </a:lnTo>
                  <a:lnTo>
                    <a:pt x="2159" y="253"/>
                  </a:lnTo>
                  <a:cubicBezTo>
                    <a:pt x="2266" y="253"/>
                    <a:pt x="2304" y="316"/>
                    <a:pt x="2304" y="433"/>
                  </a:cubicBezTo>
                  <a:lnTo>
                    <a:pt x="2304" y="530"/>
                  </a:lnTo>
                  <a:lnTo>
                    <a:pt x="2304" y="530"/>
                  </a:lnTo>
                  <a:close/>
                  <a:moveTo>
                    <a:pt x="2409" y="432"/>
                  </a:moveTo>
                  <a:lnTo>
                    <a:pt x="2409" y="432"/>
                  </a:lnTo>
                  <a:cubicBezTo>
                    <a:pt x="2409" y="270"/>
                    <a:pt x="2326" y="189"/>
                    <a:pt x="2159" y="189"/>
                  </a:cubicBezTo>
                  <a:lnTo>
                    <a:pt x="1963" y="189"/>
                  </a:lnTo>
                  <a:lnTo>
                    <a:pt x="1963" y="709"/>
                  </a:lnTo>
                  <a:cubicBezTo>
                    <a:pt x="1963" y="748"/>
                    <a:pt x="1984" y="768"/>
                    <a:pt x="2029" y="768"/>
                  </a:cubicBezTo>
                  <a:lnTo>
                    <a:pt x="2159" y="768"/>
                  </a:lnTo>
                  <a:lnTo>
                    <a:pt x="2180" y="767"/>
                  </a:lnTo>
                  <a:cubicBezTo>
                    <a:pt x="2337" y="761"/>
                    <a:pt x="2409" y="693"/>
                    <a:pt x="2409" y="530"/>
                  </a:cubicBezTo>
                  <a:lnTo>
                    <a:pt x="2409" y="432"/>
                  </a:lnTo>
                  <a:lnTo>
                    <a:pt x="2409" y="432"/>
                  </a:lnTo>
                  <a:close/>
                  <a:moveTo>
                    <a:pt x="3332" y="190"/>
                  </a:moveTo>
                  <a:lnTo>
                    <a:pt x="3332" y="190"/>
                  </a:lnTo>
                  <a:lnTo>
                    <a:pt x="2851" y="190"/>
                  </a:lnTo>
                  <a:lnTo>
                    <a:pt x="2831" y="254"/>
                  </a:lnTo>
                  <a:lnTo>
                    <a:pt x="3028" y="254"/>
                  </a:lnTo>
                  <a:lnTo>
                    <a:pt x="3028" y="710"/>
                  </a:lnTo>
                  <a:cubicBezTo>
                    <a:pt x="3028" y="749"/>
                    <a:pt x="3052" y="768"/>
                    <a:pt x="3096" y="768"/>
                  </a:cubicBezTo>
                  <a:lnTo>
                    <a:pt x="3135" y="768"/>
                  </a:lnTo>
                  <a:lnTo>
                    <a:pt x="3135" y="254"/>
                  </a:lnTo>
                  <a:lnTo>
                    <a:pt x="3313" y="254"/>
                  </a:lnTo>
                  <a:lnTo>
                    <a:pt x="3332" y="19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3C3B"/>
                </a:solidFill>
                <a:latin typeface="Century Gothic"/>
                <a:ea typeface="Century Gothic"/>
                <a:cs typeface="Century Gothic"/>
                <a:sym typeface="Century Gothic"/>
              </a:endParaRPr>
            </a:p>
          </p:txBody>
        </p:sp>
        <p:sp>
          <p:nvSpPr>
            <p:cNvPr id="138" name="Google Shape;138;p29"/>
            <p:cNvSpPr/>
            <p:nvPr/>
          </p:nvSpPr>
          <p:spPr>
            <a:xfrm>
              <a:off x="3974" y="2210"/>
              <a:ext cx="59" cy="59"/>
            </a:xfrm>
            <a:custGeom>
              <a:rect b="b" l="l" r="r" t="t"/>
              <a:pathLst>
                <a:path extrusionOk="0" h="98" w="99">
                  <a:moveTo>
                    <a:pt x="59" y="30"/>
                  </a:moveTo>
                  <a:lnTo>
                    <a:pt x="59" y="30"/>
                  </a:lnTo>
                  <a:cubicBezTo>
                    <a:pt x="57" y="29"/>
                    <a:pt x="53" y="28"/>
                    <a:pt x="47" y="28"/>
                  </a:cubicBezTo>
                  <a:lnTo>
                    <a:pt x="39" y="28"/>
                  </a:lnTo>
                  <a:lnTo>
                    <a:pt x="39" y="48"/>
                  </a:lnTo>
                  <a:lnTo>
                    <a:pt x="48" y="48"/>
                  </a:lnTo>
                  <a:cubicBezTo>
                    <a:pt x="52" y="48"/>
                    <a:pt x="55" y="47"/>
                    <a:pt x="57" y="46"/>
                  </a:cubicBezTo>
                  <a:cubicBezTo>
                    <a:pt x="61" y="45"/>
                    <a:pt x="63" y="42"/>
                    <a:pt x="63" y="38"/>
                  </a:cubicBezTo>
                  <a:cubicBezTo>
                    <a:pt x="63" y="34"/>
                    <a:pt x="61" y="31"/>
                    <a:pt x="59" y="30"/>
                  </a:cubicBezTo>
                  <a:close/>
                  <a:moveTo>
                    <a:pt x="49" y="22"/>
                  </a:moveTo>
                  <a:lnTo>
                    <a:pt x="49" y="22"/>
                  </a:lnTo>
                  <a:cubicBezTo>
                    <a:pt x="55" y="22"/>
                    <a:pt x="60" y="22"/>
                    <a:pt x="63" y="23"/>
                  </a:cubicBezTo>
                  <a:cubicBezTo>
                    <a:pt x="69" y="26"/>
                    <a:pt x="72" y="30"/>
                    <a:pt x="72" y="37"/>
                  </a:cubicBezTo>
                  <a:cubicBezTo>
                    <a:pt x="72" y="42"/>
                    <a:pt x="70" y="46"/>
                    <a:pt x="66" y="48"/>
                  </a:cubicBezTo>
                  <a:cubicBezTo>
                    <a:pt x="65" y="49"/>
                    <a:pt x="62" y="50"/>
                    <a:pt x="59" y="51"/>
                  </a:cubicBezTo>
                  <a:cubicBezTo>
                    <a:pt x="63" y="51"/>
                    <a:pt x="66" y="53"/>
                    <a:pt x="68" y="56"/>
                  </a:cubicBezTo>
                  <a:cubicBezTo>
                    <a:pt x="70" y="59"/>
                    <a:pt x="71" y="62"/>
                    <a:pt x="71" y="64"/>
                  </a:cubicBezTo>
                  <a:lnTo>
                    <a:pt x="71" y="68"/>
                  </a:lnTo>
                  <a:cubicBezTo>
                    <a:pt x="71" y="69"/>
                    <a:pt x="71" y="71"/>
                    <a:pt x="71" y="72"/>
                  </a:cubicBezTo>
                  <a:cubicBezTo>
                    <a:pt x="71" y="74"/>
                    <a:pt x="71" y="75"/>
                    <a:pt x="72" y="75"/>
                  </a:cubicBezTo>
                  <a:lnTo>
                    <a:pt x="72" y="76"/>
                  </a:lnTo>
                  <a:lnTo>
                    <a:pt x="63" y="76"/>
                  </a:lnTo>
                  <a:cubicBezTo>
                    <a:pt x="63" y="76"/>
                    <a:pt x="63" y="75"/>
                    <a:pt x="63" y="75"/>
                  </a:cubicBezTo>
                  <a:cubicBezTo>
                    <a:pt x="63" y="75"/>
                    <a:pt x="63" y="75"/>
                    <a:pt x="63" y="75"/>
                  </a:cubicBezTo>
                  <a:lnTo>
                    <a:pt x="62" y="73"/>
                  </a:lnTo>
                  <a:lnTo>
                    <a:pt x="62" y="69"/>
                  </a:lnTo>
                  <a:cubicBezTo>
                    <a:pt x="62" y="62"/>
                    <a:pt x="61" y="58"/>
                    <a:pt x="57" y="56"/>
                  </a:cubicBezTo>
                  <a:cubicBezTo>
                    <a:pt x="55" y="55"/>
                    <a:pt x="52" y="54"/>
                    <a:pt x="47" y="54"/>
                  </a:cubicBezTo>
                  <a:lnTo>
                    <a:pt x="39" y="54"/>
                  </a:lnTo>
                  <a:lnTo>
                    <a:pt x="39" y="76"/>
                  </a:lnTo>
                  <a:lnTo>
                    <a:pt x="30" y="76"/>
                  </a:lnTo>
                  <a:lnTo>
                    <a:pt x="30" y="22"/>
                  </a:lnTo>
                  <a:lnTo>
                    <a:pt x="49" y="22"/>
                  </a:lnTo>
                  <a:lnTo>
                    <a:pt x="49" y="22"/>
                  </a:lnTo>
                  <a:close/>
                  <a:moveTo>
                    <a:pt x="20" y="19"/>
                  </a:moveTo>
                  <a:lnTo>
                    <a:pt x="20" y="19"/>
                  </a:lnTo>
                  <a:cubicBezTo>
                    <a:pt x="11" y="27"/>
                    <a:pt x="7" y="37"/>
                    <a:pt x="7" y="49"/>
                  </a:cubicBezTo>
                  <a:cubicBezTo>
                    <a:pt x="7" y="61"/>
                    <a:pt x="11" y="71"/>
                    <a:pt x="20" y="79"/>
                  </a:cubicBezTo>
                  <a:cubicBezTo>
                    <a:pt x="28" y="87"/>
                    <a:pt x="38" y="92"/>
                    <a:pt x="50" y="92"/>
                  </a:cubicBezTo>
                  <a:cubicBezTo>
                    <a:pt x="61" y="92"/>
                    <a:pt x="71" y="87"/>
                    <a:pt x="80" y="79"/>
                  </a:cubicBezTo>
                  <a:cubicBezTo>
                    <a:pt x="88" y="71"/>
                    <a:pt x="92" y="61"/>
                    <a:pt x="92" y="49"/>
                  </a:cubicBezTo>
                  <a:cubicBezTo>
                    <a:pt x="92" y="37"/>
                    <a:pt x="88" y="27"/>
                    <a:pt x="80" y="19"/>
                  </a:cubicBezTo>
                  <a:cubicBezTo>
                    <a:pt x="71" y="10"/>
                    <a:pt x="61" y="6"/>
                    <a:pt x="50" y="6"/>
                  </a:cubicBezTo>
                  <a:cubicBezTo>
                    <a:pt x="38" y="6"/>
                    <a:pt x="28" y="10"/>
                    <a:pt x="20" y="19"/>
                  </a:cubicBezTo>
                  <a:close/>
                  <a:moveTo>
                    <a:pt x="85" y="84"/>
                  </a:moveTo>
                  <a:lnTo>
                    <a:pt x="85" y="84"/>
                  </a:lnTo>
                  <a:cubicBezTo>
                    <a:pt x="75" y="94"/>
                    <a:pt x="63" y="98"/>
                    <a:pt x="50" y="98"/>
                  </a:cubicBezTo>
                  <a:cubicBezTo>
                    <a:pt x="36" y="98"/>
                    <a:pt x="24" y="94"/>
                    <a:pt x="15" y="84"/>
                  </a:cubicBezTo>
                  <a:cubicBezTo>
                    <a:pt x="5" y="74"/>
                    <a:pt x="0" y="63"/>
                    <a:pt x="0" y="49"/>
                  </a:cubicBezTo>
                  <a:cubicBezTo>
                    <a:pt x="0" y="35"/>
                    <a:pt x="5" y="24"/>
                    <a:pt x="15" y="14"/>
                  </a:cubicBezTo>
                  <a:cubicBezTo>
                    <a:pt x="24" y="4"/>
                    <a:pt x="36" y="0"/>
                    <a:pt x="50" y="0"/>
                  </a:cubicBezTo>
                  <a:cubicBezTo>
                    <a:pt x="63" y="0"/>
                    <a:pt x="75" y="4"/>
                    <a:pt x="85" y="14"/>
                  </a:cubicBezTo>
                  <a:cubicBezTo>
                    <a:pt x="94" y="24"/>
                    <a:pt x="99" y="35"/>
                    <a:pt x="99" y="49"/>
                  </a:cubicBezTo>
                  <a:cubicBezTo>
                    <a:pt x="99" y="63"/>
                    <a:pt x="94" y="74"/>
                    <a:pt x="85" y="84"/>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3C3B"/>
                </a:solidFill>
                <a:latin typeface="Century Gothic"/>
                <a:ea typeface="Century Gothic"/>
                <a:cs typeface="Century Gothic"/>
                <a:sym typeface="Century Gothic"/>
              </a:endParaRPr>
            </a:p>
          </p:txBody>
        </p:sp>
      </p:grpSp>
    </p:spTree>
  </p:cSld>
  <p:clrMapOvr>
    <a:masterClrMapping/>
  </p:clrMapOvr>
  <p:transition spd="med">
    <p:fade/>
  </p:transition>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tle and Content">
  <p:cSld name="5_Title and Content">
    <p:spTree>
      <p:nvGrpSpPr>
        <p:cNvPr id="139" name="Shape 139"/>
        <p:cNvGrpSpPr/>
        <p:nvPr/>
      </p:nvGrpSpPr>
      <p:grpSpPr>
        <a:xfrm>
          <a:off x="0" y="0"/>
          <a:ext cx="0" cy="0"/>
          <a:chOff x="0" y="0"/>
          <a:chExt cx="0" cy="0"/>
        </a:xfrm>
      </p:grpSpPr>
      <p:sp>
        <p:nvSpPr>
          <p:cNvPr id="140" name="Google Shape;140;p30"/>
          <p:cNvSpPr txBox="1"/>
          <p:nvPr>
            <p:ph idx="1" type="body"/>
          </p:nvPr>
        </p:nvSpPr>
        <p:spPr>
          <a:xfrm>
            <a:off x="457200" y="1115840"/>
            <a:ext cx="8229600" cy="3507581"/>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solidFill>
                  <a:schemeClr val="dk1"/>
                </a:solidFill>
              </a:defRPr>
            </a:lvl1pPr>
            <a:lvl2pPr indent="-330200" lvl="1" marL="914400" algn="l">
              <a:lnSpc>
                <a:spcPct val="85000"/>
              </a:lnSpc>
              <a:spcBef>
                <a:spcPts val="200"/>
              </a:spcBef>
              <a:spcAft>
                <a:spcPts val="0"/>
              </a:spcAft>
              <a:buClr>
                <a:schemeClr val="dk1"/>
              </a:buClr>
              <a:buSzPts val="1600"/>
              <a:buChar char="–"/>
              <a:defRPr sz="1600">
                <a:solidFill>
                  <a:schemeClr val="dk1"/>
                </a:solidFill>
              </a:defRPr>
            </a:lvl2pPr>
            <a:lvl3pPr indent="-317500" lvl="2" marL="1371600" algn="l">
              <a:lnSpc>
                <a:spcPct val="85000"/>
              </a:lnSpc>
              <a:spcBef>
                <a:spcPts val="200"/>
              </a:spcBef>
              <a:spcAft>
                <a:spcPts val="0"/>
              </a:spcAft>
              <a:buClr>
                <a:schemeClr val="dk1"/>
              </a:buClr>
              <a:buSzPts val="1400"/>
              <a:buChar char="-"/>
              <a:defRPr sz="1400">
                <a:solidFill>
                  <a:schemeClr val="dk1"/>
                </a:solidFill>
              </a:defRPr>
            </a:lvl3pPr>
            <a:lvl4pPr indent="-342900" lvl="3" marL="1828800" algn="l">
              <a:lnSpc>
                <a:spcPct val="95000"/>
              </a:lnSpc>
              <a:spcBef>
                <a:spcPts val="600"/>
              </a:spcBef>
              <a:spcAft>
                <a:spcPts val="0"/>
              </a:spcAft>
              <a:buClr>
                <a:schemeClr val="dk1"/>
              </a:buClr>
              <a:buSzPts val="1800"/>
              <a:buChar char="​"/>
              <a:defRPr sz="1800">
                <a:solidFill>
                  <a:schemeClr val="dk1"/>
                </a:solidFill>
              </a:defRPr>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41" name="Google Shape;141;p30"/>
          <p:cNvSpPr txBox="1"/>
          <p:nvPr>
            <p:ph idx="2" type="body"/>
          </p:nvPr>
        </p:nvSpPr>
        <p:spPr>
          <a:xfrm>
            <a:off x="457200" y="703405"/>
            <a:ext cx="8229600" cy="353174"/>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dk1"/>
              </a:buClr>
              <a:buSzPts val="1800"/>
              <a:buFont typeface="Century Gothic"/>
              <a:buNone/>
              <a:defRPr sz="1800">
                <a:solidFill>
                  <a:schemeClr val="dk1"/>
                </a:solidFill>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42" name="Google Shape;142;p30"/>
          <p:cNvSpPr txBox="1"/>
          <p:nvPr>
            <p:ph type="title"/>
          </p:nvPr>
        </p:nvSpPr>
        <p:spPr>
          <a:xfrm>
            <a:off x="457200" y="128590"/>
            <a:ext cx="8229600" cy="526298"/>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3" name="Google Shape;143;p30"/>
          <p:cNvSpPr txBox="1"/>
          <p:nvPr>
            <p:ph idx="3" type="body"/>
          </p:nvPr>
        </p:nvSpPr>
        <p:spPr>
          <a:xfrm>
            <a:off x="3297994" y="4943703"/>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 name="Shape 12"/>
        <p:cNvGrpSpPr/>
        <p:nvPr/>
      </p:nvGrpSpPr>
      <p:grpSpPr>
        <a:xfrm>
          <a:off x="0" y="0"/>
          <a:ext cx="0" cy="0"/>
          <a:chOff x="0" y="0"/>
          <a:chExt cx="0" cy="0"/>
        </a:xfrm>
      </p:grpSpPr>
      <p:sp>
        <p:nvSpPr>
          <p:cNvPr id="13" name="Google Shape;13;p1"/>
          <p:cNvSpPr txBox="1"/>
          <p:nvPr>
            <p:ph idx="1" type="body"/>
          </p:nvPr>
        </p:nvSpPr>
        <p:spPr>
          <a:xfrm>
            <a:off x="457200" y="1216372"/>
            <a:ext cx="8229600" cy="3340559"/>
          </a:xfrm>
          <a:prstGeom prst="rect">
            <a:avLst/>
          </a:prstGeom>
          <a:noFill/>
          <a:ln>
            <a:noFill/>
          </a:ln>
        </p:spPr>
        <p:txBody>
          <a:bodyPr anchorCtr="0" anchor="t" bIns="0" lIns="0" spcFirstLastPara="1" rIns="0" wrap="square" tIns="0">
            <a:noAutofit/>
          </a:bodyPr>
          <a:lstStyle>
            <a:lvl1pPr indent="-342900" lvl="0" marL="457200"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1pPr>
            <a:lvl2pPr indent="-330200" lvl="1" marL="914400" marR="0" rtl="0" algn="l">
              <a:lnSpc>
                <a:spcPct val="85000"/>
              </a:lnSpc>
              <a:spcBef>
                <a:spcPts val="200"/>
              </a:spcBef>
              <a:spcAft>
                <a:spcPts val="0"/>
              </a:spcAft>
              <a:buClr>
                <a:schemeClr val="dk1"/>
              </a:buClr>
              <a:buSzPts val="1600"/>
              <a:buFont typeface="Arial"/>
              <a:buChar char="–"/>
              <a:defRPr b="0" i="0" sz="1600" u="none" cap="none" strike="noStrike">
                <a:solidFill>
                  <a:schemeClr val="dk1"/>
                </a:solidFill>
                <a:latin typeface="Century Gothic"/>
                <a:ea typeface="Century Gothic"/>
                <a:cs typeface="Century Gothic"/>
                <a:sym typeface="Century Gothic"/>
              </a:defRPr>
            </a:lvl2pPr>
            <a:lvl3pPr indent="-317500" lvl="2" marL="1371600" marR="0" rtl="0" algn="l">
              <a:lnSpc>
                <a:spcPct val="85000"/>
              </a:lnSpc>
              <a:spcBef>
                <a:spcPts val="200"/>
              </a:spcBef>
              <a:spcAft>
                <a:spcPts val="0"/>
              </a:spcAft>
              <a:buClr>
                <a:schemeClr val="dk1"/>
              </a:buClr>
              <a:buSzPts val="1400"/>
              <a:buFont typeface="Arial"/>
              <a:buChar char="-"/>
              <a:defRPr b="0" i="0" sz="1400" u="none" cap="none" strike="noStrike">
                <a:solidFill>
                  <a:schemeClr val="dk1"/>
                </a:solidFill>
                <a:latin typeface="Century Gothic"/>
                <a:ea typeface="Century Gothic"/>
                <a:cs typeface="Century Gothic"/>
                <a:sym typeface="Century Gothic"/>
              </a:defRPr>
            </a:lvl3pPr>
            <a:lvl4pPr indent="-342900" lvl="3" marL="1828800"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4pPr>
            <a:lvl5pPr indent="-342900" lvl="4" marL="2286000" marR="0" rtl="0" algn="l">
              <a:lnSpc>
                <a:spcPct val="95000"/>
              </a:lnSpc>
              <a:spcBef>
                <a:spcPts val="600"/>
              </a:spcBef>
              <a:spcAft>
                <a:spcPts val="0"/>
              </a:spcAft>
              <a:buClr>
                <a:schemeClr val="accent1"/>
              </a:buClr>
              <a:buSzPts val="1800"/>
              <a:buFont typeface="Arial"/>
              <a:buChar char="​"/>
              <a:defRPr b="0" i="0" sz="1800" u="none" cap="none" strike="noStrike">
                <a:solidFill>
                  <a:schemeClr val="accent1"/>
                </a:solidFill>
                <a:latin typeface="Century Gothic"/>
                <a:ea typeface="Century Gothic"/>
                <a:cs typeface="Century Gothic"/>
                <a:sym typeface="Century Gothic"/>
              </a:defRPr>
            </a:lvl5pPr>
            <a:lvl6pPr indent="-342900" lvl="5" marL="2743200" marR="0" rtl="0" algn="l">
              <a:lnSpc>
                <a:spcPct val="95000"/>
              </a:lnSpc>
              <a:spcBef>
                <a:spcPts val="600"/>
              </a:spcBef>
              <a:spcAft>
                <a:spcPts val="0"/>
              </a:spcAft>
              <a:buClr>
                <a:schemeClr val="accent2"/>
              </a:buClr>
              <a:buSzPts val="1800"/>
              <a:buFont typeface="Arial"/>
              <a:buChar char="​"/>
              <a:defRPr b="0" i="0" sz="1800" u="none" cap="none" strike="noStrike">
                <a:solidFill>
                  <a:schemeClr val="accent2"/>
                </a:solidFill>
                <a:latin typeface="Century Gothic"/>
                <a:ea typeface="Century Gothic"/>
                <a:cs typeface="Century Gothic"/>
                <a:sym typeface="Century Gothic"/>
              </a:defRPr>
            </a:lvl6pPr>
            <a:lvl7pPr indent="-342900" lvl="6" marL="3200400" marR="0" rtl="0" algn="l">
              <a:lnSpc>
                <a:spcPct val="95000"/>
              </a:lnSpc>
              <a:spcBef>
                <a:spcPts val="1000"/>
              </a:spcBef>
              <a:spcAft>
                <a:spcPts val="0"/>
              </a:spcAft>
              <a:buClr>
                <a:schemeClr val="dk1"/>
              </a:buClr>
              <a:buSzPts val="1800"/>
              <a:buFont typeface="Arial"/>
              <a:buChar char="​"/>
              <a:defRPr b="1" i="0" sz="1800" u="none" cap="none" strike="noStrike">
                <a:solidFill>
                  <a:schemeClr val="dk1"/>
                </a:solidFill>
                <a:latin typeface="Century Gothic"/>
                <a:ea typeface="Century Gothic"/>
                <a:cs typeface="Century Gothic"/>
                <a:sym typeface="Century Gothic"/>
              </a:defRPr>
            </a:lvl7pPr>
            <a:lvl8pPr indent="-342900" lvl="7" marL="3657600" marR="0" rtl="0" algn="l">
              <a:lnSpc>
                <a:spcPct val="95000"/>
              </a:lnSpc>
              <a:spcBef>
                <a:spcPts val="200"/>
              </a:spcBef>
              <a:spcAft>
                <a:spcPts val="0"/>
              </a:spcAft>
              <a:buClr>
                <a:schemeClr val="dk1"/>
              </a:buClr>
              <a:buSzPts val="1800"/>
              <a:buFont typeface="Century Gothic"/>
              <a:buAutoNum type="arabicPeriod"/>
              <a:defRPr b="0" i="0" sz="1800" u="none" cap="none" strike="noStrike">
                <a:solidFill>
                  <a:schemeClr val="dk1"/>
                </a:solidFill>
                <a:latin typeface="Century Gothic"/>
                <a:ea typeface="Century Gothic"/>
                <a:cs typeface="Century Gothic"/>
                <a:sym typeface="Century Gothic"/>
              </a:defRPr>
            </a:lvl8pPr>
            <a:lvl9pPr indent="-285750" lvl="8" marL="4114800" marR="0" rtl="0" algn="l">
              <a:lnSpc>
                <a:spcPct val="95000"/>
              </a:lnSpc>
              <a:spcBef>
                <a:spcPts val="400"/>
              </a:spcBef>
              <a:spcAft>
                <a:spcPts val="400"/>
              </a:spcAft>
              <a:buClr>
                <a:schemeClr val="accent6"/>
              </a:buClr>
              <a:buSzPts val="900"/>
              <a:buFont typeface="Arial"/>
              <a:buChar char="​"/>
              <a:defRPr b="0" i="0" sz="900" u="none" cap="none" strike="noStrike">
                <a:solidFill>
                  <a:schemeClr val="accent6"/>
                </a:solidFill>
                <a:latin typeface="Century Gothic"/>
                <a:ea typeface="Century Gothic"/>
                <a:cs typeface="Century Gothic"/>
                <a:sym typeface="Century Gothic"/>
              </a:defRPr>
            </a:lvl9pPr>
          </a:lstStyle>
          <a:p/>
        </p:txBody>
      </p:sp>
      <p:sp>
        <p:nvSpPr>
          <p:cNvPr id="14" name="Google Shape;14;p1"/>
          <p:cNvSpPr txBox="1"/>
          <p:nvPr/>
        </p:nvSpPr>
        <p:spPr>
          <a:xfrm>
            <a:off x="153254" y="4896022"/>
            <a:ext cx="133221" cy="130805"/>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lang="en-GB" sz="850">
                <a:solidFill>
                  <a:srgbClr val="6C6C6C"/>
                </a:solidFill>
                <a:latin typeface="Century Gothic"/>
                <a:ea typeface="Century Gothic"/>
                <a:cs typeface="Century Gothic"/>
                <a:sym typeface="Century Gothic"/>
              </a:rPr>
              <a:t>‹#›</a:t>
            </a:fld>
            <a:endParaRPr sz="850">
              <a:solidFill>
                <a:srgbClr val="6C6C6C"/>
              </a:solidFill>
              <a:latin typeface="Century Gothic"/>
              <a:ea typeface="Century Gothic"/>
              <a:cs typeface="Century Gothic"/>
              <a:sym typeface="Century Gothic"/>
            </a:endParaRPr>
          </a:p>
        </p:txBody>
      </p:sp>
      <p:sp>
        <p:nvSpPr>
          <p:cNvPr id="15" name="Google Shape;15;p1"/>
          <p:cNvSpPr txBox="1"/>
          <p:nvPr>
            <p:ph type="title"/>
          </p:nvPr>
        </p:nvSpPr>
        <p:spPr>
          <a:xfrm>
            <a:off x="457200" y="164592"/>
            <a:ext cx="8229600" cy="704088"/>
          </a:xfrm>
          <a:prstGeom prst="rect">
            <a:avLst/>
          </a:prstGeom>
          <a:noFill/>
          <a:ln>
            <a:noFill/>
          </a:ln>
        </p:spPr>
        <p:txBody>
          <a:bodyPr anchorCtr="0" anchor="b" bIns="0" lIns="0" spcFirstLastPara="1" rIns="0" wrap="square" tIns="0">
            <a:noAutofit/>
          </a:bodyPr>
          <a:lstStyle>
            <a:lvl1pPr lvl="0" marR="0" rtl="0" algn="l">
              <a:lnSpc>
                <a:spcPct val="95000"/>
              </a:lnSpc>
              <a:spcBef>
                <a:spcPts val="0"/>
              </a:spcBef>
              <a:spcAft>
                <a:spcPts val="0"/>
              </a:spcAft>
              <a:buClr>
                <a:schemeClr val="accent1"/>
              </a:buClr>
              <a:buSzPts val="2200"/>
              <a:buFont typeface="Century Gothic"/>
              <a:buNone/>
              <a:defRPr b="1" i="0" sz="2200" u="none" cap="none" strike="noStrike">
                <a:solidFill>
                  <a:schemeClr val="accent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grpSp>
        <p:nvGrpSpPr>
          <p:cNvPr id="16" name="Google Shape;16;p1"/>
          <p:cNvGrpSpPr/>
          <p:nvPr/>
        </p:nvGrpSpPr>
        <p:grpSpPr>
          <a:xfrm>
            <a:off x="7772401" y="4853350"/>
            <a:ext cx="914400" cy="204717"/>
            <a:chOff x="5137" y="4139"/>
            <a:chExt cx="335" cy="75"/>
          </a:xfrm>
        </p:grpSpPr>
        <p:sp>
          <p:nvSpPr>
            <p:cNvPr id="17" name="Google Shape;17;p1"/>
            <p:cNvSpPr/>
            <p:nvPr/>
          </p:nvSpPr>
          <p:spPr>
            <a:xfrm>
              <a:off x="5137" y="4139"/>
              <a:ext cx="324" cy="75"/>
            </a:xfrm>
            <a:custGeom>
              <a:rect b="b" l="l" r="r" t="t"/>
              <a:pathLst>
                <a:path extrusionOk="0" h="863" w="3745">
                  <a:moveTo>
                    <a:pt x="660" y="0"/>
                  </a:moveTo>
                  <a:lnTo>
                    <a:pt x="660" y="0"/>
                  </a:lnTo>
                  <a:lnTo>
                    <a:pt x="22" y="0"/>
                  </a:lnTo>
                  <a:lnTo>
                    <a:pt x="0" y="73"/>
                  </a:lnTo>
                  <a:lnTo>
                    <a:pt x="292" y="73"/>
                  </a:lnTo>
                  <a:lnTo>
                    <a:pt x="292" y="804"/>
                  </a:lnTo>
                  <a:cubicBezTo>
                    <a:pt x="292" y="843"/>
                    <a:pt x="316" y="863"/>
                    <a:pt x="360" y="863"/>
                  </a:cubicBezTo>
                  <a:lnTo>
                    <a:pt x="399" y="863"/>
                  </a:lnTo>
                  <a:lnTo>
                    <a:pt x="399" y="73"/>
                  </a:lnTo>
                  <a:lnTo>
                    <a:pt x="637" y="73"/>
                  </a:lnTo>
                  <a:lnTo>
                    <a:pt x="660" y="0"/>
                  </a:lnTo>
                  <a:lnTo>
                    <a:pt x="660" y="0"/>
                  </a:lnTo>
                  <a:close/>
                  <a:moveTo>
                    <a:pt x="2673" y="181"/>
                  </a:moveTo>
                  <a:lnTo>
                    <a:pt x="2673" y="181"/>
                  </a:lnTo>
                  <a:cubicBezTo>
                    <a:pt x="2647" y="181"/>
                    <a:pt x="2626" y="190"/>
                    <a:pt x="2621" y="203"/>
                  </a:cubicBezTo>
                  <a:lnTo>
                    <a:pt x="2408" y="768"/>
                  </a:lnTo>
                  <a:lnTo>
                    <a:pt x="2448" y="768"/>
                  </a:lnTo>
                  <a:cubicBezTo>
                    <a:pt x="2491" y="768"/>
                    <a:pt x="2509" y="764"/>
                    <a:pt x="2522" y="729"/>
                  </a:cubicBezTo>
                  <a:lnTo>
                    <a:pt x="2570" y="596"/>
                  </a:lnTo>
                  <a:lnTo>
                    <a:pt x="2698" y="596"/>
                  </a:lnTo>
                  <a:lnTo>
                    <a:pt x="2679" y="533"/>
                  </a:lnTo>
                  <a:lnTo>
                    <a:pt x="2590" y="533"/>
                  </a:lnTo>
                  <a:lnTo>
                    <a:pt x="2669" y="310"/>
                  </a:lnTo>
                  <a:lnTo>
                    <a:pt x="2812" y="729"/>
                  </a:lnTo>
                  <a:cubicBezTo>
                    <a:pt x="2824" y="764"/>
                    <a:pt x="2845" y="768"/>
                    <a:pt x="2891" y="768"/>
                  </a:cubicBezTo>
                  <a:lnTo>
                    <a:pt x="2941" y="768"/>
                  </a:lnTo>
                  <a:lnTo>
                    <a:pt x="2725" y="203"/>
                  </a:lnTo>
                  <a:cubicBezTo>
                    <a:pt x="2720" y="190"/>
                    <a:pt x="2697" y="181"/>
                    <a:pt x="2673" y="181"/>
                  </a:cubicBezTo>
                  <a:close/>
                  <a:moveTo>
                    <a:pt x="3529" y="203"/>
                  </a:moveTo>
                  <a:lnTo>
                    <a:pt x="3529" y="203"/>
                  </a:lnTo>
                  <a:cubicBezTo>
                    <a:pt x="3524" y="190"/>
                    <a:pt x="3501" y="181"/>
                    <a:pt x="3477" y="181"/>
                  </a:cubicBezTo>
                  <a:cubicBezTo>
                    <a:pt x="3451" y="181"/>
                    <a:pt x="3430" y="190"/>
                    <a:pt x="3425" y="203"/>
                  </a:cubicBezTo>
                  <a:lnTo>
                    <a:pt x="3212" y="768"/>
                  </a:lnTo>
                  <a:lnTo>
                    <a:pt x="3252" y="768"/>
                  </a:lnTo>
                  <a:cubicBezTo>
                    <a:pt x="3294" y="768"/>
                    <a:pt x="3313" y="764"/>
                    <a:pt x="3326" y="729"/>
                  </a:cubicBezTo>
                  <a:lnTo>
                    <a:pt x="3374" y="596"/>
                  </a:lnTo>
                  <a:lnTo>
                    <a:pt x="3502" y="596"/>
                  </a:lnTo>
                  <a:lnTo>
                    <a:pt x="3483" y="533"/>
                  </a:lnTo>
                  <a:lnTo>
                    <a:pt x="3394" y="533"/>
                  </a:lnTo>
                  <a:lnTo>
                    <a:pt x="3473" y="310"/>
                  </a:lnTo>
                  <a:lnTo>
                    <a:pt x="3616" y="729"/>
                  </a:lnTo>
                  <a:cubicBezTo>
                    <a:pt x="3628" y="764"/>
                    <a:pt x="3649" y="768"/>
                    <a:pt x="3695" y="768"/>
                  </a:cubicBezTo>
                  <a:lnTo>
                    <a:pt x="3745" y="768"/>
                  </a:lnTo>
                  <a:lnTo>
                    <a:pt x="3529" y="203"/>
                  </a:lnTo>
                  <a:lnTo>
                    <a:pt x="3529" y="203"/>
                  </a:lnTo>
                  <a:close/>
                  <a:moveTo>
                    <a:pt x="1655" y="181"/>
                  </a:moveTo>
                  <a:lnTo>
                    <a:pt x="1655" y="181"/>
                  </a:lnTo>
                  <a:cubicBezTo>
                    <a:pt x="1630" y="181"/>
                    <a:pt x="1608" y="190"/>
                    <a:pt x="1603" y="203"/>
                  </a:cubicBezTo>
                  <a:lnTo>
                    <a:pt x="1399" y="746"/>
                  </a:lnTo>
                  <a:lnTo>
                    <a:pt x="1247" y="515"/>
                  </a:lnTo>
                  <a:cubicBezTo>
                    <a:pt x="1327" y="501"/>
                    <a:pt x="1374" y="459"/>
                    <a:pt x="1374" y="387"/>
                  </a:cubicBezTo>
                  <a:lnTo>
                    <a:pt x="1374" y="336"/>
                  </a:lnTo>
                  <a:cubicBezTo>
                    <a:pt x="1374" y="232"/>
                    <a:pt x="1277" y="189"/>
                    <a:pt x="1149" y="189"/>
                  </a:cubicBezTo>
                  <a:lnTo>
                    <a:pt x="969" y="189"/>
                  </a:lnTo>
                  <a:lnTo>
                    <a:pt x="969" y="704"/>
                  </a:lnTo>
                  <a:lnTo>
                    <a:pt x="737" y="704"/>
                  </a:lnTo>
                  <a:cubicBezTo>
                    <a:pt x="646" y="704"/>
                    <a:pt x="625" y="684"/>
                    <a:pt x="625" y="590"/>
                  </a:cubicBezTo>
                  <a:lnTo>
                    <a:pt x="625" y="488"/>
                  </a:lnTo>
                  <a:lnTo>
                    <a:pt x="797" y="488"/>
                  </a:lnTo>
                  <a:lnTo>
                    <a:pt x="816" y="424"/>
                  </a:lnTo>
                  <a:lnTo>
                    <a:pt x="625" y="424"/>
                  </a:lnTo>
                  <a:lnTo>
                    <a:pt x="625" y="253"/>
                  </a:lnTo>
                  <a:lnTo>
                    <a:pt x="878" y="253"/>
                  </a:lnTo>
                  <a:lnTo>
                    <a:pt x="897" y="189"/>
                  </a:lnTo>
                  <a:lnTo>
                    <a:pt x="520" y="189"/>
                  </a:lnTo>
                  <a:lnTo>
                    <a:pt x="520" y="590"/>
                  </a:lnTo>
                  <a:cubicBezTo>
                    <a:pt x="520" y="724"/>
                    <a:pt x="552" y="768"/>
                    <a:pt x="735" y="768"/>
                  </a:cubicBezTo>
                  <a:lnTo>
                    <a:pt x="1074" y="766"/>
                  </a:lnTo>
                  <a:lnTo>
                    <a:pt x="1074" y="253"/>
                  </a:lnTo>
                  <a:lnTo>
                    <a:pt x="1149" y="253"/>
                  </a:lnTo>
                  <a:cubicBezTo>
                    <a:pt x="1230" y="253"/>
                    <a:pt x="1271" y="282"/>
                    <a:pt x="1271" y="337"/>
                  </a:cubicBezTo>
                  <a:lnTo>
                    <a:pt x="1271" y="387"/>
                  </a:lnTo>
                  <a:cubicBezTo>
                    <a:pt x="1271" y="443"/>
                    <a:pt x="1220" y="461"/>
                    <a:pt x="1157" y="461"/>
                  </a:cubicBezTo>
                  <a:lnTo>
                    <a:pt x="1110" y="461"/>
                  </a:lnTo>
                  <a:lnTo>
                    <a:pt x="1269" y="733"/>
                  </a:lnTo>
                  <a:cubicBezTo>
                    <a:pt x="1287" y="765"/>
                    <a:pt x="1296" y="768"/>
                    <a:pt x="1338" y="768"/>
                  </a:cubicBezTo>
                  <a:lnTo>
                    <a:pt x="1430" y="768"/>
                  </a:lnTo>
                  <a:cubicBezTo>
                    <a:pt x="1473" y="768"/>
                    <a:pt x="1492" y="764"/>
                    <a:pt x="1505" y="729"/>
                  </a:cubicBezTo>
                  <a:lnTo>
                    <a:pt x="1552" y="596"/>
                  </a:lnTo>
                  <a:lnTo>
                    <a:pt x="1680" y="596"/>
                  </a:lnTo>
                  <a:lnTo>
                    <a:pt x="1661" y="533"/>
                  </a:lnTo>
                  <a:lnTo>
                    <a:pt x="1573" y="533"/>
                  </a:lnTo>
                  <a:lnTo>
                    <a:pt x="1652" y="310"/>
                  </a:lnTo>
                  <a:lnTo>
                    <a:pt x="1795" y="729"/>
                  </a:lnTo>
                  <a:cubicBezTo>
                    <a:pt x="1807" y="764"/>
                    <a:pt x="1827" y="768"/>
                    <a:pt x="1873" y="768"/>
                  </a:cubicBezTo>
                  <a:lnTo>
                    <a:pt x="1923" y="768"/>
                  </a:lnTo>
                  <a:lnTo>
                    <a:pt x="1707" y="203"/>
                  </a:lnTo>
                  <a:cubicBezTo>
                    <a:pt x="1702" y="190"/>
                    <a:pt x="1679" y="181"/>
                    <a:pt x="1655" y="181"/>
                  </a:cubicBezTo>
                  <a:close/>
                  <a:moveTo>
                    <a:pt x="2304" y="530"/>
                  </a:moveTo>
                  <a:lnTo>
                    <a:pt x="2304" y="530"/>
                  </a:lnTo>
                  <a:cubicBezTo>
                    <a:pt x="2304" y="647"/>
                    <a:pt x="2266" y="704"/>
                    <a:pt x="2162" y="704"/>
                  </a:cubicBezTo>
                  <a:lnTo>
                    <a:pt x="2068" y="704"/>
                  </a:lnTo>
                  <a:lnTo>
                    <a:pt x="2068" y="253"/>
                  </a:lnTo>
                  <a:lnTo>
                    <a:pt x="2159" y="253"/>
                  </a:lnTo>
                  <a:cubicBezTo>
                    <a:pt x="2266" y="253"/>
                    <a:pt x="2304" y="316"/>
                    <a:pt x="2304" y="433"/>
                  </a:cubicBezTo>
                  <a:lnTo>
                    <a:pt x="2304" y="530"/>
                  </a:lnTo>
                  <a:lnTo>
                    <a:pt x="2304" y="530"/>
                  </a:lnTo>
                  <a:close/>
                  <a:moveTo>
                    <a:pt x="2409" y="432"/>
                  </a:moveTo>
                  <a:lnTo>
                    <a:pt x="2409" y="432"/>
                  </a:lnTo>
                  <a:cubicBezTo>
                    <a:pt x="2409" y="270"/>
                    <a:pt x="2326" y="189"/>
                    <a:pt x="2159" y="189"/>
                  </a:cubicBezTo>
                  <a:lnTo>
                    <a:pt x="1963" y="189"/>
                  </a:lnTo>
                  <a:lnTo>
                    <a:pt x="1963" y="709"/>
                  </a:lnTo>
                  <a:cubicBezTo>
                    <a:pt x="1963" y="748"/>
                    <a:pt x="1984" y="768"/>
                    <a:pt x="2029" y="768"/>
                  </a:cubicBezTo>
                  <a:lnTo>
                    <a:pt x="2159" y="768"/>
                  </a:lnTo>
                  <a:lnTo>
                    <a:pt x="2180" y="767"/>
                  </a:lnTo>
                  <a:cubicBezTo>
                    <a:pt x="2337" y="761"/>
                    <a:pt x="2409" y="693"/>
                    <a:pt x="2409" y="530"/>
                  </a:cubicBezTo>
                  <a:lnTo>
                    <a:pt x="2409" y="432"/>
                  </a:lnTo>
                  <a:lnTo>
                    <a:pt x="2409" y="432"/>
                  </a:lnTo>
                  <a:close/>
                  <a:moveTo>
                    <a:pt x="3332" y="190"/>
                  </a:moveTo>
                  <a:lnTo>
                    <a:pt x="3332" y="190"/>
                  </a:lnTo>
                  <a:lnTo>
                    <a:pt x="2851" y="190"/>
                  </a:lnTo>
                  <a:lnTo>
                    <a:pt x="2831" y="254"/>
                  </a:lnTo>
                  <a:lnTo>
                    <a:pt x="3028" y="254"/>
                  </a:lnTo>
                  <a:lnTo>
                    <a:pt x="3028" y="710"/>
                  </a:lnTo>
                  <a:cubicBezTo>
                    <a:pt x="3028" y="749"/>
                    <a:pt x="3052" y="768"/>
                    <a:pt x="3096" y="768"/>
                  </a:cubicBezTo>
                  <a:lnTo>
                    <a:pt x="3135" y="768"/>
                  </a:lnTo>
                  <a:lnTo>
                    <a:pt x="3135" y="254"/>
                  </a:lnTo>
                  <a:lnTo>
                    <a:pt x="3313" y="254"/>
                  </a:lnTo>
                  <a:lnTo>
                    <a:pt x="3332" y="19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3C3B"/>
                </a:solidFill>
                <a:latin typeface="Century Gothic"/>
                <a:ea typeface="Century Gothic"/>
                <a:cs typeface="Century Gothic"/>
                <a:sym typeface="Century Gothic"/>
              </a:endParaRPr>
            </a:p>
          </p:txBody>
        </p:sp>
        <p:sp>
          <p:nvSpPr>
            <p:cNvPr id="18" name="Google Shape;18;p1"/>
            <p:cNvSpPr/>
            <p:nvPr/>
          </p:nvSpPr>
          <p:spPr>
            <a:xfrm>
              <a:off x="5464" y="4197"/>
              <a:ext cx="8" cy="9"/>
            </a:xfrm>
            <a:custGeom>
              <a:rect b="b" l="l" r="r" t="t"/>
              <a:pathLst>
                <a:path extrusionOk="0" h="98" w="99">
                  <a:moveTo>
                    <a:pt x="59" y="30"/>
                  </a:moveTo>
                  <a:lnTo>
                    <a:pt x="59" y="30"/>
                  </a:lnTo>
                  <a:cubicBezTo>
                    <a:pt x="57" y="29"/>
                    <a:pt x="53" y="28"/>
                    <a:pt x="47" y="28"/>
                  </a:cubicBezTo>
                  <a:lnTo>
                    <a:pt x="39" y="28"/>
                  </a:lnTo>
                  <a:lnTo>
                    <a:pt x="39" y="48"/>
                  </a:lnTo>
                  <a:lnTo>
                    <a:pt x="48" y="48"/>
                  </a:lnTo>
                  <a:cubicBezTo>
                    <a:pt x="52" y="48"/>
                    <a:pt x="55" y="47"/>
                    <a:pt x="57" y="46"/>
                  </a:cubicBezTo>
                  <a:cubicBezTo>
                    <a:pt x="61" y="45"/>
                    <a:pt x="63" y="42"/>
                    <a:pt x="63" y="38"/>
                  </a:cubicBezTo>
                  <a:cubicBezTo>
                    <a:pt x="63" y="34"/>
                    <a:pt x="61" y="31"/>
                    <a:pt x="59" y="30"/>
                  </a:cubicBezTo>
                  <a:close/>
                  <a:moveTo>
                    <a:pt x="49" y="22"/>
                  </a:moveTo>
                  <a:lnTo>
                    <a:pt x="49" y="22"/>
                  </a:lnTo>
                  <a:cubicBezTo>
                    <a:pt x="55" y="22"/>
                    <a:pt x="60" y="22"/>
                    <a:pt x="63" y="23"/>
                  </a:cubicBezTo>
                  <a:cubicBezTo>
                    <a:pt x="69" y="26"/>
                    <a:pt x="72" y="30"/>
                    <a:pt x="72" y="37"/>
                  </a:cubicBezTo>
                  <a:cubicBezTo>
                    <a:pt x="72" y="42"/>
                    <a:pt x="70" y="46"/>
                    <a:pt x="66" y="48"/>
                  </a:cubicBezTo>
                  <a:cubicBezTo>
                    <a:pt x="65" y="49"/>
                    <a:pt x="62" y="50"/>
                    <a:pt x="59" y="51"/>
                  </a:cubicBezTo>
                  <a:cubicBezTo>
                    <a:pt x="63" y="51"/>
                    <a:pt x="66" y="53"/>
                    <a:pt x="68" y="56"/>
                  </a:cubicBezTo>
                  <a:cubicBezTo>
                    <a:pt x="70" y="59"/>
                    <a:pt x="71" y="62"/>
                    <a:pt x="71" y="64"/>
                  </a:cubicBezTo>
                  <a:lnTo>
                    <a:pt x="71" y="68"/>
                  </a:lnTo>
                  <a:cubicBezTo>
                    <a:pt x="71" y="69"/>
                    <a:pt x="71" y="71"/>
                    <a:pt x="71" y="72"/>
                  </a:cubicBezTo>
                  <a:cubicBezTo>
                    <a:pt x="71" y="74"/>
                    <a:pt x="71" y="75"/>
                    <a:pt x="72" y="75"/>
                  </a:cubicBezTo>
                  <a:lnTo>
                    <a:pt x="72" y="76"/>
                  </a:lnTo>
                  <a:lnTo>
                    <a:pt x="63" y="76"/>
                  </a:lnTo>
                  <a:cubicBezTo>
                    <a:pt x="63" y="76"/>
                    <a:pt x="63" y="75"/>
                    <a:pt x="63" y="75"/>
                  </a:cubicBezTo>
                  <a:cubicBezTo>
                    <a:pt x="63" y="75"/>
                    <a:pt x="63" y="75"/>
                    <a:pt x="63" y="75"/>
                  </a:cubicBezTo>
                  <a:lnTo>
                    <a:pt x="62" y="73"/>
                  </a:lnTo>
                  <a:lnTo>
                    <a:pt x="62" y="69"/>
                  </a:lnTo>
                  <a:cubicBezTo>
                    <a:pt x="62" y="62"/>
                    <a:pt x="61" y="58"/>
                    <a:pt x="57" y="56"/>
                  </a:cubicBezTo>
                  <a:cubicBezTo>
                    <a:pt x="55" y="55"/>
                    <a:pt x="52" y="54"/>
                    <a:pt x="47" y="54"/>
                  </a:cubicBezTo>
                  <a:lnTo>
                    <a:pt x="39" y="54"/>
                  </a:lnTo>
                  <a:lnTo>
                    <a:pt x="39" y="76"/>
                  </a:lnTo>
                  <a:lnTo>
                    <a:pt x="30" y="76"/>
                  </a:lnTo>
                  <a:lnTo>
                    <a:pt x="30" y="22"/>
                  </a:lnTo>
                  <a:lnTo>
                    <a:pt x="49" y="22"/>
                  </a:lnTo>
                  <a:lnTo>
                    <a:pt x="49" y="22"/>
                  </a:lnTo>
                  <a:close/>
                  <a:moveTo>
                    <a:pt x="20" y="19"/>
                  </a:moveTo>
                  <a:lnTo>
                    <a:pt x="20" y="19"/>
                  </a:lnTo>
                  <a:cubicBezTo>
                    <a:pt x="11" y="27"/>
                    <a:pt x="7" y="37"/>
                    <a:pt x="7" y="49"/>
                  </a:cubicBezTo>
                  <a:cubicBezTo>
                    <a:pt x="7" y="61"/>
                    <a:pt x="11" y="71"/>
                    <a:pt x="20" y="79"/>
                  </a:cubicBezTo>
                  <a:cubicBezTo>
                    <a:pt x="28" y="87"/>
                    <a:pt x="38" y="92"/>
                    <a:pt x="50" y="92"/>
                  </a:cubicBezTo>
                  <a:cubicBezTo>
                    <a:pt x="61" y="92"/>
                    <a:pt x="71" y="87"/>
                    <a:pt x="80" y="79"/>
                  </a:cubicBezTo>
                  <a:cubicBezTo>
                    <a:pt x="88" y="71"/>
                    <a:pt x="92" y="61"/>
                    <a:pt x="92" y="49"/>
                  </a:cubicBezTo>
                  <a:cubicBezTo>
                    <a:pt x="92" y="37"/>
                    <a:pt x="88" y="27"/>
                    <a:pt x="80" y="19"/>
                  </a:cubicBezTo>
                  <a:cubicBezTo>
                    <a:pt x="71" y="10"/>
                    <a:pt x="61" y="6"/>
                    <a:pt x="50" y="6"/>
                  </a:cubicBezTo>
                  <a:cubicBezTo>
                    <a:pt x="38" y="6"/>
                    <a:pt x="28" y="10"/>
                    <a:pt x="20" y="19"/>
                  </a:cubicBezTo>
                  <a:close/>
                  <a:moveTo>
                    <a:pt x="85" y="84"/>
                  </a:moveTo>
                  <a:lnTo>
                    <a:pt x="85" y="84"/>
                  </a:lnTo>
                  <a:cubicBezTo>
                    <a:pt x="75" y="94"/>
                    <a:pt x="63" y="98"/>
                    <a:pt x="50" y="98"/>
                  </a:cubicBezTo>
                  <a:cubicBezTo>
                    <a:pt x="36" y="98"/>
                    <a:pt x="24" y="94"/>
                    <a:pt x="15" y="84"/>
                  </a:cubicBezTo>
                  <a:cubicBezTo>
                    <a:pt x="5" y="74"/>
                    <a:pt x="0" y="63"/>
                    <a:pt x="0" y="49"/>
                  </a:cubicBezTo>
                  <a:cubicBezTo>
                    <a:pt x="0" y="35"/>
                    <a:pt x="5" y="24"/>
                    <a:pt x="15" y="14"/>
                  </a:cubicBezTo>
                  <a:cubicBezTo>
                    <a:pt x="24" y="4"/>
                    <a:pt x="36" y="0"/>
                    <a:pt x="50" y="0"/>
                  </a:cubicBezTo>
                  <a:cubicBezTo>
                    <a:pt x="63" y="0"/>
                    <a:pt x="75" y="4"/>
                    <a:pt x="85" y="14"/>
                  </a:cubicBezTo>
                  <a:cubicBezTo>
                    <a:pt x="94" y="24"/>
                    <a:pt x="99" y="35"/>
                    <a:pt x="99" y="49"/>
                  </a:cubicBezTo>
                  <a:cubicBezTo>
                    <a:pt x="99" y="63"/>
                    <a:pt x="94" y="74"/>
                    <a:pt x="85" y="84"/>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3C3B"/>
                </a:solidFill>
                <a:latin typeface="Century Gothic"/>
                <a:ea typeface="Century Gothic"/>
                <a:cs typeface="Century Gothic"/>
                <a:sym typeface="Century Gothic"/>
              </a:endParaRPr>
            </a:p>
          </p:txBody>
        </p:sp>
      </p:grpSp>
      <p:sp>
        <p:nvSpPr>
          <p:cNvPr id="19" name="Google Shape;19;p1"/>
          <p:cNvSpPr txBox="1"/>
          <p:nvPr/>
        </p:nvSpPr>
        <p:spPr>
          <a:xfrm>
            <a:off x="457200" y="4867275"/>
            <a:ext cx="3214489" cy="232042"/>
          </a:xfrm>
          <a:prstGeom prst="rect">
            <a:avLst/>
          </a:prstGeom>
          <a:noFill/>
          <a:ln>
            <a:noFill/>
          </a:ln>
        </p:spPr>
        <p:txBody>
          <a:bodyPr anchorCtr="0" anchor="ctr" bIns="45700" lIns="46800" spcFirstLastPara="1" rIns="91425" wrap="square" tIns="45700">
            <a:noAutofit/>
          </a:bodyPr>
          <a:lstStyle/>
          <a:p>
            <a:pPr indent="0" lvl="0" marL="0" marR="0" rtl="0" algn="l">
              <a:lnSpc>
                <a:spcPct val="100000"/>
              </a:lnSpc>
              <a:spcBef>
                <a:spcPts val="0"/>
              </a:spcBef>
              <a:spcAft>
                <a:spcPts val="0"/>
              </a:spcAft>
              <a:buClr>
                <a:schemeClr val="dk1"/>
              </a:buClr>
              <a:buSzPts val="800"/>
              <a:buFont typeface="Century Gothic"/>
              <a:buNone/>
            </a:pPr>
            <a:r>
              <a:rPr b="0" baseline="30000" lang="en-GB" sz="800">
                <a:solidFill>
                  <a:schemeClr val="dk1"/>
                </a:solidFill>
                <a:latin typeface="Century Gothic"/>
                <a:ea typeface="Century Gothic"/>
                <a:cs typeface="Century Gothic"/>
                <a:sym typeface="Century Gothic"/>
              </a:rPr>
              <a:t>© </a:t>
            </a:r>
            <a:r>
              <a:rPr b="0" lang="en-GB" sz="800">
                <a:solidFill>
                  <a:schemeClr val="dk1"/>
                </a:solidFill>
                <a:latin typeface="Century Gothic"/>
                <a:ea typeface="Century Gothic"/>
                <a:cs typeface="Century Gothic"/>
                <a:sym typeface="Century Gothic"/>
              </a:rPr>
              <a:t>2017 Teradata Confidential Information</a:t>
            </a:r>
            <a:endParaRPr/>
          </a:p>
          <a:p>
            <a:pPr indent="0" lvl="0" marL="0" marR="0" rtl="0" algn="l">
              <a:spcBef>
                <a:spcPts val="0"/>
              </a:spcBef>
              <a:spcAft>
                <a:spcPts val="0"/>
              </a:spcAft>
              <a:buNone/>
            </a:pPr>
            <a:r>
              <a:t/>
            </a:r>
            <a:endParaRPr b="0" sz="100">
              <a:solidFill>
                <a:srgbClr val="A2A2A2"/>
              </a:solidFill>
              <a:latin typeface="Century Gothic"/>
              <a:ea typeface="Century Gothic"/>
              <a:cs typeface="Century Gothic"/>
              <a:sym typeface="Century Gothic"/>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3.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4.xml"/><Relationship Id="rId7" Type="http://schemas.openxmlformats.org/officeDocument/2006/relationships/slide" Target="slide5.xml"/><Relationship Id="rId8" Type="http://schemas.openxmlformats.org/officeDocument/2006/relationships/slide" Target="slide9.xml"/><Relationship Id="rId9" Type="http://schemas.openxmlformats.org/officeDocument/2006/relationships/slide" Target="slide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4.xml"/><Relationship Id="rId3" Type="http://schemas.openxmlformats.org/officeDocument/2006/relationships/slide" Target="slide1.xml"/><Relationship Id="rId4" Type="http://schemas.openxmlformats.org/officeDocument/2006/relationships/slide" Target="slide17.xml"/><Relationship Id="rId5" Type="http://schemas.openxmlformats.org/officeDocument/2006/relationships/slide" Target="slide22.xml"/><Relationship Id="rId6" Type="http://schemas.openxmlformats.org/officeDocument/2006/relationships/slide" Target="slide24.xml"/><Relationship Id="rId7" Type="http://schemas.openxmlformats.org/officeDocument/2006/relationships/slide" Target="slide26.xml"/><Relationship Id="rId8" Type="http://schemas.openxmlformats.org/officeDocument/2006/relationships/slide" Target="slide28.xml"/><Relationship Id="rId9" Type="http://schemas.openxmlformats.org/officeDocument/2006/relationships/slide" Target="slide30.xml"/><Relationship Id="rId10" Type="http://schemas.openxmlformats.org/officeDocument/2006/relationships/slide" Target="slide32.xml"/><Relationship Id="rId11" Type="http://schemas.openxmlformats.org/officeDocument/2006/relationships/slide" Target="slide34.xml"/><Relationship Id="rId12" Type="http://schemas.openxmlformats.org/officeDocument/2006/relationships/slide" Target="slide36.xml"/><Relationship Id="rId13" Type="http://schemas.openxmlformats.org/officeDocument/2006/relationships/slide" Target="slide38.xml"/><Relationship Id="rId14" Type="http://schemas.openxmlformats.org/officeDocument/2006/relationships/slide" Target="slide40.xml"/><Relationship Id="rId15" Type="http://schemas.openxmlformats.org/officeDocument/2006/relationships/slide" Target="slide6.xml"/><Relationship Id="rId16" Type="http://schemas.openxmlformats.org/officeDocument/2006/relationships/slide" Target="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5.xml"/><Relationship Id="rId3" Type="http://schemas.openxmlformats.org/officeDocument/2006/relationships/slide" Target="slide1.xml"/><Relationship Id="rId4" Type="http://schemas.openxmlformats.org/officeDocument/2006/relationships/slide" Target="slide42.xml"/><Relationship Id="rId16" Type="http://schemas.openxmlformats.org/officeDocument/2006/relationships/slide" Target="slide7.xml"/><Relationship Id="rId17" Type="http://schemas.openxmlformats.org/officeDocument/2006/relationships/slide" Target="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6.xml"/><Relationship Id="rId3" Type="http://schemas.openxmlformats.org/officeDocument/2006/relationships/slide" Target="slide1.xml"/><Relationship Id="rId12" Type="http://schemas.openxmlformats.org/officeDocument/2006/relationships/slide" Target="slide7.xml"/><Relationship Id="rId13" Type="http://schemas.openxmlformats.org/officeDocument/2006/relationships/slide" Target="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7.xml"/><Relationship Id="rId3" Type="http://schemas.openxmlformats.org/officeDocument/2006/relationships/slide" Target="slide1.xml"/><Relationship Id="rId11" Type="http://schemas.openxmlformats.org/officeDocument/2006/relationships/slide" Target="slide8.xml"/><Relationship Id="rId12" Type="http://schemas.openxmlformats.org/officeDocument/2006/relationships/slide" Target="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8.xml"/><Relationship Id="rId3" Type="http://schemas.openxmlformats.org/officeDocument/2006/relationships/slide" Target="slide2.xml"/><Relationship Id="rId15" Type="http://schemas.openxmlformats.org/officeDocument/2006/relationships/slide" Target="slide7.xml"/><Relationship Id="rId16" Type="http://schemas.openxmlformats.org/officeDocument/2006/relationships/slide" Target="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9.xml"/><Relationship Id="rId11" Type="http://schemas.openxmlformats.org/officeDocument/2006/relationships/slide" Target="slide6.xml"/><Relationship Id="rId12" Type="http://schemas.openxmlformats.org/officeDocument/2006/relationships/slide" Target="slide8.xml"/><Relationship Id="rId13" Type="http://schemas.openxmlformats.org/officeDocument/2006/relationships/slide" Target="slide3.xml"/><Relationship Id="rId14" Type="http://schemas.openxmlformats.org/officeDocument/2006/relationships/slide" Target="slide4.xml"/><Relationship Id="rId20" Type="http://schemas.openxmlformats.org/officeDocument/2006/relationships/slide" Target="slid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0.xml"/><Relationship Id="rId9" Type="http://schemas.openxmlformats.org/officeDocument/2006/relationships/slide" Target="slide7.xml"/><Relationship Id="rId10" Type="http://schemas.openxmlformats.org/officeDocument/2006/relationships/slide" Target="slide5.xml"/><Relationship Id="rId12" Type="http://schemas.openxmlformats.org/officeDocument/2006/relationships/slide" Target="slid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1.xml"/><Relationship Id="rId3" Type="http://schemas.openxmlformats.org/officeDocument/2006/relationships/image" Target="../media/image37.jpg"/><Relationship Id="rId4" Type="http://schemas.openxmlformats.org/officeDocument/2006/relationships/image" Target="../media/image31.jpg"/><Relationship Id="rId5" Type="http://schemas.openxmlformats.org/officeDocument/2006/relationships/slide" Target="slid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2.xml"/><Relationship Id="rId3" Type="http://schemas.openxmlformats.org/officeDocument/2006/relationships/slide" Target="slid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3.xml"/><Relationship Id="rId3" Type="http://schemas.openxmlformats.org/officeDocument/2006/relationships/image" Target="../media/image36.jpg"/><Relationship Id="rId4" Type="http://schemas.openxmlformats.org/officeDocument/2006/relationships/slide" Target="slide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4.xml"/><Relationship Id="rId3" Type="http://schemas.openxmlformats.org/officeDocument/2006/relationships/image" Target="../media/image37.jpg"/><Relationship Id="rId4" Type="http://schemas.openxmlformats.org/officeDocument/2006/relationships/slide" Target="slid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5.xml"/><Relationship Id="rId3" Type="http://schemas.openxmlformats.org/officeDocument/2006/relationships/image" Target="../media/image32.png"/><Relationship Id="rId4" Type="http://schemas.openxmlformats.org/officeDocument/2006/relationships/slide" Target="slide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6.xml"/><Relationship Id="rId3" Type="http://schemas.openxmlformats.org/officeDocument/2006/relationships/slide" Target="slide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7.xml"/><Relationship Id="rId3" Type="http://schemas.openxmlformats.org/officeDocument/2006/relationships/image" Target="../media/image33.jpg"/><Relationship Id="rId4" Type="http://schemas.openxmlformats.org/officeDocument/2006/relationships/slide" Target="slide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9.xml"/><Relationship Id="rId3" Type="http://schemas.openxmlformats.org/officeDocument/2006/relationships/image" Target="../media/image34.jpg"/><Relationship Id="rId4" Type="http://schemas.openxmlformats.org/officeDocument/2006/relationships/slide" Target="slid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0.xml"/><Relationship Id="rId3" Type="http://schemas.openxmlformats.org/officeDocument/2006/relationships/image" Target="../media/image34.jpg"/><Relationship Id="rId4" Type="http://schemas.openxmlformats.org/officeDocument/2006/relationships/slide" Target="slide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1.xml"/><Relationship Id="rId3" Type="http://schemas.openxmlformats.org/officeDocument/2006/relationships/image" Target="../media/image36.jpg"/><Relationship Id="rId4" Type="http://schemas.openxmlformats.org/officeDocument/2006/relationships/slide" Target="slide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2.xml"/><Relationship Id="rId3" Type="http://schemas.openxmlformats.org/officeDocument/2006/relationships/image" Target="../media/image36.jpg"/><Relationship Id="rId4" Type="http://schemas.openxmlformats.org/officeDocument/2006/relationships/slide" Target="slide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3.xml"/><Relationship Id="rId3" Type="http://schemas.openxmlformats.org/officeDocument/2006/relationships/image" Target="../media/image34.jpg"/><Relationship Id="rId4" Type="http://schemas.openxmlformats.org/officeDocument/2006/relationships/slide" Target="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4.xml"/><Relationship Id="rId3" Type="http://schemas.openxmlformats.org/officeDocument/2006/relationships/image" Target="../media/image35.png"/><Relationship Id="rId4" Type="http://schemas.openxmlformats.org/officeDocument/2006/relationships/slide" Target="slide6.xml"/><Relationship Id="rId5" Type="http://schemas.openxmlformats.org/officeDocument/2006/relationships/slide" Target="slide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5.xml"/><Relationship Id="rId3" Type="http://schemas.openxmlformats.org/officeDocument/2006/relationships/slide" Target="slide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6.xml"/><Relationship Id="rId3" Type="http://schemas.openxmlformats.org/officeDocument/2006/relationships/slide" Target="slide2.xml"/><Relationship Id="rId4" Type="http://schemas.openxmlformats.org/officeDocument/2006/relationships/image" Target="../media/image35.png"/><Relationship Id="rId5" Type="http://schemas.openxmlformats.org/officeDocument/2006/relationships/slide" Target="slide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7.xml"/><Relationship Id="rId3" Type="http://schemas.openxmlformats.org/officeDocument/2006/relationships/slide" Target="slide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8.xml"/><Relationship Id="rId3" Type="http://schemas.openxmlformats.org/officeDocument/2006/relationships/slide" Target="slide2.xml"/><Relationship Id="rId4" Type="http://schemas.openxmlformats.org/officeDocument/2006/relationships/image" Target="../media/image35.png"/><Relationship Id="rId5" Type="http://schemas.openxmlformats.org/officeDocument/2006/relationships/slide" Target="slide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9.xml"/><Relationship Id="rId3" Type="http://schemas.openxmlformats.org/officeDocument/2006/relationships/slide" Target="slide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0.xml"/><Relationship Id="rId3" Type="http://schemas.openxmlformats.org/officeDocument/2006/relationships/slide" Target="slide2.xml"/><Relationship Id="rId4" Type="http://schemas.openxmlformats.org/officeDocument/2006/relationships/image" Target="../media/image35.png"/><Relationship Id="rId5" Type="http://schemas.openxmlformats.org/officeDocument/2006/relationships/slide" Target="slide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1.xml"/><Relationship Id="rId3" Type="http://schemas.openxmlformats.org/officeDocument/2006/relationships/slide" Target="slide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2.xml"/><Relationship Id="rId3" Type="http://schemas.openxmlformats.org/officeDocument/2006/relationships/slide" Target="slide2.xml"/><Relationship Id="rId4" Type="http://schemas.openxmlformats.org/officeDocument/2006/relationships/image" Target="../media/image35.png"/><Relationship Id="rId5" Type="http://schemas.openxmlformats.org/officeDocument/2006/relationships/slide" Target="slide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3.xml"/><Relationship Id="rId3" Type="http://schemas.openxmlformats.org/officeDocument/2006/relationships/slide" Target="slide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4.xml"/><Relationship Id="rId3" Type="http://schemas.openxmlformats.org/officeDocument/2006/relationships/slide" Target="slide2.xml"/><Relationship Id="rId4" Type="http://schemas.openxmlformats.org/officeDocument/2006/relationships/image" Target="../media/image35.png"/><Relationship Id="rId5" Type="http://schemas.openxmlformats.org/officeDocument/2006/relationships/slide" Target="slide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5.xml"/><Relationship Id="rId3" Type="http://schemas.openxmlformats.org/officeDocument/2006/relationships/slide" Target="slide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6.xml"/><Relationship Id="rId3" Type="http://schemas.openxmlformats.org/officeDocument/2006/relationships/slide" Target="slide2.xml"/><Relationship Id="rId4" Type="http://schemas.openxmlformats.org/officeDocument/2006/relationships/image" Target="../media/image35.png"/><Relationship Id="rId5" Type="http://schemas.openxmlformats.org/officeDocument/2006/relationships/slide" Target="slide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7.xml"/><Relationship Id="rId3" Type="http://schemas.openxmlformats.org/officeDocument/2006/relationships/slide" Target="slide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8.xml"/><Relationship Id="rId3" Type="http://schemas.openxmlformats.org/officeDocument/2006/relationships/slide" Target="slide2.xml"/><Relationship Id="rId4" Type="http://schemas.openxmlformats.org/officeDocument/2006/relationships/image" Target="../media/image35.png"/><Relationship Id="rId5" Type="http://schemas.openxmlformats.org/officeDocument/2006/relationships/slide" Target="slide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9.xml"/><Relationship Id="rId3" Type="http://schemas.openxmlformats.org/officeDocument/2006/relationships/slide" Target="slide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20.xml"/><Relationship Id="rId3" Type="http://schemas.openxmlformats.org/officeDocument/2006/relationships/slide" Target="slide2.xml"/><Relationship Id="rId4" Type="http://schemas.openxmlformats.org/officeDocument/2006/relationships/image" Target="../media/image35.png"/><Relationship Id="rId5" Type="http://schemas.openxmlformats.org/officeDocument/2006/relationships/slide" Target="slide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1.xml"/><Relationship Id="rId3" Type="http://schemas.openxmlformats.org/officeDocument/2006/relationships/slide" Target="slide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22.xml"/><Relationship Id="rId3" Type="http://schemas.openxmlformats.org/officeDocument/2006/relationships/slide" Target="slide2.xml"/><Relationship Id="rId4" Type="http://schemas.openxmlformats.org/officeDocument/2006/relationships/image" Target="../media/image35.png"/><Relationship Id="rId5" Type="http://schemas.openxmlformats.org/officeDocument/2006/relationships/slide" Target="slide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3.xml"/><Relationship Id="rId3" Type="http://schemas.openxmlformats.org/officeDocument/2006/relationships/slide" Target="slide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4.xml"/><Relationship Id="rId3" Type="http://schemas.openxmlformats.org/officeDocument/2006/relationships/image" Target="../media/image38.png"/><Relationship Id="rId4" Type="http://schemas.openxmlformats.org/officeDocument/2006/relationships/slide" Target="slide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5.xml"/><Relationship Id="rId3" Type="http://schemas.openxmlformats.org/officeDocument/2006/relationships/image" Target="../media/image38.png"/><Relationship Id="rId4" Type="http://schemas.openxmlformats.org/officeDocument/2006/relationships/slide" Target="slide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6.xml"/><Relationship Id="rId3" Type="http://schemas.openxmlformats.org/officeDocument/2006/relationships/image" Target="../media/image36.jpg"/><Relationship Id="rId4" Type="http://schemas.openxmlformats.org/officeDocument/2006/relationships/slide" Target="slide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7.xml"/><Relationship Id="rId3" Type="http://schemas.openxmlformats.org/officeDocument/2006/relationships/image" Target="../media/image36.jpg"/><Relationship Id="rId4" Type="http://schemas.openxmlformats.org/officeDocument/2006/relationships/slide" Target="slide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8.xml"/><Relationship Id="rId3" Type="http://schemas.openxmlformats.org/officeDocument/2006/relationships/image" Target="../media/image38.png"/><Relationship Id="rId4" Type="http://schemas.openxmlformats.org/officeDocument/2006/relationships/slide" Target="slide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2" name="Shape 3932"/>
        <p:cNvGrpSpPr/>
        <p:nvPr/>
      </p:nvGrpSpPr>
      <p:grpSpPr>
        <a:xfrm>
          <a:off x="0" y="0"/>
          <a:ext cx="0" cy="0"/>
          <a:chOff x="0" y="0"/>
          <a:chExt cx="0" cy="0"/>
        </a:xfrm>
      </p:grpSpPr>
      <p:sp>
        <p:nvSpPr>
          <p:cNvPr id="3933" name="Google Shape;3933;p213"/>
          <p:cNvSpPr txBox="1"/>
          <p:nvPr>
            <p:ph idx="2" type="body"/>
          </p:nvPr>
        </p:nvSpPr>
        <p:spPr>
          <a:xfrm>
            <a:off x="438098" y="585291"/>
            <a:ext cx="8229600" cy="353174"/>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Clr>
                <a:schemeClr val="dk1"/>
              </a:buClr>
              <a:buSzPts val="1600"/>
              <a:buFont typeface="Century Gothic"/>
              <a:buNone/>
            </a:pPr>
            <a:r>
              <a:rPr lang="en-GB" sz="1600"/>
              <a:t>Data and analytics capabilities delivering best-in-class Finance &amp; Performance Management</a:t>
            </a:r>
            <a:endParaRPr sz="1600"/>
          </a:p>
        </p:txBody>
      </p:sp>
      <p:sp>
        <p:nvSpPr>
          <p:cNvPr id="3934" name="Google Shape;3934;p213"/>
          <p:cNvSpPr txBox="1"/>
          <p:nvPr>
            <p:ph type="title"/>
          </p:nvPr>
        </p:nvSpPr>
        <p:spPr>
          <a:xfrm>
            <a:off x="425396" y="17276"/>
            <a:ext cx="8229600" cy="526298"/>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Finance &amp; Performance Management</a:t>
            </a:r>
            <a:endParaRPr sz="2400"/>
          </a:p>
        </p:txBody>
      </p:sp>
      <p:sp>
        <p:nvSpPr>
          <p:cNvPr id="3935" name="Google Shape;3935;p213"/>
          <p:cNvSpPr/>
          <p:nvPr/>
        </p:nvSpPr>
        <p:spPr>
          <a:xfrm>
            <a:off x="459950" y="1187449"/>
            <a:ext cx="8223249" cy="3122083"/>
          </a:xfrm>
          <a:prstGeom prst="roundRect">
            <a:avLst>
              <a:gd fmla="val 2069" name="adj"/>
            </a:avLst>
          </a:prstGeom>
          <a:solidFill>
            <a:srgbClr val="FFFFFF"/>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3936" name="Google Shape;3936;p213">
            <a:hlinkClick action="ppaction://hlinksldjump" r:id="rId3"/>
          </p:cNvPr>
          <p:cNvSpPr/>
          <p:nvPr/>
        </p:nvSpPr>
        <p:spPr>
          <a:xfrm>
            <a:off x="565151" y="1301750"/>
            <a:ext cx="1396270" cy="2861805"/>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rgbClr val="FFFFFF"/>
                </a:solidFill>
                <a:latin typeface="Century Gothic"/>
                <a:ea typeface="Century Gothic"/>
                <a:cs typeface="Century Gothic"/>
                <a:sym typeface="Century Gothic"/>
              </a:rPr>
              <a:t>Finance &amp; Performance Management</a:t>
            </a:r>
            <a:endParaRPr sz="800">
              <a:solidFill>
                <a:srgbClr val="FFFFFF"/>
              </a:solidFill>
              <a:latin typeface="Century Gothic"/>
              <a:ea typeface="Century Gothic"/>
              <a:cs typeface="Century Gothic"/>
              <a:sym typeface="Century Gothic"/>
            </a:endParaRPr>
          </a:p>
        </p:txBody>
      </p:sp>
      <p:sp>
        <p:nvSpPr>
          <p:cNvPr id="3937" name="Google Shape;3937;p213">
            <a:hlinkClick action="ppaction://hlinksldjump" r:id="rId4"/>
          </p:cNvPr>
          <p:cNvSpPr/>
          <p:nvPr/>
        </p:nvSpPr>
        <p:spPr>
          <a:xfrm>
            <a:off x="2099735" y="1755147"/>
            <a:ext cx="2065899" cy="720000"/>
          </a:xfrm>
          <a:prstGeom prst="rect">
            <a:avLst/>
          </a:prstGeom>
          <a:solidFill>
            <a:schemeClr val="accent4"/>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rgbClr val="FFFFFF"/>
                </a:solidFill>
                <a:latin typeface="Century Gothic"/>
                <a:ea typeface="Century Gothic"/>
                <a:cs typeface="Century Gothic"/>
                <a:sym typeface="Century Gothic"/>
              </a:rPr>
              <a:t>Accounting</a:t>
            </a:r>
            <a:br>
              <a:rPr lang="en-GB" sz="1100">
                <a:solidFill>
                  <a:srgbClr val="FFFFFF"/>
                </a:solidFill>
                <a:latin typeface="Century Gothic"/>
                <a:ea typeface="Century Gothic"/>
                <a:cs typeface="Century Gothic"/>
                <a:sym typeface="Century Gothic"/>
              </a:rPr>
            </a:br>
            <a:r>
              <a:rPr lang="en-GB" sz="1100">
                <a:solidFill>
                  <a:srgbClr val="FFFFFF"/>
                </a:solidFill>
                <a:latin typeface="Century Gothic"/>
                <a:ea typeface="Century Gothic"/>
                <a:cs typeface="Century Gothic"/>
                <a:sym typeface="Century Gothic"/>
              </a:rPr>
              <a:t>Operations</a:t>
            </a:r>
            <a:br>
              <a:rPr lang="en-GB" sz="1100">
                <a:solidFill>
                  <a:srgbClr val="FFFFFF"/>
                </a:solidFill>
                <a:latin typeface="Century Gothic"/>
                <a:ea typeface="Century Gothic"/>
                <a:cs typeface="Century Gothic"/>
                <a:sym typeface="Century Gothic"/>
              </a:rPr>
            </a:br>
            <a:r>
              <a:rPr lang="en-GB" sz="1100">
                <a:solidFill>
                  <a:srgbClr val="FFFFFF"/>
                </a:solidFill>
                <a:latin typeface="Century Gothic"/>
                <a:ea typeface="Century Gothic"/>
                <a:cs typeface="Century Gothic"/>
                <a:sym typeface="Century Gothic"/>
              </a:rPr>
              <a:t>and Close</a:t>
            </a:r>
            <a:endParaRPr sz="1100">
              <a:solidFill>
                <a:srgbClr val="FFFFFF"/>
              </a:solidFill>
              <a:latin typeface="Century Gothic"/>
              <a:ea typeface="Century Gothic"/>
              <a:cs typeface="Century Gothic"/>
              <a:sym typeface="Century Gothic"/>
            </a:endParaRPr>
          </a:p>
        </p:txBody>
      </p:sp>
      <p:sp>
        <p:nvSpPr>
          <p:cNvPr id="3938" name="Google Shape;3938;p213">
            <a:hlinkClick action="ppaction://hlinksldjump" r:id="rId5"/>
          </p:cNvPr>
          <p:cNvSpPr/>
          <p:nvPr/>
        </p:nvSpPr>
        <p:spPr>
          <a:xfrm>
            <a:off x="4291698" y="1755147"/>
            <a:ext cx="2065899" cy="720000"/>
          </a:xfrm>
          <a:prstGeom prst="rect">
            <a:avLst/>
          </a:prstGeom>
          <a:solidFill>
            <a:schemeClr val="accent4"/>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rgbClr val="FFFFFF"/>
                </a:solidFill>
                <a:latin typeface="Century Gothic"/>
                <a:ea typeface="Century Gothic"/>
                <a:cs typeface="Century Gothic"/>
                <a:sym typeface="Century Gothic"/>
              </a:rPr>
              <a:t>Enterprise Performance Management</a:t>
            </a:r>
            <a:endParaRPr sz="1100">
              <a:solidFill>
                <a:srgbClr val="FFFFFF"/>
              </a:solidFill>
              <a:latin typeface="Century Gothic"/>
              <a:ea typeface="Century Gothic"/>
              <a:cs typeface="Century Gothic"/>
              <a:sym typeface="Century Gothic"/>
            </a:endParaRPr>
          </a:p>
        </p:txBody>
      </p:sp>
      <p:sp>
        <p:nvSpPr>
          <p:cNvPr id="3939" name="Google Shape;3939;p213">
            <a:hlinkClick action="ppaction://hlinksldjump" r:id="rId6"/>
          </p:cNvPr>
          <p:cNvSpPr/>
          <p:nvPr/>
        </p:nvSpPr>
        <p:spPr>
          <a:xfrm>
            <a:off x="6476968" y="1755147"/>
            <a:ext cx="2065899" cy="720000"/>
          </a:xfrm>
          <a:prstGeom prst="rect">
            <a:avLst/>
          </a:prstGeom>
          <a:solidFill>
            <a:schemeClr val="accent4"/>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rgbClr val="FFFFFF"/>
                </a:solidFill>
                <a:latin typeface="Century Gothic"/>
                <a:ea typeface="Century Gothic"/>
                <a:cs typeface="Century Gothic"/>
                <a:sym typeface="Century Gothic"/>
              </a:rPr>
              <a:t>Treasury Insight &amp; Management</a:t>
            </a:r>
            <a:endParaRPr sz="1100">
              <a:solidFill>
                <a:srgbClr val="FFFFFF"/>
              </a:solidFill>
              <a:latin typeface="Century Gothic"/>
              <a:ea typeface="Century Gothic"/>
              <a:cs typeface="Century Gothic"/>
              <a:sym typeface="Century Gothic"/>
            </a:endParaRPr>
          </a:p>
        </p:txBody>
      </p:sp>
      <p:sp>
        <p:nvSpPr>
          <p:cNvPr id="3940" name="Google Shape;3940;p213">
            <a:hlinkClick action="ppaction://hlinksldjump" r:id="rId7"/>
          </p:cNvPr>
          <p:cNvSpPr/>
          <p:nvPr/>
        </p:nvSpPr>
        <p:spPr>
          <a:xfrm>
            <a:off x="2099735" y="2599351"/>
            <a:ext cx="2065899" cy="720000"/>
          </a:xfrm>
          <a:prstGeom prst="rect">
            <a:avLst/>
          </a:prstGeom>
          <a:solidFill>
            <a:schemeClr val="accent4"/>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rgbClr val="FFFFFF"/>
                </a:solidFill>
                <a:latin typeface="Century Gothic"/>
                <a:ea typeface="Century Gothic"/>
                <a:cs typeface="Century Gothic"/>
                <a:sym typeface="Century Gothic"/>
              </a:rPr>
              <a:t>Financial</a:t>
            </a:r>
            <a:endParaRPr/>
          </a:p>
          <a:p>
            <a:pPr indent="0" lvl="0" marL="0" marR="0" rtl="0" algn="ctr">
              <a:spcBef>
                <a:spcPts val="0"/>
              </a:spcBef>
              <a:spcAft>
                <a:spcPts val="0"/>
              </a:spcAft>
              <a:buNone/>
            </a:pPr>
            <a:r>
              <a:rPr lang="en-GB" sz="1100">
                <a:solidFill>
                  <a:srgbClr val="FFFFFF"/>
                </a:solidFill>
                <a:latin typeface="Century Gothic"/>
                <a:ea typeface="Century Gothic"/>
                <a:cs typeface="Century Gothic"/>
                <a:sym typeface="Century Gothic"/>
              </a:rPr>
              <a:t>Reporting</a:t>
            </a:r>
            <a:endParaRPr sz="1100">
              <a:solidFill>
                <a:srgbClr val="FFFFFF"/>
              </a:solidFill>
              <a:latin typeface="Century Gothic"/>
              <a:ea typeface="Century Gothic"/>
              <a:cs typeface="Century Gothic"/>
              <a:sym typeface="Century Gothic"/>
            </a:endParaRPr>
          </a:p>
        </p:txBody>
      </p:sp>
      <p:sp>
        <p:nvSpPr>
          <p:cNvPr id="3941" name="Google Shape;3941;p213"/>
          <p:cNvSpPr/>
          <p:nvPr/>
        </p:nvSpPr>
        <p:spPr>
          <a:xfrm>
            <a:off x="2073748" y="1283518"/>
            <a:ext cx="6062954" cy="360000"/>
          </a:xfrm>
          <a:prstGeom prst="rect">
            <a:avLst/>
          </a:prstGeom>
          <a:noFill/>
          <a:ln>
            <a:noFill/>
          </a:ln>
        </p:spPr>
        <p:txBody>
          <a:bodyPr anchorCtr="0" anchor="ctr" bIns="91425" lIns="36000" spcFirstLastPara="1" rIns="36000" wrap="square" tIns="91425">
            <a:noAutofit/>
          </a:bodyPr>
          <a:lstStyle/>
          <a:p>
            <a:pPr indent="0" lvl="0" marL="0" marR="0" rtl="0" algn="ctr">
              <a:spcBef>
                <a:spcPts val="0"/>
              </a:spcBef>
              <a:spcAft>
                <a:spcPts val="0"/>
              </a:spcAft>
              <a:buNone/>
            </a:pPr>
            <a:r>
              <a:rPr lang="en-GB" sz="1400">
                <a:solidFill>
                  <a:srgbClr val="3C3C3B"/>
                </a:solidFill>
                <a:latin typeface="Century Gothic"/>
                <a:ea typeface="Century Gothic"/>
                <a:cs typeface="Century Gothic"/>
                <a:sym typeface="Century Gothic"/>
              </a:rPr>
              <a:t>Functional Insights</a:t>
            </a:r>
            <a:endParaRPr sz="1400">
              <a:solidFill>
                <a:srgbClr val="3C3C3B"/>
              </a:solidFill>
              <a:latin typeface="Century Gothic"/>
              <a:ea typeface="Century Gothic"/>
              <a:cs typeface="Century Gothic"/>
              <a:sym typeface="Century Gothic"/>
            </a:endParaRPr>
          </a:p>
        </p:txBody>
      </p:sp>
      <p:sp>
        <p:nvSpPr>
          <p:cNvPr id="3942" name="Google Shape;3942;p213">
            <a:hlinkClick action="ppaction://hlinksldjump" r:id="rId8"/>
          </p:cNvPr>
          <p:cNvSpPr/>
          <p:nvPr/>
        </p:nvSpPr>
        <p:spPr>
          <a:xfrm>
            <a:off x="567549" y="3959468"/>
            <a:ext cx="849788" cy="200177"/>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rPr lang="en-GB" sz="800">
                <a:solidFill>
                  <a:schemeClr val="lt1"/>
                </a:solidFill>
                <a:latin typeface="Century Gothic"/>
                <a:ea typeface="Century Gothic"/>
                <a:cs typeface="Century Gothic"/>
                <a:sym typeface="Century Gothic"/>
              </a:rPr>
              <a:t>More info &gt; </a:t>
            </a:r>
            <a:endParaRPr/>
          </a:p>
        </p:txBody>
      </p:sp>
      <p:grpSp>
        <p:nvGrpSpPr>
          <p:cNvPr id="3943" name="Google Shape;3943;p213"/>
          <p:cNvGrpSpPr/>
          <p:nvPr/>
        </p:nvGrpSpPr>
        <p:grpSpPr>
          <a:xfrm>
            <a:off x="7717533" y="4360377"/>
            <a:ext cx="1058348" cy="347375"/>
            <a:chOff x="7651698" y="4287227"/>
            <a:chExt cx="1058348" cy="347375"/>
          </a:xfrm>
        </p:grpSpPr>
        <p:grpSp>
          <p:nvGrpSpPr>
            <p:cNvPr id="3944" name="Google Shape;3944;p213"/>
            <p:cNvGrpSpPr/>
            <p:nvPr/>
          </p:nvGrpSpPr>
          <p:grpSpPr>
            <a:xfrm>
              <a:off x="7714163" y="4337598"/>
              <a:ext cx="995883" cy="297004"/>
              <a:chOff x="7711013" y="3986494"/>
              <a:chExt cx="995883" cy="297004"/>
            </a:xfrm>
          </p:grpSpPr>
          <p:sp>
            <p:nvSpPr>
              <p:cNvPr id="3945" name="Google Shape;3945;p213"/>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3946" name="Google Shape;3946;p213"/>
              <p:cNvGrpSpPr/>
              <p:nvPr/>
            </p:nvGrpSpPr>
            <p:grpSpPr>
              <a:xfrm>
                <a:off x="7711013" y="4002615"/>
                <a:ext cx="281520" cy="241973"/>
                <a:chOff x="5652748" y="4066000"/>
                <a:chExt cx="906498" cy="747974"/>
              </a:xfrm>
            </p:grpSpPr>
            <p:sp>
              <p:nvSpPr>
                <p:cNvPr id="3947" name="Google Shape;3947;p213"/>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3948" name="Google Shape;3948;p213"/>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3949" name="Google Shape;3949;p213"/>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3950" name="Google Shape;3950;p213">
              <a:hlinkClick action="ppaction://hlinksldjump" r:id="rId9"/>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
        <p:nvSpPr>
          <p:cNvPr id="3951" name="Google Shape;3951;p213">
            <a:hlinkClick action="ppaction://hlinksldjump" r:id="rId10"/>
          </p:cNvPr>
          <p:cNvSpPr/>
          <p:nvPr/>
        </p:nvSpPr>
        <p:spPr>
          <a:xfrm>
            <a:off x="6515100" y="-196501"/>
            <a:ext cx="2777392" cy="378533"/>
          </a:xfrm>
          <a:prstGeom prst="roundRect">
            <a:avLst>
              <a:gd fmla="val 50000" name="adj"/>
            </a:avLst>
          </a:prstGeom>
          <a:solidFill>
            <a:schemeClr val="accent1"/>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Business Value Framework</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6" name="Shape 3956"/>
        <p:cNvGrpSpPr/>
        <p:nvPr/>
      </p:nvGrpSpPr>
      <p:grpSpPr>
        <a:xfrm>
          <a:off x="0" y="0"/>
          <a:ext cx="0" cy="0"/>
          <a:chOff x="0" y="0"/>
          <a:chExt cx="0" cy="0"/>
        </a:xfrm>
      </p:grpSpPr>
      <p:sp>
        <p:nvSpPr>
          <p:cNvPr id="3957" name="Google Shape;3957;p214"/>
          <p:cNvSpPr/>
          <p:nvPr/>
        </p:nvSpPr>
        <p:spPr>
          <a:xfrm>
            <a:off x="459950" y="1187449"/>
            <a:ext cx="8223249" cy="3122083"/>
          </a:xfrm>
          <a:prstGeom prst="roundRect">
            <a:avLst>
              <a:gd fmla="val 2069" name="adj"/>
            </a:avLst>
          </a:prstGeom>
          <a:solidFill>
            <a:srgbClr val="FFFFFF"/>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3958" name="Google Shape;3958;p214">
            <a:hlinkClick action="ppaction://hlinksldjump" r:id="rId3"/>
          </p:cNvPr>
          <p:cNvSpPr/>
          <p:nvPr/>
        </p:nvSpPr>
        <p:spPr>
          <a:xfrm>
            <a:off x="565902" y="1303866"/>
            <a:ext cx="1395519" cy="2861734"/>
          </a:xfrm>
          <a:prstGeom prst="homePlate">
            <a:avLst>
              <a:gd fmla="val 7540" name="adj"/>
            </a:avLst>
          </a:prstGeom>
          <a:solidFill>
            <a:schemeClr val="accent4"/>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rgbClr val="FFFFFF"/>
                </a:solidFill>
                <a:latin typeface="Century Gothic"/>
                <a:ea typeface="Century Gothic"/>
                <a:cs typeface="Century Gothic"/>
                <a:sym typeface="Century Gothic"/>
              </a:rPr>
              <a:t>Accounting</a:t>
            </a:r>
            <a:br>
              <a:rPr lang="en-GB" sz="1100">
                <a:solidFill>
                  <a:srgbClr val="FFFFFF"/>
                </a:solidFill>
                <a:latin typeface="Century Gothic"/>
                <a:ea typeface="Century Gothic"/>
                <a:cs typeface="Century Gothic"/>
                <a:sym typeface="Century Gothic"/>
              </a:rPr>
            </a:br>
            <a:r>
              <a:rPr lang="en-GB" sz="1100">
                <a:solidFill>
                  <a:srgbClr val="FFFFFF"/>
                </a:solidFill>
                <a:latin typeface="Century Gothic"/>
                <a:ea typeface="Century Gothic"/>
                <a:cs typeface="Century Gothic"/>
                <a:sym typeface="Century Gothic"/>
              </a:rPr>
              <a:t>Operations</a:t>
            </a:r>
            <a:br>
              <a:rPr lang="en-GB" sz="1100">
                <a:solidFill>
                  <a:srgbClr val="FFFFFF"/>
                </a:solidFill>
                <a:latin typeface="Century Gothic"/>
                <a:ea typeface="Century Gothic"/>
                <a:cs typeface="Century Gothic"/>
                <a:sym typeface="Century Gothic"/>
              </a:rPr>
            </a:br>
            <a:r>
              <a:rPr lang="en-GB" sz="1100">
                <a:solidFill>
                  <a:srgbClr val="FFFFFF"/>
                </a:solidFill>
                <a:latin typeface="Century Gothic"/>
                <a:ea typeface="Century Gothic"/>
                <a:cs typeface="Century Gothic"/>
                <a:sym typeface="Century Gothic"/>
              </a:rPr>
              <a:t>and Close</a:t>
            </a:r>
            <a:endParaRPr sz="1100">
              <a:solidFill>
                <a:srgbClr val="FFFFFF"/>
              </a:solidFill>
              <a:latin typeface="Century Gothic"/>
              <a:ea typeface="Century Gothic"/>
              <a:cs typeface="Century Gothic"/>
              <a:sym typeface="Century Gothic"/>
            </a:endParaRPr>
          </a:p>
        </p:txBody>
      </p:sp>
      <p:sp>
        <p:nvSpPr>
          <p:cNvPr id="3959" name="Google Shape;3959;p214"/>
          <p:cNvSpPr/>
          <p:nvPr/>
        </p:nvSpPr>
        <p:spPr>
          <a:xfrm>
            <a:off x="2073748" y="1270818"/>
            <a:ext cx="6062954" cy="360000"/>
          </a:xfrm>
          <a:prstGeom prst="rect">
            <a:avLst/>
          </a:prstGeom>
          <a:noFill/>
          <a:ln>
            <a:noFill/>
          </a:ln>
        </p:spPr>
        <p:txBody>
          <a:bodyPr anchorCtr="0" anchor="ctr" bIns="91425" lIns="36000" spcFirstLastPara="1" rIns="36000" wrap="square" tIns="91425">
            <a:noAutofit/>
          </a:bodyPr>
          <a:lstStyle/>
          <a:p>
            <a:pPr indent="0" lvl="0" marL="0" marR="0" rtl="0" algn="ctr">
              <a:spcBef>
                <a:spcPts val="0"/>
              </a:spcBef>
              <a:spcAft>
                <a:spcPts val="0"/>
              </a:spcAft>
              <a:buNone/>
            </a:pPr>
            <a:r>
              <a:rPr lang="en-GB" sz="1400">
                <a:solidFill>
                  <a:srgbClr val="3C3C3B"/>
                </a:solidFill>
                <a:latin typeface="Century Gothic"/>
                <a:ea typeface="Century Gothic"/>
                <a:cs typeface="Century Gothic"/>
                <a:sym typeface="Century Gothic"/>
              </a:rPr>
              <a:t>Analytical Capabilities</a:t>
            </a:r>
            <a:endParaRPr sz="1400">
              <a:solidFill>
                <a:srgbClr val="3C3C3B"/>
              </a:solidFill>
              <a:latin typeface="Century Gothic"/>
              <a:ea typeface="Century Gothic"/>
              <a:cs typeface="Century Gothic"/>
              <a:sym typeface="Century Gothic"/>
            </a:endParaRPr>
          </a:p>
        </p:txBody>
      </p:sp>
      <p:sp>
        <p:nvSpPr>
          <p:cNvPr id="3960" name="Google Shape;3960;p214">
            <a:hlinkClick action="ppaction://hlinksldjump" r:id="rId4"/>
          </p:cNvPr>
          <p:cNvSpPr/>
          <p:nvPr/>
        </p:nvSpPr>
        <p:spPr>
          <a:xfrm>
            <a:off x="567549" y="3946768"/>
            <a:ext cx="849788" cy="200177"/>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rPr lang="en-GB" sz="800">
                <a:solidFill>
                  <a:schemeClr val="lt1"/>
                </a:solidFill>
                <a:latin typeface="Century Gothic"/>
                <a:ea typeface="Century Gothic"/>
                <a:cs typeface="Century Gothic"/>
                <a:sym typeface="Century Gothic"/>
              </a:rPr>
              <a:t>More info &gt; </a:t>
            </a:r>
            <a:endParaRPr/>
          </a:p>
        </p:txBody>
      </p:sp>
      <p:sp>
        <p:nvSpPr>
          <p:cNvPr id="3961" name="Google Shape;3961;p214">
            <a:hlinkClick action="ppaction://hlinksldjump" r:id="rId5"/>
          </p:cNvPr>
          <p:cNvSpPr/>
          <p:nvPr/>
        </p:nvSpPr>
        <p:spPr>
          <a:xfrm>
            <a:off x="2099732" y="1751219"/>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Billing &amp; Collections</a:t>
            </a:r>
            <a:endParaRPr sz="1100">
              <a:solidFill>
                <a:schemeClr val="dk1"/>
              </a:solidFill>
              <a:latin typeface="Century Gothic"/>
              <a:ea typeface="Century Gothic"/>
              <a:cs typeface="Century Gothic"/>
              <a:sym typeface="Century Gothic"/>
            </a:endParaRPr>
          </a:p>
        </p:txBody>
      </p:sp>
      <p:sp>
        <p:nvSpPr>
          <p:cNvPr id="3962" name="Google Shape;3962;p214">
            <a:hlinkClick action="ppaction://hlinksldjump" r:id="rId6"/>
          </p:cNvPr>
          <p:cNvSpPr/>
          <p:nvPr/>
        </p:nvSpPr>
        <p:spPr>
          <a:xfrm>
            <a:off x="4290976" y="1751219"/>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Procurement &amp;</a:t>
            </a:r>
            <a:br>
              <a:rPr lang="en-GB" sz="1100">
                <a:solidFill>
                  <a:schemeClr val="dk1"/>
                </a:solidFill>
                <a:latin typeface="Century Gothic"/>
                <a:ea typeface="Century Gothic"/>
                <a:cs typeface="Century Gothic"/>
                <a:sym typeface="Century Gothic"/>
              </a:rPr>
            </a:br>
            <a:r>
              <a:rPr lang="en-GB" sz="1100">
                <a:solidFill>
                  <a:schemeClr val="dk1"/>
                </a:solidFill>
                <a:latin typeface="Century Gothic"/>
                <a:ea typeface="Century Gothic"/>
                <a:cs typeface="Century Gothic"/>
                <a:sym typeface="Century Gothic"/>
              </a:rPr>
              <a:t>Payment</a:t>
            </a:r>
            <a:endParaRPr sz="1100">
              <a:solidFill>
                <a:schemeClr val="dk1"/>
              </a:solidFill>
              <a:latin typeface="Century Gothic"/>
              <a:ea typeface="Century Gothic"/>
              <a:cs typeface="Century Gothic"/>
              <a:sym typeface="Century Gothic"/>
            </a:endParaRPr>
          </a:p>
        </p:txBody>
      </p:sp>
      <p:sp>
        <p:nvSpPr>
          <p:cNvPr id="3963" name="Google Shape;3963;p214">
            <a:hlinkClick action="ppaction://hlinksldjump" r:id="rId7"/>
          </p:cNvPr>
          <p:cNvSpPr/>
          <p:nvPr/>
        </p:nvSpPr>
        <p:spPr>
          <a:xfrm>
            <a:off x="6475528" y="1751219"/>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Sub-ledger Accounting</a:t>
            </a:r>
            <a:endParaRPr sz="1100">
              <a:solidFill>
                <a:schemeClr val="dk1"/>
              </a:solidFill>
              <a:latin typeface="Century Gothic"/>
              <a:ea typeface="Century Gothic"/>
              <a:cs typeface="Century Gothic"/>
              <a:sym typeface="Century Gothic"/>
            </a:endParaRPr>
          </a:p>
        </p:txBody>
      </p:sp>
      <p:sp>
        <p:nvSpPr>
          <p:cNvPr id="3964" name="Google Shape;3964;p214">
            <a:hlinkClick action="ppaction://hlinksldjump" r:id="rId8"/>
          </p:cNvPr>
          <p:cNvSpPr/>
          <p:nvPr/>
        </p:nvSpPr>
        <p:spPr>
          <a:xfrm>
            <a:off x="2099732" y="2382382"/>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Fair Value &amp; Hedge Accounting</a:t>
            </a:r>
            <a:endParaRPr sz="1100">
              <a:solidFill>
                <a:schemeClr val="dk1"/>
              </a:solidFill>
              <a:latin typeface="Century Gothic"/>
              <a:ea typeface="Century Gothic"/>
              <a:cs typeface="Century Gothic"/>
              <a:sym typeface="Century Gothic"/>
            </a:endParaRPr>
          </a:p>
        </p:txBody>
      </p:sp>
      <p:sp>
        <p:nvSpPr>
          <p:cNvPr id="3965" name="Google Shape;3965;p214">
            <a:hlinkClick action="ppaction://hlinksldjump" r:id="rId9"/>
          </p:cNvPr>
          <p:cNvSpPr/>
          <p:nvPr/>
        </p:nvSpPr>
        <p:spPr>
          <a:xfrm>
            <a:off x="4290976" y="2382382"/>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Asset Valuations</a:t>
            </a:r>
            <a:endParaRPr sz="1100">
              <a:solidFill>
                <a:schemeClr val="dk1"/>
              </a:solidFill>
              <a:latin typeface="Century Gothic"/>
              <a:ea typeface="Century Gothic"/>
              <a:cs typeface="Century Gothic"/>
              <a:sym typeface="Century Gothic"/>
            </a:endParaRPr>
          </a:p>
        </p:txBody>
      </p:sp>
      <p:sp>
        <p:nvSpPr>
          <p:cNvPr id="3966" name="Google Shape;3966;p214">
            <a:hlinkClick action="ppaction://hlinksldjump" r:id="rId10"/>
          </p:cNvPr>
          <p:cNvSpPr/>
          <p:nvPr/>
        </p:nvSpPr>
        <p:spPr>
          <a:xfrm>
            <a:off x="6475528" y="2382382"/>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Reserve Analytics</a:t>
            </a:r>
            <a:endParaRPr sz="1100">
              <a:solidFill>
                <a:schemeClr val="dk1"/>
              </a:solidFill>
              <a:latin typeface="Century Gothic"/>
              <a:ea typeface="Century Gothic"/>
              <a:cs typeface="Century Gothic"/>
              <a:sym typeface="Century Gothic"/>
            </a:endParaRPr>
          </a:p>
        </p:txBody>
      </p:sp>
      <p:sp>
        <p:nvSpPr>
          <p:cNvPr id="3967" name="Google Shape;3967;p214">
            <a:hlinkClick action="ppaction://hlinksldjump" r:id="rId11"/>
          </p:cNvPr>
          <p:cNvSpPr/>
          <p:nvPr/>
        </p:nvSpPr>
        <p:spPr>
          <a:xfrm>
            <a:off x="2099732" y="3013546"/>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Tax Management &amp; Optimisation</a:t>
            </a:r>
            <a:endParaRPr sz="1100">
              <a:solidFill>
                <a:schemeClr val="dk1"/>
              </a:solidFill>
              <a:latin typeface="Century Gothic"/>
              <a:ea typeface="Century Gothic"/>
              <a:cs typeface="Century Gothic"/>
              <a:sym typeface="Century Gothic"/>
            </a:endParaRPr>
          </a:p>
        </p:txBody>
      </p:sp>
      <p:sp>
        <p:nvSpPr>
          <p:cNvPr id="3968" name="Google Shape;3968;p214">
            <a:hlinkClick action="ppaction://hlinksldjump" r:id="rId12"/>
          </p:cNvPr>
          <p:cNvSpPr/>
          <p:nvPr/>
        </p:nvSpPr>
        <p:spPr>
          <a:xfrm>
            <a:off x="4290976" y="3013546"/>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Reconciliation, Validation &amp; Adjustments</a:t>
            </a:r>
            <a:endParaRPr sz="1100">
              <a:solidFill>
                <a:schemeClr val="dk1"/>
              </a:solidFill>
              <a:latin typeface="Century Gothic"/>
              <a:ea typeface="Century Gothic"/>
              <a:cs typeface="Century Gothic"/>
              <a:sym typeface="Century Gothic"/>
            </a:endParaRPr>
          </a:p>
        </p:txBody>
      </p:sp>
      <p:sp>
        <p:nvSpPr>
          <p:cNvPr id="3969" name="Google Shape;3969;p214">
            <a:hlinkClick action="ppaction://hlinksldjump" r:id="rId13"/>
          </p:cNvPr>
          <p:cNvSpPr/>
          <p:nvPr/>
        </p:nvSpPr>
        <p:spPr>
          <a:xfrm>
            <a:off x="6475528" y="3013546"/>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Financial Consolidation</a:t>
            </a:r>
            <a:endParaRPr sz="1100">
              <a:solidFill>
                <a:schemeClr val="dk1"/>
              </a:solidFill>
              <a:latin typeface="Century Gothic"/>
              <a:ea typeface="Century Gothic"/>
              <a:cs typeface="Century Gothic"/>
              <a:sym typeface="Century Gothic"/>
            </a:endParaRPr>
          </a:p>
        </p:txBody>
      </p:sp>
      <p:sp>
        <p:nvSpPr>
          <p:cNvPr id="3970" name="Google Shape;3970;p214">
            <a:hlinkClick action="ppaction://hlinksldjump" r:id="rId14"/>
          </p:cNvPr>
          <p:cNvSpPr/>
          <p:nvPr/>
        </p:nvSpPr>
        <p:spPr>
          <a:xfrm>
            <a:off x="2099732" y="3644709"/>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Functional Profit &amp; Loss Statement</a:t>
            </a:r>
            <a:endParaRPr/>
          </a:p>
        </p:txBody>
      </p:sp>
      <p:sp>
        <p:nvSpPr>
          <p:cNvPr id="3971" name="Google Shape;3971;p214"/>
          <p:cNvSpPr txBox="1"/>
          <p:nvPr>
            <p:ph idx="2" type="body"/>
          </p:nvPr>
        </p:nvSpPr>
        <p:spPr>
          <a:xfrm>
            <a:off x="438098" y="585291"/>
            <a:ext cx="7753402" cy="353174"/>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Clr>
                <a:schemeClr val="dk1"/>
              </a:buClr>
              <a:buSzPts val="1600"/>
              <a:buFont typeface="Century Gothic"/>
              <a:buNone/>
            </a:pPr>
            <a:r>
              <a:rPr lang="en-GB" sz="1600"/>
              <a:t>Automated and efficient Accounting Operations, providing the detailed information required by a modern Finance function</a:t>
            </a:r>
            <a:endParaRPr sz="1600"/>
          </a:p>
        </p:txBody>
      </p:sp>
      <p:sp>
        <p:nvSpPr>
          <p:cNvPr id="3972" name="Google Shape;3972;p214"/>
          <p:cNvSpPr txBox="1"/>
          <p:nvPr>
            <p:ph type="title"/>
          </p:nvPr>
        </p:nvSpPr>
        <p:spPr>
          <a:xfrm>
            <a:off x="425396" y="17276"/>
            <a:ext cx="8229600" cy="526298"/>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Finance &amp; Performance Management</a:t>
            </a:r>
            <a:endParaRPr sz="2400"/>
          </a:p>
        </p:txBody>
      </p:sp>
      <p:grpSp>
        <p:nvGrpSpPr>
          <p:cNvPr id="3973" name="Google Shape;3973;p214"/>
          <p:cNvGrpSpPr/>
          <p:nvPr/>
        </p:nvGrpSpPr>
        <p:grpSpPr>
          <a:xfrm>
            <a:off x="7717533" y="4360377"/>
            <a:ext cx="1058348" cy="347375"/>
            <a:chOff x="7651698" y="4287227"/>
            <a:chExt cx="1058348" cy="347375"/>
          </a:xfrm>
        </p:grpSpPr>
        <p:grpSp>
          <p:nvGrpSpPr>
            <p:cNvPr id="3974" name="Google Shape;3974;p214"/>
            <p:cNvGrpSpPr/>
            <p:nvPr/>
          </p:nvGrpSpPr>
          <p:grpSpPr>
            <a:xfrm>
              <a:off x="7714163" y="4337598"/>
              <a:ext cx="995883" cy="297004"/>
              <a:chOff x="7711013" y="3986494"/>
              <a:chExt cx="995883" cy="297004"/>
            </a:xfrm>
          </p:grpSpPr>
          <p:sp>
            <p:nvSpPr>
              <p:cNvPr id="3975" name="Google Shape;3975;p214"/>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3976" name="Google Shape;3976;p214"/>
              <p:cNvGrpSpPr/>
              <p:nvPr/>
            </p:nvGrpSpPr>
            <p:grpSpPr>
              <a:xfrm>
                <a:off x="7711013" y="4002615"/>
                <a:ext cx="281520" cy="241973"/>
                <a:chOff x="5652748" y="4066000"/>
                <a:chExt cx="906498" cy="747974"/>
              </a:xfrm>
            </p:grpSpPr>
            <p:sp>
              <p:nvSpPr>
                <p:cNvPr id="3977" name="Google Shape;3977;p214"/>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3978" name="Google Shape;3978;p214"/>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3979" name="Google Shape;3979;p214"/>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3980" name="Google Shape;3980;p214">
              <a:hlinkClick action="ppaction://hlinksldjump" r:id="rId15"/>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
        <p:nvSpPr>
          <p:cNvPr id="3981" name="Google Shape;3981;p214">
            <a:hlinkClick action="ppaction://hlinksldjump" r:id="rId16"/>
          </p:cNvPr>
          <p:cNvSpPr/>
          <p:nvPr/>
        </p:nvSpPr>
        <p:spPr>
          <a:xfrm>
            <a:off x="6515100" y="-196501"/>
            <a:ext cx="2777392" cy="378533"/>
          </a:xfrm>
          <a:prstGeom prst="roundRect">
            <a:avLst>
              <a:gd fmla="val 50000" name="adj"/>
            </a:avLst>
          </a:prstGeom>
          <a:solidFill>
            <a:schemeClr val="accent1"/>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Finance &amp; Performance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6" name="Shape 3986"/>
        <p:cNvGrpSpPr/>
        <p:nvPr/>
      </p:nvGrpSpPr>
      <p:grpSpPr>
        <a:xfrm>
          <a:off x="0" y="0"/>
          <a:ext cx="0" cy="0"/>
          <a:chOff x="0" y="0"/>
          <a:chExt cx="0" cy="0"/>
        </a:xfrm>
      </p:grpSpPr>
      <p:sp>
        <p:nvSpPr>
          <p:cNvPr id="3987" name="Google Shape;3987;p215"/>
          <p:cNvSpPr/>
          <p:nvPr/>
        </p:nvSpPr>
        <p:spPr>
          <a:xfrm>
            <a:off x="459950" y="1187449"/>
            <a:ext cx="8223249" cy="3122083"/>
          </a:xfrm>
          <a:prstGeom prst="roundRect">
            <a:avLst>
              <a:gd fmla="val 2069" name="adj"/>
            </a:avLst>
          </a:prstGeom>
          <a:solidFill>
            <a:srgbClr val="FFFFFF"/>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3988" name="Google Shape;3988;p215">
            <a:hlinkClick action="ppaction://hlinksldjump" r:id="rId3"/>
          </p:cNvPr>
          <p:cNvSpPr/>
          <p:nvPr/>
        </p:nvSpPr>
        <p:spPr>
          <a:xfrm>
            <a:off x="565902" y="1303866"/>
            <a:ext cx="1395519" cy="2861734"/>
          </a:xfrm>
          <a:prstGeom prst="homePlate">
            <a:avLst>
              <a:gd fmla="val 7540" name="adj"/>
            </a:avLst>
          </a:prstGeom>
          <a:solidFill>
            <a:schemeClr val="accent4"/>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rgbClr val="FFFFFF"/>
                </a:solidFill>
                <a:latin typeface="Century Gothic"/>
                <a:ea typeface="Century Gothic"/>
                <a:cs typeface="Century Gothic"/>
                <a:sym typeface="Century Gothic"/>
              </a:rPr>
              <a:t>Enterprise Performance Management</a:t>
            </a:r>
            <a:endParaRPr sz="1100">
              <a:solidFill>
                <a:srgbClr val="FFFFFF"/>
              </a:solidFill>
              <a:latin typeface="Century Gothic"/>
              <a:ea typeface="Century Gothic"/>
              <a:cs typeface="Century Gothic"/>
              <a:sym typeface="Century Gothic"/>
            </a:endParaRPr>
          </a:p>
        </p:txBody>
      </p:sp>
      <p:sp>
        <p:nvSpPr>
          <p:cNvPr id="3989" name="Google Shape;3989;p215"/>
          <p:cNvSpPr/>
          <p:nvPr/>
        </p:nvSpPr>
        <p:spPr>
          <a:xfrm>
            <a:off x="2073748" y="1270818"/>
            <a:ext cx="6062954" cy="360000"/>
          </a:xfrm>
          <a:prstGeom prst="rect">
            <a:avLst/>
          </a:prstGeom>
          <a:noFill/>
          <a:ln>
            <a:noFill/>
          </a:ln>
        </p:spPr>
        <p:txBody>
          <a:bodyPr anchorCtr="0" anchor="ctr" bIns="91425" lIns="36000" spcFirstLastPara="1" rIns="36000" wrap="square" tIns="91425">
            <a:noAutofit/>
          </a:bodyPr>
          <a:lstStyle/>
          <a:p>
            <a:pPr indent="0" lvl="0" marL="0" marR="0" rtl="0" algn="ctr">
              <a:spcBef>
                <a:spcPts val="0"/>
              </a:spcBef>
              <a:spcAft>
                <a:spcPts val="0"/>
              </a:spcAft>
              <a:buNone/>
            </a:pPr>
            <a:r>
              <a:rPr lang="en-GB" sz="1400">
                <a:solidFill>
                  <a:srgbClr val="3C3C3B"/>
                </a:solidFill>
                <a:latin typeface="Century Gothic"/>
                <a:ea typeface="Century Gothic"/>
                <a:cs typeface="Century Gothic"/>
                <a:sym typeface="Century Gothic"/>
              </a:rPr>
              <a:t>Analytical Capabilities</a:t>
            </a:r>
            <a:endParaRPr sz="1400">
              <a:solidFill>
                <a:srgbClr val="3C3C3B"/>
              </a:solidFill>
              <a:latin typeface="Century Gothic"/>
              <a:ea typeface="Century Gothic"/>
              <a:cs typeface="Century Gothic"/>
              <a:sym typeface="Century Gothic"/>
            </a:endParaRPr>
          </a:p>
        </p:txBody>
      </p:sp>
      <p:sp>
        <p:nvSpPr>
          <p:cNvPr id="3990" name="Google Shape;3990;p215">
            <a:hlinkClick action="ppaction://hlinksldjump" r:id="rId4"/>
          </p:cNvPr>
          <p:cNvSpPr/>
          <p:nvPr/>
        </p:nvSpPr>
        <p:spPr>
          <a:xfrm>
            <a:off x="567549" y="3946768"/>
            <a:ext cx="849788" cy="200177"/>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rPr lang="en-GB" sz="800">
                <a:solidFill>
                  <a:schemeClr val="lt1"/>
                </a:solidFill>
                <a:latin typeface="Century Gothic"/>
                <a:ea typeface="Century Gothic"/>
                <a:cs typeface="Century Gothic"/>
                <a:sym typeface="Century Gothic"/>
              </a:rPr>
              <a:t>More info &gt; </a:t>
            </a:r>
            <a:endParaRPr/>
          </a:p>
        </p:txBody>
      </p:sp>
      <p:sp>
        <p:nvSpPr>
          <p:cNvPr id="3991" name="Google Shape;3991;p215">
            <a:hlinkClick action="ppaction://hlinksldjump" r:id="rId5"/>
          </p:cNvPr>
          <p:cNvSpPr/>
          <p:nvPr/>
        </p:nvSpPr>
        <p:spPr>
          <a:xfrm>
            <a:off x="2099732" y="1751219"/>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Revenue Analytics</a:t>
            </a:r>
            <a:endParaRPr sz="1100">
              <a:solidFill>
                <a:schemeClr val="dk1"/>
              </a:solidFill>
              <a:latin typeface="Century Gothic"/>
              <a:ea typeface="Century Gothic"/>
              <a:cs typeface="Century Gothic"/>
              <a:sym typeface="Century Gothic"/>
            </a:endParaRPr>
          </a:p>
        </p:txBody>
      </p:sp>
      <p:sp>
        <p:nvSpPr>
          <p:cNvPr id="3992" name="Google Shape;3992;p215">
            <a:hlinkClick action="ppaction://hlinksldjump" r:id="rId6"/>
          </p:cNvPr>
          <p:cNvSpPr/>
          <p:nvPr/>
        </p:nvSpPr>
        <p:spPr>
          <a:xfrm>
            <a:off x="4290976" y="1751219"/>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GL, AP, HR, Expense</a:t>
            </a:r>
            <a:br>
              <a:rPr lang="en-GB" sz="1100">
                <a:solidFill>
                  <a:schemeClr val="dk1"/>
                </a:solidFill>
                <a:latin typeface="Century Gothic"/>
                <a:ea typeface="Century Gothic"/>
                <a:cs typeface="Century Gothic"/>
                <a:sym typeface="Century Gothic"/>
              </a:rPr>
            </a:br>
            <a:r>
              <a:rPr lang="en-GB" sz="1100">
                <a:solidFill>
                  <a:schemeClr val="dk1"/>
                </a:solidFill>
                <a:latin typeface="Century Gothic"/>
                <a:ea typeface="Century Gothic"/>
                <a:cs typeface="Century Gothic"/>
                <a:sym typeface="Century Gothic"/>
              </a:rPr>
              <a:t>Analytics &amp; Optimisation</a:t>
            </a:r>
            <a:endParaRPr sz="1100">
              <a:solidFill>
                <a:schemeClr val="dk1"/>
              </a:solidFill>
              <a:latin typeface="Century Gothic"/>
              <a:ea typeface="Century Gothic"/>
              <a:cs typeface="Century Gothic"/>
              <a:sym typeface="Century Gothic"/>
            </a:endParaRPr>
          </a:p>
        </p:txBody>
      </p:sp>
      <p:sp>
        <p:nvSpPr>
          <p:cNvPr id="3993" name="Google Shape;3993;p215">
            <a:hlinkClick action="ppaction://hlinksldjump" r:id="rId7"/>
          </p:cNvPr>
          <p:cNvSpPr/>
          <p:nvPr/>
        </p:nvSpPr>
        <p:spPr>
          <a:xfrm>
            <a:off x="6475528" y="1751219"/>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Activity Based Costing</a:t>
            </a:r>
            <a:endParaRPr sz="1100">
              <a:solidFill>
                <a:schemeClr val="dk1"/>
              </a:solidFill>
              <a:latin typeface="Century Gothic"/>
              <a:ea typeface="Century Gothic"/>
              <a:cs typeface="Century Gothic"/>
              <a:sym typeface="Century Gothic"/>
            </a:endParaRPr>
          </a:p>
        </p:txBody>
      </p:sp>
      <p:sp>
        <p:nvSpPr>
          <p:cNvPr id="3994" name="Google Shape;3994;p215">
            <a:hlinkClick action="ppaction://hlinksldjump" r:id="rId8"/>
          </p:cNvPr>
          <p:cNvSpPr/>
          <p:nvPr/>
        </p:nvSpPr>
        <p:spPr>
          <a:xfrm>
            <a:off x="2099732" y="2382382"/>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Profitability Modelling</a:t>
            </a:r>
            <a:endParaRPr sz="1100">
              <a:solidFill>
                <a:schemeClr val="dk1"/>
              </a:solidFill>
              <a:latin typeface="Century Gothic"/>
              <a:ea typeface="Century Gothic"/>
              <a:cs typeface="Century Gothic"/>
              <a:sym typeface="Century Gothic"/>
            </a:endParaRPr>
          </a:p>
        </p:txBody>
      </p:sp>
      <p:sp>
        <p:nvSpPr>
          <p:cNvPr id="3995" name="Google Shape;3995;p215">
            <a:hlinkClick action="ppaction://hlinksldjump" r:id="rId9"/>
          </p:cNvPr>
          <p:cNvSpPr/>
          <p:nvPr/>
        </p:nvSpPr>
        <p:spPr>
          <a:xfrm>
            <a:off x="4290976" y="2382382"/>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Future / Lifetime Value</a:t>
            </a:r>
            <a:endParaRPr sz="1100">
              <a:solidFill>
                <a:schemeClr val="dk1"/>
              </a:solidFill>
              <a:latin typeface="Century Gothic"/>
              <a:ea typeface="Century Gothic"/>
              <a:cs typeface="Century Gothic"/>
              <a:sym typeface="Century Gothic"/>
            </a:endParaRPr>
          </a:p>
        </p:txBody>
      </p:sp>
      <p:sp>
        <p:nvSpPr>
          <p:cNvPr id="3996" name="Google Shape;3996;p215">
            <a:hlinkClick action="ppaction://hlinksldjump" r:id="rId10"/>
          </p:cNvPr>
          <p:cNvSpPr/>
          <p:nvPr/>
        </p:nvSpPr>
        <p:spPr>
          <a:xfrm>
            <a:off x="6475528" y="2382382"/>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Profitability Analytics and Optimisation</a:t>
            </a:r>
            <a:endParaRPr sz="1100">
              <a:solidFill>
                <a:schemeClr val="dk1"/>
              </a:solidFill>
              <a:latin typeface="Century Gothic"/>
              <a:ea typeface="Century Gothic"/>
              <a:cs typeface="Century Gothic"/>
              <a:sym typeface="Century Gothic"/>
            </a:endParaRPr>
          </a:p>
        </p:txBody>
      </p:sp>
      <p:sp>
        <p:nvSpPr>
          <p:cNvPr id="3997" name="Google Shape;3997;p215">
            <a:hlinkClick action="ppaction://hlinksldjump" r:id="rId11"/>
          </p:cNvPr>
          <p:cNvSpPr/>
          <p:nvPr/>
        </p:nvSpPr>
        <p:spPr>
          <a:xfrm>
            <a:off x="2099732" y="3013546"/>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Pricing Analysis &amp; Optimisation</a:t>
            </a:r>
            <a:endParaRPr sz="1100">
              <a:solidFill>
                <a:schemeClr val="dk1"/>
              </a:solidFill>
              <a:latin typeface="Century Gothic"/>
              <a:ea typeface="Century Gothic"/>
              <a:cs typeface="Century Gothic"/>
              <a:sym typeface="Century Gothic"/>
            </a:endParaRPr>
          </a:p>
        </p:txBody>
      </p:sp>
      <p:sp>
        <p:nvSpPr>
          <p:cNvPr id="3998" name="Google Shape;3998;p215">
            <a:hlinkClick action="ppaction://hlinksldjump" r:id="rId12"/>
          </p:cNvPr>
          <p:cNvSpPr/>
          <p:nvPr/>
        </p:nvSpPr>
        <p:spPr>
          <a:xfrm>
            <a:off x="4290976" y="3013546"/>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Performance Management and KPIs</a:t>
            </a:r>
            <a:endParaRPr sz="1100">
              <a:solidFill>
                <a:schemeClr val="dk1"/>
              </a:solidFill>
              <a:latin typeface="Century Gothic"/>
              <a:ea typeface="Century Gothic"/>
              <a:cs typeface="Century Gothic"/>
              <a:sym typeface="Century Gothic"/>
            </a:endParaRPr>
          </a:p>
        </p:txBody>
      </p:sp>
      <p:sp>
        <p:nvSpPr>
          <p:cNvPr id="3999" name="Google Shape;3999;p215">
            <a:hlinkClick action="ppaction://hlinksldjump" r:id="rId13"/>
          </p:cNvPr>
          <p:cNvSpPr/>
          <p:nvPr/>
        </p:nvSpPr>
        <p:spPr>
          <a:xfrm>
            <a:off x="6475528" y="3013546"/>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Inventory Analytics</a:t>
            </a:r>
            <a:endParaRPr sz="1100">
              <a:solidFill>
                <a:schemeClr val="dk1"/>
              </a:solidFill>
              <a:latin typeface="Century Gothic"/>
              <a:ea typeface="Century Gothic"/>
              <a:cs typeface="Century Gothic"/>
              <a:sym typeface="Century Gothic"/>
            </a:endParaRPr>
          </a:p>
        </p:txBody>
      </p:sp>
      <p:sp>
        <p:nvSpPr>
          <p:cNvPr id="4000" name="Google Shape;4000;p215">
            <a:hlinkClick action="ppaction://hlinksldjump" r:id="rId14"/>
          </p:cNvPr>
          <p:cNvSpPr/>
          <p:nvPr/>
        </p:nvSpPr>
        <p:spPr>
          <a:xfrm>
            <a:off x="2099732" y="3644709"/>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Financial Budgeting, Planning &amp; Forecasting</a:t>
            </a:r>
            <a:endParaRPr sz="1100">
              <a:solidFill>
                <a:schemeClr val="dk1"/>
              </a:solidFill>
              <a:latin typeface="Century Gothic"/>
              <a:ea typeface="Century Gothic"/>
              <a:cs typeface="Century Gothic"/>
              <a:sym typeface="Century Gothic"/>
            </a:endParaRPr>
          </a:p>
        </p:txBody>
      </p:sp>
      <p:sp>
        <p:nvSpPr>
          <p:cNvPr id="4001" name="Google Shape;4001;p215">
            <a:hlinkClick action="ppaction://hlinksldjump" r:id="rId15"/>
          </p:cNvPr>
          <p:cNvSpPr/>
          <p:nvPr/>
        </p:nvSpPr>
        <p:spPr>
          <a:xfrm>
            <a:off x="4290976" y="3644709"/>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Business Process Analytics &amp; Optimisation</a:t>
            </a:r>
            <a:endParaRPr sz="1100">
              <a:solidFill>
                <a:schemeClr val="dk1"/>
              </a:solidFill>
              <a:latin typeface="Century Gothic"/>
              <a:ea typeface="Century Gothic"/>
              <a:cs typeface="Century Gothic"/>
              <a:sym typeface="Century Gothic"/>
            </a:endParaRPr>
          </a:p>
        </p:txBody>
      </p:sp>
      <p:sp>
        <p:nvSpPr>
          <p:cNvPr id="4002" name="Google Shape;4002;p215"/>
          <p:cNvSpPr txBox="1"/>
          <p:nvPr>
            <p:ph idx="2" type="body"/>
          </p:nvPr>
        </p:nvSpPr>
        <p:spPr>
          <a:xfrm>
            <a:off x="438098" y="585291"/>
            <a:ext cx="7753402" cy="353174"/>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Clr>
                <a:schemeClr val="dk1"/>
              </a:buClr>
              <a:buSzPts val="1600"/>
              <a:buFont typeface="Century Gothic"/>
              <a:buNone/>
            </a:pPr>
            <a:r>
              <a:rPr lang="en-GB" sz="1600"/>
              <a:t>Sophisticated modelling and analysis to measure, monitor and improve performance</a:t>
            </a:r>
            <a:endParaRPr sz="1600"/>
          </a:p>
        </p:txBody>
      </p:sp>
      <p:sp>
        <p:nvSpPr>
          <p:cNvPr id="4003" name="Google Shape;4003;p215"/>
          <p:cNvSpPr txBox="1"/>
          <p:nvPr>
            <p:ph type="title"/>
          </p:nvPr>
        </p:nvSpPr>
        <p:spPr>
          <a:xfrm>
            <a:off x="425396" y="17276"/>
            <a:ext cx="8229600" cy="526298"/>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Finance &amp; Performance Management</a:t>
            </a:r>
            <a:endParaRPr sz="2400"/>
          </a:p>
        </p:txBody>
      </p:sp>
      <p:grpSp>
        <p:nvGrpSpPr>
          <p:cNvPr id="4004" name="Google Shape;4004;p215"/>
          <p:cNvGrpSpPr/>
          <p:nvPr/>
        </p:nvGrpSpPr>
        <p:grpSpPr>
          <a:xfrm>
            <a:off x="7717533" y="4360377"/>
            <a:ext cx="1058348" cy="347375"/>
            <a:chOff x="7651698" y="4287227"/>
            <a:chExt cx="1058348" cy="347375"/>
          </a:xfrm>
        </p:grpSpPr>
        <p:grpSp>
          <p:nvGrpSpPr>
            <p:cNvPr id="4005" name="Google Shape;4005;p215"/>
            <p:cNvGrpSpPr/>
            <p:nvPr/>
          </p:nvGrpSpPr>
          <p:grpSpPr>
            <a:xfrm>
              <a:off x="7714163" y="4337598"/>
              <a:ext cx="995883" cy="297004"/>
              <a:chOff x="7711013" y="3986494"/>
              <a:chExt cx="995883" cy="297004"/>
            </a:xfrm>
          </p:grpSpPr>
          <p:sp>
            <p:nvSpPr>
              <p:cNvPr id="4006" name="Google Shape;4006;p215"/>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4007" name="Google Shape;4007;p215"/>
              <p:cNvGrpSpPr/>
              <p:nvPr/>
            </p:nvGrpSpPr>
            <p:grpSpPr>
              <a:xfrm>
                <a:off x="7711013" y="4002615"/>
                <a:ext cx="281520" cy="241973"/>
                <a:chOff x="5652748" y="4066000"/>
                <a:chExt cx="906498" cy="747974"/>
              </a:xfrm>
            </p:grpSpPr>
            <p:sp>
              <p:nvSpPr>
                <p:cNvPr id="4008" name="Google Shape;4008;p215"/>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4009" name="Google Shape;4009;p215"/>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010" name="Google Shape;4010;p215"/>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4011" name="Google Shape;4011;p215">
              <a:hlinkClick action="ppaction://hlinksldjump" r:id="rId16"/>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
        <p:nvSpPr>
          <p:cNvPr id="4012" name="Google Shape;4012;p215">
            <a:hlinkClick action="ppaction://hlinksldjump" r:id="rId17"/>
          </p:cNvPr>
          <p:cNvSpPr/>
          <p:nvPr/>
        </p:nvSpPr>
        <p:spPr>
          <a:xfrm>
            <a:off x="6515100" y="-196501"/>
            <a:ext cx="2777392" cy="378533"/>
          </a:xfrm>
          <a:prstGeom prst="roundRect">
            <a:avLst>
              <a:gd fmla="val 50000" name="adj"/>
            </a:avLst>
          </a:prstGeom>
          <a:solidFill>
            <a:schemeClr val="accent1"/>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Finance &amp; Performance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7" name="Shape 4017"/>
        <p:cNvGrpSpPr/>
        <p:nvPr/>
      </p:nvGrpSpPr>
      <p:grpSpPr>
        <a:xfrm>
          <a:off x="0" y="0"/>
          <a:ext cx="0" cy="0"/>
          <a:chOff x="0" y="0"/>
          <a:chExt cx="0" cy="0"/>
        </a:xfrm>
      </p:grpSpPr>
      <p:sp>
        <p:nvSpPr>
          <p:cNvPr id="4018" name="Google Shape;4018;p216"/>
          <p:cNvSpPr/>
          <p:nvPr/>
        </p:nvSpPr>
        <p:spPr>
          <a:xfrm>
            <a:off x="459950" y="1187449"/>
            <a:ext cx="8223249" cy="3122083"/>
          </a:xfrm>
          <a:prstGeom prst="roundRect">
            <a:avLst>
              <a:gd fmla="val 2069" name="adj"/>
            </a:avLst>
          </a:prstGeom>
          <a:solidFill>
            <a:srgbClr val="FFFFFF"/>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019" name="Google Shape;4019;p216">
            <a:hlinkClick action="ppaction://hlinksldjump" r:id="rId3"/>
          </p:cNvPr>
          <p:cNvSpPr/>
          <p:nvPr/>
        </p:nvSpPr>
        <p:spPr>
          <a:xfrm>
            <a:off x="565902" y="1303866"/>
            <a:ext cx="1395519" cy="2861734"/>
          </a:xfrm>
          <a:prstGeom prst="homePlate">
            <a:avLst>
              <a:gd fmla="val 7540" name="adj"/>
            </a:avLst>
          </a:prstGeom>
          <a:solidFill>
            <a:schemeClr val="accent4"/>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rgbClr val="FFFFFF"/>
                </a:solidFill>
                <a:latin typeface="Century Gothic"/>
                <a:ea typeface="Century Gothic"/>
                <a:cs typeface="Century Gothic"/>
                <a:sym typeface="Century Gothic"/>
              </a:rPr>
              <a:t>Treasury</a:t>
            </a:r>
            <a:br>
              <a:rPr lang="en-GB" sz="1100">
                <a:solidFill>
                  <a:srgbClr val="FFFFFF"/>
                </a:solidFill>
                <a:latin typeface="Century Gothic"/>
                <a:ea typeface="Century Gothic"/>
                <a:cs typeface="Century Gothic"/>
                <a:sym typeface="Century Gothic"/>
              </a:rPr>
            </a:br>
            <a:r>
              <a:rPr lang="en-GB" sz="1100">
                <a:solidFill>
                  <a:srgbClr val="FFFFFF"/>
                </a:solidFill>
                <a:latin typeface="Century Gothic"/>
                <a:ea typeface="Century Gothic"/>
                <a:cs typeface="Century Gothic"/>
                <a:sym typeface="Century Gothic"/>
              </a:rPr>
              <a:t>Insight &amp; Management</a:t>
            </a:r>
            <a:endParaRPr sz="1100">
              <a:solidFill>
                <a:srgbClr val="FFFFFF"/>
              </a:solidFill>
              <a:latin typeface="Century Gothic"/>
              <a:ea typeface="Century Gothic"/>
              <a:cs typeface="Century Gothic"/>
              <a:sym typeface="Century Gothic"/>
            </a:endParaRPr>
          </a:p>
        </p:txBody>
      </p:sp>
      <p:sp>
        <p:nvSpPr>
          <p:cNvPr id="4020" name="Google Shape;4020;p216"/>
          <p:cNvSpPr/>
          <p:nvPr/>
        </p:nvSpPr>
        <p:spPr>
          <a:xfrm>
            <a:off x="2073748" y="1270818"/>
            <a:ext cx="6062954" cy="360000"/>
          </a:xfrm>
          <a:prstGeom prst="rect">
            <a:avLst/>
          </a:prstGeom>
          <a:noFill/>
          <a:ln>
            <a:noFill/>
          </a:ln>
        </p:spPr>
        <p:txBody>
          <a:bodyPr anchorCtr="0" anchor="ctr" bIns="91425" lIns="36000" spcFirstLastPara="1" rIns="36000" wrap="square" tIns="91425">
            <a:noAutofit/>
          </a:bodyPr>
          <a:lstStyle/>
          <a:p>
            <a:pPr indent="0" lvl="0" marL="0" marR="0" rtl="0" algn="ctr">
              <a:spcBef>
                <a:spcPts val="0"/>
              </a:spcBef>
              <a:spcAft>
                <a:spcPts val="0"/>
              </a:spcAft>
              <a:buNone/>
            </a:pPr>
            <a:r>
              <a:rPr lang="en-GB" sz="1400">
                <a:solidFill>
                  <a:srgbClr val="3C3C3B"/>
                </a:solidFill>
                <a:latin typeface="Century Gothic"/>
                <a:ea typeface="Century Gothic"/>
                <a:cs typeface="Century Gothic"/>
                <a:sym typeface="Century Gothic"/>
              </a:rPr>
              <a:t>Analytical Capabilities</a:t>
            </a:r>
            <a:endParaRPr sz="1400">
              <a:solidFill>
                <a:srgbClr val="3C3C3B"/>
              </a:solidFill>
              <a:latin typeface="Century Gothic"/>
              <a:ea typeface="Century Gothic"/>
              <a:cs typeface="Century Gothic"/>
              <a:sym typeface="Century Gothic"/>
            </a:endParaRPr>
          </a:p>
        </p:txBody>
      </p:sp>
      <p:sp>
        <p:nvSpPr>
          <p:cNvPr id="4021" name="Google Shape;4021;p216">
            <a:hlinkClick action="ppaction://hlinksldjump" r:id="rId4"/>
          </p:cNvPr>
          <p:cNvSpPr/>
          <p:nvPr/>
        </p:nvSpPr>
        <p:spPr>
          <a:xfrm>
            <a:off x="567549" y="3946768"/>
            <a:ext cx="849788" cy="200177"/>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rPr lang="en-GB" sz="800">
                <a:solidFill>
                  <a:schemeClr val="lt1"/>
                </a:solidFill>
                <a:latin typeface="Century Gothic"/>
                <a:ea typeface="Century Gothic"/>
                <a:cs typeface="Century Gothic"/>
                <a:sym typeface="Century Gothic"/>
              </a:rPr>
              <a:t>More info &gt; </a:t>
            </a:r>
            <a:endParaRPr/>
          </a:p>
        </p:txBody>
      </p:sp>
      <p:sp>
        <p:nvSpPr>
          <p:cNvPr id="4022" name="Google Shape;4022;p216">
            <a:hlinkClick action="ppaction://hlinksldjump" r:id="rId5"/>
          </p:cNvPr>
          <p:cNvSpPr/>
          <p:nvPr/>
        </p:nvSpPr>
        <p:spPr>
          <a:xfrm>
            <a:off x="2099732" y="1751219"/>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Cashflow </a:t>
            </a:r>
            <a:br>
              <a:rPr lang="en-GB" sz="1100">
                <a:solidFill>
                  <a:schemeClr val="dk1"/>
                </a:solidFill>
                <a:latin typeface="Century Gothic"/>
                <a:ea typeface="Century Gothic"/>
                <a:cs typeface="Century Gothic"/>
                <a:sym typeface="Century Gothic"/>
              </a:rPr>
            </a:br>
            <a:r>
              <a:rPr lang="en-GB" sz="1100">
                <a:solidFill>
                  <a:schemeClr val="dk1"/>
                </a:solidFill>
                <a:latin typeface="Century Gothic"/>
                <a:ea typeface="Century Gothic"/>
                <a:cs typeface="Century Gothic"/>
                <a:sym typeface="Century Gothic"/>
              </a:rPr>
              <a:t>Generation</a:t>
            </a:r>
            <a:endParaRPr sz="1100">
              <a:solidFill>
                <a:schemeClr val="dk1"/>
              </a:solidFill>
              <a:latin typeface="Century Gothic"/>
              <a:ea typeface="Century Gothic"/>
              <a:cs typeface="Century Gothic"/>
              <a:sym typeface="Century Gothic"/>
            </a:endParaRPr>
          </a:p>
        </p:txBody>
      </p:sp>
      <p:sp>
        <p:nvSpPr>
          <p:cNvPr id="4023" name="Google Shape;4023;p216">
            <a:hlinkClick action="ppaction://hlinksldjump" r:id="rId6"/>
          </p:cNvPr>
          <p:cNvSpPr/>
          <p:nvPr/>
        </p:nvSpPr>
        <p:spPr>
          <a:xfrm>
            <a:off x="4290976" y="1751219"/>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Liquidity </a:t>
            </a:r>
            <a:br>
              <a:rPr lang="en-GB" sz="1100">
                <a:solidFill>
                  <a:schemeClr val="dk1"/>
                </a:solidFill>
                <a:latin typeface="Century Gothic"/>
                <a:ea typeface="Century Gothic"/>
                <a:cs typeface="Century Gothic"/>
                <a:sym typeface="Century Gothic"/>
              </a:rPr>
            </a:br>
            <a:r>
              <a:rPr lang="en-GB" sz="1100">
                <a:solidFill>
                  <a:schemeClr val="dk1"/>
                </a:solidFill>
                <a:latin typeface="Century Gothic"/>
                <a:ea typeface="Century Gothic"/>
                <a:cs typeface="Century Gothic"/>
                <a:sym typeface="Century Gothic"/>
              </a:rPr>
              <a:t>Management</a:t>
            </a:r>
            <a:endParaRPr sz="1100">
              <a:solidFill>
                <a:schemeClr val="dk1"/>
              </a:solidFill>
              <a:latin typeface="Century Gothic"/>
              <a:ea typeface="Century Gothic"/>
              <a:cs typeface="Century Gothic"/>
              <a:sym typeface="Century Gothic"/>
            </a:endParaRPr>
          </a:p>
        </p:txBody>
      </p:sp>
      <p:sp>
        <p:nvSpPr>
          <p:cNvPr id="4024" name="Google Shape;4024;p216">
            <a:hlinkClick action="ppaction://hlinksldjump" r:id="rId7"/>
          </p:cNvPr>
          <p:cNvSpPr/>
          <p:nvPr/>
        </p:nvSpPr>
        <p:spPr>
          <a:xfrm>
            <a:off x="6475528" y="1751219"/>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Capital Planning and Management</a:t>
            </a:r>
            <a:endParaRPr sz="1100">
              <a:solidFill>
                <a:schemeClr val="dk1"/>
              </a:solidFill>
              <a:latin typeface="Century Gothic"/>
              <a:ea typeface="Century Gothic"/>
              <a:cs typeface="Century Gothic"/>
              <a:sym typeface="Century Gothic"/>
            </a:endParaRPr>
          </a:p>
        </p:txBody>
      </p:sp>
      <p:sp>
        <p:nvSpPr>
          <p:cNvPr id="4025" name="Google Shape;4025;p216">
            <a:hlinkClick action="ppaction://hlinksldjump" r:id="rId8"/>
          </p:cNvPr>
          <p:cNvSpPr/>
          <p:nvPr/>
        </p:nvSpPr>
        <p:spPr>
          <a:xfrm>
            <a:off x="2099732" y="2382382"/>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Asset &amp; Liability Management</a:t>
            </a:r>
            <a:endParaRPr sz="1100">
              <a:solidFill>
                <a:schemeClr val="dk1"/>
              </a:solidFill>
              <a:latin typeface="Century Gothic"/>
              <a:ea typeface="Century Gothic"/>
              <a:cs typeface="Century Gothic"/>
              <a:sym typeface="Century Gothic"/>
            </a:endParaRPr>
          </a:p>
        </p:txBody>
      </p:sp>
      <p:sp>
        <p:nvSpPr>
          <p:cNvPr id="4026" name="Google Shape;4026;p216">
            <a:hlinkClick action="ppaction://hlinksldjump" r:id="rId9"/>
          </p:cNvPr>
          <p:cNvSpPr/>
          <p:nvPr/>
        </p:nvSpPr>
        <p:spPr>
          <a:xfrm>
            <a:off x="4290976" y="2382382"/>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Funds Transfer </a:t>
            </a:r>
            <a:br>
              <a:rPr lang="en-GB" sz="1100">
                <a:solidFill>
                  <a:schemeClr val="dk1"/>
                </a:solidFill>
                <a:latin typeface="Century Gothic"/>
                <a:ea typeface="Century Gothic"/>
                <a:cs typeface="Century Gothic"/>
                <a:sym typeface="Century Gothic"/>
              </a:rPr>
            </a:br>
            <a:r>
              <a:rPr lang="en-GB" sz="1100">
                <a:solidFill>
                  <a:schemeClr val="dk1"/>
                </a:solidFill>
                <a:latin typeface="Century Gothic"/>
                <a:ea typeface="Century Gothic"/>
                <a:cs typeface="Century Gothic"/>
                <a:sym typeface="Century Gothic"/>
              </a:rPr>
              <a:t>Pricing</a:t>
            </a:r>
            <a:endParaRPr sz="1100">
              <a:solidFill>
                <a:schemeClr val="dk1"/>
              </a:solidFill>
              <a:latin typeface="Century Gothic"/>
              <a:ea typeface="Century Gothic"/>
              <a:cs typeface="Century Gothic"/>
              <a:sym typeface="Century Gothic"/>
            </a:endParaRPr>
          </a:p>
        </p:txBody>
      </p:sp>
      <p:sp>
        <p:nvSpPr>
          <p:cNvPr id="4027" name="Google Shape;4027;p216">
            <a:hlinkClick action="ppaction://hlinksldjump" r:id="rId10"/>
          </p:cNvPr>
          <p:cNvSpPr/>
          <p:nvPr/>
        </p:nvSpPr>
        <p:spPr>
          <a:xfrm>
            <a:off x="6475528" y="2382382"/>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FX &amp; Trading Book Management</a:t>
            </a:r>
            <a:endParaRPr sz="1100">
              <a:solidFill>
                <a:schemeClr val="dk1"/>
              </a:solidFill>
              <a:latin typeface="Century Gothic"/>
              <a:ea typeface="Century Gothic"/>
              <a:cs typeface="Century Gothic"/>
              <a:sym typeface="Century Gothic"/>
            </a:endParaRPr>
          </a:p>
        </p:txBody>
      </p:sp>
      <p:sp>
        <p:nvSpPr>
          <p:cNvPr id="4028" name="Google Shape;4028;p216">
            <a:hlinkClick action="ppaction://hlinksldjump" r:id="rId11"/>
          </p:cNvPr>
          <p:cNvSpPr/>
          <p:nvPr/>
        </p:nvSpPr>
        <p:spPr>
          <a:xfrm>
            <a:off x="2099732" y="3013546"/>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Interest Rate </a:t>
            </a:r>
            <a:br>
              <a:rPr lang="en-GB" sz="1100">
                <a:solidFill>
                  <a:schemeClr val="dk1"/>
                </a:solidFill>
                <a:latin typeface="Century Gothic"/>
                <a:ea typeface="Century Gothic"/>
                <a:cs typeface="Century Gothic"/>
                <a:sym typeface="Century Gothic"/>
              </a:rPr>
            </a:br>
            <a:r>
              <a:rPr lang="en-GB" sz="1100">
                <a:solidFill>
                  <a:schemeClr val="dk1"/>
                </a:solidFill>
                <a:latin typeface="Century Gothic"/>
                <a:ea typeface="Century Gothic"/>
                <a:cs typeface="Century Gothic"/>
                <a:sym typeface="Century Gothic"/>
              </a:rPr>
              <a:t>Management </a:t>
            </a:r>
            <a:endParaRPr sz="1100">
              <a:solidFill>
                <a:schemeClr val="dk1"/>
              </a:solidFill>
              <a:latin typeface="Century Gothic"/>
              <a:ea typeface="Century Gothic"/>
              <a:cs typeface="Century Gothic"/>
              <a:sym typeface="Century Gothic"/>
            </a:endParaRPr>
          </a:p>
        </p:txBody>
      </p:sp>
      <p:sp>
        <p:nvSpPr>
          <p:cNvPr id="4029" name="Google Shape;4029;p216"/>
          <p:cNvSpPr txBox="1"/>
          <p:nvPr>
            <p:ph idx="2" type="body"/>
          </p:nvPr>
        </p:nvSpPr>
        <p:spPr>
          <a:xfrm>
            <a:off x="438098" y="585291"/>
            <a:ext cx="7753402" cy="353174"/>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Clr>
                <a:schemeClr val="dk1"/>
              </a:buClr>
              <a:buSzPts val="1600"/>
              <a:buFont typeface="Century Gothic"/>
              <a:buNone/>
            </a:pPr>
            <a:r>
              <a:rPr lang="en-GB" sz="1600"/>
              <a:t>Efficient Treasury processes supported by integrated data &amp; analytical capabilities</a:t>
            </a:r>
            <a:endParaRPr sz="1600"/>
          </a:p>
        </p:txBody>
      </p:sp>
      <p:sp>
        <p:nvSpPr>
          <p:cNvPr id="4030" name="Google Shape;4030;p216"/>
          <p:cNvSpPr txBox="1"/>
          <p:nvPr>
            <p:ph type="title"/>
          </p:nvPr>
        </p:nvSpPr>
        <p:spPr>
          <a:xfrm>
            <a:off x="425396" y="17276"/>
            <a:ext cx="8229600" cy="526298"/>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Finance &amp; Performance Management</a:t>
            </a:r>
            <a:endParaRPr sz="2400"/>
          </a:p>
        </p:txBody>
      </p:sp>
      <p:grpSp>
        <p:nvGrpSpPr>
          <p:cNvPr id="4031" name="Google Shape;4031;p216"/>
          <p:cNvGrpSpPr/>
          <p:nvPr/>
        </p:nvGrpSpPr>
        <p:grpSpPr>
          <a:xfrm>
            <a:off x="7717533" y="4360377"/>
            <a:ext cx="1058348" cy="347375"/>
            <a:chOff x="7651698" y="4287227"/>
            <a:chExt cx="1058348" cy="347375"/>
          </a:xfrm>
        </p:grpSpPr>
        <p:grpSp>
          <p:nvGrpSpPr>
            <p:cNvPr id="4032" name="Google Shape;4032;p216"/>
            <p:cNvGrpSpPr/>
            <p:nvPr/>
          </p:nvGrpSpPr>
          <p:grpSpPr>
            <a:xfrm>
              <a:off x="7714163" y="4337598"/>
              <a:ext cx="995883" cy="297004"/>
              <a:chOff x="7711013" y="3986494"/>
              <a:chExt cx="995883" cy="297004"/>
            </a:xfrm>
          </p:grpSpPr>
          <p:sp>
            <p:nvSpPr>
              <p:cNvPr id="4033" name="Google Shape;4033;p216"/>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4034" name="Google Shape;4034;p216"/>
              <p:cNvGrpSpPr/>
              <p:nvPr/>
            </p:nvGrpSpPr>
            <p:grpSpPr>
              <a:xfrm>
                <a:off x="7711013" y="4002615"/>
                <a:ext cx="281520" cy="241973"/>
                <a:chOff x="5652748" y="4066000"/>
                <a:chExt cx="906498" cy="747974"/>
              </a:xfrm>
            </p:grpSpPr>
            <p:sp>
              <p:nvSpPr>
                <p:cNvPr id="4035" name="Google Shape;4035;p216"/>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4036" name="Google Shape;4036;p216"/>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037" name="Google Shape;4037;p216"/>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4038" name="Google Shape;4038;p216">
              <a:hlinkClick action="ppaction://hlinksldjump" r:id="rId12"/>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
        <p:nvSpPr>
          <p:cNvPr id="4039" name="Google Shape;4039;p216">
            <a:hlinkClick action="ppaction://hlinksldjump" r:id="rId13"/>
          </p:cNvPr>
          <p:cNvSpPr/>
          <p:nvPr/>
        </p:nvSpPr>
        <p:spPr>
          <a:xfrm>
            <a:off x="6515100" y="-196501"/>
            <a:ext cx="2777392" cy="378533"/>
          </a:xfrm>
          <a:prstGeom prst="roundRect">
            <a:avLst>
              <a:gd fmla="val 50000" name="adj"/>
            </a:avLst>
          </a:prstGeom>
          <a:solidFill>
            <a:schemeClr val="accent1"/>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Finance &amp; Performance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4" name="Shape 4044"/>
        <p:cNvGrpSpPr/>
        <p:nvPr/>
      </p:nvGrpSpPr>
      <p:grpSpPr>
        <a:xfrm>
          <a:off x="0" y="0"/>
          <a:ext cx="0" cy="0"/>
          <a:chOff x="0" y="0"/>
          <a:chExt cx="0" cy="0"/>
        </a:xfrm>
      </p:grpSpPr>
      <p:sp>
        <p:nvSpPr>
          <p:cNvPr id="4045" name="Google Shape;4045;p217"/>
          <p:cNvSpPr/>
          <p:nvPr/>
        </p:nvSpPr>
        <p:spPr>
          <a:xfrm>
            <a:off x="459950" y="1187449"/>
            <a:ext cx="8223249" cy="3122083"/>
          </a:xfrm>
          <a:prstGeom prst="roundRect">
            <a:avLst>
              <a:gd fmla="val 2069" name="adj"/>
            </a:avLst>
          </a:prstGeom>
          <a:solidFill>
            <a:srgbClr val="FFFFFF"/>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046" name="Google Shape;4046;p217">
            <a:hlinkClick action="ppaction://hlinksldjump" r:id="rId3"/>
          </p:cNvPr>
          <p:cNvSpPr/>
          <p:nvPr/>
        </p:nvSpPr>
        <p:spPr>
          <a:xfrm>
            <a:off x="565902" y="1303866"/>
            <a:ext cx="1395519" cy="2861734"/>
          </a:xfrm>
          <a:prstGeom prst="homePlate">
            <a:avLst>
              <a:gd fmla="val 7540" name="adj"/>
            </a:avLst>
          </a:prstGeom>
          <a:solidFill>
            <a:schemeClr val="accent4"/>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rgbClr val="FFFFFF"/>
                </a:solidFill>
                <a:latin typeface="Century Gothic"/>
                <a:ea typeface="Century Gothic"/>
                <a:cs typeface="Century Gothic"/>
                <a:sym typeface="Century Gothic"/>
              </a:rPr>
              <a:t>Financial Reporting</a:t>
            </a:r>
            <a:endParaRPr sz="1100">
              <a:solidFill>
                <a:srgbClr val="FFFFFF"/>
              </a:solidFill>
              <a:latin typeface="Century Gothic"/>
              <a:ea typeface="Century Gothic"/>
              <a:cs typeface="Century Gothic"/>
              <a:sym typeface="Century Gothic"/>
            </a:endParaRPr>
          </a:p>
        </p:txBody>
      </p:sp>
      <p:sp>
        <p:nvSpPr>
          <p:cNvPr id="4047" name="Google Shape;4047;p217"/>
          <p:cNvSpPr/>
          <p:nvPr/>
        </p:nvSpPr>
        <p:spPr>
          <a:xfrm>
            <a:off x="2073748" y="1270818"/>
            <a:ext cx="6062954" cy="360000"/>
          </a:xfrm>
          <a:prstGeom prst="rect">
            <a:avLst/>
          </a:prstGeom>
          <a:noFill/>
          <a:ln>
            <a:noFill/>
          </a:ln>
        </p:spPr>
        <p:txBody>
          <a:bodyPr anchorCtr="0" anchor="ctr" bIns="91425" lIns="36000" spcFirstLastPara="1" rIns="36000" wrap="square" tIns="91425">
            <a:noAutofit/>
          </a:bodyPr>
          <a:lstStyle/>
          <a:p>
            <a:pPr indent="0" lvl="0" marL="0" marR="0" rtl="0" algn="ctr">
              <a:spcBef>
                <a:spcPts val="0"/>
              </a:spcBef>
              <a:spcAft>
                <a:spcPts val="0"/>
              </a:spcAft>
              <a:buNone/>
            </a:pPr>
            <a:r>
              <a:rPr lang="en-GB" sz="1400">
                <a:solidFill>
                  <a:srgbClr val="3C3C3B"/>
                </a:solidFill>
                <a:latin typeface="Century Gothic"/>
                <a:ea typeface="Century Gothic"/>
                <a:cs typeface="Century Gothic"/>
                <a:sym typeface="Century Gothic"/>
              </a:rPr>
              <a:t>Analytical Capabilities</a:t>
            </a:r>
            <a:endParaRPr sz="1400">
              <a:solidFill>
                <a:srgbClr val="3C3C3B"/>
              </a:solidFill>
              <a:latin typeface="Century Gothic"/>
              <a:ea typeface="Century Gothic"/>
              <a:cs typeface="Century Gothic"/>
              <a:sym typeface="Century Gothic"/>
            </a:endParaRPr>
          </a:p>
        </p:txBody>
      </p:sp>
      <p:sp>
        <p:nvSpPr>
          <p:cNvPr id="4048" name="Google Shape;4048;p217">
            <a:hlinkClick action="ppaction://hlinksldjump" r:id="rId4"/>
          </p:cNvPr>
          <p:cNvSpPr/>
          <p:nvPr/>
        </p:nvSpPr>
        <p:spPr>
          <a:xfrm>
            <a:off x="567549" y="3946768"/>
            <a:ext cx="849788" cy="200177"/>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rPr lang="en-GB" sz="800">
                <a:solidFill>
                  <a:schemeClr val="lt1"/>
                </a:solidFill>
                <a:latin typeface="Century Gothic"/>
                <a:ea typeface="Century Gothic"/>
                <a:cs typeface="Century Gothic"/>
                <a:sym typeface="Century Gothic"/>
              </a:rPr>
              <a:t>More info &gt; </a:t>
            </a:r>
            <a:endParaRPr/>
          </a:p>
        </p:txBody>
      </p:sp>
      <p:sp>
        <p:nvSpPr>
          <p:cNvPr id="4049" name="Google Shape;4049;p217">
            <a:hlinkClick action="ppaction://hlinksldjump" r:id="rId5"/>
          </p:cNvPr>
          <p:cNvSpPr/>
          <p:nvPr/>
        </p:nvSpPr>
        <p:spPr>
          <a:xfrm>
            <a:off x="2099732" y="1751219"/>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Statutory Financial</a:t>
            </a:r>
            <a:br>
              <a:rPr lang="en-GB" sz="1100">
                <a:solidFill>
                  <a:schemeClr val="dk1"/>
                </a:solidFill>
                <a:latin typeface="Century Gothic"/>
                <a:ea typeface="Century Gothic"/>
                <a:cs typeface="Century Gothic"/>
                <a:sym typeface="Century Gothic"/>
              </a:rPr>
            </a:br>
            <a:r>
              <a:rPr lang="en-GB" sz="1100">
                <a:solidFill>
                  <a:schemeClr val="dk1"/>
                </a:solidFill>
                <a:latin typeface="Century Gothic"/>
                <a:ea typeface="Century Gothic"/>
                <a:cs typeface="Century Gothic"/>
                <a:sym typeface="Century Gothic"/>
              </a:rPr>
              <a:t>Reporting</a:t>
            </a:r>
            <a:endParaRPr sz="1100">
              <a:solidFill>
                <a:schemeClr val="dk1"/>
              </a:solidFill>
              <a:latin typeface="Century Gothic"/>
              <a:ea typeface="Century Gothic"/>
              <a:cs typeface="Century Gothic"/>
              <a:sym typeface="Century Gothic"/>
            </a:endParaRPr>
          </a:p>
        </p:txBody>
      </p:sp>
      <p:sp>
        <p:nvSpPr>
          <p:cNvPr id="4050" name="Google Shape;4050;p217">
            <a:hlinkClick action="ppaction://hlinksldjump" r:id="rId6"/>
          </p:cNvPr>
          <p:cNvSpPr/>
          <p:nvPr/>
        </p:nvSpPr>
        <p:spPr>
          <a:xfrm>
            <a:off x="4290976" y="1751219"/>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Regulatory &amp; Compliance Reporting</a:t>
            </a:r>
            <a:endParaRPr sz="1100">
              <a:solidFill>
                <a:schemeClr val="dk1"/>
              </a:solidFill>
              <a:latin typeface="Century Gothic"/>
              <a:ea typeface="Century Gothic"/>
              <a:cs typeface="Century Gothic"/>
              <a:sym typeface="Century Gothic"/>
            </a:endParaRPr>
          </a:p>
        </p:txBody>
      </p:sp>
      <p:sp>
        <p:nvSpPr>
          <p:cNvPr id="4051" name="Google Shape;4051;p217">
            <a:hlinkClick action="ppaction://hlinksldjump" r:id="rId7"/>
          </p:cNvPr>
          <p:cNvSpPr/>
          <p:nvPr/>
        </p:nvSpPr>
        <p:spPr>
          <a:xfrm>
            <a:off x="6475528" y="1751219"/>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Sales Reporting</a:t>
            </a:r>
            <a:endParaRPr sz="1100">
              <a:solidFill>
                <a:schemeClr val="dk1"/>
              </a:solidFill>
              <a:latin typeface="Century Gothic"/>
              <a:ea typeface="Century Gothic"/>
              <a:cs typeface="Century Gothic"/>
              <a:sym typeface="Century Gothic"/>
            </a:endParaRPr>
          </a:p>
        </p:txBody>
      </p:sp>
      <p:sp>
        <p:nvSpPr>
          <p:cNvPr id="4052" name="Google Shape;4052;p217">
            <a:hlinkClick action="ppaction://hlinksldjump" r:id="rId8"/>
          </p:cNvPr>
          <p:cNvSpPr/>
          <p:nvPr/>
        </p:nvSpPr>
        <p:spPr>
          <a:xfrm>
            <a:off x="2099732" y="2382382"/>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Performance Reporting</a:t>
            </a:r>
            <a:endParaRPr sz="1100">
              <a:solidFill>
                <a:schemeClr val="dk1"/>
              </a:solidFill>
              <a:latin typeface="Century Gothic"/>
              <a:ea typeface="Century Gothic"/>
              <a:cs typeface="Century Gothic"/>
              <a:sym typeface="Century Gothic"/>
            </a:endParaRPr>
          </a:p>
        </p:txBody>
      </p:sp>
      <p:sp>
        <p:nvSpPr>
          <p:cNvPr id="4053" name="Google Shape;4053;p217">
            <a:hlinkClick action="ppaction://hlinksldjump" r:id="rId9"/>
          </p:cNvPr>
          <p:cNvSpPr/>
          <p:nvPr/>
        </p:nvSpPr>
        <p:spPr>
          <a:xfrm>
            <a:off x="4290976" y="2382382"/>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Exception Reporting</a:t>
            </a:r>
            <a:endParaRPr sz="1100">
              <a:solidFill>
                <a:schemeClr val="dk1"/>
              </a:solidFill>
              <a:latin typeface="Century Gothic"/>
              <a:ea typeface="Century Gothic"/>
              <a:cs typeface="Century Gothic"/>
              <a:sym typeface="Century Gothic"/>
            </a:endParaRPr>
          </a:p>
        </p:txBody>
      </p:sp>
      <p:sp>
        <p:nvSpPr>
          <p:cNvPr id="4054" name="Google Shape;4054;p217">
            <a:hlinkClick action="ppaction://hlinksldjump" r:id="rId10"/>
          </p:cNvPr>
          <p:cNvSpPr/>
          <p:nvPr/>
        </p:nvSpPr>
        <p:spPr>
          <a:xfrm>
            <a:off x="6475528" y="2382382"/>
            <a:ext cx="2065221" cy="52248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Executive Dashboards</a:t>
            </a:r>
            <a:endParaRPr sz="1100">
              <a:solidFill>
                <a:schemeClr val="dk1"/>
              </a:solidFill>
              <a:latin typeface="Century Gothic"/>
              <a:ea typeface="Century Gothic"/>
              <a:cs typeface="Century Gothic"/>
              <a:sym typeface="Century Gothic"/>
            </a:endParaRPr>
          </a:p>
        </p:txBody>
      </p:sp>
      <p:sp>
        <p:nvSpPr>
          <p:cNvPr id="4055" name="Google Shape;4055;p217"/>
          <p:cNvSpPr txBox="1"/>
          <p:nvPr>
            <p:ph idx="2" type="body"/>
          </p:nvPr>
        </p:nvSpPr>
        <p:spPr>
          <a:xfrm>
            <a:off x="438098" y="585291"/>
            <a:ext cx="7753402" cy="353174"/>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Clr>
                <a:schemeClr val="dk1"/>
              </a:buClr>
              <a:buSzPts val="1600"/>
              <a:buFont typeface="Century Gothic"/>
              <a:buNone/>
            </a:pPr>
            <a:r>
              <a:rPr lang="en-GB" sz="1600"/>
              <a:t>Efficient financial and performance reporting processes based on granular and integrated data</a:t>
            </a:r>
            <a:endParaRPr sz="1600"/>
          </a:p>
        </p:txBody>
      </p:sp>
      <p:sp>
        <p:nvSpPr>
          <p:cNvPr id="4056" name="Google Shape;4056;p217"/>
          <p:cNvSpPr txBox="1"/>
          <p:nvPr>
            <p:ph type="title"/>
          </p:nvPr>
        </p:nvSpPr>
        <p:spPr>
          <a:xfrm>
            <a:off x="425396" y="17276"/>
            <a:ext cx="8229600" cy="526298"/>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Finance &amp; Performance Management</a:t>
            </a:r>
            <a:endParaRPr sz="2400"/>
          </a:p>
        </p:txBody>
      </p:sp>
      <p:grpSp>
        <p:nvGrpSpPr>
          <p:cNvPr id="4057" name="Google Shape;4057;p217"/>
          <p:cNvGrpSpPr/>
          <p:nvPr/>
        </p:nvGrpSpPr>
        <p:grpSpPr>
          <a:xfrm>
            <a:off x="7717533" y="4360377"/>
            <a:ext cx="1058348" cy="347375"/>
            <a:chOff x="7651698" y="4287227"/>
            <a:chExt cx="1058348" cy="347375"/>
          </a:xfrm>
        </p:grpSpPr>
        <p:grpSp>
          <p:nvGrpSpPr>
            <p:cNvPr id="4058" name="Google Shape;4058;p217"/>
            <p:cNvGrpSpPr/>
            <p:nvPr/>
          </p:nvGrpSpPr>
          <p:grpSpPr>
            <a:xfrm>
              <a:off x="7714163" y="4337598"/>
              <a:ext cx="995883" cy="297004"/>
              <a:chOff x="7711013" y="3986494"/>
              <a:chExt cx="995883" cy="297004"/>
            </a:xfrm>
          </p:grpSpPr>
          <p:sp>
            <p:nvSpPr>
              <p:cNvPr id="4059" name="Google Shape;4059;p217"/>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4060" name="Google Shape;4060;p217"/>
              <p:cNvGrpSpPr/>
              <p:nvPr/>
            </p:nvGrpSpPr>
            <p:grpSpPr>
              <a:xfrm>
                <a:off x="7711013" y="4002615"/>
                <a:ext cx="281520" cy="241973"/>
                <a:chOff x="5652748" y="4066000"/>
                <a:chExt cx="906498" cy="747974"/>
              </a:xfrm>
            </p:grpSpPr>
            <p:sp>
              <p:nvSpPr>
                <p:cNvPr id="4061" name="Google Shape;4061;p217"/>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4062" name="Google Shape;4062;p217"/>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063" name="Google Shape;4063;p217"/>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4064" name="Google Shape;4064;p217">
              <a:hlinkClick action="ppaction://hlinksldjump" r:id="rId11"/>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
        <p:nvSpPr>
          <p:cNvPr id="4065" name="Google Shape;4065;p217">
            <a:hlinkClick action="ppaction://hlinksldjump" r:id="rId12"/>
          </p:cNvPr>
          <p:cNvSpPr/>
          <p:nvPr/>
        </p:nvSpPr>
        <p:spPr>
          <a:xfrm>
            <a:off x="6515100" y="-196501"/>
            <a:ext cx="2777392" cy="378533"/>
          </a:xfrm>
          <a:prstGeom prst="roundRect">
            <a:avLst>
              <a:gd fmla="val 50000" name="adj"/>
            </a:avLst>
          </a:prstGeom>
          <a:solidFill>
            <a:schemeClr val="accent1"/>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Finance &amp; Performance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0" name="Shape 4070"/>
        <p:cNvGrpSpPr/>
        <p:nvPr/>
      </p:nvGrpSpPr>
      <p:grpSpPr>
        <a:xfrm>
          <a:off x="0" y="0"/>
          <a:ext cx="0" cy="0"/>
          <a:chOff x="0" y="0"/>
          <a:chExt cx="0" cy="0"/>
        </a:xfrm>
      </p:grpSpPr>
      <p:sp>
        <p:nvSpPr>
          <p:cNvPr id="4071" name="Google Shape;4071;p218"/>
          <p:cNvSpPr/>
          <p:nvPr/>
        </p:nvSpPr>
        <p:spPr>
          <a:xfrm>
            <a:off x="459950" y="1187449"/>
            <a:ext cx="8223249" cy="3511551"/>
          </a:xfrm>
          <a:prstGeom prst="roundRect">
            <a:avLst>
              <a:gd fmla="val 2069" name="adj"/>
            </a:avLst>
          </a:prstGeom>
          <a:solidFill>
            <a:srgbClr val="FFFFFF"/>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072" name="Google Shape;4072;p218">
            <a:hlinkClick action="ppaction://hlinksldjump" r:id="rId3"/>
          </p:cNvPr>
          <p:cNvSpPr/>
          <p:nvPr/>
        </p:nvSpPr>
        <p:spPr>
          <a:xfrm>
            <a:off x="565902" y="1692116"/>
            <a:ext cx="1395519" cy="2123476"/>
          </a:xfrm>
          <a:prstGeom prst="homePlate">
            <a:avLst>
              <a:gd fmla="val 7540" name="adj"/>
            </a:avLst>
          </a:prstGeom>
          <a:solidFill>
            <a:schemeClr val="accent4"/>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rgbClr val="FFFFFF"/>
                </a:solidFill>
                <a:latin typeface="Century Gothic"/>
                <a:ea typeface="Century Gothic"/>
                <a:cs typeface="Century Gothic"/>
                <a:sym typeface="Century Gothic"/>
              </a:rPr>
              <a:t>Accounting</a:t>
            </a:r>
            <a:br>
              <a:rPr lang="en-GB" sz="1100">
                <a:solidFill>
                  <a:srgbClr val="FFFFFF"/>
                </a:solidFill>
                <a:latin typeface="Century Gothic"/>
                <a:ea typeface="Century Gothic"/>
                <a:cs typeface="Century Gothic"/>
                <a:sym typeface="Century Gothic"/>
              </a:rPr>
            </a:br>
            <a:r>
              <a:rPr lang="en-GB" sz="1100">
                <a:solidFill>
                  <a:srgbClr val="FFFFFF"/>
                </a:solidFill>
                <a:latin typeface="Century Gothic"/>
                <a:ea typeface="Century Gothic"/>
                <a:cs typeface="Century Gothic"/>
                <a:sym typeface="Century Gothic"/>
              </a:rPr>
              <a:t>Operations</a:t>
            </a:r>
            <a:br>
              <a:rPr lang="en-GB" sz="1100">
                <a:solidFill>
                  <a:srgbClr val="FFFFFF"/>
                </a:solidFill>
                <a:latin typeface="Century Gothic"/>
                <a:ea typeface="Century Gothic"/>
                <a:cs typeface="Century Gothic"/>
                <a:sym typeface="Century Gothic"/>
              </a:rPr>
            </a:br>
            <a:r>
              <a:rPr lang="en-GB" sz="1100">
                <a:solidFill>
                  <a:srgbClr val="FFFFFF"/>
                </a:solidFill>
                <a:latin typeface="Century Gothic"/>
                <a:ea typeface="Century Gothic"/>
                <a:cs typeface="Century Gothic"/>
                <a:sym typeface="Century Gothic"/>
              </a:rPr>
              <a:t>and Close</a:t>
            </a:r>
            <a:endParaRPr sz="1100">
              <a:solidFill>
                <a:srgbClr val="FFFFFF"/>
              </a:solidFill>
              <a:latin typeface="Century Gothic"/>
              <a:ea typeface="Century Gothic"/>
              <a:cs typeface="Century Gothic"/>
              <a:sym typeface="Century Gothic"/>
            </a:endParaRPr>
          </a:p>
        </p:txBody>
      </p:sp>
      <p:sp>
        <p:nvSpPr>
          <p:cNvPr id="4073" name="Google Shape;4073;p218">
            <a:hlinkClick action="ppaction://hlinksldjump" r:id="rId4"/>
          </p:cNvPr>
          <p:cNvSpPr/>
          <p:nvPr/>
        </p:nvSpPr>
        <p:spPr>
          <a:xfrm>
            <a:off x="5378284" y="3185592"/>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Accelerated </a:t>
            </a:r>
            <a:br>
              <a:rPr lang="en-GB" sz="1000">
                <a:solidFill>
                  <a:schemeClr val="dk1"/>
                </a:solidFill>
                <a:latin typeface="Century Gothic"/>
                <a:ea typeface="Century Gothic"/>
                <a:cs typeface="Century Gothic"/>
                <a:sym typeface="Century Gothic"/>
              </a:rPr>
            </a:br>
            <a:r>
              <a:rPr lang="en-GB" sz="1000">
                <a:solidFill>
                  <a:schemeClr val="dk1"/>
                </a:solidFill>
                <a:latin typeface="Century Gothic"/>
                <a:ea typeface="Century Gothic"/>
                <a:cs typeface="Century Gothic"/>
                <a:sym typeface="Century Gothic"/>
              </a:rPr>
              <a:t>Financial Data Acquisition</a:t>
            </a:r>
            <a:endParaRPr sz="700">
              <a:solidFill>
                <a:schemeClr val="dk1"/>
              </a:solidFill>
              <a:latin typeface="Century Gothic"/>
              <a:ea typeface="Century Gothic"/>
              <a:cs typeface="Century Gothic"/>
              <a:sym typeface="Century Gothic"/>
            </a:endParaRPr>
          </a:p>
        </p:txBody>
      </p:sp>
      <p:sp>
        <p:nvSpPr>
          <p:cNvPr id="4074" name="Google Shape;4074;p218"/>
          <p:cNvSpPr/>
          <p:nvPr/>
        </p:nvSpPr>
        <p:spPr>
          <a:xfrm rot="5400000">
            <a:off x="5365283" y="3450790"/>
            <a:ext cx="95758" cy="63500"/>
          </a:xfrm>
          <a:prstGeom prst="triangle">
            <a:avLst>
              <a:gd fmla="val 50000" name="adj"/>
            </a:avLst>
          </a:prstGeom>
          <a:solidFill>
            <a:schemeClr val="accent1"/>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075" name="Google Shape;4075;p218">
            <a:hlinkClick action="ppaction://hlinksldjump" r:id="rId5"/>
          </p:cNvPr>
          <p:cNvSpPr/>
          <p:nvPr/>
        </p:nvSpPr>
        <p:spPr>
          <a:xfrm>
            <a:off x="3738291" y="3185592"/>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Close Process Optimisation</a:t>
            </a:r>
            <a:endParaRPr sz="700">
              <a:solidFill>
                <a:schemeClr val="dk1"/>
              </a:solidFill>
              <a:latin typeface="Century Gothic"/>
              <a:ea typeface="Century Gothic"/>
              <a:cs typeface="Century Gothic"/>
              <a:sym typeface="Century Gothic"/>
            </a:endParaRPr>
          </a:p>
        </p:txBody>
      </p:sp>
      <p:sp>
        <p:nvSpPr>
          <p:cNvPr id="4076" name="Google Shape;4076;p218"/>
          <p:cNvSpPr/>
          <p:nvPr/>
        </p:nvSpPr>
        <p:spPr>
          <a:xfrm rot="5400000">
            <a:off x="3722749" y="3450790"/>
            <a:ext cx="95758" cy="63500"/>
          </a:xfrm>
          <a:prstGeom prst="triangle">
            <a:avLst>
              <a:gd fmla="val 50000" name="adj"/>
            </a:avLst>
          </a:prstGeom>
          <a:solidFill>
            <a:schemeClr val="accent1"/>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077" name="Google Shape;4077;p218">
            <a:hlinkClick action="ppaction://hlinksldjump" r:id="rId6"/>
          </p:cNvPr>
          <p:cNvSpPr/>
          <p:nvPr/>
        </p:nvSpPr>
        <p:spPr>
          <a:xfrm>
            <a:off x="2100620" y="3185592"/>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Consolidation Optimisation</a:t>
            </a:r>
            <a:endParaRPr sz="700">
              <a:solidFill>
                <a:schemeClr val="dk1"/>
              </a:solidFill>
              <a:latin typeface="Century Gothic"/>
              <a:ea typeface="Century Gothic"/>
              <a:cs typeface="Century Gothic"/>
              <a:sym typeface="Century Gothic"/>
            </a:endParaRPr>
          </a:p>
        </p:txBody>
      </p:sp>
      <p:sp>
        <p:nvSpPr>
          <p:cNvPr id="4078" name="Google Shape;4078;p218"/>
          <p:cNvSpPr/>
          <p:nvPr/>
        </p:nvSpPr>
        <p:spPr>
          <a:xfrm rot="5400000">
            <a:off x="2084235" y="3448052"/>
            <a:ext cx="95758" cy="63500"/>
          </a:xfrm>
          <a:prstGeom prst="triangle">
            <a:avLst>
              <a:gd fmla="val 50000" name="adj"/>
            </a:avLst>
          </a:prstGeom>
          <a:solidFill>
            <a:schemeClr val="accent1"/>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079" name="Google Shape;4079;p218">
            <a:hlinkClick action="ppaction://hlinksldjump" r:id="rId7"/>
          </p:cNvPr>
          <p:cNvSpPr/>
          <p:nvPr/>
        </p:nvSpPr>
        <p:spPr>
          <a:xfrm>
            <a:off x="7018020" y="2443264"/>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Reconciliation </a:t>
            </a:r>
            <a:br>
              <a:rPr lang="en-GB" sz="1000">
                <a:solidFill>
                  <a:schemeClr val="dk1"/>
                </a:solidFill>
                <a:latin typeface="Century Gothic"/>
                <a:ea typeface="Century Gothic"/>
                <a:cs typeface="Century Gothic"/>
                <a:sym typeface="Century Gothic"/>
              </a:rPr>
            </a:br>
            <a:r>
              <a:rPr lang="en-GB" sz="1000">
                <a:solidFill>
                  <a:schemeClr val="dk1"/>
                </a:solidFill>
                <a:latin typeface="Century Gothic"/>
                <a:ea typeface="Century Gothic"/>
                <a:cs typeface="Century Gothic"/>
                <a:sym typeface="Century Gothic"/>
              </a:rPr>
              <a:t>Process</a:t>
            </a:r>
            <a:endParaRPr sz="700">
              <a:solidFill>
                <a:schemeClr val="dk1"/>
              </a:solidFill>
              <a:latin typeface="Century Gothic"/>
              <a:ea typeface="Century Gothic"/>
              <a:cs typeface="Century Gothic"/>
              <a:sym typeface="Century Gothic"/>
            </a:endParaRPr>
          </a:p>
        </p:txBody>
      </p:sp>
      <p:sp>
        <p:nvSpPr>
          <p:cNvPr id="4080" name="Google Shape;4080;p218"/>
          <p:cNvSpPr/>
          <p:nvPr/>
        </p:nvSpPr>
        <p:spPr>
          <a:xfrm rot="5400000">
            <a:off x="6999094" y="2705724"/>
            <a:ext cx="95758" cy="63500"/>
          </a:xfrm>
          <a:prstGeom prst="triangle">
            <a:avLst>
              <a:gd fmla="val 50000" name="adj"/>
            </a:avLst>
          </a:prstGeom>
          <a:solidFill>
            <a:schemeClr val="accent1"/>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081" name="Google Shape;4081;p218">
            <a:hlinkClick action="ppaction://hlinksldjump" r:id="rId8"/>
          </p:cNvPr>
          <p:cNvSpPr/>
          <p:nvPr/>
        </p:nvSpPr>
        <p:spPr>
          <a:xfrm>
            <a:off x="5372101" y="2443264"/>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Asset Backed Securitisation</a:t>
            </a:r>
            <a:endParaRPr sz="1000">
              <a:solidFill>
                <a:schemeClr val="dk1"/>
              </a:solidFill>
              <a:latin typeface="Century Gothic"/>
              <a:ea typeface="Century Gothic"/>
              <a:cs typeface="Century Gothic"/>
              <a:sym typeface="Century Gothic"/>
            </a:endParaRPr>
          </a:p>
        </p:txBody>
      </p:sp>
      <p:sp>
        <p:nvSpPr>
          <p:cNvPr id="4082" name="Google Shape;4082;p218"/>
          <p:cNvSpPr/>
          <p:nvPr/>
        </p:nvSpPr>
        <p:spPr>
          <a:xfrm rot="5400000">
            <a:off x="5356559" y="2705724"/>
            <a:ext cx="95758" cy="63500"/>
          </a:xfrm>
          <a:prstGeom prst="triangle">
            <a:avLst>
              <a:gd fmla="val 50000" name="adj"/>
            </a:avLst>
          </a:prstGeom>
          <a:solidFill>
            <a:srgbClr val="C00000"/>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083" name="Google Shape;4083;p218">
            <a:hlinkClick action="ppaction://hlinksldjump" r:id="rId9"/>
          </p:cNvPr>
          <p:cNvSpPr/>
          <p:nvPr/>
        </p:nvSpPr>
        <p:spPr>
          <a:xfrm>
            <a:off x="3738291" y="2443264"/>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Fixed Asset </a:t>
            </a:r>
            <a:br>
              <a:rPr lang="en-GB" sz="1000">
                <a:solidFill>
                  <a:schemeClr val="dk1"/>
                </a:solidFill>
                <a:latin typeface="Century Gothic"/>
                <a:ea typeface="Century Gothic"/>
                <a:cs typeface="Century Gothic"/>
                <a:sym typeface="Century Gothic"/>
              </a:rPr>
            </a:br>
            <a:r>
              <a:rPr lang="en-GB" sz="1000">
                <a:solidFill>
                  <a:schemeClr val="dk1"/>
                </a:solidFill>
                <a:latin typeface="Century Gothic"/>
                <a:ea typeface="Century Gothic"/>
                <a:cs typeface="Century Gothic"/>
                <a:sym typeface="Century Gothic"/>
              </a:rPr>
              <a:t>Utilisation </a:t>
            </a:r>
            <a:br>
              <a:rPr lang="en-GB" sz="1000">
                <a:solidFill>
                  <a:schemeClr val="dk1"/>
                </a:solidFill>
                <a:latin typeface="Century Gothic"/>
                <a:ea typeface="Century Gothic"/>
                <a:cs typeface="Century Gothic"/>
                <a:sym typeface="Century Gothic"/>
              </a:rPr>
            </a:br>
            <a:r>
              <a:rPr lang="en-GB" sz="1000">
                <a:solidFill>
                  <a:schemeClr val="dk1"/>
                </a:solidFill>
                <a:latin typeface="Century Gothic"/>
                <a:ea typeface="Century Gothic"/>
                <a:cs typeface="Century Gothic"/>
                <a:sym typeface="Century Gothic"/>
              </a:rPr>
              <a:t>Optimisation</a:t>
            </a:r>
            <a:endParaRPr sz="1000">
              <a:solidFill>
                <a:schemeClr val="dk1"/>
              </a:solidFill>
              <a:latin typeface="Century Gothic"/>
              <a:ea typeface="Century Gothic"/>
              <a:cs typeface="Century Gothic"/>
              <a:sym typeface="Century Gothic"/>
            </a:endParaRPr>
          </a:p>
        </p:txBody>
      </p:sp>
      <p:sp>
        <p:nvSpPr>
          <p:cNvPr id="4084" name="Google Shape;4084;p218"/>
          <p:cNvSpPr/>
          <p:nvPr/>
        </p:nvSpPr>
        <p:spPr>
          <a:xfrm rot="5400000">
            <a:off x="3721906" y="2711451"/>
            <a:ext cx="95758" cy="63500"/>
          </a:xfrm>
          <a:prstGeom prst="triangle">
            <a:avLst>
              <a:gd fmla="val 50000" name="adj"/>
            </a:avLst>
          </a:prstGeom>
          <a:solidFill>
            <a:srgbClr val="C00000"/>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085" name="Google Shape;4085;p218">
            <a:hlinkClick action="ppaction://hlinksldjump" r:id="rId10"/>
          </p:cNvPr>
          <p:cNvSpPr/>
          <p:nvPr/>
        </p:nvSpPr>
        <p:spPr>
          <a:xfrm>
            <a:off x="2098298" y="2443264"/>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Valuation of </a:t>
            </a:r>
            <a:br>
              <a:rPr lang="en-GB" sz="1000">
                <a:solidFill>
                  <a:schemeClr val="dk1"/>
                </a:solidFill>
                <a:latin typeface="Century Gothic"/>
                <a:ea typeface="Century Gothic"/>
                <a:cs typeface="Century Gothic"/>
                <a:sym typeface="Century Gothic"/>
              </a:rPr>
            </a:br>
            <a:r>
              <a:rPr lang="en-GB" sz="1000">
                <a:solidFill>
                  <a:schemeClr val="dk1"/>
                </a:solidFill>
                <a:latin typeface="Century Gothic"/>
                <a:ea typeface="Century Gothic"/>
                <a:cs typeface="Century Gothic"/>
                <a:sym typeface="Century Gothic"/>
              </a:rPr>
              <a:t>Intangible Assets</a:t>
            </a:r>
            <a:endParaRPr sz="1000">
              <a:solidFill>
                <a:schemeClr val="dk1"/>
              </a:solidFill>
              <a:latin typeface="Century Gothic"/>
              <a:ea typeface="Century Gothic"/>
              <a:cs typeface="Century Gothic"/>
              <a:sym typeface="Century Gothic"/>
            </a:endParaRPr>
          </a:p>
        </p:txBody>
      </p:sp>
      <p:sp>
        <p:nvSpPr>
          <p:cNvPr id="4086" name="Google Shape;4086;p218"/>
          <p:cNvSpPr/>
          <p:nvPr/>
        </p:nvSpPr>
        <p:spPr>
          <a:xfrm rot="5400000">
            <a:off x="2079372" y="2711451"/>
            <a:ext cx="95758" cy="63500"/>
          </a:xfrm>
          <a:prstGeom prst="triangle">
            <a:avLst>
              <a:gd fmla="val 50000" name="adj"/>
            </a:avLst>
          </a:prstGeom>
          <a:solidFill>
            <a:srgbClr val="C00000"/>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087" name="Google Shape;4087;p218">
            <a:hlinkClick action="ppaction://hlinksldjump" r:id="rId11"/>
          </p:cNvPr>
          <p:cNvSpPr/>
          <p:nvPr/>
        </p:nvSpPr>
        <p:spPr>
          <a:xfrm>
            <a:off x="7012095" y="1692116"/>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Accounting Hub / Subledger</a:t>
            </a:r>
            <a:endParaRPr sz="1000">
              <a:solidFill>
                <a:schemeClr val="dk1"/>
              </a:solidFill>
              <a:latin typeface="Century Gothic"/>
              <a:ea typeface="Century Gothic"/>
              <a:cs typeface="Century Gothic"/>
              <a:sym typeface="Century Gothic"/>
            </a:endParaRPr>
          </a:p>
        </p:txBody>
      </p:sp>
      <p:sp>
        <p:nvSpPr>
          <p:cNvPr id="4088" name="Google Shape;4088;p218"/>
          <p:cNvSpPr/>
          <p:nvPr/>
        </p:nvSpPr>
        <p:spPr>
          <a:xfrm rot="5400000">
            <a:off x="6999094" y="1960303"/>
            <a:ext cx="95758" cy="63500"/>
          </a:xfrm>
          <a:prstGeom prst="triangle">
            <a:avLst>
              <a:gd fmla="val 50000" name="adj"/>
            </a:avLst>
          </a:prstGeom>
          <a:solidFill>
            <a:schemeClr val="accent1"/>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089" name="Google Shape;4089;p218">
            <a:hlinkClick action="ppaction://hlinksldjump" r:id="rId12"/>
          </p:cNvPr>
          <p:cNvSpPr/>
          <p:nvPr/>
        </p:nvSpPr>
        <p:spPr>
          <a:xfrm>
            <a:off x="5372102" y="1692116"/>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Procure to Pay Optimisation</a:t>
            </a:r>
            <a:endParaRPr sz="1000">
              <a:solidFill>
                <a:schemeClr val="dk1"/>
              </a:solidFill>
              <a:latin typeface="Century Gothic"/>
              <a:ea typeface="Century Gothic"/>
              <a:cs typeface="Century Gothic"/>
              <a:sym typeface="Century Gothic"/>
            </a:endParaRPr>
          </a:p>
        </p:txBody>
      </p:sp>
      <p:sp>
        <p:nvSpPr>
          <p:cNvPr id="4090" name="Google Shape;4090;p218"/>
          <p:cNvSpPr/>
          <p:nvPr/>
        </p:nvSpPr>
        <p:spPr>
          <a:xfrm rot="5400000">
            <a:off x="5356560" y="1960303"/>
            <a:ext cx="95758" cy="63500"/>
          </a:xfrm>
          <a:prstGeom prst="triangle">
            <a:avLst>
              <a:gd fmla="val 50000" name="adj"/>
            </a:avLst>
          </a:prstGeom>
          <a:solidFill>
            <a:schemeClr val="accent1"/>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091" name="Google Shape;4091;p218">
            <a:hlinkClick action="ppaction://hlinksldjump" r:id="rId13"/>
          </p:cNvPr>
          <p:cNvSpPr/>
          <p:nvPr/>
        </p:nvSpPr>
        <p:spPr>
          <a:xfrm>
            <a:off x="3734906" y="1692116"/>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Payables </a:t>
            </a:r>
            <a:br>
              <a:rPr lang="en-GB" sz="1000">
                <a:solidFill>
                  <a:schemeClr val="dk1"/>
                </a:solidFill>
                <a:latin typeface="Century Gothic"/>
                <a:ea typeface="Century Gothic"/>
                <a:cs typeface="Century Gothic"/>
                <a:sym typeface="Century Gothic"/>
              </a:rPr>
            </a:br>
            <a:r>
              <a:rPr lang="en-GB" sz="1000">
                <a:solidFill>
                  <a:schemeClr val="dk1"/>
                </a:solidFill>
                <a:latin typeface="Century Gothic"/>
                <a:ea typeface="Century Gothic"/>
                <a:cs typeface="Century Gothic"/>
                <a:sym typeface="Century Gothic"/>
              </a:rPr>
              <a:t>Analytics</a:t>
            </a:r>
            <a:endParaRPr sz="1000">
              <a:solidFill>
                <a:schemeClr val="dk1"/>
              </a:solidFill>
              <a:latin typeface="Century Gothic"/>
              <a:ea typeface="Century Gothic"/>
              <a:cs typeface="Century Gothic"/>
              <a:sym typeface="Century Gothic"/>
            </a:endParaRPr>
          </a:p>
        </p:txBody>
      </p:sp>
      <p:sp>
        <p:nvSpPr>
          <p:cNvPr id="4092" name="Google Shape;4092;p218"/>
          <p:cNvSpPr/>
          <p:nvPr/>
        </p:nvSpPr>
        <p:spPr>
          <a:xfrm rot="5400000">
            <a:off x="3715980" y="1957918"/>
            <a:ext cx="95758" cy="63500"/>
          </a:xfrm>
          <a:prstGeom prst="triangle">
            <a:avLst>
              <a:gd fmla="val 50000" name="adj"/>
            </a:avLst>
          </a:prstGeom>
          <a:solidFill>
            <a:schemeClr val="accent1"/>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093" name="Google Shape;4093;p218">
            <a:hlinkClick action="ppaction://hlinksldjump" r:id="rId14"/>
          </p:cNvPr>
          <p:cNvSpPr/>
          <p:nvPr/>
        </p:nvSpPr>
        <p:spPr>
          <a:xfrm>
            <a:off x="2094914" y="1692116"/>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Vendor </a:t>
            </a:r>
            <a:br>
              <a:rPr lang="en-GB" sz="1000">
                <a:solidFill>
                  <a:schemeClr val="dk1"/>
                </a:solidFill>
                <a:latin typeface="Century Gothic"/>
                <a:ea typeface="Century Gothic"/>
                <a:cs typeface="Century Gothic"/>
                <a:sym typeface="Century Gothic"/>
              </a:rPr>
            </a:br>
            <a:r>
              <a:rPr lang="en-GB" sz="1000">
                <a:solidFill>
                  <a:schemeClr val="dk1"/>
                </a:solidFill>
                <a:latin typeface="Century Gothic"/>
                <a:ea typeface="Century Gothic"/>
                <a:cs typeface="Century Gothic"/>
                <a:sym typeface="Century Gothic"/>
              </a:rPr>
              <a:t>Analytics</a:t>
            </a:r>
            <a:endParaRPr sz="1000">
              <a:solidFill>
                <a:schemeClr val="dk1"/>
              </a:solidFill>
              <a:latin typeface="Century Gothic"/>
              <a:ea typeface="Century Gothic"/>
              <a:cs typeface="Century Gothic"/>
              <a:sym typeface="Century Gothic"/>
            </a:endParaRPr>
          </a:p>
        </p:txBody>
      </p:sp>
      <p:sp>
        <p:nvSpPr>
          <p:cNvPr id="4094" name="Google Shape;4094;p218"/>
          <p:cNvSpPr/>
          <p:nvPr/>
        </p:nvSpPr>
        <p:spPr>
          <a:xfrm rot="5400000">
            <a:off x="2081913" y="1957918"/>
            <a:ext cx="95758" cy="63500"/>
          </a:xfrm>
          <a:prstGeom prst="triangle">
            <a:avLst>
              <a:gd fmla="val 50000" name="adj"/>
            </a:avLst>
          </a:prstGeom>
          <a:solidFill>
            <a:srgbClr val="C00000"/>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095" name="Google Shape;4095;p218">
            <a:hlinkClick action="ppaction://hlinksldjump" r:id="rId15"/>
          </p:cNvPr>
          <p:cNvSpPr/>
          <p:nvPr/>
        </p:nvSpPr>
        <p:spPr>
          <a:xfrm rot="5400000">
            <a:off x="5217274" y="4497275"/>
            <a:ext cx="202919" cy="594235"/>
          </a:xfrm>
          <a:prstGeom prst="homePlat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6" name="Google Shape;4096;p218"/>
          <p:cNvSpPr txBox="1"/>
          <p:nvPr/>
        </p:nvSpPr>
        <p:spPr>
          <a:xfrm>
            <a:off x="5021592" y="4692933"/>
            <a:ext cx="594235" cy="152189"/>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rgbClr val="FFFFFF"/>
                </a:solidFill>
                <a:latin typeface="Century Gothic"/>
                <a:ea typeface="Century Gothic"/>
                <a:cs typeface="Century Gothic"/>
                <a:sym typeface="Century Gothic"/>
              </a:rPr>
              <a:t>1 of 3</a:t>
            </a:r>
            <a:endParaRPr/>
          </a:p>
        </p:txBody>
      </p:sp>
      <p:sp>
        <p:nvSpPr>
          <p:cNvPr id="4097" name="Google Shape;4097;p218"/>
          <p:cNvSpPr/>
          <p:nvPr/>
        </p:nvSpPr>
        <p:spPr>
          <a:xfrm>
            <a:off x="2073748" y="1270818"/>
            <a:ext cx="6062954" cy="360000"/>
          </a:xfrm>
          <a:prstGeom prst="rect">
            <a:avLst/>
          </a:prstGeom>
          <a:noFill/>
          <a:ln>
            <a:noFill/>
          </a:ln>
        </p:spPr>
        <p:txBody>
          <a:bodyPr anchorCtr="0" anchor="ctr" bIns="91425" lIns="36000" spcFirstLastPara="1" rIns="36000" wrap="square" tIns="91425">
            <a:noAutofit/>
          </a:bodyPr>
          <a:lstStyle/>
          <a:p>
            <a:pPr indent="0" lvl="0" marL="0" marR="0" rtl="0" algn="ctr">
              <a:spcBef>
                <a:spcPts val="0"/>
              </a:spcBef>
              <a:spcAft>
                <a:spcPts val="0"/>
              </a:spcAft>
              <a:buNone/>
            </a:pPr>
            <a:r>
              <a:rPr lang="en-GB" sz="1400">
                <a:solidFill>
                  <a:srgbClr val="3C3C3B"/>
                </a:solidFill>
                <a:latin typeface="Century Gothic"/>
                <a:ea typeface="Century Gothic"/>
                <a:cs typeface="Century Gothic"/>
                <a:sym typeface="Century Gothic"/>
              </a:rPr>
              <a:t>Analytics Use Cases</a:t>
            </a:r>
            <a:endParaRPr sz="1400">
              <a:solidFill>
                <a:srgbClr val="3C3C3B"/>
              </a:solidFill>
              <a:latin typeface="Century Gothic"/>
              <a:ea typeface="Century Gothic"/>
              <a:cs typeface="Century Gothic"/>
              <a:sym typeface="Century Gothic"/>
            </a:endParaRPr>
          </a:p>
        </p:txBody>
      </p:sp>
      <p:grpSp>
        <p:nvGrpSpPr>
          <p:cNvPr id="4098" name="Google Shape;4098;p218"/>
          <p:cNvGrpSpPr/>
          <p:nvPr/>
        </p:nvGrpSpPr>
        <p:grpSpPr>
          <a:xfrm>
            <a:off x="2100364" y="1348315"/>
            <a:ext cx="281520" cy="241973"/>
            <a:chOff x="5652748" y="4066000"/>
            <a:chExt cx="906498" cy="747974"/>
          </a:xfrm>
        </p:grpSpPr>
        <p:sp>
          <p:nvSpPr>
            <p:cNvPr id="4099" name="Google Shape;4099;p218"/>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4100" name="Google Shape;4100;p218"/>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101" name="Google Shape;4101;p218"/>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sp>
        <p:nvSpPr>
          <p:cNvPr id="4102" name="Google Shape;4102;p218"/>
          <p:cNvSpPr txBox="1"/>
          <p:nvPr>
            <p:ph type="title"/>
          </p:nvPr>
        </p:nvSpPr>
        <p:spPr>
          <a:xfrm>
            <a:off x="425396" y="17276"/>
            <a:ext cx="8229600" cy="526298"/>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Finance Industry Business Value Framework</a:t>
            </a:r>
            <a:endParaRPr sz="2400"/>
          </a:p>
        </p:txBody>
      </p:sp>
      <p:sp>
        <p:nvSpPr>
          <p:cNvPr id="4103" name="Google Shape;4103;p218"/>
          <p:cNvSpPr txBox="1"/>
          <p:nvPr>
            <p:ph idx="2" type="body"/>
          </p:nvPr>
        </p:nvSpPr>
        <p:spPr>
          <a:xfrm>
            <a:off x="438098" y="585291"/>
            <a:ext cx="8229600" cy="353174"/>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Clr>
                <a:schemeClr val="dk1"/>
              </a:buClr>
              <a:buSzPts val="1600"/>
              <a:buFont typeface="Century Gothic"/>
              <a:buNone/>
            </a:pPr>
            <a:r>
              <a:rPr lang="en-GB" sz="1600"/>
              <a:t>Data and analytics capabilities delivering best-in-class Finance &amp; Performance Management</a:t>
            </a:r>
            <a:endParaRPr sz="1600"/>
          </a:p>
        </p:txBody>
      </p:sp>
      <p:sp>
        <p:nvSpPr>
          <p:cNvPr id="4104" name="Google Shape;4104;p218"/>
          <p:cNvSpPr/>
          <p:nvPr/>
        </p:nvSpPr>
        <p:spPr>
          <a:xfrm>
            <a:off x="2100364" y="-1058898"/>
            <a:ext cx="1762241" cy="112328"/>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rgbClr val="FFFFFF"/>
                </a:solidFill>
                <a:latin typeface="Century Gothic"/>
                <a:ea typeface="Century Gothic"/>
                <a:cs typeface="Century Gothic"/>
                <a:sym typeface="Century Gothic"/>
              </a:rPr>
              <a:t>Spacer</a:t>
            </a:r>
            <a:endParaRPr/>
          </a:p>
        </p:txBody>
      </p:sp>
      <p:sp>
        <p:nvSpPr>
          <p:cNvPr id="4105" name="Google Shape;4105;p218"/>
          <p:cNvSpPr/>
          <p:nvPr/>
        </p:nvSpPr>
        <p:spPr>
          <a:xfrm rot="5400000">
            <a:off x="4437614" y="-1071241"/>
            <a:ext cx="1762241" cy="112328"/>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rgbClr val="FFFFFF"/>
                </a:solidFill>
                <a:latin typeface="Century Gothic"/>
                <a:ea typeface="Century Gothic"/>
                <a:cs typeface="Century Gothic"/>
                <a:sym typeface="Century Gothic"/>
              </a:rPr>
              <a:t>Spacer</a:t>
            </a:r>
            <a:endParaRPr/>
          </a:p>
        </p:txBody>
      </p:sp>
      <p:sp>
        <p:nvSpPr>
          <p:cNvPr id="4106" name="Google Shape;4106;p218">
            <a:hlinkClick action="ppaction://hlinksldjump" r:id="rId16"/>
          </p:cNvPr>
          <p:cNvSpPr/>
          <p:nvPr/>
        </p:nvSpPr>
        <p:spPr>
          <a:xfrm>
            <a:off x="6515100" y="-196501"/>
            <a:ext cx="2777392" cy="378533"/>
          </a:xfrm>
          <a:prstGeom prst="roundRect">
            <a:avLst>
              <a:gd fmla="val 50000" name="adj"/>
            </a:avLst>
          </a:prstGeom>
          <a:solidFill>
            <a:schemeClr val="accent1"/>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Finance &amp; Performance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1" name="Shape 4111"/>
        <p:cNvGrpSpPr/>
        <p:nvPr/>
      </p:nvGrpSpPr>
      <p:grpSpPr>
        <a:xfrm>
          <a:off x="0" y="0"/>
          <a:ext cx="0" cy="0"/>
          <a:chOff x="0" y="0"/>
          <a:chExt cx="0" cy="0"/>
        </a:xfrm>
      </p:grpSpPr>
      <p:sp>
        <p:nvSpPr>
          <p:cNvPr id="4112" name="Google Shape;4112;p219"/>
          <p:cNvSpPr/>
          <p:nvPr/>
        </p:nvSpPr>
        <p:spPr>
          <a:xfrm>
            <a:off x="459950" y="1187449"/>
            <a:ext cx="8223249" cy="3511551"/>
          </a:xfrm>
          <a:prstGeom prst="roundRect">
            <a:avLst>
              <a:gd fmla="val 2069" name="adj"/>
            </a:avLst>
          </a:prstGeom>
          <a:solidFill>
            <a:srgbClr val="FFFFFF"/>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113" name="Google Shape;4113;p219">
            <a:hlinkClick action="ppaction://hlinksldjump" r:id="rId3"/>
          </p:cNvPr>
          <p:cNvSpPr/>
          <p:nvPr/>
        </p:nvSpPr>
        <p:spPr>
          <a:xfrm>
            <a:off x="7014892" y="2443264"/>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Budget &amp; </a:t>
            </a:r>
            <a:br>
              <a:rPr lang="en-GB" sz="1000">
                <a:solidFill>
                  <a:schemeClr val="dk1"/>
                </a:solidFill>
                <a:latin typeface="Century Gothic"/>
                <a:ea typeface="Century Gothic"/>
                <a:cs typeface="Century Gothic"/>
                <a:sym typeface="Century Gothic"/>
              </a:rPr>
            </a:br>
            <a:r>
              <a:rPr lang="en-GB" sz="1000">
                <a:solidFill>
                  <a:schemeClr val="dk1"/>
                </a:solidFill>
                <a:latin typeface="Century Gothic"/>
                <a:ea typeface="Century Gothic"/>
                <a:cs typeface="Century Gothic"/>
                <a:sym typeface="Century Gothic"/>
              </a:rPr>
              <a:t>Forecasting Process Improvement</a:t>
            </a:r>
            <a:endParaRPr/>
          </a:p>
        </p:txBody>
      </p:sp>
      <p:sp>
        <p:nvSpPr>
          <p:cNvPr id="4114" name="Google Shape;4114;p219"/>
          <p:cNvSpPr/>
          <p:nvPr/>
        </p:nvSpPr>
        <p:spPr>
          <a:xfrm rot="5400000">
            <a:off x="6998507" y="2711451"/>
            <a:ext cx="95758" cy="63500"/>
          </a:xfrm>
          <a:prstGeom prst="triangle">
            <a:avLst>
              <a:gd fmla="val 50000" name="adj"/>
            </a:avLst>
          </a:prstGeom>
          <a:solidFill>
            <a:schemeClr val="accent1"/>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115" name="Google Shape;4115;p219">
            <a:hlinkClick action="ppaction://hlinksldjump" r:id="rId4"/>
          </p:cNvPr>
          <p:cNvSpPr/>
          <p:nvPr/>
        </p:nvSpPr>
        <p:spPr>
          <a:xfrm>
            <a:off x="5374899" y="2443264"/>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Performance Management &amp; KPI Factory</a:t>
            </a:r>
            <a:endParaRPr/>
          </a:p>
        </p:txBody>
      </p:sp>
      <p:sp>
        <p:nvSpPr>
          <p:cNvPr id="4116" name="Google Shape;4116;p219"/>
          <p:cNvSpPr/>
          <p:nvPr/>
        </p:nvSpPr>
        <p:spPr>
          <a:xfrm rot="5400000">
            <a:off x="5355973" y="2711451"/>
            <a:ext cx="95758" cy="63500"/>
          </a:xfrm>
          <a:prstGeom prst="triangle">
            <a:avLst>
              <a:gd fmla="val 50000" name="adj"/>
            </a:avLst>
          </a:prstGeom>
          <a:solidFill>
            <a:schemeClr val="accent1"/>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117" name="Google Shape;4117;p219">
            <a:hlinkClick action="ppaction://hlinksldjump" r:id="rId5"/>
          </p:cNvPr>
          <p:cNvSpPr/>
          <p:nvPr/>
        </p:nvSpPr>
        <p:spPr>
          <a:xfrm>
            <a:off x="3734907" y="2443264"/>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Individual </a:t>
            </a:r>
            <a:br>
              <a:rPr lang="en-GB" sz="1000">
                <a:solidFill>
                  <a:schemeClr val="dk1"/>
                </a:solidFill>
                <a:latin typeface="Century Gothic"/>
                <a:ea typeface="Century Gothic"/>
                <a:cs typeface="Century Gothic"/>
                <a:sym typeface="Century Gothic"/>
              </a:rPr>
            </a:br>
            <a:r>
              <a:rPr lang="en-GB" sz="1000">
                <a:solidFill>
                  <a:schemeClr val="dk1"/>
                </a:solidFill>
                <a:latin typeface="Century Gothic"/>
                <a:ea typeface="Century Gothic"/>
                <a:cs typeface="Century Gothic"/>
                <a:sym typeface="Century Gothic"/>
              </a:rPr>
              <a:t>Loan Price Optimisation</a:t>
            </a:r>
            <a:endParaRPr/>
          </a:p>
        </p:txBody>
      </p:sp>
      <p:sp>
        <p:nvSpPr>
          <p:cNvPr id="4118" name="Google Shape;4118;p219"/>
          <p:cNvSpPr/>
          <p:nvPr/>
        </p:nvSpPr>
        <p:spPr>
          <a:xfrm rot="5400000">
            <a:off x="3721906" y="2711451"/>
            <a:ext cx="95758" cy="63500"/>
          </a:xfrm>
          <a:prstGeom prst="triangle">
            <a:avLst>
              <a:gd fmla="val 50000" name="adj"/>
            </a:avLst>
          </a:prstGeom>
          <a:solidFill>
            <a:schemeClr val="accent1"/>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119" name="Google Shape;4119;p219">
            <a:hlinkClick action="ppaction://hlinksldjump" r:id="rId6"/>
          </p:cNvPr>
          <p:cNvSpPr/>
          <p:nvPr/>
        </p:nvSpPr>
        <p:spPr>
          <a:xfrm>
            <a:off x="2094914" y="2443264"/>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Profitability </a:t>
            </a:r>
            <a:br>
              <a:rPr lang="en-GB" sz="1000">
                <a:solidFill>
                  <a:schemeClr val="dk1"/>
                </a:solidFill>
                <a:latin typeface="Century Gothic"/>
                <a:ea typeface="Century Gothic"/>
                <a:cs typeface="Century Gothic"/>
                <a:sym typeface="Century Gothic"/>
              </a:rPr>
            </a:br>
            <a:r>
              <a:rPr lang="en-GB" sz="1000">
                <a:solidFill>
                  <a:schemeClr val="dk1"/>
                </a:solidFill>
                <a:latin typeface="Century Gothic"/>
                <a:ea typeface="Century Gothic"/>
                <a:cs typeface="Century Gothic"/>
                <a:sym typeface="Century Gothic"/>
              </a:rPr>
              <a:t>Analytics</a:t>
            </a:r>
            <a:endParaRPr sz="1000">
              <a:solidFill>
                <a:schemeClr val="dk1"/>
              </a:solidFill>
              <a:latin typeface="Century Gothic"/>
              <a:ea typeface="Century Gothic"/>
              <a:cs typeface="Century Gothic"/>
              <a:sym typeface="Century Gothic"/>
            </a:endParaRPr>
          </a:p>
        </p:txBody>
      </p:sp>
      <p:sp>
        <p:nvSpPr>
          <p:cNvPr id="4120" name="Google Shape;4120;p219"/>
          <p:cNvSpPr/>
          <p:nvPr/>
        </p:nvSpPr>
        <p:spPr>
          <a:xfrm rot="5400000">
            <a:off x="2079372" y="2711451"/>
            <a:ext cx="95758" cy="63500"/>
          </a:xfrm>
          <a:prstGeom prst="triangle">
            <a:avLst>
              <a:gd fmla="val 50000" name="adj"/>
            </a:avLst>
          </a:prstGeom>
          <a:solidFill>
            <a:schemeClr val="accent1"/>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121" name="Google Shape;4121;p219">
            <a:hlinkClick action="ppaction://hlinksldjump" r:id="rId7"/>
          </p:cNvPr>
          <p:cNvSpPr/>
          <p:nvPr/>
        </p:nvSpPr>
        <p:spPr>
          <a:xfrm>
            <a:off x="7014892" y="1692116"/>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Risk Adjusted </a:t>
            </a:r>
            <a:br>
              <a:rPr lang="en-GB" sz="1000">
                <a:solidFill>
                  <a:schemeClr val="dk1"/>
                </a:solidFill>
                <a:latin typeface="Century Gothic"/>
                <a:ea typeface="Century Gothic"/>
                <a:cs typeface="Century Gothic"/>
                <a:sym typeface="Century Gothic"/>
              </a:rPr>
            </a:br>
            <a:r>
              <a:rPr lang="en-GB" sz="1000">
                <a:solidFill>
                  <a:schemeClr val="dk1"/>
                </a:solidFill>
                <a:latin typeface="Century Gothic"/>
                <a:ea typeface="Century Gothic"/>
                <a:cs typeface="Century Gothic"/>
                <a:sym typeface="Century Gothic"/>
              </a:rPr>
              <a:t>Return on Capital (RAROC)</a:t>
            </a:r>
            <a:endParaRPr/>
          </a:p>
        </p:txBody>
      </p:sp>
      <p:sp>
        <p:nvSpPr>
          <p:cNvPr id="4122" name="Google Shape;4122;p219"/>
          <p:cNvSpPr/>
          <p:nvPr/>
        </p:nvSpPr>
        <p:spPr>
          <a:xfrm rot="5400000">
            <a:off x="6998507" y="1957918"/>
            <a:ext cx="95758" cy="63500"/>
          </a:xfrm>
          <a:prstGeom prst="triangle">
            <a:avLst>
              <a:gd fmla="val 50000" name="adj"/>
            </a:avLst>
          </a:prstGeom>
          <a:solidFill>
            <a:srgbClr val="C00000"/>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123" name="Google Shape;4123;p219">
            <a:hlinkClick action="ppaction://hlinksldjump" r:id="rId8"/>
          </p:cNvPr>
          <p:cNvSpPr/>
          <p:nvPr/>
        </p:nvSpPr>
        <p:spPr>
          <a:xfrm>
            <a:off x="5374899" y="1692116"/>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Activity Based </a:t>
            </a:r>
            <a:br>
              <a:rPr lang="en-GB" sz="1000">
                <a:solidFill>
                  <a:schemeClr val="dk1"/>
                </a:solidFill>
                <a:latin typeface="Century Gothic"/>
                <a:ea typeface="Century Gothic"/>
                <a:cs typeface="Century Gothic"/>
                <a:sym typeface="Century Gothic"/>
              </a:rPr>
            </a:br>
            <a:r>
              <a:rPr lang="en-GB" sz="1000">
                <a:solidFill>
                  <a:schemeClr val="dk1"/>
                </a:solidFill>
                <a:latin typeface="Century Gothic"/>
                <a:ea typeface="Century Gothic"/>
                <a:cs typeface="Century Gothic"/>
                <a:sym typeface="Century Gothic"/>
              </a:rPr>
              <a:t>Costing</a:t>
            </a:r>
            <a:endParaRPr sz="1000">
              <a:solidFill>
                <a:schemeClr val="dk1"/>
              </a:solidFill>
              <a:latin typeface="Century Gothic"/>
              <a:ea typeface="Century Gothic"/>
              <a:cs typeface="Century Gothic"/>
              <a:sym typeface="Century Gothic"/>
            </a:endParaRPr>
          </a:p>
        </p:txBody>
      </p:sp>
      <p:sp>
        <p:nvSpPr>
          <p:cNvPr id="4124" name="Google Shape;4124;p219"/>
          <p:cNvSpPr/>
          <p:nvPr/>
        </p:nvSpPr>
        <p:spPr>
          <a:xfrm rot="5400000">
            <a:off x="5355973" y="1957918"/>
            <a:ext cx="95758" cy="63500"/>
          </a:xfrm>
          <a:prstGeom prst="triangle">
            <a:avLst>
              <a:gd fmla="val 50000" name="adj"/>
            </a:avLst>
          </a:prstGeom>
          <a:solidFill>
            <a:schemeClr val="accent1"/>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125" name="Google Shape;4125;p219">
            <a:hlinkClick action="ppaction://hlinksldjump" r:id="rId9"/>
          </p:cNvPr>
          <p:cNvSpPr/>
          <p:nvPr/>
        </p:nvSpPr>
        <p:spPr>
          <a:xfrm>
            <a:off x="3734907" y="1692116"/>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HR Analytics Optimization</a:t>
            </a:r>
            <a:endParaRPr/>
          </a:p>
        </p:txBody>
      </p:sp>
      <p:sp>
        <p:nvSpPr>
          <p:cNvPr id="4126" name="Google Shape;4126;p219"/>
          <p:cNvSpPr/>
          <p:nvPr/>
        </p:nvSpPr>
        <p:spPr>
          <a:xfrm rot="5400000">
            <a:off x="3721906" y="1957918"/>
            <a:ext cx="95758" cy="63500"/>
          </a:xfrm>
          <a:prstGeom prst="triangle">
            <a:avLst>
              <a:gd fmla="val 50000" name="adj"/>
            </a:avLst>
          </a:prstGeom>
          <a:solidFill>
            <a:srgbClr val="C00000"/>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127" name="Google Shape;4127;p219">
            <a:hlinkClick action="ppaction://hlinksldjump" r:id="rId10"/>
          </p:cNvPr>
          <p:cNvSpPr/>
          <p:nvPr/>
        </p:nvSpPr>
        <p:spPr>
          <a:xfrm>
            <a:off x="2094914" y="1692116"/>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Revenue Analytics Optimisation</a:t>
            </a:r>
            <a:endParaRPr/>
          </a:p>
        </p:txBody>
      </p:sp>
      <p:sp>
        <p:nvSpPr>
          <p:cNvPr id="4128" name="Google Shape;4128;p219"/>
          <p:cNvSpPr/>
          <p:nvPr/>
        </p:nvSpPr>
        <p:spPr>
          <a:xfrm rot="5400000">
            <a:off x="2079372" y="1957918"/>
            <a:ext cx="95758" cy="63500"/>
          </a:xfrm>
          <a:prstGeom prst="triangle">
            <a:avLst>
              <a:gd fmla="val 50000" name="adj"/>
            </a:avLst>
          </a:prstGeom>
          <a:solidFill>
            <a:srgbClr val="C00000"/>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129" name="Google Shape;4129;p219"/>
          <p:cNvSpPr/>
          <p:nvPr/>
        </p:nvSpPr>
        <p:spPr>
          <a:xfrm>
            <a:off x="2073748" y="1270818"/>
            <a:ext cx="6062954" cy="360000"/>
          </a:xfrm>
          <a:prstGeom prst="rect">
            <a:avLst/>
          </a:prstGeom>
          <a:noFill/>
          <a:ln>
            <a:noFill/>
          </a:ln>
        </p:spPr>
        <p:txBody>
          <a:bodyPr anchorCtr="0" anchor="ctr" bIns="91425" lIns="36000" spcFirstLastPara="1" rIns="36000" wrap="square" tIns="91425">
            <a:noAutofit/>
          </a:bodyPr>
          <a:lstStyle/>
          <a:p>
            <a:pPr indent="0" lvl="0" marL="0" marR="0" rtl="0" algn="ctr">
              <a:spcBef>
                <a:spcPts val="0"/>
              </a:spcBef>
              <a:spcAft>
                <a:spcPts val="0"/>
              </a:spcAft>
              <a:buNone/>
            </a:pPr>
            <a:r>
              <a:rPr lang="en-GB" sz="1400">
                <a:solidFill>
                  <a:srgbClr val="3C3C3B"/>
                </a:solidFill>
                <a:latin typeface="Century Gothic"/>
                <a:ea typeface="Century Gothic"/>
                <a:cs typeface="Century Gothic"/>
                <a:sym typeface="Century Gothic"/>
              </a:rPr>
              <a:t>Analytics Use Cases</a:t>
            </a:r>
            <a:endParaRPr sz="1400">
              <a:solidFill>
                <a:srgbClr val="3C3C3B"/>
              </a:solidFill>
              <a:latin typeface="Century Gothic"/>
              <a:ea typeface="Century Gothic"/>
              <a:cs typeface="Century Gothic"/>
              <a:sym typeface="Century Gothic"/>
            </a:endParaRPr>
          </a:p>
        </p:txBody>
      </p:sp>
      <p:grpSp>
        <p:nvGrpSpPr>
          <p:cNvPr id="4130" name="Google Shape;4130;p219"/>
          <p:cNvGrpSpPr/>
          <p:nvPr/>
        </p:nvGrpSpPr>
        <p:grpSpPr>
          <a:xfrm>
            <a:off x="2100364" y="1348315"/>
            <a:ext cx="281520" cy="241973"/>
            <a:chOff x="5652748" y="4066000"/>
            <a:chExt cx="906498" cy="747974"/>
          </a:xfrm>
        </p:grpSpPr>
        <p:sp>
          <p:nvSpPr>
            <p:cNvPr id="4131" name="Google Shape;4131;p219"/>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4132" name="Google Shape;4132;p219"/>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133" name="Google Shape;4133;p219"/>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sp>
        <p:nvSpPr>
          <p:cNvPr id="4134" name="Google Shape;4134;p219"/>
          <p:cNvSpPr txBox="1"/>
          <p:nvPr>
            <p:ph type="title"/>
          </p:nvPr>
        </p:nvSpPr>
        <p:spPr>
          <a:xfrm>
            <a:off x="425396" y="17276"/>
            <a:ext cx="8229600" cy="526298"/>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Finance Industry Business Value Framework</a:t>
            </a:r>
            <a:endParaRPr sz="2400"/>
          </a:p>
        </p:txBody>
      </p:sp>
      <p:sp>
        <p:nvSpPr>
          <p:cNvPr id="4135" name="Google Shape;4135;p219"/>
          <p:cNvSpPr txBox="1"/>
          <p:nvPr>
            <p:ph idx="2" type="body"/>
          </p:nvPr>
        </p:nvSpPr>
        <p:spPr>
          <a:xfrm>
            <a:off x="438098" y="585291"/>
            <a:ext cx="8229600" cy="353174"/>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Clr>
                <a:schemeClr val="dk1"/>
              </a:buClr>
              <a:buSzPts val="1600"/>
              <a:buFont typeface="Century Gothic"/>
              <a:buNone/>
            </a:pPr>
            <a:r>
              <a:rPr lang="en-GB" sz="1600"/>
              <a:t>Data and analytics capabilities delivering best-in-class Finance &amp; Performance Management</a:t>
            </a:r>
            <a:endParaRPr sz="1600"/>
          </a:p>
        </p:txBody>
      </p:sp>
      <p:sp>
        <p:nvSpPr>
          <p:cNvPr id="4136" name="Google Shape;4136;p219">
            <a:hlinkClick action="ppaction://hlinksldjump" r:id="rId11"/>
          </p:cNvPr>
          <p:cNvSpPr/>
          <p:nvPr/>
        </p:nvSpPr>
        <p:spPr>
          <a:xfrm flipH="1" rot="5400000">
            <a:off x="5217955" y="769825"/>
            <a:ext cx="202919" cy="594235"/>
          </a:xfrm>
          <a:prstGeom prst="homePlat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7" name="Google Shape;4137;p219"/>
          <p:cNvSpPr txBox="1"/>
          <p:nvPr/>
        </p:nvSpPr>
        <p:spPr>
          <a:xfrm flipH="1">
            <a:off x="5022292" y="1016213"/>
            <a:ext cx="594235" cy="152189"/>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rgbClr val="FFFFFF"/>
                </a:solidFill>
                <a:latin typeface="Century Gothic"/>
                <a:ea typeface="Century Gothic"/>
                <a:cs typeface="Century Gothic"/>
                <a:sym typeface="Century Gothic"/>
              </a:rPr>
              <a:t>2 of 3</a:t>
            </a:r>
            <a:endParaRPr/>
          </a:p>
        </p:txBody>
      </p:sp>
      <p:sp>
        <p:nvSpPr>
          <p:cNvPr id="4138" name="Google Shape;4138;p219">
            <a:hlinkClick action="ppaction://hlinksldjump" r:id="rId12"/>
          </p:cNvPr>
          <p:cNvSpPr/>
          <p:nvPr/>
        </p:nvSpPr>
        <p:spPr>
          <a:xfrm rot="5400000">
            <a:off x="5217955" y="4497275"/>
            <a:ext cx="202919" cy="594235"/>
          </a:xfrm>
          <a:prstGeom prst="homePlat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9" name="Google Shape;4139;p219"/>
          <p:cNvSpPr txBox="1"/>
          <p:nvPr/>
        </p:nvSpPr>
        <p:spPr>
          <a:xfrm>
            <a:off x="5022292" y="4692933"/>
            <a:ext cx="594235" cy="152189"/>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rgbClr val="FFFFFF"/>
                </a:solidFill>
                <a:latin typeface="Century Gothic"/>
                <a:ea typeface="Century Gothic"/>
                <a:cs typeface="Century Gothic"/>
                <a:sym typeface="Century Gothic"/>
              </a:rPr>
              <a:t>2 of 3</a:t>
            </a:r>
            <a:endParaRPr/>
          </a:p>
        </p:txBody>
      </p:sp>
      <p:sp>
        <p:nvSpPr>
          <p:cNvPr id="4140" name="Google Shape;4140;p219">
            <a:hlinkClick action="ppaction://hlinksldjump" r:id="rId13"/>
          </p:cNvPr>
          <p:cNvSpPr/>
          <p:nvPr/>
        </p:nvSpPr>
        <p:spPr>
          <a:xfrm>
            <a:off x="565902" y="1692116"/>
            <a:ext cx="1395519" cy="1381148"/>
          </a:xfrm>
          <a:prstGeom prst="homePlate">
            <a:avLst>
              <a:gd fmla="val 7540" name="adj"/>
            </a:avLst>
          </a:prstGeom>
          <a:solidFill>
            <a:schemeClr val="accent4"/>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rgbClr val="FFFFFF"/>
                </a:solidFill>
                <a:latin typeface="Century Gothic"/>
                <a:ea typeface="Century Gothic"/>
                <a:cs typeface="Century Gothic"/>
                <a:sym typeface="Century Gothic"/>
              </a:rPr>
              <a:t>Enterprise Performance Management</a:t>
            </a:r>
            <a:endParaRPr sz="1100">
              <a:solidFill>
                <a:srgbClr val="FFFFFF"/>
              </a:solidFill>
              <a:latin typeface="Century Gothic"/>
              <a:ea typeface="Century Gothic"/>
              <a:cs typeface="Century Gothic"/>
              <a:sym typeface="Century Gothic"/>
            </a:endParaRPr>
          </a:p>
        </p:txBody>
      </p:sp>
      <p:sp>
        <p:nvSpPr>
          <p:cNvPr id="4141" name="Google Shape;4141;p219">
            <a:hlinkClick action="ppaction://hlinksldjump" r:id="rId14"/>
          </p:cNvPr>
          <p:cNvSpPr/>
          <p:nvPr/>
        </p:nvSpPr>
        <p:spPr>
          <a:xfrm>
            <a:off x="565902" y="3185592"/>
            <a:ext cx="1395519" cy="1372328"/>
          </a:xfrm>
          <a:prstGeom prst="homePlate">
            <a:avLst>
              <a:gd fmla="val 7540" name="adj"/>
            </a:avLst>
          </a:prstGeom>
          <a:solidFill>
            <a:schemeClr val="accent4"/>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rgbClr val="FFFFFF"/>
                </a:solidFill>
                <a:latin typeface="Century Gothic"/>
                <a:ea typeface="Century Gothic"/>
                <a:cs typeface="Century Gothic"/>
                <a:sym typeface="Century Gothic"/>
              </a:rPr>
              <a:t>Treasury</a:t>
            </a:r>
            <a:br>
              <a:rPr lang="en-GB" sz="1100">
                <a:solidFill>
                  <a:srgbClr val="FFFFFF"/>
                </a:solidFill>
                <a:latin typeface="Century Gothic"/>
                <a:ea typeface="Century Gothic"/>
                <a:cs typeface="Century Gothic"/>
                <a:sym typeface="Century Gothic"/>
              </a:rPr>
            </a:br>
            <a:r>
              <a:rPr lang="en-GB" sz="1100">
                <a:solidFill>
                  <a:srgbClr val="FFFFFF"/>
                </a:solidFill>
                <a:latin typeface="Century Gothic"/>
                <a:ea typeface="Century Gothic"/>
                <a:cs typeface="Century Gothic"/>
                <a:sym typeface="Century Gothic"/>
              </a:rPr>
              <a:t>Insight &amp; Management</a:t>
            </a:r>
            <a:endParaRPr sz="1100">
              <a:solidFill>
                <a:srgbClr val="FFFFFF"/>
              </a:solidFill>
              <a:latin typeface="Century Gothic"/>
              <a:ea typeface="Century Gothic"/>
              <a:cs typeface="Century Gothic"/>
              <a:sym typeface="Century Gothic"/>
            </a:endParaRPr>
          </a:p>
        </p:txBody>
      </p:sp>
      <p:sp>
        <p:nvSpPr>
          <p:cNvPr id="4142" name="Google Shape;4142;p219"/>
          <p:cNvSpPr/>
          <p:nvPr/>
        </p:nvSpPr>
        <p:spPr>
          <a:xfrm>
            <a:off x="1417678" y="-1111567"/>
            <a:ext cx="1762241" cy="112328"/>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rgbClr val="FFFFFF"/>
                </a:solidFill>
                <a:latin typeface="Century Gothic"/>
                <a:ea typeface="Century Gothic"/>
                <a:cs typeface="Century Gothic"/>
                <a:sym typeface="Century Gothic"/>
              </a:rPr>
              <a:t>Spacer</a:t>
            </a:r>
            <a:endParaRPr/>
          </a:p>
        </p:txBody>
      </p:sp>
      <p:sp>
        <p:nvSpPr>
          <p:cNvPr id="4143" name="Google Shape;4143;p219"/>
          <p:cNvSpPr/>
          <p:nvPr/>
        </p:nvSpPr>
        <p:spPr>
          <a:xfrm rot="5400000">
            <a:off x="4437614" y="-1071241"/>
            <a:ext cx="1762241" cy="112328"/>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rgbClr val="FFFFFF"/>
                </a:solidFill>
                <a:latin typeface="Century Gothic"/>
                <a:ea typeface="Century Gothic"/>
                <a:cs typeface="Century Gothic"/>
                <a:sym typeface="Century Gothic"/>
              </a:rPr>
              <a:t>Spacer</a:t>
            </a:r>
            <a:endParaRPr/>
          </a:p>
        </p:txBody>
      </p:sp>
      <p:sp>
        <p:nvSpPr>
          <p:cNvPr id="4144" name="Google Shape;4144;p219">
            <a:hlinkClick action="ppaction://hlinksldjump" r:id="rId15"/>
          </p:cNvPr>
          <p:cNvSpPr/>
          <p:nvPr/>
        </p:nvSpPr>
        <p:spPr>
          <a:xfrm>
            <a:off x="2100364" y="3936740"/>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Currency Hedge Analytics</a:t>
            </a:r>
            <a:endParaRPr/>
          </a:p>
        </p:txBody>
      </p:sp>
      <p:sp>
        <p:nvSpPr>
          <p:cNvPr id="4145" name="Google Shape;4145;p219"/>
          <p:cNvSpPr/>
          <p:nvPr/>
        </p:nvSpPr>
        <p:spPr>
          <a:xfrm rot="5400000">
            <a:off x="2087363" y="4204927"/>
            <a:ext cx="95758" cy="63500"/>
          </a:xfrm>
          <a:prstGeom prst="triangle">
            <a:avLst>
              <a:gd fmla="val 50000" name="adj"/>
            </a:avLst>
          </a:prstGeom>
          <a:solidFill>
            <a:schemeClr val="accent3"/>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146" name="Google Shape;4146;p219">
            <a:hlinkClick action="ppaction://hlinksldjump" r:id="rId16"/>
          </p:cNvPr>
          <p:cNvSpPr/>
          <p:nvPr/>
        </p:nvSpPr>
        <p:spPr>
          <a:xfrm>
            <a:off x="7014636" y="3185592"/>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Liquidity </a:t>
            </a:r>
            <a:br>
              <a:rPr lang="en-GB" sz="1000">
                <a:solidFill>
                  <a:schemeClr val="dk1"/>
                </a:solidFill>
                <a:latin typeface="Century Gothic"/>
                <a:ea typeface="Century Gothic"/>
                <a:cs typeface="Century Gothic"/>
                <a:sym typeface="Century Gothic"/>
              </a:rPr>
            </a:br>
            <a:r>
              <a:rPr lang="en-GB" sz="1000">
                <a:solidFill>
                  <a:schemeClr val="dk1"/>
                </a:solidFill>
                <a:latin typeface="Century Gothic"/>
                <a:ea typeface="Century Gothic"/>
                <a:cs typeface="Century Gothic"/>
                <a:sym typeface="Century Gothic"/>
              </a:rPr>
              <a:t>Management</a:t>
            </a:r>
            <a:endParaRPr sz="1000">
              <a:solidFill>
                <a:schemeClr val="dk1"/>
              </a:solidFill>
              <a:latin typeface="Century Gothic"/>
              <a:ea typeface="Century Gothic"/>
              <a:cs typeface="Century Gothic"/>
              <a:sym typeface="Century Gothic"/>
            </a:endParaRPr>
          </a:p>
        </p:txBody>
      </p:sp>
      <p:sp>
        <p:nvSpPr>
          <p:cNvPr id="4147" name="Google Shape;4147;p219"/>
          <p:cNvSpPr/>
          <p:nvPr/>
        </p:nvSpPr>
        <p:spPr>
          <a:xfrm rot="5400000">
            <a:off x="6999094" y="3453779"/>
            <a:ext cx="95758" cy="63500"/>
          </a:xfrm>
          <a:prstGeom prst="triangle">
            <a:avLst>
              <a:gd fmla="val 50000" name="adj"/>
            </a:avLst>
          </a:prstGeom>
          <a:solidFill>
            <a:schemeClr val="accent1"/>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148" name="Google Shape;4148;p219">
            <a:hlinkClick action="ppaction://hlinksldjump" r:id="rId17"/>
          </p:cNvPr>
          <p:cNvSpPr/>
          <p:nvPr/>
        </p:nvSpPr>
        <p:spPr>
          <a:xfrm>
            <a:off x="5375486" y="3185592"/>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Asset Liability Management – </a:t>
            </a:r>
            <a:br>
              <a:rPr lang="en-GB" sz="1000">
                <a:solidFill>
                  <a:schemeClr val="dk1"/>
                </a:solidFill>
                <a:latin typeface="Century Gothic"/>
                <a:ea typeface="Century Gothic"/>
                <a:cs typeface="Century Gothic"/>
                <a:sym typeface="Century Gothic"/>
              </a:rPr>
            </a:br>
            <a:r>
              <a:rPr lang="en-GB" sz="1000">
                <a:solidFill>
                  <a:schemeClr val="dk1"/>
                </a:solidFill>
                <a:latin typeface="Century Gothic"/>
                <a:ea typeface="Century Gothic"/>
                <a:cs typeface="Century Gothic"/>
                <a:sym typeface="Century Gothic"/>
              </a:rPr>
              <a:t>Treasury Ops</a:t>
            </a:r>
            <a:endParaRPr/>
          </a:p>
        </p:txBody>
      </p:sp>
      <p:sp>
        <p:nvSpPr>
          <p:cNvPr id="4149" name="Google Shape;4149;p219"/>
          <p:cNvSpPr/>
          <p:nvPr/>
        </p:nvSpPr>
        <p:spPr>
          <a:xfrm rot="5400000">
            <a:off x="5356560" y="3451394"/>
            <a:ext cx="95758" cy="63500"/>
          </a:xfrm>
          <a:prstGeom prst="triangle">
            <a:avLst>
              <a:gd fmla="val 50000" name="adj"/>
            </a:avLst>
          </a:prstGeom>
          <a:solidFill>
            <a:schemeClr val="accent1"/>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150" name="Google Shape;4150;p219">
            <a:hlinkClick action="ppaction://hlinksldjump" r:id="rId18"/>
          </p:cNvPr>
          <p:cNvSpPr/>
          <p:nvPr/>
        </p:nvSpPr>
        <p:spPr>
          <a:xfrm>
            <a:off x="3735494" y="3185592"/>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Reserve Portfolio Optimization</a:t>
            </a:r>
            <a:endParaRPr/>
          </a:p>
        </p:txBody>
      </p:sp>
      <p:sp>
        <p:nvSpPr>
          <p:cNvPr id="4151" name="Google Shape;4151;p219"/>
          <p:cNvSpPr/>
          <p:nvPr/>
        </p:nvSpPr>
        <p:spPr>
          <a:xfrm rot="5400000">
            <a:off x="3722493" y="3451394"/>
            <a:ext cx="95758" cy="63500"/>
          </a:xfrm>
          <a:prstGeom prst="triangle">
            <a:avLst>
              <a:gd fmla="val 50000" name="adj"/>
            </a:avLst>
          </a:prstGeom>
          <a:solidFill>
            <a:schemeClr val="accent3"/>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152" name="Google Shape;4152;p219">
            <a:hlinkClick action="ppaction://hlinksldjump" r:id="rId19"/>
          </p:cNvPr>
          <p:cNvSpPr/>
          <p:nvPr/>
        </p:nvSpPr>
        <p:spPr>
          <a:xfrm>
            <a:off x="2095501" y="3185592"/>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Cash Flow </a:t>
            </a:r>
            <a:br>
              <a:rPr lang="en-GB" sz="1000">
                <a:solidFill>
                  <a:schemeClr val="dk1"/>
                </a:solidFill>
                <a:latin typeface="Century Gothic"/>
                <a:ea typeface="Century Gothic"/>
                <a:cs typeface="Century Gothic"/>
                <a:sym typeface="Century Gothic"/>
              </a:rPr>
            </a:br>
            <a:r>
              <a:rPr lang="en-GB" sz="1000">
                <a:solidFill>
                  <a:schemeClr val="dk1"/>
                </a:solidFill>
                <a:latin typeface="Century Gothic"/>
                <a:ea typeface="Century Gothic"/>
                <a:cs typeface="Century Gothic"/>
                <a:sym typeface="Century Gothic"/>
              </a:rPr>
              <a:t>Optimization</a:t>
            </a:r>
            <a:endParaRPr sz="1000">
              <a:solidFill>
                <a:schemeClr val="dk1"/>
              </a:solidFill>
              <a:latin typeface="Century Gothic"/>
              <a:ea typeface="Century Gothic"/>
              <a:cs typeface="Century Gothic"/>
              <a:sym typeface="Century Gothic"/>
            </a:endParaRPr>
          </a:p>
        </p:txBody>
      </p:sp>
      <p:sp>
        <p:nvSpPr>
          <p:cNvPr id="4153" name="Google Shape;4153;p219"/>
          <p:cNvSpPr/>
          <p:nvPr/>
        </p:nvSpPr>
        <p:spPr>
          <a:xfrm rot="5400000">
            <a:off x="2079959" y="3451394"/>
            <a:ext cx="95758" cy="63500"/>
          </a:xfrm>
          <a:prstGeom prst="triangle">
            <a:avLst>
              <a:gd fmla="val 50000" name="adj"/>
            </a:avLst>
          </a:prstGeom>
          <a:solidFill>
            <a:srgbClr val="C00000"/>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154" name="Google Shape;4154;p219">
            <a:hlinkClick action="ppaction://hlinksldjump" r:id="rId20"/>
          </p:cNvPr>
          <p:cNvSpPr/>
          <p:nvPr/>
        </p:nvSpPr>
        <p:spPr>
          <a:xfrm>
            <a:off x="6515100" y="-196501"/>
            <a:ext cx="2777392" cy="378533"/>
          </a:xfrm>
          <a:prstGeom prst="roundRect">
            <a:avLst>
              <a:gd fmla="val 50000" name="adj"/>
            </a:avLst>
          </a:prstGeom>
          <a:solidFill>
            <a:schemeClr val="accent1"/>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Finance &amp; Performance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9" name="Shape 4159"/>
        <p:cNvGrpSpPr/>
        <p:nvPr/>
      </p:nvGrpSpPr>
      <p:grpSpPr>
        <a:xfrm>
          <a:off x="0" y="0"/>
          <a:ext cx="0" cy="0"/>
          <a:chOff x="0" y="0"/>
          <a:chExt cx="0" cy="0"/>
        </a:xfrm>
      </p:grpSpPr>
      <p:sp>
        <p:nvSpPr>
          <p:cNvPr id="4160" name="Google Shape;4160;p220"/>
          <p:cNvSpPr/>
          <p:nvPr/>
        </p:nvSpPr>
        <p:spPr>
          <a:xfrm>
            <a:off x="459950" y="1187449"/>
            <a:ext cx="8223249" cy="3511551"/>
          </a:xfrm>
          <a:prstGeom prst="roundRect">
            <a:avLst>
              <a:gd fmla="val 2069" name="adj"/>
            </a:avLst>
          </a:prstGeom>
          <a:solidFill>
            <a:srgbClr val="FFFFFF"/>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161" name="Google Shape;4161;p220">
            <a:hlinkClick action="ppaction://hlinksldjump" r:id="rId3"/>
          </p:cNvPr>
          <p:cNvSpPr/>
          <p:nvPr/>
        </p:nvSpPr>
        <p:spPr>
          <a:xfrm>
            <a:off x="3734907" y="2443264"/>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Internal - Exception Reporting</a:t>
            </a:r>
            <a:endParaRPr/>
          </a:p>
        </p:txBody>
      </p:sp>
      <p:sp>
        <p:nvSpPr>
          <p:cNvPr id="4162" name="Google Shape;4162;p220"/>
          <p:cNvSpPr/>
          <p:nvPr/>
        </p:nvSpPr>
        <p:spPr>
          <a:xfrm rot="5400000">
            <a:off x="3721906" y="2711451"/>
            <a:ext cx="95758" cy="63500"/>
          </a:xfrm>
          <a:prstGeom prst="triangle">
            <a:avLst>
              <a:gd fmla="val 50000" name="adj"/>
            </a:avLst>
          </a:prstGeom>
          <a:solidFill>
            <a:schemeClr val="accent1"/>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163" name="Google Shape;4163;p220">
            <a:hlinkClick action="ppaction://hlinksldjump" r:id="rId4"/>
          </p:cNvPr>
          <p:cNvSpPr/>
          <p:nvPr/>
        </p:nvSpPr>
        <p:spPr>
          <a:xfrm>
            <a:off x="2094914" y="2443264"/>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Project Accounting – Cost Management</a:t>
            </a:r>
            <a:endParaRPr/>
          </a:p>
        </p:txBody>
      </p:sp>
      <p:sp>
        <p:nvSpPr>
          <p:cNvPr id="4164" name="Google Shape;4164;p220"/>
          <p:cNvSpPr/>
          <p:nvPr/>
        </p:nvSpPr>
        <p:spPr>
          <a:xfrm rot="5400000">
            <a:off x="2079372" y="2711451"/>
            <a:ext cx="95758" cy="63500"/>
          </a:xfrm>
          <a:prstGeom prst="triangle">
            <a:avLst>
              <a:gd fmla="val 50000" name="adj"/>
            </a:avLst>
          </a:prstGeom>
          <a:solidFill>
            <a:schemeClr val="accent1"/>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165" name="Google Shape;4165;p220">
            <a:hlinkClick action="ppaction://hlinksldjump" r:id="rId5"/>
          </p:cNvPr>
          <p:cNvSpPr/>
          <p:nvPr/>
        </p:nvSpPr>
        <p:spPr>
          <a:xfrm>
            <a:off x="7014892" y="1692116"/>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Sales Reporting &amp; Analytics</a:t>
            </a:r>
            <a:endParaRPr/>
          </a:p>
        </p:txBody>
      </p:sp>
      <p:sp>
        <p:nvSpPr>
          <p:cNvPr id="4166" name="Google Shape;4166;p220"/>
          <p:cNvSpPr/>
          <p:nvPr/>
        </p:nvSpPr>
        <p:spPr>
          <a:xfrm rot="5400000">
            <a:off x="6998507" y="1957918"/>
            <a:ext cx="95758" cy="63500"/>
          </a:xfrm>
          <a:prstGeom prst="triangle">
            <a:avLst>
              <a:gd fmla="val 50000" name="adj"/>
            </a:avLst>
          </a:prstGeom>
          <a:solidFill>
            <a:schemeClr val="accent1"/>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167" name="Google Shape;4167;p220">
            <a:hlinkClick action="ppaction://hlinksldjump" r:id="rId6"/>
          </p:cNvPr>
          <p:cNvSpPr/>
          <p:nvPr/>
        </p:nvSpPr>
        <p:spPr>
          <a:xfrm>
            <a:off x="5374899" y="1692116"/>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Integrated Regulatory &amp; Compliance Reporting</a:t>
            </a:r>
            <a:endParaRPr/>
          </a:p>
        </p:txBody>
      </p:sp>
      <p:sp>
        <p:nvSpPr>
          <p:cNvPr id="4168" name="Google Shape;4168;p220"/>
          <p:cNvSpPr/>
          <p:nvPr/>
        </p:nvSpPr>
        <p:spPr>
          <a:xfrm rot="5400000">
            <a:off x="5355973" y="1957918"/>
            <a:ext cx="95758" cy="63500"/>
          </a:xfrm>
          <a:prstGeom prst="triangle">
            <a:avLst>
              <a:gd fmla="val 50000" name="adj"/>
            </a:avLst>
          </a:prstGeom>
          <a:solidFill>
            <a:schemeClr val="accent1"/>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169" name="Google Shape;4169;p220">
            <a:hlinkClick action="ppaction://hlinksldjump" r:id="rId7"/>
          </p:cNvPr>
          <p:cNvSpPr/>
          <p:nvPr/>
        </p:nvSpPr>
        <p:spPr>
          <a:xfrm>
            <a:off x="3734907" y="1692116"/>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Financial Reporting Efficiency &amp; Effectiveness</a:t>
            </a:r>
            <a:endParaRPr/>
          </a:p>
        </p:txBody>
      </p:sp>
      <p:sp>
        <p:nvSpPr>
          <p:cNvPr id="4170" name="Google Shape;4170;p220"/>
          <p:cNvSpPr/>
          <p:nvPr/>
        </p:nvSpPr>
        <p:spPr>
          <a:xfrm rot="5400000">
            <a:off x="3721906" y="1957918"/>
            <a:ext cx="95758" cy="63500"/>
          </a:xfrm>
          <a:prstGeom prst="triangle">
            <a:avLst>
              <a:gd fmla="val 50000" name="adj"/>
            </a:avLst>
          </a:prstGeom>
          <a:solidFill>
            <a:schemeClr val="accent1"/>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171" name="Google Shape;4171;p220">
            <a:hlinkClick action="ppaction://hlinksldjump" r:id="rId8"/>
          </p:cNvPr>
          <p:cNvSpPr/>
          <p:nvPr/>
        </p:nvSpPr>
        <p:spPr>
          <a:xfrm>
            <a:off x="2094914" y="1692116"/>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External Reporting Support</a:t>
            </a:r>
            <a:endParaRPr/>
          </a:p>
        </p:txBody>
      </p:sp>
      <p:sp>
        <p:nvSpPr>
          <p:cNvPr id="4172" name="Google Shape;4172;p220"/>
          <p:cNvSpPr/>
          <p:nvPr/>
        </p:nvSpPr>
        <p:spPr>
          <a:xfrm rot="5400000">
            <a:off x="2079372" y="1957918"/>
            <a:ext cx="95758" cy="63500"/>
          </a:xfrm>
          <a:prstGeom prst="triangle">
            <a:avLst>
              <a:gd fmla="val 50000" name="adj"/>
            </a:avLst>
          </a:prstGeom>
          <a:solidFill>
            <a:schemeClr val="accent1"/>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173" name="Google Shape;4173;p220"/>
          <p:cNvSpPr/>
          <p:nvPr/>
        </p:nvSpPr>
        <p:spPr>
          <a:xfrm>
            <a:off x="2073748" y="1270818"/>
            <a:ext cx="6062954" cy="360000"/>
          </a:xfrm>
          <a:prstGeom prst="rect">
            <a:avLst/>
          </a:prstGeom>
          <a:noFill/>
          <a:ln>
            <a:noFill/>
          </a:ln>
        </p:spPr>
        <p:txBody>
          <a:bodyPr anchorCtr="0" anchor="ctr" bIns="91425" lIns="36000" spcFirstLastPara="1" rIns="36000" wrap="square" tIns="91425">
            <a:noAutofit/>
          </a:bodyPr>
          <a:lstStyle/>
          <a:p>
            <a:pPr indent="0" lvl="0" marL="0" marR="0" rtl="0" algn="ctr">
              <a:spcBef>
                <a:spcPts val="0"/>
              </a:spcBef>
              <a:spcAft>
                <a:spcPts val="0"/>
              </a:spcAft>
              <a:buNone/>
            </a:pPr>
            <a:r>
              <a:rPr lang="en-GB" sz="1400">
                <a:solidFill>
                  <a:srgbClr val="3C3C3B"/>
                </a:solidFill>
                <a:latin typeface="Century Gothic"/>
                <a:ea typeface="Century Gothic"/>
                <a:cs typeface="Century Gothic"/>
                <a:sym typeface="Century Gothic"/>
              </a:rPr>
              <a:t>Analytics Use Cases</a:t>
            </a:r>
            <a:endParaRPr sz="1400">
              <a:solidFill>
                <a:srgbClr val="3C3C3B"/>
              </a:solidFill>
              <a:latin typeface="Century Gothic"/>
              <a:ea typeface="Century Gothic"/>
              <a:cs typeface="Century Gothic"/>
              <a:sym typeface="Century Gothic"/>
            </a:endParaRPr>
          </a:p>
        </p:txBody>
      </p:sp>
      <p:grpSp>
        <p:nvGrpSpPr>
          <p:cNvPr id="4174" name="Google Shape;4174;p220"/>
          <p:cNvGrpSpPr/>
          <p:nvPr/>
        </p:nvGrpSpPr>
        <p:grpSpPr>
          <a:xfrm>
            <a:off x="2100364" y="1348315"/>
            <a:ext cx="281520" cy="241973"/>
            <a:chOff x="5652748" y="4066000"/>
            <a:chExt cx="906498" cy="747974"/>
          </a:xfrm>
        </p:grpSpPr>
        <p:sp>
          <p:nvSpPr>
            <p:cNvPr id="4175" name="Google Shape;4175;p220"/>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4176" name="Google Shape;4176;p220"/>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177" name="Google Shape;4177;p220"/>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sp>
        <p:nvSpPr>
          <p:cNvPr id="4178" name="Google Shape;4178;p220"/>
          <p:cNvSpPr txBox="1"/>
          <p:nvPr>
            <p:ph type="title"/>
          </p:nvPr>
        </p:nvSpPr>
        <p:spPr>
          <a:xfrm>
            <a:off x="425396" y="17276"/>
            <a:ext cx="8229600" cy="526298"/>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400"/>
              <a:buFont typeface="Century Gothic"/>
              <a:buNone/>
            </a:pPr>
            <a:r>
              <a:rPr lang="en-GB" sz="2400"/>
              <a:t>Finance Industry Business Value Framework</a:t>
            </a:r>
            <a:endParaRPr sz="2400"/>
          </a:p>
        </p:txBody>
      </p:sp>
      <p:sp>
        <p:nvSpPr>
          <p:cNvPr id="4179" name="Google Shape;4179;p220"/>
          <p:cNvSpPr txBox="1"/>
          <p:nvPr>
            <p:ph idx="2" type="body"/>
          </p:nvPr>
        </p:nvSpPr>
        <p:spPr>
          <a:xfrm>
            <a:off x="438098" y="585291"/>
            <a:ext cx="8229600" cy="353174"/>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Clr>
                <a:schemeClr val="dk1"/>
              </a:buClr>
              <a:buSzPts val="1600"/>
              <a:buFont typeface="Century Gothic"/>
              <a:buNone/>
            </a:pPr>
            <a:r>
              <a:rPr lang="en-GB" sz="1600"/>
              <a:t>Data and analytics capabilities delivering best-in-class Finance &amp; Performance Management</a:t>
            </a:r>
            <a:endParaRPr sz="1600"/>
          </a:p>
        </p:txBody>
      </p:sp>
      <p:sp>
        <p:nvSpPr>
          <p:cNvPr id="4180" name="Google Shape;4180;p220">
            <a:hlinkClick action="ppaction://hlinksldjump" r:id="rId9"/>
          </p:cNvPr>
          <p:cNvSpPr/>
          <p:nvPr/>
        </p:nvSpPr>
        <p:spPr>
          <a:xfrm flipH="1" rot="5400000">
            <a:off x="5221746" y="769825"/>
            <a:ext cx="202919" cy="594235"/>
          </a:xfrm>
          <a:prstGeom prst="homePlat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1" name="Google Shape;4181;p220"/>
          <p:cNvSpPr txBox="1"/>
          <p:nvPr/>
        </p:nvSpPr>
        <p:spPr>
          <a:xfrm flipH="1">
            <a:off x="5026067" y="1016213"/>
            <a:ext cx="594235" cy="152189"/>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rgbClr val="FFFFFF"/>
                </a:solidFill>
                <a:latin typeface="Century Gothic"/>
                <a:ea typeface="Century Gothic"/>
                <a:cs typeface="Century Gothic"/>
                <a:sym typeface="Century Gothic"/>
              </a:rPr>
              <a:t>3 of 3</a:t>
            </a:r>
            <a:endParaRPr sz="800">
              <a:solidFill>
                <a:srgbClr val="FFFFFF"/>
              </a:solidFill>
              <a:latin typeface="Century Gothic"/>
              <a:ea typeface="Century Gothic"/>
              <a:cs typeface="Century Gothic"/>
              <a:sym typeface="Century Gothic"/>
            </a:endParaRPr>
          </a:p>
        </p:txBody>
      </p:sp>
      <p:sp>
        <p:nvSpPr>
          <p:cNvPr id="4182" name="Google Shape;4182;p220">
            <a:hlinkClick action="ppaction://hlinksldjump" r:id="rId10"/>
          </p:cNvPr>
          <p:cNvSpPr/>
          <p:nvPr/>
        </p:nvSpPr>
        <p:spPr>
          <a:xfrm>
            <a:off x="565902" y="1692116"/>
            <a:ext cx="1395519" cy="1381148"/>
          </a:xfrm>
          <a:prstGeom prst="homePlate">
            <a:avLst>
              <a:gd fmla="val 7540" name="adj"/>
            </a:avLst>
          </a:prstGeom>
          <a:solidFill>
            <a:schemeClr val="accent4"/>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rgbClr val="FFFFFF"/>
                </a:solidFill>
                <a:latin typeface="Century Gothic"/>
                <a:ea typeface="Century Gothic"/>
                <a:cs typeface="Century Gothic"/>
                <a:sym typeface="Century Gothic"/>
              </a:rPr>
              <a:t>Financial Reporting</a:t>
            </a:r>
            <a:endParaRPr/>
          </a:p>
        </p:txBody>
      </p:sp>
      <p:sp>
        <p:nvSpPr>
          <p:cNvPr id="4183" name="Google Shape;4183;p220">
            <a:hlinkClick action="ppaction://hlinksldjump" r:id="rId11"/>
          </p:cNvPr>
          <p:cNvSpPr/>
          <p:nvPr/>
        </p:nvSpPr>
        <p:spPr>
          <a:xfrm>
            <a:off x="5374899" y="2443264"/>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Executive </a:t>
            </a:r>
            <a:br>
              <a:rPr lang="en-GB" sz="1000">
                <a:solidFill>
                  <a:schemeClr val="dk1"/>
                </a:solidFill>
                <a:latin typeface="Century Gothic"/>
                <a:ea typeface="Century Gothic"/>
                <a:cs typeface="Century Gothic"/>
                <a:sym typeface="Century Gothic"/>
              </a:rPr>
            </a:br>
            <a:r>
              <a:rPr lang="en-GB" sz="1000">
                <a:solidFill>
                  <a:schemeClr val="dk1"/>
                </a:solidFill>
                <a:latin typeface="Century Gothic"/>
                <a:ea typeface="Century Gothic"/>
                <a:cs typeface="Century Gothic"/>
                <a:sym typeface="Century Gothic"/>
              </a:rPr>
              <a:t>Information Hub</a:t>
            </a:r>
            <a:endParaRPr/>
          </a:p>
        </p:txBody>
      </p:sp>
      <p:sp>
        <p:nvSpPr>
          <p:cNvPr id="4184" name="Google Shape;4184;p220"/>
          <p:cNvSpPr/>
          <p:nvPr/>
        </p:nvSpPr>
        <p:spPr>
          <a:xfrm rot="5400000">
            <a:off x="5355973" y="2711451"/>
            <a:ext cx="95758" cy="63500"/>
          </a:xfrm>
          <a:prstGeom prst="triangle">
            <a:avLst>
              <a:gd fmla="val 50000" name="adj"/>
            </a:avLst>
          </a:prstGeom>
          <a:solidFill>
            <a:schemeClr val="accent1"/>
          </a:solidFill>
          <a:ln>
            <a:noFill/>
          </a:ln>
        </p:spPr>
        <p:txBody>
          <a:bodyPr anchorCtr="0" anchor="t" bIns="91425" lIns="91425" spcFirstLastPara="1" rIns="91425" wrap="square" tIns="900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185" name="Google Shape;4185;p220">
            <a:hlinkClick action="ppaction://hlinksldjump" r:id="rId12"/>
          </p:cNvPr>
          <p:cNvSpPr/>
          <p:nvPr/>
        </p:nvSpPr>
        <p:spPr>
          <a:xfrm>
            <a:off x="6515100" y="-196501"/>
            <a:ext cx="2777392" cy="378533"/>
          </a:xfrm>
          <a:prstGeom prst="roundRect">
            <a:avLst>
              <a:gd fmla="val 50000" name="adj"/>
            </a:avLst>
          </a:prstGeom>
          <a:solidFill>
            <a:schemeClr val="accent1"/>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Finance &amp; Performance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9" name="Shape 4189"/>
        <p:cNvGrpSpPr/>
        <p:nvPr/>
      </p:nvGrpSpPr>
      <p:grpSpPr>
        <a:xfrm>
          <a:off x="0" y="0"/>
          <a:ext cx="0" cy="0"/>
          <a:chOff x="0" y="0"/>
          <a:chExt cx="0" cy="0"/>
        </a:xfrm>
      </p:grpSpPr>
      <p:pic>
        <p:nvPicPr>
          <p:cNvPr id="4190" name="Google Shape;4190;p221"/>
          <p:cNvPicPr preferRelativeResize="0"/>
          <p:nvPr/>
        </p:nvPicPr>
        <p:blipFill rotWithShape="1">
          <a:blip r:embed="rId3">
            <a:alphaModFix/>
          </a:blip>
          <a:srcRect b="0" l="0" r="19512" t="0"/>
          <a:stretch/>
        </p:blipFill>
        <p:spPr>
          <a:xfrm>
            <a:off x="5378994" y="0"/>
            <a:ext cx="3765006" cy="5143500"/>
          </a:xfrm>
          <a:prstGeom prst="rect">
            <a:avLst/>
          </a:prstGeom>
          <a:noFill/>
          <a:ln>
            <a:noFill/>
          </a:ln>
        </p:spPr>
      </p:pic>
      <p:sp>
        <p:nvSpPr>
          <p:cNvPr id="4191" name="Google Shape;4191;p221"/>
          <p:cNvSpPr txBox="1"/>
          <p:nvPr>
            <p:ph idx="1" type="body"/>
          </p:nvPr>
        </p:nvSpPr>
        <p:spPr>
          <a:xfrm>
            <a:off x="350402" y="2257507"/>
            <a:ext cx="4600977" cy="2569905"/>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0079DB"/>
              </a:buClr>
              <a:buSzPts val="1800"/>
              <a:buNone/>
            </a:pPr>
            <a:r>
              <a:rPr lang="en-GB">
                <a:solidFill>
                  <a:srgbClr val="0079DB"/>
                </a:solidFill>
              </a:rPr>
              <a:t>Why is it important?</a:t>
            </a:r>
            <a:endParaRPr/>
          </a:p>
          <a:p>
            <a:pPr indent="-169863" lvl="0" marL="169863" rtl="0" algn="l">
              <a:lnSpc>
                <a:spcPct val="110000"/>
              </a:lnSpc>
              <a:spcBef>
                <a:spcPts val="800"/>
              </a:spcBef>
              <a:spcAft>
                <a:spcPts val="0"/>
              </a:spcAft>
              <a:buClr>
                <a:schemeClr val="dk1"/>
              </a:buClr>
              <a:buSzPts val="1100"/>
              <a:buChar char="•"/>
            </a:pPr>
            <a:r>
              <a:rPr lang="en-GB" sz="1100"/>
              <a:t>Ensuring the financial stability of the organisation, and producing timely and accurate financial reporting for both external and internal stakeholders is still the primary responsibility of the Finance function.</a:t>
            </a:r>
            <a:endParaRPr/>
          </a:p>
          <a:p>
            <a:pPr indent="-169863" lvl="0" marL="169863" rtl="0" algn="l">
              <a:lnSpc>
                <a:spcPct val="110000"/>
              </a:lnSpc>
              <a:spcBef>
                <a:spcPts val="800"/>
              </a:spcBef>
              <a:spcAft>
                <a:spcPts val="0"/>
              </a:spcAft>
              <a:buClr>
                <a:schemeClr val="dk1"/>
              </a:buClr>
              <a:buSzPts val="1100"/>
              <a:buChar char="•"/>
            </a:pPr>
            <a:r>
              <a:rPr lang="en-GB" sz="1100"/>
              <a:t>However it also needs to deliver a wide range of other capabilities to drive business performance, including:</a:t>
            </a:r>
            <a:endParaRPr sz="1100"/>
          </a:p>
          <a:p>
            <a:pPr indent="-171450" lvl="2" marL="447675" rtl="0" algn="l">
              <a:lnSpc>
                <a:spcPct val="95000"/>
              </a:lnSpc>
              <a:spcBef>
                <a:spcPts val="200"/>
              </a:spcBef>
              <a:spcAft>
                <a:spcPts val="0"/>
              </a:spcAft>
              <a:buClr>
                <a:schemeClr val="dk1"/>
              </a:buClr>
              <a:buSzPts val="1000"/>
              <a:buChar char="-"/>
            </a:pPr>
            <a:r>
              <a:rPr lang="en-GB" sz="1000"/>
              <a:t>Ensure financial obligations are met when due</a:t>
            </a:r>
            <a:endParaRPr sz="1000"/>
          </a:p>
          <a:p>
            <a:pPr indent="-171450" lvl="2" marL="447675" rtl="0" algn="l">
              <a:lnSpc>
                <a:spcPct val="95000"/>
              </a:lnSpc>
              <a:spcBef>
                <a:spcPts val="0"/>
              </a:spcBef>
              <a:spcAft>
                <a:spcPts val="0"/>
              </a:spcAft>
              <a:buClr>
                <a:schemeClr val="dk1"/>
              </a:buClr>
              <a:buSzPts val="1000"/>
              <a:buChar char="-"/>
            </a:pPr>
            <a:r>
              <a:rPr lang="en-GB" sz="1000"/>
              <a:t>Manage and optimise purchasing and relationships with suppliers</a:t>
            </a:r>
            <a:endParaRPr/>
          </a:p>
          <a:p>
            <a:pPr indent="-171450" lvl="2" marL="447675" rtl="0" algn="l">
              <a:lnSpc>
                <a:spcPct val="95000"/>
              </a:lnSpc>
              <a:spcBef>
                <a:spcPts val="0"/>
              </a:spcBef>
              <a:spcAft>
                <a:spcPts val="0"/>
              </a:spcAft>
              <a:buClr>
                <a:schemeClr val="dk1"/>
              </a:buClr>
              <a:buSzPts val="1000"/>
              <a:buChar char="-"/>
            </a:pPr>
            <a:r>
              <a:rPr lang="en-GB" sz="1000"/>
              <a:t>Understand Revenue, Cost and overall profitability and its drivers at a detailed level</a:t>
            </a:r>
            <a:endParaRPr/>
          </a:p>
          <a:p>
            <a:pPr indent="-171450" lvl="2" marL="447675" rtl="0" algn="l">
              <a:lnSpc>
                <a:spcPct val="95000"/>
              </a:lnSpc>
              <a:spcBef>
                <a:spcPts val="0"/>
              </a:spcBef>
              <a:spcAft>
                <a:spcPts val="0"/>
              </a:spcAft>
              <a:buClr>
                <a:schemeClr val="dk1"/>
              </a:buClr>
              <a:buSzPts val="1000"/>
              <a:buChar char="-"/>
            </a:pPr>
            <a:r>
              <a:rPr lang="en-GB" sz="1000"/>
              <a:t>Drive performance throughout the organisation through effective performance measurement and management</a:t>
            </a:r>
            <a:endParaRPr/>
          </a:p>
        </p:txBody>
      </p:sp>
      <p:sp>
        <p:nvSpPr>
          <p:cNvPr id="4192" name="Google Shape;4192;p221"/>
          <p:cNvSpPr txBox="1"/>
          <p:nvPr>
            <p:ph type="title"/>
          </p:nvPr>
        </p:nvSpPr>
        <p:spPr>
          <a:xfrm>
            <a:off x="477880" y="174273"/>
            <a:ext cx="5435240" cy="704088"/>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Finance &amp; Performance</a:t>
            </a:r>
            <a:br>
              <a:rPr lang="en-GB"/>
            </a:br>
            <a:r>
              <a:rPr lang="en-GB"/>
              <a:t>Management</a:t>
            </a:r>
            <a:endParaRPr/>
          </a:p>
        </p:txBody>
      </p:sp>
      <p:pic>
        <p:nvPicPr>
          <p:cNvPr descr="iStock_000055909600_Full.jpg" id="4193" name="Google Shape;4193;p221"/>
          <p:cNvPicPr preferRelativeResize="0"/>
          <p:nvPr/>
        </p:nvPicPr>
        <p:blipFill rotWithShape="1">
          <a:blip r:embed="rId4">
            <a:alphaModFix/>
          </a:blip>
          <a:srcRect b="0" l="56773" r="5009" t="0"/>
          <a:stretch/>
        </p:blipFill>
        <p:spPr>
          <a:xfrm>
            <a:off x="9366175" y="3357350"/>
            <a:ext cx="4146697" cy="5143500"/>
          </a:xfrm>
          <a:prstGeom prst="rect">
            <a:avLst/>
          </a:prstGeom>
          <a:noFill/>
          <a:ln>
            <a:noFill/>
          </a:ln>
          <a:effectLst>
            <a:outerShdw blurRad="292100" rotWithShape="0" algn="tl" dir="2700000" dist="139700">
              <a:srgbClr val="333333">
                <a:alpha val="64705"/>
              </a:srgbClr>
            </a:outerShdw>
          </a:effectLst>
        </p:spPr>
      </p:pic>
      <p:sp>
        <p:nvSpPr>
          <p:cNvPr id="4194" name="Google Shape;4194;p221"/>
          <p:cNvSpPr/>
          <p:nvPr/>
        </p:nvSpPr>
        <p:spPr>
          <a:xfrm>
            <a:off x="0" y="1007345"/>
            <a:ext cx="7205662" cy="1160709"/>
          </a:xfrm>
          <a:prstGeom prst="rect">
            <a:avLst/>
          </a:prstGeom>
          <a:solidFill>
            <a:srgbClr val="005AA4"/>
          </a:solidFill>
          <a:ln>
            <a:noFill/>
          </a:ln>
          <a:effectLst>
            <a:outerShdw blurRad="50800" rotWithShape="0" algn="tl" dir="2700000" dist="38100">
              <a:srgbClr val="000000">
                <a:alpha val="40000"/>
              </a:srgbClr>
            </a:outerShdw>
          </a:effectLst>
        </p:spPr>
        <p:txBody>
          <a:bodyPr anchorCtr="0" anchor="ctr" bIns="91425" lIns="91425" spcFirstLastPara="1" rIns="91425" wrap="square" tIns="91425">
            <a:noAutofit/>
          </a:bodyPr>
          <a:lstStyle/>
          <a:p>
            <a:pPr indent="0" lvl="0" marL="355600" marR="0" rtl="0" algn="l">
              <a:lnSpc>
                <a:spcPct val="110000"/>
              </a:lnSpc>
              <a:spcBef>
                <a:spcPts val="0"/>
              </a:spcBef>
              <a:spcAft>
                <a:spcPts val="0"/>
              </a:spcAft>
              <a:buNone/>
            </a:pPr>
            <a:r>
              <a:rPr lang="en-GB" sz="1600">
                <a:solidFill>
                  <a:schemeClr val="lt1"/>
                </a:solidFill>
                <a:latin typeface="Century Gothic"/>
                <a:ea typeface="Century Gothic"/>
                <a:cs typeface="Century Gothic"/>
                <a:sym typeface="Century Gothic"/>
              </a:rPr>
              <a:t>Closing the Books, Profitability analysis, Forecasting, Margin analysis, Budget and Planning, Financial reporting, Accounts Payable, Accounts Receivable, Treasury…</a:t>
            </a:r>
            <a:endParaRPr/>
          </a:p>
        </p:txBody>
      </p:sp>
      <p:sp>
        <p:nvSpPr>
          <p:cNvPr id="4195" name="Google Shape;4195;p221">
            <a:hlinkClick action="ppaction://hlinksldjump" r:id="rId5"/>
          </p:cNvPr>
          <p:cNvSpPr/>
          <p:nvPr/>
        </p:nvSpPr>
        <p:spPr>
          <a:xfrm>
            <a:off x="6515100" y="-196501"/>
            <a:ext cx="2777392" cy="378533"/>
          </a:xfrm>
          <a:prstGeom prst="roundRect">
            <a:avLst>
              <a:gd fmla="val 50000" name="adj"/>
            </a:avLst>
          </a:prstGeom>
          <a:solidFill>
            <a:schemeClr val="accent1"/>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Finance &amp; Performance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0" name="Shape 4200"/>
        <p:cNvGrpSpPr/>
        <p:nvPr/>
      </p:nvGrpSpPr>
      <p:grpSpPr>
        <a:xfrm>
          <a:off x="0" y="0"/>
          <a:ext cx="0" cy="0"/>
          <a:chOff x="0" y="0"/>
          <a:chExt cx="0" cy="0"/>
        </a:xfrm>
      </p:grpSpPr>
      <p:sp>
        <p:nvSpPr>
          <p:cNvPr id="4201" name="Google Shape;4201;p222"/>
          <p:cNvSpPr/>
          <p:nvPr/>
        </p:nvSpPr>
        <p:spPr>
          <a:xfrm>
            <a:off x="7772400" y="-368299"/>
            <a:ext cx="1653702" cy="5054600"/>
          </a:xfrm>
          <a:prstGeom prst="roundRect">
            <a:avLst>
              <a:gd fmla="val 3493" name="adj"/>
            </a:avLst>
          </a:prstGeom>
          <a:solidFill>
            <a:srgbClr val="FFFFFF"/>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202" name="Google Shape;4202;p222"/>
          <p:cNvSpPr txBox="1"/>
          <p:nvPr>
            <p:ph type="title"/>
          </p:nvPr>
        </p:nvSpPr>
        <p:spPr>
          <a:xfrm>
            <a:off x="477880" y="-384527"/>
            <a:ext cx="8401960" cy="126400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Finance &amp; Performance</a:t>
            </a:r>
            <a:br>
              <a:rPr lang="en-GB"/>
            </a:br>
            <a:r>
              <a:rPr lang="en-GB"/>
              <a:t>Management Challenges</a:t>
            </a:r>
            <a:endParaRPr/>
          </a:p>
        </p:txBody>
      </p:sp>
      <p:sp>
        <p:nvSpPr>
          <p:cNvPr id="4203" name="Google Shape;4203;p222"/>
          <p:cNvSpPr/>
          <p:nvPr/>
        </p:nvSpPr>
        <p:spPr>
          <a:xfrm>
            <a:off x="3638108" y="3867511"/>
            <a:ext cx="5069957" cy="680400"/>
          </a:xfrm>
          <a:prstGeom prst="rect">
            <a:avLst/>
          </a:prstGeom>
          <a:solidFill>
            <a:srgbClr val="D8D8D8"/>
          </a:solidFill>
          <a:ln>
            <a:noFill/>
          </a:ln>
        </p:spPr>
        <p:txBody>
          <a:bodyPr anchorCtr="0" anchor="ctr" bIns="91425" lIns="432000" spcFirstLastPara="1" rIns="91425" wrap="square" tIns="90000">
            <a:noAutofit/>
          </a:bodyPr>
          <a:lstStyle/>
          <a:p>
            <a:pPr indent="0" lvl="0" marL="0" marR="0" rtl="0" algn="l">
              <a:spcBef>
                <a:spcPts val="0"/>
              </a:spcBef>
              <a:spcAft>
                <a:spcPts val="0"/>
              </a:spcAft>
              <a:buNone/>
            </a:pPr>
            <a:r>
              <a:rPr lang="en-GB" sz="1100">
                <a:solidFill>
                  <a:schemeClr val="dk1"/>
                </a:solidFill>
                <a:latin typeface="Century Gothic"/>
                <a:ea typeface="Century Gothic"/>
                <a:cs typeface="Century Gothic"/>
                <a:sym typeface="Century Gothic"/>
              </a:rPr>
              <a:t>Financial auditing requirements are leading to more strict internal </a:t>
            </a:r>
            <a:br>
              <a:rPr lang="en-GB" sz="1100">
                <a:solidFill>
                  <a:schemeClr val="dk1"/>
                </a:solidFill>
                <a:latin typeface="Century Gothic"/>
                <a:ea typeface="Century Gothic"/>
                <a:cs typeface="Century Gothic"/>
                <a:sym typeface="Century Gothic"/>
              </a:rPr>
            </a:br>
            <a:r>
              <a:rPr lang="en-GB" sz="1100">
                <a:solidFill>
                  <a:schemeClr val="dk1"/>
                </a:solidFill>
                <a:latin typeface="Century Gothic"/>
                <a:ea typeface="Century Gothic"/>
                <a:cs typeface="Century Gothic"/>
                <a:sym typeface="Century Gothic"/>
              </a:rPr>
              <a:t>controls for financial reporting and increased importance of</a:t>
            </a:r>
            <a:br>
              <a:rPr lang="en-GB" sz="1100">
                <a:solidFill>
                  <a:schemeClr val="dk1"/>
                </a:solidFill>
                <a:latin typeface="Century Gothic"/>
                <a:ea typeface="Century Gothic"/>
                <a:cs typeface="Century Gothic"/>
                <a:sym typeface="Century Gothic"/>
              </a:rPr>
            </a:br>
            <a:r>
              <a:rPr lang="en-GB" sz="1100">
                <a:solidFill>
                  <a:schemeClr val="dk1"/>
                </a:solidFill>
                <a:latin typeface="Century Gothic"/>
                <a:ea typeface="Century Gothic"/>
                <a:cs typeface="Century Gothic"/>
                <a:sym typeface="Century Gothic"/>
              </a:rPr>
              <a:t>data accuracy</a:t>
            </a:r>
            <a:endParaRPr/>
          </a:p>
        </p:txBody>
      </p:sp>
      <p:sp>
        <p:nvSpPr>
          <p:cNvPr id="4204" name="Google Shape;4204;p222"/>
          <p:cNvSpPr/>
          <p:nvPr/>
        </p:nvSpPr>
        <p:spPr>
          <a:xfrm>
            <a:off x="3638108" y="3170398"/>
            <a:ext cx="5069957" cy="680400"/>
          </a:xfrm>
          <a:prstGeom prst="rect">
            <a:avLst/>
          </a:prstGeom>
          <a:solidFill>
            <a:schemeClr val="lt2"/>
          </a:solidFill>
          <a:ln>
            <a:noFill/>
          </a:ln>
        </p:spPr>
        <p:txBody>
          <a:bodyPr anchorCtr="0" anchor="ctr" bIns="91425" lIns="432000" spcFirstLastPara="1" rIns="91425" wrap="square" tIns="90000">
            <a:noAutofit/>
          </a:bodyPr>
          <a:lstStyle/>
          <a:p>
            <a:pPr indent="0" lvl="0" marL="0" marR="0" rtl="0" algn="l">
              <a:spcBef>
                <a:spcPts val="0"/>
              </a:spcBef>
              <a:spcAft>
                <a:spcPts val="0"/>
              </a:spcAft>
              <a:buNone/>
            </a:pPr>
            <a:r>
              <a:rPr lang="en-GB" sz="1100">
                <a:solidFill>
                  <a:srgbClr val="3C3C3B"/>
                </a:solidFill>
                <a:latin typeface="Century Gothic"/>
                <a:ea typeface="Century Gothic"/>
                <a:cs typeface="Century Gothic"/>
                <a:sym typeface="Century Gothic"/>
              </a:rPr>
              <a:t>A lack of capacity and appropriate tools to deliver financial results and support the financial reporting requirements of the business departments driving a need for improved data availability and self service analytics </a:t>
            </a:r>
            <a:endParaRPr/>
          </a:p>
        </p:txBody>
      </p:sp>
      <p:sp>
        <p:nvSpPr>
          <p:cNvPr id="4205" name="Google Shape;4205;p222"/>
          <p:cNvSpPr/>
          <p:nvPr/>
        </p:nvSpPr>
        <p:spPr>
          <a:xfrm>
            <a:off x="532958" y="3867511"/>
            <a:ext cx="3417247" cy="680400"/>
          </a:xfrm>
          <a:prstGeom prst="homePlate">
            <a:avLst>
              <a:gd fmla="val 23856" name="adj"/>
            </a:avLst>
          </a:prstGeom>
          <a:solidFill>
            <a:schemeClr val="lt1"/>
          </a:solidFill>
          <a:ln>
            <a:noFill/>
          </a:ln>
        </p:spPr>
        <p:txBody>
          <a:bodyPr anchorCtr="0" anchor="ctr" bIns="91425" lIns="91425" spcFirstLastPara="1" rIns="228600" wrap="square" tIns="91425">
            <a:noAutofit/>
          </a:bodyPr>
          <a:lstStyle/>
          <a:p>
            <a:pPr indent="0" lvl="0" marL="0" marR="0" rtl="0" algn="r">
              <a:spcBef>
                <a:spcPts val="0"/>
              </a:spcBef>
              <a:spcAft>
                <a:spcPts val="0"/>
              </a:spcAft>
              <a:buNone/>
            </a:pPr>
            <a:r>
              <a:t/>
            </a:r>
            <a:endParaRPr b="1" sz="1200">
              <a:solidFill>
                <a:srgbClr val="FFFFFF"/>
              </a:solidFill>
              <a:latin typeface="Century Gothic"/>
              <a:ea typeface="Century Gothic"/>
              <a:cs typeface="Century Gothic"/>
              <a:sym typeface="Century Gothic"/>
            </a:endParaRPr>
          </a:p>
        </p:txBody>
      </p:sp>
      <p:sp>
        <p:nvSpPr>
          <p:cNvPr id="4206" name="Google Shape;4206;p222"/>
          <p:cNvSpPr/>
          <p:nvPr/>
        </p:nvSpPr>
        <p:spPr>
          <a:xfrm>
            <a:off x="3638108" y="2468312"/>
            <a:ext cx="5069957" cy="680400"/>
          </a:xfrm>
          <a:prstGeom prst="rect">
            <a:avLst/>
          </a:prstGeom>
          <a:solidFill>
            <a:srgbClr val="D8D8D8"/>
          </a:solidFill>
          <a:ln>
            <a:noFill/>
          </a:ln>
        </p:spPr>
        <p:txBody>
          <a:bodyPr anchorCtr="0" anchor="ctr" bIns="91425" lIns="432000" spcFirstLastPara="1" rIns="91425" wrap="square" tIns="90000">
            <a:noAutofit/>
          </a:bodyPr>
          <a:lstStyle/>
          <a:p>
            <a:pPr indent="0" lvl="0" marL="0" marR="0" rtl="0" algn="l">
              <a:spcBef>
                <a:spcPts val="0"/>
              </a:spcBef>
              <a:spcAft>
                <a:spcPts val="0"/>
              </a:spcAft>
              <a:buNone/>
            </a:pPr>
            <a:r>
              <a:rPr lang="en-GB" sz="1100">
                <a:solidFill>
                  <a:srgbClr val="3C3C3B"/>
                </a:solidFill>
                <a:latin typeface="Century Gothic"/>
                <a:ea typeface="Century Gothic"/>
                <a:cs typeface="Century Gothic"/>
                <a:sym typeface="Century Gothic"/>
              </a:rPr>
              <a:t>Providing clear and accessible financial information to business departments, project managers and local and regional directors</a:t>
            </a:r>
            <a:endParaRPr/>
          </a:p>
        </p:txBody>
      </p:sp>
      <p:sp>
        <p:nvSpPr>
          <p:cNvPr id="4207" name="Google Shape;4207;p222"/>
          <p:cNvSpPr/>
          <p:nvPr/>
        </p:nvSpPr>
        <p:spPr>
          <a:xfrm>
            <a:off x="532958" y="2468313"/>
            <a:ext cx="3417247" cy="680400"/>
          </a:xfrm>
          <a:prstGeom prst="homePlate">
            <a:avLst>
              <a:gd fmla="val 23856" name="adj"/>
            </a:avLst>
          </a:prstGeom>
          <a:solidFill>
            <a:schemeClr val="lt1"/>
          </a:solidFill>
          <a:ln>
            <a:noFill/>
          </a:ln>
        </p:spPr>
        <p:txBody>
          <a:bodyPr anchorCtr="0" anchor="ctr" bIns="91425" lIns="91425" spcFirstLastPara="1" rIns="228600" wrap="square" tIns="91425">
            <a:noAutofit/>
          </a:bodyPr>
          <a:lstStyle/>
          <a:p>
            <a:pPr indent="0" lvl="0" marL="0" marR="0" rtl="0" algn="r">
              <a:spcBef>
                <a:spcPts val="0"/>
              </a:spcBef>
              <a:spcAft>
                <a:spcPts val="0"/>
              </a:spcAft>
              <a:buNone/>
            </a:pPr>
            <a:r>
              <a:t/>
            </a:r>
            <a:endParaRPr b="1" sz="1200">
              <a:solidFill>
                <a:srgbClr val="FFFFFF"/>
              </a:solidFill>
              <a:latin typeface="Century Gothic"/>
              <a:ea typeface="Century Gothic"/>
              <a:cs typeface="Century Gothic"/>
              <a:sym typeface="Century Gothic"/>
            </a:endParaRPr>
          </a:p>
        </p:txBody>
      </p:sp>
      <p:sp>
        <p:nvSpPr>
          <p:cNvPr id="4208" name="Google Shape;4208;p222"/>
          <p:cNvSpPr/>
          <p:nvPr/>
        </p:nvSpPr>
        <p:spPr>
          <a:xfrm>
            <a:off x="456757" y="2468313"/>
            <a:ext cx="3417247" cy="680400"/>
          </a:xfrm>
          <a:prstGeom prst="homePlate">
            <a:avLst>
              <a:gd fmla="val 23856" name="adj"/>
            </a:avLst>
          </a:prstGeom>
          <a:solidFill>
            <a:srgbClr val="EC881D"/>
          </a:solidFill>
          <a:ln>
            <a:noFill/>
          </a:ln>
        </p:spPr>
        <p:txBody>
          <a:bodyPr anchorCtr="0" anchor="ctr" bIns="91425" lIns="360000" spcFirstLastPara="1" rIns="228600" wrap="square" tIns="91425">
            <a:noAutofit/>
          </a:bodyPr>
          <a:lstStyle/>
          <a:p>
            <a:pPr indent="0" lvl="0" marL="0" marR="0" rtl="0" algn="l">
              <a:spcBef>
                <a:spcPts val="0"/>
              </a:spcBef>
              <a:spcAft>
                <a:spcPts val="0"/>
              </a:spcAft>
              <a:buNone/>
            </a:pPr>
            <a:r>
              <a:rPr b="1" lang="en-GB" sz="1200">
                <a:solidFill>
                  <a:srgbClr val="FFFFFF"/>
                </a:solidFill>
                <a:latin typeface="Century Gothic"/>
                <a:ea typeface="Century Gothic"/>
                <a:cs typeface="Century Gothic"/>
                <a:sym typeface="Century Gothic"/>
              </a:rPr>
              <a:t>Communication</a:t>
            </a:r>
            <a:endParaRPr/>
          </a:p>
        </p:txBody>
      </p:sp>
      <p:sp>
        <p:nvSpPr>
          <p:cNvPr id="4209" name="Google Shape;4209;p222"/>
          <p:cNvSpPr/>
          <p:nvPr/>
        </p:nvSpPr>
        <p:spPr>
          <a:xfrm>
            <a:off x="3638107" y="1764056"/>
            <a:ext cx="5069957" cy="680400"/>
          </a:xfrm>
          <a:prstGeom prst="rect">
            <a:avLst/>
          </a:prstGeom>
          <a:solidFill>
            <a:srgbClr val="D8D8D8"/>
          </a:solidFill>
          <a:ln>
            <a:noFill/>
          </a:ln>
        </p:spPr>
        <p:txBody>
          <a:bodyPr anchorCtr="0" anchor="ctr" bIns="91425" lIns="432000" spcFirstLastPara="1" rIns="91425" wrap="square" tIns="90000">
            <a:noAutofit/>
          </a:bodyPr>
          <a:lstStyle/>
          <a:p>
            <a:pPr indent="0" lvl="0" marL="0" marR="0" rtl="0" algn="l">
              <a:spcBef>
                <a:spcPts val="0"/>
              </a:spcBef>
              <a:spcAft>
                <a:spcPts val="0"/>
              </a:spcAft>
              <a:buNone/>
            </a:pPr>
            <a:r>
              <a:rPr lang="en-GB" sz="1100">
                <a:solidFill>
                  <a:srgbClr val="3C3C3B"/>
                </a:solidFill>
                <a:latin typeface="Century Gothic"/>
                <a:ea typeface="Century Gothic"/>
                <a:cs typeface="Century Gothic"/>
                <a:sym typeface="Century Gothic"/>
              </a:rPr>
              <a:t>Financial managers have to have the ability to provide accurate, credible usable and timely financial and risk information to key decision makers</a:t>
            </a:r>
            <a:endParaRPr sz="1100">
              <a:solidFill>
                <a:srgbClr val="3C3C3B"/>
              </a:solidFill>
              <a:latin typeface="Century Gothic"/>
              <a:ea typeface="Century Gothic"/>
              <a:cs typeface="Century Gothic"/>
              <a:sym typeface="Century Gothic"/>
            </a:endParaRPr>
          </a:p>
        </p:txBody>
      </p:sp>
      <p:sp>
        <p:nvSpPr>
          <p:cNvPr id="4210" name="Google Shape;4210;p222"/>
          <p:cNvSpPr/>
          <p:nvPr/>
        </p:nvSpPr>
        <p:spPr>
          <a:xfrm>
            <a:off x="532957" y="1764057"/>
            <a:ext cx="3417247" cy="680400"/>
          </a:xfrm>
          <a:prstGeom prst="homePlate">
            <a:avLst>
              <a:gd fmla="val 23856" name="adj"/>
            </a:avLst>
          </a:prstGeom>
          <a:solidFill>
            <a:schemeClr val="lt1"/>
          </a:solidFill>
          <a:ln>
            <a:noFill/>
          </a:ln>
        </p:spPr>
        <p:txBody>
          <a:bodyPr anchorCtr="0" anchor="ctr" bIns="91425" lIns="91425" spcFirstLastPara="1" rIns="228600" wrap="square" tIns="91425">
            <a:noAutofit/>
          </a:bodyPr>
          <a:lstStyle/>
          <a:p>
            <a:pPr indent="0" lvl="0" marL="0" marR="0" rtl="0" algn="r">
              <a:spcBef>
                <a:spcPts val="0"/>
              </a:spcBef>
              <a:spcAft>
                <a:spcPts val="0"/>
              </a:spcAft>
              <a:buNone/>
            </a:pPr>
            <a:r>
              <a:t/>
            </a:r>
            <a:endParaRPr b="1" sz="1200">
              <a:solidFill>
                <a:srgbClr val="FFFFFF"/>
              </a:solidFill>
              <a:latin typeface="Century Gothic"/>
              <a:ea typeface="Century Gothic"/>
              <a:cs typeface="Century Gothic"/>
              <a:sym typeface="Century Gothic"/>
            </a:endParaRPr>
          </a:p>
        </p:txBody>
      </p:sp>
      <p:sp>
        <p:nvSpPr>
          <p:cNvPr id="4211" name="Google Shape;4211;p222"/>
          <p:cNvSpPr/>
          <p:nvPr/>
        </p:nvSpPr>
        <p:spPr>
          <a:xfrm>
            <a:off x="456757" y="1764057"/>
            <a:ext cx="3417247" cy="680400"/>
          </a:xfrm>
          <a:prstGeom prst="homePlate">
            <a:avLst>
              <a:gd fmla="val 23856" name="adj"/>
            </a:avLst>
          </a:prstGeom>
          <a:solidFill>
            <a:srgbClr val="EC881D"/>
          </a:solidFill>
          <a:ln>
            <a:noFill/>
          </a:ln>
        </p:spPr>
        <p:txBody>
          <a:bodyPr anchorCtr="0" anchor="ctr" bIns="91425" lIns="360000" spcFirstLastPara="1" rIns="228600" wrap="square" tIns="91425">
            <a:noAutofit/>
          </a:bodyPr>
          <a:lstStyle/>
          <a:p>
            <a:pPr indent="0" lvl="0" marL="0" marR="0" rtl="0" algn="l">
              <a:spcBef>
                <a:spcPts val="0"/>
              </a:spcBef>
              <a:spcAft>
                <a:spcPts val="0"/>
              </a:spcAft>
              <a:buNone/>
            </a:pPr>
            <a:r>
              <a:rPr b="1" lang="en-GB" sz="1200">
                <a:solidFill>
                  <a:srgbClr val="FFFFFF"/>
                </a:solidFill>
                <a:latin typeface="Century Gothic"/>
                <a:ea typeface="Century Gothic"/>
                <a:cs typeface="Century Gothic"/>
                <a:sym typeface="Century Gothic"/>
              </a:rPr>
              <a:t>Delivering credible information</a:t>
            </a:r>
            <a:endParaRPr/>
          </a:p>
        </p:txBody>
      </p:sp>
      <p:sp>
        <p:nvSpPr>
          <p:cNvPr id="4212" name="Google Shape;4212;p222"/>
          <p:cNvSpPr/>
          <p:nvPr/>
        </p:nvSpPr>
        <p:spPr>
          <a:xfrm>
            <a:off x="456757" y="3867511"/>
            <a:ext cx="3417247" cy="680400"/>
          </a:xfrm>
          <a:prstGeom prst="homePlate">
            <a:avLst>
              <a:gd fmla="val 23856" name="adj"/>
            </a:avLst>
          </a:prstGeom>
          <a:solidFill>
            <a:srgbClr val="EC881D"/>
          </a:solidFill>
          <a:ln>
            <a:noFill/>
          </a:ln>
        </p:spPr>
        <p:txBody>
          <a:bodyPr anchorCtr="0" anchor="ctr" bIns="91425" lIns="360000" spcFirstLastPara="1" rIns="228600" wrap="square" tIns="91425">
            <a:noAutofit/>
          </a:bodyPr>
          <a:lstStyle/>
          <a:p>
            <a:pPr indent="0" lvl="0" marL="0" marR="0" rtl="0" algn="l">
              <a:spcBef>
                <a:spcPts val="0"/>
              </a:spcBef>
              <a:spcAft>
                <a:spcPts val="0"/>
              </a:spcAft>
              <a:buNone/>
            </a:pPr>
            <a:r>
              <a:rPr b="1" lang="en-GB" sz="1200">
                <a:solidFill>
                  <a:srgbClr val="FFFFFF"/>
                </a:solidFill>
                <a:latin typeface="Century Gothic"/>
                <a:ea typeface="Century Gothic"/>
                <a:cs typeface="Century Gothic"/>
                <a:sym typeface="Century Gothic"/>
              </a:rPr>
              <a:t>Compliance concerns</a:t>
            </a:r>
            <a:endParaRPr/>
          </a:p>
        </p:txBody>
      </p:sp>
      <p:sp>
        <p:nvSpPr>
          <p:cNvPr id="4213" name="Google Shape;4213;p222"/>
          <p:cNvSpPr/>
          <p:nvPr/>
        </p:nvSpPr>
        <p:spPr>
          <a:xfrm>
            <a:off x="532958" y="3170399"/>
            <a:ext cx="3417247" cy="680400"/>
          </a:xfrm>
          <a:prstGeom prst="homePlate">
            <a:avLst>
              <a:gd fmla="val 23856" name="adj"/>
            </a:avLst>
          </a:prstGeom>
          <a:solidFill>
            <a:schemeClr val="lt1"/>
          </a:solidFill>
          <a:ln>
            <a:noFill/>
          </a:ln>
        </p:spPr>
        <p:txBody>
          <a:bodyPr anchorCtr="0" anchor="ctr" bIns="91425" lIns="91425" spcFirstLastPara="1" rIns="228600" wrap="square" tIns="91425">
            <a:noAutofit/>
          </a:bodyPr>
          <a:lstStyle/>
          <a:p>
            <a:pPr indent="0" lvl="0" marL="0" marR="0" rtl="0" algn="r">
              <a:spcBef>
                <a:spcPts val="0"/>
              </a:spcBef>
              <a:spcAft>
                <a:spcPts val="0"/>
              </a:spcAft>
              <a:buNone/>
            </a:pPr>
            <a:r>
              <a:t/>
            </a:r>
            <a:endParaRPr b="1" sz="1200">
              <a:solidFill>
                <a:srgbClr val="FFFFFF"/>
              </a:solidFill>
              <a:latin typeface="Century Gothic"/>
              <a:ea typeface="Century Gothic"/>
              <a:cs typeface="Century Gothic"/>
              <a:sym typeface="Century Gothic"/>
            </a:endParaRPr>
          </a:p>
        </p:txBody>
      </p:sp>
      <p:sp>
        <p:nvSpPr>
          <p:cNvPr id="4214" name="Google Shape;4214;p222"/>
          <p:cNvSpPr/>
          <p:nvPr/>
        </p:nvSpPr>
        <p:spPr>
          <a:xfrm>
            <a:off x="456757" y="3170399"/>
            <a:ext cx="3417247" cy="680400"/>
          </a:xfrm>
          <a:prstGeom prst="homePlate">
            <a:avLst>
              <a:gd fmla="val 23856" name="adj"/>
            </a:avLst>
          </a:prstGeom>
          <a:solidFill>
            <a:srgbClr val="EC881D"/>
          </a:solidFill>
          <a:ln>
            <a:noFill/>
          </a:ln>
        </p:spPr>
        <p:txBody>
          <a:bodyPr anchorCtr="0" anchor="ctr" bIns="91425" lIns="360000" spcFirstLastPara="1" rIns="228600" wrap="square" tIns="91425">
            <a:noAutofit/>
          </a:bodyPr>
          <a:lstStyle/>
          <a:p>
            <a:pPr indent="0" lvl="0" marL="0" marR="0" rtl="0" algn="l">
              <a:spcBef>
                <a:spcPts val="0"/>
              </a:spcBef>
              <a:spcAft>
                <a:spcPts val="0"/>
              </a:spcAft>
              <a:buNone/>
            </a:pPr>
            <a:r>
              <a:rPr b="1" lang="en-GB" sz="1200">
                <a:solidFill>
                  <a:srgbClr val="FFFFFF"/>
                </a:solidFill>
                <a:latin typeface="Century Gothic"/>
                <a:ea typeface="Century Gothic"/>
                <a:cs typeface="Century Gothic"/>
                <a:sym typeface="Century Gothic"/>
              </a:rPr>
              <a:t>Capacity and Capability</a:t>
            </a:r>
            <a:endParaRPr/>
          </a:p>
        </p:txBody>
      </p:sp>
      <p:sp>
        <p:nvSpPr>
          <p:cNvPr id="4215" name="Google Shape;4215;p222"/>
          <p:cNvSpPr/>
          <p:nvPr/>
        </p:nvSpPr>
        <p:spPr>
          <a:xfrm>
            <a:off x="456757" y="1011610"/>
            <a:ext cx="8251308" cy="702078"/>
          </a:xfrm>
          <a:prstGeom prst="rect">
            <a:avLst/>
          </a:prstGeom>
          <a:solidFill>
            <a:srgbClr val="005AA4"/>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rPr b="1" lang="en-GB" sz="1400">
                <a:solidFill>
                  <a:srgbClr val="FFFFFF"/>
                </a:solidFill>
                <a:latin typeface="Century Gothic"/>
                <a:ea typeface="Century Gothic"/>
                <a:cs typeface="Century Gothic"/>
                <a:sym typeface="Century Gothic"/>
              </a:rPr>
              <a:t>Overall challenge:</a:t>
            </a:r>
            <a:endParaRPr/>
          </a:p>
          <a:p>
            <a:pPr indent="0" lvl="0" marL="0" marR="0" rtl="0" algn="l">
              <a:spcBef>
                <a:spcPts val="0"/>
              </a:spcBef>
              <a:spcAft>
                <a:spcPts val="0"/>
              </a:spcAft>
              <a:buNone/>
            </a:pPr>
            <a:r>
              <a:rPr lang="en-GB" sz="1200">
                <a:solidFill>
                  <a:schemeClr val="lt1"/>
                </a:solidFill>
                <a:latin typeface="Century Gothic"/>
                <a:ea typeface="Century Gothic"/>
                <a:cs typeface="Century Gothic"/>
                <a:sym typeface="Century Gothic"/>
              </a:rPr>
              <a:t>Keeping current with financial standards, regulatory and compliance reporting, and business information needs and doing it all quickly, efficiently and a low cost.</a:t>
            </a:r>
            <a:endParaRPr sz="1200">
              <a:solidFill>
                <a:srgbClr val="FFFFFF"/>
              </a:solidFill>
              <a:latin typeface="Century Gothic"/>
              <a:ea typeface="Century Gothic"/>
              <a:cs typeface="Century Gothic"/>
              <a:sym typeface="Century Gothic"/>
            </a:endParaRPr>
          </a:p>
        </p:txBody>
      </p:sp>
      <p:sp>
        <p:nvSpPr>
          <p:cNvPr id="4216" name="Google Shape;4216;p222">
            <a:hlinkClick action="ppaction://hlinksldjump" r:id="rId3"/>
          </p:cNvPr>
          <p:cNvSpPr/>
          <p:nvPr/>
        </p:nvSpPr>
        <p:spPr>
          <a:xfrm>
            <a:off x="6515100" y="-196501"/>
            <a:ext cx="2777392" cy="378533"/>
          </a:xfrm>
          <a:prstGeom prst="roundRect">
            <a:avLst>
              <a:gd fmla="val 50000" name="adj"/>
            </a:avLst>
          </a:prstGeom>
          <a:solidFill>
            <a:schemeClr val="accent1"/>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Finance &amp; Performance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0" name="Shape 4220"/>
        <p:cNvGrpSpPr/>
        <p:nvPr/>
      </p:nvGrpSpPr>
      <p:grpSpPr>
        <a:xfrm>
          <a:off x="0" y="0"/>
          <a:ext cx="0" cy="0"/>
          <a:chOff x="0" y="0"/>
          <a:chExt cx="0" cy="0"/>
        </a:xfrm>
      </p:grpSpPr>
      <p:sp>
        <p:nvSpPr>
          <p:cNvPr id="4221" name="Google Shape;4221;p223"/>
          <p:cNvSpPr/>
          <p:nvPr/>
        </p:nvSpPr>
        <p:spPr>
          <a:xfrm>
            <a:off x="7772401" y="-368299"/>
            <a:ext cx="1503273" cy="5054600"/>
          </a:xfrm>
          <a:prstGeom prst="roundRect">
            <a:avLst>
              <a:gd fmla="val 3493" name="adj"/>
            </a:avLst>
          </a:prstGeom>
          <a:solidFill>
            <a:srgbClr val="FFFFFF"/>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222" name="Google Shape;4222;p223"/>
          <p:cNvSpPr txBox="1"/>
          <p:nvPr>
            <p:ph idx="1" type="body"/>
          </p:nvPr>
        </p:nvSpPr>
        <p:spPr>
          <a:xfrm>
            <a:off x="467360" y="852530"/>
            <a:ext cx="4830354" cy="3344033"/>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0079DB"/>
              </a:buClr>
              <a:buSzPts val="1800"/>
              <a:buNone/>
            </a:pPr>
            <a:r>
              <a:rPr lang="en-GB">
                <a:solidFill>
                  <a:srgbClr val="0079DB"/>
                </a:solidFill>
              </a:rPr>
              <a:t>Challenges</a:t>
            </a:r>
            <a:endParaRPr b="1">
              <a:solidFill>
                <a:schemeClr val="accent1"/>
              </a:solidFill>
            </a:endParaRPr>
          </a:p>
          <a:p>
            <a:pPr indent="-169863" lvl="0" marL="169863" rtl="0" algn="l">
              <a:lnSpc>
                <a:spcPct val="95000"/>
              </a:lnSpc>
              <a:spcBef>
                <a:spcPts val="800"/>
              </a:spcBef>
              <a:spcAft>
                <a:spcPts val="0"/>
              </a:spcAft>
              <a:buClr>
                <a:schemeClr val="dk1"/>
              </a:buClr>
              <a:buSzPts val="1400"/>
              <a:buChar char="•"/>
            </a:pPr>
            <a:r>
              <a:rPr lang="en-GB" sz="1400"/>
              <a:t>Lack of insight amongst business unites and / or functional departments around business drivers, key performance metrics and strategic initiatives</a:t>
            </a:r>
            <a:endParaRPr/>
          </a:p>
          <a:p>
            <a:pPr indent="-169863" lvl="0" marL="169863" rtl="0" algn="l">
              <a:lnSpc>
                <a:spcPct val="95000"/>
              </a:lnSpc>
              <a:spcBef>
                <a:spcPts val="600"/>
              </a:spcBef>
              <a:spcAft>
                <a:spcPts val="0"/>
              </a:spcAft>
              <a:buClr>
                <a:schemeClr val="dk1"/>
              </a:buClr>
              <a:buSzPts val="1400"/>
              <a:buChar char="•"/>
            </a:pPr>
            <a:r>
              <a:rPr lang="en-GB" sz="1400"/>
              <a:t>Difficulty in data acquisition capabilities and data quality leads to more time spent in data management versus providing value driven analytics</a:t>
            </a:r>
            <a:endParaRPr/>
          </a:p>
          <a:p>
            <a:pPr indent="-169863" lvl="0" marL="169863" rtl="0" algn="l">
              <a:lnSpc>
                <a:spcPct val="95000"/>
              </a:lnSpc>
              <a:spcBef>
                <a:spcPts val="600"/>
              </a:spcBef>
              <a:spcAft>
                <a:spcPts val="0"/>
              </a:spcAft>
              <a:buClr>
                <a:schemeClr val="dk1"/>
              </a:buClr>
              <a:buSzPts val="1400"/>
              <a:buChar char="•"/>
            </a:pPr>
            <a:r>
              <a:rPr lang="en-GB" sz="1400"/>
              <a:t>Insufficient detail of data results in difficulty in reconciling or tracing back to the source system</a:t>
            </a:r>
            <a:endParaRPr/>
          </a:p>
          <a:p>
            <a:pPr indent="-169863" lvl="0" marL="169863" rtl="0" algn="l">
              <a:lnSpc>
                <a:spcPct val="95000"/>
              </a:lnSpc>
              <a:spcBef>
                <a:spcPts val="600"/>
              </a:spcBef>
              <a:spcAft>
                <a:spcPts val="0"/>
              </a:spcAft>
              <a:buClr>
                <a:schemeClr val="dk1"/>
              </a:buClr>
              <a:buSzPts val="1400"/>
              <a:buChar char="•"/>
            </a:pPr>
            <a:r>
              <a:rPr lang="en-GB" sz="1400"/>
              <a:t>Underdeveloped took-kit and solutions for reporting and ad-hoc analytics</a:t>
            </a:r>
            <a:endParaRPr/>
          </a:p>
          <a:p>
            <a:pPr indent="-169863" lvl="0" marL="169863" rtl="0" algn="l">
              <a:lnSpc>
                <a:spcPct val="95000"/>
              </a:lnSpc>
              <a:spcBef>
                <a:spcPts val="600"/>
              </a:spcBef>
              <a:spcAft>
                <a:spcPts val="0"/>
              </a:spcAft>
              <a:buClr>
                <a:schemeClr val="dk1"/>
              </a:buClr>
              <a:buSzPts val="1400"/>
              <a:buChar char="•"/>
            </a:pPr>
            <a:r>
              <a:rPr lang="en-GB" sz="1400"/>
              <a:t>Reliance on IT for data access leads to issues with timeliness and scalability issues</a:t>
            </a:r>
            <a:endParaRPr/>
          </a:p>
        </p:txBody>
      </p:sp>
      <p:sp>
        <p:nvSpPr>
          <p:cNvPr id="4223" name="Google Shape;4223;p223"/>
          <p:cNvSpPr txBox="1"/>
          <p:nvPr>
            <p:ph type="title"/>
          </p:nvPr>
        </p:nvSpPr>
        <p:spPr>
          <a:xfrm>
            <a:off x="477880" y="238539"/>
            <a:ext cx="5435240" cy="639821"/>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chemeClr val="accent1"/>
              </a:buClr>
              <a:buSzPts val="2000"/>
              <a:buFont typeface="Century Gothic"/>
              <a:buNone/>
            </a:pPr>
            <a:r>
              <a:rPr lang="en-GB" sz="2000"/>
              <a:t>Finance &amp; Performance Management</a:t>
            </a:r>
            <a:endParaRPr sz="2000"/>
          </a:p>
        </p:txBody>
      </p:sp>
      <p:pic>
        <p:nvPicPr>
          <p:cNvPr id="4224" name="Google Shape;4224;p223"/>
          <p:cNvPicPr preferRelativeResize="0"/>
          <p:nvPr/>
        </p:nvPicPr>
        <p:blipFill rotWithShape="1">
          <a:blip r:embed="rId3">
            <a:alphaModFix/>
          </a:blip>
          <a:srcRect b="0" l="0" r="0" t="0"/>
          <a:stretch/>
        </p:blipFill>
        <p:spPr>
          <a:xfrm>
            <a:off x="5549900" y="967317"/>
            <a:ext cx="3594100" cy="2396066"/>
          </a:xfrm>
          <a:prstGeom prst="rect">
            <a:avLst/>
          </a:prstGeom>
          <a:noFill/>
          <a:ln>
            <a:noFill/>
          </a:ln>
        </p:spPr>
      </p:pic>
      <p:sp>
        <p:nvSpPr>
          <p:cNvPr id="4225" name="Google Shape;4225;p223">
            <a:hlinkClick action="ppaction://hlinksldjump" r:id="rId4"/>
          </p:cNvPr>
          <p:cNvSpPr/>
          <p:nvPr/>
        </p:nvSpPr>
        <p:spPr>
          <a:xfrm>
            <a:off x="6515100" y="-196501"/>
            <a:ext cx="2777392" cy="378533"/>
          </a:xfrm>
          <a:prstGeom prst="roundRect">
            <a:avLst>
              <a:gd fmla="val 50000" name="adj"/>
            </a:avLst>
          </a:prstGeom>
          <a:solidFill>
            <a:schemeClr val="accent1"/>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Finance &amp; Performance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9" name="Shape 4229"/>
        <p:cNvGrpSpPr/>
        <p:nvPr/>
      </p:nvGrpSpPr>
      <p:grpSpPr>
        <a:xfrm>
          <a:off x="0" y="0"/>
          <a:ext cx="0" cy="0"/>
          <a:chOff x="0" y="0"/>
          <a:chExt cx="0" cy="0"/>
        </a:xfrm>
      </p:grpSpPr>
      <p:sp>
        <p:nvSpPr>
          <p:cNvPr id="4230" name="Google Shape;4230;p224"/>
          <p:cNvSpPr/>
          <p:nvPr/>
        </p:nvSpPr>
        <p:spPr>
          <a:xfrm>
            <a:off x="7772400" y="-368299"/>
            <a:ext cx="1653702" cy="5054600"/>
          </a:xfrm>
          <a:prstGeom prst="roundRect">
            <a:avLst>
              <a:gd fmla="val 3493" name="adj"/>
            </a:avLst>
          </a:prstGeom>
          <a:solidFill>
            <a:srgbClr val="FFFFFF"/>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231" name="Google Shape;4231;p224"/>
          <p:cNvSpPr txBox="1"/>
          <p:nvPr>
            <p:ph type="title"/>
          </p:nvPr>
        </p:nvSpPr>
        <p:spPr>
          <a:xfrm>
            <a:off x="477880" y="174273"/>
            <a:ext cx="5435240" cy="704088"/>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Finance &amp; Performance</a:t>
            </a:r>
            <a:br>
              <a:rPr lang="en-GB"/>
            </a:br>
            <a:r>
              <a:rPr lang="en-GB"/>
              <a:t>Management</a:t>
            </a:r>
            <a:endParaRPr/>
          </a:p>
        </p:txBody>
      </p:sp>
      <p:sp>
        <p:nvSpPr>
          <p:cNvPr id="4232" name="Google Shape;4232;p224"/>
          <p:cNvSpPr txBox="1"/>
          <p:nvPr>
            <p:ph idx="4294967295" type="body"/>
          </p:nvPr>
        </p:nvSpPr>
        <p:spPr>
          <a:xfrm>
            <a:off x="281359" y="1122553"/>
            <a:ext cx="4844955" cy="3672000"/>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chemeClr val="dk2"/>
              </a:buClr>
              <a:buSzPts val="1800"/>
              <a:buNone/>
            </a:pPr>
            <a:r>
              <a:rPr lang="en-GB">
                <a:solidFill>
                  <a:schemeClr val="dk2"/>
                </a:solidFill>
              </a:rPr>
              <a:t>   Are You Able To…</a:t>
            </a:r>
            <a:endParaRPr/>
          </a:p>
          <a:p>
            <a:pPr indent="-228600" lvl="1" marL="457200" rtl="0" algn="l">
              <a:lnSpc>
                <a:spcPct val="95000"/>
              </a:lnSpc>
              <a:spcBef>
                <a:spcPts val="200"/>
              </a:spcBef>
              <a:spcAft>
                <a:spcPts val="0"/>
              </a:spcAft>
              <a:buClr>
                <a:schemeClr val="dk1"/>
              </a:buClr>
              <a:buSzPts val="1350"/>
              <a:buChar char="–"/>
            </a:pPr>
            <a:r>
              <a:rPr lang="en-GB" sz="1350"/>
              <a:t>Analyze a product’s overall profitability across all customers and channels?</a:t>
            </a:r>
            <a:endParaRPr/>
          </a:p>
          <a:p>
            <a:pPr indent="-228600" lvl="1" marL="457200" rtl="0" algn="l">
              <a:lnSpc>
                <a:spcPct val="95000"/>
              </a:lnSpc>
              <a:spcBef>
                <a:spcPts val="300"/>
              </a:spcBef>
              <a:spcAft>
                <a:spcPts val="0"/>
              </a:spcAft>
              <a:buClr>
                <a:schemeClr val="dk1"/>
              </a:buClr>
              <a:buSzPts val="1350"/>
              <a:buChar char="–"/>
            </a:pPr>
            <a:r>
              <a:rPr lang="en-GB" sz="1350"/>
              <a:t>Drill-down to view multiple dimension of profitability?</a:t>
            </a:r>
            <a:endParaRPr/>
          </a:p>
          <a:p>
            <a:pPr indent="-228600" lvl="1" marL="457200" rtl="0" algn="l">
              <a:lnSpc>
                <a:spcPct val="95000"/>
              </a:lnSpc>
              <a:spcBef>
                <a:spcPts val="300"/>
              </a:spcBef>
              <a:spcAft>
                <a:spcPts val="0"/>
              </a:spcAft>
              <a:buClr>
                <a:schemeClr val="dk1"/>
              </a:buClr>
              <a:buSzPts val="1350"/>
              <a:buChar char="–"/>
            </a:pPr>
            <a:r>
              <a:rPr lang="en-GB" sz="1350"/>
              <a:t>Reduce time for Closing the Books?</a:t>
            </a:r>
            <a:endParaRPr sz="1350"/>
          </a:p>
          <a:p>
            <a:pPr indent="-228600" lvl="1" marL="457200" rtl="0" algn="l">
              <a:lnSpc>
                <a:spcPct val="95000"/>
              </a:lnSpc>
              <a:spcBef>
                <a:spcPts val="300"/>
              </a:spcBef>
              <a:spcAft>
                <a:spcPts val="0"/>
              </a:spcAft>
              <a:buClr>
                <a:schemeClr val="dk1"/>
              </a:buClr>
              <a:buSzPts val="1350"/>
              <a:buChar char="–"/>
            </a:pPr>
            <a:r>
              <a:rPr lang="en-GB" sz="1350"/>
              <a:t>Improve your controlling capabilities via the use of combined ERP and non-ERP data?</a:t>
            </a:r>
            <a:endParaRPr sz="1350"/>
          </a:p>
          <a:p>
            <a:pPr indent="-228600" lvl="1" marL="457200" rtl="0" algn="l">
              <a:lnSpc>
                <a:spcPct val="95000"/>
              </a:lnSpc>
              <a:spcBef>
                <a:spcPts val="300"/>
              </a:spcBef>
              <a:spcAft>
                <a:spcPts val="0"/>
              </a:spcAft>
              <a:buClr>
                <a:schemeClr val="dk1"/>
              </a:buClr>
              <a:buSzPts val="1350"/>
              <a:buChar char="–"/>
            </a:pPr>
            <a:r>
              <a:rPr lang="en-GB" sz="1350"/>
              <a:t>Perform advanced Margin analysis, including specifying Activity Discounts per Category and Supplier etc.?</a:t>
            </a:r>
            <a:endParaRPr sz="1350"/>
          </a:p>
          <a:p>
            <a:pPr indent="-228600" lvl="1" marL="457200" rtl="0" algn="l">
              <a:lnSpc>
                <a:spcPct val="95000"/>
              </a:lnSpc>
              <a:spcBef>
                <a:spcPts val="300"/>
              </a:spcBef>
              <a:spcAft>
                <a:spcPts val="0"/>
              </a:spcAft>
              <a:buClr>
                <a:schemeClr val="dk1"/>
              </a:buClr>
              <a:buSzPts val="1350"/>
              <a:buChar char="–"/>
            </a:pPr>
            <a:r>
              <a:rPr lang="en-GB" sz="1350"/>
              <a:t>Optimize Forecasting and improve output accuracy?</a:t>
            </a:r>
            <a:endParaRPr sz="1350"/>
          </a:p>
          <a:p>
            <a:pPr indent="-228600" lvl="1" marL="457200" rtl="0" algn="l">
              <a:lnSpc>
                <a:spcPct val="95000"/>
              </a:lnSpc>
              <a:spcBef>
                <a:spcPts val="300"/>
              </a:spcBef>
              <a:spcAft>
                <a:spcPts val="0"/>
              </a:spcAft>
              <a:buClr>
                <a:schemeClr val="dk1"/>
              </a:buClr>
              <a:buSzPts val="1350"/>
              <a:buChar char="–"/>
            </a:pPr>
            <a:r>
              <a:rPr lang="en-GB" sz="1350"/>
              <a:t>Analyze the supply chain costs per activity /event?</a:t>
            </a:r>
            <a:endParaRPr sz="1350"/>
          </a:p>
          <a:p>
            <a:pPr indent="-228600" lvl="1" marL="457200" rtl="0" algn="l">
              <a:lnSpc>
                <a:spcPct val="95000"/>
              </a:lnSpc>
              <a:spcBef>
                <a:spcPts val="300"/>
              </a:spcBef>
              <a:spcAft>
                <a:spcPts val="0"/>
              </a:spcAft>
              <a:buClr>
                <a:schemeClr val="dk1"/>
              </a:buClr>
              <a:buSzPts val="1350"/>
              <a:buChar char="–"/>
            </a:pPr>
            <a:r>
              <a:rPr lang="en-GB" sz="1350"/>
              <a:t>Reduce the Cost of the Finance Department (less manual work and less need for Excel/individual applications)?</a:t>
            </a:r>
            <a:endParaRPr/>
          </a:p>
        </p:txBody>
      </p:sp>
      <p:pic>
        <p:nvPicPr>
          <p:cNvPr id="4233" name="Google Shape;4233;p224"/>
          <p:cNvPicPr preferRelativeResize="0"/>
          <p:nvPr/>
        </p:nvPicPr>
        <p:blipFill rotWithShape="1">
          <a:blip r:embed="rId3">
            <a:alphaModFix/>
          </a:blip>
          <a:srcRect b="0" l="0" r="19512" t="0"/>
          <a:stretch/>
        </p:blipFill>
        <p:spPr>
          <a:xfrm>
            <a:off x="5971785" y="637944"/>
            <a:ext cx="2675387" cy="3654935"/>
          </a:xfrm>
          <a:prstGeom prst="rect">
            <a:avLst/>
          </a:prstGeom>
          <a:noFill/>
          <a:ln>
            <a:noFill/>
          </a:ln>
        </p:spPr>
      </p:pic>
      <p:sp>
        <p:nvSpPr>
          <p:cNvPr id="4234" name="Google Shape;4234;p224">
            <a:hlinkClick action="ppaction://hlinksldjump" r:id="rId4"/>
          </p:cNvPr>
          <p:cNvSpPr/>
          <p:nvPr/>
        </p:nvSpPr>
        <p:spPr>
          <a:xfrm>
            <a:off x="6515100" y="-196501"/>
            <a:ext cx="2777392" cy="378533"/>
          </a:xfrm>
          <a:prstGeom prst="roundRect">
            <a:avLst>
              <a:gd fmla="val 50000" name="adj"/>
            </a:avLst>
          </a:prstGeom>
          <a:solidFill>
            <a:schemeClr val="accent1"/>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Finance &amp; Performance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8" name="Shape 4238"/>
        <p:cNvGrpSpPr/>
        <p:nvPr/>
      </p:nvGrpSpPr>
      <p:grpSpPr>
        <a:xfrm>
          <a:off x="0" y="0"/>
          <a:ext cx="0" cy="0"/>
          <a:chOff x="0" y="0"/>
          <a:chExt cx="0" cy="0"/>
        </a:xfrm>
      </p:grpSpPr>
      <p:sp>
        <p:nvSpPr>
          <p:cNvPr id="4239" name="Google Shape;4239;p225"/>
          <p:cNvSpPr/>
          <p:nvPr/>
        </p:nvSpPr>
        <p:spPr>
          <a:xfrm>
            <a:off x="7772400" y="-368299"/>
            <a:ext cx="1653702" cy="5054600"/>
          </a:xfrm>
          <a:prstGeom prst="roundRect">
            <a:avLst>
              <a:gd fmla="val 3493" name="adj"/>
            </a:avLst>
          </a:prstGeom>
          <a:solidFill>
            <a:srgbClr val="FFFFFF"/>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pic>
        <p:nvPicPr>
          <p:cNvPr id="4240" name="Google Shape;4240;p225"/>
          <p:cNvPicPr preferRelativeResize="0"/>
          <p:nvPr/>
        </p:nvPicPr>
        <p:blipFill rotWithShape="1">
          <a:blip r:embed="rId3">
            <a:alphaModFix/>
          </a:blip>
          <a:srcRect b="0" l="0" r="0" t="0"/>
          <a:stretch/>
        </p:blipFill>
        <p:spPr>
          <a:xfrm>
            <a:off x="5971785" y="637943"/>
            <a:ext cx="2675387" cy="3787461"/>
          </a:xfrm>
          <a:prstGeom prst="rect">
            <a:avLst/>
          </a:prstGeom>
          <a:noFill/>
          <a:ln>
            <a:noFill/>
          </a:ln>
        </p:spPr>
      </p:pic>
      <p:sp>
        <p:nvSpPr>
          <p:cNvPr id="4241" name="Google Shape;4241;p225"/>
          <p:cNvSpPr txBox="1"/>
          <p:nvPr>
            <p:ph idx="1" type="body"/>
          </p:nvPr>
        </p:nvSpPr>
        <p:spPr>
          <a:xfrm>
            <a:off x="467360" y="1182730"/>
            <a:ext cx="4363947" cy="3344033"/>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0079DB"/>
              </a:buClr>
              <a:buSzPts val="1800"/>
              <a:buNone/>
            </a:pPr>
            <a:r>
              <a:rPr lang="en-GB">
                <a:solidFill>
                  <a:srgbClr val="0079DB"/>
                </a:solidFill>
              </a:rPr>
              <a:t>How – Capabilities</a:t>
            </a:r>
            <a:endParaRPr b="1">
              <a:solidFill>
                <a:schemeClr val="accent1"/>
              </a:solidFill>
            </a:endParaRPr>
          </a:p>
          <a:p>
            <a:pPr indent="-169863" lvl="0" marL="169863" rtl="0" algn="l">
              <a:lnSpc>
                <a:spcPct val="110000"/>
              </a:lnSpc>
              <a:spcBef>
                <a:spcPts val="800"/>
              </a:spcBef>
              <a:spcAft>
                <a:spcPts val="0"/>
              </a:spcAft>
              <a:buClr>
                <a:schemeClr val="dk1"/>
              </a:buClr>
              <a:buSzPts val="1400"/>
              <a:buChar char="•"/>
            </a:pPr>
            <a:r>
              <a:rPr lang="en-GB" sz="1400"/>
              <a:t>By establishing a data foundation for the Finance Function based on integrated and detailed ERP and non-ERP data, then the organisation will:</a:t>
            </a:r>
            <a:endParaRPr sz="1400"/>
          </a:p>
          <a:p>
            <a:pPr indent="-185737" lvl="2" marL="361950" rtl="0" algn="l">
              <a:lnSpc>
                <a:spcPct val="110000"/>
              </a:lnSpc>
              <a:spcBef>
                <a:spcPts val="200"/>
              </a:spcBef>
              <a:spcAft>
                <a:spcPts val="0"/>
              </a:spcAft>
              <a:buClr>
                <a:schemeClr val="dk1"/>
              </a:buClr>
              <a:buSzPts val="1400"/>
              <a:buChar char="-"/>
            </a:pPr>
            <a:r>
              <a:rPr lang="en-GB"/>
              <a:t>Increase their analytical capabilities </a:t>
            </a:r>
            <a:br>
              <a:rPr lang="en-GB"/>
            </a:br>
            <a:r>
              <a:rPr lang="en-GB"/>
              <a:t>(by having many more dimensions and attributes for analytics)</a:t>
            </a:r>
            <a:endParaRPr/>
          </a:p>
          <a:p>
            <a:pPr indent="-185737" lvl="2" marL="361950" rtl="0" algn="l">
              <a:lnSpc>
                <a:spcPct val="110000"/>
              </a:lnSpc>
              <a:spcBef>
                <a:spcPts val="0"/>
              </a:spcBef>
              <a:spcAft>
                <a:spcPts val="0"/>
              </a:spcAft>
              <a:buClr>
                <a:schemeClr val="dk1"/>
              </a:buClr>
              <a:buSzPts val="1400"/>
              <a:buChar char="-"/>
            </a:pPr>
            <a:r>
              <a:rPr lang="en-GB"/>
              <a:t>Reduce the Cost-to-Serve (as the need </a:t>
            </a:r>
            <a:br>
              <a:rPr lang="en-GB"/>
            </a:br>
            <a:r>
              <a:rPr lang="en-GB"/>
              <a:t>for manual data massaging will be significantly minimized)</a:t>
            </a:r>
            <a:endParaRPr/>
          </a:p>
          <a:p>
            <a:pPr indent="-185737" lvl="2" marL="361950" rtl="0" algn="l">
              <a:lnSpc>
                <a:spcPct val="110000"/>
              </a:lnSpc>
              <a:spcBef>
                <a:spcPts val="0"/>
              </a:spcBef>
              <a:spcAft>
                <a:spcPts val="0"/>
              </a:spcAft>
              <a:buClr>
                <a:schemeClr val="dk1"/>
              </a:buClr>
              <a:buSzPts val="1400"/>
              <a:buChar char="-"/>
            </a:pPr>
            <a:r>
              <a:rPr lang="en-GB"/>
              <a:t>Close the Books faster (and thereby move away for historical analyses to forward looking activities)</a:t>
            </a:r>
            <a:endParaRPr/>
          </a:p>
        </p:txBody>
      </p:sp>
      <p:sp>
        <p:nvSpPr>
          <p:cNvPr id="4242" name="Google Shape;4242;p225"/>
          <p:cNvSpPr txBox="1"/>
          <p:nvPr>
            <p:ph type="title"/>
          </p:nvPr>
        </p:nvSpPr>
        <p:spPr>
          <a:xfrm>
            <a:off x="477880" y="174273"/>
            <a:ext cx="5435240" cy="704088"/>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Finance &amp; Performance</a:t>
            </a:r>
            <a:br>
              <a:rPr lang="en-GB"/>
            </a:br>
            <a:r>
              <a:rPr lang="en-GB"/>
              <a:t>Management</a:t>
            </a:r>
            <a:endParaRPr/>
          </a:p>
        </p:txBody>
      </p:sp>
      <p:sp>
        <p:nvSpPr>
          <p:cNvPr id="4243" name="Google Shape;4243;p225">
            <a:hlinkClick action="ppaction://hlinksldjump" r:id="rId4"/>
          </p:cNvPr>
          <p:cNvSpPr/>
          <p:nvPr/>
        </p:nvSpPr>
        <p:spPr>
          <a:xfrm>
            <a:off x="6515100" y="-196501"/>
            <a:ext cx="2777392" cy="378533"/>
          </a:xfrm>
          <a:prstGeom prst="roundRect">
            <a:avLst>
              <a:gd fmla="val 50000" name="adj"/>
            </a:avLst>
          </a:prstGeom>
          <a:solidFill>
            <a:schemeClr val="accent1"/>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Finance &amp; Performance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7" name="Shape 4247"/>
        <p:cNvGrpSpPr/>
        <p:nvPr/>
      </p:nvGrpSpPr>
      <p:grpSpPr>
        <a:xfrm>
          <a:off x="0" y="0"/>
          <a:ext cx="0" cy="0"/>
          <a:chOff x="0" y="0"/>
          <a:chExt cx="0" cy="0"/>
        </a:xfrm>
      </p:grpSpPr>
      <p:sp>
        <p:nvSpPr>
          <p:cNvPr id="4248" name="Google Shape;4248;p226"/>
          <p:cNvSpPr/>
          <p:nvPr/>
        </p:nvSpPr>
        <p:spPr>
          <a:xfrm>
            <a:off x="7772400" y="-368299"/>
            <a:ext cx="1653702" cy="5054600"/>
          </a:xfrm>
          <a:prstGeom prst="roundRect">
            <a:avLst>
              <a:gd fmla="val 3493" name="adj"/>
            </a:avLst>
          </a:prstGeom>
          <a:solidFill>
            <a:srgbClr val="FFFFFF"/>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249" name="Google Shape;4249;p226"/>
          <p:cNvSpPr/>
          <p:nvPr/>
        </p:nvSpPr>
        <p:spPr>
          <a:xfrm>
            <a:off x="2736757" y="2342819"/>
            <a:ext cx="5971308" cy="464884"/>
          </a:xfrm>
          <a:prstGeom prst="rect">
            <a:avLst/>
          </a:prstGeom>
          <a:solidFill>
            <a:schemeClr val="lt2"/>
          </a:solidFill>
          <a:ln>
            <a:noFill/>
          </a:ln>
        </p:spPr>
        <p:txBody>
          <a:bodyPr anchorCtr="0" anchor="ctr" bIns="91425" lIns="360000" spcFirstLastPara="1" rIns="91425" wrap="square" tIns="91425">
            <a:noAutofit/>
          </a:bodyPr>
          <a:lstStyle/>
          <a:p>
            <a:pPr indent="0" lvl="0" marL="0" marR="0" rtl="0" algn="l">
              <a:spcBef>
                <a:spcPts val="0"/>
              </a:spcBef>
              <a:spcAft>
                <a:spcPts val="0"/>
              </a:spcAft>
              <a:buNone/>
            </a:pPr>
            <a:r>
              <a:rPr lang="en-GB" sz="1000">
                <a:solidFill>
                  <a:schemeClr val="dk1"/>
                </a:solidFill>
                <a:latin typeface="Century Gothic"/>
                <a:ea typeface="Century Gothic"/>
                <a:cs typeface="Century Gothic"/>
                <a:sym typeface="Century Gothic"/>
              </a:rPr>
              <a:t>Ensuring that regulatory and compliance reports are delivered on time in the most efficient way reduces risk and frees up resources to focus on value-generating activities.</a:t>
            </a:r>
            <a:endParaRPr sz="1000">
              <a:solidFill>
                <a:schemeClr val="dk1"/>
              </a:solidFill>
              <a:latin typeface="Century Gothic"/>
              <a:ea typeface="Century Gothic"/>
              <a:cs typeface="Century Gothic"/>
              <a:sym typeface="Century Gothic"/>
            </a:endParaRPr>
          </a:p>
        </p:txBody>
      </p:sp>
      <p:sp>
        <p:nvSpPr>
          <p:cNvPr id="4250" name="Google Shape;4250;p226"/>
          <p:cNvSpPr/>
          <p:nvPr/>
        </p:nvSpPr>
        <p:spPr>
          <a:xfrm>
            <a:off x="2736757" y="2922888"/>
            <a:ext cx="5971308" cy="464884"/>
          </a:xfrm>
          <a:prstGeom prst="rect">
            <a:avLst/>
          </a:prstGeom>
          <a:solidFill>
            <a:schemeClr val="lt2"/>
          </a:solidFill>
          <a:ln>
            <a:noFill/>
          </a:ln>
        </p:spPr>
        <p:txBody>
          <a:bodyPr anchorCtr="0" anchor="ctr" bIns="91425" lIns="360000" spcFirstLastPara="1" rIns="91425" wrap="square" tIns="91425">
            <a:noAutofit/>
          </a:bodyPr>
          <a:lstStyle/>
          <a:p>
            <a:pPr indent="0" lvl="0" marL="0" marR="0" rtl="0" algn="l">
              <a:spcBef>
                <a:spcPts val="0"/>
              </a:spcBef>
              <a:spcAft>
                <a:spcPts val="0"/>
              </a:spcAft>
              <a:buNone/>
            </a:pPr>
            <a:r>
              <a:rPr lang="en-GB" sz="1000">
                <a:solidFill>
                  <a:schemeClr val="dk1"/>
                </a:solidFill>
                <a:latin typeface="Century Gothic"/>
                <a:ea typeface="Century Gothic"/>
                <a:cs typeface="Century Gothic"/>
                <a:sym typeface="Century Gothic"/>
              </a:rPr>
              <a:t>Ensures that spend is justified and has a measurable  ROI impact and maintains margin</a:t>
            </a:r>
            <a:endParaRPr sz="1000">
              <a:solidFill>
                <a:schemeClr val="dk1"/>
              </a:solidFill>
              <a:latin typeface="Century Gothic"/>
              <a:ea typeface="Century Gothic"/>
              <a:cs typeface="Century Gothic"/>
              <a:sym typeface="Century Gothic"/>
            </a:endParaRPr>
          </a:p>
        </p:txBody>
      </p:sp>
      <p:sp>
        <p:nvSpPr>
          <p:cNvPr id="4251" name="Google Shape;4251;p226"/>
          <p:cNvSpPr/>
          <p:nvPr/>
        </p:nvSpPr>
        <p:spPr>
          <a:xfrm>
            <a:off x="2736757" y="3502957"/>
            <a:ext cx="5971308" cy="464884"/>
          </a:xfrm>
          <a:prstGeom prst="rect">
            <a:avLst/>
          </a:prstGeom>
          <a:solidFill>
            <a:schemeClr val="lt2"/>
          </a:solidFill>
          <a:ln>
            <a:noFill/>
          </a:ln>
        </p:spPr>
        <p:txBody>
          <a:bodyPr anchorCtr="0" anchor="ctr" bIns="91425" lIns="360000" spcFirstLastPara="1" rIns="91425" wrap="square" tIns="91425">
            <a:noAutofit/>
          </a:bodyPr>
          <a:lstStyle/>
          <a:p>
            <a:pPr indent="0" lvl="0" marL="0" marR="0" rtl="0" algn="l">
              <a:spcBef>
                <a:spcPts val="0"/>
              </a:spcBef>
              <a:spcAft>
                <a:spcPts val="0"/>
              </a:spcAft>
              <a:buNone/>
            </a:pPr>
            <a:r>
              <a:rPr lang="en-GB" sz="1000">
                <a:solidFill>
                  <a:schemeClr val="dk1"/>
                </a:solidFill>
                <a:latin typeface="Century Gothic"/>
                <a:ea typeface="Century Gothic"/>
                <a:cs typeface="Century Gothic"/>
                <a:sym typeface="Century Gothic"/>
              </a:rPr>
              <a:t>Having a centralized view of spend, and managing budgets allows books to be closed earlier and cashflow optimised</a:t>
            </a:r>
            <a:endParaRPr sz="1000">
              <a:solidFill>
                <a:schemeClr val="dk1"/>
              </a:solidFill>
              <a:latin typeface="Century Gothic"/>
              <a:ea typeface="Century Gothic"/>
              <a:cs typeface="Century Gothic"/>
              <a:sym typeface="Century Gothic"/>
            </a:endParaRPr>
          </a:p>
        </p:txBody>
      </p:sp>
      <p:sp>
        <p:nvSpPr>
          <p:cNvPr id="4252" name="Google Shape;4252;p226"/>
          <p:cNvSpPr/>
          <p:nvPr/>
        </p:nvSpPr>
        <p:spPr>
          <a:xfrm>
            <a:off x="2736757" y="4083027"/>
            <a:ext cx="5971308" cy="464884"/>
          </a:xfrm>
          <a:prstGeom prst="rect">
            <a:avLst/>
          </a:prstGeom>
          <a:solidFill>
            <a:schemeClr val="lt2"/>
          </a:solidFill>
          <a:ln>
            <a:noFill/>
          </a:ln>
        </p:spPr>
        <p:txBody>
          <a:bodyPr anchorCtr="0" anchor="ctr" bIns="91425" lIns="360000" spcFirstLastPara="1" rIns="91425" wrap="square" tIns="91425">
            <a:noAutofit/>
          </a:bodyPr>
          <a:lstStyle/>
          <a:p>
            <a:pPr indent="0" lvl="0" marL="0" marR="0" rtl="0" algn="l">
              <a:spcBef>
                <a:spcPts val="0"/>
              </a:spcBef>
              <a:spcAft>
                <a:spcPts val="0"/>
              </a:spcAft>
              <a:buNone/>
            </a:pPr>
            <a:r>
              <a:rPr lang="en-GB" sz="1000">
                <a:solidFill>
                  <a:schemeClr val="dk1"/>
                </a:solidFill>
                <a:latin typeface="Century Gothic"/>
                <a:ea typeface="Century Gothic"/>
                <a:cs typeface="Century Gothic"/>
                <a:sym typeface="Century Gothic"/>
              </a:rPr>
              <a:t>Provide powerful views for  all departments to understand their full finance lifecycle from budgeting to expenses enables accurate planning and effective management</a:t>
            </a:r>
            <a:endParaRPr sz="1000">
              <a:solidFill>
                <a:schemeClr val="dk1"/>
              </a:solidFill>
              <a:latin typeface="Century Gothic"/>
              <a:ea typeface="Century Gothic"/>
              <a:cs typeface="Century Gothic"/>
              <a:sym typeface="Century Gothic"/>
            </a:endParaRPr>
          </a:p>
        </p:txBody>
      </p:sp>
      <p:sp>
        <p:nvSpPr>
          <p:cNvPr id="4253" name="Google Shape;4253;p226"/>
          <p:cNvSpPr/>
          <p:nvPr/>
        </p:nvSpPr>
        <p:spPr>
          <a:xfrm>
            <a:off x="2736757" y="1762750"/>
            <a:ext cx="5971308" cy="464884"/>
          </a:xfrm>
          <a:prstGeom prst="rect">
            <a:avLst/>
          </a:prstGeom>
          <a:solidFill>
            <a:schemeClr val="lt2"/>
          </a:solidFill>
          <a:ln>
            <a:noFill/>
          </a:ln>
        </p:spPr>
        <p:txBody>
          <a:bodyPr anchorCtr="0" anchor="ctr" bIns="91425" lIns="360000" spcFirstLastPara="1" rIns="91425" wrap="square" tIns="91425">
            <a:noAutofit/>
          </a:bodyPr>
          <a:lstStyle/>
          <a:p>
            <a:pPr indent="0" lvl="0" marL="0" marR="0" rtl="0" algn="l">
              <a:spcBef>
                <a:spcPts val="0"/>
              </a:spcBef>
              <a:spcAft>
                <a:spcPts val="0"/>
              </a:spcAft>
              <a:buNone/>
            </a:pPr>
            <a:r>
              <a:rPr lang="en-GB" sz="1000">
                <a:solidFill>
                  <a:schemeClr val="dk1"/>
                </a:solidFill>
                <a:latin typeface="Century Gothic"/>
                <a:ea typeface="Century Gothic"/>
                <a:cs typeface="Century Gothic"/>
                <a:sym typeface="Century Gothic"/>
              </a:rPr>
              <a:t>By delivering detailed financial and performance management information and KPIs management at all levels has a full understanding of their performance and challenges</a:t>
            </a:r>
            <a:endParaRPr sz="1000">
              <a:solidFill>
                <a:schemeClr val="dk1"/>
              </a:solidFill>
              <a:latin typeface="Century Gothic"/>
              <a:ea typeface="Century Gothic"/>
              <a:cs typeface="Century Gothic"/>
              <a:sym typeface="Century Gothic"/>
            </a:endParaRPr>
          </a:p>
        </p:txBody>
      </p:sp>
      <p:sp>
        <p:nvSpPr>
          <p:cNvPr id="4254" name="Google Shape;4254;p226"/>
          <p:cNvSpPr/>
          <p:nvPr/>
        </p:nvSpPr>
        <p:spPr>
          <a:xfrm>
            <a:off x="536133" y="2342820"/>
            <a:ext cx="2422146" cy="464884"/>
          </a:xfrm>
          <a:prstGeom prst="homePlate">
            <a:avLst>
              <a:gd fmla="val 23856" name="adj"/>
            </a:avLst>
          </a:prstGeom>
          <a:solidFill>
            <a:schemeClr val="lt1"/>
          </a:solidFill>
          <a:ln>
            <a:noFill/>
          </a:ln>
        </p:spPr>
        <p:txBody>
          <a:bodyPr anchorCtr="0" anchor="ctr" bIns="91425" lIns="108000" spcFirstLastPara="1" rIns="108000" wrap="square" tIns="91425">
            <a:noAutofit/>
          </a:bodyPr>
          <a:lstStyle/>
          <a:p>
            <a:pPr indent="0" lvl="0" marL="0" marR="0" rtl="0" algn="l">
              <a:spcBef>
                <a:spcPts val="0"/>
              </a:spcBef>
              <a:spcAft>
                <a:spcPts val="0"/>
              </a:spcAft>
              <a:buNone/>
            </a:pPr>
            <a:r>
              <a:t/>
            </a:r>
            <a:endParaRPr b="1" sz="1200">
              <a:solidFill>
                <a:schemeClr val="lt1"/>
              </a:solidFill>
              <a:latin typeface="Century Gothic"/>
              <a:ea typeface="Century Gothic"/>
              <a:cs typeface="Century Gothic"/>
              <a:sym typeface="Century Gothic"/>
            </a:endParaRPr>
          </a:p>
        </p:txBody>
      </p:sp>
      <p:sp>
        <p:nvSpPr>
          <p:cNvPr id="4255" name="Google Shape;4255;p226"/>
          <p:cNvSpPr/>
          <p:nvPr/>
        </p:nvSpPr>
        <p:spPr>
          <a:xfrm>
            <a:off x="528195" y="2922890"/>
            <a:ext cx="2427441" cy="464884"/>
          </a:xfrm>
          <a:prstGeom prst="homePlate">
            <a:avLst>
              <a:gd fmla="val 23856" name="adj"/>
            </a:avLst>
          </a:prstGeom>
          <a:solidFill>
            <a:schemeClr val="lt1"/>
          </a:solidFill>
          <a:ln>
            <a:noFill/>
          </a:ln>
        </p:spPr>
        <p:txBody>
          <a:bodyPr anchorCtr="0" anchor="ctr" bIns="91425" lIns="108000" spcFirstLastPara="1" rIns="228600" wrap="square" tIns="91425">
            <a:noAutofit/>
          </a:bodyPr>
          <a:lstStyle/>
          <a:p>
            <a:pPr indent="0" lvl="0" marL="0" marR="0" rtl="0" algn="l">
              <a:spcBef>
                <a:spcPts val="0"/>
              </a:spcBef>
              <a:spcAft>
                <a:spcPts val="0"/>
              </a:spcAft>
              <a:buNone/>
            </a:pPr>
            <a:r>
              <a:t/>
            </a:r>
            <a:endParaRPr b="1" sz="1200">
              <a:solidFill>
                <a:schemeClr val="lt1"/>
              </a:solidFill>
              <a:latin typeface="Century Gothic"/>
              <a:ea typeface="Century Gothic"/>
              <a:cs typeface="Century Gothic"/>
              <a:sym typeface="Century Gothic"/>
            </a:endParaRPr>
          </a:p>
        </p:txBody>
      </p:sp>
      <p:sp>
        <p:nvSpPr>
          <p:cNvPr id="4256" name="Google Shape;4256;p226"/>
          <p:cNvSpPr/>
          <p:nvPr/>
        </p:nvSpPr>
        <p:spPr>
          <a:xfrm>
            <a:off x="528195" y="3502960"/>
            <a:ext cx="2427441" cy="464884"/>
          </a:xfrm>
          <a:prstGeom prst="homePlate">
            <a:avLst>
              <a:gd fmla="val 23856" name="adj"/>
            </a:avLst>
          </a:prstGeom>
          <a:solidFill>
            <a:schemeClr val="lt1"/>
          </a:solidFill>
          <a:ln>
            <a:noFill/>
          </a:ln>
        </p:spPr>
        <p:txBody>
          <a:bodyPr anchorCtr="0" anchor="ctr" bIns="91425" lIns="108000" spcFirstLastPara="1" rIns="228600" wrap="square" tIns="91425">
            <a:noAutofit/>
          </a:bodyPr>
          <a:lstStyle/>
          <a:p>
            <a:pPr indent="0" lvl="0" marL="0" marR="0" rtl="0" algn="l">
              <a:spcBef>
                <a:spcPts val="0"/>
              </a:spcBef>
              <a:spcAft>
                <a:spcPts val="0"/>
              </a:spcAft>
              <a:buNone/>
            </a:pPr>
            <a:r>
              <a:t/>
            </a:r>
            <a:endParaRPr b="1" sz="1200">
              <a:solidFill>
                <a:schemeClr val="lt1"/>
              </a:solidFill>
              <a:latin typeface="Century Gothic"/>
              <a:ea typeface="Century Gothic"/>
              <a:cs typeface="Century Gothic"/>
              <a:sym typeface="Century Gothic"/>
            </a:endParaRPr>
          </a:p>
        </p:txBody>
      </p:sp>
      <p:sp>
        <p:nvSpPr>
          <p:cNvPr id="4257" name="Google Shape;4257;p226"/>
          <p:cNvSpPr/>
          <p:nvPr/>
        </p:nvSpPr>
        <p:spPr>
          <a:xfrm>
            <a:off x="528196" y="4083028"/>
            <a:ext cx="2427440" cy="464884"/>
          </a:xfrm>
          <a:prstGeom prst="homePlate">
            <a:avLst>
              <a:gd fmla="val 23856" name="adj"/>
            </a:avLst>
          </a:prstGeom>
          <a:solidFill>
            <a:schemeClr val="lt1"/>
          </a:solidFill>
          <a:ln>
            <a:noFill/>
          </a:ln>
        </p:spPr>
        <p:txBody>
          <a:bodyPr anchorCtr="0" anchor="ctr" bIns="91425" lIns="108000" spcFirstLastPara="1" rIns="228600" wrap="square" tIns="91425">
            <a:noAutofit/>
          </a:bodyPr>
          <a:lstStyle/>
          <a:p>
            <a:pPr indent="0" lvl="0" marL="0" marR="0" rtl="0" algn="l">
              <a:spcBef>
                <a:spcPts val="0"/>
              </a:spcBef>
              <a:spcAft>
                <a:spcPts val="0"/>
              </a:spcAft>
              <a:buNone/>
            </a:pPr>
            <a:r>
              <a:t/>
            </a:r>
            <a:endParaRPr b="1" sz="1200">
              <a:solidFill>
                <a:schemeClr val="lt1"/>
              </a:solidFill>
              <a:latin typeface="Century Gothic"/>
              <a:ea typeface="Century Gothic"/>
              <a:cs typeface="Century Gothic"/>
              <a:sym typeface="Century Gothic"/>
            </a:endParaRPr>
          </a:p>
        </p:txBody>
      </p:sp>
      <p:sp>
        <p:nvSpPr>
          <p:cNvPr id="4258" name="Google Shape;4258;p226"/>
          <p:cNvSpPr/>
          <p:nvPr/>
        </p:nvSpPr>
        <p:spPr>
          <a:xfrm>
            <a:off x="536133" y="1762750"/>
            <a:ext cx="2422146" cy="464884"/>
          </a:xfrm>
          <a:prstGeom prst="homePlate">
            <a:avLst>
              <a:gd fmla="val 23856" name="adj"/>
            </a:avLst>
          </a:prstGeom>
          <a:solidFill>
            <a:schemeClr val="lt1"/>
          </a:solidFill>
          <a:ln>
            <a:noFill/>
          </a:ln>
        </p:spPr>
        <p:txBody>
          <a:bodyPr anchorCtr="0" anchor="ctr" bIns="91425" lIns="108000" spcFirstLastPara="1" rIns="108000" wrap="square" tIns="91425">
            <a:noAutofit/>
          </a:bodyPr>
          <a:lstStyle/>
          <a:p>
            <a:pPr indent="0" lvl="0" marL="0" marR="0" rtl="0" algn="l">
              <a:spcBef>
                <a:spcPts val="0"/>
              </a:spcBef>
              <a:spcAft>
                <a:spcPts val="0"/>
              </a:spcAft>
              <a:buNone/>
            </a:pPr>
            <a:r>
              <a:t/>
            </a:r>
            <a:endParaRPr b="1" sz="1200">
              <a:solidFill>
                <a:srgbClr val="FFFFFF"/>
              </a:solidFill>
              <a:latin typeface="Century Gothic"/>
              <a:ea typeface="Century Gothic"/>
              <a:cs typeface="Century Gothic"/>
              <a:sym typeface="Century Gothic"/>
            </a:endParaRPr>
          </a:p>
        </p:txBody>
      </p:sp>
      <p:sp>
        <p:nvSpPr>
          <p:cNvPr id="4259" name="Google Shape;4259;p226"/>
          <p:cNvSpPr txBox="1"/>
          <p:nvPr>
            <p:ph type="title"/>
          </p:nvPr>
        </p:nvSpPr>
        <p:spPr>
          <a:xfrm>
            <a:off x="477879" y="-384527"/>
            <a:ext cx="6579691" cy="126400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Value of Finance &amp; Performance</a:t>
            </a:r>
            <a:br>
              <a:rPr lang="en-GB"/>
            </a:br>
            <a:r>
              <a:rPr lang="en-GB"/>
              <a:t>Management</a:t>
            </a:r>
            <a:endParaRPr/>
          </a:p>
        </p:txBody>
      </p:sp>
      <p:sp>
        <p:nvSpPr>
          <p:cNvPr id="4260" name="Google Shape;4260;p226"/>
          <p:cNvSpPr/>
          <p:nvPr/>
        </p:nvSpPr>
        <p:spPr>
          <a:xfrm>
            <a:off x="481013" y="2342819"/>
            <a:ext cx="2422146" cy="464884"/>
          </a:xfrm>
          <a:prstGeom prst="homePlate">
            <a:avLst>
              <a:gd fmla="val 23856" name="adj"/>
            </a:avLst>
          </a:prstGeom>
          <a:solidFill>
            <a:srgbClr val="EC881D"/>
          </a:solidFill>
          <a:ln>
            <a:noFill/>
          </a:ln>
        </p:spPr>
        <p:txBody>
          <a:bodyPr anchorCtr="0" anchor="ctr" bIns="91425" lIns="108000" spcFirstLastPara="1" rIns="108000" wrap="square" tIns="91425">
            <a:noAutofit/>
          </a:bodyPr>
          <a:lstStyle/>
          <a:p>
            <a:pPr indent="0" lvl="0" marL="0" marR="0" rtl="0" algn="l">
              <a:spcBef>
                <a:spcPts val="0"/>
              </a:spcBef>
              <a:spcAft>
                <a:spcPts val="0"/>
              </a:spcAft>
              <a:buNone/>
            </a:pPr>
            <a:r>
              <a:rPr b="1" lang="en-GB" sz="1200">
                <a:solidFill>
                  <a:schemeClr val="lt1"/>
                </a:solidFill>
                <a:latin typeface="Century Gothic"/>
                <a:ea typeface="Century Gothic"/>
                <a:cs typeface="Century Gothic"/>
                <a:sym typeface="Century Gothic"/>
              </a:rPr>
              <a:t>Compliance</a:t>
            </a:r>
            <a:endParaRPr b="1" sz="1200">
              <a:solidFill>
                <a:schemeClr val="lt1"/>
              </a:solidFill>
              <a:latin typeface="Century Gothic"/>
              <a:ea typeface="Century Gothic"/>
              <a:cs typeface="Century Gothic"/>
              <a:sym typeface="Century Gothic"/>
            </a:endParaRPr>
          </a:p>
        </p:txBody>
      </p:sp>
      <p:sp>
        <p:nvSpPr>
          <p:cNvPr id="4261" name="Google Shape;4261;p226"/>
          <p:cNvSpPr/>
          <p:nvPr/>
        </p:nvSpPr>
        <p:spPr>
          <a:xfrm>
            <a:off x="473075" y="2922889"/>
            <a:ext cx="2427441" cy="464884"/>
          </a:xfrm>
          <a:prstGeom prst="homePlate">
            <a:avLst>
              <a:gd fmla="val 23856" name="adj"/>
            </a:avLst>
          </a:prstGeom>
          <a:solidFill>
            <a:srgbClr val="EC881D"/>
          </a:solidFill>
          <a:ln>
            <a:noFill/>
          </a:ln>
        </p:spPr>
        <p:txBody>
          <a:bodyPr anchorCtr="0" anchor="ctr" bIns="91425" lIns="108000" spcFirstLastPara="1" rIns="228600" wrap="square" tIns="91425">
            <a:noAutofit/>
          </a:bodyPr>
          <a:lstStyle/>
          <a:p>
            <a:pPr indent="0" lvl="0" marL="0" marR="0" rtl="0" algn="l">
              <a:spcBef>
                <a:spcPts val="0"/>
              </a:spcBef>
              <a:spcAft>
                <a:spcPts val="0"/>
              </a:spcAft>
              <a:buNone/>
            </a:pPr>
            <a:r>
              <a:rPr b="1" lang="en-GB" sz="1200">
                <a:solidFill>
                  <a:schemeClr val="lt1"/>
                </a:solidFill>
                <a:latin typeface="Century Gothic"/>
                <a:ea typeface="Century Gothic"/>
                <a:cs typeface="Century Gothic"/>
                <a:sym typeface="Century Gothic"/>
              </a:rPr>
              <a:t>ROI driven</a:t>
            </a:r>
            <a:endParaRPr b="1" sz="1200">
              <a:solidFill>
                <a:schemeClr val="lt1"/>
              </a:solidFill>
              <a:latin typeface="Century Gothic"/>
              <a:ea typeface="Century Gothic"/>
              <a:cs typeface="Century Gothic"/>
              <a:sym typeface="Century Gothic"/>
            </a:endParaRPr>
          </a:p>
        </p:txBody>
      </p:sp>
      <p:sp>
        <p:nvSpPr>
          <p:cNvPr id="4262" name="Google Shape;4262;p226"/>
          <p:cNvSpPr/>
          <p:nvPr/>
        </p:nvSpPr>
        <p:spPr>
          <a:xfrm>
            <a:off x="473075" y="3502959"/>
            <a:ext cx="2427441" cy="464884"/>
          </a:xfrm>
          <a:prstGeom prst="homePlate">
            <a:avLst>
              <a:gd fmla="val 23856" name="adj"/>
            </a:avLst>
          </a:prstGeom>
          <a:solidFill>
            <a:srgbClr val="EC881D"/>
          </a:solidFill>
          <a:ln>
            <a:noFill/>
          </a:ln>
        </p:spPr>
        <p:txBody>
          <a:bodyPr anchorCtr="0" anchor="ctr" bIns="91425" lIns="108000" spcFirstLastPara="1" rIns="228600" wrap="square" tIns="91425">
            <a:noAutofit/>
          </a:bodyPr>
          <a:lstStyle/>
          <a:p>
            <a:pPr indent="0" lvl="0" marL="0" marR="0" rtl="0" algn="l">
              <a:spcBef>
                <a:spcPts val="0"/>
              </a:spcBef>
              <a:spcAft>
                <a:spcPts val="0"/>
              </a:spcAft>
              <a:buNone/>
            </a:pPr>
            <a:r>
              <a:rPr b="1" lang="en-GB" sz="1200">
                <a:solidFill>
                  <a:schemeClr val="lt1"/>
                </a:solidFill>
                <a:latin typeface="Century Gothic"/>
                <a:ea typeface="Century Gothic"/>
                <a:cs typeface="Century Gothic"/>
                <a:sym typeface="Century Gothic"/>
              </a:rPr>
              <a:t>Speed</a:t>
            </a:r>
            <a:endParaRPr b="1" sz="1200">
              <a:solidFill>
                <a:schemeClr val="lt1"/>
              </a:solidFill>
              <a:latin typeface="Century Gothic"/>
              <a:ea typeface="Century Gothic"/>
              <a:cs typeface="Century Gothic"/>
              <a:sym typeface="Century Gothic"/>
            </a:endParaRPr>
          </a:p>
        </p:txBody>
      </p:sp>
      <p:sp>
        <p:nvSpPr>
          <p:cNvPr id="4263" name="Google Shape;4263;p226"/>
          <p:cNvSpPr/>
          <p:nvPr/>
        </p:nvSpPr>
        <p:spPr>
          <a:xfrm>
            <a:off x="473076" y="4083027"/>
            <a:ext cx="2427440" cy="464884"/>
          </a:xfrm>
          <a:prstGeom prst="homePlate">
            <a:avLst>
              <a:gd fmla="val 23856" name="adj"/>
            </a:avLst>
          </a:prstGeom>
          <a:solidFill>
            <a:srgbClr val="EC881D"/>
          </a:solidFill>
          <a:ln>
            <a:noFill/>
          </a:ln>
        </p:spPr>
        <p:txBody>
          <a:bodyPr anchorCtr="0" anchor="ctr" bIns="91425" lIns="108000" spcFirstLastPara="1" rIns="228600" wrap="square" tIns="91425">
            <a:noAutofit/>
          </a:bodyPr>
          <a:lstStyle/>
          <a:p>
            <a:pPr indent="0" lvl="0" marL="0" marR="0" rtl="0" algn="l">
              <a:spcBef>
                <a:spcPts val="0"/>
              </a:spcBef>
              <a:spcAft>
                <a:spcPts val="0"/>
              </a:spcAft>
              <a:buNone/>
            </a:pPr>
            <a:r>
              <a:rPr b="1" lang="en-GB" sz="1200">
                <a:solidFill>
                  <a:schemeClr val="lt1"/>
                </a:solidFill>
                <a:latin typeface="Century Gothic"/>
                <a:ea typeface="Century Gothic"/>
                <a:cs typeface="Century Gothic"/>
                <a:sym typeface="Century Gothic"/>
              </a:rPr>
              <a:t>Comprehensive </a:t>
            </a:r>
            <a:br>
              <a:rPr b="1" lang="en-GB" sz="1200">
                <a:solidFill>
                  <a:schemeClr val="lt1"/>
                </a:solidFill>
                <a:latin typeface="Century Gothic"/>
                <a:ea typeface="Century Gothic"/>
                <a:cs typeface="Century Gothic"/>
                <a:sym typeface="Century Gothic"/>
              </a:rPr>
            </a:br>
            <a:r>
              <a:rPr b="1" lang="en-GB" sz="1200">
                <a:solidFill>
                  <a:schemeClr val="lt1"/>
                </a:solidFill>
                <a:latin typeface="Century Gothic"/>
                <a:ea typeface="Century Gothic"/>
                <a:cs typeface="Century Gothic"/>
                <a:sym typeface="Century Gothic"/>
              </a:rPr>
              <a:t>Spend Management</a:t>
            </a:r>
            <a:endParaRPr b="1" sz="1200">
              <a:solidFill>
                <a:schemeClr val="lt1"/>
              </a:solidFill>
              <a:latin typeface="Century Gothic"/>
              <a:ea typeface="Century Gothic"/>
              <a:cs typeface="Century Gothic"/>
              <a:sym typeface="Century Gothic"/>
            </a:endParaRPr>
          </a:p>
        </p:txBody>
      </p:sp>
      <p:sp>
        <p:nvSpPr>
          <p:cNvPr id="4264" name="Google Shape;4264;p226"/>
          <p:cNvSpPr/>
          <p:nvPr/>
        </p:nvSpPr>
        <p:spPr>
          <a:xfrm>
            <a:off x="481013" y="1762749"/>
            <a:ext cx="2422146" cy="464884"/>
          </a:xfrm>
          <a:prstGeom prst="homePlate">
            <a:avLst>
              <a:gd fmla="val 23856" name="adj"/>
            </a:avLst>
          </a:prstGeom>
          <a:solidFill>
            <a:srgbClr val="EC881D"/>
          </a:solidFill>
          <a:ln>
            <a:noFill/>
          </a:ln>
        </p:spPr>
        <p:txBody>
          <a:bodyPr anchorCtr="0" anchor="ctr" bIns="91425" lIns="108000" spcFirstLastPara="1" rIns="108000" wrap="square" tIns="91425">
            <a:noAutofit/>
          </a:bodyPr>
          <a:lstStyle/>
          <a:p>
            <a:pPr indent="0" lvl="0" marL="0" marR="0" rtl="0" algn="l">
              <a:spcBef>
                <a:spcPts val="0"/>
              </a:spcBef>
              <a:spcAft>
                <a:spcPts val="0"/>
              </a:spcAft>
              <a:buNone/>
            </a:pPr>
            <a:r>
              <a:rPr b="1" lang="en-GB" sz="1200">
                <a:solidFill>
                  <a:schemeClr val="lt1"/>
                </a:solidFill>
                <a:latin typeface="Century Gothic"/>
                <a:ea typeface="Century Gothic"/>
                <a:cs typeface="Century Gothic"/>
                <a:sym typeface="Century Gothic"/>
              </a:rPr>
              <a:t>Clarity and transparency</a:t>
            </a:r>
            <a:endParaRPr b="1" sz="1200">
              <a:solidFill>
                <a:srgbClr val="FFFFFF"/>
              </a:solidFill>
              <a:latin typeface="Century Gothic"/>
              <a:ea typeface="Century Gothic"/>
              <a:cs typeface="Century Gothic"/>
              <a:sym typeface="Century Gothic"/>
            </a:endParaRPr>
          </a:p>
        </p:txBody>
      </p:sp>
      <p:sp>
        <p:nvSpPr>
          <p:cNvPr id="4265" name="Google Shape;4265;p226"/>
          <p:cNvSpPr/>
          <p:nvPr/>
        </p:nvSpPr>
        <p:spPr>
          <a:xfrm>
            <a:off x="475559" y="1011610"/>
            <a:ext cx="8232506" cy="702078"/>
          </a:xfrm>
          <a:prstGeom prst="rect">
            <a:avLst/>
          </a:prstGeom>
          <a:solidFill>
            <a:srgbClr val="005AA4"/>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rPr lang="en-GB" sz="1200">
                <a:solidFill>
                  <a:srgbClr val="FFFFFF"/>
                </a:solidFill>
                <a:latin typeface="Century Gothic"/>
                <a:ea typeface="Century Gothic"/>
                <a:cs typeface="Century Gothic"/>
                <a:sym typeface="Century Gothic"/>
              </a:rPr>
              <a:t>A well-delivered Finance function does much more than closing the books. The information, insights and direction which they provide delivers real value to the organisation and helps to drive revenue, improve efficiency, reduce costs, and drive performance.</a:t>
            </a:r>
            <a:endParaRPr sz="1200">
              <a:solidFill>
                <a:srgbClr val="FFFFFF"/>
              </a:solidFill>
              <a:latin typeface="Century Gothic"/>
              <a:ea typeface="Century Gothic"/>
              <a:cs typeface="Century Gothic"/>
              <a:sym typeface="Century Gothic"/>
            </a:endParaRPr>
          </a:p>
        </p:txBody>
      </p:sp>
      <p:sp>
        <p:nvSpPr>
          <p:cNvPr id="4266" name="Google Shape;4266;p226">
            <a:hlinkClick action="ppaction://hlinksldjump" r:id="rId3"/>
          </p:cNvPr>
          <p:cNvSpPr/>
          <p:nvPr/>
        </p:nvSpPr>
        <p:spPr>
          <a:xfrm>
            <a:off x="6515100" y="-196501"/>
            <a:ext cx="2777392" cy="378533"/>
          </a:xfrm>
          <a:prstGeom prst="roundRect">
            <a:avLst>
              <a:gd fmla="val 50000" name="adj"/>
            </a:avLst>
          </a:prstGeom>
          <a:solidFill>
            <a:schemeClr val="accent1"/>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Finance &amp; Performance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0" name="Shape 4270"/>
        <p:cNvGrpSpPr/>
        <p:nvPr/>
      </p:nvGrpSpPr>
      <p:grpSpPr>
        <a:xfrm>
          <a:off x="0" y="0"/>
          <a:ext cx="0" cy="0"/>
          <a:chOff x="0" y="0"/>
          <a:chExt cx="0" cy="0"/>
        </a:xfrm>
      </p:grpSpPr>
      <p:sp>
        <p:nvSpPr>
          <p:cNvPr id="4271" name="Google Shape;4271;p227"/>
          <p:cNvSpPr/>
          <p:nvPr/>
        </p:nvSpPr>
        <p:spPr>
          <a:xfrm>
            <a:off x="7772401" y="-368299"/>
            <a:ext cx="1503273" cy="5054600"/>
          </a:xfrm>
          <a:prstGeom prst="roundRect">
            <a:avLst>
              <a:gd fmla="val 3493" name="adj"/>
            </a:avLst>
          </a:prstGeom>
          <a:solidFill>
            <a:srgbClr val="FFFFFF"/>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pic>
        <p:nvPicPr>
          <p:cNvPr descr="BIZ-1062-L.jpg" id="4272" name="Google Shape;4272;p227"/>
          <p:cNvPicPr preferRelativeResize="0"/>
          <p:nvPr/>
        </p:nvPicPr>
        <p:blipFill rotWithShape="1">
          <a:blip r:embed="rId3">
            <a:alphaModFix/>
          </a:blip>
          <a:srcRect b="0" l="14523" r="10674" t="0"/>
          <a:stretch/>
        </p:blipFill>
        <p:spPr>
          <a:xfrm>
            <a:off x="5549900" y="957793"/>
            <a:ext cx="3594100" cy="2402415"/>
          </a:xfrm>
          <a:prstGeom prst="rect">
            <a:avLst/>
          </a:prstGeom>
          <a:noFill/>
          <a:ln>
            <a:noFill/>
          </a:ln>
        </p:spPr>
      </p:pic>
      <p:sp>
        <p:nvSpPr>
          <p:cNvPr id="4273" name="Google Shape;4273;p227"/>
          <p:cNvSpPr txBox="1"/>
          <p:nvPr>
            <p:ph idx="1" type="body"/>
          </p:nvPr>
        </p:nvSpPr>
        <p:spPr>
          <a:xfrm>
            <a:off x="467360" y="852530"/>
            <a:ext cx="4830354" cy="3344033"/>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0079DB"/>
              </a:buClr>
              <a:buSzPts val="1800"/>
              <a:buNone/>
            </a:pPr>
            <a:r>
              <a:rPr lang="en-GB">
                <a:solidFill>
                  <a:srgbClr val="0079DB"/>
                </a:solidFill>
              </a:rPr>
              <a:t>How – Capabilities</a:t>
            </a:r>
            <a:endParaRPr b="1">
              <a:solidFill>
                <a:schemeClr val="accent1"/>
              </a:solidFill>
            </a:endParaRPr>
          </a:p>
          <a:p>
            <a:pPr indent="-169863" lvl="0" marL="169863" rtl="0" algn="l">
              <a:lnSpc>
                <a:spcPct val="95000"/>
              </a:lnSpc>
              <a:spcBef>
                <a:spcPts val="800"/>
              </a:spcBef>
              <a:spcAft>
                <a:spcPts val="0"/>
              </a:spcAft>
              <a:buClr>
                <a:schemeClr val="dk1"/>
              </a:buClr>
              <a:buSzPts val="1400"/>
              <a:buChar char="•"/>
            </a:pPr>
            <a:r>
              <a:rPr lang="en-GB" sz="1400"/>
              <a:t>Integration of data from across the enterprise including financial data which is auditable, traceable and reconcilable to the financial and source systems.</a:t>
            </a:r>
            <a:endParaRPr/>
          </a:p>
          <a:p>
            <a:pPr indent="-169863" lvl="0" marL="169863" rtl="0" algn="l">
              <a:lnSpc>
                <a:spcPct val="95000"/>
              </a:lnSpc>
              <a:spcBef>
                <a:spcPts val="600"/>
              </a:spcBef>
              <a:spcAft>
                <a:spcPts val="0"/>
              </a:spcAft>
              <a:buClr>
                <a:schemeClr val="dk1"/>
              </a:buClr>
              <a:buSzPts val="1400"/>
              <a:buChar char="•"/>
            </a:pPr>
            <a:r>
              <a:rPr lang="en-GB" sz="1400"/>
              <a:t>Granular level data sets which enable a consistent, bottoms-up approach and can provide multi-dimensional views of the enterprise.</a:t>
            </a:r>
            <a:endParaRPr/>
          </a:p>
          <a:p>
            <a:pPr indent="-169863" lvl="0" marL="169863" rtl="0" algn="l">
              <a:lnSpc>
                <a:spcPct val="95000"/>
              </a:lnSpc>
              <a:spcBef>
                <a:spcPts val="600"/>
              </a:spcBef>
              <a:spcAft>
                <a:spcPts val="0"/>
              </a:spcAft>
              <a:buClr>
                <a:schemeClr val="dk1"/>
              </a:buClr>
              <a:buSzPts val="1400"/>
              <a:buChar char="•"/>
            </a:pPr>
            <a:r>
              <a:rPr lang="en-GB" sz="1400"/>
              <a:t>Development of calculations and business rules which can be leveraged in reporting, profitability modelling, statistical analysis and downstream applications such as pricing models.</a:t>
            </a:r>
            <a:endParaRPr/>
          </a:p>
          <a:p>
            <a:pPr indent="-169863" lvl="0" marL="169863" rtl="0" algn="l">
              <a:lnSpc>
                <a:spcPct val="95000"/>
              </a:lnSpc>
              <a:spcBef>
                <a:spcPts val="600"/>
              </a:spcBef>
              <a:spcAft>
                <a:spcPts val="0"/>
              </a:spcAft>
              <a:buClr>
                <a:schemeClr val="dk1"/>
              </a:buClr>
              <a:buSzPts val="1400"/>
              <a:buChar char="•"/>
            </a:pPr>
            <a:r>
              <a:rPr lang="en-GB" sz="1400"/>
              <a:t>Reporting, dashboards and scorecards which effectively measure and communicate performance.</a:t>
            </a:r>
            <a:endParaRPr/>
          </a:p>
          <a:p>
            <a:pPr indent="-169863" lvl="0" marL="169863" rtl="0" algn="l">
              <a:lnSpc>
                <a:spcPct val="95000"/>
              </a:lnSpc>
              <a:spcBef>
                <a:spcPts val="600"/>
              </a:spcBef>
              <a:spcAft>
                <a:spcPts val="0"/>
              </a:spcAft>
              <a:buClr>
                <a:schemeClr val="dk1"/>
              </a:buClr>
              <a:buSzPts val="1400"/>
              <a:buChar char="•"/>
            </a:pPr>
            <a:r>
              <a:rPr lang="en-GB" sz="1400"/>
              <a:t>High degrees of automation and efficiency to reduce cost to serve, and enable resources to be focused on value-added activities.</a:t>
            </a:r>
            <a:endParaRPr sz="1400"/>
          </a:p>
        </p:txBody>
      </p:sp>
      <p:sp>
        <p:nvSpPr>
          <p:cNvPr id="4274" name="Google Shape;4274;p227"/>
          <p:cNvSpPr txBox="1"/>
          <p:nvPr>
            <p:ph type="title"/>
          </p:nvPr>
        </p:nvSpPr>
        <p:spPr>
          <a:xfrm>
            <a:off x="477880" y="238539"/>
            <a:ext cx="5435240" cy="639821"/>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chemeClr val="accent1"/>
              </a:buClr>
              <a:buSzPts val="2000"/>
              <a:buFont typeface="Century Gothic"/>
              <a:buNone/>
            </a:pPr>
            <a:r>
              <a:rPr lang="en-GB" sz="2000"/>
              <a:t>Finance &amp; Performance Management</a:t>
            </a:r>
            <a:endParaRPr sz="2000"/>
          </a:p>
        </p:txBody>
      </p:sp>
      <p:sp>
        <p:nvSpPr>
          <p:cNvPr id="4275" name="Google Shape;4275;p227">
            <a:hlinkClick action="ppaction://hlinksldjump" r:id="rId4"/>
          </p:cNvPr>
          <p:cNvSpPr/>
          <p:nvPr/>
        </p:nvSpPr>
        <p:spPr>
          <a:xfrm>
            <a:off x="6515100" y="-196501"/>
            <a:ext cx="2777392" cy="378533"/>
          </a:xfrm>
          <a:prstGeom prst="roundRect">
            <a:avLst>
              <a:gd fmla="val 50000" name="adj"/>
            </a:avLst>
          </a:prstGeom>
          <a:solidFill>
            <a:schemeClr val="accent1"/>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Finance &amp; Performance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9" name="Shape 4279"/>
        <p:cNvGrpSpPr/>
        <p:nvPr/>
      </p:nvGrpSpPr>
      <p:grpSpPr>
        <a:xfrm>
          <a:off x="0" y="0"/>
          <a:ext cx="0" cy="0"/>
          <a:chOff x="0" y="0"/>
          <a:chExt cx="0" cy="0"/>
        </a:xfrm>
      </p:grpSpPr>
      <p:sp>
        <p:nvSpPr>
          <p:cNvPr id="4280" name="Google Shape;4280;p228"/>
          <p:cNvSpPr txBox="1"/>
          <p:nvPr>
            <p:ph idx="1" type="body"/>
          </p:nvPr>
        </p:nvSpPr>
        <p:spPr>
          <a:xfrm>
            <a:off x="0" y="2168451"/>
            <a:ext cx="9144000" cy="806631"/>
          </a:xfrm>
          <a:prstGeom prst="rect">
            <a:avLst/>
          </a:prstGeom>
          <a:solidFill>
            <a:schemeClr val="lt1"/>
          </a:solidFill>
          <a:ln>
            <a:noFill/>
          </a:ln>
        </p:spPr>
        <p:txBody>
          <a:bodyPr anchorCtr="1" anchor="ctr" bIns="45700" lIns="457200" spcFirstLastPara="1" rIns="457200" wrap="square" tIns="45700">
            <a:noAutofit/>
          </a:bodyPr>
          <a:lstStyle/>
          <a:p>
            <a:pPr indent="0" lvl="0" marL="0" rtl="0" algn="ctr">
              <a:lnSpc>
                <a:spcPct val="110000"/>
              </a:lnSpc>
              <a:spcBef>
                <a:spcPts val="0"/>
              </a:spcBef>
              <a:spcAft>
                <a:spcPts val="0"/>
              </a:spcAft>
              <a:buClr>
                <a:schemeClr val="accent1"/>
              </a:buClr>
              <a:buSzPts val="2200"/>
              <a:buFont typeface="Century Gothic"/>
              <a:buNone/>
            </a:pPr>
            <a:r>
              <a:rPr lang="en-GB"/>
              <a:t>Finance and Performance Management</a:t>
            </a:r>
            <a:br>
              <a:rPr lang="en-GB"/>
            </a:br>
            <a:r>
              <a:rPr lang="en-GB"/>
              <a:t>Capabilities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4" name="Shape 4284"/>
        <p:cNvGrpSpPr/>
        <p:nvPr/>
      </p:nvGrpSpPr>
      <p:grpSpPr>
        <a:xfrm>
          <a:off x="0" y="0"/>
          <a:ext cx="0" cy="0"/>
          <a:chOff x="0" y="0"/>
          <a:chExt cx="0" cy="0"/>
        </a:xfrm>
      </p:grpSpPr>
      <p:pic>
        <p:nvPicPr>
          <p:cNvPr descr="RS920_BIZ-1070-H-2.jpg" id="4285" name="Google Shape;4285;p229"/>
          <p:cNvPicPr preferRelativeResize="0"/>
          <p:nvPr/>
        </p:nvPicPr>
        <p:blipFill rotWithShape="1">
          <a:blip r:embed="rId3">
            <a:alphaModFix/>
          </a:blip>
          <a:srcRect b="12714" l="45835" r="13504" t="0"/>
          <a:stretch/>
        </p:blipFill>
        <p:spPr>
          <a:xfrm>
            <a:off x="5549900" y="0"/>
            <a:ext cx="3594100" cy="5143500"/>
          </a:xfrm>
          <a:prstGeom prst="rect">
            <a:avLst/>
          </a:prstGeom>
          <a:noFill/>
          <a:ln>
            <a:noFill/>
          </a:ln>
        </p:spPr>
      </p:pic>
      <p:sp>
        <p:nvSpPr>
          <p:cNvPr id="4286" name="Google Shape;4286;p229"/>
          <p:cNvSpPr txBox="1"/>
          <p:nvPr>
            <p:ph idx="1" type="body"/>
          </p:nvPr>
        </p:nvSpPr>
        <p:spPr>
          <a:xfrm>
            <a:off x="455485" y="2100943"/>
            <a:ext cx="4662784" cy="2573768"/>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0079DB"/>
              </a:buClr>
              <a:buSzPts val="1800"/>
              <a:buNone/>
            </a:pPr>
            <a:r>
              <a:rPr lang="en-GB">
                <a:solidFill>
                  <a:srgbClr val="0079DB"/>
                </a:solidFill>
              </a:rPr>
              <a:t>Why is it important?</a:t>
            </a:r>
            <a:endParaRPr b="1">
              <a:solidFill>
                <a:schemeClr val="accent1"/>
              </a:solidFill>
            </a:endParaRPr>
          </a:p>
          <a:p>
            <a:pPr indent="-169863" lvl="0" marL="169863" rtl="0" algn="l">
              <a:lnSpc>
                <a:spcPct val="95000"/>
              </a:lnSpc>
              <a:spcBef>
                <a:spcPts val="200"/>
              </a:spcBef>
              <a:spcAft>
                <a:spcPts val="0"/>
              </a:spcAft>
              <a:buClr>
                <a:schemeClr val="dk1"/>
              </a:buClr>
              <a:buSzPts val="1200"/>
              <a:buChar char="•"/>
            </a:pPr>
            <a:r>
              <a:rPr lang="en-GB" sz="1200"/>
              <a:t>Stakeholders are making decisions based on the quality of the financial information, whether internal or external</a:t>
            </a:r>
            <a:endParaRPr/>
          </a:p>
          <a:p>
            <a:pPr indent="-169863" lvl="0" marL="169863" rtl="0" algn="l">
              <a:lnSpc>
                <a:spcPct val="95000"/>
              </a:lnSpc>
              <a:spcBef>
                <a:spcPts val="600"/>
              </a:spcBef>
              <a:spcAft>
                <a:spcPts val="0"/>
              </a:spcAft>
              <a:buClr>
                <a:schemeClr val="dk1"/>
              </a:buClr>
              <a:buSzPts val="1200"/>
              <a:buChar char="•"/>
            </a:pPr>
            <a:r>
              <a:rPr lang="en-GB" sz="1200"/>
              <a:t>Management must respond quickly to changing market conditions</a:t>
            </a:r>
            <a:endParaRPr/>
          </a:p>
          <a:p>
            <a:pPr indent="-169863" lvl="0" marL="169863" rtl="0" algn="l">
              <a:lnSpc>
                <a:spcPct val="95000"/>
              </a:lnSpc>
              <a:spcBef>
                <a:spcPts val="600"/>
              </a:spcBef>
              <a:spcAft>
                <a:spcPts val="0"/>
              </a:spcAft>
              <a:buClr>
                <a:schemeClr val="dk1"/>
              </a:buClr>
              <a:buSzPts val="1200"/>
              <a:buChar char="•"/>
            </a:pPr>
            <a:r>
              <a:rPr lang="en-GB" sz="1200"/>
              <a:t>Improved timeliness of data, traceable  and auditable to the general ledger</a:t>
            </a:r>
            <a:endParaRPr/>
          </a:p>
          <a:p>
            <a:pPr indent="-169863" lvl="0" marL="169863" rtl="0" algn="l">
              <a:lnSpc>
                <a:spcPct val="95000"/>
              </a:lnSpc>
              <a:spcBef>
                <a:spcPts val="600"/>
              </a:spcBef>
              <a:spcAft>
                <a:spcPts val="0"/>
              </a:spcAft>
              <a:buClr>
                <a:schemeClr val="dk1"/>
              </a:buClr>
              <a:buSzPts val="1200"/>
              <a:buChar char="•"/>
            </a:pPr>
            <a:r>
              <a:rPr lang="en-GB" sz="1200"/>
              <a:t>Improved data governance and data quality will result in better transparency, reliability and credibility</a:t>
            </a:r>
            <a:endParaRPr/>
          </a:p>
          <a:p>
            <a:pPr indent="-169863" lvl="0" marL="169863" rtl="0" algn="l">
              <a:lnSpc>
                <a:spcPct val="95000"/>
              </a:lnSpc>
              <a:spcBef>
                <a:spcPts val="600"/>
              </a:spcBef>
              <a:spcAft>
                <a:spcPts val="0"/>
              </a:spcAft>
              <a:buClr>
                <a:schemeClr val="dk1"/>
              </a:buClr>
              <a:buSzPts val="1200"/>
              <a:buChar char="•"/>
            </a:pPr>
            <a:r>
              <a:rPr lang="en-GB" sz="1200"/>
              <a:t>Accounting operating costs are reduced</a:t>
            </a:r>
            <a:endParaRPr/>
          </a:p>
          <a:p>
            <a:pPr indent="-169863" lvl="0" marL="169863" rtl="0" algn="l">
              <a:lnSpc>
                <a:spcPct val="95000"/>
              </a:lnSpc>
              <a:spcBef>
                <a:spcPts val="600"/>
              </a:spcBef>
              <a:spcAft>
                <a:spcPts val="0"/>
              </a:spcAft>
              <a:buClr>
                <a:schemeClr val="dk1"/>
              </a:buClr>
              <a:buSzPts val="1200"/>
              <a:buChar char="•"/>
            </a:pPr>
            <a:r>
              <a:rPr lang="en-GB" sz="1200"/>
              <a:t>Spend more time analyzing versus acquiring and cleansing data</a:t>
            </a:r>
            <a:endParaRPr/>
          </a:p>
        </p:txBody>
      </p:sp>
      <p:sp>
        <p:nvSpPr>
          <p:cNvPr id="4287" name="Google Shape;4287;p229"/>
          <p:cNvSpPr txBox="1"/>
          <p:nvPr>
            <p:ph type="title"/>
          </p:nvPr>
        </p:nvSpPr>
        <p:spPr>
          <a:xfrm>
            <a:off x="477880" y="174273"/>
            <a:ext cx="5435240" cy="704088"/>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Accounting Operations and Close</a:t>
            </a:r>
            <a:br>
              <a:rPr lang="en-GB"/>
            </a:br>
            <a:endParaRPr/>
          </a:p>
        </p:txBody>
      </p:sp>
      <p:sp>
        <p:nvSpPr>
          <p:cNvPr id="4288" name="Google Shape;4288;p229">
            <a:hlinkClick action="ppaction://hlinksldjump" r:id="rId4"/>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Accounting Operations and Close</a:t>
            </a:r>
            <a:endParaRPr sz="750">
              <a:solidFill>
                <a:schemeClr val="lt1"/>
              </a:solidFill>
              <a:latin typeface="Century Gothic"/>
              <a:ea typeface="Century Gothic"/>
              <a:cs typeface="Century Gothic"/>
              <a:sym typeface="Century Gothic"/>
            </a:endParaRPr>
          </a:p>
        </p:txBody>
      </p:sp>
      <p:sp>
        <p:nvSpPr>
          <p:cNvPr id="4289" name="Google Shape;4289;p229"/>
          <p:cNvSpPr/>
          <p:nvPr/>
        </p:nvSpPr>
        <p:spPr>
          <a:xfrm>
            <a:off x="1" y="769691"/>
            <a:ext cx="7205662" cy="1160709"/>
          </a:xfrm>
          <a:prstGeom prst="rect">
            <a:avLst/>
          </a:prstGeom>
          <a:solidFill>
            <a:srgbClr val="005AA4"/>
          </a:solidFill>
          <a:ln>
            <a:noFill/>
          </a:ln>
          <a:effectLst>
            <a:outerShdw blurRad="50800" rotWithShape="0" algn="tl" dir="2700000" dist="38100">
              <a:srgbClr val="000000">
                <a:alpha val="40000"/>
              </a:srgbClr>
            </a:outerShdw>
          </a:effectLst>
        </p:spPr>
        <p:txBody>
          <a:bodyPr anchorCtr="0" anchor="ctr" bIns="91425" lIns="91425" spcFirstLastPara="1" rIns="91425" wrap="square" tIns="91425">
            <a:noAutofit/>
          </a:bodyPr>
          <a:lstStyle/>
          <a:p>
            <a:pPr indent="0" lvl="1" marL="406400" marR="0" rtl="0" algn="l">
              <a:spcBef>
                <a:spcPts val="0"/>
              </a:spcBef>
              <a:spcAft>
                <a:spcPts val="0"/>
              </a:spcAft>
              <a:buNone/>
            </a:pPr>
            <a:r>
              <a:rPr b="0" i="0" lang="en-GB" sz="1400" u="none" cap="none" strike="noStrike">
                <a:solidFill>
                  <a:schemeClr val="lt1"/>
                </a:solidFill>
                <a:latin typeface="Century Gothic"/>
                <a:ea typeface="Century Gothic"/>
                <a:cs typeface="Century Gothic"/>
                <a:sym typeface="Century Gothic"/>
              </a:rPr>
              <a:t>In an economic environment characterized by uncertainty and volatility, </a:t>
            </a:r>
            <a:br>
              <a:rPr b="0" i="0" lang="en-GB" sz="1400" u="none" cap="none" strike="noStrike">
                <a:solidFill>
                  <a:schemeClr val="lt1"/>
                </a:solidFill>
                <a:latin typeface="Century Gothic"/>
                <a:ea typeface="Century Gothic"/>
                <a:cs typeface="Century Gothic"/>
                <a:sym typeface="Century Gothic"/>
              </a:rPr>
            </a:br>
            <a:r>
              <a:rPr b="0" i="0" lang="en-GB" sz="1400" u="none" cap="none" strike="noStrike">
                <a:solidFill>
                  <a:schemeClr val="lt1"/>
                </a:solidFill>
                <a:latin typeface="Century Gothic"/>
                <a:ea typeface="Century Gothic"/>
                <a:cs typeface="Century Gothic"/>
                <a:sym typeface="Century Gothic"/>
              </a:rPr>
              <a:t>the quality of the financial close assumes even greater importance as an indicator of a company's financial excellence.</a:t>
            </a:r>
            <a:endParaRPr b="0" i="0" sz="14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4" name="Shape 4294"/>
        <p:cNvGrpSpPr/>
        <p:nvPr/>
      </p:nvGrpSpPr>
      <p:grpSpPr>
        <a:xfrm>
          <a:off x="0" y="0"/>
          <a:ext cx="0" cy="0"/>
          <a:chOff x="0" y="0"/>
          <a:chExt cx="0" cy="0"/>
        </a:xfrm>
      </p:grpSpPr>
      <p:pic>
        <p:nvPicPr>
          <p:cNvPr descr="RS920_BIZ-1070-H-2.jpg" id="4295" name="Google Shape;4295;p230"/>
          <p:cNvPicPr preferRelativeResize="0"/>
          <p:nvPr/>
        </p:nvPicPr>
        <p:blipFill rotWithShape="1">
          <a:blip r:embed="rId3">
            <a:alphaModFix/>
          </a:blip>
          <a:srcRect b="12714" l="45835" r="13504" t="0"/>
          <a:stretch/>
        </p:blipFill>
        <p:spPr>
          <a:xfrm>
            <a:off x="5549900" y="0"/>
            <a:ext cx="3594100" cy="5143500"/>
          </a:xfrm>
          <a:prstGeom prst="rect">
            <a:avLst/>
          </a:prstGeom>
          <a:noFill/>
          <a:ln>
            <a:noFill/>
          </a:ln>
        </p:spPr>
      </p:pic>
      <p:sp>
        <p:nvSpPr>
          <p:cNvPr id="4296" name="Google Shape;4296;p230"/>
          <p:cNvSpPr txBox="1"/>
          <p:nvPr>
            <p:ph type="title"/>
          </p:nvPr>
        </p:nvSpPr>
        <p:spPr>
          <a:xfrm>
            <a:off x="477880" y="-384527"/>
            <a:ext cx="8401960" cy="126400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Accounting Operations and Close</a:t>
            </a:r>
            <a:br>
              <a:rPr lang="en-GB"/>
            </a:br>
            <a:r>
              <a:rPr lang="en-GB"/>
              <a:t>Business Challenges</a:t>
            </a:r>
            <a:endParaRPr/>
          </a:p>
        </p:txBody>
      </p:sp>
      <p:sp>
        <p:nvSpPr>
          <p:cNvPr id="4297" name="Google Shape;4297;p230">
            <a:hlinkClick action="ppaction://hlinksldjump" r:id="rId4"/>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Accounting Operations and Close</a:t>
            </a:r>
            <a:endParaRPr sz="750">
              <a:solidFill>
                <a:schemeClr val="lt1"/>
              </a:solidFill>
              <a:latin typeface="Century Gothic"/>
              <a:ea typeface="Century Gothic"/>
              <a:cs typeface="Century Gothic"/>
              <a:sym typeface="Century Gothic"/>
            </a:endParaRPr>
          </a:p>
        </p:txBody>
      </p:sp>
      <p:sp>
        <p:nvSpPr>
          <p:cNvPr id="4298" name="Google Shape;4298;p230"/>
          <p:cNvSpPr/>
          <p:nvPr/>
        </p:nvSpPr>
        <p:spPr>
          <a:xfrm>
            <a:off x="475559" y="1076925"/>
            <a:ext cx="8264697" cy="838769"/>
          </a:xfrm>
          <a:prstGeom prst="rect">
            <a:avLst/>
          </a:prstGeom>
          <a:solidFill>
            <a:srgbClr val="005AA4"/>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rPr b="1" lang="en-GB" sz="1400">
                <a:solidFill>
                  <a:srgbClr val="FFFFFF"/>
                </a:solidFill>
                <a:latin typeface="Century Gothic"/>
                <a:ea typeface="Century Gothic"/>
                <a:cs typeface="Century Gothic"/>
                <a:sym typeface="Century Gothic"/>
              </a:rPr>
              <a:t>Overall challenge: </a:t>
            </a:r>
            <a:r>
              <a:rPr lang="en-GB" sz="1200">
                <a:solidFill>
                  <a:srgbClr val="FFFFFF"/>
                </a:solidFill>
                <a:latin typeface="Century Gothic"/>
                <a:ea typeface="Century Gothic"/>
                <a:cs typeface="Century Gothic"/>
                <a:sym typeface="Century Gothic"/>
              </a:rPr>
              <a:t>Optimize the accounting process to ensure that accurate financial information is available on a timely basis and is reconcilable and traceable to the source data </a:t>
            </a:r>
            <a:endParaRPr/>
          </a:p>
        </p:txBody>
      </p:sp>
      <p:sp>
        <p:nvSpPr>
          <p:cNvPr id="4299" name="Google Shape;4299;p230"/>
          <p:cNvSpPr/>
          <p:nvPr/>
        </p:nvSpPr>
        <p:spPr>
          <a:xfrm>
            <a:off x="3670300" y="4066286"/>
            <a:ext cx="5069957" cy="680400"/>
          </a:xfrm>
          <a:prstGeom prst="rect">
            <a:avLst/>
          </a:prstGeom>
          <a:solidFill>
            <a:srgbClr val="D8D8D8"/>
          </a:solidFill>
          <a:ln>
            <a:noFill/>
          </a:ln>
        </p:spPr>
        <p:txBody>
          <a:bodyPr anchorCtr="0" anchor="ctr" bIns="91425" lIns="432000" spcFirstLastPara="1" rIns="91425" wrap="square" tIns="90000">
            <a:noAutofit/>
          </a:bodyPr>
          <a:lstStyle/>
          <a:p>
            <a:pPr indent="0" lvl="0" marL="0" marR="0" rtl="0" algn="l">
              <a:spcBef>
                <a:spcPts val="0"/>
              </a:spcBef>
              <a:spcAft>
                <a:spcPts val="0"/>
              </a:spcAft>
              <a:buNone/>
            </a:pPr>
            <a:r>
              <a:rPr lang="en-GB" sz="1000">
                <a:solidFill>
                  <a:schemeClr val="dk1"/>
                </a:solidFill>
                <a:latin typeface="Century Gothic"/>
                <a:ea typeface="Century Gothic"/>
                <a:cs typeface="Century Gothic"/>
                <a:sym typeface="Century Gothic"/>
              </a:rPr>
              <a:t>The CFO is tasked with ensuring that the financial data is accurate and reliable.   In order to accomplish this, strict data governance and compliance measurements must be implemented to guarantee the regulatory rules are followed.</a:t>
            </a:r>
            <a:endParaRPr/>
          </a:p>
        </p:txBody>
      </p:sp>
      <p:sp>
        <p:nvSpPr>
          <p:cNvPr id="4300" name="Google Shape;4300;p230"/>
          <p:cNvSpPr/>
          <p:nvPr/>
        </p:nvSpPr>
        <p:spPr>
          <a:xfrm>
            <a:off x="3670300" y="3369173"/>
            <a:ext cx="5069957" cy="680400"/>
          </a:xfrm>
          <a:prstGeom prst="rect">
            <a:avLst/>
          </a:prstGeom>
          <a:solidFill>
            <a:schemeClr val="lt2"/>
          </a:solidFill>
          <a:ln>
            <a:noFill/>
          </a:ln>
        </p:spPr>
        <p:txBody>
          <a:bodyPr anchorCtr="0" anchor="ctr" bIns="91425" lIns="432000" spcFirstLastPara="1" rIns="91425" wrap="square" tIns="90000">
            <a:noAutofit/>
          </a:bodyPr>
          <a:lstStyle/>
          <a:p>
            <a:pPr indent="0" lvl="0" marL="0" marR="0" rtl="0" algn="l">
              <a:spcBef>
                <a:spcPts val="0"/>
              </a:spcBef>
              <a:spcAft>
                <a:spcPts val="0"/>
              </a:spcAft>
              <a:buNone/>
            </a:pPr>
            <a:r>
              <a:rPr lang="en-GB" sz="1000">
                <a:solidFill>
                  <a:srgbClr val="3C3C3B"/>
                </a:solidFill>
                <a:latin typeface="Century Gothic"/>
                <a:ea typeface="Century Gothic"/>
                <a:cs typeface="Century Gothic"/>
                <a:sym typeface="Century Gothic"/>
              </a:rPr>
              <a:t>Visibility into the financial performance of the business is a critical component for making better business decisions.  The finance group must provide the most useful KPI’s and measurements to  monitor and improve business performance.</a:t>
            </a:r>
            <a:endParaRPr/>
          </a:p>
        </p:txBody>
      </p:sp>
      <p:sp>
        <p:nvSpPr>
          <p:cNvPr id="4301" name="Google Shape;4301;p230"/>
          <p:cNvSpPr/>
          <p:nvPr/>
        </p:nvSpPr>
        <p:spPr>
          <a:xfrm>
            <a:off x="565150" y="4066286"/>
            <a:ext cx="3417247" cy="680400"/>
          </a:xfrm>
          <a:prstGeom prst="homePlate">
            <a:avLst>
              <a:gd fmla="val 23856" name="adj"/>
            </a:avLst>
          </a:prstGeom>
          <a:solidFill>
            <a:schemeClr val="lt1"/>
          </a:solidFill>
          <a:ln>
            <a:noFill/>
          </a:ln>
        </p:spPr>
        <p:txBody>
          <a:bodyPr anchorCtr="0" anchor="ctr" bIns="91425" lIns="91425" spcFirstLastPara="1" rIns="228600" wrap="square" tIns="91425">
            <a:noAutofit/>
          </a:bodyPr>
          <a:lstStyle/>
          <a:p>
            <a:pPr indent="0" lvl="0" marL="0" marR="0" rtl="0" algn="r">
              <a:spcBef>
                <a:spcPts val="0"/>
              </a:spcBef>
              <a:spcAft>
                <a:spcPts val="0"/>
              </a:spcAft>
              <a:buNone/>
            </a:pPr>
            <a:r>
              <a:t/>
            </a:r>
            <a:endParaRPr b="1" sz="1200">
              <a:solidFill>
                <a:srgbClr val="FFFFFF"/>
              </a:solidFill>
              <a:latin typeface="Century Gothic"/>
              <a:ea typeface="Century Gothic"/>
              <a:cs typeface="Century Gothic"/>
              <a:sym typeface="Century Gothic"/>
            </a:endParaRPr>
          </a:p>
        </p:txBody>
      </p:sp>
      <p:sp>
        <p:nvSpPr>
          <p:cNvPr id="4302" name="Google Shape;4302;p230"/>
          <p:cNvSpPr/>
          <p:nvPr/>
        </p:nvSpPr>
        <p:spPr>
          <a:xfrm>
            <a:off x="3670300" y="2667087"/>
            <a:ext cx="5069957" cy="680400"/>
          </a:xfrm>
          <a:prstGeom prst="rect">
            <a:avLst/>
          </a:prstGeom>
          <a:solidFill>
            <a:srgbClr val="D8D8D8"/>
          </a:solidFill>
          <a:ln>
            <a:noFill/>
          </a:ln>
        </p:spPr>
        <p:txBody>
          <a:bodyPr anchorCtr="0" anchor="ctr" bIns="91425" lIns="432000" spcFirstLastPara="1" rIns="91425" wrap="square" tIns="90000">
            <a:noAutofit/>
          </a:bodyPr>
          <a:lstStyle/>
          <a:p>
            <a:pPr indent="0" lvl="0" marL="0" marR="0" rtl="0" algn="l">
              <a:spcBef>
                <a:spcPts val="0"/>
              </a:spcBef>
              <a:spcAft>
                <a:spcPts val="0"/>
              </a:spcAft>
              <a:buNone/>
            </a:pPr>
            <a:r>
              <a:rPr lang="en-GB" sz="1000">
                <a:solidFill>
                  <a:srgbClr val="3C3C3B"/>
                </a:solidFill>
                <a:latin typeface="Century Gothic"/>
                <a:ea typeface="Century Gothic"/>
                <a:cs typeface="Century Gothic"/>
                <a:sym typeface="Century Gothic"/>
              </a:rPr>
              <a:t>Business leaders are relying on the finance group to provide financially sound strategic insights their strategic planning process.  They rely on the finance team to be knowledgeable not only about the financial data, but also about the business process for their functional areas.</a:t>
            </a:r>
            <a:endParaRPr/>
          </a:p>
        </p:txBody>
      </p:sp>
      <p:sp>
        <p:nvSpPr>
          <p:cNvPr id="4303" name="Google Shape;4303;p230"/>
          <p:cNvSpPr/>
          <p:nvPr/>
        </p:nvSpPr>
        <p:spPr>
          <a:xfrm>
            <a:off x="565150" y="2667088"/>
            <a:ext cx="3417247" cy="680400"/>
          </a:xfrm>
          <a:prstGeom prst="homePlate">
            <a:avLst>
              <a:gd fmla="val 23856" name="adj"/>
            </a:avLst>
          </a:prstGeom>
          <a:solidFill>
            <a:schemeClr val="lt1"/>
          </a:solidFill>
          <a:ln>
            <a:noFill/>
          </a:ln>
        </p:spPr>
        <p:txBody>
          <a:bodyPr anchorCtr="0" anchor="ctr" bIns="91425" lIns="91425" spcFirstLastPara="1" rIns="228600" wrap="square" tIns="91425">
            <a:noAutofit/>
          </a:bodyPr>
          <a:lstStyle/>
          <a:p>
            <a:pPr indent="0" lvl="0" marL="0" marR="0" rtl="0" algn="r">
              <a:spcBef>
                <a:spcPts val="0"/>
              </a:spcBef>
              <a:spcAft>
                <a:spcPts val="0"/>
              </a:spcAft>
              <a:buNone/>
            </a:pPr>
            <a:r>
              <a:t/>
            </a:r>
            <a:endParaRPr b="1" sz="1200">
              <a:solidFill>
                <a:srgbClr val="FFFFFF"/>
              </a:solidFill>
              <a:latin typeface="Century Gothic"/>
              <a:ea typeface="Century Gothic"/>
              <a:cs typeface="Century Gothic"/>
              <a:sym typeface="Century Gothic"/>
            </a:endParaRPr>
          </a:p>
        </p:txBody>
      </p:sp>
      <p:sp>
        <p:nvSpPr>
          <p:cNvPr id="4304" name="Google Shape;4304;p230"/>
          <p:cNvSpPr/>
          <p:nvPr/>
        </p:nvSpPr>
        <p:spPr>
          <a:xfrm>
            <a:off x="488950" y="2667088"/>
            <a:ext cx="3417247" cy="680400"/>
          </a:xfrm>
          <a:prstGeom prst="homePlate">
            <a:avLst>
              <a:gd fmla="val 23856" name="adj"/>
            </a:avLst>
          </a:prstGeom>
          <a:solidFill>
            <a:srgbClr val="EC881D"/>
          </a:solidFill>
          <a:ln>
            <a:noFill/>
          </a:ln>
        </p:spPr>
        <p:txBody>
          <a:bodyPr anchorCtr="0" anchor="ctr" bIns="91425" lIns="360000" spcFirstLastPara="1" rIns="228600" wrap="square" tIns="91425">
            <a:noAutofit/>
          </a:bodyPr>
          <a:lstStyle/>
          <a:p>
            <a:pPr indent="0" lvl="0" marL="0" marR="0" rtl="0" algn="l">
              <a:spcBef>
                <a:spcPts val="0"/>
              </a:spcBef>
              <a:spcAft>
                <a:spcPts val="0"/>
              </a:spcAft>
              <a:buNone/>
            </a:pPr>
            <a:r>
              <a:rPr b="1" lang="en-GB" sz="1200">
                <a:solidFill>
                  <a:srgbClr val="FFFFFF"/>
                </a:solidFill>
                <a:latin typeface="Century Gothic"/>
                <a:ea typeface="Century Gothic"/>
                <a:cs typeface="Century Gothic"/>
                <a:sym typeface="Century Gothic"/>
              </a:rPr>
              <a:t>Provide Strategic Inputs into Enterprise Strategy</a:t>
            </a:r>
            <a:endParaRPr/>
          </a:p>
        </p:txBody>
      </p:sp>
      <p:sp>
        <p:nvSpPr>
          <p:cNvPr id="4305" name="Google Shape;4305;p230"/>
          <p:cNvSpPr/>
          <p:nvPr/>
        </p:nvSpPr>
        <p:spPr>
          <a:xfrm>
            <a:off x="3670299" y="1962831"/>
            <a:ext cx="5069957" cy="680400"/>
          </a:xfrm>
          <a:prstGeom prst="rect">
            <a:avLst/>
          </a:prstGeom>
          <a:solidFill>
            <a:srgbClr val="D8D8D8"/>
          </a:solidFill>
          <a:ln>
            <a:noFill/>
          </a:ln>
        </p:spPr>
        <p:txBody>
          <a:bodyPr anchorCtr="0" anchor="ctr" bIns="91425" lIns="432000" spcFirstLastPara="1" rIns="91425" wrap="square" tIns="90000">
            <a:noAutofit/>
          </a:bodyPr>
          <a:lstStyle/>
          <a:p>
            <a:pPr indent="0" lvl="0" marL="0" marR="0" rtl="0" algn="l">
              <a:spcBef>
                <a:spcPts val="0"/>
              </a:spcBef>
              <a:spcAft>
                <a:spcPts val="0"/>
              </a:spcAft>
              <a:buNone/>
            </a:pPr>
            <a:r>
              <a:rPr lang="en-GB" sz="1000">
                <a:solidFill>
                  <a:schemeClr val="dk1"/>
                </a:solidFill>
                <a:latin typeface="Century Gothic"/>
                <a:ea typeface="Century Gothic"/>
                <a:cs typeface="Century Gothic"/>
                <a:sym typeface="Century Gothic"/>
              </a:rPr>
              <a:t>Functional leaders are demanding more frequent access to financial data to justify their decision making process.  This requires accurate financial detailed data be available to the business users on a timely basis.</a:t>
            </a:r>
            <a:endParaRPr sz="1000">
              <a:solidFill>
                <a:srgbClr val="3C3C3B"/>
              </a:solidFill>
              <a:latin typeface="Century Gothic"/>
              <a:ea typeface="Century Gothic"/>
              <a:cs typeface="Century Gothic"/>
              <a:sym typeface="Century Gothic"/>
            </a:endParaRPr>
          </a:p>
        </p:txBody>
      </p:sp>
      <p:sp>
        <p:nvSpPr>
          <p:cNvPr id="4306" name="Google Shape;4306;p230"/>
          <p:cNvSpPr/>
          <p:nvPr/>
        </p:nvSpPr>
        <p:spPr>
          <a:xfrm>
            <a:off x="565149" y="1962832"/>
            <a:ext cx="3417247" cy="680400"/>
          </a:xfrm>
          <a:prstGeom prst="homePlate">
            <a:avLst>
              <a:gd fmla="val 23856" name="adj"/>
            </a:avLst>
          </a:prstGeom>
          <a:solidFill>
            <a:schemeClr val="lt1"/>
          </a:solidFill>
          <a:ln>
            <a:noFill/>
          </a:ln>
        </p:spPr>
        <p:txBody>
          <a:bodyPr anchorCtr="0" anchor="ctr" bIns="91425" lIns="91425" spcFirstLastPara="1" rIns="228600" wrap="square" tIns="91425">
            <a:noAutofit/>
          </a:bodyPr>
          <a:lstStyle/>
          <a:p>
            <a:pPr indent="0" lvl="0" marL="0" marR="0" rtl="0" algn="r">
              <a:spcBef>
                <a:spcPts val="0"/>
              </a:spcBef>
              <a:spcAft>
                <a:spcPts val="0"/>
              </a:spcAft>
              <a:buNone/>
            </a:pPr>
            <a:r>
              <a:t/>
            </a:r>
            <a:endParaRPr b="1" sz="1200">
              <a:solidFill>
                <a:srgbClr val="FFFFFF"/>
              </a:solidFill>
              <a:latin typeface="Century Gothic"/>
              <a:ea typeface="Century Gothic"/>
              <a:cs typeface="Century Gothic"/>
              <a:sym typeface="Century Gothic"/>
            </a:endParaRPr>
          </a:p>
        </p:txBody>
      </p:sp>
      <p:sp>
        <p:nvSpPr>
          <p:cNvPr id="4307" name="Google Shape;4307;p230"/>
          <p:cNvSpPr/>
          <p:nvPr/>
        </p:nvSpPr>
        <p:spPr>
          <a:xfrm>
            <a:off x="488949" y="1962832"/>
            <a:ext cx="3417247" cy="680400"/>
          </a:xfrm>
          <a:prstGeom prst="homePlate">
            <a:avLst>
              <a:gd fmla="val 23856" name="adj"/>
            </a:avLst>
          </a:prstGeom>
          <a:solidFill>
            <a:srgbClr val="EC881D"/>
          </a:solidFill>
          <a:ln>
            <a:noFill/>
          </a:ln>
        </p:spPr>
        <p:txBody>
          <a:bodyPr anchorCtr="0" anchor="ctr" bIns="91425" lIns="360000" spcFirstLastPara="1" rIns="228600" wrap="square" tIns="91425">
            <a:noAutofit/>
          </a:bodyPr>
          <a:lstStyle/>
          <a:p>
            <a:pPr indent="0" lvl="0" marL="0" marR="0" rtl="0" algn="l">
              <a:spcBef>
                <a:spcPts val="0"/>
              </a:spcBef>
              <a:spcAft>
                <a:spcPts val="0"/>
              </a:spcAft>
              <a:buNone/>
            </a:pPr>
            <a:r>
              <a:rPr b="1" lang="en-GB" sz="1200">
                <a:solidFill>
                  <a:srgbClr val="FFFFFF"/>
                </a:solidFill>
                <a:latin typeface="Century Gothic"/>
                <a:ea typeface="Century Gothic"/>
                <a:cs typeface="Century Gothic"/>
                <a:sym typeface="Century Gothic"/>
              </a:rPr>
              <a:t>Improved Decision Making</a:t>
            </a:r>
            <a:endParaRPr/>
          </a:p>
        </p:txBody>
      </p:sp>
      <p:sp>
        <p:nvSpPr>
          <p:cNvPr id="4308" name="Google Shape;4308;p230"/>
          <p:cNvSpPr/>
          <p:nvPr/>
        </p:nvSpPr>
        <p:spPr>
          <a:xfrm>
            <a:off x="488950" y="4066286"/>
            <a:ext cx="3417247" cy="680400"/>
          </a:xfrm>
          <a:prstGeom prst="homePlate">
            <a:avLst>
              <a:gd fmla="val 23856" name="adj"/>
            </a:avLst>
          </a:prstGeom>
          <a:solidFill>
            <a:srgbClr val="EC881D"/>
          </a:solidFill>
          <a:ln>
            <a:noFill/>
          </a:ln>
        </p:spPr>
        <p:txBody>
          <a:bodyPr anchorCtr="0" anchor="ctr" bIns="91425" lIns="360000" spcFirstLastPara="1" rIns="228600" wrap="square" tIns="91425">
            <a:noAutofit/>
          </a:bodyPr>
          <a:lstStyle/>
          <a:p>
            <a:pPr indent="0" lvl="0" marL="0" marR="0" rtl="0" algn="l">
              <a:spcBef>
                <a:spcPts val="0"/>
              </a:spcBef>
              <a:spcAft>
                <a:spcPts val="0"/>
              </a:spcAft>
              <a:buNone/>
            </a:pPr>
            <a:r>
              <a:rPr b="1" lang="en-GB" sz="1200">
                <a:solidFill>
                  <a:srgbClr val="FFFFFF"/>
                </a:solidFill>
                <a:latin typeface="Century Gothic"/>
                <a:ea typeface="Century Gothic"/>
                <a:cs typeface="Century Gothic"/>
                <a:sym typeface="Century Gothic"/>
              </a:rPr>
              <a:t>Manage Data Governance and Compliance</a:t>
            </a:r>
            <a:endParaRPr/>
          </a:p>
        </p:txBody>
      </p:sp>
      <p:sp>
        <p:nvSpPr>
          <p:cNvPr id="4309" name="Google Shape;4309;p230"/>
          <p:cNvSpPr/>
          <p:nvPr/>
        </p:nvSpPr>
        <p:spPr>
          <a:xfrm>
            <a:off x="565150" y="3369174"/>
            <a:ext cx="3417247" cy="680400"/>
          </a:xfrm>
          <a:prstGeom prst="homePlate">
            <a:avLst>
              <a:gd fmla="val 23856" name="adj"/>
            </a:avLst>
          </a:prstGeom>
          <a:solidFill>
            <a:schemeClr val="lt1"/>
          </a:solidFill>
          <a:ln>
            <a:noFill/>
          </a:ln>
        </p:spPr>
        <p:txBody>
          <a:bodyPr anchorCtr="0" anchor="ctr" bIns="91425" lIns="91425" spcFirstLastPara="1" rIns="228600" wrap="square" tIns="91425">
            <a:noAutofit/>
          </a:bodyPr>
          <a:lstStyle/>
          <a:p>
            <a:pPr indent="0" lvl="0" marL="0" marR="0" rtl="0" algn="r">
              <a:spcBef>
                <a:spcPts val="0"/>
              </a:spcBef>
              <a:spcAft>
                <a:spcPts val="0"/>
              </a:spcAft>
              <a:buNone/>
            </a:pPr>
            <a:r>
              <a:t/>
            </a:r>
            <a:endParaRPr b="1" sz="1200">
              <a:solidFill>
                <a:srgbClr val="FFFFFF"/>
              </a:solidFill>
              <a:latin typeface="Century Gothic"/>
              <a:ea typeface="Century Gothic"/>
              <a:cs typeface="Century Gothic"/>
              <a:sym typeface="Century Gothic"/>
            </a:endParaRPr>
          </a:p>
        </p:txBody>
      </p:sp>
      <p:sp>
        <p:nvSpPr>
          <p:cNvPr id="4310" name="Google Shape;4310;p230"/>
          <p:cNvSpPr/>
          <p:nvPr/>
        </p:nvSpPr>
        <p:spPr>
          <a:xfrm>
            <a:off x="488950" y="3369174"/>
            <a:ext cx="3417247" cy="680400"/>
          </a:xfrm>
          <a:prstGeom prst="homePlate">
            <a:avLst>
              <a:gd fmla="val 23856" name="adj"/>
            </a:avLst>
          </a:prstGeom>
          <a:solidFill>
            <a:srgbClr val="EC881D"/>
          </a:solidFill>
          <a:ln>
            <a:noFill/>
          </a:ln>
        </p:spPr>
        <p:txBody>
          <a:bodyPr anchorCtr="0" anchor="ctr" bIns="91425" lIns="360000" spcFirstLastPara="1" rIns="228600" wrap="square" tIns="91425">
            <a:noAutofit/>
          </a:bodyPr>
          <a:lstStyle/>
          <a:p>
            <a:pPr indent="0" lvl="0" marL="0" marR="0" rtl="0" algn="l">
              <a:spcBef>
                <a:spcPts val="0"/>
              </a:spcBef>
              <a:spcAft>
                <a:spcPts val="0"/>
              </a:spcAft>
              <a:buNone/>
            </a:pPr>
            <a:r>
              <a:rPr b="1" lang="en-GB" sz="1200">
                <a:solidFill>
                  <a:srgbClr val="FFFFFF"/>
                </a:solidFill>
                <a:latin typeface="Century Gothic"/>
                <a:ea typeface="Century Gothic"/>
                <a:cs typeface="Century Gothic"/>
                <a:sym typeface="Century Gothic"/>
              </a:rPr>
              <a:t>Measure and Monitor Business Performance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4" name="Shape 4314"/>
        <p:cNvGrpSpPr/>
        <p:nvPr/>
      </p:nvGrpSpPr>
      <p:grpSpPr>
        <a:xfrm>
          <a:off x="0" y="0"/>
          <a:ext cx="0" cy="0"/>
          <a:chOff x="0" y="0"/>
          <a:chExt cx="0" cy="0"/>
        </a:xfrm>
      </p:grpSpPr>
      <p:sp>
        <p:nvSpPr>
          <p:cNvPr id="4315" name="Google Shape;4315;p231"/>
          <p:cNvSpPr txBox="1"/>
          <p:nvPr>
            <p:ph type="title"/>
          </p:nvPr>
        </p:nvSpPr>
        <p:spPr>
          <a:xfrm>
            <a:off x="477880" y="174273"/>
            <a:ext cx="5435240" cy="704088"/>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Accounting Operations and Close</a:t>
            </a:r>
            <a:endParaRPr/>
          </a:p>
        </p:txBody>
      </p:sp>
      <p:sp>
        <p:nvSpPr>
          <p:cNvPr id="4316" name="Google Shape;4316;p231"/>
          <p:cNvSpPr txBox="1"/>
          <p:nvPr>
            <p:ph idx="4294967295" type="body"/>
          </p:nvPr>
        </p:nvSpPr>
        <p:spPr>
          <a:xfrm>
            <a:off x="288393" y="997338"/>
            <a:ext cx="4831307" cy="3672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600"/>
              <a:buNone/>
            </a:pPr>
            <a:r>
              <a:rPr b="1" lang="en-GB" sz="1600"/>
              <a:t>   </a:t>
            </a:r>
            <a:r>
              <a:rPr lang="en-GB">
                <a:solidFill>
                  <a:schemeClr val="dk2"/>
                </a:solidFill>
              </a:rPr>
              <a:t>Are You Able To…</a:t>
            </a:r>
            <a:br>
              <a:rPr lang="en-GB">
                <a:solidFill>
                  <a:schemeClr val="dk2"/>
                </a:solidFill>
              </a:rPr>
            </a:br>
            <a:endParaRPr>
              <a:solidFill>
                <a:schemeClr val="dk2"/>
              </a:solidFill>
            </a:endParaRPr>
          </a:p>
          <a:p>
            <a:pPr indent="-228600" lvl="1" marL="457200" rtl="0" algn="l">
              <a:lnSpc>
                <a:spcPct val="100000"/>
              </a:lnSpc>
              <a:spcBef>
                <a:spcPts val="0"/>
              </a:spcBef>
              <a:spcAft>
                <a:spcPts val="0"/>
              </a:spcAft>
              <a:buClr>
                <a:schemeClr val="dk1"/>
              </a:buClr>
              <a:buSzPts val="1400"/>
              <a:buChar char="–"/>
            </a:pPr>
            <a:r>
              <a:rPr lang="en-GB" sz="1400"/>
              <a:t>Close your books in a timely fashion which meets your business requirements and SLAs?</a:t>
            </a:r>
            <a:endParaRPr/>
          </a:p>
          <a:p>
            <a:pPr indent="-228600" lvl="1" marL="457200" rtl="0" algn="l">
              <a:lnSpc>
                <a:spcPct val="100000"/>
              </a:lnSpc>
              <a:spcBef>
                <a:spcPts val="600"/>
              </a:spcBef>
              <a:spcAft>
                <a:spcPts val="0"/>
              </a:spcAft>
              <a:buClr>
                <a:schemeClr val="dk1"/>
              </a:buClr>
              <a:buSzPts val="1400"/>
              <a:buChar char="–"/>
            </a:pPr>
            <a:r>
              <a:rPr lang="en-GB" sz="1400"/>
              <a:t>Reconcile your general ledger and sub ledger data at a detail level?</a:t>
            </a:r>
            <a:endParaRPr/>
          </a:p>
          <a:p>
            <a:pPr indent="-228600" lvl="1" marL="457200" rtl="0" algn="l">
              <a:lnSpc>
                <a:spcPct val="100000"/>
              </a:lnSpc>
              <a:spcBef>
                <a:spcPts val="600"/>
              </a:spcBef>
              <a:spcAft>
                <a:spcPts val="0"/>
              </a:spcAft>
              <a:buClr>
                <a:schemeClr val="dk1"/>
              </a:buClr>
              <a:buSzPts val="1400"/>
              <a:buChar char="–"/>
            </a:pPr>
            <a:r>
              <a:rPr lang="en-GB" sz="1400"/>
              <a:t>Have transparency into your non-ERP data and how it is tied to your financial results?</a:t>
            </a:r>
            <a:endParaRPr/>
          </a:p>
          <a:p>
            <a:pPr indent="-228600" lvl="1" marL="457200" rtl="0" algn="l">
              <a:lnSpc>
                <a:spcPct val="100000"/>
              </a:lnSpc>
              <a:spcBef>
                <a:spcPts val="600"/>
              </a:spcBef>
              <a:spcAft>
                <a:spcPts val="0"/>
              </a:spcAft>
              <a:buClr>
                <a:schemeClr val="dk1"/>
              </a:buClr>
              <a:buSzPts val="1400"/>
              <a:buChar char="–"/>
            </a:pPr>
            <a:r>
              <a:rPr lang="en-GB" sz="1400"/>
              <a:t>Consolidate multiple countries, businesses and legal entities that may have differing ERP systems in a timely fashion that is traceable back to the source?</a:t>
            </a:r>
            <a:endParaRPr/>
          </a:p>
          <a:p>
            <a:pPr indent="-228600" lvl="1" marL="457200" rtl="0" algn="l">
              <a:lnSpc>
                <a:spcPct val="100000"/>
              </a:lnSpc>
              <a:spcBef>
                <a:spcPts val="600"/>
              </a:spcBef>
              <a:spcAft>
                <a:spcPts val="0"/>
              </a:spcAft>
              <a:buClr>
                <a:schemeClr val="dk1"/>
              </a:buClr>
              <a:buSzPts val="1400"/>
              <a:buChar char="–"/>
            </a:pPr>
            <a:r>
              <a:rPr lang="en-GB" sz="1400"/>
              <a:t>Actively manage your Accounts Payable and Accounts Receivable to maximise your cash position?</a:t>
            </a:r>
            <a:endParaRPr/>
          </a:p>
        </p:txBody>
      </p:sp>
      <p:sp>
        <p:nvSpPr>
          <p:cNvPr id="4317" name="Google Shape;4317;p231"/>
          <p:cNvSpPr/>
          <p:nvPr/>
        </p:nvSpPr>
        <p:spPr>
          <a:xfrm>
            <a:off x="7772401" y="-368299"/>
            <a:ext cx="1503273" cy="5054600"/>
          </a:xfrm>
          <a:prstGeom prst="roundRect">
            <a:avLst>
              <a:gd fmla="val 3493" name="adj"/>
            </a:avLst>
          </a:prstGeom>
          <a:solidFill>
            <a:srgbClr val="FFFFFF"/>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pic>
        <p:nvPicPr>
          <p:cNvPr id="4318" name="Google Shape;4318;p231"/>
          <p:cNvPicPr preferRelativeResize="0"/>
          <p:nvPr/>
        </p:nvPicPr>
        <p:blipFill rotWithShape="1">
          <a:blip r:embed="rId3">
            <a:alphaModFix/>
          </a:blip>
          <a:srcRect b="0" l="0" r="0" t="0"/>
          <a:stretch/>
        </p:blipFill>
        <p:spPr>
          <a:xfrm>
            <a:off x="5549900" y="967317"/>
            <a:ext cx="3594100" cy="2396066"/>
          </a:xfrm>
          <a:prstGeom prst="rect">
            <a:avLst/>
          </a:prstGeom>
          <a:noFill/>
          <a:ln>
            <a:noFill/>
          </a:ln>
        </p:spPr>
      </p:pic>
      <p:sp>
        <p:nvSpPr>
          <p:cNvPr id="4319" name="Google Shape;4319;p231">
            <a:hlinkClick action="ppaction://hlinksldjump" r:id="rId4"/>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Accounting Operations and Close</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3" name="Shape 4323"/>
        <p:cNvGrpSpPr/>
        <p:nvPr/>
      </p:nvGrpSpPr>
      <p:grpSpPr>
        <a:xfrm>
          <a:off x="0" y="0"/>
          <a:ext cx="0" cy="0"/>
          <a:chOff x="0" y="0"/>
          <a:chExt cx="0" cy="0"/>
        </a:xfrm>
      </p:grpSpPr>
      <p:sp>
        <p:nvSpPr>
          <p:cNvPr id="4324" name="Google Shape;4324;p232"/>
          <p:cNvSpPr/>
          <p:nvPr/>
        </p:nvSpPr>
        <p:spPr>
          <a:xfrm>
            <a:off x="7772401" y="-368299"/>
            <a:ext cx="1503273" cy="5054600"/>
          </a:xfrm>
          <a:prstGeom prst="roundRect">
            <a:avLst>
              <a:gd fmla="val 3493" name="adj"/>
            </a:avLst>
          </a:prstGeom>
          <a:solidFill>
            <a:srgbClr val="FFFFFF"/>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pic>
        <p:nvPicPr>
          <p:cNvPr id="4325" name="Google Shape;4325;p232"/>
          <p:cNvPicPr preferRelativeResize="0"/>
          <p:nvPr/>
        </p:nvPicPr>
        <p:blipFill rotWithShape="1">
          <a:blip r:embed="rId3">
            <a:alphaModFix/>
          </a:blip>
          <a:srcRect b="0" l="0" r="0" t="0"/>
          <a:stretch/>
        </p:blipFill>
        <p:spPr>
          <a:xfrm>
            <a:off x="5549900" y="967317"/>
            <a:ext cx="3594100" cy="2396066"/>
          </a:xfrm>
          <a:prstGeom prst="rect">
            <a:avLst/>
          </a:prstGeom>
          <a:noFill/>
          <a:ln>
            <a:noFill/>
          </a:ln>
        </p:spPr>
      </p:pic>
      <p:sp>
        <p:nvSpPr>
          <p:cNvPr id="4326" name="Google Shape;4326;p232"/>
          <p:cNvSpPr txBox="1"/>
          <p:nvPr>
            <p:ph idx="1" type="body"/>
          </p:nvPr>
        </p:nvSpPr>
        <p:spPr>
          <a:xfrm>
            <a:off x="467360" y="1182730"/>
            <a:ext cx="4830354" cy="3344033"/>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0079DB"/>
              </a:buClr>
              <a:buSzPts val="1800"/>
              <a:buNone/>
            </a:pPr>
            <a:r>
              <a:rPr lang="en-GB">
                <a:solidFill>
                  <a:srgbClr val="0079DB"/>
                </a:solidFill>
              </a:rPr>
              <a:t>How – Capabilities</a:t>
            </a:r>
            <a:br>
              <a:rPr lang="en-GB">
                <a:solidFill>
                  <a:srgbClr val="0079DB"/>
                </a:solidFill>
              </a:rPr>
            </a:br>
            <a:endParaRPr b="1">
              <a:solidFill>
                <a:schemeClr val="accent1"/>
              </a:solidFill>
            </a:endParaRPr>
          </a:p>
          <a:p>
            <a:pPr indent="-169863" lvl="0" marL="169863" rtl="0" algn="l">
              <a:lnSpc>
                <a:spcPct val="100000"/>
              </a:lnSpc>
              <a:spcBef>
                <a:spcPts val="200"/>
              </a:spcBef>
              <a:spcAft>
                <a:spcPts val="0"/>
              </a:spcAft>
              <a:buClr>
                <a:schemeClr val="dk1"/>
              </a:buClr>
              <a:buSzPts val="1400"/>
              <a:buChar char="•"/>
            </a:pPr>
            <a:r>
              <a:rPr lang="en-GB" sz="1400"/>
              <a:t>Billing and account receivable analytics</a:t>
            </a:r>
            <a:endParaRPr/>
          </a:p>
          <a:p>
            <a:pPr indent="-169863" lvl="0" marL="169863" rtl="0" algn="l">
              <a:lnSpc>
                <a:spcPct val="100000"/>
              </a:lnSpc>
              <a:spcBef>
                <a:spcPts val="600"/>
              </a:spcBef>
              <a:spcAft>
                <a:spcPts val="0"/>
              </a:spcAft>
              <a:buClr>
                <a:schemeClr val="dk1"/>
              </a:buClr>
              <a:buSzPts val="1400"/>
              <a:buChar char="•"/>
            </a:pPr>
            <a:r>
              <a:rPr lang="en-GB" sz="1400"/>
              <a:t>Procurement and payment analytics</a:t>
            </a:r>
            <a:endParaRPr/>
          </a:p>
          <a:p>
            <a:pPr indent="-169863" lvl="0" marL="169863" rtl="0" algn="l">
              <a:lnSpc>
                <a:spcPct val="100000"/>
              </a:lnSpc>
              <a:spcBef>
                <a:spcPts val="600"/>
              </a:spcBef>
              <a:spcAft>
                <a:spcPts val="0"/>
              </a:spcAft>
              <a:buClr>
                <a:schemeClr val="dk1"/>
              </a:buClr>
              <a:buSzPts val="1400"/>
              <a:buChar char="•"/>
            </a:pPr>
            <a:r>
              <a:rPr lang="en-GB" sz="1400"/>
              <a:t>Accounting hub for sub-ledger accounting</a:t>
            </a:r>
            <a:endParaRPr/>
          </a:p>
          <a:p>
            <a:pPr indent="-169863" lvl="0" marL="169863" rtl="0" algn="l">
              <a:lnSpc>
                <a:spcPct val="100000"/>
              </a:lnSpc>
              <a:spcBef>
                <a:spcPts val="600"/>
              </a:spcBef>
              <a:spcAft>
                <a:spcPts val="0"/>
              </a:spcAft>
              <a:buClr>
                <a:schemeClr val="dk1"/>
              </a:buClr>
              <a:buSzPts val="1400"/>
              <a:buChar char="•"/>
            </a:pPr>
            <a:r>
              <a:rPr lang="en-GB" sz="1400"/>
              <a:t>Fixed asset utilization optimization</a:t>
            </a:r>
            <a:endParaRPr/>
          </a:p>
          <a:p>
            <a:pPr indent="-169863" lvl="0" marL="169863" rtl="0" algn="l">
              <a:lnSpc>
                <a:spcPct val="100000"/>
              </a:lnSpc>
              <a:spcBef>
                <a:spcPts val="600"/>
              </a:spcBef>
              <a:spcAft>
                <a:spcPts val="0"/>
              </a:spcAft>
              <a:buClr>
                <a:schemeClr val="dk1"/>
              </a:buClr>
              <a:buSzPts val="1400"/>
              <a:buChar char="•"/>
            </a:pPr>
            <a:r>
              <a:rPr lang="en-GB" sz="1400"/>
              <a:t>Reserve analytics</a:t>
            </a:r>
            <a:endParaRPr sz="1400"/>
          </a:p>
          <a:p>
            <a:pPr indent="-169863" lvl="0" marL="169863" rtl="0" algn="l">
              <a:lnSpc>
                <a:spcPct val="100000"/>
              </a:lnSpc>
              <a:spcBef>
                <a:spcPts val="600"/>
              </a:spcBef>
              <a:spcAft>
                <a:spcPts val="0"/>
              </a:spcAft>
              <a:buClr>
                <a:schemeClr val="dk1"/>
              </a:buClr>
              <a:buSzPts val="1400"/>
              <a:buChar char="•"/>
            </a:pPr>
            <a:r>
              <a:rPr lang="en-GB" sz="1400"/>
              <a:t>Reconciliation validation and adjustment reporting</a:t>
            </a:r>
            <a:endParaRPr/>
          </a:p>
          <a:p>
            <a:pPr indent="-169863" lvl="0" marL="169863" rtl="0" algn="l">
              <a:lnSpc>
                <a:spcPct val="100000"/>
              </a:lnSpc>
              <a:spcBef>
                <a:spcPts val="600"/>
              </a:spcBef>
              <a:spcAft>
                <a:spcPts val="0"/>
              </a:spcAft>
              <a:buClr>
                <a:schemeClr val="dk1"/>
              </a:buClr>
              <a:buSzPts val="1400"/>
              <a:buChar char="•"/>
            </a:pPr>
            <a:r>
              <a:rPr lang="en-GB" sz="1400"/>
              <a:t>Financial consolidation and reporting </a:t>
            </a:r>
            <a:endParaRPr/>
          </a:p>
        </p:txBody>
      </p:sp>
      <p:sp>
        <p:nvSpPr>
          <p:cNvPr id="4327" name="Google Shape;4327;p232"/>
          <p:cNvSpPr txBox="1"/>
          <p:nvPr>
            <p:ph type="title"/>
          </p:nvPr>
        </p:nvSpPr>
        <p:spPr>
          <a:xfrm>
            <a:off x="477880" y="174273"/>
            <a:ext cx="5435240" cy="704088"/>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Accounting Operations and Close</a:t>
            </a:r>
            <a:endParaRPr/>
          </a:p>
        </p:txBody>
      </p:sp>
      <p:sp>
        <p:nvSpPr>
          <p:cNvPr id="4328" name="Google Shape;4328;p232">
            <a:hlinkClick action="ppaction://hlinksldjump" r:id="rId4"/>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Accounting Operations and Close</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2" name="Shape 4332"/>
        <p:cNvGrpSpPr/>
        <p:nvPr/>
      </p:nvGrpSpPr>
      <p:grpSpPr>
        <a:xfrm>
          <a:off x="0" y="0"/>
          <a:ext cx="0" cy="0"/>
          <a:chOff x="0" y="0"/>
          <a:chExt cx="0" cy="0"/>
        </a:xfrm>
      </p:grpSpPr>
      <p:pic>
        <p:nvPicPr>
          <p:cNvPr descr="RS920_BIZ-1070-H-2.jpg" id="4333" name="Google Shape;4333;p233"/>
          <p:cNvPicPr preferRelativeResize="0"/>
          <p:nvPr/>
        </p:nvPicPr>
        <p:blipFill rotWithShape="1">
          <a:blip r:embed="rId3">
            <a:alphaModFix/>
          </a:blip>
          <a:srcRect b="12714" l="45835" r="13504" t="0"/>
          <a:stretch/>
        </p:blipFill>
        <p:spPr>
          <a:xfrm>
            <a:off x="5549900" y="0"/>
            <a:ext cx="3594100" cy="5143500"/>
          </a:xfrm>
          <a:prstGeom prst="rect">
            <a:avLst/>
          </a:prstGeom>
          <a:noFill/>
          <a:ln>
            <a:noFill/>
          </a:ln>
        </p:spPr>
      </p:pic>
      <p:sp>
        <p:nvSpPr>
          <p:cNvPr id="4334" name="Google Shape;4334;p233"/>
          <p:cNvSpPr txBox="1"/>
          <p:nvPr>
            <p:ph type="title"/>
          </p:nvPr>
        </p:nvSpPr>
        <p:spPr>
          <a:xfrm>
            <a:off x="477880" y="-384527"/>
            <a:ext cx="5536840" cy="126400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Value of Accounting</a:t>
            </a:r>
            <a:br>
              <a:rPr lang="en-GB"/>
            </a:br>
            <a:r>
              <a:rPr lang="en-GB"/>
              <a:t>Operations and Close</a:t>
            </a:r>
            <a:endParaRPr/>
          </a:p>
        </p:txBody>
      </p:sp>
      <p:grpSp>
        <p:nvGrpSpPr>
          <p:cNvPr id="4335" name="Google Shape;4335;p233"/>
          <p:cNvGrpSpPr/>
          <p:nvPr/>
        </p:nvGrpSpPr>
        <p:grpSpPr>
          <a:xfrm>
            <a:off x="488950" y="1276350"/>
            <a:ext cx="5808183" cy="720000"/>
            <a:chOff x="462442" y="1276350"/>
            <a:chExt cx="5808183" cy="597600"/>
          </a:xfrm>
        </p:grpSpPr>
        <p:sp>
          <p:nvSpPr>
            <p:cNvPr id="4336" name="Google Shape;4336;p233"/>
            <p:cNvSpPr/>
            <p:nvPr/>
          </p:nvSpPr>
          <p:spPr>
            <a:xfrm>
              <a:off x="2600325" y="1276350"/>
              <a:ext cx="3670300" cy="597600"/>
            </a:xfrm>
            <a:prstGeom prst="rect">
              <a:avLst/>
            </a:prstGeom>
            <a:solidFill>
              <a:schemeClr val="lt2"/>
            </a:solidFill>
            <a:ln>
              <a:noFill/>
            </a:ln>
          </p:spPr>
          <p:txBody>
            <a:bodyPr anchorCtr="0" anchor="ctr" bIns="91425" lIns="365750" spcFirstLastPara="1" rIns="91425" wrap="square" tIns="91425">
              <a:noAutofit/>
            </a:bodyPr>
            <a:lstStyle/>
            <a:p>
              <a:pPr indent="0" lvl="0" marL="0" marR="0" rtl="0" algn="l">
                <a:spcBef>
                  <a:spcPts val="0"/>
                </a:spcBef>
                <a:spcAft>
                  <a:spcPts val="0"/>
                </a:spcAft>
                <a:buNone/>
              </a:pPr>
              <a:r>
                <a:rPr lang="en-GB" sz="1000">
                  <a:solidFill>
                    <a:schemeClr val="dk1"/>
                  </a:solidFill>
                  <a:latin typeface="Century Gothic"/>
                  <a:ea typeface="Century Gothic"/>
                  <a:cs typeface="Century Gothic"/>
                  <a:sym typeface="Century Gothic"/>
                </a:rPr>
                <a:t>Reduce OPEX by consolidating and simplifying Finance IT architectures.  Optimize cash flow by improving working capital</a:t>
              </a:r>
              <a:endParaRPr/>
            </a:p>
          </p:txBody>
        </p:sp>
        <p:sp>
          <p:nvSpPr>
            <p:cNvPr id="4337" name="Google Shape;4337;p233"/>
            <p:cNvSpPr/>
            <p:nvPr/>
          </p:nvSpPr>
          <p:spPr>
            <a:xfrm>
              <a:off x="462442" y="1276350"/>
              <a:ext cx="2357120" cy="597600"/>
            </a:xfrm>
            <a:prstGeom prst="homePlate">
              <a:avLst>
                <a:gd fmla="val 23856" name="adj"/>
              </a:avLst>
            </a:prstGeom>
            <a:solidFill>
              <a:srgbClr val="EC881D"/>
            </a:solidFill>
            <a:ln>
              <a:noFill/>
            </a:ln>
          </p:spPr>
          <p:txBody>
            <a:bodyPr anchorCtr="0" anchor="ctr" bIns="91425" lIns="108000" spcFirstLastPara="1" rIns="228600" wrap="square" tIns="91425">
              <a:noAutofit/>
            </a:bodyPr>
            <a:lstStyle/>
            <a:p>
              <a:pPr indent="0" lvl="0" marL="0" marR="0" rtl="0" algn="l">
                <a:spcBef>
                  <a:spcPts val="0"/>
                </a:spcBef>
                <a:spcAft>
                  <a:spcPts val="0"/>
                </a:spcAft>
                <a:buNone/>
              </a:pPr>
              <a:r>
                <a:rPr b="1" lang="en-GB" sz="1200">
                  <a:solidFill>
                    <a:srgbClr val="FFFFFF"/>
                  </a:solidFill>
                  <a:latin typeface="Century Gothic"/>
                  <a:ea typeface="Century Gothic"/>
                  <a:cs typeface="Century Gothic"/>
                  <a:sym typeface="Century Gothic"/>
                </a:rPr>
                <a:t>Reduce Enterprise Cost</a:t>
              </a:r>
              <a:endParaRPr/>
            </a:p>
          </p:txBody>
        </p:sp>
      </p:grpSp>
      <p:grpSp>
        <p:nvGrpSpPr>
          <p:cNvPr id="4338" name="Google Shape;4338;p233"/>
          <p:cNvGrpSpPr/>
          <p:nvPr/>
        </p:nvGrpSpPr>
        <p:grpSpPr>
          <a:xfrm>
            <a:off x="488950" y="2035038"/>
            <a:ext cx="5808440" cy="720000"/>
            <a:chOff x="462442" y="1955625"/>
            <a:chExt cx="5808440" cy="597600"/>
          </a:xfrm>
        </p:grpSpPr>
        <p:sp>
          <p:nvSpPr>
            <p:cNvPr id="4339" name="Google Shape;4339;p233"/>
            <p:cNvSpPr/>
            <p:nvPr/>
          </p:nvSpPr>
          <p:spPr>
            <a:xfrm>
              <a:off x="2565974" y="1955625"/>
              <a:ext cx="3704908" cy="597600"/>
            </a:xfrm>
            <a:prstGeom prst="rect">
              <a:avLst/>
            </a:prstGeom>
            <a:solidFill>
              <a:schemeClr val="lt2"/>
            </a:solidFill>
            <a:ln>
              <a:noFill/>
            </a:ln>
          </p:spPr>
          <p:txBody>
            <a:bodyPr anchorCtr="0" anchor="ctr" bIns="91425" lIns="365750" spcFirstLastPara="1" rIns="91425" wrap="square" tIns="91425">
              <a:noAutofit/>
            </a:bodyPr>
            <a:lstStyle/>
            <a:p>
              <a:pPr indent="0" lvl="0" marL="0" marR="0" rtl="0" algn="l">
                <a:spcBef>
                  <a:spcPts val="0"/>
                </a:spcBef>
                <a:spcAft>
                  <a:spcPts val="0"/>
                </a:spcAft>
                <a:buNone/>
              </a:pPr>
              <a:r>
                <a:rPr lang="en-GB" sz="1000">
                  <a:solidFill>
                    <a:schemeClr val="dk1"/>
                  </a:solidFill>
                  <a:latin typeface="Century Gothic"/>
                  <a:ea typeface="Century Gothic"/>
                  <a:cs typeface="Century Gothic"/>
                  <a:sym typeface="Century Gothic"/>
                </a:rPr>
                <a:t>Reconcile and link financial results (GL) to operational drivers and transactional level  revenue and cost detail .  Enhance visibility and timeliness to reduce earnings volatility </a:t>
              </a:r>
              <a:endParaRPr/>
            </a:p>
          </p:txBody>
        </p:sp>
        <p:sp>
          <p:nvSpPr>
            <p:cNvPr id="4340" name="Google Shape;4340;p233"/>
            <p:cNvSpPr/>
            <p:nvPr/>
          </p:nvSpPr>
          <p:spPr>
            <a:xfrm>
              <a:off x="462442" y="1955625"/>
              <a:ext cx="2357120" cy="597600"/>
            </a:xfrm>
            <a:prstGeom prst="homePlate">
              <a:avLst>
                <a:gd fmla="val 23856" name="adj"/>
              </a:avLst>
            </a:prstGeom>
            <a:solidFill>
              <a:srgbClr val="EC881D"/>
            </a:solidFill>
            <a:ln>
              <a:noFill/>
            </a:ln>
          </p:spPr>
          <p:txBody>
            <a:bodyPr anchorCtr="0" anchor="ctr" bIns="91425" lIns="108000" spcFirstLastPara="1" rIns="228600" wrap="square" tIns="91425">
              <a:noAutofit/>
            </a:bodyPr>
            <a:lstStyle/>
            <a:p>
              <a:pPr indent="0" lvl="0" marL="0" marR="0" rtl="0" algn="l">
                <a:spcBef>
                  <a:spcPts val="0"/>
                </a:spcBef>
                <a:spcAft>
                  <a:spcPts val="0"/>
                </a:spcAft>
                <a:buNone/>
              </a:pPr>
              <a:r>
                <a:rPr b="1" lang="en-GB" sz="1200">
                  <a:solidFill>
                    <a:srgbClr val="FFFFFF"/>
                  </a:solidFill>
                  <a:latin typeface="Century Gothic"/>
                  <a:ea typeface="Century Gothic"/>
                  <a:cs typeface="Century Gothic"/>
                  <a:sym typeface="Century Gothic"/>
                </a:rPr>
                <a:t>Provide Greater Transparency </a:t>
              </a:r>
              <a:endParaRPr/>
            </a:p>
          </p:txBody>
        </p:sp>
      </p:grpSp>
      <p:grpSp>
        <p:nvGrpSpPr>
          <p:cNvPr id="4341" name="Google Shape;4341;p233"/>
          <p:cNvGrpSpPr/>
          <p:nvPr/>
        </p:nvGrpSpPr>
        <p:grpSpPr>
          <a:xfrm>
            <a:off x="488950" y="2793726"/>
            <a:ext cx="5800246" cy="720000"/>
            <a:chOff x="462442" y="2631411"/>
            <a:chExt cx="5800246" cy="597600"/>
          </a:xfrm>
        </p:grpSpPr>
        <p:sp>
          <p:nvSpPr>
            <p:cNvPr id="4342" name="Google Shape;4342;p233"/>
            <p:cNvSpPr/>
            <p:nvPr/>
          </p:nvSpPr>
          <p:spPr>
            <a:xfrm>
              <a:off x="2557780" y="2631411"/>
              <a:ext cx="3704908" cy="597600"/>
            </a:xfrm>
            <a:prstGeom prst="rect">
              <a:avLst/>
            </a:prstGeom>
            <a:solidFill>
              <a:schemeClr val="lt2"/>
            </a:solidFill>
            <a:ln>
              <a:noFill/>
            </a:ln>
          </p:spPr>
          <p:txBody>
            <a:bodyPr anchorCtr="0" anchor="ctr" bIns="91425" lIns="365750" spcFirstLastPara="1" rIns="91425" wrap="square" tIns="91425">
              <a:noAutofit/>
            </a:bodyPr>
            <a:lstStyle/>
            <a:p>
              <a:pPr indent="0" lvl="0" marL="0" marR="0" rtl="0" algn="l">
                <a:spcBef>
                  <a:spcPts val="0"/>
                </a:spcBef>
                <a:spcAft>
                  <a:spcPts val="0"/>
                </a:spcAft>
                <a:buNone/>
              </a:pPr>
              <a:r>
                <a:rPr lang="en-GB" sz="1000">
                  <a:solidFill>
                    <a:schemeClr val="dk1"/>
                  </a:solidFill>
                  <a:latin typeface="Century Gothic"/>
                  <a:ea typeface="Century Gothic"/>
                  <a:cs typeface="Century Gothic"/>
                  <a:sym typeface="Century Gothic"/>
                </a:rPr>
                <a:t>Adapting to market changes – Early insights into leading indicators.  Clear, aligned performance metrics to drive accountability</a:t>
              </a:r>
              <a:endParaRPr/>
            </a:p>
          </p:txBody>
        </p:sp>
        <p:sp>
          <p:nvSpPr>
            <p:cNvPr id="4343" name="Google Shape;4343;p233"/>
            <p:cNvSpPr/>
            <p:nvPr/>
          </p:nvSpPr>
          <p:spPr>
            <a:xfrm>
              <a:off x="462442" y="2631411"/>
              <a:ext cx="2357120" cy="597600"/>
            </a:xfrm>
            <a:prstGeom prst="homePlate">
              <a:avLst>
                <a:gd fmla="val 23856" name="adj"/>
              </a:avLst>
            </a:prstGeom>
            <a:solidFill>
              <a:srgbClr val="EC881D"/>
            </a:solidFill>
            <a:ln>
              <a:noFill/>
            </a:ln>
          </p:spPr>
          <p:txBody>
            <a:bodyPr anchorCtr="0" anchor="ctr" bIns="91425" lIns="108000" spcFirstLastPara="1" rIns="228600" wrap="square" tIns="91425">
              <a:noAutofit/>
            </a:bodyPr>
            <a:lstStyle/>
            <a:p>
              <a:pPr indent="0" lvl="0" marL="0" marR="0" rtl="0" algn="l">
                <a:spcBef>
                  <a:spcPts val="0"/>
                </a:spcBef>
                <a:spcAft>
                  <a:spcPts val="0"/>
                </a:spcAft>
                <a:buNone/>
              </a:pPr>
              <a:r>
                <a:rPr b="1" lang="en-GB" sz="1200">
                  <a:solidFill>
                    <a:srgbClr val="FFFFFF"/>
                  </a:solidFill>
                  <a:latin typeface="Century Gothic"/>
                  <a:ea typeface="Century Gothic"/>
                  <a:cs typeface="Century Gothic"/>
                  <a:sym typeface="Century Gothic"/>
                </a:rPr>
                <a:t>Make Faster, Better Decisions</a:t>
              </a:r>
              <a:endParaRPr/>
            </a:p>
          </p:txBody>
        </p:sp>
      </p:grpSp>
      <p:grpSp>
        <p:nvGrpSpPr>
          <p:cNvPr id="4344" name="Google Shape;4344;p233"/>
          <p:cNvGrpSpPr/>
          <p:nvPr/>
        </p:nvGrpSpPr>
        <p:grpSpPr>
          <a:xfrm>
            <a:off x="488950" y="3552414"/>
            <a:ext cx="5800246" cy="720000"/>
            <a:chOff x="462442" y="3299050"/>
            <a:chExt cx="5800246" cy="597600"/>
          </a:xfrm>
        </p:grpSpPr>
        <p:sp>
          <p:nvSpPr>
            <p:cNvPr id="4345" name="Google Shape;4345;p233"/>
            <p:cNvSpPr/>
            <p:nvPr/>
          </p:nvSpPr>
          <p:spPr>
            <a:xfrm>
              <a:off x="2557780" y="3299050"/>
              <a:ext cx="3704908" cy="597600"/>
            </a:xfrm>
            <a:prstGeom prst="rect">
              <a:avLst/>
            </a:prstGeom>
            <a:solidFill>
              <a:schemeClr val="lt2"/>
            </a:solidFill>
            <a:ln>
              <a:noFill/>
            </a:ln>
          </p:spPr>
          <p:txBody>
            <a:bodyPr anchorCtr="0" anchor="ctr" bIns="91425" lIns="365750" spcFirstLastPara="1" rIns="91425" wrap="square" tIns="91425">
              <a:noAutofit/>
            </a:bodyPr>
            <a:lstStyle/>
            <a:p>
              <a:pPr indent="0" lvl="0" marL="0" marR="0" rtl="0" algn="l">
                <a:spcBef>
                  <a:spcPts val="0"/>
                </a:spcBef>
                <a:spcAft>
                  <a:spcPts val="0"/>
                </a:spcAft>
                <a:buNone/>
              </a:pPr>
              <a:r>
                <a:rPr lang="en-GB" sz="1000">
                  <a:solidFill>
                    <a:schemeClr val="dk1"/>
                  </a:solidFill>
                  <a:latin typeface="Century Gothic"/>
                  <a:ea typeface="Century Gothic"/>
                  <a:cs typeface="Century Gothic"/>
                  <a:sym typeface="Century Gothic"/>
                </a:rPr>
                <a:t>Financial data is reliable, accurate, auditable, and traceable back to the source.  Less time is spent on data quality and more time spent on analyzing.</a:t>
              </a:r>
              <a:endParaRPr sz="1000">
                <a:solidFill>
                  <a:schemeClr val="dk1"/>
                </a:solidFill>
                <a:latin typeface="Century Gothic"/>
                <a:ea typeface="Century Gothic"/>
                <a:cs typeface="Century Gothic"/>
                <a:sym typeface="Century Gothic"/>
              </a:endParaRPr>
            </a:p>
          </p:txBody>
        </p:sp>
        <p:sp>
          <p:nvSpPr>
            <p:cNvPr id="4346" name="Google Shape;4346;p233"/>
            <p:cNvSpPr/>
            <p:nvPr/>
          </p:nvSpPr>
          <p:spPr>
            <a:xfrm>
              <a:off x="462442" y="3299050"/>
              <a:ext cx="2357120" cy="597600"/>
            </a:xfrm>
            <a:prstGeom prst="homePlate">
              <a:avLst>
                <a:gd fmla="val 23856" name="adj"/>
              </a:avLst>
            </a:prstGeom>
            <a:solidFill>
              <a:srgbClr val="EC881D"/>
            </a:solidFill>
            <a:ln>
              <a:noFill/>
            </a:ln>
          </p:spPr>
          <p:txBody>
            <a:bodyPr anchorCtr="0" anchor="ctr" bIns="91425" lIns="108000" spcFirstLastPara="1" rIns="228600" wrap="square" tIns="91425">
              <a:noAutofit/>
            </a:bodyPr>
            <a:lstStyle/>
            <a:p>
              <a:pPr indent="0" lvl="0" marL="0" marR="0" rtl="0" algn="l">
                <a:spcBef>
                  <a:spcPts val="0"/>
                </a:spcBef>
                <a:spcAft>
                  <a:spcPts val="0"/>
                </a:spcAft>
                <a:buNone/>
              </a:pPr>
              <a:r>
                <a:rPr b="1" lang="en-GB" sz="1200">
                  <a:solidFill>
                    <a:srgbClr val="FFFFFF"/>
                  </a:solidFill>
                  <a:latin typeface="Century Gothic"/>
                  <a:ea typeface="Century Gothic"/>
                  <a:cs typeface="Century Gothic"/>
                  <a:sym typeface="Century Gothic"/>
                </a:rPr>
                <a:t>Data quality and consistency</a:t>
              </a:r>
              <a:endParaRPr b="1" sz="1200">
                <a:solidFill>
                  <a:srgbClr val="FFFFFF"/>
                </a:solidFill>
                <a:latin typeface="Century Gothic"/>
                <a:ea typeface="Century Gothic"/>
                <a:cs typeface="Century Gothic"/>
                <a:sym typeface="Century Gothic"/>
              </a:endParaRPr>
            </a:p>
          </p:txBody>
        </p:sp>
      </p:grpSp>
      <p:sp>
        <p:nvSpPr>
          <p:cNvPr id="4347" name="Google Shape;4347;p233">
            <a:hlinkClick action="ppaction://hlinksldjump" r:id="rId4"/>
          </p:cNvPr>
          <p:cNvSpPr/>
          <p:nvPr/>
        </p:nvSpPr>
        <p:spPr>
          <a:xfrm>
            <a:off x="6515100" y="-185868"/>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Accounting Operations and Close</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2" name="Shape 4352"/>
        <p:cNvGrpSpPr/>
        <p:nvPr/>
      </p:nvGrpSpPr>
      <p:grpSpPr>
        <a:xfrm>
          <a:off x="0" y="0"/>
          <a:ext cx="0" cy="0"/>
          <a:chOff x="0" y="0"/>
          <a:chExt cx="0" cy="0"/>
        </a:xfrm>
      </p:grpSpPr>
      <p:pic>
        <p:nvPicPr>
          <p:cNvPr id="4353" name="Google Shape;4353;p234"/>
          <p:cNvPicPr preferRelativeResize="0"/>
          <p:nvPr/>
        </p:nvPicPr>
        <p:blipFill rotWithShape="1">
          <a:blip r:embed="rId3">
            <a:alphaModFix/>
          </a:blip>
          <a:srcRect b="0" l="0" r="0" t="0"/>
          <a:stretch/>
        </p:blipFill>
        <p:spPr>
          <a:xfrm>
            <a:off x="5648154" y="279312"/>
            <a:ext cx="3316459" cy="2210972"/>
          </a:xfrm>
          <a:prstGeom prst="rect">
            <a:avLst/>
          </a:prstGeom>
          <a:noFill/>
          <a:ln>
            <a:noFill/>
          </a:ln>
        </p:spPr>
      </p:pic>
      <p:cxnSp>
        <p:nvCxnSpPr>
          <p:cNvPr id="4354" name="Google Shape;4354;p234"/>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graphicFrame>
        <p:nvGraphicFramePr>
          <p:cNvPr id="4355" name="Google Shape;4355;p234"/>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Accelerate collections</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Reduce days sales outstanding (DSO)</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Improve cashflow</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Match AR collection period to AP payment period</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Identify problem accounts</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Reduce bad debts</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Ensure that future purchase terms and prices reflect historic payment behaviour</a:t>
                      </a:r>
                      <a:endParaRPr/>
                    </a:p>
                    <a:p>
                      <a:pPr indent="-114300" lvl="0" marL="171450" marR="0" rtl="0" algn="l">
                        <a:lnSpc>
                          <a:spcPct val="100000"/>
                        </a:lnSpc>
                        <a:spcBef>
                          <a:spcPts val="0"/>
                        </a:spcBef>
                        <a:spcAft>
                          <a:spcPts val="0"/>
                        </a:spcAft>
                        <a:buClr>
                          <a:schemeClr val="dk1"/>
                        </a:buClr>
                        <a:buSzPts val="900"/>
                        <a:buFont typeface="Arial"/>
                        <a:buNone/>
                      </a:pPr>
                      <a:r>
                        <a:t/>
                      </a:r>
                      <a:endParaRPr b="0" sz="900">
                        <a:solidFill>
                          <a:schemeClr val="dk1"/>
                        </a:solidFill>
                      </a:endParaRPr>
                    </a:p>
                    <a:p>
                      <a:r>
                        <a:rPr sz="900">
                          <a:latin typeface="Century Gothic"/>
                        </a:rPr>
                        <a:t/>
                      </a:r>
                    </a:p>
                    <a:p>
                      <a:r>
                        <a:rPr sz="900">
                          <a:latin typeface="Century Gothic"/>
                        </a:rPr>
                        <a:t>Reduce NPL ratio from 7.5% industry average through early collection intervention</a:t>
                      </a:r>
                    </a:p>
                    <a:p>
                      <a:r>
                        <a:rPr sz="900">
                          <a:latin typeface="Century Gothic"/>
                        </a:rPr>
                        <a:t>Optimize collection strategies by segment: mass (SMS), affluent (RM call), corporate (legal)</a:t>
                      </a:r>
                    </a:p>
                    <a:p>
                      <a:r>
                        <a:rPr sz="900">
                          <a:latin typeface="Century Gothic"/>
                        </a:rPr>
                        <a:t>Integrate ECIB credit bureau data for collection prioritization</a:t>
                      </a:r>
                    </a:p>
                    <a:p>
                      <a:r>
                        <a:rPr sz="900">
                          <a:latin typeface="Century Gothic"/>
                        </a:rPr>
                        <a:t>Track SBP classification migration: Current &gt; OAEM &gt; Substandard &gt; Doubtful &gt; Loss</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xBody>
                    <a:bodyPr/>
                    <a:p/>
                  </a:txBody>
                </a:tc>
                <a:tc vMerge="1">
                  <a:txBody>
                    <a:bodyPr/>
                    <a:p/>
                  </a:txBody>
                </a:tc>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Invoice transactions</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Customer records including payment history</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Reporting Hierarchies – Business Units, Geography, etc.</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Sales reference data</a:t>
                      </a:r>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p>
                      <a:pPr indent="0" lvl="0" marL="0" marR="0" rtl="0" algn="l">
                        <a:spcBef>
                          <a:spcPts val="0"/>
                        </a:spcBef>
                        <a:spcAft>
                          <a:spcPts val="0"/>
                        </a:spcAft>
                        <a:buClr>
                          <a:schemeClr val="dk1"/>
                        </a:buClr>
                        <a:buSzPts val="900"/>
                        <a:buFont typeface="Arial"/>
                        <a:buNone/>
                      </a:pPr>
                      <a:r>
                        <a:rPr b="1" lang="en-GB" sz="900">
                          <a:solidFill>
                            <a:schemeClr val="dk1"/>
                          </a:solidFill>
                        </a:rPr>
                        <a:t>Solution / Analytics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Integrated Data Repository</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Reporting &amp; dashboards to monitor on-going credit</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Scoring models to predict default probability</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Segment /rank customers by payment behaviour</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Advanced Analytics (e.g. N-Path) analysis leading to defaults</a:t>
                      </a:r>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p>
                      <a:r>
                        <a:rPr sz="900"/>
                        <a:t/>
                      </a:r>
                    </a:p>
                    <a:p>
                      <a:r>
                        <a:rPr sz="900"/>
                        <a:t>ECIB credit bureau scores and payment history</a:t>
                      </a:r>
                    </a:p>
                    <a:p>
                      <a:r>
                        <a:rPr sz="900"/>
                        <a:t>SBP classification data (OAEM/Substandard/Doubtful/Loss)</a:t>
                      </a:r>
                    </a:p>
                    <a:p>
                      <a:r>
                        <a:rPr sz="900"/>
                        <a:t>Court decree data for legal recovery tracking</a:t>
                      </a:r>
                    </a:p>
                    <a:p>
                      <a:r>
                        <a:rPr sz="900"/>
                        <a:t>Restructured loan tracking and performance monitoring</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cash flow, reduced working capital yielding increased return on assets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Reduced total receivables, bad debt expense and past due accounts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productivity through reduction of time and effort spent on management review</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Streamlined credit approval process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Ability to identify sales force whose accounts have poor payment behaviour.</a:t>
                      </a:r>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r>
                        <a:rPr sz="900">
                          <a:latin typeface="Century Gothic"/>
                        </a:rPr>
                        <a:t/>
                      </a:r>
                    </a:p>
                    <a:p>
                      <a:r>
                        <a:rPr sz="900">
                          <a:latin typeface="Century Gothic"/>
                        </a:rPr>
                        <a:t>Reduce days past due (DPD) migration across Pakistan loan portfolio</a:t>
                      </a:r>
                    </a:p>
                    <a:p>
                      <a:r>
                        <a:rPr sz="900">
                          <a:latin typeface="Century Gothic"/>
                        </a:rPr>
                        <a:t>Improve recovery rates on PKR 900B+ classified assets industry-wide</a:t>
                      </a:r>
                    </a:p>
                    <a:p>
                      <a:r>
                        <a:rPr sz="900">
                          <a:latin typeface="Century Gothic"/>
                        </a:rPr>
                        <a:t>Automate ECIB reporting and SBP classification compliance</a:t>
                      </a:r>
                    </a:p>
                    <a:p>
                      <a:r>
                        <a:rPr sz="900">
                          <a:latin typeface="Century Gothic"/>
                        </a:rPr>
                        <a:t>Early analytical intervention to avoid 3-7 year legal recovery process</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4356" name="Google Shape;4356;p234"/>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Billing &amp; Collections</a:t>
            </a:r>
            <a:endParaRPr sz="1600"/>
          </a:p>
        </p:txBody>
      </p:sp>
      <p:grpSp>
        <p:nvGrpSpPr>
          <p:cNvPr id="4357" name="Google Shape;4357;p234"/>
          <p:cNvGrpSpPr/>
          <p:nvPr/>
        </p:nvGrpSpPr>
        <p:grpSpPr>
          <a:xfrm>
            <a:off x="7717533" y="4360377"/>
            <a:ext cx="1058348" cy="347375"/>
            <a:chOff x="7651698" y="4287227"/>
            <a:chExt cx="1058348" cy="347375"/>
          </a:xfrm>
        </p:grpSpPr>
        <p:grpSp>
          <p:nvGrpSpPr>
            <p:cNvPr id="4358" name="Google Shape;4358;p234"/>
            <p:cNvGrpSpPr/>
            <p:nvPr/>
          </p:nvGrpSpPr>
          <p:grpSpPr>
            <a:xfrm>
              <a:off x="7714163" y="4337598"/>
              <a:ext cx="995883" cy="297004"/>
              <a:chOff x="7711013" y="3986494"/>
              <a:chExt cx="995883" cy="297004"/>
            </a:xfrm>
          </p:grpSpPr>
          <p:sp>
            <p:nvSpPr>
              <p:cNvPr id="4359" name="Google Shape;4359;p234"/>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4360" name="Google Shape;4360;p234"/>
              <p:cNvGrpSpPr/>
              <p:nvPr/>
            </p:nvGrpSpPr>
            <p:grpSpPr>
              <a:xfrm>
                <a:off x="7711013" y="4002615"/>
                <a:ext cx="281520" cy="241973"/>
                <a:chOff x="5652748" y="4066000"/>
                <a:chExt cx="906498" cy="747974"/>
              </a:xfrm>
            </p:grpSpPr>
            <p:sp>
              <p:nvSpPr>
                <p:cNvPr id="4361" name="Google Shape;4361;p234"/>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4362" name="Google Shape;4362;p234"/>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363" name="Google Shape;4363;p234"/>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4364" name="Google Shape;4364;p234">
              <a:hlinkClick action="ppaction://hlinksldjump" r:id="rId4"/>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
        <p:nvSpPr>
          <p:cNvPr id="4365" name="Google Shape;4365;p234">
            <a:hlinkClick action="ppaction://hlinksldjump" r:id="rId5"/>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Accounting Operations and Close</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0" name="Shape 4370"/>
        <p:cNvGrpSpPr/>
        <p:nvPr/>
      </p:nvGrpSpPr>
      <p:grpSpPr>
        <a:xfrm>
          <a:off x="0" y="0"/>
          <a:ext cx="0" cy="0"/>
          <a:chOff x="0" y="0"/>
          <a:chExt cx="0" cy="0"/>
        </a:xfrm>
      </p:grpSpPr>
      <p:graphicFrame>
        <p:nvGraphicFramePr>
          <p:cNvPr id="4371" name="Google Shape;4371;p235"/>
          <p:cNvGraphicFramePr/>
          <p:nvPr/>
        </p:nvGraphicFramePr>
        <p:xfrm>
          <a:off x="469899" y="789217"/>
          <a:ext cx="3000000" cy="3000000"/>
        </p:xfrm>
        <a:graphic>
          <a:graphicData uri="http://schemas.openxmlformats.org/drawingml/2006/table">
            <a:tbl>
              <a:tblPr bandRow="1" firstRow="1">
                <a:noFill/>
                <a:tableStyleId>{D098BFCB-6916-41F2-A2A5-0DF0D5139B6F}</a:tableStyleId>
              </a:tblPr>
              <a:tblGrid>
                <a:gridCol w="130325"/>
                <a:gridCol w="556275"/>
                <a:gridCol w="367500"/>
                <a:gridCol w="3170075"/>
                <a:gridCol w="3276050"/>
                <a:gridCol w="477150"/>
                <a:gridCol w="477150"/>
              </a:tblGrid>
              <a:tr h="180850">
                <a:tc gridSpan="3">
                  <a:txBody>
                    <a:bodyPr/>
                    <a:lstStyle/>
                    <a:p>
                      <a:pPr indent="0" lvl="0" marL="0" marR="0" rtl="0" algn="ctr">
                        <a:spcBef>
                          <a:spcPts val="0"/>
                        </a:spcBef>
                        <a:spcAft>
                          <a:spcPts val="0"/>
                        </a:spcAft>
                        <a:buNone/>
                      </a:pPr>
                      <a:r>
                        <a:rPr b="1" lang="en-GB" sz="1200">
                          <a:solidFill>
                            <a:schemeClr val="dk2"/>
                          </a:solidFill>
                        </a:rPr>
                        <a:t>Level</a:t>
                      </a:r>
                      <a:endParaRPr b="1" sz="12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hMerge="1">
                  <a:txBody>
                    <a:bodyPr/>
                    <a:p/>
                  </a:txBody>
                </a:tc>
                <a:tc gridSpan="2">
                  <a:txBody>
                    <a:bodyPr/>
                    <a:lstStyle/>
                    <a:p>
                      <a:pPr indent="0" lvl="0" marL="0" marR="0" rtl="0" algn="ctr">
                        <a:lnSpc>
                          <a:spcPct val="100000"/>
                        </a:lnSpc>
                        <a:spcBef>
                          <a:spcPts val="0"/>
                        </a:spcBef>
                        <a:spcAft>
                          <a:spcPts val="0"/>
                        </a:spcAft>
                        <a:buClr>
                          <a:schemeClr val="dk2"/>
                        </a:buClr>
                        <a:buSzPts val="1200"/>
                        <a:buFont typeface="Century Gothic"/>
                        <a:buNone/>
                      </a:pPr>
                      <a:r>
                        <a:rPr b="1" lang="en-GB" sz="1200">
                          <a:solidFill>
                            <a:schemeClr val="dk2"/>
                          </a:solidFill>
                        </a:rPr>
                        <a:t>Maturity Statement</a:t>
                      </a:r>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rPr b="1" lang="en-GB" sz="800">
                          <a:solidFill>
                            <a:schemeClr val="dk2"/>
                          </a:solidFill>
                        </a:rPr>
                        <a:t>Current</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rPr b="1" lang="en-GB" sz="800">
                          <a:solidFill>
                            <a:schemeClr val="dk2"/>
                          </a:solidFill>
                        </a:rPr>
                        <a:t>Desired</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06C1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Leading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Billing processes are automated using granular and timely data. Billing terms and conditions are automatically applied. Detailed information available in real-time to describe historic and current payment status. Future payment terms are set based on analysis of historic behaviour and/or 3</a:t>
                      </a:r>
                      <a:r>
                        <a:rPr b="0" baseline="30000" lang="en-GB" sz="800">
                          <a:solidFill>
                            <a:schemeClr val="dk1"/>
                          </a:solidFill>
                          <a:latin typeface="Century Gothic"/>
                          <a:ea typeface="Century Gothic"/>
                          <a:cs typeface="Century Gothic"/>
                          <a:sym typeface="Century Gothic"/>
                        </a:rPr>
                        <a:t>rd</a:t>
                      </a:r>
                      <a:r>
                        <a:rPr b="0" lang="en-GB" sz="800">
                          <a:solidFill>
                            <a:schemeClr val="dk1"/>
                          </a:solidFill>
                          <a:latin typeface="Century Gothic"/>
                          <a:ea typeface="Century Gothic"/>
                          <a:cs typeface="Century Gothic"/>
                          <a:sym typeface="Century Gothic"/>
                        </a:rPr>
                        <a:t> party payment data. Automated collections decisioning, communications and actions based on predictive collections models &amp; rules.</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037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F7513"/>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Innovating</a:t>
                      </a:r>
                      <a:endParaRPr/>
                    </a:p>
                    <a:p>
                      <a:pPr indent="0" lvl="0" marL="0" marR="0" rtl="0" algn="ctr">
                        <a:spcBef>
                          <a:spcPts val="0"/>
                        </a:spcBef>
                        <a:spcAft>
                          <a:spcPts val="0"/>
                        </a:spcAft>
                        <a:buNone/>
                      </a:pPr>
                      <a:r>
                        <a:t/>
                      </a:r>
                      <a:endParaRPr b="1" sz="1000">
                        <a:solidFill>
                          <a:schemeClr val="dk2"/>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Billing processes are automated using granular and timely data. Billing terms and conditions are automatically applied. Detailed information available in real-time to describe historic and current payment status . Future payment terms are set based on analysis of historic behaviour. Collection workflow based on simple rules.</a:t>
                      </a:r>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C891C"/>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Practicing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Billing and Collection processes are automated, and based on data sourced from an integrated data repository. Billing terms and conditions are automatically applied. Detailed historic AR reporting is available, and basic AR scorecard has been developed.</a:t>
                      </a:r>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lnSpc>
                          <a:spcPct val="100000"/>
                        </a:lnSpc>
                        <a:spcBef>
                          <a:spcPts val="0"/>
                        </a:spcBef>
                        <a:spcAft>
                          <a:spcPts val="0"/>
                        </a:spcAft>
                        <a:buClr>
                          <a:schemeClr val="dk1"/>
                        </a:buClr>
                        <a:buSzPts val="1400"/>
                        <a:buFont typeface="Century Gothic"/>
                        <a:buNone/>
                      </a:pPr>
                      <a:r>
                        <a:t/>
                      </a:r>
                      <a:endParaRPr sz="1400">
                        <a:solidFill>
                          <a:schemeClr val="dk1"/>
                        </a:solidFill>
                        <a:latin typeface="Noto Sans Symbols"/>
                        <a:ea typeface="Noto Sans Symbols"/>
                        <a:cs typeface="Noto Sans Symbols"/>
                        <a:sym typeface="Noto Sans Symbols"/>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E9B4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Developing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Billing and Collections processes are partly automated, but still based on disparate data sourcing. Basic AR reporting (e.g. top 10%) is available.</a:t>
                      </a:r>
                      <a:endParaRPr b="0" sz="900">
                        <a:solidFill>
                          <a:schemeClr val="dk1"/>
                        </a:solidFill>
                        <a:latin typeface="Century Gothic"/>
                        <a:ea typeface="Century Gothic"/>
                        <a:cs typeface="Century Gothic"/>
                        <a:sym typeface="Century Gothic"/>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037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1AE65"/>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Emerging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Billing and Collections processes are complex, subject to manual intervention, and disparate manual data collection, reconciliation, reporting and analysis.</a:t>
                      </a:r>
                      <a:endParaRPr b="0" sz="900">
                        <a:solidFill>
                          <a:schemeClr val="dk1"/>
                        </a:solidFill>
                        <a:latin typeface="Century Gothic"/>
                        <a:ea typeface="Century Gothic"/>
                        <a:cs typeface="Century Gothic"/>
                        <a:sym typeface="Century Gothic"/>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178750">
                <a:tc gridSpan="3">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Priority</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hMerge="1">
                  <a:txBody>
                    <a:bodyPr/>
                    <a:p/>
                  </a:txBody>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Key areas for improvement</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Benefits from uplift</a:t>
                      </a:r>
                      <a:endParaRPr b="1" sz="1000">
                        <a:solidFill>
                          <a:schemeClr val="dk2"/>
                        </a:solidFill>
                        <a:latin typeface="Century Gothic"/>
                        <a:ea typeface="Century Gothic"/>
                        <a:cs typeface="Century Gothic"/>
                        <a:sym typeface="Century Gothic"/>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a:txBody>
                    <a:bodyPr/>
                    <a:lstStyle/>
                    <a:p>
                      <a:pPr indent="0" lvl="0" marL="0" marR="0" rtl="0" algn="ctr">
                        <a:spcBef>
                          <a:spcPts val="0"/>
                        </a:spcBef>
                        <a:spcAft>
                          <a:spcPts val="0"/>
                        </a:spcAft>
                        <a:buNone/>
                      </a:pPr>
                      <a:r>
                        <a:rPr b="1" lang="en-GB" sz="1000">
                          <a:solidFill>
                            <a:schemeClr val="dk2"/>
                          </a:solidFill>
                        </a:rPr>
                        <a:t>Timeframe</a:t>
                      </a:r>
                      <a:endParaRPr b="1" sz="1000">
                        <a:solidFill>
                          <a:schemeClr val="dk2"/>
                        </a:solidFill>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High</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rPr lang="en-GB" sz="1000">
                          <a:solidFill>
                            <a:schemeClr val="dk1"/>
                          </a:solidFill>
                          <a:latin typeface="Noto Sans Symbols"/>
                          <a:ea typeface="Noto Sans Symbols"/>
                          <a:cs typeface="Noto Sans Symbols"/>
                          <a:sym typeface="Noto Sans Symbols"/>
                        </a:rPr>
                        <a:t>✔</a:t>
                      </a:r>
                      <a:endParaRPr b="1" sz="10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0" lvl="0" marL="0" marR="0" rtl="0" algn="l">
                        <a:lnSpc>
                          <a:spcPct val="100000"/>
                        </a:lnSpc>
                        <a:spcBef>
                          <a:spcPts val="0"/>
                        </a:spcBef>
                        <a:spcAft>
                          <a:spcPts val="0"/>
                        </a:spcAft>
                        <a:buClr>
                          <a:schemeClr val="dk1"/>
                        </a:buClr>
                        <a:buSzPts val="800"/>
                        <a:buFont typeface="Arial"/>
                        <a:buNone/>
                      </a:pPr>
                      <a:r>
                        <a:rPr sz="800" b="0">
                          <a:latin typeface="Century Gothic"/>
                        </a:rPr>
                        <a:t>Pakistan priority improvements:</a:t>
                      </a:r>
                      <a:endParaRPr/>
                    </a:p>
                    <a:p>
                      <a:r>
                        <a:rPr sz="800" b="0">
                          <a:latin typeface="Century Gothic"/>
                        </a:rPr>
                        <a:t>ECIB integration for collection prioritization and early intervention</a:t>
                      </a:r>
                    </a:p>
                    <a:p>
                      <a:r>
                        <a:rPr sz="800" b="0">
                          <a:latin typeface="Century Gothic"/>
                        </a:rPr>
                        <a:t>Segment-based collection strategy (mass/affluent/corporate/Islamic)</a:t>
                      </a:r>
                    </a:p>
                    <a:p>
                      <a:r>
                        <a:rPr sz="800" b="0">
                          <a:latin typeface="Century Gothic"/>
                        </a:rPr>
                        <a:t>SBP classification automation: OAEM/Substandard/Doubtful/Loss tracking</a:t>
                      </a:r>
                    </a:p>
                    <a:p>
                      <a:r>
                        <a:rPr sz="800" b="0">
                          <a:latin typeface="Century Gothic"/>
                        </a:rPr>
                        <a:t>Analytical early-warning system to avoid 3-7 year legal recovery process</a:t>
                      </a:r>
                    </a:p>
                    <a:p>
                      <a:r>
                        <a:rPr sz="800" b="0">
                          <a:latin typeface="Century Gothic"/>
                        </a:rPr>
                        <a:t>Automated provisioning per SBP general (1-2%) and specific (25-100%) rules</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285750" lvl="0" marL="285750" marR="0" rtl="0" algn="l">
                        <a:spcBef>
                          <a:spcPts val="0"/>
                        </a:spcBef>
                        <a:spcAft>
                          <a:spcPts val="0"/>
                        </a:spcAft>
                        <a:buClr>
                          <a:schemeClr val="dk1"/>
                        </a:buClr>
                        <a:buSzPts val="800"/>
                        <a:buFont typeface="Arial"/>
                        <a:buChar char="•"/>
                      </a:pPr>
                      <a:r>
                        <a:rPr sz="800">
                          <a:latin typeface="Century Gothic"/>
                        </a:rPr>
                        <a:t>Reduced NPL ratio through early analytical intervention</a:t>
                      </a:r>
                      <a:endParaRPr/>
                    </a:p>
                    <a:p>
                      <a:r>
                        <a:rPr sz="800">
                          <a:latin typeface="Century Gothic"/>
                        </a:rPr>
                        <a:t>Lower provisioning charges from faster recovery and DPD management</a:t>
                      </a:r>
                    </a:p>
                    <a:p>
                      <a:r>
                        <a:rPr sz="800">
                          <a:latin typeface="Century Gothic"/>
                        </a:rPr>
                        <a:t>SBP compliance for classification and provisioning requirements</a:t>
                      </a:r>
                    </a:p>
                    <a:p>
                      <a:r>
                        <a:rPr sz="800">
                          <a:latin typeface="Century Gothic"/>
                        </a:rPr>
                        <a:t>Reduced legal costs from court-based recovery process</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rowSpan="3">
                  <a:txBody>
                    <a:bodyPr/>
                    <a:lstStyle/>
                    <a:p>
                      <a:pPr indent="0" lvl="0" marL="0" marR="0" rtl="0" algn="ctr">
                        <a:lnSpc>
                          <a:spcPct val="100000"/>
                        </a:lnSpc>
                        <a:spcBef>
                          <a:spcPts val="0"/>
                        </a:spcBef>
                        <a:spcAft>
                          <a:spcPts val="0"/>
                        </a:spcAft>
                        <a:buClr>
                          <a:schemeClr val="dk1"/>
                        </a:buClr>
                        <a:buSzPts val="800"/>
                        <a:buFont typeface="Century Gothic"/>
                        <a:buNone/>
                      </a:pPr>
                      <a:r>
                        <a:rPr b="0" lang="en-GB" sz="800">
                          <a:solidFill>
                            <a:schemeClr val="dk1"/>
                          </a:solidFill>
                        </a:rPr>
                        <a:t>H1 2025 —
H2 2026</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h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Medium</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xBody>
                    <a:bodyPr/>
                    <a:p/>
                  </a:txBody>
                </a:tc>
                <a:tc vMerge="1">
                  <a:txBody>
                    <a:bodyPr/>
                    <a:p/>
                  </a:txBody>
                </a:tc>
                <a:tc gridSpan="2" vMerge="1">
                  <a:txBody>
                    <a:bodyPr/>
                    <a:p/>
                  </a:txBody>
                </a:tc>
                <a:tc hMerge="1" v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Low</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xBody>
                    <a:bodyPr/>
                    <a:p/>
                  </a:txBody>
                </a:tc>
                <a:tc vMerge="1">
                  <a:txBody>
                    <a:bodyPr/>
                    <a:p/>
                  </a:txBody>
                </a:tc>
                <a:tc gridSpan="2" vMerge="1">
                  <a:txBody>
                    <a:bodyPr/>
                    <a:p/>
                  </a:txBody>
                </a:tc>
                <a:tc hMerge="1" vMerge="1">
                  <a:txBody>
                    <a:bodyPr/>
                    <a:p/>
                  </a:txBody>
                </a:tc>
              </a:tr>
            </a:tbl>
          </a:graphicData>
        </a:graphic>
      </p:graphicFrame>
      <p:grpSp>
        <p:nvGrpSpPr>
          <p:cNvPr id="4372" name="Google Shape;4372;p235"/>
          <p:cNvGrpSpPr/>
          <p:nvPr/>
        </p:nvGrpSpPr>
        <p:grpSpPr>
          <a:xfrm>
            <a:off x="469900" y="3819680"/>
            <a:ext cx="8455025" cy="732866"/>
            <a:chOff x="211138" y="3972860"/>
            <a:chExt cx="8713787" cy="642437"/>
          </a:xfrm>
        </p:grpSpPr>
        <p:sp>
          <p:nvSpPr>
            <p:cNvPr id="4373" name="Google Shape;4373;p235"/>
            <p:cNvSpPr/>
            <p:nvPr/>
          </p:nvSpPr>
          <p:spPr>
            <a:xfrm>
              <a:off x="211138" y="3972860"/>
              <a:ext cx="8713787" cy="642437"/>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4374" name="Google Shape;4374;p235"/>
            <p:cNvSpPr/>
            <p:nvPr/>
          </p:nvSpPr>
          <p:spPr>
            <a:xfrm>
              <a:off x="3692726" y="3982349"/>
              <a:ext cx="1753883" cy="632948"/>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grpSp>
        <p:nvGrpSpPr>
          <p:cNvPr id="4375" name="Google Shape;4375;p235"/>
          <p:cNvGrpSpPr/>
          <p:nvPr/>
        </p:nvGrpSpPr>
        <p:grpSpPr>
          <a:xfrm>
            <a:off x="7971865" y="980278"/>
            <a:ext cx="949325" cy="2867825"/>
            <a:chOff x="7941888" y="1062037"/>
            <a:chExt cx="983037" cy="2695575"/>
          </a:xfrm>
        </p:grpSpPr>
        <p:sp>
          <p:nvSpPr>
            <p:cNvPr id="4376" name="Google Shape;4376;p235"/>
            <p:cNvSpPr/>
            <p:nvPr/>
          </p:nvSpPr>
          <p:spPr>
            <a:xfrm>
              <a:off x="7941889" y="1062037"/>
              <a:ext cx="983036" cy="2695575"/>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4377" name="Google Shape;4377;p235"/>
            <p:cNvSpPr/>
            <p:nvPr/>
          </p:nvSpPr>
          <p:spPr>
            <a:xfrm>
              <a:off x="7941888" y="2052586"/>
              <a:ext cx="983037" cy="714476"/>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sp>
        <p:nvSpPr>
          <p:cNvPr id="4378" name="Google Shape;4378;p235"/>
          <p:cNvSpPr txBox="1"/>
          <p:nvPr>
            <p:ph type="title"/>
          </p:nvPr>
        </p:nvSpPr>
        <p:spPr>
          <a:xfrm>
            <a:off x="381000" y="296096"/>
            <a:ext cx="8543925" cy="360308"/>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Billing &amp; Collections</a:t>
            </a:r>
            <a:endParaRPr>
              <a:solidFill>
                <a:schemeClr val="accent6"/>
              </a:solidFill>
            </a:endParaRPr>
          </a:p>
        </p:txBody>
      </p:sp>
      <p:sp>
        <p:nvSpPr>
          <p:cNvPr id="4379" name="Google Shape;4379;p235">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Accounting Operations and Close</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4" name="Shape 4384"/>
        <p:cNvGrpSpPr/>
        <p:nvPr/>
      </p:nvGrpSpPr>
      <p:grpSpPr>
        <a:xfrm>
          <a:off x="0" y="0"/>
          <a:ext cx="0" cy="0"/>
          <a:chOff x="0" y="0"/>
          <a:chExt cx="0" cy="0"/>
        </a:xfrm>
      </p:grpSpPr>
      <p:cxnSp>
        <p:nvCxnSpPr>
          <p:cNvPr id="4385" name="Google Shape;4385;p236"/>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graphicFrame>
        <p:nvGraphicFramePr>
          <p:cNvPr id="4386" name="Google Shape;4386;p236"/>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To place a Purchase Order at a Supplier, which follows internal guidelines</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Approve received goods/services and ensure alignment between PO and Invoice</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Manage Suppliers efficiently from a global point of view</a:t>
                      </a:r>
                      <a:endParaRPr/>
                    </a:p>
                    <a:p>
                      <a:pPr indent="-171450" lvl="1" marL="628650" marR="0" rtl="0" algn="l">
                        <a:lnSpc>
                          <a:spcPct val="100000"/>
                        </a:lnSpc>
                        <a:spcBef>
                          <a:spcPts val="0"/>
                        </a:spcBef>
                        <a:spcAft>
                          <a:spcPts val="0"/>
                        </a:spcAft>
                        <a:buClr>
                          <a:schemeClr val="dk1"/>
                        </a:buClr>
                        <a:buSzPts val="900"/>
                        <a:buFont typeface="Arial"/>
                        <a:buChar char="•"/>
                      </a:pPr>
                      <a:r>
                        <a:rPr b="0" lang="en-GB" sz="900" u="none" cap="none" strike="noStrike">
                          <a:solidFill>
                            <a:schemeClr val="dk1"/>
                          </a:solidFill>
                          <a:latin typeface="Century Gothic"/>
                          <a:ea typeface="Century Gothic"/>
                          <a:cs typeface="Century Gothic"/>
                          <a:sym typeface="Century Gothic"/>
                        </a:rPr>
                        <a:t>Compliance</a:t>
                      </a:r>
                      <a:endParaRPr/>
                    </a:p>
                    <a:p>
                      <a:pPr indent="-171450" lvl="1" marL="628650" marR="0" rtl="0" algn="l">
                        <a:lnSpc>
                          <a:spcPct val="100000"/>
                        </a:lnSpc>
                        <a:spcBef>
                          <a:spcPts val="0"/>
                        </a:spcBef>
                        <a:spcAft>
                          <a:spcPts val="0"/>
                        </a:spcAft>
                        <a:buClr>
                          <a:schemeClr val="dk1"/>
                        </a:buClr>
                        <a:buSzPts val="900"/>
                        <a:buFont typeface="Arial"/>
                        <a:buChar char="•"/>
                      </a:pPr>
                      <a:r>
                        <a:rPr b="0" lang="en-GB" sz="900" u="none" cap="none" strike="noStrike">
                          <a:solidFill>
                            <a:schemeClr val="dk1"/>
                          </a:solidFill>
                          <a:latin typeface="Century Gothic"/>
                          <a:ea typeface="Century Gothic"/>
                          <a:cs typeface="Century Gothic"/>
                          <a:sym typeface="Century Gothic"/>
                        </a:rPr>
                        <a:t>Pricing</a:t>
                      </a:r>
                      <a:endParaRPr/>
                    </a:p>
                    <a:p>
                      <a:pPr indent="-171450" lvl="1" marL="628650" marR="0" rtl="0" algn="l">
                        <a:lnSpc>
                          <a:spcPct val="100000"/>
                        </a:lnSpc>
                        <a:spcBef>
                          <a:spcPts val="0"/>
                        </a:spcBef>
                        <a:spcAft>
                          <a:spcPts val="0"/>
                        </a:spcAft>
                        <a:buClr>
                          <a:schemeClr val="dk1"/>
                        </a:buClr>
                        <a:buSzPts val="900"/>
                        <a:buFont typeface="Arial"/>
                        <a:buChar char="•"/>
                      </a:pPr>
                      <a:r>
                        <a:rPr b="0" lang="en-GB" sz="900" u="none" cap="none" strike="noStrike">
                          <a:solidFill>
                            <a:schemeClr val="dk1"/>
                          </a:solidFill>
                          <a:latin typeface="Century Gothic"/>
                          <a:ea typeface="Century Gothic"/>
                          <a:cs typeface="Century Gothic"/>
                          <a:sym typeface="Century Gothic"/>
                        </a:rPr>
                        <a:t>Volumes</a:t>
                      </a:r>
                      <a:endParaRPr/>
                    </a:p>
                    <a:p>
                      <a:pPr indent="-171450" lvl="1" marL="628650" marR="0" rtl="0" algn="l">
                        <a:lnSpc>
                          <a:spcPct val="100000"/>
                        </a:lnSpc>
                        <a:spcBef>
                          <a:spcPts val="0"/>
                        </a:spcBef>
                        <a:spcAft>
                          <a:spcPts val="0"/>
                        </a:spcAft>
                        <a:buClr>
                          <a:schemeClr val="dk1"/>
                        </a:buClr>
                        <a:buSzPts val="900"/>
                        <a:buFont typeface="Arial"/>
                        <a:buChar char="•"/>
                      </a:pPr>
                      <a:r>
                        <a:rPr b="0" lang="en-GB" sz="900" u="none" cap="none" strike="noStrike">
                          <a:solidFill>
                            <a:schemeClr val="dk1"/>
                          </a:solidFill>
                          <a:latin typeface="Century Gothic"/>
                          <a:ea typeface="Century Gothic"/>
                          <a:cs typeface="Century Gothic"/>
                          <a:sym typeface="Century Gothic"/>
                        </a:rPr>
                        <a:t>Quality</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Utilize credit/payment terms optimally</a:t>
                      </a:r>
                      <a:endParaRPr b="0" sz="900">
                        <a:solidFill>
                          <a:schemeClr val="dk1"/>
                        </a:solidFill>
                        <a:latin typeface="Century Gothic"/>
                        <a:ea typeface="Century Gothic"/>
                        <a:cs typeface="Century Gothic"/>
                        <a:sym typeface="Century Gothic"/>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Improve TAX/VAT management</a:t>
                      </a:r>
                      <a:endParaRPr/>
                    </a:p>
                    <a:p>
                      <a:pPr indent="-114300" lvl="0" marL="171450" marR="0" rtl="0" algn="l">
                        <a:lnSpc>
                          <a:spcPct val="100000"/>
                        </a:lnSpc>
                        <a:spcBef>
                          <a:spcPts val="0"/>
                        </a:spcBef>
                        <a:spcAft>
                          <a:spcPts val="0"/>
                        </a:spcAft>
                        <a:buClr>
                          <a:schemeClr val="dk1"/>
                        </a:buClr>
                        <a:buSzPts val="900"/>
                        <a:buFont typeface="Arial"/>
                        <a:buNone/>
                      </a:pPr>
                      <a:r>
                        <a:t/>
                      </a:r>
                      <a:endParaRPr b="0" sz="900">
                        <a:solidFill>
                          <a:schemeClr val="dk1"/>
                        </a:solidFill>
                      </a:endParaRPr>
                    </a:p>
                    <a:p>
                      <a:r>
                        <a:rPr sz="900">
                          <a:latin typeface="Century Gothic"/>
                        </a:rPr>
                        <a:t/>
                      </a:r>
                    </a:p>
                    <a:p>
                      <a:r>
                        <a:rPr sz="900">
                          <a:latin typeface="Century Gothic"/>
                        </a:rPr>
                        <a:t>Centralize procurement analytics across group entities (conventional + Islamic + Takaful + brokerage)</a:t>
                      </a:r>
                    </a:p>
                    <a:p>
                      <a:r>
                        <a:rPr sz="900">
                          <a:latin typeface="Century Gothic"/>
                        </a:rPr>
                        <a:t>Comply with FBR WHT requirements on vendor payments (variable rates by vendor type and filer status)</a:t>
                      </a:r>
                    </a:p>
                    <a:p>
                      <a:r>
                        <a:rPr sz="900">
                          <a:latin typeface="Century Gothic"/>
                        </a:rPr>
                        <a:t>Automate FBR Active Taxpayer List (ATL) lookup for WHT rate determination</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xBody>
                    <a:bodyPr/>
                    <a:p/>
                  </a:txBody>
                </a:tc>
                <a:tc vMerge="1">
                  <a:txBody>
                    <a:bodyPr/>
                    <a:p/>
                  </a:txBody>
                </a:tc>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Purchase Orders, Invoices (incl. line items), Suppliers, Quality, Commercial history (unit prices, products/services, volumes etc.)</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General ledger(s) and relevant sub-ledger(s)</a:t>
                      </a:r>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p>
                      <a:pPr indent="0" lvl="0" marL="0" marR="0" rtl="0" algn="l">
                        <a:spcBef>
                          <a:spcPts val="0"/>
                        </a:spcBef>
                        <a:spcAft>
                          <a:spcPts val="0"/>
                        </a:spcAft>
                        <a:buClr>
                          <a:schemeClr val="dk1"/>
                        </a:buClr>
                        <a:buSzPts val="900"/>
                        <a:buFont typeface="Arial"/>
                        <a:buNone/>
                      </a:pPr>
                      <a:r>
                        <a:rPr b="1" lang="en-GB" sz="900">
                          <a:solidFill>
                            <a:schemeClr val="dk1"/>
                          </a:solidFill>
                        </a:rPr>
                        <a:t>Solution / Analytics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Integrated Data Repository</a:t>
                      </a:r>
                      <a:endParaRPr sz="900">
                        <a:solidFill>
                          <a:schemeClr val="dk1"/>
                        </a:solidFill>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Join data at the most granular level (common denominator)</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Supplier Dashboards (incl. – Actual Purchased, - PO’s, - Quality, - Price/Unit etc. Per Supplier</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VAT per country</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PO and Invoice matching analysis (finding duplicates)</a:t>
                      </a:r>
                      <a:endParaRPr sz="900">
                        <a:solidFill>
                          <a:schemeClr val="dk1"/>
                        </a:solidFill>
                      </a:endParaRPr>
                    </a:p>
                    <a:p>
                      <a:r>
                        <a:rPr sz="900"/>
                        <a:t/>
                      </a:r>
                    </a:p>
                    <a:p>
                      <a:r>
                        <a:rPr sz="900"/>
                        <a:t>FBR filer/non-filer status of vendors (determines WHT rate)</a:t>
                      </a:r>
                    </a:p>
                    <a:p>
                      <a:r>
                        <a:rPr sz="900"/>
                        <a:t>NTN (National Tax Number) for all vendors</a:t>
                      </a:r>
                    </a:p>
                    <a:p>
                      <a:r>
                        <a:rPr sz="900"/>
                        <a:t>Vendor banking details for RAAST payment processing</a:t>
                      </a:r>
                    </a:p>
                    <a:p>
                      <a:r>
                        <a:rPr sz="900"/>
                        <a:t>WHT rates: Services 8%/16%, Supplies 4%/8%, Contracts 7%/14% (filer/non-filer)</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Integrated view of Suppliers from received Invoices (products/services) to approved Sales Orders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internal compliance – have employees ordered/purchased within the range they are approved for</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Optimized base of Suppliers (consolidation of the supplier base, moving away from “smaller” local suppliers to fewer “global” suppliers)</a:t>
                      </a:r>
                      <a:endParaRPr sz="900">
                        <a:solidFill>
                          <a:schemeClr val="dk1"/>
                        </a:solidFill>
                        <a:latin typeface="Century Gothic"/>
                        <a:ea typeface="Century Gothic"/>
                        <a:cs typeface="Century Gothic"/>
                        <a:sym typeface="Century Gothic"/>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Reduced prices per Unit per Supplier</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quality </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opportunities to evaluate Supplier</a:t>
                      </a:r>
                      <a:br>
                        <a:rPr lang="en-GB" sz="900">
                          <a:solidFill>
                            <a:schemeClr val="dk1"/>
                          </a:solidFill>
                          <a:latin typeface="Century Gothic"/>
                          <a:ea typeface="Century Gothic"/>
                          <a:cs typeface="Century Gothic"/>
                          <a:sym typeface="Century Gothic"/>
                        </a:rPr>
                      </a:br>
                      <a:r>
                        <a:rPr lang="en-GB" sz="900">
                          <a:solidFill>
                            <a:schemeClr val="dk1"/>
                          </a:solidFill>
                          <a:latin typeface="Century Gothic"/>
                          <a:ea typeface="Century Gothic"/>
                          <a:cs typeface="Century Gothic"/>
                          <a:sym typeface="Century Gothic"/>
                        </a:rPr>
                        <a:t>performance</a:t>
                      </a:r>
                      <a:endParaRPr sz="900">
                        <a:solidFill>
                          <a:schemeClr val="dk1"/>
                        </a:solidFill>
                        <a:latin typeface="Century Gothic"/>
                        <a:ea typeface="Century Gothic"/>
                        <a:cs typeface="Century Gothic"/>
                        <a:sym typeface="Century Gothic"/>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cash flow</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More accurate VAT/TAX payments per country</a:t>
                      </a:r>
                      <a:endParaRPr sz="900">
                        <a:solidFill>
                          <a:schemeClr val="dk1"/>
                        </a:solidFill>
                        <a:latin typeface="Century Gothic"/>
                        <a:ea typeface="Century Gothic"/>
                        <a:cs typeface="Century Gothic"/>
                        <a:sym typeface="Century Gothic"/>
                      </a:endParaRPr>
                    </a:p>
                    <a:p>
                      <a:r>
                        <a:rPr sz="900">
                          <a:latin typeface="Century Gothic"/>
                        </a:rPr>
                        <a:t/>
                      </a:r>
                    </a:p>
                    <a:p>
                      <a:r>
                        <a:rPr sz="900">
                          <a:latin typeface="Century Gothic"/>
                        </a:rPr>
                        <a:t>Automated FBR WHT calculation and e-filing integration</a:t>
                      </a:r>
                    </a:p>
                    <a:p>
                      <a:r>
                        <a:rPr sz="900">
                          <a:latin typeface="Century Gothic"/>
                        </a:rPr>
                        <a:t>Vendor performance analytics across all banking group entities</a:t>
                      </a:r>
                    </a:p>
                    <a:p>
                      <a:r>
                        <a:rPr sz="900">
                          <a:latin typeface="Century Gothic"/>
                        </a:rPr>
                        <a:t>Procurement consolidation reducing costs 10-15%</a:t>
                      </a:r>
                    </a:p>
                    <a:p>
                      <a:r>
                        <a:rPr sz="900">
                          <a:latin typeface="Century Gothic"/>
                        </a:rPr>
                        <a:t>Full compliance with Pakistan FBR withholding tax regulations</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4387" name="Google Shape;4387;p236"/>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Procurement &amp; Payment</a:t>
            </a:r>
            <a:endParaRPr sz="1600"/>
          </a:p>
        </p:txBody>
      </p:sp>
      <p:sp>
        <p:nvSpPr>
          <p:cNvPr id="4388" name="Google Shape;4388;p236">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Accounting Operations and Close</a:t>
            </a:r>
            <a:endParaRPr sz="750">
              <a:solidFill>
                <a:schemeClr val="lt1"/>
              </a:solidFill>
              <a:latin typeface="Century Gothic"/>
              <a:ea typeface="Century Gothic"/>
              <a:cs typeface="Century Gothic"/>
              <a:sym typeface="Century Gothic"/>
            </a:endParaRPr>
          </a:p>
        </p:txBody>
      </p:sp>
      <p:pic>
        <p:nvPicPr>
          <p:cNvPr id="4389" name="Google Shape;4389;p236"/>
          <p:cNvPicPr preferRelativeResize="0"/>
          <p:nvPr/>
        </p:nvPicPr>
        <p:blipFill rotWithShape="1">
          <a:blip r:embed="rId4">
            <a:alphaModFix/>
          </a:blip>
          <a:srcRect b="0" l="0" r="0" t="0"/>
          <a:stretch/>
        </p:blipFill>
        <p:spPr>
          <a:xfrm>
            <a:off x="5648154" y="279312"/>
            <a:ext cx="3316459" cy="2210972"/>
          </a:xfrm>
          <a:prstGeom prst="rect">
            <a:avLst/>
          </a:prstGeom>
          <a:noFill/>
          <a:ln>
            <a:noFill/>
          </a:ln>
        </p:spPr>
      </p:pic>
      <p:grpSp>
        <p:nvGrpSpPr>
          <p:cNvPr id="4390" name="Google Shape;4390;p236"/>
          <p:cNvGrpSpPr/>
          <p:nvPr/>
        </p:nvGrpSpPr>
        <p:grpSpPr>
          <a:xfrm>
            <a:off x="7717533" y="4360377"/>
            <a:ext cx="1058348" cy="347375"/>
            <a:chOff x="7651698" y="4287227"/>
            <a:chExt cx="1058348" cy="347375"/>
          </a:xfrm>
        </p:grpSpPr>
        <p:grpSp>
          <p:nvGrpSpPr>
            <p:cNvPr id="4391" name="Google Shape;4391;p236"/>
            <p:cNvGrpSpPr/>
            <p:nvPr/>
          </p:nvGrpSpPr>
          <p:grpSpPr>
            <a:xfrm>
              <a:off x="7714163" y="4337598"/>
              <a:ext cx="995883" cy="297004"/>
              <a:chOff x="7711013" y="3986494"/>
              <a:chExt cx="995883" cy="297004"/>
            </a:xfrm>
          </p:grpSpPr>
          <p:sp>
            <p:nvSpPr>
              <p:cNvPr id="4392" name="Google Shape;4392;p236"/>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4393" name="Google Shape;4393;p236"/>
              <p:cNvGrpSpPr/>
              <p:nvPr/>
            </p:nvGrpSpPr>
            <p:grpSpPr>
              <a:xfrm>
                <a:off x="7711013" y="4002615"/>
                <a:ext cx="281520" cy="241973"/>
                <a:chOff x="5652748" y="4066000"/>
                <a:chExt cx="906498" cy="747974"/>
              </a:xfrm>
            </p:grpSpPr>
            <p:sp>
              <p:nvSpPr>
                <p:cNvPr id="4394" name="Google Shape;4394;p236"/>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4395" name="Google Shape;4395;p236"/>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396" name="Google Shape;4396;p236"/>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4397" name="Google Shape;4397;p236">
              <a:hlinkClick action="ppaction://hlinksldjump" r:id="rId5"/>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2" name="Shape 4402"/>
        <p:cNvGrpSpPr/>
        <p:nvPr/>
      </p:nvGrpSpPr>
      <p:grpSpPr>
        <a:xfrm>
          <a:off x="0" y="0"/>
          <a:ext cx="0" cy="0"/>
          <a:chOff x="0" y="0"/>
          <a:chExt cx="0" cy="0"/>
        </a:xfrm>
      </p:grpSpPr>
      <p:graphicFrame>
        <p:nvGraphicFramePr>
          <p:cNvPr id="4403" name="Google Shape;4403;p237"/>
          <p:cNvGraphicFramePr/>
          <p:nvPr/>
        </p:nvGraphicFramePr>
        <p:xfrm>
          <a:off x="469899" y="789217"/>
          <a:ext cx="3000000" cy="3000000"/>
        </p:xfrm>
        <a:graphic>
          <a:graphicData uri="http://schemas.openxmlformats.org/drawingml/2006/table">
            <a:tbl>
              <a:tblPr bandRow="1" firstRow="1">
                <a:noFill/>
                <a:tableStyleId>{D098BFCB-6916-41F2-A2A5-0DF0D5139B6F}</a:tableStyleId>
              </a:tblPr>
              <a:tblGrid>
                <a:gridCol w="130325"/>
                <a:gridCol w="556275"/>
                <a:gridCol w="367500"/>
                <a:gridCol w="3170075"/>
                <a:gridCol w="3276050"/>
                <a:gridCol w="477150"/>
                <a:gridCol w="477150"/>
              </a:tblGrid>
              <a:tr h="180850">
                <a:tc gridSpan="3">
                  <a:txBody>
                    <a:bodyPr/>
                    <a:lstStyle/>
                    <a:p>
                      <a:pPr indent="0" lvl="0" marL="0" marR="0" rtl="0" algn="ctr">
                        <a:spcBef>
                          <a:spcPts val="0"/>
                        </a:spcBef>
                        <a:spcAft>
                          <a:spcPts val="0"/>
                        </a:spcAft>
                        <a:buNone/>
                      </a:pPr>
                      <a:r>
                        <a:rPr b="1" lang="en-GB" sz="1200">
                          <a:solidFill>
                            <a:schemeClr val="dk2"/>
                          </a:solidFill>
                        </a:rPr>
                        <a:t>Level</a:t>
                      </a:r>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hMerge="1">
                  <a:txBody>
                    <a:bodyPr/>
                    <a:p/>
                  </a:txBody>
                </a:tc>
                <a:tc gridSpan="2">
                  <a:txBody>
                    <a:bodyPr/>
                    <a:lstStyle/>
                    <a:p>
                      <a:pPr indent="0" lvl="0" marL="0" marR="0" rtl="0" algn="ctr">
                        <a:lnSpc>
                          <a:spcPct val="100000"/>
                        </a:lnSpc>
                        <a:spcBef>
                          <a:spcPts val="0"/>
                        </a:spcBef>
                        <a:spcAft>
                          <a:spcPts val="0"/>
                        </a:spcAft>
                        <a:buClr>
                          <a:schemeClr val="dk2"/>
                        </a:buClr>
                        <a:buSzPts val="1200"/>
                        <a:buFont typeface="Century Gothic"/>
                        <a:buNone/>
                      </a:pPr>
                      <a:r>
                        <a:rPr b="1" lang="en-GB" sz="1200">
                          <a:solidFill>
                            <a:schemeClr val="dk2"/>
                          </a:solidFill>
                        </a:rPr>
                        <a:t>Maturity Statement</a:t>
                      </a:r>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rPr b="1" lang="en-GB" sz="800">
                          <a:solidFill>
                            <a:schemeClr val="dk2"/>
                          </a:solidFill>
                        </a:rPr>
                        <a:t>Current</a:t>
                      </a:r>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rPr b="1" lang="en-GB" sz="800">
                          <a:solidFill>
                            <a:schemeClr val="dk2"/>
                          </a:solidFill>
                        </a:rPr>
                        <a:t>Desired</a:t>
                      </a:r>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06C1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Leading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The Group has an integrated data warehouse, where all purchasing data and accounts payable data are available and updated real-time or daily. Pre-defined and ad hoc analyses can be done whenever needed. Everything is based on common definitions.</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037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F7513"/>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Innovating</a:t>
                      </a:r>
                      <a:endParaRPr/>
                    </a:p>
                    <a:p>
                      <a:pPr indent="0" lvl="0" marL="0" marR="0" rtl="0" algn="ctr">
                        <a:spcBef>
                          <a:spcPts val="0"/>
                        </a:spcBef>
                        <a:spcAft>
                          <a:spcPts val="0"/>
                        </a:spcAft>
                        <a:buNone/>
                      </a:pPr>
                      <a:r>
                        <a:t/>
                      </a:r>
                      <a:endParaRPr b="1" sz="1000">
                        <a:solidFill>
                          <a:schemeClr val="dk2"/>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Purchasing and AP data is linked either in an ERP solution or data warehouse. Detailed analyses of Supplier performance and Supplier conditions are done on a regular basis – typically following the Closing, Budget &amp; Planning and/or the season for renegotiations (with Suppliers)</a:t>
                      </a:r>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C891C"/>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Practicing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Purchasing and AP data is linked in an ERP solution – but do not have the ability to work with data at the most granular data. Analyses are done on a regular basis, but still requires a lot of manual effort to prepare. Global view of Supplier performance and conditions are </a:t>
                      </a:r>
                      <a:r>
                        <a:rPr b="0" lang="en-GB" sz="900" u="none">
                          <a:solidFill>
                            <a:schemeClr val="dk1"/>
                          </a:solidFill>
                          <a:latin typeface="Century Gothic"/>
                          <a:ea typeface="Century Gothic"/>
                          <a:cs typeface="Century Gothic"/>
                          <a:sym typeface="Century Gothic"/>
                        </a:rPr>
                        <a:t>still</a:t>
                      </a:r>
                      <a:r>
                        <a:rPr b="0" lang="en-GB" sz="900">
                          <a:solidFill>
                            <a:schemeClr val="dk1"/>
                          </a:solidFill>
                          <a:latin typeface="Century Gothic"/>
                          <a:ea typeface="Century Gothic"/>
                          <a:cs typeface="Century Gothic"/>
                          <a:sym typeface="Century Gothic"/>
                        </a:rPr>
                        <a:t> limited as common definitions are not consistently used.</a:t>
                      </a:r>
                      <a:endParaRPr b="0" sz="900">
                        <a:solidFill>
                          <a:schemeClr val="dk1"/>
                        </a:solidFill>
                        <a:latin typeface="Century Gothic"/>
                        <a:ea typeface="Century Gothic"/>
                        <a:cs typeface="Century Gothic"/>
                        <a:sym typeface="Century Gothic"/>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lnSpc>
                          <a:spcPct val="100000"/>
                        </a:lnSpc>
                        <a:spcBef>
                          <a:spcPts val="0"/>
                        </a:spcBef>
                        <a:spcAft>
                          <a:spcPts val="0"/>
                        </a:spcAft>
                        <a:buClr>
                          <a:schemeClr val="dk1"/>
                        </a:buClr>
                        <a:buSzPts val="1400"/>
                        <a:buFont typeface="Century Gothic"/>
                        <a:buNone/>
                      </a:pPr>
                      <a:r>
                        <a:t/>
                      </a:r>
                      <a:endParaRPr sz="1400">
                        <a:solidFill>
                          <a:schemeClr val="dk1"/>
                        </a:solidFill>
                        <a:latin typeface="Noto Sans Symbols"/>
                        <a:ea typeface="Noto Sans Symbols"/>
                        <a:cs typeface="Noto Sans Symbols"/>
                        <a:sym typeface="Noto Sans Symbols"/>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E9B4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Developing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Country ERP solutions have integrated Purchasing and Accounts Payable modules – but it is only possible to analyse Suppliers performance at an aggregated level. Analysis is manually intensive.</a:t>
                      </a:r>
                      <a:endParaRPr b="0" sz="900">
                        <a:solidFill>
                          <a:schemeClr val="dk1"/>
                        </a:solidFill>
                        <a:latin typeface="Century Gothic"/>
                        <a:ea typeface="Century Gothic"/>
                        <a:cs typeface="Century Gothic"/>
                        <a:sym typeface="Century Gothic"/>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037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1AE65"/>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Emerging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No link between Purchase Orders and Invoices. Analyses are done based on aggregated data extracts for limited periods and prepared in Excel files. Analyses are manual and time consuming and only done periodically. </a:t>
                      </a:r>
                      <a:endParaRPr b="0" sz="900" strike="sngStrike">
                        <a:solidFill>
                          <a:srgbClr val="FF0000"/>
                        </a:solidFill>
                        <a:latin typeface="Century Gothic"/>
                        <a:ea typeface="Century Gothic"/>
                        <a:cs typeface="Century Gothic"/>
                        <a:sym typeface="Century Gothic"/>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178750">
                <a:tc gridSpan="3">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Priority</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hMerge="1">
                  <a:txBody>
                    <a:bodyPr/>
                    <a:p/>
                  </a:txBody>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Key areas for improvement</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Benefits from uplift</a:t>
                      </a:r>
                      <a:endParaRPr b="1" sz="1000">
                        <a:solidFill>
                          <a:schemeClr val="dk2"/>
                        </a:solidFill>
                        <a:latin typeface="Century Gothic"/>
                        <a:ea typeface="Century Gothic"/>
                        <a:cs typeface="Century Gothic"/>
                        <a:sym typeface="Century Gothic"/>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a:txBody>
                    <a:bodyPr/>
                    <a:lstStyle/>
                    <a:p>
                      <a:pPr indent="0" lvl="0" marL="0" marR="0" rtl="0" algn="ctr">
                        <a:spcBef>
                          <a:spcPts val="0"/>
                        </a:spcBef>
                        <a:spcAft>
                          <a:spcPts val="0"/>
                        </a:spcAft>
                        <a:buNone/>
                      </a:pPr>
                      <a:r>
                        <a:rPr b="1" lang="en-GB" sz="1000">
                          <a:solidFill>
                            <a:schemeClr val="dk2"/>
                          </a:solidFill>
                        </a:rPr>
                        <a:t>Timeframe</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High</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rPr lang="en-GB" sz="1000">
                          <a:solidFill>
                            <a:schemeClr val="dk1"/>
                          </a:solidFill>
                          <a:latin typeface="Noto Sans Symbols"/>
                          <a:ea typeface="Noto Sans Symbols"/>
                          <a:cs typeface="Noto Sans Symbols"/>
                          <a:sym typeface="Noto Sans Symbols"/>
                        </a:rPr>
                        <a:t>✔</a:t>
                      </a:r>
                      <a:endParaRPr b="1" sz="10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0" lvl="0" marL="0" marR="0" rtl="0" algn="l">
                        <a:lnSpc>
                          <a:spcPct val="100000"/>
                        </a:lnSpc>
                        <a:spcBef>
                          <a:spcPts val="0"/>
                        </a:spcBef>
                        <a:spcAft>
                          <a:spcPts val="0"/>
                        </a:spcAft>
                        <a:buClr>
                          <a:schemeClr val="dk1"/>
                        </a:buClr>
                        <a:buSzPts val="800"/>
                        <a:buFont typeface="Arial"/>
                        <a:buNone/>
                      </a:pPr>
                      <a:r>
                        <a:rPr sz="800" b="0">
                          <a:latin typeface="Century Gothic"/>
                        </a:rPr>
                        <a:t>Pakistan priority improvements:</a:t>
                      </a:r>
                      <a:endParaRPr/>
                    </a:p>
                    <a:p>
                      <a:r>
                        <a:rPr sz="800" b="0">
                          <a:latin typeface="Century Gothic"/>
                        </a:rPr>
                        <a:t>Automated FBR WHT calculation on vendor payments (variable rates by category)</a:t>
                      </a:r>
                    </a:p>
                    <a:p>
                      <a:r>
                        <a:rPr sz="800" b="0">
                          <a:latin typeface="Century Gothic"/>
                        </a:rPr>
                        <a:t>FBR ATL auto-lookup for filer/non-filer status determination</a:t>
                      </a:r>
                    </a:p>
                    <a:p>
                      <a:r>
                        <a:rPr sz="800" b="0">
                          <a:latin typeface="Century Gothic"/>
                        </a:rPr>
                        <a:t>Centralized procurement across banking group entities</a:t>
                      </a:r>
                    </a:p>
                    <a:p>
                      <a:r>
                        <a:rPr sz="800" b="0">
                          <a:latin typeface="Century Gothic"/>
                        </a:rPr>
                        <a:t>RAAST integration for vendor payments</a:t>
                      </a:r>
                    </a:p>
                    <a:p>
                      <a:r>
                        <a:rPr sz="800" b="0">
                          <a:latin typeface="Century Gothic"/>
                        </a:rPr>
                        <a:t>Group-wide spend analytics across conventional + Islamic + subsidiaries</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285750" lvl="0" marL="285750" marR="0" rtl="0" algn="l">
                        <a:spcBef>
                          <a:spcPts val="0"/>
                        </a:spcBef>
                        <a:spcAft>
                          <a:spcPts val="0"/>
                        </a:spcAft>
                        <a:buClr>
                          <a:schemeClr val="dk1"/>
                        </a:buClr>
                        <a:buSzPts val="800"/>
                        <a:buFont typeface="Arial"/>
                        <a:buChar char="•"/>
                      </a:pPr>
                      <a:r>
                        <a:rPr sz="800">
                          <a:latin typeface="Century Gothic"/>
                        </a:rPr>
                        <a:t>Full FBR WHT compliance — automated calculation and e-filing</a:t>
                      </a:r>
                      <a:endParaRPr/>
                    </a:p>
                    <a:p>
                      <a:r>
                        <a:rPr sz="800">
                          <a:latin typeface="Century Gothic"/>
                        </a:rPr>
                        <a:t>10-15% procurement cost reduction from group-wide consolidation</a:t>
                      </a:r>
                    </a:p>
                    <a:p>
                      <a:r>
                        <a:rPr sz="800">
                          <a:latin typeface="Century Gothic"/>
                        </a:rPr>
                        <a:t>Vendor performance visibility across all banking group entities</a:t>
                      </a:r>
                    </a:p>
                    <a:p>
                      <a:r>
                        <a:rPr sz="800">
                          <a:latin typeface="Century Gothic"/>
                        </a:rPr>
                        <a:t>Reduced processing cost through RAAST vendor payments</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rowSpan="3">
                  <a:txBody>
                    <a:bodyPr/>
                    <a:lstStyle/>
                    <a:p>
                      <a:pPr indent="0" lvl="0" marL="0" marR="0" rtl="0" algn="ctr">
                        <a:lnSpc>
                          <a:spcPct val="100000"/>
                        </a:lnSpc>
                        <a:spcBef>
                          <a:spcPts val="0"/>
                        </a:spcBef>
                        <a:spcAft>
                          <a:spcPts val="0"/>
                        </a:spcAft>
                        <a:buClr>
                          <a:schemeClr val="dk1"/>
                        </a:buClr>
                        <a:buSzPts val="800"/>
                        <a:buFont typeface="Century Gothic"/>
                        <a:buNone/>
                      </a:pPr>
                      <a:r>
                        <a:rPr b="0" lang="en-GB" sz="800">
                          <a:solidFill>
                            <a:schemeClr val="dk1"/>
                          </a:solidFill>
                        </a:rPr>
                        <a:t>H1 2025 —
H2 2026</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h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Medium</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xBody>
                    <a:bodyPr/>
                    <a:p/>
                  </a:txBody>
                </a:tc>
                <a:tc vMerge="1">
                  <a:txBody>
                    <a:bodyPr/>
                    <a:p/>
                  </a:txBody>
                </a:tc>
                <a:tc gridSpan="2" vMerge="1">
                  <a:txBody>
                    <a:bodyPr/>
                    <a:p/>
                  </a:txBody>
                </a:tc>
                <a:tc hMerge="1" v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Low</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xBody>
                    <a:bodyPr/>
                    <a:p/>
                  </a:txBody>
                </a:tc>
                <a:tc vMerge="1">
                  <a:txBody>
                    <a:bodyPr/>
                    <a:p/>
                  </a:txBody>
                </a:tc>
                <a:tc gridSpan="2" vMerge="1">
                  <a:txBody>
                    <a:bodyPr/>
                    <a:p/>
                  </a:txBody>
                </a:tc>
                <a:tc hMerge="1" vMerge="1">
                  <a:txBody>
                    <a:bodyPr/>
                    <a:p/>
                  </a:txBody>
                </a:tc>
              </a:tr>
            </a:tbl>
          </a:graphicData>
        </a:graphic>
      </p:graphicFrame>
      <p:grpSp>
        <p:nvGrpSpPr>
          <p:cNvPr id="4404" name="Google Shape;4404;p237"/>
          <p:cNvGrpSpPr/>
          <p:nvPr/>
        </p:nvGrpSpPr>
        <p:grpSpPr>
          <a:xfrm>
            <a:off x="469900" y="3819680"/>
            <a:ext cx="8455025" cy="732866"/>
            <a:chOff x="211138" y="3972860"/>
            <a:chExt cx="8713787" cy="642437"/>
          </a:xfrm>
        </p:grpSpPr>
        <p:sp>
          <p:nvSpPr>
            <p:cNvPr id="4405" name="Google Shape;4405;p237"/>
            <p:cNvSpPr/>
            <p:nvPr/>
          </p:nvSpPr>
          <p:spPr>
            <a:xfrm>
              <a:off x="211138" y="3972860"/>
              <a:ext cx="8713787" cy="642437"/>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4406" name="Google Shape;4406;p237"/>
            <p:cNvSpPr/>
            <p:nvPr/>
          </p:nvSpPr>
          <p:spPr>
            <a:xfrm>
              <a:off x="3692726" y="3982349"/>
              <a:ext cx="1753883" cy="632948"/>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grpSp>
        <p:nvGrpSpPr>
          <p:cNvPr id="4407" name="Google Shape;4407;p237"/>
          <p:cNvGrpSpPr/>
          <p:nvPr/>
        </p:nvGrpSpPr>
        <p:grpSpPr>
          <a:xfrm>
            <a:off x="7971865" y="980278"/>
            <a:ext cx="949325" cy="2867825"/>
            <a:chOff x="7941888" y="1062037"/>
            <a:chExt cx="983037" cy="2695575"/>
          </a:xfrm>
        </p:grpSpPr>
        <p:sp>
          <p:nvSpPr>
            <p:cNvPr id="4408" name="Google Shape;4408;p237"/>
            <p:cNvSpPr/>
            <p:nvPr/>
          </p:nvSpPr>
          <p:spPr>
            <a:xfrm>
              <a:off x="7941889" y="1062037"/>
              <a:ext cx="983036" cy="2695575"/>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4409" name="Google Shape;4409;p237"/>
            <p:cNvSpPr/>
            <p:nvPr/>
          </p:nvSpPr>
          <p:spPr>
            <a:xfrm>
              <a:off x="7941888" y="2052586"/>
              <a:ext cx="983037" cy="714476"/>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sp>
        <p:nvSpPr>
          <p:cNvPr id="4410" name="Google Shape;4410;p237"/>
          <p:cNvSpPr txBox="1"/>
          <p:nvPr>
            <p:ph type="title"/>
          </p:nvPr>
        </p:nvSpPr>
        <p:spPr>
          <a:xfrm>
            <a:off x="381000" y="296096"/>
            <a:ext cx="8543925" cy="360308"/>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Procurement &amp; Payment</a:t>
            </a:r>
            <a:endParaRPr>
              <a:solidFill>
                <a:schemeClr val="accent6"/>
              </a:solidFill>
            </a:endParaRPr>
          </a:p>
        </p:txBody>
      </p:sp>
      <p:sp>
        <p:nvSpPr>
          <p:cNvPr id="4411" name="Google Shape;4411;p237">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Accounting Operations and Close</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6" name="Shape 4416"/>
        <p:cNvGrpSpPr/>
        <p:nvPr/>
      </p:nvGrpSpPr>
      <p:grpSpPr>
        <a:xfrm>
          <a:off x="0" y="0"/>
          <a:ext cx="0" cy="0"/>
          <a:chOff x="0" y="0"/>
          <a:chExt cx="0" cy="0"/>
        </a:xfrm>
      </p:grpSpPr>
      <p:cxnSp>
        <p:nvCxnSpPr>
          <p:cNvPr id="4417" name="Google Shape;4417;p238"/>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graphicFrame>
        <p:nvGraphicFramePr>
          <p:cNvPr id="4418" name="Google Shape;4418;p238"/>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Generate accounting transactions from Operational transactions and establish data lineage between them.</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Ability to deliver changes in accounting rules and standards in quick, flexible and cost-effective way.</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Consistent delivery of multi-GAAP accounting.</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Automated reconciliation processes.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Support seamless drill-down and drill across to granular account and transaction-level data</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rPr>
                        <a:t>Maintain</a:t>
                      </a:r>
                      <a:r>
                        <a:rPr b="0" lang="en-GB" sz="900">
                          <a:solidFill>
                            <a:schemeClr val="dk1"/>
                          </a:solidFill>
                        </a:rPr>
                        <a:t> a </a:t>
                      </a:r>
                      <a:r>
                        <a:rPr b="0" lang="en-GB" sz="900">
                          <a:solidFill>
                            <a:schemeClr val="dk1"/>
                          </a:solidFill>
                        </a:rPr>
                        <a:t>“Thin” General Ledger</a:t>
                      </a:r>
                      <a:endParaRPr/>
                    </a:p>
                    <a:p>
                      <a:r>
                        <a:rPr sz="900">
                          <a:latin typeface="Century Gothic"/>
                        </a:rPr>
                        <a:t/>
                      </a:r>
                    </a:p>
                    <a:p>
                      <a:r>
                        <a:rPr sz="900">
                          <a:latin typeface="Century Gothic"/>
                        </a:rPr>
                        <a:t>Unify sub-ledger from 4-5 core banking systems (CTL, Temenos, Oracle, Finacle) into FSDM warehouse</a:t>
                      </a:r>
                    </a:p>
                    <a:p>
                      <a:r>
                        <a:rPr sz="900">
                          <a:latin typeface="Century Gothic"/>
                        </a:rPr>
                        <a:t>Support dual accounting: IFRS entries for conventional + AAOIFI entries for Islamic products</a:t>
                      </a:r>
                    </a:p>
                    <a:p>
                      <a:r>
                        <a:rPr sz="900">
                          <a:latin typeface="Century Gothic"/>
                        </a:rPr>
                        <a:t>Maintain individual loan-level sub-ledger for IFRS 9 ECL calculations</a:t>
                      </a:r>
                    </a:p>
                    <a:p>
                      <a:r>
                        <a:rPr sz="900">
                          <a:latin typeface="Century Gothic"/>
                        </a:rPr>
                        <a:t>Enable drill-down from GL balance to individual transactions across all source systems</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xBody>
                    <a:bodyPr/>
                    <a:p/>
                  </a:txBody>
                </a:tc>
                <a:tc vMerge="1">
                  <a:txBody>
                    <a:bodyPr/>
                    <a:p/>
                  </a:txBody>
                </a:tc>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Operational system  transactional 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Accounting &amp; Other Reference Data</a:t>
                      </a:r>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p>
                      <a:pPr indent="0" lvl="0" marL="0" marR="0" rtl="0" algn="l">
                        <a:spcBef>
                          <a:spcPts val="0"/>
                        </a:spcBef>
                        <a:spcAft>
                          <a:spcPts val="0"/>
                        </a:spcAft>
                        <a:buClr>
                          <a:schemeClr val="dk1"/>
                        </a:buClr>
                        <a:buSzPts val="900"/>
                        <a:buFont typeface="Arial"/>
                        <a:buNone/>
                      </a:pPr>
                      <a:r>
                        <a:rPr b="1" lang="en-GB" sz="900">
                          <a:solidFill>
                            <a:schemeClr val="dk1"/>
                          </a:solidFill>
                        </a:rPr>
                        <a:t>Solution</a:t>
                      </a:r>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Integrated data repository</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Accounting Hub solution</a:t>
                      </a:r>
                      <a:endParaRPr sz="900">
                        <a:solidFill>
                          <a:schemeClr val="dk1"/>
                        </a:solidFill>
                      </a:endParaRPr>
                    </a:p>
                    <a:p>
                      <a:r>
                        <a:rPr sz="900"/>
                        <a:t/>
                      </a:r>
                    </a:p>
                    <a:p>
                      <a:r>
                        <a:rPr sz="900"/>
                        <a:t>Core banking transaction data from all systems (CTL, Temenos, Oracle, Finacle)</a:t>
                      </a:r>
                    </a:p>
                    <a:p>
                      <a:r>
                        <a:rPr sz="900"/>
                        <a:t>Islamic banking sub-system data (parallel IFRS + AAOIFI entries)</a:t>
                      </a:r>
                    </a:p>
                    <a:p>
                      <a:r>
                        <a:rPr sz="900"/>
                        <a:t>Card system data (Visa/Mastercard settlements)</a:t>
                      </a:r>
                    </a:p>
                    <a:p>
                      <a:r>
                        <a:rPr sz="900"/>
                        <a:t>Trade finance and treasury system transaction data</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Centralised accounting processes which are easier and cheaper to maintain</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Automated multi-GAAP accounting</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Full control, audit and traceability</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End-to-end transparency and lineage for financial data.</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Seamless drill-down from summary level financial statements to transaction-level detail</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Reduced reconciliation time and effort, freeing up time and resources for value-generating activities.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Workflow approval process for manual adjustments</a:t>
                      </a:r>
                      <a:br>
                        <a:rPr lang="en-GB" sz="900">
                          <a:solidFill>
                            <a:schemeClr val="dk1"/>
                          </a:solidFill>
                          <a:latin typeface="Century Gothic"/>
                          <a:ea typeface="Century Gothic"/>
                          <a:cs typeface="Century Gothic"/>
                          <a:sym typeface="Century Gothic"/>
                        </a:rPr>
                      </a:br>
                      <a:r>
                        <a:rPr lang="en-GB" sz="900">
                          <a:solidFill>
                            <a:schemeClr val="dk1"/>
                          </a:solidFill>
                          <a:latin typeface="Century Gothic"/>
                          <a:ea typeface="Century Gothic"/>
                          <a:cs typeface="Century Gothic"/>
                          <a:sym typeface="Century Gothic"/>
                        </a:rPr>
                        <a:t> at sub-ledger level of detail, resulting in</a:t>
                      </a:r>
                      <a:br>
                        <a:rPr lang="en-GB" sz="900">
                          <a:solidFill>
                            <a:schemeClr val="dk1"/>
                          </a:solidFill>
                          <a:latin typeface="Century Gothic"/>
                          <a:ea typeface="Century Gothic"/>
                          <a:cs typeface="Century Gothic"/>
                          <a:sym typeface="Century Gothic"/>
                        </a:rPr>
                      </a:br>
                      <a:r>
                        <a:rPr lang="en-GB" sz="900">
                          <a:solidFill>
                            <a:schemeClr val="dk1"/>
                          </a:solidFill>
                          <a:latin typeface="Century Gothic"/>
                          <a:ea typeface="Century Gothic"/>
                          <a:cs typeface="Century Gothic"/>
                          <a:sym typeface="Century Gothic"/>
                        </a:rPr>
                        <a:t> improved data quality.</a:t>
                      </a:r>
                      <a:endParaRPr/>
                    </a:p>
                    <a:p>
                      <a:r>
                        <a:rPr sz="900">
                          <a:latin typeface="Century Gothic"/>
                        </a:rPr>
                        <a:t/>
                      </a:r>
                    </a:p>
                    <a:p>
                      <a:r>
                        <a:rPr sz="900">
                          <a:latin typeface="Century Gothic"/>
                        </a:rPr>
                        <a:t>Single source of truth for SBP returns, IFRS 9, management reporting, audit</a:t>
                      </a:r>
                    </a:p>
                    <a:p>
                      <a:r>
                        <a:rPr sz="900">
                          <a:latin typeface="Century Gothic"/>
                        </a:rPr>
                        <a:t>Consistent chart of accounts mapping across all core systems</a:t>
                      </a:r>
                    </a:p>
                    <a:p>
                      <a:r>
                        <a:rPr sz="900">
                          <a:latin typeface="Century Gothic"/>
                        </a:rPr>
                        <a:t>Full transaction lineage from GL to individual operational entries</a:t>
                      </a:r>
                    </a:p>
                    <a:p>
                      <a:r>
                        <a:rPr sz="900">
                          <a:latin typeface="Century Gothic"/>
                        </a:rPr>
                        <a:t>Dual IFRS/AAOIFI accounting for Islamic banking operations</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4419" name="Google Shape;4419;p238"/>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Sub-ledger Accounting</a:t>
            </a:r>
            <a:endParaRPr sz="1600"/>
          </a:p>
        </p:txBody>
      </p:sp>
      <p:sp>
        <p:nvSpPr>
          <p:cNvPr id="4420" name="Google Shape;4420;p238">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Accounting Operations and Close</a:t>
            </a:r>
            <a:endParaRPr sz="750">
              <a:solidFill>
                <a:schemeClr val="lt1"/>
              </a:solidFill>
              <a:latin typeface="Century Gothic"/>
              <a:ea typeface="Century Gothic"/>
              <a:cs typeface="Century Gothic"/>
              <a:sym typeface="Century Gothic"/>
            </a:endParaRPr>
          </a:p>
        </p:txBody>
      </p:sp>
      <p:pic>
        <p:nvPicPr>
          <p:cNvPr id="4421" name="Google Shape;4421;p238"/>
          <p:cNvPicPr preferRelativeResize="0"/>
          <p:nvPr/>
        </p:nvPicPr>
        <p:blipFill rotWithShape="1">
          <a:blip r:embed="rId4">
            <a:alphaModFix/>
          </a:blip>
          <a:srcRect b="0" l="0" r="0" t="0"/>
          <a:stretch/>
        </p:blipFill>
        <p:spPr>
          <a:xfrm>
            <a:off x="5648154" y="279312"/>
            <a:ext cx="3316459" cy="2210972"/>
          </a:xfrm>
          <a:prstGeom prst="rect">
            <a:avLst/>
          </a:prstGeom>
          <a:noFill/>
          <a:ln>
            <a:noFill/>
          </a:ln>
        </p:spPr>
      </p:pic>
      <p:grpSp>
        <p:nvGrpSpPr>
          <p:cNvPr id="4422" name="Google Shape;4422;p238"/>
          <p:cNvGrpSpPr/>
          <p:nvPr/>
        </p:nvGrpSpPr>
        <p:grpSpPr>
          <a:xfrm>
            <a:off x="7717533" y="4360377"/>
            <a:ext cx="1058348" cy="347375"/>
            <a:chOff x="7651698" y="4287227"/>
            <a:chExt cx="1058348" cy="347375"/>
          </a:xfrm>
        </p:grpSpPr>
        <p:grpSp>
          <p:nvGrpSpPr>
            <p:cNvPr id="4423" name="Google Shape;4423;p238"/>
            <p:cNvGrpSpPr/>
            <p:nvPr/>
          </p:nvGrpSpPr>
          <p:grpSpPr>
            <a:xfrm>
              <a:off x="7714163" y="4337598"/>
              <a:ext cx="995883" cy="297004"/>
              <a:chOff x="7711013" y="3986494"/>
              <a:chExt cx="995883" cy="297004"/>
            </a:xfrm>
          </p:grpSpPr>
          <p:sp>
            <p:nvSpPr>
              <p:cNvPr id="4424" name="Google Shape;4424;p238"/>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4425" name="Google Shape;4425;p238"/>
              <p:cNvGrpSpPr/>
              <p:nvPr/>
            </p:nvGrpSpPr>
            <p:grpSpPr>
              <a:xfrm>
                <a:off x="7711013" y="4002615"/>
                <a:ext cx="281520" cy="241973"/>
                <a:chOff x="5652748" y="4066000"/>
                <a:chExt cx="906498" cy="747974"/>
              </a:xfrm>
            </p:grpSpPr>
            <p:sp>
              <p:nvSpPr>
                <p:cNvPr id="4426" name="Google Shape;4426;p238"/>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4427" name="Google Shape;4427;p238"/>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428" name="Google Shape;4428;p238"/>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4429" name="Google Shape;4429;p238">
              <a:hlinkClick action="ppaction://hlinksldjump" r:id="rId5"/>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4" name="Shape 4434"/>
        <p:cNvGrpSpPr/>
        <p:nvPr/>
      </p:nvGrpSpPr>
      <p:grpSpPr>
        <a:xfrm>
          <a:off x="0" y="0"/>
          <a:ext cx="0" cy="0"/>
          <a:chOff x="0" y="0"/>
          <a:chExt cx="0" cy="0"/>
        </a:xfrm>
      </p:grpSpPr>
      <p:graphicFrame>
        <p:nvGraphicFramePr>
          <p:cNvPr id="4435" name="Google Shape;4435;p239"/>
          <p:cNvGraphicFramePr/>
          <p:nvPr/>
        </p:nvGraphicFramePr>
        <p:xfrm>
          <a:off x="469899" y="789217"/>
          <a:ext cx="3000000" cy="3000000"/>
        </p:xfrm>
        <a:graphic>
          <a:graphicData uri="http://schemas.openxmlformats.org/drawingml/2006/table">
            <a:tbl>
              <a:tblPr bandRow="1" firstRow="1">
                <a:noFill/>
                <a:tableStyleId>{D098BFCB-6916-41F2-A2A5-0DF0D5139B6F}</a:tableStyleId>
              </a:tblPr>
              <a:tblGrid>
                <a:gridCol w="130325"/>
                <a:gridCol w="556275"/>
                <a:gridCol w="367500"/>
                <a:gridCol w="3170075"/>
                <a:gridCol w="3276050"/>
                <a:gridCol w="477150"/>
                <a:gridCol w="477150"/>
              </a:tblGrid>
              <a:tr h="180850">
                <a:tc gridSpan="3">
                  <a:txBody>
                    <a:bodyPr/>
                    <a:lstStyle/>
                    <a:p>
                      <a:pPr indent="0" lvl="0" marL="0" marR="0" rtl="0" algn="ctr">
                        <a:spcBef>
                          <a:spcPts val="0"/>
                        </a:spcBef>
                        <a:spcAft>
                          <a:spcPts val="0"/>
                        </a:spcAft>
                        <a:buNone/>
                      </a:pPr>
                      <a:r>
                        <a:rPr b="1" lang="en-GB" sz="1200">
                          <a:solidFill>
                            <a:schemeClr val="dk2"/>
                          </a:solidFill>
                        </a:rPr>
                        <a:t>Level</a:t>
                      </a:r>
                      <a:endParaRPr b="1" sz="12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hMerge="1">
                  <a:txBody>
                    <a:bodyPr/>
                    <a:p/>
                  </a:txBody>
                </a:tc>
                <a:tc gridSpan="2">
                  <a:txBody>
                    <a:bodyPr/>
                    <a:lstStyle/>
                    <a:p>
                      <a:pPr indent="0" lvl="0" marL="0" marR="0" rtl="0" algn="ctr">
                        <a:lnSpc>
                          <a:spcPct val="100000"/>
                        </a:lnSpc>
                        <a:spcBef>
                          <a:spcPts val="0"/>
                        </a:spcBef>
                        <a:spcAft>
                          <a:spcPts val="0"/>
                        </a:spcAft>
                        <a:buClr>
                          <a:schemeClr val="dk2"/>
                        </a:buClr>
                        <a:buSzPts val="1200"/>
                        <a:buFont typeface="Century Gothic"/>
                        <a:buNone/>
                      </a:pPr>
                      <a:r>
                        <a:rPr b="1" lang="en-GB" sz="1200">
                          <a:solidFill>
                            <a:schemeClr val="dk2"/>
                          </a:solidFill>
                        </a:rPr>
                        <a:t>Maturity Statement</a:t>
                      </a:r>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rPr b="1" lang="en-GB" sz="800">
                          <a:solidFill>
                            <a:schemeClr val="dk2"/>
                          </a:solidFill>
                        </a:rPr>
                        <a:t>Current</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rPr b="1" lang="en-GB" sz="800">
                          <a:solidFill>
                            <a:schemeClr val="dk2"/>
                          </a:solidFill>
                        </a:rPr>
                        <a:t>Desired</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06C1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Leading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The Accounting Hub covers all operational systems and lines of business. Detailed accounting sub-ledger data is  generated and  integrated into the Data Warehouse  for those operational systems. All manual adjustments are originated in the sub-ledger and workflow approved.  Aggregated postings are passed to the GL.</a:t>
                      </a:r>
                      <a:endParaRPr/>
                    </a:p>
                  </a:txBody>
                  <a:tcPr marT="18000" marB="18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037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F7513"/>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Innovating</a:t>
                      </a:r>
                      <a:endParaRPr/>
                    </a:p>
                    <a:p>
                      <a:pPr indent="0" lvl="0" marL="0" marR="0" rtl="0" algn="ctr">
                        <a:spcBef>
                          <a:spcPts val="0"/>
                        </a:spcBef>
                        <a:spcAft>
                          <a:spcPts val="0"/>
                        </a:spcAft>
                        <a:buNone/>
                      </a:pPr>
                      <a:r>
                        <a:t/>
                      </a:r>
                      <a:endParaRPr b="1" sz="1000">
                        <a:solidFill>
                          <a:schemeClr val="dk2"/>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An Accounting Hub solution is used for selected operational systems covering less complex requirements. Detailed accounting sub-ledger data is  generated and  integrated into the Data Warehouse for those operational systems, and the aggregated postings are passed to the GL.  Manual adjustments for these systems are originated in the sub-ledger and aggregated to the GL.</a:t>
                      </a:r>
                      <a:endParaRPr/>
                    </a:p>
                  </a:txBody>
                  <a:tcPr marT="18000" marB="18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C891C"/>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Practicing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Financial Accounting processes are hard-coded into individual operational systems. Summary level data is passed to GL. The majority of account-level accounting data is available in the Data Warehouse and the reconciliation between the GL and Data Warehouse is significantly automated.  Manual Adjustments are only captured in the GL.</a:t>
                      </a:r>
                      <a:endParaRPr/>
                    </a:p>
                  </a:txBody>
                  <a:tcPr marT="18000" marB="18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lnSpc>
                          <a:spcPct val="100000"/>
                        </a:lnSpc>
                        <a:spcBef>
                          <a:spcPts val="0"/>
                        </a:spcBef>
                        <a:spcAft>
                          <a:spcPts val="0"/>
                        </a:spcAft>
                        <a:buClr>
                          <a:schemeClr val="dk1"/>
                        </a:buClr>
                        <a:buSzPts val="1400"/>
                        <a:buFont typeface="Century Gothic"/>
                        <a:buNone/>
                      </a:pPr>
                      <a:r>
                        <a:t/>
                      </a:r>
                      <a:endParaRPr sz="1400">
                        <a:solidFill>
                          <a:schemeClr val="dk1"/>
                        </a:solidFill>
                        <a:latin typeface="Noto Sans Symbols"/>
                        <a:ea typeface="Noto Sans Symbols"/>
                        <a:cs typeface="Noto Sans Symbols"/>
                        <a:sym typeface="Noto Sans Symbols"/>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E9B4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Developing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Financial Accounting processes are hard-coded into individual operational systems. Summary level data is passed to GL, but some account-level accounting data is available (e.g. interest accruals) to feed the Data Warehouse.</a:t>
                      </a:r>
                      <a:endParaRPr b="0" sz="900">
                        <a:solidFill>
                          <a:schemeClr val="dk1"/>
                        </a:solidFill>
                        <a:latin typeface="Century Gothic"/>
                        <a:ea typeface="Century Gothic"/>
                        <a:cs typeface="Century Gothic"/>
                        <a:sym typeface="Century Gothic"/>
                      </a:endParaRPr>
                    </a:p>
                  </a:txBody>
                  <a:tcPr marT="18000" marB="18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037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1AE65"/>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Emerging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Financial Accounting Processes  are either manually created or hard-coded into individual operational systems. Summary-level accounting data only passed to GL. No detailed accounting data is passed to the Data Warehouse.</a:t>
                      </a:r>
                      <a:endParaRPr/>
                    </a:p>
                  </a:txBody>
                  <a:tcPr marT="18000" marB="18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178750">
                <a:tc gridSpan="3">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Priority</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hMerge="1">
                  <a:txBody>
                    <a:bodyPr/>
                    <a:p/>
                  </a:txBody>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Key areas for improvement</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Benefits from uplift</a:t>
                      </a:r>
                      <a:endParaRPr b="1" sz="1000">
                        <a:solidFill>
                          <a:schemeClr val="dk2"/>
                        </a:solidFill>
                        <a:latin typeface="Century Gothic"/>
                        <a:ea typeface="Century Gothic"/>
                        <a:cs typeface="Century Gothic"/>
                        <a:sym typeface="Century Gothic"/>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a:txBody>
                    <a:bodyPr/>
                    <a:lstStyle/>
                    <a:p>
                      <a:pPr indent="0" lvl="0" marL="0" marR="0" rtl="0" algn="ctr">
                        <a:spcBef>
                          <a:spcPts val="0"/>
                        </a:spcBef>
                        <a:spcAft>
                          <a:spcPts val="0"/>
                        </a:spcAft>
                        <a:buNone/>
                      </a:pPr>
                      <a:r>
                        <a:rPr b="1" lang="en-GB" sz="1000">
                          <a:solidFill>
                            <a:schemeClr val="dk2"/>
                          </a:solidFill>
                        </a:rPr>
                        <a:t>Timeframe</a:t>
                      </a:r>
                      <a:endParaRPr b="1" sz="1000">
                        <a:solidFill>
                          <a:schemeClr val="dk2"/>
                        </a:solidFill>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High</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rPr lang="en-GB" sz="1000">
                          <a:solidFill>
                            <a:schemeClr val="dk1"/>
                          </a:solidFill>
                          <a:latin typeface="Noto Sans Symbols"/>
                          <a:ea typeface="Noto Sans Symbols"/>
                          <a:cs typeface="Noto Sans Symbols"/>
                          <a:sym typeface="Noto Sans Symbols"/>
                        </a:rPr>
                        <a:t>✔</a:t>
                      </a:r>
                      <a:endParaRPr b="1" sz="10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0" lvl="0" marL="0" marR="0" rtl="0" algn="l">
                        <a:lnSpc>
                          <a:spcPct val="100000"/>
                        </a:lnSpc>
                        <a:spcBef>
                          <a:spcPts val="0"/>
                        </a:spcBef>
                        <a:spcAft>
                          <a:spcPts val="0"/>
                        </a:spcAft>
                        <a:buClr>
                          <a:schemeClr val="dk1"/>
                        </a:buClr>
                        <a:buSzPts val="800"/>
                        <a:buFont typeface="Arial"/>
                        <a:buNone/>
                      </a:pPr>
                      <a:r>
                        <a:rPr sz="800" b="0">
                          <a:latin typeface="Century Gothic"/>
                        </a:rPr>
                        <a:t>Pakistan priority improvements:</a:t>
                      </a:r>
                      <a:endParaRPr/>
                    </a:p>
                    <a:p>
                      <a:r>
                        <a:rPr sz="800" b="0">
                          <a:latin typeface="Century Gothic"/>
                        </a:rPr>
                        <a:t>Unified sub-ledger from 4-5 core banking systems (CTL, Temenos, Oracle, Finacle)</a:t>
                      </a:r>
                    </a:p>
                    <a:p>
                      <a:r>
                        <a:rPr sz="800" b="0">
                          <a:latin typeface="Century Gothic"/>
                        </a:rPr>
                        <a:t>Dual IFRS + AAOIFI accounting entries for Islamic banking operations</a:t>
                      </a:r>
                    </a:p>
                    <a:p>
                      <a:r>
                        <a:rPr sz="800" b="0">
                          <a:latin typeface="Century Gothic"/>
                        </a:rPr>
                        <a:t>Transaction-level detail for IFRS 9 ECL at individual loan level</a:t>
                      </a:r>
                    </a:p>
                    <a:p>
                      <a:r>
                        <a:rPr sz="800" b="0">
                          <a:latin typeface="Century Gothic"/>
                        </a:rPr>
                        <a:t>Consistent chart of accounts mapping across all source systems</a:t>
                      </a:r>
                    </a:p>
                    <a:p>
                      <a:r>
                        <a:rPr sz="800" b="0">
                          <a:latin typeface="Century Gothic"/>
                        </a:rPr>
                        <a:t>Full audit trail: GL balance to source system transaction</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285750" lvl="0" marL="285750" marR="0" rtl="0" algn="l">
                        <a:spcBef>
                          <a:spcPts val="0"/>
                        </a:spcBef>
                        <a:spcAft>
                          <a:spcPts val="0"/>
                        </a:spcAft>
                        <a:buClr>
                          <a:schemeClr val="dk1"/>
                        </a:buClr>
                        <a:buSzPts val="800"/>
                        <a:buFont typeface="Arial"/>
                        <a:buChar char="•"/>
                      </a:pPr>
                      <a:r>
                        <a:rPr sz="800">
                          <a:latin typeface="Century Gothic"/>
                        </a:rPr>
                        <a:t>Single source of truth for all financial reporting (SBP, IFRS, management)</a:t>
                      </a:r>
                      <a:endParaRPr/>
                    </a:p>
                    <a:p>
                      <a:r>
                        <a:rPr sz="800">
                          <a:latin typeface="Century Gothic"/>
                        </a:rPr>
                        <a:t>IFRS 9 ECL calculation enabled by loan-level sub-ledger data</a:t>
                      </a:r>
                    </a:p>
                    <a:p>
                      <a:r>
                        <a:rPr sz="800">
                          <a:latin typeface="Century Gothic"/>
                        </a:rPr>
                        <a:t>External audit efficiency: drill-down from any GL balance</a:t>
                      </a:r>
                    </a:p>
                    <a:p>
                      <a:r>
                        <a:rPr sz="800">
                          <a:latin typeface="Century Gothic"/>
                        </a:rPr>
                        <a:t>Foundation for branch P&amp;L, customer profitability, product profitability</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rowSpan="3">
                  <a:txBody>
                    <a:bodyPr/>
                    <a:lstStyle/>
                    <a:p>
                      <a:pPr indent="0" lvl="0" marL="0" marR="0" rtl="0" algn="ctr">
                        <a:lnSpc>
                          <a:spcPct val="100000"/>
                        </a:lnSpc>
                        <a:spcBef>
                          <a:spcPts val="0"/>
                        </a:spcBef>
                        <a:spcAft>
                          <a:spcPts val="0"/>
                        </a:spcAft>
                        <a:buClr>
                          <a:schemeClr val="dk1"/>
                        </a:buClr>
                        <a:buSzPts val="800"/>
                        <a:buFont typeface="Century Gothic"/>
                        <a:buNone/>
                      </a:pPr>
                      <a:r>
                        <a:rPr b="0" lang="en-GB" sz="800">
                          <a:solidFill>
                            <a:schemeClr val="dk1"/>
                          </a:solidFill>
                        </a:rPr>
                        <a:t>H1 2025 —
H2 2026</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h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Medium</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xBody>
                    <a:bodyPr/>
                    <a:p/>
                  </a:txBody>
                </a:tc>
                <a:tc vMerge="1">
                  <a:txBody>
                    <a:bodyPr/>
                    <a:p/>
                  </a:txBody>
                </a:tc>
                <a:tc gridSpan="2" vMerge="1">
                  <a:txBody>
                    <a:bodyPr/>
                    <a:p/>
                  </a:txBody>
                </a:tc>
                <a:tc hMerge="1" v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Low</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xBody>
                    <a:bodyPr/>
                    <a:p/>
                  </a:txBody>
                </a:tc>
                <a:tc vMerge="1">
                  <a:txBody>
                    <a:bodyPr/>
                    <a:p/>
                  </a:txBody>
                </a:tc>
                <a:tc gridSpan="2" vMerge="1">
                  <a:txBody>
                    <a:bodyPr/>
                    <a:p/>
                  </a:txBody>
                </a:tc>
                <a:tc hMerge="1" vMerge="1">
                  <a:txBody>
                    <a:bodyPr/>
                    <a:p/>
                  </a:txBody>
                </a:tc>
              </a:tr>
            </a:tbl>
          </a:graphicData>
        </a:graphic>
      </p:graphicFrame>
      <p:grpSp>
        <p:nvGrpSpPr>
          <p:cNvPr id="4436" name="Google Shape;4436;p239"/>
          <p:cNvGrpSpPr/>
          <p:nvPr/>
        </p:nvGrpSpPr>
        <p:grpSpPr>
          <a:xfrm>
            <a:off x="7971865" y="980278"/>
            <a:ext cx="949325" cy="2867825"/>
            <a:chOff x="7941888" y="1062037"/>
            <a:chExt cx="983037" cy="2695575"/>
          </a:xfrm>
        </p:grpSpPr>
        <p:sp>
          <p:nvSpPr>
            <p:cNvPr id="4437" name="Google Shape;4437;p239"/>
            <p:cNvSpPr/>
            <p:nvPr/>
          </p:nvSpPr>
          <p:spPr>
            <a:xfrm>
              <a:off x="7941889" y="1062037"/>
              <a:ext cx="983036" cy="2695575"/>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4438" name="Google Shape;4438;p239"/>
            <p:cNvSpPr/>
            <p:nvPr/>
          </p:nvSpPr>
          <p:spPr>
            <a:xfrm>
              <a:off x="7941888" y="2052586"/>
              <a:ext cx="983037" cy="714476"/>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sp>
        <p:nvSpPr>
          <p:cNvPr id="4439" name="Google Shape;4439;p239"/>
          <p:cNvSpPr txBox="1"/>
          <p:nvPr>
            <p:ph type="title"/>
          </p:nvPr>
        </p:nvSpPr>
        <p:spPr>
          <a:xfrm>
            <a:off x="381000" y="296096"/>
            <a:ext cx="8543925" cy="360308"/>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Sub-ledger Accounting</a:t>
            </a:r>
            <a:endParaRPr>
              <a:solidFill>
                <a:schemeClr val="accent6"/>
              </a:solidFill>
            </a:endParaRPr>
          </a:p>
        </p:txBody>
      </p:sp>
      <p:sp>
        <p:nvSpPr>
          <p:cNvPr id="4440" name="Google Shape;4440;p239">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Accounting Operations and Close</a:t>
            </a:r>
            <a:endParaRPr sz="750">
              <a:solidFill>
                <a:schemeClr val="lt1"/>
              </a:solidFill>
              <a:latin typeface="Century Gothic"/>
              <a:ea typeface="Century Gothic"/>
              <a:cs typeface="Century Gothic"/>
              <a:sym typeface="Century Gothic"/>
            </a:endParaRPr>
          </a:p>
        </p:txBody>
      </p:sp>
      <p:grpSp>
        <p:nvGrpSpPr>
          <p:cNvPr id="4441" name="Google Shape;4441;p239"/>
          <p:cNvGrpSpPr/>
          <p:nvPr/>
        </p:nvGrpSpPr>
        <p:grpSpPr>
          <a:xfrm>
            <a:off x="469900" y="3838730"/>
            <a:ext cx="8455025" cy="732866"/>
            <a:chOff x="211138" y="3972860"/>
            <a:chExt cx="8713787" cy="642437"/>
          </a:xfrm>
        </p:grpSpPr>
        <p:sp>
          <p:nvSpPr>
            <p:cNvPr id="4442" name="Google Shape;4442;p239"/>
            <p:cNvSpPr/>
            <p:nvPr/>
          </p:nvSpPr>
          <p:spPr>
            <a:xfrm>
              <a:off x="211138" y="3972860"/>
              <a:ext cx="8713787" cy="642437"/>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4443" name="Google Shape;4443;p239"/>
            <p:cNvSpPr/>
            <p:nvPr/>
          </p:nvSpPr>
          <p:spPr>
            <a:xfrm>
              <a:off x="3692726" y="3982349"/>
              <a:ext cx="1753883" cy="632948"/>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8" name="Shape 4448"/>
        <p:cNvGrpSpPr/>
        <p:nvPr/>
      </p:nvGrpSpPr>
      <p:grpSpPr>
        <a:xfrm>
          <a:off x="0" y="0"/>
          <a:ext cx="0" cy="0"/>
          <a:chOff x="0" y="0"/>
          <a:chExt cx="0" cy="0"/>
        </a:xfrm>
      </p:grpSpPr>
      <p:cxnSp>
        <p:nvCxnSpPr>
          <p:cNvPr id="4449" name="Google Shape;4449;p240"/>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graphicFrame>
        <p:nvGraphicFramePr>
          <p:cNvPr id="4450" name="Google Shape;4450;p240"/>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171450" lvl="0" marL="171450" marR="0" rtl="0" algn="l">
                        <a:lnSpc>
                          <a:spcPct val="100000"/>
                        </a:lnSpc>
                        <a:spcBef>
                          <a:spcPts val="0"/>
                        </a:spcBef>
                        <a:spcAft>
                          <a:spcPts val="0"/>
                        </a:spcAft>
                        <a:buClr>
                          <a:srgbClr val="3C3C3B"/>
                        </a:buClr>
                        <a:buSzPts val="900"/>
                        <a:buFont typeface="Arial"/>
                        <a:buChar char="•"/>
                      </a:pPr>
                      <a:r>
                        <a:rPr lang="en-GB" sz="900">
                          <a:solidFill>
                            <a:srgbClr val="3C3C3B"/>
                          </a:solidFill>
                        </a:rPr>
                        <a:t>Mitigate the impact of adverse movements in </a:t>
                      </a:r>
                      <a:r>
                        <a:rPr lang="en-GB" sz="900">
                          <a:solidFill>
                            <a:srgbClr val="3C3C3B"/>
                          </a:solidFill>
                        </a:rPr>
                        <a:t> volatile  assets and commodities (e.g. currency, interest rates, fuel,)</a:t>
                      </a:r>
                      <a:endParaRPr sz="900">
                        <a:solidFill>
                          <a:srgbClr val="3C3C3B"/>
                        </a:solidFill>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Ability to implement accounting changes and perform Fair Value and Hedge Accounting in an efficient, flexible and cost-effective manner.</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Ability to deliver Hedge Effectiveness tests using an integrated source of robust and validated data.</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Availability of full drilldown and audit trail  </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Automate / remove manual processes</a:t>
                      </a:r>
                      <a:endParaRPr/>
                    </a:p>
                    <a:p>
                      <a:r>
                        <a:rPr sz="900"/>
                        <a:t/>
                      </a:r>
                    </a:p>
                    <a:p>
                      <a:r>
                        <a:rPr sz="900"/>
                        <a:t>Manage fair value for PKR 10T+ government securities (PIBs, T-Bills, Sukuk, Ijara) per SBP classification</a:t>
                      </a:r>
                    </a:p>
                    <a:p>
                      <a:r>
                        <a:rPr sz="900"/>
                        <a:t>Hedge FX exposure — Pakistan banks hold significant USD, GBP, EUR positions for trade/remittance</a:t>
                      </a:r>
                    </a:p>
                    <a:p>
                      <a:r>
                        <a:rPr sz="900"/>
                        <a:t>Comply with IFRS 9 hedge effectiveness requirements — SBP expects robust documentation</a:t>
                      </a:r>
                    </a:p>
                    <a:p>
                      <a:r>
                        <a:rPr sz="900"/>
                        <a:t>Islamic Sukuk valuation under both IFRS and AAOIFI measurement approaches</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xBody>
                    <a:bodyPr/>
                    <a:p/>
                  </a:txBody>
                </a:tc>
                <a:tc vMerge="1">
                  <a:txBody>
                    <a:bodyPr/>
                    <a:p/>
                  </a:txBody>
                </a:tc>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Detailed agreement/product data, e.g. balances, interest rates, fees, commissions, maturities, re-pricing and repayment schedule, counterparty 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Asset, Commodity, F/X rates, internal deal or internal rates on transaction level,</a:t>
                      </a:r>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p>
                      <a:pPr indent="0" lvl="0" marL="0" marR="0" rtl="0" algn="l">
                        <a:spcBef>
                          <a:spcPts val="0"/>
                        </a:spcBef>
                        <a:spcAft>
                          <a:spcPts val="0"/>
                        </a:spcAft>
                        <a:buClr>
                          <a:schemeClr val="dk1"/>
                        </a:buClr>
                        <a:buSzPts val="900"/>
                        <a:buFont typeface="Arial"/>
                        <a:buNone/>
                      </a:pPr>
                      <a:r>
                        <a:rPr b="1" lang="en-GB" sz="900">
                          <a:solidFill>
                            <a:schemeClr val="dk1"/>
                          </a:solidFill>
                        </a:rPr>
                        <a:t>Solution / Analytics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Integrated data repository</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Analytical toolset supporting regression/other statistical techniques to support Prospective and Retrospective  assessments for Hedge Effectiveness tests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Accounting Hub solution running in-database on the data warehouse</a:t>
                      </a:r>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p>
                      <a:r>
                        <a:rPr sz="900"/>
                        <a:t/>
                      </a:r>
                    </a:p>
                    <a:p>
                      <a:r>
                        <a:rPr sz="900"/>
                        <a:t>SBP government securities rates (PKR-denominated PIBs, T-Bills)</a:t>
                      </a:r>
                    </a:p>
                    <a:p>
                      <a:r>
                        <a:rPr sz="900"/>
                        <a:t>KIBOR rates for yield curve construction</a:t>
                      </a:r>
                    </a:p>
                    <a:p>
                      <a:r>
                        <a:rPr sz="900"/>
                        <a:t>FX rates (SBP daily fixing) for foreign currency positions</a:t>
                      </a:r>
                    </a:p>
                    <a:p>
                      <a:r>
                        <a:rPr sz="900"/>
                        <a:t>Islamic Sukuk and Ijara valuations from MUFAP/SBP</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Reduced earnings volatility.</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Accurate representation of the entity’s hedging strategy in the financial statements.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Clear and consistent lineage between financial statements and hedges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Simplified compliance with accounting and regulatory standards.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Removal of manual processes.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Reduction in time and cost due to greater automation</a:t>
                      </a:r>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r>
                        <a:rPr sz="900">
                          <a:latin typeface="Century Gothic"/>
                        </a:rPr>
                        <a:t/>
                      </a:r>
                    </a:p>
                    <a:p>
                      <a:r>
                        <a:rPr sz="900">
                          <a:latin typeface="Century Gothic"/>
                        </a:rPr>
                        <a:t>Accurate P&amp;L impact from HTM/AFS/HFT reclassification under IFRS 9</a:t>
                      </a:r>
                    </a:p>
                    <a:p>
                      <a:r>
                        <a:rPr sz="900">
                          <a:latin typeface="Century Gothic"/>
                        </a:rPr>
                        <a:t>Automated mark-to-market for AFS and HFT government securities</a:t>
                      </a:r>
                    </a:p>
                    <a:p>
                      <a:r>
                        <a:rPr sz="900">
                          <a:latin typeface="Century Gothic"/>
                        </a:rPr>
                        <a:t>SBP-compliant FX open position limit monitoring</a:t>
                      </a:r>
                    </a:p>
                    <a:p>
                      <a:r>
                        <a:rPr sz="900">
                          <a:latin typeface="Century Gothic"/>
                        </a:rPr>
                        <a:t>Hedge effectiveness documentation meeting external audit requirements</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4451" name="Google Shape;4451;p240"/>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Fair Value &amp; Hedge Accounting</a:t>
            </a:r>
            <a:endParaRPr sz="1600"/>
          </a:p>
        </p:txBody>
      </p:sp>
      <p:sp>
        <p:nvSpPr>
          <p:cNvPr id="4452" name="Google Shape;4452;p240">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Accounting Operations and Close</a:t>
            </a:r>
            <a:endParaRPr sz="750">
              <a:solidFill>
                <a:schemeClr val="lt1"/>
              </a:solidFill>
              <a:latin typeface="Century Gothic"/>
              <a:ea typeface="Century Gothic"/>
              <a:cs typeface="Century Gothic"/>
              <a:sym typeface="Century Gothic"/>
            </a:endParaRPr>
          </a:p>
        </p:txBody>
      </p:sp>
      <p:pic>
        <p:nvPicPr>
          <p:cNvPr id="4453" name="Google Shape;4453;p240"/>
          <p:cNvPicPr preferRelativeResize="0"/>
          <p:nvPr/>
        </p:nvPicPr>
        <p:blipFill rotWithShape="1">
          <a:blip r:embed="rId4">
            <a:alphaModFix/>
          </a:blip>
          <a:srcRect b="0" l="0" r="0" t="0"/>
          <a:stretch/>
        </p:blipFill>
        <p:spPr>
          <a:xfrm>
            <a:off x="5648154" y="279312"/>
            <a:ext cx="3316459" cy="2210972"/>
          </a:xfrm>
          <a:prstGeom prst="rect">
            <a:avLst/>
          </a:prstGeom>
          <a:noFill/>
          <a:ln>
            <a:noFill/>
          </a:ln>
        </p:spPr>
      </p:pic>
      <p:grpSp>
        <p:nvGrpSpPr>
          <p:cNvPr id="4454" name="Google Shape;4454;p240"/>
          <p:cNvGrpSpPr/>
          <p:nvPr/>
        </p:nvGrpSpPr>
        <p:grpSpPr>
          <a:xfrm>
            <a:off x="7717533" y="4360377"/>
            <a:ext cx="1058348" cy="347375"/>
            <a:chOff x="7651698" y="4287227"/>
            <a:chExt cx="1058348" cy="347375"/>
          </a:xfrm>
        </p:grpSpPr>
        <p:grpSp>
          <p:nvGrpSpPr>
            <p:cNvPr id="4455" name="Google Shape;4455;p240"/>
            <p:cNvGrpSpPr/>
            <p:nvPr/>
          </p:nvGrpSpPr>
          <p:grpSpPr>
            <a:xfrm>
              <a:off x="7714163" y="4337598"/>
              <a:ext cx="995883" cy="297004"/>
              <a:chOff x="7711013" y="3986494"/>
              <a:chExt cx="995883" cy="297004"/>
            </a:xfrm>
          </p:grpSpPr>
          <p:sp>
            <p:nvSpPr>
              <p:cNvPr id="4456" name="Google Shape;4456;p240"/>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4457" name="Google Shape;4457;p240"/>
              <p:cNvGrpSpPr/>
              <p:nvPr/>
            </p:nvGrpSpPr>
            <p:grpSpPr>
              <a:xfrm>
                <a:off x="7711013" y="4002615"/>
                <a:ext cx="281520" cy="241973"/>
                <a:chOff x="5652748" y="4066000"/>
                <a:chExt cx="906498" cy="747974"/>
              </a:xfrm>
            </p:grpSpPr>
            <p:sp>
              <p:nvSpPr>
                <p:cNvPr id="4458" name="Google Shape;4458;p240"/>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4459" name="Google Shape;4459;p240"/>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460" name="Google Shape;4460;p240"/>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4461" name="Google Shape;4461;p240">
              <a:hlinkClick action="ppaction://hlinksldjump" r:id="rId5"/>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6" name="Shape 4466"/>
        <p:cNvGrpSpPr/>
        <p:nvPr/>
      </p:nvGrpSpPr>
      <p:grpSpPr>
        <a:xfrm>
          <a:off x="0" y="0"/>
          <a:ext cx="0" cy="0"/>
          <a:chOff x="0" y="0"/>
          <a:chExt cx="0" cy="0"/>
        </a:xfrm>
      </p:grpSpPr>
      <p:graphicFrame>
        <p:nvGraphicFramePr>
          <p:cNvPr id="4467" name="Google Shape;4467;p241"/>
          <p:cNvGraphicFramePr/>
          <p:nvPr/>
        </p:nvGraphicFramePr>
        <p:xfrm>
          <a:off x="469899" y="789217"/>
          <a:ext cx="3000000" cy="3000000"/>
        </p:xfrm>
        <a:graphic>
          <a:graphicData uri="http://schemas.openxmlformats.org/drawingml/2006/table">
            <a:tbl>
              <a:tblPr bandRow="1" firstRow="1">
                <a:noFill/>
                <a:tableStyleId>{D098BFCB-6916-41F2-A2A5-0DF0D5139B6F}</a:tableStyleId>
              </a:tblPr>
              <a:tblGrid>
                <a:gridCol w="130325"/>
                <a:gridCol w="556275"/>
                <a:gridCol w="367500"/>
                <a:gridCol w="3170075"/>
                <a:gridCol w="3276050"/>
                <a:gridCol w="477150"/>
                <a:gridCol w="477150"/>
              </a:tblGrid>
              <a:tr h="180850">
                <a:tc gridSpan="3">
                  <a:txBody>
                    <a:bodyPr/>
                    <a:lstStyle/>
                    <a:p>
                      <a:pPr indent="0" lvl="0" marL="0" marR="0" rtl="0" algn="ctr">
                        <a:spcBef>
                          <a:spcPts val="0"/>
                        </a:spcBef>
                        <a:spcAft>
                          <a:spcPts val="0"/>
                        </a:spcAft>
                        <a:buNone/>
                      </a:pPr>
                      <a:r>
                        <a:rPr b="1" lang="en-GB" sz="1200">
                          <a:solidFill>
                            <a:schemeClr val="dk2"/>
                          </a:solidFill>
                        </a:rPr>
                        <a:t>Level</a:t>
                      </a:r>
                      <a:endParaRPr b="1" sz="12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hMerge="1">
                  <a:txBody>
                    <a:bodyPr/>
                    <a:p/>
                  </a:txBody>
                </a:tc>
                <a:tc gridSpan="2">
                  <a:txBody>
                    <a:bodyPr/>
                    <a:lstStyle/>
                    <a:p>
                      <a:pPr indent="0" lvl="0" marL="0" marR="0" rtl="0" algn="ctr">
                        <a:lnSpc>
                          <a:spcPct val="100000"/>
                        </a:lnSpc>
                        <a:spcBef>
                          <a:spcPts val="0"/>
                        </a:spcBef>
                        <a:spcAft>
                          <a:spcPts val="0"/>
                        </a:spcAft>
                        <a:buClr>
                          <a:schemeClr val="dk2"/>
                        </a:buClr>
                        <a:buSzPts val="1200"/>
                        <a:buFont typeface="Century Gothic"/>
                        <a:buNone/>
                      </a:pPr>
                      <a:r>
                        <a:rPr b="1" lang="en-GB" sz="1200">
                          <a:solidFill>
                            <a:schemeClr val="dk2"/>
                          </a:solidFill>
                        </a:rPr>
                        <a:t>Maturity Statement</a:t>
                      </a:r>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rPr b="1" lang="en-GB" sz="800">
                          <a:solidFill>
                            <a:schemeClr val="dk2"/>
                          </a:solidFill>
                        </a:rPr>
                        <a:t>Current</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rPr b="1" lang="en-GB" sz="800">
                          <a:solidFill>
                            <a:schemeClr val="dk2"/>
                          </a:solidFill>
                        </a:rPr>
                        <a:t>Desired</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06C1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Leading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Fair Value and Hedge Accounting is delivered as part of an integrated Accounting Hub solution. Rules-based calculation and accounting functionality enables Fair Value and Hedge Accounting to be performed on a largely automated basis, including detailed audit trail.  Analytical toolset supports hedge optimisation analytics.</a:t>
                      </a:r>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037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F7513"/>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Innovating</a:t>
                      </a:r>
                      <a:endParaRPr/>
                    </a:p>
                    <a:p>
                      <a:pPr indent="0" lvl="0" marL="0" marR="0" rtl="0" algn="ctr">
                        <a:spcBef>
                          <a:spcPts val="0"/>
                        </a:spcBef>
                        <a:spcAft>
                          <a:spcPts val="0"/>
                        </a:spcAft>
                        <a:buNone/>
                      </a:pPr>
                      <a:r>
                        <a:t/>
                      </a:r>
                      <a:endParaRPr b="1" sz="1000">
                        <a:solidFill>
                          <a:schemeClr val="dk2"/>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Fair Value &amp; Hedge Accounting is performed on a somewhat automated basis using a dedicated application, which sources  all of the required data from a single integrated source. </a:t>
                      </a:r>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C891C"/>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Practicing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Fair Value &amp; Hedge Accounting is performed using a dedicated application, which sources data from a single integrated source. </a:t>
                      </a:r>
                      <a:endParaRPr/>
                    </a:p>
                    <a:p>
                      <a:pPr indent="0" lvl="0" marL="0" marR="0" rtl="0" algn="l">
                        <a:lnSpc>
                          <a:spcPct val="100000"/>
                        </a:lnSpc>
                        <a:spcBef>
                          <a:spcPts val="0"/>
                        </a:spcBef>
                        <a:spcAft>
                          <a:spcPts val="0"/>
                        </a:spcAft>
                        <a:buClr>
                          <a:schemeClr val="dk1"/>
                        </a:buClr>
                        <a:buSzPts val="900"/>
                        <a:buFont typeface="Century Gothic"/>
                        <a:buNone/>
                      </a:pPr>
                      <a:r>
                        <a:t/>
                      </a:r>
                      <a:endParaRPr b="0" sz="900">
                        <a:solidFill>
                          <a:schemeClr val="dk1"/>
                        </a:solidFill>
                        <a:latin typeface="Century Gothic"/>
                        <a:ea typeface="Century Gothic"/>
                        <a:cs typeface="Century Gothic"/>
                        <a:sym typeface="Century Gothic"/>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lnSpc>
                          <a:spcPct val="100000"/>
                        </a:lnSpc>
                        <a:spcBef>
                          <a:spcPts val="0"/>
                        </a:spcBef>
                        <a:spcAft>
                          <a:spcPts val="0"/>
                        </a:spcAft>
                        <a:buClr>
                          <a:schemeClr val="dk1"/>
                        </a:buClr>
                        <a:buSzPts val="1400"/>
                        <a:buFont typeface="Century Gothic"/>
                        <a:buNone/>
                      </a:pPr>
                      <a:r>
                        <a:t/>
                      </a:r>
                      <a:endParaRPr sz="1400">
                        <a:solidFill>
                          <a:schemeClr val="dk1"/>
                        </a:solidFill>
                        <a:latin typeface="Noto Sans Symbols"/>
                        <a:ea typeface="Noto Sans Symbols"/>
                        <a:cs typeface="Noto Sans Symbols"/>
                        <a:sym typeface="Noto Sans Symbols"/>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E9B4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Developing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Fair Value &amp; Hedge Accounting is performed using a dedicated application which sources data directly from disparate sources.</a:t>
                      </a:r>
                      <a:endParaRPr/>
                    </a:p>
                    <a:p>
                      <a:pPr indent="0" lvl="0" marL="0" marR="0" rtl="0" algn="l">
                        <a:lnSpc>
                          <a:spcPct val="100000"/>
                        </a:lnSpc>
                        <a:spcBef>
                          <a:spcPts val="0"/>
                        </a:spcBef>
                        <a:spcAft>
                          <a:spcPts val="0"/>
                        </a:spcAft>
                        <a:buClr>
                          <a:schemeClr val="dk1"/>
                        </a:buClr>
                        <a:buSzPts val="900"/>
                        <a:buFont typeface="Century Gothic"/>
                        <a:buNone/>
                      </a:pPr>
                      <a:r>
                        <a:t/>
                      </a:r>
                      <a:endParaRPr b="0" sz="900">
                        <a:solidFill>
                          <a:schemeClr val="dk1"/>
                        </a:solidFill>
                        <a:latin typeface="Century Gothic"/>
                        <a:ea typeface="Century Gothic"/>
                        <a:cs typeface="Century Gothic"/>
                        <a:sym typeface="Century Gothic"/>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037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1AE65"/>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Emerging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Fair Value &amp; Hedge Accounting processes are manually-intensive and utilise disparate sources of data which are subject to validation and integration effort.</a:t>
                      </a:r>
                      <a:endParaRPr/>
                    </a:p>
                    <a:p>
                      <a:pPr indent="0" lvl="0" marL="0" marR="0" rtl="0" algn="l">
                        <a:lnSpc>
                          <a:spcPct val="100000"/>
                        </a:lnSpc>
                        <a:spcBef>
                          <a:spcPts val="0"/>
                        </a:spcBef>
                        <a:spcAft>
                          <a:spcPts val="0"/>
                        </a:spcAft>
                        <a:buClr>
                          <a:schemeClr val="dk1"/>
                        </a:buClr>
                        <a:buSzPts val="900"/>
                        <a:buFont typeface="Century Gothic"/>
                        <a:buNone/>
                      </a:pPr>
                      <a:r>
                        <a:t/>
                      </a:r>
                      <a:endParaRPr b="0" sz="900">
                        <a:solidFill>
                          <a:schemeClr val="dk1"/>
                        </a:solidFill>
                        <a:latin typeface="Century Gothic"/>
                        <a:ea typeface="Century Gothic"/>
                        <a:cs typeface="Century Gothic"/>
                        <a:sym typeface="Century Gothic"/>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178750">
                <a:tc gridSpan="3">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Priority</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hMerge="1">
                  <a:txBody>
                    <a:bodyPr/>
                    <a:p/>
                  </a:txBody>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Key areas for improvement</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Benefits from uplift</a:t>
                      </a:r>
                      <a:endParaRPr b="1" sz="1000">
                        <a:solidFill>
                          <a:schemeClr val="dk2"/>
                        </a:solidFill>
                        <a:latin typeface="Century Gothic"/>
                        <a:ea typeface="Century Gothic"/>
                        <a:cs typeface="Century Gothic"/>
                        <a:sym typeface="Century Gothic"/>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a:txBody>
                    <a:bodyPr/>
                    <a:lstStyle/>
                    <a:p>
                      <a:pPr indent="0" lvl="0" marL="0" marR="0" rtl="0" algn="ctr">
                        <a:spcBef>
                          <a:spcPts val="0"/>
                        </a:spcBef>
                        <a:spcAft>
                          <a:spcPts val="0"/>
                        </a:spcAft>
                        <a:buNone/>
                      </a:pPr>
                      <a:r>
                        <a:rPr b="1" lang="en-GB" sz="1000">
                          <a:solidFill>
                            <a:schemeClr val="dk2"/>
                          </a:solidFill>
                        </a:rPr>
                        <a:t>Timeframe</a:t>
                      </a:r>
                      <a:endParaRPr b="1" sz="1000">
                        <a:solidFill>
                          <a:schemeClr val="dk2"/>
                        </a:solidFill>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High</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rPr lang="en-GB" sz="1000">
                          <a:solidFill>
                            <a:schemeClr val="dk1"/>
                          </a:solidFill>
                          <a:latin typeface="Noto Sans Symbols"/>
                          <a:ea typeface="Noto Sans Symbols"/>
                          <a:cs typeface="Noto Sans Symbols"/>
                          <a:sym typeface="Noto Sans Symbols"/>
                        </a:rPr>
                        <a:t>✔</a:t>
                      </a:r>
                      <a:endParaRPr b="1" sz="10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0" lvl="0" marL="0" marR="0" rtl="0" algn="l">
                        <a:lnSpc>
                          <a:spcPct val="100000"/>
                        </a:lnSpc>
                        <a:spcBef>
                          <a:spcPts val="0"/>
                        </a:spcBef>
                        <a:spcAft>
                          <a:spcPts val="0"/>
                        </a:spcAft>
                        <a:buClr>
                          <a:schemeClr val="dk1"/>
                        </a:buClr>
                        <a:buSzPts val="800"/>
                        <a:buFont typeface="Arial"/>
                        <a:buNone/>
                      </a:pPr>
                      <a:r>
                        <a:rPr sz="800" b="0">
                          <a:latin typeface="Century Gothic"/>
                        </a:rPr>
                        <a:t>Pakistan priority improvements:</a:t>
                      </a:r>
                      <a:endParaRPr/>
                    </a:p>
                    <a:p>
                      <a:r>
                        <a:rPr sz="800" b="0">
                          <a:latin typeface="Century Gothic"/>
                        </a:rPr>
                        <a:t>PKR 10T+ government securities portfolio fair value management</a:t>
                      </a:r>
                    </a:p>
                    <a:p>
                      <a:r>
                        <a:rPr sz="800" b="0">
                          <a:latin typeface="Century Gothic"/>
                        </a:rPr>
                        <a:t>SBP HTM/AFS/HFT classification impact on P&amp;L and OCI</a:t>
                      </a:r>
                    </a:p>
                    <a:p>
                      <a:r>
                        <a:rPr sz="800" b="0">
                          <a:latin typeface="Century Gothic"/>
                        </a:rPr>
                        <a:t>FX hedge documentation meeting IFRS 9 and SBP requirements</a:t>
                      </a:r>
                    </a:p>
                    <a:p>
                      <a:r>
                        <a:rPr sz="800" b="0">
                          <a:latin typeface="Century Gothic"/>
                        </a:rPr>
                        <a:t>Islamic Sukuk/Ijara fair valuation under both IFRS and AAOIFI</a:t>
                      </a:r>
                    </a:p>
                    <a:p>
                      <a:r>
                        <a:rPr sz="800" b="0">
                          <a:latin typeface="Century Gothic"/>
                        </a:rPr>
                        <a:t>Daily mark-to-market automation for AFS and HFT portfolios</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285750" lvl="0" marL="285750" marR="0" rtl="0" algn="l">
                        <a:spcBef>
                          <a:spcPts val="0"/>
                        </a:spcBef>
                        <a:spcAft>
                          <a:spcPts val="0"/>
                        </a:spcAft>
                        <a:buClr>
                          <a:schemeClr val="dk1"/>
                        </a:buClr>
                        <a:buSzPts val="800"/>
                        <a:buFont typeface="Arial"/>
                        <a:buChar char="•"/>
                      </a:pPr>
                      <a:r>
                        <a:rPr sz="800">
                          <a:latin typeface="Century Gothic"/>
                        </a:rPr>
                        <a:t>Accurate P&amp;L impact from government securities portfolio movements</a:t>
                      </a:r>
                      <a:endParaRPr/>
                    </a:p>
                    <a:p>
                      <a:r>
                        <a:rPr sz="800">
                          <a:latin typeface="Century Gothic"/>
                        </a:rPr>
                        <a:t>SBP-compliant FX open position limit monitoring</a:t>
                      </a:r>
                    </a:p>
                    <a:p>
                      <a:r>
                        <a:rPr sz="800">
                          <a:latin typeface="Century Gothic"/>
                        </a:rPr>
                        <a:t>Reduced earnings volatility through proper hedge accounting</a:t>
                      </a:r>
                    </a:p>
                    <a:p>
                      <a:r>
                        <a:rPr sz="800">
                          <a:latin typeface="Century Gothic"/>
                        </a:rPr>
                        <a:t>External audit sign-off on hedge effectiveness documentation</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rowSpan="3">
                  <a:txBody>
                    <a:bodyPr/>
                    <a:lstStyle/>
                    <a:p>
                      <a:pPr indent="0" lvl="0" marL="0" marR="0" rtl="0" algn="ctr">
                        <a:lnSpc>
                          <a:spcPct val="100000"/>
                        </a:lnSpc>
                        <a:spcBef>
                          <a:spcPts val="0"/>
                        </a:spcBef>
                        <a:spcAft>
                          <a:spcPts val="0"/>
                        </a:spcAft>
                        <a:buClr>
                          <a:schemeClr val="dk1"/>
                        </a:buClr>
                        <a:buSzPts val="800"/>
                        <a:buFont typeface="Century Gothic"/>
                        <a:buNone/>
                      </a:pPr>
                      <a:r>
                        <a:rPr b="0" lang="en-GB" sz="800">
                          <a:solidFill>
                            <a:schemeClr val="dk1"/>
                          </a:solidFill>
                        </a:rPr>
                        <a:t>H1 2025 —
H2 2026</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h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Medium</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xBody>
                    <a:bodyPr/>
                    <a:p/>
                  </a:txBody>
                </a:tc>
                <a:tc vMerge="1">
                  <a:txBody>
                    <a:bodyPr/>
                    <a:p/>
                  </a:txBody>
                </a:tc>
                <a:tc gridSpan="2" vMerge="1">
                  <a:txBody>
                    <a:bodyPr/>
                    <a:p/>
                  </a:txBody>
                </a:tc>
                <a:tc hMerge="1" v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Low</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xBody>
                    <a:bodyPr/>
                    <a:p/>
                  </a:txBody>
                </a:tc>
                <a:tc vMerge="1">
                  <a:txBody>
                    <a:bodyPr/>
                    <a:p/>
                  </a:txBody>
                </a:tc>
                <a:tc gridSpan="2" vMerge="1">
                  <a:txBody>
                    <a:bodyPr/>
                    <a:p/>
                  </a:txBody>
                </a:tc>
                <a:tc hMerge="1" vMerge="1">
                  <a:txBody>
                    <a:bodyPr/>
                    <a:p/>
                  </a:txBody>
                </a:tc>
              </a:tr>
            </a:tbl>
          </a:graphicData>
        </a:graphic>
      </p:graphicFrame>
      <p:grpSp>
        <p:nvGrpSpPr>
          <p:cNvPr id="4468" name="Google Shape;4468;p241"/>
          <p:cNvGrpSpPr/>
          <p:nvPr/>
        </p:nvGrpSpPr>
        <p:grpSpPr>
          <a:xfrm>
            <a:off x="469900" y="3819680"/>
            <a:ext cx="8455025" cy="732866"/>
            <a:chOff x="211138" y="3972860"/>
            <a:chExt cx="8713787" cy="642437"/>
          </a:xfrm>
        </p:grpSpPr>
        <p:sp>
          <p:nvSpPr>
            <p:cNvPr id="4469" name="Google Shape;4469;p241"/>
            <p:cNvSpPr/>
            <p:nvPr/>
          </p:nvSpPr>
          <p:spPr>
            <a:xfrm>
              <a:off x="211138" y="3972860"/>
              <a:ext cx="8713787" cy="642437"/>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4470" name="Google Shape;4470;p241"/>
            <p:cNvSpPr/>
            <p:nvPr/>
          </p:nvSpPr>
          <p:spPr>
            <a:xfrm>
              <a:off x="3692726" y="3982349"/>
              <a:ext cx="1753883" cy="632948"/>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grpSp>
        <p:nvGrpSpPr>
          <p:cNvPr id="4471" name="Google Shape;4471;p241"/>
          <p:cNvGrpSpPr/>
          <p:nvPr/>
        </p:nvGrpSpPr>
        <p:grpSpPr>
          <a:xfrm>
            <a:off x="7971865" y="980278"/>
            <a:ext cx="949325" cy="2867825"/>
            <a:chOff x="7941888" y="1062037"/>
            <a:chExt cx="983037" cy="2695575"/>
          </a:xfrm>
        </p:grpSpPr>
        <p:sp>
          <p:nvSpPr>
            <p:cNvPr id="4472" name="Google Shape;4472;p241"/>
            <p:cNvSpPr/>
            <p:nvPr/>
          </p:nvSpPr>
          <p:spPr>
            <a:xfrm>
              <a:off x="7941889" y="1062037"/>
              <a:ext cx="983036" cy="2695575"/>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4473" name="Google Shape;4473;p241"/>
            <p:cNvSpPr/>
            <p:nvPr/>
          </p:nvSpPr>
          <p:spPr>
            <a:xfrm>
              <a:off x="7941888" y="2052586"/>
              <a:ext cx="983037" cy="714476"/>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sp>
        <p:nvSpPr>
          <p:cNvPr id="4474" name="Google Shape;4474;p241"/>
          <p:cNvSpPr txBox="1"/>
          <p:nvPr>
            <p:ph type="title"/>
          </p:nvPr>
        </p:nvSpPr>
        <p:spPr>
          <a:xfrm>
            <a:off x="381000" y="296096"/>
            <a:ext cx="8543925" cy="360308"/>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Fair Value &amp; Hedge Accounting</a:t>
            </a:r>
            <a:endParaRPr>
              <a:solidFill>
                <a:schemeClr val="accent6"/>
              </a:solidFill>
            </a:endParaRPr>
          </a:p>
        </p:txBody>
      </p:sp>
      <p:sp>
        <p:nvSpPr>
          <p:cNvPr id="4475" name="Google Shape;4475;p241">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Accounting Operations and Close</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0" name="Shape 4480"/>
        <p:cNvGrpSpPr/>
        <p:nvPr/>
      </p:nvGrpSpPr>
      <p:grpSpPr>
        <a:xfrm>
          <a:off x="0" y="0"/>
          <a:ext cx="0" cy="0"/>
          <a:chOff x="0" y="0"/>
          <a:chExt cx="0" cy="0"/>
        </a:xfrm>
      </p:grpSpPr>
      <p:cxnSp>
        <p:nvCxnSpPr>
          <p:cNvPr id="4481" name="Google Shape;4481;p242"/>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graphicFrame>
        <p:nvGraphicFramePr>
          <p:cNvPr id="4482" name="Google Shape;4482;p242"/>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Comply with all relevant accounting standard for valuation of assets.</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Ensure that all impairments are identified and recognised on a timely basis.</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Ensure that all valuation rules are consistently applied.</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Manage changes to accounting standards and valuation rules efficiently and with minimal time and cost.</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Support packaging and collateralisation of assets</a:t>
                      </a:r>
                      <a:endParaRPr/>
                    </a:p>
                    <a:p>
                      <a:pPr indent="-114300" lvl="0" marL="171450" marR="0" rtl="0" algn="l">
                        <a:lnSpc>
                          <a:spcPct val="100000"/>
                        </a:lnSpc>
                        <a:spcBef>
                          <a:spcPts val="0"/>
                        </a:spcBef>
                        <a:spcAft>
                          <a:spcPts val="0"/>
                        </a:spcAft>
                        <a:buClr>
                          <a:schemeClr val="dk1"/>
                        </a:buClr>
                        <a:buSzPts val="900"/>
                        <a:buFont typeface="Arial"/>
                        <a:buNone/>
                      </a:pPr>
                      <a:r>
                        <a:t/>
                      </a:r>
                      <a:endParaRPr b="0"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b="0"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b="0" sz="900">
                        <a:solidFill>
                          <a:schemeClr val="dk1"/>
                        </a:solidFill>
                      </a:endParaRPr>
                    </a:p>
                    <a:p>
                      <a:r>
                        <a:rPr sz="900">
                          <a:latin typeface="Century Gothic"/>
                        </a:rPr>
                        <a:t/>
                      </a:r>
                    </a:p>
                    <a:p>
                      <a:r>
                        <a:rPr sz="900">
                          <a:latin typeface="Century Gothic"/>
                        </a:rPr>
                        <a:t>Value bank physical assets: 16,000+ branch properties, ATM network, IT infrastructure, vehicle fleet</a:t>
                      </a:r>
                    </a:p>
                    <a:p>
                      <a:r>
                        <a:rPr sz="900">
                          <a:latin typeface="Century Gothic"/>
                        </a:rPr>
                        <a:t>IFRS 9 impairment assessment for investment portfolio</a:t>
                      </a:r>
                    </a:p>
                    <a:p>
                      <a:r>
                        <a:rPr sz="900">
                          <a:latin typeface="Century Gothic"/>
                        </a:rPr>
                        <a:t>Comply with SBP Fixed Asset regulations (revaluation surplus for Tier 2 capital)</a:t>
                      </a:r>
                    </a:p>
                    <a:p>
                      <a:r>
                        <a:rPr sz="900">
                          <a:latin typeface="Century Gothic"/>
                        </a:rPr>
                        <a:t>Collateral valuations for secured lending portfolio (property, vehicle, gold, shares)</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xBody>
                    <a:bodyPr/>
                    <a:p/>
                  </a:txBody>
                </a:tc>
                <a:tc vMerge="1">
                  <a:txBody>
                    <a:bodyPr/>
                    <a:p/>
                  </a:txBody>
                </a:tc>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Financial system transactional 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Operational system transactional 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Accounting &amp; Other Reference 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Market Prices and valuations</a:t>
                      </a:r>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p>
                      <a:pPr indent="0" lvl="0" marL="0" marR="0" rtl="0" algn="l">
                        <a:spcBef>
                          <a:spcPts val="0"/>
                        </a:spcBef>
                        <a:spcAft>
                          <a:spcPts val="0"/>
                        </a:spcAft>
                        <a:buClr>
                          <a:schemeClr val="dk1"/>
                        </a:buClr>
                        <a:buSzPts val="900"/>
                        <a:buFont typeface="Arial"/>
                        <a:buNone/>
                      </a:pPr>
                      <a:r>
                        <a:rPr b="1" lang="en-GB" sz="900">
                          <a:solidFill>
                            <a:schemeClr val="dk1"/>
                          </a:solidFill>
                        </a:rPr>
                        <a:t>Solution / Analytics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Integrated data repository</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Accounting Hub</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Workflow engine</a:t>
                      </a:r>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p>
                      <a:r>
                        <a:rPr sz="900"/>
                        <a:t/>
                      </a:r>
                    </a:p>
                    <a:p>
                      <a:r>
                        <a:rPr sz="900"/>
                        <a:t>Branch property valuations updated per SBP requirements (every 3-5 years)</a:t>
                      </a:r>
                    </a:p>
                    <a:p>
                      <a:r>
                        <a:rPr sz="900"/>
                        <a:t>IT asset register across all bank locations</a:t>
                      </a:r>
                    </a:p>
                    <a:p>
                      <a:r>
                        <a:rPr sz="900"/>
                        <a:t>Investment portfolio market values (daily for AFS/HFT)</a:t>
                      </a:r>
                    </a:p>
                    <a:p>
                      <a:r>
                        <a:rPr sz="900"/>
                        <a:t>Collateral valuations for PKR 13T+ lending portfolio</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Full visibility and audit trail of:</a:t>
                      </a:r>
                      <a:endParaRPr/>
                    </a:p>
                    <a:p>
                      <a:pPr indent="-171450" lvl="1" marL="363538" marR="0" rtl="0" algn="l">
                        <a:lnSpc>
                          <a:spcPct val="100000"/>
                        </a:lnSpc>
                        <a:spcBef>
                          <a:spcPts val="0"/>
                        </a:spcBef>
                        <a:spcAft>
                          <a:spcPts val="0"/>
                        </a:spcAft>
                        <a:buClr>
                          <a:schemeClr val="dk1"/>
                        </a:buClr>
                        <a:buSzPts val="900"/>
                        <a:buFont typeface="Century Gothic"/>
                        <a:buChar char="−"/>
                      </a:pPr>
                      <a:r>
                        <a:rPr lang="en-GB" sz="900" u="none" cap="none" strike="noStrike">
                          <a:solidFill>
                            <a:schemeClr val="dk1"/>
                          </a:solidFill>
                          <a:latin typeface="Century Gothic"/>
                          <a:ea typeface="Century Gothic"/>
                          <a:cs typeface="Century Gothic"/>
                          <a:sym typeface="Century Gothic"/>
                        </a:rPr>
                        <a:t>Accounting standards, methodologies and rules applied on original recording and all subsequent revaluations &amp; adjustments.</a:t>
                      </a:r>
                      <a:endParaRPr/>
                    </a:p>
                    <a:p>
                      <a:pPr indent="-171450" lvl="1" marL="363538" marR="0" rtl="0" algn="l">
                        <a:lnSpc>
                          <a:spcPct val="100000"/>
                        </a:lnSpc>
                        <a:spcBef>
                          <a:spcPts val="0"/>
                        </a:spcBef>
                        <a:spcAft>
                          <a:spcPts val="0"/>
                        </a:spcAft>
                        <a:buClr>
                          <a:schemeClr val="dk1"/>
                        </a:buClr>
                        <a:buSzPts val="900"/>
                        <a:buFont typeface="Century Gothic"/>
                        <a:buChar char="−"/>
                      </a:pPr>
                      <a:r>
                        <a:rPr lang="en-GB" sz="900" u="none" cap="none" strike="noStrike">
                          <a:solidFill>
                            <a:schemeClr val="dk1"/>
                          </a:solidFill>
                          <a:latin typeface="Century Gothic"/>
                          <a:ea typeface="Century Gothic"/>
                          <a:cs typeface="Century Gothic"/>
                          <a:sym typeface="Century Gothic"/>
                        </a:rPr>
                        <a:t>Valuation and adjustment amounts, dates etc.</a:t>
                      </a:r>
                      <a:endParaRPr/>
                    </a:p>
                    <a:p>
                      <a:pPr indent="-171450" lvl="1" marL="363538" marR="0" rtl="0" algn="l">
                        <a:lnSpc>
                          <a:spcPct val="100000"/>
                        </a:lnSpc>
                        <a:spcBef>
                          <a:spcPts val="0"/>
                        </a:spcBef>
                        <a:spcAft>
                          <a:spcPts val="0"/>
                        </a:spcAft>
                        <a:buClr>
                          <a:schemeClr val="dk1"/>
                        </a:buClr>
                        <a:buSzPts val="900"/>
                        <a:buFont typeface="Century Gothic"/>
                        <a:buChar char="−"/>
                      </a:pPr>
                      <a:r>
                        <a:rPr lang="en-GB" sz="900" u="none" cap="none" strike="noStrike">
                          <a:solidFill>
                            <a:schemeClr val="dk1"/>
                          </a:solidFill>
                          <a:latin typeface="Century Gothic"/>
                          <a:ea typeface="Century Gothic"/>
                          <a:cs typeface="Century Gothic"/>
                          <a:sym typeface="Century Gothic"/>
                        </a:rPr>
                        <a:t>Supporting documentation</a:t>
                      </a:r>
                      <a:endParaRPr/>
                    </a:p>
                    <a:p>
                      <a:pPr indent="-171450" lvl="1" marL="363538" marR="0" rtl="0" algn="l">
                        <a:lnSpc>
                          <a:spcPct val="100000"/>
                        </a:lnSpc>
                        <a:spcBef>
                          <a:spcPts val="0"/>
                        </a:spcBef>
                        <a:spcAft>
                          <a:spcPts val="0"/>
                        </a:spcAft>
                        <a:buClr>
                          <a:schemeClr val="dk1"/>
                        </a:buClr>
                        <a:buSzPts val="900"/>
                        <a:buFont typeface="Century Gothic"/>
                        <a:buChar char="−"/>
                      </a:pPr>
                      <a:r>
                        <a:rPr lang="en-GB" sz="900" u="none" cap="none" strike="noStrike">
                          <a:solidFill>
                            <a:schemeClr val="dk1"/>
                          </a:solidFill>
                          <a:latin typeface="Century Gothic"/>
                          <a:ea typeface="Century Gothic"/>
                          <a:cs typeface="Century Gothic"/>
                          <a:sym typeface="Century Gothic"/>
                        </a:rPr>
                        <a:t>Approvals</a:t>
                      </a:r>
                      <a:endParaRPr/>
                    </a:p>
                    <a:p>
                      <a:pPr indent="-180975" lvl="0" marL="180975"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More effective:</a:t>
                      </a:r>
                      <a:endParaRPr/>
                    </a:p>
                    <a:p>
                      <a:pPr indent="-169862" lvl="1" marL="361950" marR="0" rtl="0" algn="l">
                        <a:lnSpc>
                          <a:spcPct val="100000"/>
                        </a:lnSpc>
                        <a:spcBef>
                          <a:spcPts val="0"/>
                        </a:spcBef>
                        <a:spcAft>
                          <a:spcPts val="0"/>
                        </a:spcAft>
                        <a:buClr>
                          <a:schemeClr val="dk1"/>
                        </a:buClr>
                        <a:buSzPts val="900"/>
                        <a:buFont typeface="Arial"/>
                        <a:buChar char="•"/>
                      </a:pPr>
                      <a:r>
                        <a:rPr lang="en-GB" sz="900" u="none" cap="none" strike="noStrike">
                          <a:solidFill>
                            <a:schemeClr val="dk1"/>
                          </a:solidFill>
                          <a:latin typeface="Century Gothic"/>
                          <a:ea typeface="Century Gothic"/>
                          <a:cs typeface="Century Gothic"/>
                          <a:sym typeface="Century Gothic"/>
                        </a:rPr>
                        <a:t>Decisions  on acquisitions and sales of assets</a:t>
                      </a:r>
                      <a:endParaRPr/>
                    </a:p>
                    <a:p>
                      <a:pPr indent="-169862" lvl="1" marL="361950" marR="0" rtl="0" algn="l">
                        <a:lnSpc>
                          <a:spcPct val="100000"/>
                        </a:lnSpc>
                        <a:spcBef>
                          <a:spcPts val="0"/>
                        </a:spcBef>
                        <a:spcAft>
                          <a:spcPts val="0"/>
                        </a:spcAft>
                        <a:buClr>
                          <a:schemeClr val="dk1"/>
                        </a:buClr>
                        <a:buSzPts val="900"/>
                        <a:buFont typeface="Arial"/>
                        <a:buChar char="•"/>
                      </a:pPr>
                      <a:r>
                        <a:rPr lang="en-GB" sz="900" u="none" cap="none" strike="noStrike">
                          <a:solidFill>
                            <a:schemeClr val="dk1"/>
                          </a:solidFill>
                          <a:latin typeface="Century Gothic"/>
                          <a:ea typeface="Century Gothic"/>
                          <a:cs typeface="Century Gothic"/>
                          <a:sym typeface="Century Gothic"/>
                        </a:rPr>
                        <a:t>Management of assets</a:t>
                      </a:r>
                      <a:endParaRPr/>
                    </a:p>
                    <a:p>
                      <a:pPr indent="-180975" lvl="0" marL="180975"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adaptability to evolving valuation rules</a:t>
                      </a:r>
                      <a:endParaRPr/>
                    </a:p>
                    <a:p>
                      <a:pPr indent="-180975" lvl="0" marL="180975"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Recognition of undervalued assets</a:t>
                      </a:r>
                      <a:endParaRPr/>
                    </a:p>
                    <a:p>
                      <a:r>
                        <a:rPr sz="900">
                          <a:latin typeface="Century Gothic"/>
                        </a:rPr>
                        <a:t/>
                      </a:r>
                    </a:p>
                    <a:p>
                      <a:r>
                        <a:rPr sz="900">
                          <a:latin typeface="Century Gothic"/>
                        </a:rPr>
                        <a:t>Accurate regulatory capital from revaluation surplus (Tier 2)</a:t>
                      </a:r>
                    </a:p>
                    <a:p>
                      <a:r>
                        <a:rPr sz="900">
                          <a:latin typeface="Century Gothic"/>
                        </a:rPr>
                        <a:t>Automated impairment testing per IFRS 9 and IAS 36</a:t>
                      </a:r>
                    </a:p>
                    <a:p>
                      <a:r>
                        <a:rPr sz="900">
                          <a:latin typeface="Century Gothic"/>
                        </a:rPr>
                        <a:t>Collateral coverage monitoring for secured lending risk management</a:t>
                      </a:r>
                    </a:p>
                    <a:p>
                      <a:r>
                        <a:rPr sz="900">
                          <a:latin typeface="Century Gothic"/>
                        </a:rPr>
                        <a:t>Complete fixed asset lifecycle tracking across 16,000+ locations</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4483" name="Google Shape;4483;p242"/>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Asset Valuations</a:t>
            </a:r>
            <a:endParaRPr sz="1600"/>
          </a:p>
        </p:txBody>
      </p:sp>
      <p:sp>
        <p:nvSpPr>
          <p:cNvPr id="4484" name="Google Shape;4484;p242">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Accounting Operations and Close</a:t>
            </a:r>
            <a:endParaRPr sz="750">
              <a:solidFill>
                <a:schemeClr val="lt1"/>
              </a:solidFill>
              <a:latin typeface="Century Gothic"/>
              <a:ea typeface="Century Gothic"/>
              <a:cs typeface="Century Gothic"/>
              <a:sym typeface="Century Gothic"/>
            </a:endParaRPr>
          </a:p>
        </p:txBody>
      </p:sp>
      <p:pic>
        <p:nvPicPr>
          <p:cNvPr id="4485" name="Google Shape;4485;p242"/>
          <p:cNvPicPr preferRelativeResize="0"/>
          <p:nvPr/>
        </p:nvPicPr>
        <p:blipFill rotWithShape="1">
          <a:blip r:embed="rId4">
            <a:alphaModFix/>
          </a:blip>
          <a:srcRect b="0" l="0" r="0" t="0"/>
          <a:stretch/>
        </p:blipFill>
        <p:spPr>
          <a:xfrm>
            <a:off x="5648154" y="279312"/>
            <a:ext cx="3316459" cy="2210972"/>
          </a:xfrm>
          <a:prstGeom prst="rect">
            <a:avLst/>
          </a:prstGeom>
          <a:noFill/>
          <a:ln>
            <a:noFill/>
          </a:ln>
        </p:spPr>
      </p:pic>
      <p:grpSp>
        <p:nvGrpSpPr>
          <p:cNvPr id="4486" name="Google Shape;4486;p242"/>
          <p:cNvGrpSpPr/>
          <p:nvPr/>
        </p:nvGrpSpPr>
        <p:grpSpPr>
          <a:xfrm>
            <a:off x="7717533" y="4360377"/>
            <a:ext cx="1058348" cy="347375"/>
            <a:chOff x="7651698" y="4287227"/>
            <a:chExt cx="1058348" cy="347375"/>
          </a:xfrm>
        </p:grpSpPr>
        <p:grpSp>
          <p:nvGrpSpPr>
            <p:cNvPr id="4487" name="Google Shape;4487;p242"/>
            <p:cNvGrpSpPr/>
            <p:nvPr/>
          </p:nvGrpSpPr>
          <p:grpSpPr>
            <a:xfrm>
              <a:off x="7714163" y="4337598"/>
              <a:ext cx="995883" cy="297004"/>
              <a:chOff x="7711013" y="3986494"/>
              <a:chExt cx="995883" cy="297004"/>
            </a:xfrm>
          </p:grpSpPr>
          <p:sp>
            <p:nvSpPr>
              <p:cNvPr id="4488" name="Google Shape;4488;p242"/>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4489" name="Google Shape;4489;p242"/>
              <p:cNvGrpSpPr/>
              <p:nvPr/>
            </p:nvGrpSpPr>
            <p:grpSpPr>
              <a:xfrm>
                <a:off x="7711013" y="4002615"/>
                <a:ext cx="281520" cy="241973"/>
                <a:chOff x="5652748" y="4066000"/>
                <a:chExt cx="906498" cy="747974"/>
              </a:xfrm>
            </p:grpSpPr>
            <p:sp>
              <p:nvSpPr>
                <p:cNvPr id="4490" name="Google Shape;4490;p242"/>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4491" name="Google Shape;4491;p242"/>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492" name="Google Shape;4492;p242"/>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4493" name="Google Shape;4493;p242">
              <a:hlinkClick action="ppaction://hlinksldjump" r:id="rId5"/>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8" name="Shape 4498"/>
        <p:cNvGrpSpPr/>
        <p:nvPr/>
      </p:nvGrpSpPr>
      <p:grpSpPr>
        <a:xfrm>
          <a:off x="0" y="0"/>
          <a:ext cx="0" cy="0"/>
          <a:chOff x="0" y="0"/>
          <a:chExt cx="0" cy="0"/>
        </a:xfrm>
      </p:grpSpPr>
      <p:graphicFrame>
        <p:nvGraphicFramePr>
          <p:cNvPr id="4499" name="Google Shape;4499;p243"/>
          <p:cNvGraphicFramePr/>
          <p:nvPr/>
        </p:nvGraphicFramePr>
        <p:xfrm>
          <a:off x="469899" y="789217"/>
          <a:ext cx="3000000" cy="3000000"/>
        </p:xfrm>
        <a:graphic>
          <a:graphicData uri="http://schemas.openxmlformats.org/drawingml/2006/table">
            <a:tbl>
              <a:tblPr bandRow="1" firstRow="1">
                <a:noFill/>
                <a:tableStyleId>{D098BFCB-6916-41F2-A2A5-0DF0D5139B6F}</a:tableStyleId>
              </a:tblPr>
              <a:tblGrid>
                <a:gridCol w="130325"/>
                <a:gridCol w="556275"/>
                <a:gridCol w="367500"/>
                <a:gridCol w="3170075"/>
                <a:gridCol w="3276050"/>
                <a:gridCol w="477150"/>
                <a:gridCol w="477150"/>
              </a:tblGrid>
              <a:tr h="180850">
                <a:tc gridSpan="3">
                  <a:txBody>
                    <a:bodyPr/>
                    <a:lstStyle/>
                    <a:p>
                      <a:pPr indent="0" lvl="0" marL="0" marR="0" rtl="0" algn="ctr">
                        <a:spcBef>
                          <a:spcPts val="0"/>
                        </a:spcBef>
                        <a:spcAft>
                          <a:spcPts val="0"/>
                        </a:spcAft>
                        <a:buNone/>
                      </a:pPr>
                      <a:r>
                        <a:rPr b="1" lang="en-GB" sz="1200">
                          <a:solidFill>
                            <a:schemeClr val="dk2"/>
                          </a:solidFill>
                        </a:rPr>
                        <a:t>Level</a:t>
                      </a:r>
                      <a:endParaRPr b="1" sz="12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hMerge="1">
                  <a:txBody>
                    <a:bodyPr/>
                    <a:p/>
                  </a:txBody>
                </a:tc>
                <a:tc gridSpan="2">
                  <a:txBody>
                    <a:bodyPr/>
                    <a:lstStyle/>
                    <a:p>
                      <a:pPr indent="0" lvl="0" marL="0" marR="0" rtl="0" algn="ctr">
                        <a:lnSpc>
                          <a:spcPct val="100000"/>
                        </a:lnSpc>
                        <a:spcBef>
                          <a:spcPts val="0"/>
                        </a:spcBef>
                        <a:spcAft>
                          <a:spcPts val="0"/>
                        </a:spcAft>
                        <a:buClr>
                          <a:schemeClr val="dk2"/>
                        </a:buClr>
                        <a:buSzPts val="1200"/>
                        <a:buFont typeface="Century Gothic"/>
                        <a:buNone/>
                      </a:pPr>
                      <a:r>
                        <a:rPr b="1" lang="en-GB" sz="1200">
                          <a:solidFill>
                            <a:schemeClr val="dk2"/>
                          </a:solidFill>
                        </a:rPr>
                        <a:t>Maturity Statement</a:t>
                      </a:r>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rPr b="1" lang="en-GB" sz="800">
                          <a:solidFill>
                            <a:schemeClr val="dk2"/>
                          </a:solidFill>
                        </a:rPr>
                        <a:t>Current</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rPr b="1" lang="en-GB" sz="800">
                          <a:solidFill>
                            <a:schemeClr val="dk2"/>
                          </a:solidFill>
                        </a:rPr>
                        <a:t>Desired</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06C1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Leading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Asset valuations are based on sophisticated statistical and analytical models and meets all relevant accounting standards. Granular, integrated and up-to-date data is available with minimal manual effort, and a rules-based Accounting Hub is used to perform calculations, apply Accounting rules, and create accounting entries. Any manual intervention is managed using workflow functionality.</a:t>
                      </a:r>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037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F7513"/>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Innovating</a:t>
                      </a:r>
                      <a:endParaRPr/>
                    </a:p>
                    <a:p>
                      <a:pPr indent="0" lvl="0" marL="0" marR="0" rtl="0" algn="ctr">
                        <a:spcBef>
                          <a:spcPts val="0"/>
                        </a:spcBef>
                        <a:spcAft>
                          <a:spcPts val="0"/>
                        </a:spcAft>
                        <a:buNone/>
                      </a:pPr>
                      <a:r>
                        <a:t/>
                      </a:r>
                      <a:endParaRPr b="1" sz="1000">
                        <a:solidFill>
                          <a:schemeClr val="dk2"/>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Asset valuations are based on statistical and analytical models and meets all relevant accounting standards. Data used is mostly available from an integrated source. The process, including identification of impairments and creation of accounting entries, is mostly automated, but often hard-coded. Any manual intervention is managed using workflow functionality.</a:t>
                      </a:r>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C891C"/>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Practicing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Asset valuations are mostly calculated on a granular basis, and mostly use data from an integrated source. Manual effort to source, validate and integrate data is much reduced. Accounting calculations and rules are mostly hard-coded.</a:t>
                      </a:r>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lnSpc>
                          <a:spcPct val="100000"/>
                        </a:lnSpc>
                        <a:spcBef>
                          <a:spcPts val="0"/>
                        </a:spcBef>
                        <a:spcAft>
                          <a:spcPts val="0"/>
                        </a:spcAft>
                        <a:buClr>
                          <a:schemeClr val="dk1"/>
                        </a:buClr>
                        <a:buSzPts val="1400"/>
                        <a:buFont typeface="Century Gothic"/>
                        <a:buNone/>
                      </a:pPr>
                      <a:r>
                        <a:t/>
                      </a:r>
                      <a:endParaRPr sz="1400">
                        <a:solidFill>
                          <a:schemeClr val="dk1"/>
                        </a:solidFill>
                        <a:latin typeface="Noto Sans Symbols"/>
                        <a:ea typeface="Noto Sans Symbols"/>
                        <a:cs typeface="Noto Sans Symbols"/>
                        <a:sym typeface="Noto Sans Symbols"/>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E9B4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Developing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Asset valuations are calculated on a mix of aggregate and granular basis. Some integrated data is used, however much is still obtained from disparate sources. Manual effort to source, validate and integrate data is still significant.</a:t>
                      </a:r>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037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1AE65"/>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Emerging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Asset valuations are calculated on a aggregate basis using manually-intensive processes. Data is obtained from disparate sources and is subject to manual  validation and integration effort. </a:t>
                      </a:r>
                      <a:endParaRPr/>
                    </a:p>
                    <a:p>
                      <a:pPr indent="0" lvl="0" marL="0" marR="0" rtl="0" algn="l">
                        <a:lnSpc>
                          <a:spcPct val="100000"/>
                        </a:lnSpc>
                        <a:spcBef>
                          <a:spcPts val="0"/>
                        </a:spcBef>
                        <a:spcAft>
                          <a:spcPts val="0"/>
                        </a:spcAft>
                        <a:buClr>
                          <a:schemeClr val="dk1"/>
                        </a:buClr>
                        <a:buSzPts val="900"/>
                        <a:buFont typeface="Century Gothic"/>
                        <a:buNone/>
                      </a:pPr>
                      <a:r>
                        <a:t/>
                      </a:r>
                      <a:endParaRPr b="0" sz="900">
                        <a:solidFill>
                          <a:schemeClr val="dk1"/>
                        </a:solidFill>
                        <a:latin typeface="Century Gothic"/>
                        <a:ea typeface="Century Gothic"/>
                        <a:cs typeface="Century Gothic"/>
                        <a:sym typeface="Century Gothic"/>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178750">
                <a:tc gridSpan="3">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Priority</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hMerge="1">
                  <a:txBody>
                    <a:bodyPr/>
                    <a:p/>
                  </a:txBody>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Key areas for improvement</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Benefits from uplift</a:t>
                      </a:r>
                      <a:endParaRPr b="1" sz="1000">
                        <a:solidFill>
                          <a:schemeClr val="dk2"/>
                        </a:solidFill>
                        <a:latin typeface="Century Gothic"/>
                        <a:ea typeface="Century Gothic"/>
                        <a:cs typeface="Century Gothic"/>
                        <a:sym typeface="Century Gothic"/>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a:txBody>
                    <a:bodyPr/>
                    <a:lstStyle/>
                    <a:p>
                      <a:pPr indent="0" lvl="0" marL="0" marR="0" rtl="0" algn="ctr">
                        <a:spcBef>
                          <a:spcPts val="0"/>
                        </a:spcBef>
                        <a:spcAft>
                          <a:spcPts val="0"/>
                        </a:spcAft>
                        <a:buNone/>
                      </a:pPr>
                      <a:r>
                        <a:rPr b="1" lang="en-GB" sz="1000">
                          <a:solidFill>
                            <a:schemeClr val="dk2"/>
                          </a:solidFill>
                        </a:rPr>
                        <a:t>Timeframe</a:t>
                      </a:r>
                      <a:endParaRPr b="1" sz="1000">
                        <a:solidFill>
                          <a:schemeClr val="dk2"/>
                        </a:solidFill>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High</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rPr lang="en-GB" sz="1000">
                          <a:solidFill>
                            <a:schemeClr val="dk1"/>
                          </a:solidFill>
                          <a:latin typeface="Noto Sans Symbols"/>
                          <a:ea typeface="Noto Sans Symbols"/>
                          <a:cs typeface="Noto Sans Symbols"/>
                          <a:sym typeface="Noto Sans Symbols"/>
                        </a:rPr>
                        <a:t>✔</a:t>
                      </a:r>
                      <a:endParaRPr b="1" sz="10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0" lvl="0" marL="0" marR="0" rtl="0" algn="l">
                        <a:lnSpc>
                          <a:spcPct val="100000"/>
                        </a:lnSpc>
                        <a:spcBef>
                          <a:spcPts val="0"/>
                        </a:spcBef>
                        <a:spcAft>
                          <a:spcPts val="0"/>
                        </a:spcAft>
                        <a:buClr>
                          <a:schemeClr val="dk1"/>
                        </a:buClr>
                        <a:buSzPts val="800"/>
                        <a:buFont typeface="Arial"/>
                        <a:buNone/>
                      </a:pPr>
                      <a:r>
                        <a:rPr sz="800" b="0">
                          <a:latin typeface="Century Gothic"/>
                        </a:rPr>
                        <a:t>Pakistan priority improvements:</a:t>
                      </a:r>
                      <a:endParaRPr/>
                    </a:p>
                    <a:p>
                      <a:r>
                        <a:rPr sz="800" b="0">
                          <a:latin typeface="Century Gothic"/>
                        </a:rPr>
                        <a:t>16,000+ branch property revaluation management (SBP 3-5 year cycle)</a:t>
                      </a:r>
                    </a:p>
                    <a:p>
                      <a:r>
                        <a:rPr sz="800" b="0">
                          <a:latin typeface="Century Gothic"/>
                        </a:rPr>
                        <a:t>IFRS 9 impairment testing for investment portfolio</a:t>
                      </a:r>
                    </a:p>
                    <a:p>
                      <a:r>
                        <a:rPr sz="800" b="0">
                          <a:latin typeface="Century Gothic"/>
                        </a:rPr>
                        <a:t>Collateral valuation for PKR 13T+ secured lending portfolio</a:t>
                      </a:r>
                    </a:p>
                    <a:p>
                      <a:r>
                        <a:rPr sz="800" b="0">
                          <a:latin typeface="Century Gothic"/>
                        </a:rPr>
                        <a:t>Fixed asset lifecycle tracking across all bank locations</a:t>
                      </a:r>
                    </a:p>
                    <a:p>
                      <a:r>
                        <a:rPr sz="800" b="0">
                          <a:latin typeface="Century Gothic"/>
                        </a:rPr>
                        <a:t>Revaluation surplus management for SBP Tier 2 capital calculation</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285750" lvl="0" marL="285750" marR="0" rtl="0" algn="l">
                        <a:spcBef>
                          <a:spcPts val="0"/>
                        </a:spcBef>
                        <a:spcAft>
                          <a:spcPts val="0"/>
                        </a:spcAft>
                        <a:buClr>
                          <a:schemeClr val="dk1"/>
                        </a:buClr>
                        <a:buSzPts val="800"/>
                        <a:buFont typeface="Arial"/>
                        <a:buChar char="•"/>
                      </a:pPr>
                      <a:r>
                        <a:rPr sz="800">
                          <a:latin typeface="Century Gothic"/>
                        </a:rPr>
                        <a:t>Regulatory capital optimization from accurate revaluation surplus</a:t>
                      </a:r>
                      <a:endParaRPr/>
                    </a:p>
                    <a:p>
                      <a:r>
                        <a:rPr sz="800">
                          <a:latin typeface="Century Gothic"/>
                        </a:rPr>
                        <a:t>Timely impairment recognition per IFRS 9 and IAS 36</a:t>
                      </a:r>
                    </a:p>
                    <a:p>
                      <a:r>
                        <a:rPr sz="800">
                          <a:latin typeface="Century Gothic"/>
                        </a:rPr>
                        <a:t>Improved collateral coverage monitoring for credit risk management</a:t>
                      </a:r>
                    </a:p>
                    <a:p>
                      <a:r>
                        <a:rPr sz="800">
                          <a:latin typeface="Century Gothic"/>
                        </a:rPr>
                        <a:t>Complete asset register for insurance and depreciation management</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rowSpan="3">
                  <a:txBody>
                    <a:bodyPr/>
                    <a:lstStyle/>
                    <a:p>
                      <a:pPr indent="0" lvl="0" marL="0" marR="0" rtl="0" algn="ctr">
                        <a:lnSpc>
                          <a:spcPct val="100000"/>
                        </a:lnSpc>
                        <a:spcBef>
                          <a:spcPts val="0"/>
                        </a:spcBef>
                        <a:spcAft>
                          <a:spcPts val="0"/>
                        </a:spcAft>
                        <a:buClr>
                          <a:schemeClr val="dk1"/>
                        </a:buClr>
                        <a:buSzPts val="800"/>
                        <a:buFont typeface="Century Gothic"/>
                        <a:buNone/>
                      </a:pPr>
                      <a:r>
                        <a:rPr b="0" lang="en-GB" sz="800">
                          <a:solidFill>
                            <a:schemeClr val="dk1"/>
                          </a:solidFill>
                        </a:rPr>
                        <a:t>H1 2025 —
H2 2026</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h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Medium</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xBody>
                    <a:bodyPr/>
                    <a:p/>
                  </a:txBody>
                </a:tc>
                <a:tc vMerge="1">
                  <a:txBody>
                    <a:bodyPr/>
                    <a:p/>
                  </a:txBody>
                </a:tc>
                <a:tc gridSpan="2" vMerge="1">
                  <a:txBody>
                    <a:bodyPr/>
                    <a:p/>
                  </a:txBody>
                </a:tc>
                <a:tc hMerge="1" v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Low</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xBody>
                    <a:bodyPr/>
                    <a:p/>
                  </a:txBody>
                </a:tc>
                <a:tc vMerge="1">
                  <a:txBody>
                    <a:bodyPr/>
                    <a:p/>
                  </a:txBody>
                </a:tc>
                <a:tc gridSpan="2" vMerge="1">
                  <a:txBody>
                    <a:bodyPr/>
                    <a:p/>
                  </a:txBody>
                </a:tc>
                <a:tc hMerge="1" vMerge="1">
                  <a:txBody>
                    <a:bodyPr/>
                    <a:p/>
                  </a:txBody>
                </a:tc>
              </a:tr>
            </a:tbl>
          </a:graphicData>
        </a:graphic>
      </p:graphicFrame>
      <p:grpSp>
        <p:nvGrpSpPr>
          <p:cNvPr id="4500" name="Google Shape;4500;p243"/>
          <p:cNvGrpSpPr/>
          <p:nvPr/>
        </p:nvGrpSpPr>
        <p:grpSpPr>
          <a:xfrm>
            <a:off x="469900" y="3850502"/>
            <a:ext cx="8455025" cy="732866"/>
            <a:chOff x="211138" y="3972860"/>
            <a:chExt cx="8713787" cy="642437"/>
          </a:xfrm>
        </p:grpSpPr>
        <p:sp>
          <p:nvSpPr>
            <p:cNvPr id="4501" name="Google Shape;4501;p243"/>
            <p:cNvSpPr/>
            <p:nvPr/>
          </p:nvSpPr>
          <p:spPr>
            <a:xfrm>
              <a:off x="211138" y="3972860"/>
              <a:ext cx="8713787" cy="642437"/>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4502" name="Google Shape;4502;p243"/>
            <p:cNvSpPr/>
            <p:nvPr/>
          </p:nvSpPr>
          <p:spPr>
            <a:xfrm>
              <a:off x="3692726" y="3982349"/>
              <a:ext cx="1753883" cy="632948"/>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grpSp>
        <p:nvGrpSpPr>
          <p:cNvPr id="4503" name="Google Shape;4503;p243"/>
          <p:cNvGrpSpPr/>
          <p:nvPr/>
        </p:nvGrpSpPr>
        <p:grpSpPr>
          <a:xfrm>
            <a:off x="7971865" y="980278"/>
            <a:ext cx="949325" cy="2867825"/>
            <a:chOff x="7941888" y="1062037"/>
            <a:chExt cx="983037" cy="2695575"/>
          </a:xfrm>
        </p:grpSpPr>
        <p:sp>
          <p:nvSpPr>
            <p:cNvPr id="4504" name="Google Shape;4504;p243"/>
            <p:cNvSpPr/>
            <p:nvPr/>
          </p:nvSpPr>
          <p:spPr>
            <a:xfrm>
              <a:off x="7941889" y="1062037"/>
              <a:ext cx="983036" cy="2695575"/>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4505" name="Google Shape;4505;p243"/>
            <p:cNvSpPr/>
            <p:nvPr/>
          </p:nvSpPr>
          <p:spPr>
            <a:xfrm>
              <a:off x="7941888" y="2052586"/>
              <a:ext cx="983037" cy="714476"/>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sp>
        <p:nvSpPr>
          <p:cNvPr id="4506" name="Google Shape;4506;p243"/>
          <p:cNvSpPr txBox="1"/>
          <p:nvPr>
            <p:ph type="title"/>
          </p:nvPr>
        </p:nvSpPr>
        <p:spPr>
          <a:xfrm>
            <a:off x="381000" y="296096"/>
            <a:ext cx="8543925" cy="360308"/>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Asset Valuations</a:t>
            </a:r>
            <a:endParaRPr>
              <a:solidFill>
                <a:schemeClr val="accent6"/>
              </a:solidFill>
            </a:endParaRPr>
          </a:p>
        </p:txBody>
      </p:sp>
      <p:sp>
        <p:nvSpPr>
          <p:cNvPr id="4507" name="Google Shape;4507;p243">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Accounting Operations and Close</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2" name="Shape 4512"/>
        <p:cNvGrpSpPr/>
        <p:nvPr/>
      </p:nvGrpSpPr>
      <p:grpSpPr>
        <a:xfrm>
          <a:off x="0" y="0"/>
          <a:ext cx="0" cy="0"/>
          <a:chOff x="0" y="0"/>
          <a:chExt cx="0" cy="0"/>
        </a:xfrm>
      </p:grpSpPr>
      <p:cxnSp>
        <p:nvCxnSpPr>
          <p:cNvPr id="4513" name="Google Shape;4513;p244"/>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graphicFrame>
        <p:nvGraphicFramePr>
          <p:cNvPr id="4514" name="Google Shape;4514;p244"/>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Accurately estimate and account for future losses and/or establish reserves in recognition of anticipated:</a:t>
                      </a:r>
                      <a:endParaRPr/>
                    </a:p>
                    <a:p>
                      <a:pPr indent="-171450" lvl="0" marL="363538" marR="0" rtl="0" algn="l">
                        <a:lnSpc>
                          <a:spcPct val="100000"/>
                        </a:lnSpc>
                        <a:spcBef>
                          <a:spcPts val="0"/>
                        </a:spcBef>
                        <a:spcAft>
                          <a:spcPts val="0"/>
                        </a:spcAft>
                        <a:buClr>
                          <a:schemeClr val="dk1"/>
                        </a:buClr>
                        <a:buSzPts val="900"/>
                        <a:buFont typeface="Century Gothic"/>
                        <a:buChar char="−"/>
                      </a:pPr>
                      <a:r>
                        <a:rPr b="0" lang="en-GB" sz="900">
                          <a:solidFill>
                            <a:schemeClr val="dk1"/>
                          </a:solidFill>
                        </a:rPr>
                        <a:t>Bad debts and other ‘Contra-Assets’</a:t>
                      </a:r>
                      <a:endParaRPr/>
                    </a:p>
                    <a:p>
                      <a:pPr indent="-171450" lvl="0" marL="363538" marR="0" rtl="0" algn="l">
                        <a:lnSpc>
                          <a:spcPct val="100000"/>
                        </a:lnSpc>
                        <a:spcBef>
                          <a:spcPts val="0"/>
                        </a:spcBef>
                        <a:spcAft>
                          <a:spcPts val="0"/>
                        </a:spcAft>
                        <a:buClr>
                          <a:schemeClr val="dk1"/>
                        </a:buClr>
                        <a:buSzPts val="900"/>
                        <a:buFont typeface="Century Gothic"/>
                        <a:buChar char="−"/>
                      </a:pPr>
                      <a:r>
                        <a:rPr b="0" lang="en-GB" sz="900">
                          <a:solidFill>
                            <a:schemeClr val="dk1"/>
                          </a:solidFill>
                        </a:rPr>
                        <a:t>Asset impairments</a:t>
                      </a:r>
                      <a:endParaRPr/>
                    </a:p>
                    <a:p>
                      <a:pPr indent="-171450" lvl="0" marL="363538" marR="0" rtl="0" algn="l">
                        <a:lnSpc>
                          <a:spcPct val="100000"/>
                        </a:lnSpc>
                        <a:spcBef>
                          <a:spcPts val="0"/>
                        </a:spcBef>
                        <a:spcAft>
                          <a:spcPts val="0"/>
                        </a:spcAft>
                        <a:buClr>
                          <a:schemeClr val="dk1"/>
                        </a:buClr>
                        <a:buSzPts val="900"/>
                        <a:buFont typeface="Century Gothic"/>
                        <a:buChar char="−"/>
                      </a:pPr>
                      <a:r>
                        <a:rPr b="0" lang="en-GB" sz="900">
                          <a:solidFill>
                            <a:schemeClr val="dk1"/>
                          </a:solidFill>
                        </a:rPr>
                        <a:t>Warranty costs</a:t>
                      </a:r>
                      <a:endParaRPr/>
                    </a:p>
                    <a:p>
                      <a:pPr indent="-171450" lvl="0" marL="363538" marR="0" rtl="0" algn="l">
                        <a:lnSpc>
                          <a:spcPct val="100000"/>
                        </a:lnSpc>
                        <a:spcBef>
                          <a:spcPts val="0"/>
                        </a:spcBef>
                        <a:spcAft>
                          <a:spcPts val="0"/>
                        </a:spcAft>
                        <a:buClr>
                          <a:schemeClr val="dk1"/>
                        </a:buClr>
                        <a:buSzPts val="900"/>
                        <a:buFont typeface="Century Gothic"/>
                        <a:buChar char="−"/>
                      </a:pPr>
                      <a:r>
                        <a:rPr b="0" lang="en-GB" sz="900">
                          <a:solidFill>
                            <a:schemeClr val="dk1"/>
                          </a:solidFill>
                        </a:rPr>
                        <a:t>Gift cards</a:t>
                      </a:r>
                      <a:endParaRPr/>
                    </a:p>
                    <a:p>
                      <a:pPr indent="-171450" lvl="0" marL="363538" marR="0" rtl="0" algn="l">
                        <a:lnSpc>
                          <a:spcPct val="100000"/>
                        </a:lnSpc>
                        <a:spcBef>
                          <a:spcPts val="0"/>
                        </a:spcBef>
                        <a:spcAft>
                          <a:spcPts val="0"/>
                        </a:spcAft>
                        <a:buClr>
                          <a:schemeClr val="dk1"/>
                        </a:buClr>
                        <a:buSzPts val="900"/>
                        <a:buFont typeface="Century Gothic"/>
                        <a:buChar char="−"/>
                      </a:pPr>
                      <a:r>
                        <a:rPr b="0" lang="en-GB" sz="900">
                          <a:solidFill>
                            <a:schemeClr val="dk1"/>
                          </a:solidFill>
                        </a:rPr>
                        <a:t>Loyalty programmes</a:t>
                      </a:r>
                      <a:endParaRPr b="0" sz="900">
                        <a:solidFill>
                          <a:schemeClr val="dk1"/>
                        </a:solidFill>
                      </a:endParaRPr>
                    </a:p>
                    <a:p>
                      <a:pPr indent="0" lvl="0" marL="192088" marR="0" rtl="0" algn="l">
                        <a:lnSpc>
                          <a:spcPct val="100000"/>
                        </a:lnSpc>
                        <a:spcBef>
                          <a:spcPts val="0"/>
                        </a:spcBef>
                        <a:spcAft>
                          <a:spcPts val="0"/>
                        </a:spcAft>
                        <a:buClr>
                          <a:schemeClr val="dk1"/>
                        </a:buClr>
                        <a:buSzPts val="900"/>
                        <a:buFont typeface="Century Gothic"/>
                        <a:buNone/>
                      </a:pPr>
                      <a:r>
                        <a:t/>
                      </a:r>
                      <a:endParaRPr b="0" sz="900">
                        <a:solidFill>
                          <a:schemeClr val="dk1"/>
                        </a:solidFill>
                      </a:endParaRPr>
                    </a:p>
                    <a:p>
                      <a:r>
                        <a:rPr sz="900">
                          <a:latin typeface="Century Gothic"/>
                        </a:rPr>
                        <a:t/>
                      </a:r>
                    </a:p>
                    <a:p>
                      <a:r>
                        <a:rPr sz="900">
                          <a:latin typeface="Century Gothic"/>
                        </a:rPr>
                        <a:t>Calculate IFRS 9 ECL reserves at individual loan level (PD x LGD x EAD)</a:t>
                      </a:r>
                    </a:p>
                    <a:p>
                      <a:r>
                        <a:rPr sz="900">
                          <a:latin typeface="Century Gothic"/>
                        </a:rPr>
                        <a:t>Maintain general provisions (1-2% per SBP) plus specific provisions (25-100%) on classified assets</a:t>
                      </a:r>
                    </a:p>
                    <a:p>
                      <a:r>
                        <a:rPr sz="900">
                          <a:latin typeface="Century Gothic"/>
                        </a:rPr>
                        <a:t>Islamic banking provisioning for Diminishing Musharaka, Ijarah, Murabaha under IFRS 9 + AAOIFI FAS 30</a:t>
                      </a:r>
                    </a:p>
                    <a:p>
                      <a:r>
                        <a:rPr sz="900">
                          <a:latin typeface="Century Gothic"/>
                        </a:rPr>
                        <a:t>Forward-looking ECL with Pakistan macroeconomic scenarios (GDP, inflation, KIBOR, default rates)</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xBody>
                    <a:bodyPr/>
                    <a:p/>
                  </a:txBody>
                </a:tc>
                <a:tc vMerge="1">
                  <a:txBody>
                    <a:bodyPr/>
                    <a:p/>
                  </a:txBody>
                </a:tc>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Historic losses, redemptions, warranty claims, recalls, product/component traceability etc. at a granular level</a:t>
                      </a:r>
                      <a:endParaRPr/>
                    </a:p>
                    <a:p>
                      <a:pPr indent="-179388" lvl="0" marL="179388" marR="0" rtl="0" algn="l">
                        <a:lnSpc>
                          <a:spcPct val="100000"/>
                        </a:lnSpc>
                        <a:spcBef>
                          <a:spcPts val="0"/>
                        </a:spcBef>
                        <a:spcAft>
                          <a:spcPts val="0"/>
                        </a:spcAft>
                        <a:buClr>
                          <a:schemeClr val="dk1"/>
                        </a:buClr>
                        <a:buSzPts val="900"/>
                        <a:buFont typeface="Arial"/>
                        <a:buChar char="•"/>
                      </a:pPr>
                      <a:r>
                        <a:rPr lang="en-GB" sz="900">
                          <a:solidFill>
                            <a:schemeClr val="dk1"/>
                          </a:solidFill>
                        </a:rPr>
                        <a:t>Unstructured data (e.g. sensors, call centre logs, social media, supplier terms &amp; conditions</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Reference data</a:t>
                      </a:r>
                      <a:endParaRPr/>
                    </a:p>
                    <a:p>
                      <a:pPr indent="0" lvl="0" marL="0" marR="0" rtl="0" algn="l">
                        <a:spcBef>
                          <a:spcPts val="0"/>
                        </a:spcBef>
                        <a:spcAft>
                          <a:spcPts val="0"/>
                        </a:spcAft>
                        <a:buClr>
                          <a:schemeClr val="dk1"/>
                        </a:buClr>
                        <a:buSzPts val="900"/>
                        <a:buFont typeface="Arial"/>
                        <a:buNone/>
                      </a:pPr>
                      <a:r>
                        <a:rPr b="1" lang="en-GB" sz="900">
                          <a:solidFill>
                            <a:schemeClr val="dk1"/>
                          </a:solidFill>
                        </a:rPr>
                        <a:t>Solution / Analytics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Integrated data repository</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Statistical analytic toolset</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Advanced analytic toolset</a:t>
                      </a:r>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p>
                      <a:r>
                        <a:rPr sz="900"/>
                        <a:t/>
                      </a:r>
                    </a:p>
                    <a:p>
                      <a:r>
                        <a:rPr sz="900"/>
                        <a:t>ECIB credit bureau data for PD estimation</a:t>
                      </a:r>
                    </a:p>
                    <a:p>
                      <a:r>
                        <a:rPr sz="900"/>
                        <a:t>Historical default and recovery data (5+ years) for LGD calibration</a:t>
                      </a:r>
                    </a:p>
                    <a:p>
                      <a:r>
                        <a:rPr sz="900"/>
                        <a:t>Collateral values for secured loan LGD reduction</a:t>
                      </a:r>
                    </a:p>
                    <a:p>
                      <a:r>
                        <a:rPr sz="900"/>
                        <a:t>Restructured loan data and customer financial statements</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The calculated reserves are sufficient to properly reflect and account for estimated future losses or liabilities.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Provisions or reserves are established at the required level of detail or granularity (e.g. by Contract, Product, etc)</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Over-provisioning is avoided</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Reserves are calculated with minimal manual intervention based on up up-to-date and accurate data.</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Net movements in provisions and reserves are calculated and accounted for on an automated basis.</a:t>
                      </a:r>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r>
                        <a:rPr sz="900">
                          <a:latin typeface="Century Gothic"/>
                        </a:rPr>
                        <a:t/>
                      </a:r>
                    </a:p>
                    <a:p>
                      <a:r>
                        <a:rPr sz="900">
                          <a:latin typeface="Century Gothic"/>
                        </a:rPr>
                        <a:t>IFRS 9 ECL automation: Stage 1/2/3 classification with SICR monitoring</a:t>
                      </a:r>
                    </a:p>
                    <a:p>
                      <a:r>
                        <a:rPr sz="900">
                          <a:latin typeface="Century Gothic"/>
                        </a:rPr>
                        <a:t>SBP-compliant provisioning with regulatory overlay capability</a:t>
                      </a:r>
                    </a:p>
                    <a:p>
                      <a:r>
                        <a:rPr sz="900">
                          <a:latin typeface="Century Gothic"/>
                        </a:rPr>
                        <a:t>Reduced external audit findings on provisioning adequacy</a:t>
                      </a:r>
                    </a:p>
                    <a:p>
                      <a:r>
                        <a:rPr sz="900">
                          <a:latin typeface="Century Gothic"/>
                        </a:rPr>
                        <a:t>Pakistan macro-scenario-driven ECL for stress testing and SBP reporting</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4515" name="Google Shape;4515;p244"/>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Reserve Analytics</a:t>
            </a:r>
            <a:endParaRPr sz="1600"/>
          </a:p>
        </p:txBody>
      </p:sp>
      <p:sp>
        <p:nvSpPr>
          <p:cNvPr id="4516" name="Google Shape;4516;p244">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Accounting Operations and Close</a:t>
            </a:r>
            <a:endParaRPr sz="750">
              <a:solidFill>
                <a:schemeClr val="lt1"/>
              </a:solidFill>
              <a:latin typeface="Century Gothic"/>
              <a:ea typeface="Century Gothic"/>
              <a:cs typeface="Century Gothic"/>
              <a:sym typeface="Century Gothic"/>
            </a:endParaRPr>
          </a:p>
        </p:txBody>
      </p:sp>
      <p:pic>
        <p:nvPicPr>
          <p:cNvPr id="4517" name="Google Shape;4517;p244"/>
          <p:cNvPicPr preferRelativeResize="0"/>
          <p:nvPr/>
        </p:nvPicPr>
        <p:blipFill rotWithShape="1">
          <a:blip r:embed="rId4">
            <a:alphaModFix/>
          </a:blip>
          <a:srcRect b="0" l="0" r="0" t="0"/>
          <a:stretch/>
        </p:blipFill>
        <p:spPr>
          <a:xfrm>
            <a:off x="5648154" y="279312"/>
            <a:ext cx="3316459" cy="2210972"/>
          </a:xfrm>
          <a:prstGeom prst="rect">
            <a:avLst/>
          </a:prstGeom>
          <a:noFill/>
          <a:ln>
            <a:noFill/>
          </a:ln>
        </p:spPr>
      </p:pic>
      <p:grpSp>
        <p:nvGrpSpPr>
          <p:cNvPr id="4518" name="Google Shape;4518;p244"/>
          <p:cNvGrpSpPr/>
          <p:nvPr/>
        </p:nvGrpSpPr>
        <p:grpSpPr>
          <a:xfrm>
            <a:off x="7717533" y="4360377"/>
            <a:ext cx="1058348" cy="347375"/>
            <a:chOff x="7651698" y="4287227"/>
            <a:chExt cx="1058348" cy="347375"/>
          </a:xfrm>
        </p:grpSpPr>
        <p:grpSp>
          <p:nvGrpSpPr>
            <p:cNvPr id="4519" name="Google Shape;4519;p244"/>
            <p:cNvGrpSpPr/>
            <p:nvPr/>
          </p:nvGrpSpPr>
          <p:grpSpPr>
            <a:xfrm>
              <a:off x="7714163" y="4337598"/>
              <a:ext cx="995883" cy="297004"/>
              <a:chOff x="7711013" y="3986494"/>
              <a:chExt cx="995883" cy="297004"/>
            </a:xfrm>
          </p:grpSpPr>
          <p:sp>
            <p:nvSpPr>
              <p:cNvPr id="4520" name="Google Shape;4520;p244"/>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4521" name="Google Shape;4521;p244"/>
              <p:cNvGrpSpPr/>
              <p:nvPr/>
            </p:nvGrpSpPr>
            <p:grpSpPr>
              <a:xfrm>
                <a:off x="7711013" y="4002615"/>
                <a:ext cx="281520" cy="241973"/>
                <a:chOff x="5652748" y="4066000"/>
                <a:chExt cx="906498" cy="747974"/>
              </a:xfrm>
            </p:grpSpPr>
            <p:sp>
              <p:nvSpPr>
                <p:cNvPr id="4522" name="Google Shape;4522;p244"/>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4523" name="Google Shape;4523;p244"/>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524" name="Google Shape;4524;p244"/>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4525" name="Google Shape;4525;p244">
              <a:hlinkClick action="ppaction://hlinksldjump" r:id="rId5"/>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0" name="Shape 4530"/>
        <p:cNvGrpSpPr/>
        <p:nvPr/>
      </p:nvGrpSpPr>
      <p:grpSpPr>
        <a:xfrm>
          <a:off x="0" y="0"/>
          <a:ext cx="0" cy="0"/>
          <a:chOff x="0" y="0"/>
          <a:chExt cx="0" cy="0"/>
        </a:xfrm>
      </p:grpSpPr>
      <p:graphicFrame>
        <p:nvGraphicFramePr>
          <p:cNvPr id="4531" name="Google Shape;4531;p245"/>
          <p:cNvGraphicFramePr/>
          <p:nvPr/>
        </p:nvGraphicFramePr>
        <p:xfrm>
          <a:off x="469899" y="789217"/>
          <a:ext cx="3000000" cy="3000000"/>
        </p:xfrm>
        <a:graphic>
          <a:graphicData uri="http://schemas.openxmlformats.org/drawingml/2006/table">
            <a:tbl>
              <a:tblPr bandRow="1" firstRow="1">
                <a:noFill/>
                <a:tableStyleId>{D098BFCB-6916-41F2-A2A5-0DF0D5139B6F}</a:tableStyleId>
              </a:tblPr>
              <a:tblGrid>
                <a:gridCol w="130325"/>
                <a:gridCol w="556275"/>
                <a:gridCol w="367500"/>
                <a:gridCol w="3170075"/>
                <a:gridCol w="3276050"/>
                <a:gridCol w="477150"/>
                <a:gridCol w="477150"/>
              </a:tblGrid>
              <a:tr h="178050">
                <a:tc gridSpan="3">
                  <a:txBody>
                    <a:bodyPr/>
                    <a:lstStyle/>
                    <a:p>
                      <a:pPr indent="0" lvl="0" marL="0" marR="0" rtl="0" algn="ctr">
                        <a:spcBef>
                          <a:spcPts val="0"/>
                        </a:spcBef>
                        <a:spcAft>
                          <a:spcPts val="0"/>
                        </a:spcAft>
                        <a:buNone/>
                      </a:pPr>
                      <a:r>
                        <a:rPr b="1" lang="en-GB" sz="1200">
                          <a:solidFill>
                            <a:schemeClr val="dk2"/>
                          </a:solidFill>
                        </a:rPr>
                        <a:t>Level</a:t>
                      </a:r>
                      <a:endParaRPr b="1" sz="12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hMerge="1">
                  <a:txBody>
                    <a:bodyPr/>
                    <a:p/>
                  </a:txBody>
                </a:tc>
                <a:tc gridSpan="2">
                  <a:txBody>
                    <a:bodyPr/>
                    <a:lstStyle/>
                    <a:p>
                      <a:pPr indent="0" lvl="0" marL="0" marR="0" rtl="0" algn="ctr">
                        <a:lnSpc>
                          <a:spcPct val="100000"/>
                        </a:lnSpc>
                        <a:spcBef>
                          <a:spcPts val="0"/>
                        </a:spcBef>
                        <a:spcAft>
                          <a:spcPts val="0"/>
                        </a:spcAft>
                        <a:buClr>
                          <a:schemeClr val="dk2"/>
                        </a:buClr>
                        <a:buSzPts val="1200"/>
                        <a:buFont typeface="Century Gothic"/>
                        <a:buNone/>
                      </a:pPr>
                      <a:r>
                        <a:rPr b="1" lang="en-GB" sz="1200">
                          <a:solidFill>
                            <a:schemeClr val="dk2"/>
                          </a:solidFill>
                        </a:rPr>
                        <a:t>Maturity Statement</a:t>
                      </a:r>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rPr b="1" lang="en-GB" sz="800">
                          <a:solidFill>
                            <a:schemeClr val="dk2"/>
                          </a:solidFill>
                        </a:rPr>
                        <a:t>Current</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rPr b="1" lang="en-GB" sz="800">
                          <a:solidFill>
                            <a:schemeClr val="dk2"/>
                          </a:solidFill>
                        </a:rPr>
                        <a:t>Desired</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397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06C1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Leading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Reserves use advanced statistically-derived and/or advanced analytical models based on granular historic and unstructured data, sourced from an integrated data repository. Models are executed on an automated basis, proven to be historically accurate, and resulting accounting and reporting is delivered on a timely basis.</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397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F7513"/>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Innovating</a:t>
                      </a:r>
                      <a:endParaRPr/>
                    </a:p>
                    <a:p>
                      <a:pPr indent="0" lvl="0" marL="0" marR="0" rtl="0" algn="ctr">
                        <a:spcBef>
                          <a:spcPts val="0"/>
                        </a:spcBef>
                        <a:spcAft>
                          <a:spcPts val="0"/>
                        </a:spcAft>
                        <a:buNone/>
                      </a:pPr>
                      <a:r>
                        <a:t/>
                      </a:r>
                      <a:endParaRPr b="1" sz="1000">
                        <a:solidFill>
                          <a:schemeClr val="dk2"/>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Reserves are calculated using more advanced statistical models based on granular historic data. </a:t>
                      </a:r>
                      <a:endParaRPr/>
                    </a:p>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Introduction of statistical techniques to more accurate calculate reserves balances using granular data</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397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C891C"/>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Practicing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Reserves are calculated using basic statistical models based on granular historic data.</a:t>
                      </a:r>
                      <a:endParaRPr/>
                    </a:p>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Automation of processes leveraging integrated data.</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lnSpc>
                          <a:spcPct val="100000"/>
                        </a:lnSpc>
                        <a:spcBef>
                          <a:spcPts val="0"/>
                        </a:spcBef>
                        <a:spcAft>
                          <a:spcPts val="0"/>
                        </a:spcAft>
                        <a:buClr>
                          <a:schemeClr val="dk1"/>
                        </a:buClr>
                        <a:buSzPts val="1400"/>
                        <a:buFont typeface="Century Gothic"/>
                        <a:buNone/>
                      </a:pPr>
                      <a:r>
                        <a:t/>
                      </a:r>
                      <a:endParaRPr sz="1400">
                        <a:solidFill>
                          <a:schemeClr val="dk1"/>
                        </a:solidFill>
                        <a:latin typeface="Noto Sans Symbols"/>
                        <a:ea typeface="Noto Sans Symbols"/>
                        <a:cs typeface="Noto Sans Symbols"/>
                        <a:sym typeface="Noto Sans Symbols"/>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397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E9B4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Developing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Introduction of basic statistical models to set reserves. Data is still obtained and integrated manually from multiple sources.</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397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1AE65"/>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Emerging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Reserves are set based on average historic loss  or redemption rates. Data is manually sourced and integrated using desktop tools (e.g. Excel / Access).</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174025">
                <a:tc gridSpan="3">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Priority</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hMerge="1">
                  <a:txBody>
                    <a:bodyPr/>
                    <a:p/>
                  </a:txBody>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Key areas for improvement</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Benefits from uplift</a:t>
                      </a:r>
                      <a:endParaRPr b="1" sz="1000">
                        <a:solidFill>
                          <a:schemeClr val="dk2"/>
                        </a:solidFill>
                        <a:latin typeface="Century Gothic"/>
                        <a:ea typeface="Century Gothic"/>
                        <a:cs typeface="Century Gothic"/>
                        <a:sym typeface="Century Gothic"/>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a:txBody>
                    <a:bodyPr/>
                    <a:lstStyle/>
                    <a:p>
                      <a:pPr indent="0" lvl="0" marL="0" marR="0" rtl="0" algn="ctr">
                        <a:spcBef>
                          <a:spcPts val="0"/>
                        </a:spcBef>
                        <a:spcAft>
                          <a:spcPts val="0"/>
                        </a:spcAft>
                        <a:buNone/>
                      </a:pPr>
                      <a:r>
                        <a:rPr b="1" lang="en-GB" sz="1000">
                          <a:solidFill>
                            <a:schemeClr val="dk2"/>
                          </a:solidFill>
                        </a:rPr>
                        <a:t>Timeframe</a:t>
                      </a:r>
                      <a:endParaRPr b="1" sz="1000">
                        <a:solidFill>
                          <a:schemeClr val="dk2"/>
                        </a:solidFill>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r>
              <a:tr h="239500">
                <a:tc gridSpan="2">
                  <a:txBody>
                    <a:bodyPr/>
                    <a:lstStyle/>
                    <a:p>
                      <a:pPr indent="0" lvl="0" marL="0" marR="0" rtl="0" algn="ctr">
                        <a:spcBef>
                          <a:spcPts val="0"/>
                        </a:spcBef>
                        <a:spcAft>
                          <a:spcPts val="0"/>
                        </a:spcAft>
                        <a:buNone/>
                      </a:pPr>
                      <a:r>
                        <a:rPr b="1" lang="en-GB" sz="800">
                          <a:solidFill>
                            <a:schemeClr val="dk1"/>
                          </a:solidFill>
                        </a:rPr>
                        <a:t>High</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rPr lang="en-GB" sz="1000">
                          <a:solidFill>
                            <a:schemeClr val="dk1"/>
                          </a:solidFill>
                          <a:latin typeface="Noto Sans Symbols"/>
                          <a:ea typeface="Noto Sans Symbols"/>
                          <a:cs typeface="Noto Sans Symbols"/>
                          <a:sym typeface="Noto Sans Symbols"/>
                        </a:rPr>
                        <a:t>✔</a:t>
                      </a:r>
                      <a:endParaRPr b="1" sz="10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0" lvl="0" marL="0" marR="0" rtl="0" algn="l">
                        <a:lnSpc>
                          <a:spcPct val="100000"/>
                        </a:lnSpc>
                        <a:spcBef>
                          <a:spcPts val="0"/>
                        </a:spcBef>
                        <a:spcAft>
                          <a:spcPts val="0"/>
                        </a:spcAft>
                        <a:buClr>
                          <a:schemeClr val="dk1"/>
                        </a:buClr>
                        <a:buSzPts val="800"/>
                        <a:buFont typeface="Arial"/>
                        <a:buNone/>
                      </a:pPr>
                      <a:r>
                        <a:rPr sz="800" b="0">
                          <a:latin typeface="Century Gothic"/>
                        </a:rPr>
                        <a:t>Pakistan priority improvements:</a:t>
                      </a:r>
                      <a:endParaRPr/>
                    </a:p>
                    <a:p>
                      <a:r>
                        <a:rPr sz="800" b="0">
                          <a:latin typeface="Century Gothic"/>
                        </a:rPr>
                        <a:t>IFRS 9 ECL automation: PD × LGD × EAD at individual loan level</a:t>
                      </a:r>
                    </a:p>
                    <a:p>
                      <a:r>
                        <a:rPr sz="800" b="0">
                          <a:latin typeface="Century Gothic"/>
                        </a:rPr>
                        <a:t>SBP provisioning compliance: general + specific + regulatory overlay</a:t>
                      </a:r>
                    </a:p>
                    <a:p>
                      <a:r>
                        <a:rPr sz="800" b="0">
                          <a:latin typeface="Century Gothic"/>
                        </a:rPr>
                        <a:t>Forward-looking macro scenarios (GDP, inflation, KIBOR, default rates)</a:t>
                      </a:r>
                    </a:p>
                    <a:p>
                      <a:r>
                        <a:rPr sz="800" b="0">
                          <a:latin typeface="Century Gothic"/>
                        </a:rPr>
                        <a:t>Islamic financing provisioning under AAOIFI FAS 30</a:t>
                      </a:r>
                    </a:p>
                    <a:p>
                      <a:r>
                        <a:rPr sz="800" b="0">
                          <a:latin typeface="Century Gothic"/>
                        </a:rPr>
                        <a:t>Stage 1/2/3 classification with SICR monitoring automation</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285750" lvl="0" marL="285750" marR="0" rtl="0" algn="l">
                        <a:spcBef>
                          <a:spcPts val="0"/>
                        </a:spcBef>
                        <a:spcAft>
                          <a:spcPts val="0"/>
                        </a:spcAft>
                        <a:buClr>
                          <a:schemeClr val="dk1"/>
                        </a:buClr>
                        <a:buSzPts val="800"/>
                        <a:buFont typeface="Arial"/>
                        <a:buChar char="•"/>
                      </a:pPr>
                      <a:r>
                        <a:rPr sz="800">
                          <a:latin typeface="Century Gothic"/>
                        </a:rPr>
                        <a:t>Accurate ECL reducing external audit provisioning adjustments</a:t>
                      </a:r>
                      <a:endParaRPr/>
                    </a:p>
                    <a:p>
                      <a:r>
                        <a:rPr sz="800">
                          <a:latin typeface="Century Gothic"/>
                        </a:rPr>
                        <a:t>SBP stress testing capability with multiple Pakistan macro scenarios</a:t>
                      </a:r>
                    </a:p>
                    <a:p>
                      <a:r>
                        <a:rPr sz="800">
                          <a:latin typeface="Century Gothic"/>
                        </a:rPr>
                        <a:t>Reduced manual effort in quarterly IFRS 9 ECL recalculation</a:t>
                      </a:r>
                    </a:p>
                    <a:p>
                      <a:r>
                        <a:rPr sz="800">
                          <a:latin typeface="Century Gothic"/>
                        </a:rPr>
                        <a:t>Islamic and conventional provisioning from unified data source</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rowSpan="3">
                  <a:txBody>
                    <a:bodyPr/>
                    <a:lstStyle/>
                    <a:p>
                      <a:pPr indent="0" lvl="0" marL="0" marR="0" rtl="0" algn="ctr">
                        <a:lnSpc>
                          <a:spcPct val="100000"/>
                        </a:lnSpc>
                        <a:spcBef>
                          <a:spcPts val="0"/>
                        </a:spcBef>
                        <a:spcAft>
                          <a:spcPts val="0"/>
                        </a:spcAft>
                        <a:buClr>
                          <a:schemeClr val="dk1"/>
                        </a:buClr>
                        <a:buSzPts val="800"/>
                        <a:buFont typeface="Century Gothic"/>
                        <a:buNone/>
                      </a:pPr>
                      <a:r>
                        <a:rPr b="0" lang="en-GB" sz="800">
                          <a:solidFill>
                            <a:schemeClr val="dk1"/>
                          </a:solidFill>
                        </a:rPr>
                        <a:t>H1 2025 —
H2 2026</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hMerge="1">
                  <a:txBody>
                    <a:bodyPr/>
                    <a:p/>
                  </a:txBody>
                </a:tc>
              </a:tr>
              <a:tr h="239500">
                <a:tc gridSpan="2">
                  <a:txBody>
                    <a:bodyPr/>
                    <a:lstStyle/>
                    <a:p>
                      <a:pPr indent="0" lvl="0" marL="0" marR="0" rtl="0" algn="ctr">
                        <a:spcBef>
                          <a:spcPts val="0"/>
                        </a:spcBef>
                        <a:spcAft>
                          <a:spcPts val="0"/>
                        </a:spcAft>
                        <a:buNone/>
                      </a:pPr>
                      <a:r>
                        <a:rPr b="1" lang="en-GB" sz="800">
                          <a:solidFill>
                            <a:schemeClr val="dk1"/>
                          </a:solidFill>
                        </a:rPr>
                        <a:t>Medium</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xBody>
                    <a:bodyPr/>
                    <a:p/>
                  </a:txBody>
                </a:tc>
                <a:tc vMerge="1">
                  <a:txBody>
                    <a:bodyPr/>
                    <a:p/>
                  </a:txBody>
                </a:tc>
                <a:tc gridSpan="2" vMerge="1">
                  <a:txBody>
                    <a:bodyPr/>
                    <a:p/>
                  </a:txBody>
                </a:tc>
                <a:tc hMerge="1" vMerge="1">
                  <a:txBody>
                    <a:bodyPr/>
                    <a:p/>
                  </a:txBody>
                </a:tc>
              </a:tr>
              <a:tr h="239500">
                <a:tc gridSpan="2">
                  <a:txBody>
                    <a:bodyPr/>
                    <a:lstStyle/>
                    <a:p>
                      <a:pPr indent="0" lvl="0" marL="0" marR="0" rtl="0" algn="ctr">
                        <a:spcBef>
                          <a:spcPts val="0"/>
                        </a:spcBef>
                        <a:spcAft>
                          <a:spcPts val="0"/>
                        </a:spcAft>
                        <a:buNone/>
                      </a:pPr>
                      <a:r>
                        <a:rPr b="1" lang="en-GB" sz="800">
                          <a:solidFill>
                            <a:schemeClr val="dk1"/>
                          </a:solidFill>
                        </a:rPr>
                        <a:t>Low</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xBody>
                    <a:bodyPr/>
                    <a:p/>
                  </a:txBody>
                </a:tc>
                <a:tc vMerge="1">
                  <a:txBody>
                    <a:bodyPr/>
                    <a:p/>
                  </a:txBody>
                </a:tc>
                <a:tc gridSpan="2" vMerge="1">
                  <a:txBody>
                    <a:bodyPr/>
                    <a:p/>
                  </a:txBody>
                </a:tc>
                <a:tc hMerge="1" vMerge="1">
                  <a:txBody>
                    <a:bodyPr/>
                    <a:p/>
                  </a:txBody>
                </a:tc>
              </a:tr>
            </a:tbl>
          </a:graphicData>
        </a:graphic>
      </p:graphicFrame>
      <p:grpSp>
        <p:nvGrpSpPr>
          <p:cNvPr id="4532" name="Google Shape;4532;p245"/>
          <p:cNvGrpSpPr/>
          <p:nvPr/>
        </p:nvGrpSpPr>
        <p:grpSpPr>
          <a:xfrm>
            <a:off x="469900" y="3838730"/>
            <a:ext cx="8455025" cy="732866"/>
            <a:chOff x="211138" y="3972860"/>
            <a:chExt cx="8713787" cy="642437"/>
          </a:xfrm>
        </p:grpSpPr>
        <p:sp>
          <p:nvSpPr>
            <p:cNvPr id="4533" name="Google Shape;4533;p245"/>
            <p:cNvSpPr/>
            <p:nvPr/>
          </p:nvSpPr>
          <p:spPr>
            <a:xfrm>
              <a:off x="211138" y="3972860"/>
              <a:ext cx="8713787" cy="642437"/>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4534" name="Google Shape;4534;p245"/>
            <p:cNvSpPr/>
            <p:nvPr/>
          </p:nvSpPr>
          <p:spPr>
            <a:xfrm>
              <a:off x="3692726" y="3982349"/>
              <a:ext cx="1753883" cy="632948"/>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grpSp>
        <p:nvGrpSpPr>
          <p:cNvPr id="4535" name="Google Shape;4535;p245"/>
          <p:cNvGrpSpPr/>
          <p:nvPr/>
        </p:nvGrpSpPr>
        <p:grpSpPr>
          <a:xfrm>
            <a:off x="7971865" y="980278"/>
            <a:ext cx="949325" cy="2867825"/>
            <a:chOff x="7941888" y="1062037"/>
            <a:chExt cx="983037" cy="2695575"/>
          </a:xfrm>
        </p:grpSpPr>
        <p:sp>
          <p:nvSpPr>
            <p:cNvPr id="4536" name="Google Shape;4536;p245"/>
            <p:cNvSpPr/>
            <p:nvPr/>
          </p:nvSpPr>
          <p:spPr>
            <a:xfrm>
              <a:off x="7941889" y="1062037"/>
              <a:ext cx="983036" cy="2695575"/>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4537" name="Google Shape;4537;p245"/>
            <p:cNvSpPr/>
            <p:nvPr/>
          </p:nvSpPr>
          <p:spPr>
            <a:xfrm>
              <a:off x="7941888" y="2052586"/>
              <a:ext cx="983037" cy="714476"/>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sp>
        <p:nvSpPr>
          <p:cNvPr id="4538" name="Google Shape;4538;p245"/>
          <p:cNvSpPr txBox="1"/>
          <p:nvPr>
            <p:ph type="title"/>
          </p:nvPr>
        </p:nvSpPr>
        <p:spPr>
          <a:xfrm>
            <a:off x="381000" y="296096"/>
            <a:ext cx="8543925" cy="360308"/>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Reserve Analytics</a:t>
            </a:r>
            <a:endParaRPr>
              <a:solidFill>
                <a:schemeClr val="accent6"/>
              </a:solidFill>
            </a:endParaRPr>
          </a:p>
        </p:txBody>
      </p:sp>
      <p:sp>
        <p:nvSpPr>
          <p:cNvPr id="4539" name="Google Shape;4539;p245">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Accounting Operations and Close</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4" name="Shape 4544"/>
        <p:cNvGrpSpPr/>
        <p:nvPr/>
      </p:nvGrpSpPr>
      <p:grpSpPr>
        <a:xfrm>
          <a:off x="0" y="0"/>
          <a:ext cx="0" cy="0"/>
          <a:chOff x="0" y="0"/>
          <a:chExt cx="0" cy="0"/>
        </a:xfrm>
      </p:grpSpPr>
      <p:cxnSp>
        <p:nvCxnSpPr>
          <p:cNvPr id="4545" name="Google Shape;4545;p246"/>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graphicFrame>
        <p:nvGraphicFramePr>
          <p:cNvPr id="4546" name="Google Shape;4546;p246"/>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171450" lvl="0" marL="171450" marR="0" rtl="0" algn="l">
                        <a:lnSpc>
                          <a:spcPct val="100000"/>
                        </a:lnSpc>
                        <a:spcBef>
                          <a:spcPts val="0"/>
                        </a:spcBef>
                        <a:spcAft>
                          <a:spcPts val="0"/>
                        </a:spcAft>
                        <a:buClr>
                          <a:schemeClr val="dk1"/>
                        </a:buClr>
                        <a:buSzPts val="900"/>
                        <a:buFont typeface="Arial"/>
                        <a:buChar char="•"/>
                      </a:pPr>
                      <a:r>
                        <a:rPr b="1" lang="en-GB" sz="900">
                          <a:solidFill>
                            <a:schemeClr val="dk1"/>
                          </a:solidFill>
                          <a:latin typeface="Century Gothic"/>
                          <a:ea typeface="Century Gothic"/>
                          <a:cs typeface="Century Gothic"/>
                          <a:sym typeface="Century Gothic"/>
                        </a:rPr>
                        <a:t>Efficient and automated tax calculation and reporting processes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Ability to accommodate changes in tax regulations quickly, and with minimal cost</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Ability to drill-down from summary-level information to detailed tax calculations with full detail and audit trail</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Ability to accurately and transparently reflect differences between financial accounting and tax accounting.</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Ability to support multiple tax  treatments/views /reporting regimes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Ability to respond quickly to inquiries from tax authorities quickly, and with high-quality information.</a:t>
                      </a:r>
                      <a:endParaRPr/>
                    </a:p>
                    <a:p>
                      <a:r>
                        <a:rPr sz="900">
                          <a:latin typeface="Century Gothic"/>
                        </a:rPr>
                        <a:t/>
                      </a:r>
                    </a:p>
                    <a:p>
                      <a:r>
                        <a:rPr sz="900">
                          <a:latin typeface="Century Gothic"/>
                        </a:rPr>
                        <a:t>Manage Pakistan banking tax: corporate tax (39%), super tax (10%), WHT on deposits (15%/30%), advance tax</a:t>
                      </a:r>
                    </a:p>
                    <a:p>
                      <a:r>
                        <a:rPr sz="900">
                          <a:latin typeface="Century Gothic"/>
                        </a:rPr>
                        <a:t>Automate FBR withholding tax on customer deposits and vendor payments</a:t>
                      </a:r>
                    </a:p>
                    <a:p>
                      <a:r>
                        <a:rPr sz="900">
                          <a:latin typeface="Century Gothic"/>
                        </a:rPr>
                        <a:t>Track tax credits, brought-forward losses, group entity tax planning</a:t>
                      </a:r>
                    </a:p>
                    <a:p>
                      <a:r>
                        <a:rPr sz="900">
                          <a:latin typeface="Century Gothic"/>
                        </a:rPr>
                        <a:t>Calculate effective tax rate (~49% for Pakistan banks — highest in industry)</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xBody>
                    <a:bodyPr/>
                    <a:p/>
                  </a:txBody>
                </a:tc>
                <a:tc vMerge="1">
                  <a:txBody>
                    <a:bodyPr/>
                    <a:p/>
                  </a:txBody>
                </a:tc>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lnSpc>
                          <a:spcPct val="100000"/>
                        </a:lnSpc>
                        <a:spcBef>
                          <a:spcPts val="0"/>
                        </a:spcBef>
                        <a:spcAft>
                          <a:spcPts val="0"/>
                        </a:spcAft>
                        <a:buClr>
                          <a:schemeClr val="dk1"/>
                        </a:buClr>
                        <a:buSzPts val="900"/>
                        <a:buFont typeface="Arial"/>
                        <a:buChar char="•"/>
                      </a:pPr>
                      <a:r>
                        <a:rPr lang="en-GB" sz="900">
                          <a:solidFill>
                            <a:schemeClr val="dk1"/>
                          </a:solidFill>
                        </a:rPr>
                        <a:t>Organisational reference data.</a:t>
                      </a:r>
                      <a:endParaRPr/>
                    </a:p>
                    <a:p>
                      <a:pPr indent="-179388" lvl="0" marL="179388" marR="0" rtl="0" algn="l">
                        <a:lnSpc>
                          <a:spcPct val="100000"/>
                        </a:lnSpc>
                        <a:spcBef>
                          <a:spcPts val="0"/>
                        </a:spcBef>
                        <a:spcAft>
                          <a:spcPts val="0"/>
                        </a:spcAft>
                        <a:buClr>
                          <a:schemeClr val="dk1"/>
                        </a:buClr>
                        <a:buSzPts val="900"/>
                        <a:buFont typeface="Arial"/>
                        <a:buChar char="•"/>
                      </a:pPr>
                      <a:r>
                        <a:rPr lang="en-GB" sz="900">
                          <a:solidFill>
                            <a:schemeClr val="dk1"/>
                          </a:solidFill>
                        </a:rPr>
                        <a:t>Tax rule and rate documentation</a:t>
                      </a:r>
                      <a:endParaRPr/>
                    </a:p>
                    <a:p>
                      <a:pPr indent="-179388" lvl="0" marL="179388" marR="0" rtl="0" algn="l">
                        <a:lnSpc>
                          <a:spcPct val="100000"/>
                        </a:lnSpc>
                        <a:spcBef>
                          <a:spcPts val="0"/>
                        </a:spcBef>
                        <a:spcAft>
                          <a:spcPts val="0"/>
                        </a:spcAft>
                        <a:buClr>
                          <a:schemeClr val="dk1"/>
                        </a:buClr>
                        <a:buSzPts val="900"/>
                        <a:buFont typeface="Arial"/>
                        <a:buChar char="•"/>
                      </a:pPr>
                      <a:r>
                        <a:rPr lang="en-GB" sz="900">
                          <a:solidFill>
                            <a:schemeClr val="dk1"/>
                          </a:solidFill>
                        </a:rPr>
                        <a:t>Tax transaction data</a:t>
                      </a:r>
                      <a:endParaRPr/>
                    </a:p>
                    <a:p>
                      <a:pPr indent="-179388" lvl="0" marL="179388" marR="0" rtl="0" algn="l">
                        <a:lnSpc>
                          <a:spcPct val="100000"/>
                        </a:lnSpc>
                        <a:spcBef>
                          <a:spcPts val="0"/>
                        </a:spcBef>
                        <a:spcAft>
                          <a:spcPts val="0"/>
                        </a:spcAft>
                        <a:buClr>
                          <a:schemeClr val="dk1"/>
                        </a:buClr>
                        <a:buSzPts val="900"/>
                        <a:buFont typeface="Arial"/>
                        <a:buChar char="•"/>
                      </a:pPr>
                      <a:r>
                        <a:rPr lang="en-GB" sz="900">
                          <a:solidFill>
                            <a:schemeClr val="dk1"/>
                          </a:solidFill>
                        </a:rPr>
                        <a:t>Financial transaction data </a:t>
                      </a:r>
                      <a:endParaRPr sz="900">
                        <a:solidFill>
                          <a:schemeClr val="dk1"/>
                        </a:solidFill>
                      </a:endParaRPr>
                    </a:p>
                    <a:p>
                      <a:pPr indent="0" lvl="0" marL="0" marR="0" rtl="0" algn="l">
                        <a:spcBef>
                          <a:spcPts val="0"/>
                        </a:spcBef>
                        <a:spcAft>
                          <a:spcPts val="0"/>
                        </a:spcAft>
                        <a:buClr>
                          <a:schemeClr val="dk1"/>
                        </a:buClr>
                        <a:buSzPts val="900"/>
                        <a:buFont typeface="Arial"/>
                        <a:buNone/>
                      </a:pPr>
                      <a:r>
                        <a:rPr b="1" lang="en-GB" sz="900">
                          <a:solidFill>
                            <a:schemeClr val="dk1"/>
                          </a:solidFill>
                        </a:rPr>
                        <a:t>Solution / Analytics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A robust enterprise data warehouse, with reconciliation tool which consolidates data across the enterprise, and acts as a central anchor point between sources, data warehouse and reports to enable traceability of tax information</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Harmonization of business definitions to establish a common language as basis for consistent true and fair tax calculations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Rules-based calculation engine for granular tax calculations </a:t>
                      </a:r>
                      <a:endParaRPr sz="900">
                        <a:solidFill>
                          <a:schemeClr val="dk1"/>
                        </a:solidFill>
                      </a:endParaRPr>
                    </a:p>
                    <a:p>
                      <a:r>
                        <a:rPr sz="900"/>
                        <a:t/>
                      </a:r>
                    </a:p>
                    <a:p>
                      <a:r>
                        <a:rPr sz="900"/>
                        <a:t>FBR Active Taxpayer List (ATL) — updated monthly for filer status</a:t>
                      </a:r>
                    </a:p>
                    <a:p>
                      <a:r>
                        <a:rPr sz="900"/>
                        <a:t>Customer CNIC/NTN for filer status determination on deposit WHT</a:t>
                      </a:r>
                    </a:p>
                    <a:p>
                      <a:r>
                        <a:rPr sz="900"/>
                        <a:t>Deposit profit payment data across all accounts (millions of transactions)</a:t>
                      </a:r>
                    </a:p>
                    <a:p>
                      <a:r>
                        <a:rPr sz="900"/>
                        <a:t>Vendor payment records with WHT rates by category and filer status</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Tax liability optimisation with direct impact on the net profit of the company</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Tax law Compliance, with clear and consistent lineage between the original transaction and the final tax return</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Operational risk reduction by accurate, on time tax calculation and tax process management </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relationship with tax authorities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Increase the credibility and reputation of the company</a:t>
                      </a:r>
                      <a:endParaRPr/>
                    </a:p>
                    <a:p>
                      <a:pPr indent="0" lvl="0" marL="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r>
                        <a:rPr sz="900">
                          <a:latin typeface="Century Gothic"/>
                        </a:rPr>
                        <a:t/>
                      </a:r>
                    </a:p>
                    <a:p>
                      <a:r>
                        <a:rPr sz="900">
                          <a:latin typeface="Century Gothic"/>
                        </a:rPr>
                        <a:t>Automated WHT calculation on millions of deposit profit payments</a:t>
                      </a:r>
                    </a:p>
                    <a:p>
                      <a:r>
                        <a:rPr sz="900">
                          <a:latin typeface="Century Gothic"/>
                        </a:rPr>
                        <a:t>FBR ATL auto-lookup eliminating manual filer status verification</a:t>
                      </a:r>
                    </a:p>
                    <a:p>
                      <a:r>
                        <a:rPr sz="900">
                          <a:latin typeface="Century Gothic"/>
                        </a:rPr>
                        <a:t>Consolidated tax provisioning across all group entities</a:t>
                      </a:r>
                    </a:p>
                    <a:p>
                      <a:r>
                        <a:rPr sz="900">
                          <a:latin typeface="Century Gothic"/>
                        </a:rPr>
                        <a:t>Tax optimization within legal framework saving PKR hundreds of millions</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4547" name="Google Shape;4547;p246"/>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Tax Management &amp; Optimisation</a:t>
            </a:r>
            <a:endParaRPr sz="1600"/>
          </a:p>
        </p:txBody>
      </p:sp>
      <p:sp>
        <p:nvSpPr>
          <p:cNvPr id="4548" name="Google Shape;4548;p246">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Accounting Operations and Close</a:t>
            </a:r>
            <a:endParaRPr sz="750">
              <a:solidFill>
                <a:schemeClr val="lt1"/>
              </a:solidFill>
              <a:latin typeface="Century Gothic"/>
              <a:ea typeface="Century Gothic"/>
              <a:cs typeface="Century Gothic"/>
              <a:sym typeface="Century Gothic"/>
            </a:endParaRPr>
          </a:p>
        </p:txBody>
      </p:sp>
      <p:pic>
        <p:nvPicPr>
          <p:cNvPr id="4549" name="Google Shape;4549;p246"/>
          <p:cNvPicPr preferRelativeResize="0"/>
          <p:nvPr/>
        </p:nvPicPr>
        <p:blipFill rotWithShape="1">
          <a:blip r:embed="rId4">
            <a:alphaModFix/>
          </a:blip>
          <a:srcRect b="0" l="0" r="0" t="0"/>
          <a:stretch/>
        </p:blipFill>
        <p:spPr>
          <a:xfrm>
            <a:off x="5648154" y="279312"/>
            <a:ext cx="3316459" cy="2210972"/>
          </a:xfrm>
          <a:prstGeom prst="rect">
            <a:avLst/>
          </a:prstGeom>
          <a:noFill/>
          <a:ln>
            <a:noFill/>
          </a:ln>
        </p:spPr>
      </p:pic>
      <p:grpSp>
        <p:nvGrpSpPr>
          <p:cNvPr id="4550" name="Google Shape;4550;p246"/>
          <p:cNvGrpSpPr/>
          <p:nvPr/>
        </p:nvGrpSpPr>
        <p:grpSpPr>
          <a:xfrm>
            <a:off x="7717533" y="4360377"/>
            <a:ext cx="1058348" cy="347375"/>
            <a:chOff x="7651698" y="4287227"/>
            <a:chExt cx="1058348" cy="347375"/>
          </a:xfrm>
        </p:grpSpPr>
        <p:grpSp>
          <p:nvGrpSpPr>
            <p:cNvPr id="4551" name="Google Shape;4551;p246"/>
            <p:cNvGrpSpPr/>
            <p:nvPr/>
          </p:nvGrpSpPr>
          <p:grpSpPr>
            <a:xfrm>
              <a:off x="7714163" y="4337598"/>
              <a:ext cx="995883" cy="297004"/>
              <a:chOff x="7711013" y="3986494"/>
              <a:chExt cx="995883" cy="297004"/>
            </a:xfrm>
          </p:grpSpPr>
          <p:sp>
            <p:nvSpPr>
              <p:cNvPr id="4552" name="Google Shape;4552;p246"/>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4553" name="Google Shape;4553;p246"/>
              <p:cNvGrpSpPr/>
              <p:nvPr/>
            </p:nvGrpSpPr>
            <p:grpSpPr>
              <a:xfrm>
                <a:off x="7711013" y="4002615"/>
                <a:ext cx="281520" cy="241973"/>
                <a:chOff x="5652748" y="4066000"/>
                <a:chExt cx="906498" cy="747974"/>
              </a:xfrm>
            </p:grpSpPr>
            <p:sp>
              <p:nvSpPr>
                <p:cNvPr id="4554" name="Google Shape;4554;p246"/>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4555" name="Google Shape;4555;p246"/>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556" name="Google Shape;4556;p246"/>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4557" name="Google Shape;4557;p246">
              <a:hlinkClick action="ppaction://hlinksldjump" r:id="rId5"/>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2" name="Shape 4562"/>
        <p:cNvGrpSpPr/>
        <p:nvPr/>
      </p:nvGrpSpPr>
      <p:grpSpPr>
        <a:xfrm>
          <a:off x="0" y="0"/>
          <a:ext cx="0" cy="0"/>
          <a:chOff x="0" y="0"/>
          <a:chExt cx="0" cy="0"/>
        </a:xfrm>
      </p:grpSpPr>
      <p:graphicFrame>
        <p:nvGraphicFramePr>
          <p:cNvPr id="4563" name="Google Shape;4563;p247"/>
          <p:cNvGraphicFramePr/>
          <p:nvPr/>
        </p:nvGraphicFramePr>
        <p:xfrm>
          <a:off x="469899" y="789217"/>
          <a:ext cx="3000000" cy="3000000"/>
        </p:xfrm>
        <a:graphic>
          <a:graphicData uri="http://schemas.openxmlformats.org/drawingml/2006/table">
            <a:tbl>
              <a:tblPr bandRow="1" firstRow="1">
                <a:noFill/>
                <a:tableStyleId>{D098BFCB-6916-41F2-A2A5-0DF0D5139B6F}</a:tableStyleId>
              </a:tblPr>
              <a:tblGrid>
                <a:gridCol w="130325"/>
                <a:gridCol w="556275"/>
                <a:gridCol w="367500"/>
                <a:gridCol w="3170075"/>
                <a:gridCol w="3276050"/>
                <a:gridCol w="477150"/>
                <a:gridCol w="477150"/>
              </a:tblGrid>
              <a:tr h="180850">
                <a:tc gridSpan="3">
                  <a:txBody>
                    <a:bodyPr/>
                    <a:lstStyle/>
                    <a:p>
                      <a:pPr indent="0" lvl="0" marL="0" marR="0" rtl="0" algn="ctr">
                        <a:spcBef>
                          <a:spcPts val="0"/>
                        </a:spcBef>
                        <a:spcAft>
                          <a:spcPts val="0"/>
                        </a:spcAft>
                        <a:buNone/>
                      </a:pPr>
                      <a:r>
                        <a:rPr b="1" lang="en-GB" sz="1200">
                          <a:solidFill>
                            <a:schemeClr val="dk2"/>
                          </a:solidFill>
                        </a:rPr>
                        <a:t>Level</a:t>
                      </a:r>
                      <a:endParaRPr b="1" sz="12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hMerge="1">
                  <a:txBody>
                    <a:bodyPr/>
                    <a:p/>
                  </a:txBody>
                </a:tc>
                <a:tc gridSpan="2">
                  <a:txBody>
                    <a:bodyPr/>
                    <a:lstStyle/>
                    <a:p>
                      <a:pPr indent="0" lvl="0" marL="0" marR="0" rtl="0" algn="ctr">
                        <a:lnSpc>
                          <a:spcPct val="100000"/>
                        </a:lnSpc>
                        <a:spcBef>
                          <a:spcPts val="0"/>
                        </a:spcBef>
                        <a:spcAft>
                          <a:spcPts val="0"/>
                        </a:spcAft>
                        <a:buClr>
                          <a:schemeClr val="dk2"/>
                        </a:buClr>
                        <a:buSzPts val="1200"/>
                        <a:buFont typeface="Century Gothic"/>
                        <a:buNone/>
                      </a:pPr>
                      <a:r>
                        <a:rPr b="1" lang="en-GB" sz="1200">
                          <a:solidFill>
                            <a:schemeClr val="dk2"/>
                          </a:solidFill>
                        </a:rPr>
                        <a:t>Maturity Statement</a:t>
                      </a:r>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rPr b="1" lang="en-GB" sz="800">
                          <a:solidFill>
                            <a:schemeClr val="dk2"/>
                          </a:solidFill>
                        </a:rPr>
                        <a:t>Current</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rPr b="1" lang="en-GB" sz="800">
                          <a:solidFill>
                            <a:schemeClr val="dk2"/>
                          </a:solidFill>
                        </a:rPr>
                        <a:t>Desired</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06C1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Leading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An Accounting Hub approach is used to deliver granular financial accounting, including tax calculations, and also tax aggregation and posting to the GL. Rules-based functionality enables tax rules to be maintained and updated easily. Tax return data can be produced on a largely automated basis with full drill-down and audit trail is available. </a:t>
                      </a:r>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037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F7513"/>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Innovating</a:t>
                      </a:r>
                      <a:endParaRPr/>
                    </a:p>
                    <a:p>
                      <a:pPr indent="0" lvl="0" marL="0" marR="0" rtl="0" algn="ctr">
                        <a:spcBef>
                          <a:spcPts val="0"/>
                        </a:spcBef>
                        <a:spcAft>
                          <a:spcPts val="0"/>
                        </a:spcAft>
                        <a:buNone/>
                      </a:pPr>
                      <a:r>
                        <a:t/>
                      </a:r>
                      <a:endParaRPr b="1" sz="1000">
                        <a:solidFill>
                          <a:schemeClr val="dk2"/>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Tax management is undertaken using a largely automated dedicated solution, which sources the majority of the required data from a single integrated and validated source. Tax optimisation and planning is delivered using this same source of data.</a:t>
                      </a:r>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C891C"/>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Practicing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Tax Management is performed using a dedicated solution which sources data directly from disparate General Ledger / ERP and other operational systems.</a:t>
                      </a:r>
                      <a:endParaRPr/>
                    </a:p>
                    <a:p>
                      <a:pPr indent="0" lvl="0" marL="0" marR="0" rtl="0" algn="l">
                        <a:lnSpc>
                          <a:spcPct val="100000"/>
                        </a:lnSpc>
                        <a:spcBef>
                          <a:spcPts val="0"/>
                        </a:spcBef>
                        <a:spcAft>
                          <a:spcPts val="0"/>
                        </a:spcAft>
                        <a:buClr>
                          <a:schemeClr val="dk1"/>
                        </a:buClr>
                        <a:buSzPts val="900"/>
                        <a:buFont typeface="Century Gothic"/>
                        <a:buNone/>
                      </a:pPr>
                      <a:r>
                        <a:t/>
                      </a:r>
                      <a:endParaRPr b="0" sz="900">
                        <a:solidFill>
                          <a:schemeClr val="dk1"/>
                        </a:solidFill>
                        <a:latin typeface="Century Gothic"/>
                        <a:ea typeface="Century Gothic"/>
                        <a:cs typeface="Century Gothic"/>
                        <a:sym typeface="Century Gothic"/>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lnSpc>
                          <a:spcPct val="100000"/>
                        </a:lnSpc>
                        <a:spcBef>
                          <a:spcPts val="0"/>
                        </a:spcBef>
                        <a:spcAft>
                          <a:spcPts val="0"/>
                        </a:spcAft>
                        <a:buClr>
                          <a:schemeClr val="dk1"/>
                        </a:buClr>
                        <a:buSzPts val="1400"/>
                        <a:buFont typeface="Century Gothic"/>
                        <a:buNone/>
                      </a:pPr>
                      <a:r>
                        <a:t/>
                      </a:r>
                      <a:endParaRPr sz="1400">
                        <a:solidFill>
                          <a:schemeClr val="dk1"/>
                        </a:solidFill>
                        <a:latin typeface="Noto Sans Symbols"/>
                        <a:ea typeface="Noto Sans Symbols"/>
                        <a:cs typeface="Noto Sans Symbols"/>
                        <a:sym typeface="Noto Sans Symbols"/>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E9B4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Developing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Tax Management is still performed using desktop-based applications (e.g. Excel, Access) however some automation of data sourcing from disparate General Ledger / ERP and other operational systems has been introduced.</a:t>
                      </a:r>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037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1AE65"/>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Emerging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Tax Management is performed manually (e.g. Excel / Access) using feeds of data from disparate General Ledger / ERP and other operational systems. Substantial manual effort is required.</a:t>
                      </a:r>
                      <a:endParaRPr/>
                    </a:p>
                    <a:p>
                      <a:pPr indent="0" lvl="0" marL="0" marR="0" rtl="0" algn="l">
                        <a:lnSpc>
                          <a:spcPct val="100000"/>
                        </a:lnSpc>
                        <a:spcBef>
                          <a:spcPts val="0"/>
                        </a:spcBef>
                        <a:spcAft>
                          <a:spcPts val="0"/>
                        </a:spcAft>
                        <a:buClr>
                          <a:schemeClr val="dk1"/>
                        </a:buClr>
                        <a:buSzPts val="900"/>
                        <a:buFont typeface="Century Gothic"/>
                        <a:buNone/>
                      </a:pPr>
                      <a:r>
                        <a:t/>
                      </a:r>
                      <a:endParaRPr b="0" sz="900">
                        <a:solidFill>
                          <a:schemeClr val="dk1"/>
                        </a:solidFill>
                        <a:latin typeface="Century Gothic"/>
                        <a:ea typeface="Century Gothic"/>
                        <a:cs typeface="Century Gothic"/>
                        <a:sym typeface="Century Gothic"/>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178750">
                <a:tc gridSpan="3">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Priority</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hMerge="1">
                  <a:txBody>
                    <a:bodyPr/>
                    <a:p/>
                  </a:txBody>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Key areas for improvement</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Benefits from uplift</a:t>
                      </a:r>
                      <a:endParaRPr b="1" sz="1000">
                        <a:solidFill>
                          <a:schemeClr val="dk2"/>
                        </a:solidFill>
                        <a:latin typeface="Century Gothic"/>
                        <a:ea typeface="Century Gothic"/>
                        <a:cs typeface="Century Gothic"/>
                        <a:sym typeface="Century Gothic"/>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a:txBody>
                    <a:bodyPr/>
                    <a:lstStyle/>
                    <a:p>
                      <a:pPr indent="0" lvl="0" marL="0" marR="0" rtl="0" algn="ctr">
                        <a:spcBef>
                          <a:spcPts val="0"/>
                        </a:spcBef>
                        <a:spcAft>
                          <a:spcPts val="0"/>
                        </a:spcAft>
                        <a:buNone/>
                      </a:pPr>
                      <a:r>
                        <a:rPr b="1" lang="en-GB" sz="1000">
                          <a:solidFill>
                            <a:schemeClr val="dk2"/>
                          </a:solidFill>
                        </a:rPr>
                        <a:t>Timeframe</a:t>
                      </a:r>
                      <a:endParaRPr b="1" sz="1000">
                        <a:solidFill>
                          <a:schemeClr val="dk2"/>
                        </a:solidFill>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High</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rPr lang="en-GB" sz="1000">
                          <a:solidFill>
                            <a:schemeClr val="dk1"/>
                          </a:solidFill>
                          <a:latin typeface="Noto Sans Symbols"/>
                          <a:ea typeface="Noto Sans Symbols"/>
                          <a:cs typeface="Noto Sans Symbols"/>
                          <a:sym typeface="Noto Sans Symbols"/>
                        </a:rPr>
                        <a:t>✔</a:t>
                      </a:r>
                      <a:endParaRPr b="1" sz="10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0" lvl="0" marL="0" marR="0" rtl="0" algn="l">
                        <a:lnSpc>
                          <a:spcPct val="100000"/>
                        </a:lnSpc>
                        <a:spcBef>
                          <a:spcPts val="0"/>
                        </a:spcBef>
                        <a:spcAft>
                          <a:spcPts val="0"/>
                        </a:spcAft>
                        <a:buClr>
                          <a:schemeClr val="dk1"/>
                        </a:buClr>
                        <a:buSzPts val="800"/>
                        <a:buFont typeface="Arial"/>
                        <a:buNone/>
                      </a:pPr>
                      <a:r>
                        <a:rPr sz="800" b="0">
                          <a:latin typeface="Century Gothic"/>
                        </a:rPr>
                        <a:t>Pakistan priority improvements:</a:t>
                      </a:r>
                      <a:endParaRPr/>
                    </a:p>
                    <a:p>
                      <a:r>
                        <a:rPr sz="800" b="0">
                          <a:latin typeface="Century Gothic"/>
                        </a:rPr>
                        <a:t>Automated WHT on deposit profit (millions of transactions, 15%/30% rates)</a:t>
                      </a:r>
                    </a:p>
                    <a:p>
                      <a:r>
                        <a:rPr sz="800" b="0">
                          <a:latin typeface="Century Gothic"/>
                        </a:rPr>
                        <a:t>FBR ATL integration for real-time filer/non-filer determination</a:t>
                      </a:r>
                    </a:p>
                    <a:p>
                      <a:r>
                        <a:rPr sz="800" b="0">
                          <a:latin typeface="Century Gothic"/>
                        </a:rPr>
                        <a:t>Consolidated tax provisioning across all banking group entities</a:t>
                      </a:r>
                    </a:p>
                    <a:p>
                      <a:r>
                        <a:rPr sz="800" b="0">
                          <a:latin typeface="Century Gothic"/>
                        </a:rPr>
                        <a:t>Super tax (10%), advance tax, minimum tax calculation automation</a:t>
                      </a:r>
                    </a:p>
                    <a:p>
                      <a:r>
                        <a:rPr sz="800" b="0">
                          <a:latin typeface="Century Gothic"/>
                        </a:rPr>
                        <a:t>Tax planning optimization within Pakistan legal framework</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285750" lvl="0" marL="285750" marR="0" rtl="0" algn="l">
                        <a:spcBef>
                          <a:spcPts val="0"/>
                        </a:spcBef>
                        <a:spcAft>
                          <a:spcPts val="0"/>
                        </a:spcAft>
                        <a:buClr>
                          <a:schemeClr val="dk1"/>
                        </a:buClr>
                        <a:buSzPts val="800"/>
                        <a:buFont typeface="Arial"/>
                        <a:buChar char="•"/>
                      </a:pPr>
                      <a:r>
                        <a:rPr sz="800">
                          <a:latin typeface="Century Gothic"/>
                        </a:rPr>
                        <a:t>Full FBR compliance — automated WHT and advance tax calculation</a:t>
                      </a:r>
                      <a:endParaRPr/>
                    </a:p>
                    <a:p>
                      <a:r>
                        <a:rPr sz="800">
                          <a:latin typeface="Century Gothic"/>
                        </a:rPr>
                        <a:t>Eliminated manual filer status verification (ATL auto-lookup)</a:t>
                      </a:r>
                    </a:p>
                    <a:p>
                      <a:r>
                        <a:rPr sz="800">
                          <a:latin typeface="Century Gothic"/>
                        </a:rPr>
                        <a:t>Effective tax rate optimization from ~49% towards legal minimum</a:t>
                      </a:r>
                    </a:p>
                    <a:p>
                      <a:r>
                        <a:rPr sz="800">
                          <a:latin typeface="Century Gothic"/>
                        </a:rPr>
                        <a:t>Consolidated tax reporting across group entities</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rowSpan="3">
                  <a:txBody>
                    <a:bodyPr/>
                    <a:lstStyle/>
                    <a:p>
                      <a:pPr indent="0" lvl="0" marL="0" marR="0" rtl="0" algn="ctr">
                        <a:lnSpc>
                          <a:spcPct val="100000"/>
                        </a:lnSpc>
                        <a:spcBef>
                          <a:spcPts val="0"/>
                        </a:spcBef>
                        <a:spcAft>
                          <a:spcPts val="0"/>
                        </a:spcAft>
                        <a:buClr>
                          <a:schemeClr val="dk1"/>
                        </a:buClr>
                        <a:buSzPts val="800"/>
                        <a:buFont typeface="Century Gothic"/>
                        <a:buNone/>
                      </a:pPr>
                      <a:r>
                        <a:rPr b="0" lang="en-GB" sz="800">
                          <a:solidFill>
                            <a:schemeClr val="dk1"/>
                          </a:solidFill>
                        </a:rPr>
                        <a:t>H1 2025 —
H2 2026</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h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Medium</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xBody>
                    <a:bodyPr/>
                    <a:p/>
                  </a:txBody>
                </a:tc>
                <a:tc vMerge="1">
                  <a:txBody>
                    <a:bodyPr/>
                    <a:p/>
                  </a:txBody>
                </a:tc>
                <a:tc gridSpan="2" vMerge="1">
                  <a:txBody>
                    <a:bodyPr/>
                    <a:p/>
                  </a:txBody>
                </a:tc>
                <a:tc hMerge="1" v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Low</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xBody>
                    <a:bodyPr/>
                    <a:p/>
                  </a:txBody>
                </a:tc>
                <a:tc vMerge="1">
                  <a:txBody>
                    <a:bodyPr/>
                    <a:p/>
                  </a:txBody>
                </a:tc>
                <a:tc gridSpan="2" vMerge="1">
                  <a:txBody>
                    <a:bodyPr/>
                    <a:p/>
                  </a:txBody>
                </a:tc>
                <a:tc hMerge="1" vMerge="1">
                  <a:txBody>
                    <a:bodyPr/>
                    <a:p/>
                  </a:txBody>
                </a:tc>
              </a:tr>
            </a:tbl>
          </a:graphicData>
        </a:graphic>
      </p:graphicFrame>
      <p:grpSp>
        <p:nvGrpSpPr>
          <p:cNvPr id="4564" name="Google Shape;4564;p247"/>
          <p:cNvGrpSpPr/>
          <p:nvPr/>
        </p:nvGrpSpPr>
        <p:grpSpPr>
          <a:xfrm>
            <a:off x="469900" y="3829205"/>
            <a:ext cx="8455025" cy="732866"/>
            <a:chOff x="211138" y="3972860"/>
            <a:chExt cx="8713787" cy="642437"/>
          </a:xfrm>
        </p:grpSpPr>
        <p:sp>
          <p:nvSpPr>
            <p:cNvPr id="4565" name="Google Shape;4565;p247"/>
            <p:cNvSpPr/>
            <p:nvPr/>
          </p:nvSpPr>
          <p:spPr>
            <a:xfrm>
              <a:off x="211138" y="3972860"/>
              <a:ext cx="8713787" cy="642437"/>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4566" name="Google Shape;4566;p247"/>
            <p:cNvSpPr/>
            <p:nvPr/>
          </p:nvSpPr>
          <p:spPr>
            <a:xfrm>
              <a:off x="3692726" y="3982349"/>
              <a:ext cx="1753883" cy="632948"/>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grpSp>
        <p:nvGrpSpPr>
          <p:cNvPr id="4567" name="Google Shape;4567;p247"/>
          <p:cNvGrpSpPr/>
          <p:nvPr/>
        </p:nvGrpSpPr>
        <p:grpSpPr>
          <a:xfrm>
            <a:off x="7971865" y="980278"/>
            <a:ext cx="949325" cy="2867825"/>
            <a:chOff x="7941888" y="1062037"/>
            <a:chExt cx="983037" cy="2695575"/>
          </a:xfrm>
        </p:grpSpPr>
        <p:sp>
          <p:nvSpPr>
            <p:cNvPr id="4568" name="Google Shape;4568;p247"/>
            <p:cNvSpPr/>
            <p:nvPr/>
          </p:nvSpPr>
          <p:spPr>
            <a:xfrm>
              <a:off x="7941889" y="1062037"/>
              <a:ext cx="983036" cy="2695575"/>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4569" name="Google Shape;4569;p247"/>
            <p:cNvSpPr/>
            <p:nvPr/>
          </p:nvSpPr>
          <p:spPr>
            <a:xfrm>
              <a:off x="7941888" y="2052586"/>
              <a:ext cx="983037" cy="714476"/>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sp>
        <p:nvSpPr>
          <p:cNvPr id="4570" name="Google Shape;4570;p247"/>
          <p:cNvSpPr txBox="1"/>
          <p:nvPr>
            <p:ph type="title"/>
          </p:nvPr>
        </p:nvSpPr>
        <p:spPr>
          <a:xfrm>
            <a:off x="381000" y="296096"/>
            <a:ext cx="8543925" cy="360308"/>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Tax Management &amp; Optimisation</a:t>
            </a:r>
            <a:endParaRPr>
              <a:solidFill>
                <a:schemeClr val="accent6"/>
              </a:solidFill>
            </a:endParaRPr>
          </a:p>
        </p:txBody>
      </p:sp>
      <p:sp>
        <p:nvSpPr>
          <p:cNvPr id="4571" name="Google Shape;4571;p247">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Accounting Operations and Close</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6" name="Shape 4576"/>
        <p:cNvGrpSpPr/>
        <p:nvPr/>
      </p:nvGrpSpPr>
      <p:grpSpPr>
        <a:xfrm>
          <a:off x="0" y="0"/>
          <a:ext cx="0" cy="0"/>
          <a:chOff x="0" y="0"/>
          <a:chExt cx="0" cy="0"/>
        </a:xfrm>
      </p:grpSpPr>
      <p:cxnSp>
        <p:nvCxnSpPr>
          <p:cNvPr id="4577" name="Google Shape;4577;p248"/>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graphicFrame>
        <p:nvGraphicFramePr>
          <p:cNvPr id="4578" name="Google Shape;4578;p248"/>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171450" lvl="0" marL="171450" marR="0" rtl="0" algn="l">
                        <a:lnSpc>
                          <a:spcPct val="100000"/>
                        </a:lnSpc>
                        <a:spcBef>
                          <a:spcPts val="0"/>
                        </a:spcBef>
                        <a:spcAft>
                          <a:spcPts val="0"/>
                        </a:spcAft>
                        <a:buClr>
                          <a:schemeClr val="dk1"/>
                        </a:buClr>
                        <a:buSzPts val="900"/>
                        <a:buFont typeface="Arial"/>
                        <a:buChar char="•"/>
                      </a:pPr>
                      <a:r>
                        <a:rPr b="1" lang="en-GB" sz="900">
                          <a:solidFill>
                            <a:schemeClr val="dk1"/>
                          </a:solidFill>
                          <a:latin typeface="Century Gothic"/>
                          <a:ea typeface="Century Gothic"/>
                          <a:cs typeface="Century Gothic"/>
                          <a:sym typeface="Century Gothic"/>
                        </a:rPr>
                        <a:t>Ensure business users can confidently use data for decision making</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Automate reconciliation, validation and adjustment processes as far as possible.</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Support for different types of reconciliation and validation approaches (e.g. comparison between sources, outlier analysis vs. historic norms)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Ensure that users of data throughout the organisation understand the reconciliation and validation status of each data item, and whether it has been (or might be) subject to adjustment(s).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Transparency and drilldown from summary-level values to detail, including the impact of any adjustments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Audit trail of reconciliation, validation and adjustment sign-offs</a:t>
                      </a:r>
                      <a:endParaRPr/>
                    </a:p>
                    <a:p>
                      <a:pPr indent="-114300" lvl="0" marL="171450" marR="0" rtl="0" algn="l">
                        <a:lnSpc>
                          <a:spcPct val="100000"/>
                        </a:lnSpc>
                        <a:spcBef>
                          <a:spcPts val="0"/>
                        </a:spcBef>
                        <a:spcAft>
                          <a:spcPts val="0"/>
                        </a:spcAft>
                        <a:buClr>
                          <a:schemeClr val="dk1"/>
                        </a:buClr>
                        <a:buSzPts val="900"/>
                        <a:buFont typeface="Arial"/>
                        <a:buNone/>
                      </a:pPr>
                      <a:r>
                        <a:t/>
                      </a:r>
                      <a:endParaRPr b="0" sz="900">
                        <a:solidFill>
                          <a:schemeClr val="dk1"/>
                        </a:solidFill>
                      </a:endParaRPr>
                    </a:p>
                    <a:p>
                      <a:r>
                        <a:rPr sz="900">
                          <a:latin typeface="Century Gothic"/>
                        </a:rPr>
                        <a:t/>
                      </a:r>
                    </a:p>
                    <a:p>
                      <a:r>
                        <a:rPr sz="900">
                          <a:latin typeface="Century Gothic"/>
                        </a:rPr>
                        <a:t>Automate reconciliation between 4-5 core banking systems and data warehouse</a:t>
                      </a:r>
                    </a:p>
                    <a:p>
                      <a:r>
                        <a:rPr sz="900">
                          <a:latin typeface="Century Gothic"/>
                        </a:rPr>
                        <a:t>GL-to-sub-ledger reconciliation for SBP reporting accuracy</a:t>
                      </a:r>
                    </a:p>
                    <a:p>
                      <a:r>
                        <a:rPr sz="900">
                          <a:latin typeface="Century Gothic"/>
                        </a:rPr>
                        <a:t>Automated nostro/vostro reconciliation for correspondent banking</a:t>
                      </a:r>
                    </a:p>
                    <a:p>
                      <a:r>
                        <a:rPr sz="900">
                          <a:latin typeface="Century Gothic"/>
                        </a:rPr>
                        <a:t>Reduce finance team reconciliation effort from 40-50% to &lt;15% of time</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xBody>
                    <a:bodyPr/>
                    <a:p/>
                  </a:txBody>
                </a:tc>
                <a:tc vMerge="1">
                  <a:txBody>
                    <a:bodyPr/>
                    <a:p/>
                  </a:txBody>
                </a:tc>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GL balance and transaction 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Operational system balance and detailed transaction 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Transaction, Reporting, Base currencies</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F/X rates, internal deal or internal rates on transaction level.</a:t>
                      </a:r>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p>
                      <a:pPr indent="0" lvl="0" marL="0" marR="0" rtl="0" algn="l">
                        <a:spcBef>
                          <a:spcPts val="0"/>
                        </a:spcBef>
                        <a:spcAft>
                          <a:spcPts val="0"/>
                        </a:spcAft>
                        <a:buClr>
                          <a:schemeClr val="dk1"/>
                        </a:buClr>
                        <a:buSzPts val="900"/>
                        <a:buFont typeface="Arial"/>
                        <a:buNone/>
                      </a:pPr>
                      <a:r>
                        <a:rPr b="1" lang="en-GB" sz="900">
                          <a:solidFill>
                            <a:schemeClr val="dk1"/>
                          </a:solidFill>
                        </a:rPr>
                        <a:t>Solution / Analytics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Integrated data repository</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In-database reconciliation engine</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Reference data management solution</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Reporting / BI tool of choice</a:t>
                      </a:r>
                      <a:endParaRPr sz="900">
                        <a:solidFill>
                          <a:schemeClr val="dk1"/>
                        </a:solidFill>
                      </a:endParaRPr>
                    </a:p>
                    <a:p>
                      <a:r>
                        <a:rPr sz="900"/>
                        <a:t/>
                      </a:r>
                    </a:p>
                    <a:p>
                      <a:r>
                        <a:rPr sz="900"/>
                        <a:t>GL balances from multiple ERPs/core banking systems</a:t>
                      </a:r>
                    </a:p>
                    <a:p>
                      <a:r>
                        <a:rPr sz="900"/>
                        <a:t>RAAST settlement data and 1Link switch data</a:t>
                      </a:r>
                    </a:p>
                    <a:p>
                      <a:r>
                        <a:rPr sz="900"/>
                        <a:t>Card network settlement data (Visa/Mastercard)</a:t>
                      </a:r>
                    </a:p>
                    <a:p>
                      <a:r>
                        <a:rPr sz="900"/>
                        <a:t>SBP clearing house (NIFT) and nostro/vostro account data</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Timely, confident and trusted information</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End-to-end transparency and lineage for financial data.</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Reduction in time and effort related to manual processes.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Enterprise wide data standards, governance and policy</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Necessary adjustments reflected in data warehouse and/or pushed back to the source systems (depending on requirement).</a:t>
                      </a:r>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r>
                        <a:rPr sz="900">
                          <a:latin typeface="Century Gothic"/>
                        </a:rPr>
                        <a:t/>
                      </a:r>
                    </a:p>
                    <a:p>
                      <a:r>
                        <a:rPr sz="900">
                          <a:latin typeface="Century Gothic"/>
                        </a:rPr>
                        <a:t>Automated daily reconciliation across all payment systems</a:t>
                      </a:r>
                    </a:p>
                    <a:p>
                      <a:r>
                        <a:rPr sz="900">
                          <a:latin typeface="Century Gothic"/>
                        </a:rPr>
                        <a:t>Exception-based processing — only manual review for breaks</a:t>
                      </a:r>
                    </a:p>
                    <a:p>
                      <a:r>
                        <a:rPr sz="900">
                          <a:latin typeface="Century Gothic"/>
                        </a:rPr>
                        <a:t>Month-end close acceleration from 15-30 days to &lt;10 days</a:t>
                      </a:r>
                    </a:p>
                    <a:p>
                      <a:r>
                        <a:rPr sz="900">
                          <a:latin typeface="Century Gothic"/>
                        </a:rPr>
                        <a:t>Audit-ready reconciliation documentation with full trail</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4579" name="Google Shape;4579;p248"/>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Reconciliation, Validation &amp; Adjustments</a:t>
            </a:r>
            <a:endParaRPr sz="1600"/>
          </a:p>
        </p:txBody>
      </p:sp>
      <p:sp>
        <p:nvSpPr>
          <p:cNvPr id="4580" name="Google Shape;4580;p248">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Accounting Operations and Close</a:t>
            </a:r>
            <a:endParaRPr sz="750">
              <a:solidFill>
                <a:schemeClr val="lt1"/>
              </a:solidFill>
              <a:latin typeface="Century Gothic"/>
              <a:ea typeface="Century Gothic"/>
              <a:cs typeface="Century Gothic"/>
              <a:sym typeface="Century Gothic"/>
            </a:endParaRPr>
          </a:p>
        </p:txBody>
      </p:sp>
      <p:pic>
        <p:nvPicPr>
          <p:cNvPr id="4581" name="Google Shape;4581;p248"/>
          <p:cNvPicPr preferRelativeResize="0"/>
          <p:nvPr/>
        </p:nvPicPr>
        <p:blipFill rotWithShape="1">
          <a:blip r:embed="rId4">
            <a:alphaModFix/>
          </a:blip>
          <a:srcRect b="0" l="0" r="0" t="0"/>
          <a:stretch/>
        </p:blipFill>
        <p:spPr>
          <a:xfrm>
            <a:off x="5648154" y="279312"/>
            <a:ext cx="3316459" cy="2210972"/>
          </a:xfrm>
          <a:prstGeom prst="rect">
            <a:avLst/>
          </a:prstGeom>
          <a:noFill/>
          <a:ln>
            <a:noFill/>
          </a:ln>
        </p:spPr>
      </p:pic>
      <p:grpSp>
        <p:nvGrpSpPr>
          <p:cNvPr id="4582" name="Google Shape;4582;p248"/>
          <p:cNvGrpSpPr/>
          <p:nvPr/>
        </p:nvGrpSpPr>
        <p:grpSpPr>
          <a:xfrm>
            <a:off x="7717533" y="4360377"/>
            <a:ext cx="1058348" cy="347375"/>
            <a:chOff x="7651698" y="4287227"/>
            <a:chExt cx="1058348" cy="347375"/>
          </a:xfrm>
        </p:grpSpPr>
        <p:grpSp>
          <p:nvGrpSpPr>
            <p:cNvPr id="4583" name="Google Shape;4583;p248"/>
            <p:cNvGrpSpPr/>
            <p:nvPr/>
          </p:nvGrpSpPr>
          <p:grpSpPr>
            <a:xfrm>
              <a:off x="7714163" y="4337598"/>
              <a:ext cx="995883" cy="297004"/>
              <a:chOff x="7711013" y="3986494"/>
              <a:chExt cx="995883" cy="297004"/>
            </a:xfrm>
          </p:grpSpPr>
          <p:sp>
            <p:nvSpPr>
              <p:cNvPr id="4584" name="Google Shape;4584;p248"/>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4585" name="Google Shape;4585;p248"/>
              <p:cNvGrpSpPr/>
              <p:nvPr/>
            </p:nvGrpSpPr>
            <p:grpSpPr>
              <a:xfrm>
                <a:off x="7711013" y="4002615"/>
                <a:ext cx="281520" cy="241973"/>
                <a:chOff x="5652748" y="4066000"/>
                <a:chExt cx="906498" cy="747974"/>
              </a:xfrm>
            </p:grpSpPr>
            <p:sp>
              <p:nvSpPr>
                <p:cNvPr id="4586" name="Google Shape;4586;p248"/>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4587" name="Google Shape;4587;p248"/>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588" name="Google Shape;4588;p248"/>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4589" name="Google Shape;4589;p248">
              <a:hlinkClick action="ppaction://hlinksldjump" r:id="rId5"/>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4" name="Shape 4594"/>
        <p:cNvGrpSpPr/>
        <p:nvPr/>
      </p:nvGrpSpPr>
      <p:grpSpPr>
        <a:xfrm>
          <a:off x="0" y="0"/>
          <a:ext cx="0" cy="0"/>
          <a:chOff x="0" y="0"/>
          <a:chExt cx="0" cy="0"/>
        </a:xfrm>
      </p:grpSpPr>
      <p:graphicFrame>
        <p:nvGraphicFramePr>
          <p:cNvPr id="4595" name="Google Shape;4595;p249"/>
          <p:cNvGraphicFramePr/>
          <p:nvPr/>
        </p:nvGraphicFramePr>
        <p:xfrm>
          <a:off x="469899" y="789217"/>
          <a:ext cx="3000000" cy="3000000"/>
        </p:xfrm>
        <a:graphic>
          <a:graphicData uri="http://schemas.openxmlformats.org/drawingml/2006/table">
            <a:tbl>
              <a:tblPr bandRow="1" firstRow="1">
                <a:noFill/>
                <a:tableStyleId>{D098BFCB-6916-41F2-A2A5-0DF0D5139B6F}</a:tableStyleId>
              </a:tblPr>
              <a:tblGrid>
                <a:gridCol w="130325"/>
                <a:gridCol w="556275"/>
                <a:gridCol w="367500"/>
                <a:gridCol w="3170075"/>
                <a:gridCol w="3276050"/>
                <a:gridCol w="477150"/>
                <a:gridCol w="477150"/>
              </a:tblGrid>
              <a:tr h="180850">
                <a:tc gridSpan="3">
                  <a:txBody>
                    <a:bodyPr/>
                    <a:lstStyle/>
                    <a:p>
                      <a:pPr indent="0" lvl="0" marL="0" marR="0" rtl="0" algn="ctr">
                        <a:spcBef>
                          <a:spcPts val="0"/>
                        </a:spcBef>
                        <a:spcAft>
                          <a:spcPts val="0"/>
                        </a:spcAft>
                        <a:buNone/>
                      </a:pPr>
                      <a:r>
                        <a:rPr b="1" lang="en-GB" sz="1200">
                          <a:solidFill>
                            <a:schemeClr val="dk2"/>
                          </a:solidFill>
                        </a:rPr>
                        <a:t>Level</a:t>
                      </a:r>
                      <a:endParaRPr b="1" sz="12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hMerge="1">
                  <a:txBody>
                    <a:bodyPr/>
                    <a:p/>
                  </a:txBody>
                </a:tc>
                <a:tc gridSpan="2">
                  <a:txBody>
                    <a:bodyPr/>
                    <a:lstStyle/>
                    <a:p>
                      <a:pPr indent="0" lvl="0" marL="0" marR="0" rtl="0" algn="ctr">
                        <a:lnSpc>
                          <a:spcPct val="100000"/>
                        </a:lnSpc>
                        <a:spcBef>
                          <a:spcPts val="0"/>
                        </a:spcBef>
                        <a:spcAft>
                          <a:spcPts val="0"/>
                        </a:spcAft>
                        <a:buClr>
                          <a:schemeClr val="dk2"/>
                        </a:buClr>
                        <a:buSzPts val="1200"/>
                        <a:buFont typeface="Century Gothic"/>
                        <a:buNone/>
                      </a:pPr>
                      <a:r>
                        <a:rPr b="1" lang="en-GB" sz="1200">
                          <a:solidFill>
                            <a:schemeClr val="dk2"/>
                          </a:solidFill>
                        </a:rPr>
                        <a:t>Maturity Statement</a:t>
                      </a:r>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rPr b="1" lang="en-GB" sz="800">
                          <a:solidFill>
                            <a:schemeClr val="dk2"/>
                          </a:solidFill>
                        </a:rPr>
                        <a:t>Current</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rPr b="1" lang="en-GB" sz="800">
                          <a:solidFill>
                            <a:schemeClr val="dk2"/>
                          </a:solidFill>
                        </a:rPr>
                        <a:t>Desired</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06C1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Leading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Reconciliation, Validation and Adjustments are centralised and automated, with well-defined and documented responsibilities. A best-in-class tool or solution is used, with exceptions requiring action being delivered via workflow functionality. Adjustments are integrated into both financial systems and data warehouse/analytical systems.</a:t>
                      </a:r>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037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F7513"/>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Innovating</a:t>
                      </a:r>
                      <a:endParaRPr/>
                    </a:p>
                    <a:p>
                      <a:pPr indent="0" lvl="0" marL="0" marR="0" rtl="0" algn="ctr">
                        <a:spcBef>
                          <a:spcPts val="0"/>
                        </a:spcBef>
                        <a:spcAft>
                          <a:spcPts val="0"/>
                        </a:spcAft>
                        <a:buNone/>
                      </a:pPr>
                      <a:r>
                        <a:t/>
                      </a:r>
                      <a:endParaRPr b="1" sz="1000">
                        <a:solidFill>
                          <a:schemeClr val="dk2"/>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Reconciliation, Validation and Adjustments are centralised, with well-defined and documented responsibilities and processes. A dedicated tool or solution is used to perform these processes on a largely automated basis against data which is largely available from a single source.  </a:t>
                      </a:r>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C891C"/>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Practicing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A dedicated tool or solution is used to perform Reconciliation &amp; Validation on a largely automated basis against data which is largely available from a single source. Adjustments are still primarily applied manually.</a:t>
                      </a:r>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lnSpc>
                          <a:spcPct val="100000"/>
                        </a:lnSpc>
                        <a:spcBef>
                          <a:spcPts val="0"/>
                        </a:spcBef>
                        <a:spcAft>
                          <a:spcPts val="0"/>
                        </a:spcAft>
                        <a:buClr>
                          <a:schemeClr val="dk1"/>
                        </a:buClr>
                        <a:buSzPts val="1400"/>
                        <a:buFont typeface="Century Gothic"/>
                        <a:buNone/>
                      </a:pPr>
                      <a:r>
                        <a:t/>
                      </a:r>
                      <a:endParaRPr sz="1400">
                        <a:solidFill>
                          <a:schemeClr val="dk1"/>
                        </a:solidFill>
                        <a:latin typeface="Noto Sans Symbols"/>
                        <a:ea typeface="Noto Sans Symbols"/>
                        <a:cs typeface="Noto Sans Symbols"/>
                        <a:sym typeface="Noto Sans Symbols"/>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E9B4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Developing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Reconciliation and Validation are subject to some centralisation, with some use of common tools and processes.  However the underlying data upon which they operate is still fragmented, and needs to be sourced directly. Adjustments  are applied manually.</a:t>
                      </a:r>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037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1AE65"/>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Emerging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Reconciliation, Validation and Adjustment processes are fragmented and distributed widely across the organisation. They are largely manual, and involve extensive use of reports and spreadsheets.</a:t>
                      </a:r>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178750">
                <a:tc gridSpan="3">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Priority</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hMerge="1">
                  <a:txBody>
                    <a:bodyPr/>
                    <a:p/>
                  </a:txBody>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Key areas for improvement</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Benefits from uplift</a:t>
                      </a:r>
                      <a:endParaRPr b="1" sz="1000">
                        <a:solidFill>
                          <a:schemeClr val="dk2"/>
                        </a:solidFill>
                        <a:latin typeface="Century Gothic"/>
                        <a:ea typeface="Century Gothic"/>
                        <a:cs typeface="Century Gothic"/>
                        <a:sym typeface="Century Gothic"/>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a:txBody>
                    <a:bodyPr/>
                    <a:lstStyle/>
                    <a:p>
                      <a:pPr indent="0" lvl="0" marL="0" marR="0" rtl="0" algn="ctr">
                        <a:spcBef>
                          <a:spcPts val="0"/>
                        </a:spcBef>
                        <a:spcAft>
                          <a:spcPts val="0"/>
                        </a:spcAft>
                        <a:buNone/>
                      </a:pPr>
                      <a:r>
                        <a:rPr b="1" lang="en-GB" sz="1000">
                          <a:solidFill>
                            <a:schemeClr val="dk2"/>
                          </a:solidFill>
                        </a:rPr>
                        <a:t>Timeframe</a:t>
                      </a:r>
                      <a:endParaRPr b="1" sz="1000">
                        <a:solidFill>
                          <a:schemeClr val="dk2"/>
                        </a:solidFill>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High</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rPr lang="en-GB" sz="1000">
                          <a:solidFill>
                            <a:schemeClr val="dk1"/>
                          </a:solidFill>
                          <a:latin typeface="Noto Sans Symbols"/>
                          <a:ea typeface="Noto Sans Symbols"/>
                          <a:cs typeface="Noto Sans Symbols"/>
                          <a:sym typeface="Noto Sans Symbols"/>
                        </a:rPr>
                        <a:t>✔</a:t>
                      </a:r>
                      <a:endParaRPr b="1" sz="10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0" lvl="0" marL="0" marR="0" rtl="0" algn="l">
                        <a:lnSpc>
                          <a:spcPct val="100000"/>
                        </a:lnSpc>
                        <a:spcBef>
                          <a:spcPts val="0"/>
                        </a:spcBef>
                        <a:spcAft>
                          <a:spcPts val="0"/>
                        </a:spcAft>
                        <a:buClr>
                          <a:schemeClr val="dk1"/>
                        </a:buClr>
                        <a:buSzPts val="800"/>
                        <a:buFont typeface="Arial"/>
                        <a:buNone/>
                      </a:pPr>
                      <a:r>
                        <a:rPr sz="800" b="0">
                          <a:latin typeface="Century Gothic"/>
                        </a:rPr>
                        <a:t>Pakistan priority improvements:</a:t>
                      </a:r>
                      <a:endParaRPr/>
                    </a:p>
                    <a:p>
                      <a:r>
                        <a:rPr sz="800" b="0">
                          <a:latin typeface="Century Gothic"/>
                        </a:rPr>
                        <a:t>Automated reconciliation across 4-5 core banking systems and GL</a:t>
                      </a:r>
                    </a:p>
                    <a:p>
                      <a:r>
                        <a:rPr sz="800" b="0">
                          <a:latin typeface="Century Gothic"/>
                        </a:rPr>
                        <a:t>Payment system settlement reconciliation (RAAST, 1Link, SWIFT, NIFT)</a:t>
                      </a:r>
                    </a:p>
                    <a:p>
                      <a:r>
                        <a:rPr sz="800" b="0">
                          <a:latin typeface="Century Gothic"/>
                        </a:rPr>
                        <a:t>Card network settlement matching (Visa/Mastercard)</a:t>
                      </a:r>
                    </a:p>
                    <a:p>
                      <a:r>
                        <a:rPr sz="800" b="0">
                          <a:latin typeface="Century Gothic"/>
                        </a:rPr>
                        <a:t>Nostro/vostro daily reconciliation for correspondent banking</a:t>
                      </a:r>
                    </a:p>
                    <a:p>
                      <a:r>
                        <a:rPr sz="800" b="0">
                          <a:latin typeface="Century Gothic"/>
                        </a:rPr>
                        <a:t>Inter-branch transaction reconciliation across 16,000+ branches</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285750" lvl="0" marL="285750" marR="0" rtl="0" algn="l">
                        <a:spcBef>
                          <a:spcPts val="0"/>
                        </a:spcBef>
                        <a:spcAft>
                          <a:spcPts val="0"/>
                        </a:spcAft>
                        <a:buClr>
                          <a:schemeClr val="dk1"/>
                        </a:buClr>
                        <a:buSzPts val="800"/>
                        <a:buFont typeface="Arial"/>
                        <a:buChar char="•"/>
                      </a:pPr>
                      <a:r>
                        <a:rPr sz="800">
                          <a:latin typeface="Century Gothic"/>
                        </a:rPr>
                        <a:t>Finance team time freed: reconciliation from 40-50% to &lt;15% of effort</a:t>
                      </a:r>
                      <a:endParaRPr/>
                    </a:p>
                    <a:p>
                      <a:r>
                        <a:rPr sz="800">
                          <a:latin typeface="Century Gothic"/>
                        </a:rPr>
                        <a:t>Month-end close acceleration from 15-30 days to &lt;10 days</a:t>
                      </a:r>
                    </a:p>
                    <a:p>
                      <a:r>
                        <a:rPr sz="800">
                          <a:latin typeface="Century Gothic"/>
                        </a:rPr>
                        <a:t>Exception-based processing — manual review only for breaks</a:t>
                      </a:r>
                    </a:p>
                    <a:p>
                      <a:r>
                        <a:rPr sz="800">
                          <a:latin typeface="Century Gothic"/>
                        </a:rPr>
                        <a:t>Audit-ready reconciliation trail for external auditors</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rowSpan="3">
                  <a:txBody>
                    <a:bodyPr/>
                    <a:lstStyle/>
                    <a:p>
                      <a:pPr indent="0" lvl="0" marL="0" marR="0" rtl="0" algn="ctr">
                        <a:lnSpc>
                          <a:spcPct val="100000"/>
                        </a:lnSpc>
                        <a:spcBef>
                          <a:spcPts val="0"/>
                        </a:spcBef>
                        <a:spcAft>
                          <a:spcPts val="0"/>
                        </a:spcAft>
                        <a:buClr>
                          <a:schemeClr val="dk1"/>
                        </a:buClr>
                        <a:buSzPts val="800"/>
                        <a:buFont typeface="Century Gothic"/>
                        <a:buNone/>
                      </a:pPr>
                      <a:r>
                        <a:rPr b="0" lang="en-GB" sz="800">
                          <a:solidFill>
                            <a:schemeClr val="dk1"/>
                          </a:solidFill>
                        </a:rPr>
                        <a:t>H1 2025 —
H2 2026</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h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Medium</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xBody>
                    <a:bodyPr/>
                    <a:p/>
                  </a:txBody>
                </a:tc>
                <a:tc vMerge="1">
                  <a:txBody>
                    <a:bodyPr/>
                    <a:p/>
                  </a:txBody>
                </a:tc>
                <a:tc gridSpan="2" vMerge="1">
                  <a:txBody>
                    <a:bodyPr/>
                    <a:p/>
                  </a:txBody>
                </a:tc>
                <a:tc hMerge="1" v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Low</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xBody>
                    <a:bodyPr/>
                    <a:p/>
                  </a:txBody>
                </a:tc>
                <a:tc vMerge="1">
                  <a:txBody>
                    <a:bodyPr/>
                    <a:p/>
                  </a:txBody>
                </a:tc>
                <a:tc gridSpan="2" vMerge="1">
                  <a:txBody>
                    <a:bodyPr/>
                    <a:p/>
                  </a:txBody>
                </a:tc>
                <a:tc hMerge="1" vMerge="1">
                  <a:txBody>
                    <a:bodyPr/>
                    <a:p/>
                  </a:txBody>
                </a:tc>
              </a:tr>
            </a:tbl>
          </a:graphicData>
        </a:graphic>
      </p:graphicFrame>
      <p:grpSp>
        <p:nvGrpSpPr>
          <p:cNvPr id="4596" name="Google Shape;4596;p249"/>
          <p:cNvGrpSpPr/>
          <p:nvPr/>
        </p:nvGrpSpPr>
        <p:grpSpPr>
          <a:xfrm>
            <a:off x="469900" y="3819680"/>
            <a:ext cx="8455025" cy="732866"/>
            <a:chOff x="211138" y="3972860"/>
            <a:chExt cx="8713787" cy="642437"/>
          </a:xfrm>
        </p:grpSpPr>
        <p:sp>
          <p:nvSpPr>
            <p:cNvPr id="4597" name="Google Shape;4597;p249"/>
            <p:cNvSpPr/>
            <p:nvPr/>
          </p:nvSpPr>
          <p:spPr>
            <a:xfrm>
              <a:off x="211138" y="3972860"/>
              <a:ext cx="8713787" cy="642437"/>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4598" name="Google Shape;4598;p249"/>
            <p:cNvSpPr/>
            <p:nvPr/>
          </p:nvSpPr>
          <p:spPr>
            <a:xfrm>
              <a:off x="3692726" y="3982349"/>
              <a:ext cx="1753883" cy="632948"/>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grpSp>
        <p:nvGrpSpPr>
          <p:cNvPr id="4599" name="Google Shape;4599;p249"/>
          <p:cNvGrpSpPr/>
          <p:nvPr/>
        </p:nvGrpSpPr>
        <p:grpSpPr>
          <a:xfrm>
            <a:off x="7971865" y="980278"/>
            <a:ext cx="949325" cy="2867825"/>
            <a:chOff x="7941888" y="1062037"/>
            <a:chExt cx="983037" cy="2695575"/>
          </a:xfrm>
        </p:grpSpPr>
        <p:sp>
          <p:nvSpPr>
            <p:cNvPr id="4600" name="Google Shape;4600;p249"/>
            <p:cNvSpPr/>
            <p:nvPr/>
          </p:nvSpPr>
          <p:spPr>
            <a:xfrm>
              <a:off x="7941889" y="1062037"/>
              <a:ext cx="983036" cy="2695575"/>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4601" name="Google Shape;4601;p249"/>
            <p:cNvSpPr/>
            <p:nvPr/>
          </p:nvSpPr>
          <p:spPr>
            <a:xfrm>
              <a:off x="7941888" y="2052586"/>
              <a:ext cx="983037" cy="714476"/>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sp>
        <p:nvSpPr>
          <p:cNvPr id="4602" name="Google Shape;4602;p249"/>
          <p:cNvSpPr txBox="1"/>
          <p:nvPr>
            <p:ph type="title"/>
          </p:nvPr>
        </p:nvSpPr>
        <p:spPr>
          <a:xfrm>
            <a:off x="381000" y="296096"/>
            <a:ext cx="8543925" cy="360308"/>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Reconciliation, Validation &amp; Adjustments</a:t>
            </a:r>
            <a:endParaRPr>
              <a:solidFill>
                <a:schemeClr val="accent6"/>
              </a:solidFill>
            </a:endParaRPr>
          </a:p>
        </p:txBody>
      </p:sp>
      <p:sp>
        <p:nvSpPr>
          <p:cNvPr id="4603" name="Google Shape;4603;p249">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Accounting Operations and Close</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8" name="Shape 4608"/>
        <p:cNvGrpSpPr/>
        <p:nvPr/>
      </p:nvGrpSpPr>
      <p:grpSpPr>
        <a:xfrm>
          <a:off x="0" y="0"/>
          <a:ext cx="0" cy="0"/>
          <a:chOff x="0" y="0"/>
          <a:chExt cx="0" cy="0"/>
        </a:xfrm>
      </p:grpSpPr>
      <p:cxnSp>
        <p:nvCxnSpPr>
          <p:cNvPr id="4609" name="Google Shape;4609;p250"/>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graphicFrame>
        <p:nvGraphicFramePr>
          <p:cNvPr id="4610" name="Google Shape;4610;p250"/>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171450" lvl="0" marL="171450" marR="0" rtl="0" algn="l">
                        <a:lnSpc>
                          <a:spcPct val="100000"/>
                        </a:lnSpc>
                        <a:spcBef>
                          <a:spcPts val="0"/>
                        </a:spcBef>
                        <a:spcAft>
                          <a:spcPts val="0"/>
                        </a:spcAft>
                        <a:buClr>
                          <a:schemeClr val="dk1"/>
                        </a:buClr>
                        <a:buSzPts val="900"/>
                        <a:buFont typeface="Arial"/>
                        <a:buChar char="•"/>
                      </a:pPr>
                      <a:r>
                        <a:rPr b="1" lang="en-GB" sz="900">
                          <a:solidFill>
                            <a:schemeClr val="dk1"/>
                          </a:solidFill>
                          <a:latin typeface="Century Gothic"/>
                          <a:ea typeface="Century Gothic"/>
                          <a:cs typeface="Century Gothic"/>
                          <a:sym typeface="Century Gothic"/>
                        </a:rPr>
                        <a:t>Timely, accurate and efficient reporting of consolidated financial information across multiple ERPs and legal entities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Consolidated financials as a basis for business and operational decision making process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Minimise data movement, duplication and reconciliation.</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 data lineage and drilldown capabilities</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rPr>
                        <a:t>Effectively and efficiently identify Intercompany transactions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Reduction in complexity and cost of consolidation process through:</a:t>
                      </a:r>
                      <a:endParaRPr/>
                    </a:p>
                    <a:p>
                      <a:pPr indent="-171450" lvl="1" marL="355600" marR="0" rtl="0" algn="l">
                        <a:lnSpc>
                          <a:spcPct val="100000"/>
                        </a:lnSpc>
                        <a:spcBef>
                          <a:spcPts val="0"/>
                        </a:spcBef>
                        <a:spcAft>
                          <a:spcPts val="0"/>
                        </a:spcAft>
                        <a:buClr>
                          <a:schemeClr val="dk1"/>
                        </a:buClr>
                        <a:buSzPts val="900"/>
                        <a:buFont typeface="Century Gothic"/>
                        <a:buChar char="−"/>
                      </a:pPr>
                      <a:r>
                        <a:rPr lang="en-GB" sz="900" u="none" cap="none" strike="noStrike">
                          <a:solidFill>
                            <a:schemeClr val="dk1"/>
                          </a:solidFill>
                          <a:latin typeface="Century Gothic"/>
                          <a:ea typeface="Century Gothic"/>
                          <a:cs typeface="Century Gothic"/>
                          <a:sym typeface="Century Gothic"/>
                        </a:rPr>
                        <a:t>Standardisation of data, definitions, tools and processes</a:t>
                      </a:r>
                      <a:endParaRPr/>
                    </a:p>
                    <a:p>
                      <a:pPr indent="-171450" lvl="1" marL="355600" marR="0" rtl="0" algn="l">
                        <a:lnSpc>
                          <a:spcPct val="100000"/>
                        </a:lnSpc>
                        <a:spcBef>
                          <a:spcPts val="0"/>
                        </a:spcBef>
                        <a:spcAft>
                          <a:spcPts val="0"/>
                        </a:spcAft>
                        <a:buClr>
                          <a:schemeClr val="dk1"/>
                        </a:buClr>
                        <a:buSzPts val="900"/>
                        <a:buFont typeface="Century Gothic"/>
                        <a:buChar char="−"/>
                      </a:pPr>
                      <a:r>
                        <a:rPr lang="en-GB" sz="900" u="none" cap="none" strike="noStrike">
                          <a:solidFill>
                            <a:schemeClr val="dk1"/>
                          </a:solidFill>
                          <a:latin typeface="Century Gothic"/>
                          <a:ea typeface="Century Gothic"/>
                          <a:cs typeface="Century Gothic"/>
                          <a:sym typeface="Century Gothic"/>
                        </a:rPr>
                        <a:t>Reduction in manual reconciliation and late adjustments</a:t>
                      </a:r>
                      <a:endParaRPr/>
                    </a:p>
                    <a:p>
                      <a:pPr indent="-171450" lvl="1" marL="355600" marR="0" rtl="0" algn="l">
                        <a:lnSpc>
                          <a:spcPct val="100000"/>
                        </a:lnSpc>
                        <a:spcBef>
                          <a:spcPts val="0"/>
                        </a:spcBef>
                        <a:spcAft>
                          <a:spcPts val="0"/>
                        </a:spcAft>
                        <a:buClr>
                          <a:schemeClr val="dk1"/>
                        </a:buClr>
                        <a:buSzPts val="900"/>
                        <a:buFont typeface="Century Gothic"/>
                        <a:buChar char="−"/>
                      </a:pPr>
                      <a:r>
                        <a:rPr lang="en-GB" sz="900" u="none" cap="none" strike="noStrike">
                          <a:solidFill>
                            <a:schemeClr val="dk1"/>
                          </a:solidFill>
                          <a:latin typeface="Century Gothic"/>
                          <a:ea typeface="Century Gothic"/>
                          <a:cs typeface="Century Gothic"/>
                          <a:sym typeface="Century Gothic"/>
                        </a:rPr>
                        <a:t>Reduction in platform and data duplication</a:t>
                      </a:r>
                      <a:endParaRPr/>
                    </a:p>
                    <a:p>
                      <a:pPr indent="-114300" lvl="0" marL="171450" marR="0" rtl="0" algn="l">
                        <a:lnSpc>
                          <a:spcPct val="100000"/>
                        </a:lnSpc>
                        <a:spcBef>
                          <a:spcPts val="0"/>
                        </a:spcBef>
                        <a:spcAft>
                          <a:spcPts val="0"/>
                        </a:spcAft>
                        <a:buClr>
                          <a:schemeClr val="dk1"/>
                        </a:buClr>
                        <a:buSzPts val="900"/>
                        <a:buFont typeface="Arial"/>
                        <a:buNone/>
                      </a:pPr>
                      <a:r>
                        <a:t/>
                      </a:r>
                      <a:endParaRPr b="0" sz="900">
                        <a:solidFill>
                          <a:schemeClr val="dk1"/>
                        </a:solidFill>
                      </a:endParaRPr>
                    </a:p>
                    <a:p>
                      <a:r>
                        <a:rPr sz="900">
                          <a:latin typeface="Century Gothic"/>
                        </a:rPr>
                        <a:t/>
                      </a:r>
                    </a:p>
                    <a:p>
                      <a:r>
                        <a:rPr sz="900">
                          <a:latin typeface="Century Gothic"/>
                        </a:rPr>
                        <a:t>Consolidate across group: conventional bank + Islamic window/subsidiary + Takaful + brokerage + AMC + modaraba</a:t>
                      </a:r>
                    </a:p>
                    <a:p>
                      <a:r>
                        <a:rPr sz="900">
                          <a:latin typeface="Century Gothic"/>
                        </a:rPr>
                        <a:t>Eliminate inter-company transactions between group entities</a:t>
                      </a:r>
                    </a:p>
                    <a:p>
                      <a:r>
                        <a:rPr sz="900">
                          <a:latin typeface="Century Gothic"/>
                        </a:rPr>
                        <a:t>Produce consolidated SBP returns AND consolidated IFRS financial statements</a:t>
                      </a:r>
                    </a:p>
                    <a:p>
                      <a:r>
                        <a:rPr sz="900">
                          <a:latin typeface="Century Gothic"/>
                        </a:rPr>
                        <a:t>Handle different ERPs and chart of accounts across group entities</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xBody>
                    <a:bodyPr/>
                    <a:p/>
                  </a:txBody>
                </a:tc>
                <a:tc vMerge="1">
                  <a:txBody>
                    <a:bodyPr/>
                    <a:p/>
                  </a:txBody>
                </a:tc>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GL Balances</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Detailed accounting transactions</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Organisational Reference data</a:t>
                      </a:r>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p>
                      <a:pPr indent="0" lvl="0" marL="0" marR="0" rtl="0" algn="l">
                        <a:spcBef>
                          <a:spcPts val="0"/>
                        </a:spcBef>
                        <a:spcAft>
                          <a:spcPts val="0"/>
                        </a:spcAft>
                        <a:buClr>
                          <a:schemeClr val="dk1"/>
                        </a:buClr>
                        <a:buSzPts val="900"/>
                        <a:buFont typeface="Arial"/>
                        <a:buNone/>
                      </a:pPr>
                      <a:r>
                        <a:rPr b="1" lang="en-GB" sz="900">
                          <a:solidFill>
                            <a:schemeClr val="dk1"/>
                          </a:solidFill>
                        </a:rPr>
                        <a:t>Solution / Analytics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Integrated data repository</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In-database Consolidation Engine solution </a:t>
                      </a:r>
                      <a:r>
                        <a:rPr b="1" i="1" lang="en-GB" sz="900">
                          <a:solidFill>
                            <a:schemeClr val="dk1"/>
                          </a:solidFill>
                        </a:rPr>
                        <a:t>or </a:t>
                      </a:r>
                      <a:r>
                        <a:rPr b="0" i="0" lang="en-GB" sz="900">
                          <a:solidFill>
                            <a:schemeClr val="dk1"/>
                          </a:solidFill>
                        </a:rPr>
                        <a:t>B</a:t>
                      </a:r>
                      <a:r>
                        <a:rPr lang="en-GB" sz="900">
                          <a:solidFill>
                            <a:schemeClr val="dk1"/>
                          </a:solidFill>
                        </a:rPr>
                        <a:t>est-of-breed consolidation tool</a:t>
                      </a:r>
                      <a:endParaRPr sz="900">
                        <a:solidFill>
                          <a:schemeClr val="dk1"/>
                        </a:solidFill>
                      </a:endParaRPr>
                    </a:p>
                    <a:p>
                      <a:r>
                        <a:rPr sz="900"/>
                        <a:t/>
                      </a:r>
                    </a:p>
                    <a:p>
                      <a:r>
                        <a:rPr sz="900"/>
                        <a:t>GL data from all group entities (often different ERP/core systems)</a:t>
                      </a:r>
                    </a:p>
                    <a:p>
                      <a:r>
                        <a:rPr sz="900"/>
                        <a:t>Islamic banking separate books (IFRS + AAOIFI)</a:t>
                      </a:r>
                    </a:p>
                    <a:p>
                      <a:r>
                        <a:rPr sz="900"/>
                        <a:t>Subsidiary financial data with different chart of accounts</a:t>
                      </a:r>
                    </a:p>
                    <a:p>
                      <a:r>
                        <a:rPr sz="900"/>
                        <a:t>Inter-company transaction register for elimination entries</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Faster Close Process.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Reduction in manual processes.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End-to-end transparency and lineage for financial data.</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Seamless drill-down from consolidated financial statements to individual sets of books</a:t>
                      </a:r>
                      <a:endParaRPr/>
                    </a:p>
                    <a:p>
                      <a:pPr indent="-179388" lvl="0" marL="179388" marR="0" rtl="0" algn="l">
                        <a:lnSpc>
                          <a:spcPct val="100000"/>
                        </a:lnSpc>
                        <a:spcBef>
                          <a:spcPts val="0"/>
                        </a:spcBef>
                        <a:spcAft>
                          <a:spcPts val="0"/>
                        </a:spcAft>
                        <a:buClr>
                          <a:schemeClr val="dk1"/>
                        </a:buClr>
                        <a:buSzPts val="900"/>
                        <a:buFont typeface="Arial"/>
                        <a:buChar char="•"/>
                      </a:pPr>
                      <a:r>
                        <a:rPr lang="en-GB" sz="900">
                          <a:solidFill>
                            <a:schemeClr val="dk1"/>
                          </a:solidFill>
                        </a:rPr>
                        <a:t>Full control, audit and traceability</a:t>
                      </a:r>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r>
                        <a:rPr sz="900">
                          <a:latin typeface="Century Gothic"/>
                        </a:rPr>
                        <a:t/>
                      </a:r>
                    </a:p>
                    <a:p>
                      <a:r>
                        <a:rPr sz="900">
                          <a:latin typeface="Century Gothic"/>
                        </a:rPr>
                        <a:t>Consolidated SBP returns (solo + consolidated) within regulatory deadlines</a:t>
                      </a:r>
                    </a:p>
                    <a:p>
                      <a:r>
                        <a:rPr sz="900">
                          <a:latin typeface="Century Gothic"/>
                        </a:rPr>
                        <a:t>SECP-compliant consolidated IFRS statements for listed banking groups</a:t>
                      </a:r>
                    </a:p>
                    <a:p>
                      <a:r>
                        <a:rPr sz="900">
                          <a:latin typeface="Century Gothic"/>
                        </a:rPr>
                        <a:t>Automated IC elimination reducing manual consolidation effort by 60%</a:t>
                      </a:r>
                    </a:p>
                    <a:p>
                      <a:r>
                        <a:rPr sz="900">
                          <a:latin typeface="Century Gothic"/>
                        </a:rPr>
                        <a:t>Drill-through from consolidated view to any entity-level detail</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4611" name="Google Shape;4611;p250"/>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Financial Consolidation</a:t>
            </a:r>
            <a:endParaRPr sz="1600"/>
          </a:p>
        </p:txBody>
      </p:sp>
      <p:sp>
        <p:nvSpPr>
          <p:cNvPr id="4612" name="Google Shape;4612;p250">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Accounting Operations and Close</a:t>
            </a:r>
            <a:endParaRPr sz="750">
              <a:solidFill>
                <a:schemeClr val="lt1"/>
              </a:solidFill>
              <a:latin typeface="Century Gothic"/>
              <a:ea typeface="Century Gothic"/>
              <a:cs typeface="Century Gothic"/>
              <a:sym typeface="Century Gothic"/>
            </a:endParaRPr>
          </a:p>
        </p:txBody>
      </p:sp>
      <p:pic>
        <p:nvPicPr>
          <p:cNvPr id="4613" name="Google Shape;4613;p250"/>
          <p:cNvPicPr preferRelativeResize="0"/>
          <p:nvPr/>
        </p:nvPicPr>
        <p:blipFill rotWithShape="1">
          <a:blip r:embed="rId4">
            <a:alphaModFix/>
          </a:blip>
          <a:srcRect b="0" l="0" r="0" t="0"/>
          <a:stretch/>
        </p:blipFill>
        <p:spPr>
          <a:xfrm>
            <a:off x="5648154" y="279312"/>
            <a:ext cx="3316459" cy="2210972"/>
          </a:xfrm>
          <a:prstGeom prst="rect">
            <a:avLst/>
          </a:prstGeom>
          <a:noFill/>
          <a:ln>
            <a:noFill/>
          </a:ln>
        </p:spPr>
      </p:pic>
      <p:grpSp>
        <p:nvGrpSpPr>
          <p:cNvPr id="4614" name="Google Shape;4614;p250"/>
          <p:cNvGrpSpPr/>
          <p:nvPr/>
        </p:nvGrpSpPr>
        <p:grpSpPr>
          <a:xfrm>
            <a:off x="7717533" y="4360377"/>
            <a:ext cx="1058348" cy="347375"/>
            <a:chOff x="7651698" y="4287227"/>
            <a:chExt cx="1058348" cy="347375"/>
          </a:xfrm>
        </p:grpSpPr>
        <p:grpSp>
          <p:nvGrpSpPr>
            <p:cNvPr id="4615" name="Google Shape;4615;p250"/>
            <p:cNvGrpSpPr/>
            <p:nvPr/>
          </p:nvGrpSpPr>
          <p:grpSpPr>
            <a:xfrm>
              <a:off x="7714163" y="4337598"/>
              <a:ext cx="995883" cy="297004"/>
              <a:chOff x="7711013" y="3986494"/>
              <a:chExt cx="995883" cy="297004"/>
            </a:xfrm>
          </p:grpSpPr>
          <p:sp>
            <p:nvSpPr>
              <p:cNvPr id="4616" name="Google Shape;4616;p250"/>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4617" name="Google Shape;4617;p250"/>
              <p:cNvGrpSpPr/>
              <p:nvPr/>
            </p:nvGrpSpPr>
            <p:grpSpPr>
              <a:xfrm>
                <a:off x="7711013" y="4002615"/>
                <a:ext cx="281520" cy="241973"/>
                <a:chOff x="5652748" y="4066000"/>
                <a:chExt cx="906498" cy="747974"/>
              </a:xfrm>
            </p:grpSpPr>
            <p:sp>
              <p:nvSpPr>
                <p:cNvPr id="4618" name="Google Shape;4618;p250"/>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4619" name="Google Shape;4619;p250"/>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620" name="Google Shape;4620;p250"/>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4621" name="Google Shape;4621;p250">
              <a:hlinkClick action="ppaction://hlinksldjump" r:id="rId5"/>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6" name="Shape 4626"/>
        <p:cNvGrpSpPr/>
        <p:nvPr/>
      </p:nvGrpSpPr>
      <p:grpSpPr>
        <a:xfrm>
          <a:off x="0" y="0"/>
          <a:ext cx="0" cy="0"/>
          <a:chOff x="0" y="0"/>
          <a:chExt cx="0" cy="0"/>
        </a:xfrm>
      </p:grpSpPr>
      <p:graphicFrame>
        <p:nvGraphicFramePr>
          <p:cNvPr id="4627" name="Google Shape;4627;p251"/>
          <p:cNvGraphicFramePr/>
          <p:nvPr/>
        </p:nvGraphicFramePr>
        <p:xfrm>
          <a:off x="469899" y="789217"/>
          <a:ext cx="3000000" cy="3000000"/>
        </p:xfrm>
        <a:graphic>
          <a:graphicData uri="http://schemas.openxmlformats.org/drawingml/2006/table">
            <a:tbl>
              <a:tblPr bandRow="1" firstRow="1">
                <a:noFill/>
                <a:tableStyleId>{D098BFCB-6916-41F2-A2A5-0DF0D5139B6F}</a:tableStyleId>
              </a:tblPr>
              <a:tblGrid>
                <a:gridCol w="130325"/>
                <a:gridCol w="556275"/>
                <a:gridCol w="367500"/>
                <a:gridCol w="3170075"/>
                <a:gridCol w="3276050"/>
                <a:gridCol w="477150"/>
                <a:gridCol w="477150"/>
              </a:tblGrid>
              <a:tr h="180850">
                <a:tc gridSpan="3">
                  <a:txBody>
                    <a:bodyPr/>
                    <a:lstStyle/>
                    <a:p>
                      <a:pPr indent="0" lvl="0" marL="0" marR="0" rtl="0" algn="ctr">
                        <a:spcBef>
                          <a:spcPts val="0"/>
                        </a:spcBef>
                        <a:spcAft>
                          <a:spcPts val="0"/>
                        </a:spcAft>
                        <a:buNone/>
                      </a:pPr>
                      <a:r>
                        <a:rPr b="1" lang="en-GB" sz="1200">
                          <a:solidFill>
                            <a:schemeClr val="dk2"/>
                          </a:solidFill>
                        </a:rPr>
                        <a:t>Level</a:t>
                      </a:r>
                      <a:endParaRPr b="1" sz="12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hMerge="1">
                  <a:txBody>
                    <a:bodyPr/>
                    <a:p/>
                  </a:txBody>
                </a:tc>
                <a:tc gridSpan="2">
                  <a:txBody>
                    <a:bodyPr/>
                    <a:lstStyle/>
                    <a:p>
                      <a:pPr indent="0" lvl="0" marL="0" marR="0" rtl="0" algn="ctr">
                        <a:lnSpc>
                          <a:spcPct val="100000"/>
                        </a:lnSpc>
                        <a:spcBef>
                          <a:spcPts val="0"/>
                        </a:spcBef>
                        <a:spcAft>
                          <a:spcPts val="0"/>
                        </a:spcAft>
                        <a:buClr>
                          <a:schemeClr val="dk2"/>
                        </a:buClr>
                        <a:buSzPts val="1200"/>
                        <a:buFont typeface="Century Gothic"/>
                        <a:buNone/>
                      </a:pPr>
                      <a:r>
                        <a:rPr b="1" lang="en-GB" sz="1200">
                          <a:solidFill>
                            <a:schemeClr val="dk2"/>
                          </a:solidFill>
                        </a:rPr>
                        <a:t>Maturity Statement</a:t>
                      </a:r>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rPr b="1" lang="en-GB" sz="800">
                          <a:solidFill>
                            <a:schemeClr val="dk2"/>
                          </a:solidFill>
                        </a:rPr>
                        <a:t>Current</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rPr b="1" lang="en-GB" sz="800">
                          <a:solidFill>
                            <a:schemeClr val="dk2"/>
                          </a:solidFill>
                        </a:rPr>
                        <a:t>Desired</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06C1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Leading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A best of breed Financial Consolidation solution is used, delivering an extremely fast financial consolidation process. Rules and mappings are maintained by financial analysts, requiring minimal IT development and maintenance. Financial information is fully integrated, and drill-down is available from summary to detail.</a:t>
                      </a:r>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037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F7513"/>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Innovating</a:t>
                      </a:r>
                      <a:endParaRPr/>
                    </a:p>
                    <a:p>
                      <a:pPr indent="0" lvl="0" marL="0" marR="0" rtl="0" algn="ctr">
                        <a:spcBef>
                          <a:spcPts val="0"/>
                        </a:spcBef>
                        <a:spcAft>
                          <a:spcPts val="0"/>
                        </a:spcAft>
                        <a:buNone/>
                      </a:pPr>
                      <a:r>
                        <a:t/>
                      </a:r>
                      <a:endParaRPr b="1" sz="1000">
                        <a:solidFill>
                          <a:schemeClr val="dk2"/>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Financial Consolidation is delivered using a dedicated consolidation tool which sources the required GL / ERP data from an integrated data repository. The financial close process has been accelerated, however the ability to drill-down is limited to the summary-level legal entity financial data.</a:t>
                      </a:r>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C891C"/>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Practicing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Financial Consolidation is delivered using a dedicated consolidation tool, however data is still sourced from disparate GL / ERP systems. Some improvements have been made to the speed of financial close.</a:t>
                      </a:r>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lnSpc>
                          <a:spcPct val="100000"/>
                        </a:lnSpc>
                        <a:spcBef>
                          <a:spcPts val="0"/>
                        </a:spcBef>
                        <a:spcAft>
                          <a:spcPts val="0"/>
                        </a:spcAft>
                        <a:buClr>
                          <a:schemeClr val="dk1"/>
                        </a:buClr>
                        <a:buSzPts val="1400"/>
                        <a:buFont typeface="Century Gothic"/>
                        <a:buNone/>
                      </a:pPr>
                      <a:r>
                        <a:t/>
                      </a:r>
                      <a:endParaRPr sz="1400">
                        <a:solidFill>
                          <a:schemeClr val="dk1"/>
                        </a:solidFill>
                        <a:latin typeface="Noto Sans Symbols"/>
                        <a:ea typeface="Noto Sans Symbols"/>
                        <a:cs typeface="Noto Sans Symbols"/>
                        <a:sym typeface="Noto Sans Symbols"/>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E9B4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Developing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Financial Consolidation is still performed using desktop-based applications (e.g. Excel, Access) however some automation of data sourcing from disparate General Ledger / ERP and other operational systems has been introduced. The financial close process is still time-consuming.</a:t>
                      </a:r>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037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1AE65"/>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Emerging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Financial Consolidation is performed using desktop-based applications (e.g. Excel, Access), and relies on substantial manual effort to source, collate, map and integrate financial data. The financial close process is slow and top-line adjustments are only visible in the consolidated records.</a:t>
                      </a:r>
                      <a:endParaRPr b="0" sz="900">
                        <a:solidFill>
                          <a:schemeClr val="dk1"/>
                        </a:solidFill>
                        <a:latin typeface="Century Gothic"/>
                        <a:ea typeface="Century Gothic"/>
                        <a:cs typeface="Century Gothic"/>
                        <a:sym typeface="Century Gothic"/>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178750">
                <a:tc gridSpan="3">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Priority</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hMerge="1">
                  <a:txBody>
                    <a:bodyPr/>
                    <a:p/>
                  </a:txBody>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Key areas for improvement</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Benefits from uplift</a:t>
                      </a:r>
                      <a:endParaRPr b="1" sz="1000">
                        <a:solidFill>
                          <a:schemeClr val="dk2"/>
                        </a:solidFill>
                        <a:latin typeface="Century Gothic"/>
                        <a:ea typeface="Century Gothic"/>
                        <a:cs typeface="Century Gothic"/>
                        <a:sym typeface="Century Gothic"/>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a:txBody>
                    <a:bodyPr/>
                    <a:lstStyle/>
                    <a:p>
                      <a:pPr indent="0" lvl="0" marL="0" marR="0" rtl="0" algn="ctr">
                        <a:spcBef>
                          <a:spcPts val="0"/>
                        </a:spcBef>
                        <a:spcAft>
                          <a:spcPts val="0"/>
                        </a:spcAft>
                        <a:buNone/>
                      </a:pPr>
                      <a:r>
                        <a:rPr b="1" lang="en-GB" sz="1000">
                          <a:solidFill>
                            <a:schemeClr val="dk2"/>
                          </a:solidFill>
                        </a:rPr>
                        <a:t>Timeframe</a:t>
                      </a:r>
                      <a:endParaRPr b="1" sz="1000">
                        <a:solidFill>
                          <a:schemeClr val="dk2"/>
                        </a:solidFill>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High</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rPr lang="en-GB" sz="1000">
                          <a:solidFill>
                            <a:schemeClr val="dk1"/>
                          </a:solidFill>
                          <a:latin typeface="Noto Sans Symbols"/>
                          <a:ea typeface="Noto Sans Symbols"/>
                          <a:cs typeface="Noto Sans Symbols"/>
                          <a:sym typeface="Noto Sans Symbols"/>
                        </a:rPr>
                        <a:t>✔</a:t>
                      </a:r>
                      <a:endParaRPr b="1" sz="10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0" lvl="0" marL="0" marR="0" rtl="0" algn="l">
                        <a:lnSpc>
                          <a:spcPct val="100000"/>
                        </a:lnSpc>
                        <a:spcBef>
                          <a:spcPts val="0"/>
                        </a:spcBef>
                        <a:spcAft>
                          <a:spcPts val="0"/>
                        </a:spcAft>
                        <a:buClr>
                          <a:schemeClr val="dk1"/>
                        </a:buClr>
                        <a:buSzPts val="800"/>
                        <a:buFont typeface="Arial"/>
                        <a:buNone/>
                      </a:pPr>
                      <a:r>
                        <a:rPr sz="800" b="0">
                          <a:latin typeface="Century Gothic"/>
                        </a:rPr>
                        <a:t>Pakistan priority improvements:</a:t>
                      </a:r>
                      <a:endParaRPr/>
                    </a:p>
                    <a:p>
                      <a:r>
                        <a:rPr sz="800" b="0">
                          <a:latin typeface="Century Gothic"/>
                        </a:rPr>
                        <a:t>Consolidation across 6-8 group entities with different ERPs/core systems</a:t>
                      </a:r>
                    </a:p>
                    <a:p>
                      <a:r>
                        <a:rPr sz="800" b="0">
                          <a:latin typeface="Century Gothic"/>
                        </a:rPr>
                        <a:t>Islamic window/subsidiary dual IFRS + AAOIFI consolidation</a:t>
                      </a:r>
                    </a:p>
                    <a:p>
                      <a:r>
                        <a:rPr sz="800" b="0">
                          <a:latin typeface="Century Gothic"/>
                        </a:rPr>
                        <a:t>Automated inter-company elimination entries</a:t>
                      </a:r>
                    </a:p>
                    <a:p>
                      <a:r>
                        <a:rPr sz="800" b="0">
                          <a:latin typeface="Century Gothic"/>
                        </a:rPr>
                        <a:t>Solo + consolidated SBP regulatory returns</a:t>
                      </a:r>
                    </a:p>
                    <a:p>
                      <a:r>
                        <a:rPr sz="800" b="0">
                          <a:latin typeface="Century Gothic"/>
                        </a:rPr>
                        <a:t>SECP-compliant consolidated IFRS statements for listed groups</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285750" lvl="0" marL="285750" marR="0" rtl="0" algn="l">
                        <a:spcBef>
                          <a:spcPts val="0"/>
                        </a:spcBef>
                        <a:spcAft>
                          <a:spcPts val="0"/>
                        </a:spcAft>
                        <a:buClr>
                          <a:schemeClr val="dk1"/>
                        </a:buClr>
                        <a:buSzPts val="800"/>
                        <a:buFont typeface="Arial"/>
                        <a:buChar char="•"/>
                      </a:pPr>
                      <a:r>
                        <a:rPr sz="800">
                          <a:latin typeface="Century Gothic"/>
                        </a:rPr>
                        <a:t>Consolidated close within SBP and SECP regulatory deadlines</a:t>
                      </a:r>
                      <a:endParaRPr/>
                    </a:p>
                    <a:p>
                      <a:r>
                        <a:rPr sz="800">
                          <a:latin typeface="Century Gothic"/>
                        </a:rPr>
                        <a:t>60% reduction in manual consolidation effort</a:t>
                      </a:r>
                    </a:p>
                    <a:p>
                      <a:r>
                        <a:rPr sz="800">
                          <a:latin typeface="Century Gothic"/>
                        </a:rPr>
                        <a:t>Drill-through from consolidated to entity-level detail</a:t>
                      </a:r>
                    </a:p>
                    <a:p>
                      <a:r>
                        <a:rPr sz="800">
                          <a:latin typeface="Century Gothic"/>
                        </a:rPr>
                        <a:t>December 31 year-end consolidation compliance (SBP mandate)</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rowSpan="3">
                  <a:txBody>
                    <a:bodyPr/>
                    <a:lstStyle/>
                    <a:p>
                      <a:pPr indent="0" lvl="0" marL="0" marR="0" rtl="0" algn="ctr">
                        <a:lnSpc>
                          <a:spcPct val="100000"/>
                        </a:lnSpc>
                        <a:spcBef>
                          <a:spcPts val="0"/>
                        </a:spcBef>
                        <a:spcAft>
                          <a:spcPts val="0"/>
                        </a:spcAft>
                        <a:buClr>
                          <a:schemeClr val="dk1"/>
                        </a:buClr>
                        <a:buSzPts val="800"/>
                        <a:buFont typeface="Century Gothic"/>
                        <a:buNone/>
                      </a:pPr>
                      <a:r>
                        <a:rPr b="0" lang="en-GB" sz="800">
                          <a:solidFill>
                            <a:schemeClr val="dk1"/>
                          </a:solidFill>
                        </a:rPr>
                        <a:t>H1 2025 —
H2 2026</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h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Medium</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xBody>
                    <a:bodyPr/>
                    <a:p/>
                  </a:txBody>
                </a:tc>
                <a:tc vMerge="1">
                  <a:txBody>
                    <a:bodyPr/>
                    <a:p/>
                  </a:txBody>
                </a:tc>
                <a:tc gridSpan="2" vMerge="1">
                  <a:txBody>
                    <a:bodyPr/>
                    <a:p/>
                  </a:txBody>
                </a:tc>
                <a:tc hMerge="1" v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Low</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xBody>
                    <a:bodyPr/>
                    <a:p/>
                  </a:txBody>
                </a:tc>
                <a:tc vMerge="1">
                  <a:txBody>
                    <a:bodyPr/>
                    <a:p/>
                  </a:txBody>
                </a:tc>
                <a:tc gridSpan="2" vMerge="1">
                  <a:txBody>
                    <a:bodyPr/>
                    <a:p/>
                  </a:txBody>
                </a:tc>
                <a:tc hMerge="1" vMerge="1">
                  <a:txBody>
                    <a:bodyPr/>
                    <a:p/>
                  </a:txBody>
                </a:tc>
              </a:tr>
            </a:tbl>
          </a:graphicData>
        </a:graphic>
      </p:graphicFrame>
      <p:grpSp>
        <p:nvGrpSpPr>
          <p:cNvPr id="4628" name="Google Shape;4628;p251"/>
          <p:cNvGrpSpPr/>
          <p:nvPr/>
        </p:nvGrpSpPr>
        <p:grpSpPr>
          <a:xfrm>
            <a:off x="469900" y="3819680"/>
            <a:ext cx="8455025" cy="732866"/>
            <a:chOff x="211138" y="3972860"/>
            <a:chExt cx="8713787" cy="642437"/>
          </a:xfrm>
        </p:grpSpPr>
        <p:sp>
          <p:nvSpPr>
            <p:cNvPr id="4629" name="Google Shape;4629;p251"/>
            <p:cNvSpPr/>
            <p:nvPr/>
          </p:nvSpPr>
          <p:spPr>
            <a:xfrm>
              <a:off x="211138" y="3972860"/>
              <a:ext cx="8713787" cy="642437"/>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4630" name="Google Shape;4630;p251"/>
            <p:cNvSpPr/>
            <p:nvPr/>
          </p:nvSpPr>
          <p:spPr>
            <a:xfrm>
              <a:off x="3692726" y="3982349"/>
              <a:ext cx="1753883" cy="632948"/>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grpSp>
        <p:nvGrpSpPr>
          <p:cNvPr id="4631" name="Google Shape;4631;p251"/>
          <p:cNvGrpSpPr/>
          <p:nvPr/>
        </p:nvGrpSpPr>
        <p:grpSpPr>
          <a:xfrm>
            <a:off x="7971865" y="980278"/>
            <a:ext cx="949325" cy="2867825"/>
            <a:chOff x="7941888" y="1062037"/>
            <a:chExt cx="983037" cy="2695575"/>
          </a:xfrm>
        </p:grpSpPr>
        <p:sp>
          <p:nvSpPr>
            <p:cNvPr id="4632" name="Google Shape;4632;p251"/>
            <p:cNvSpPr/>
            <p:nvPr/>
          </p:nvSpPr>
          <p:spPr>
            <a:xfrm>
              <a:off x="7941889" y="1062037"/>
              <a:ext cx="983036" cy="2695575"/>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4633" name="Google Shape;4633;p251"/>
            <p:cNvSpPr/>
            <p:nvPr/>
          </p:nvSpPr>
          <p:spPr>
            <a:xfrm>
              <a:off x="7941888" y="2052586"/>
              <a:ext cx="983037" cy="714476"/>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sp>
        <p:nvSpPr>
          <p:cNvPr id="4634" name="Google Shape;4634;p251"/>
          <p:cNvSpPr txBox="1"/>
          <p:nvPr>
            <p:ph type="title"/>
          </p:nvPr>
        </p:nvSpPr>
        <p:spPr>
          <a:xfrm>
            <a:off x="381000" y="296096"/>
            <a:ext cx="8543925" cy="360308"/>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Financial Consolidation</a:t>
            </a:r>
            <a:endParaRPr>
              <a:solidFill>
                <a:schemeClr val="accent6"/>
              </a:solidFill>
            </a:endParaRPr>
          </a:p>
        </p:txBody>
      </p:sp>
      <p:sp>
        <p:nvSpPr>
          <p:cNvPr id="4635" name="Google Shape;4635;p251">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Accounting Operations and Close</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0" name="Shape 4640"/>
        <p:cNvGrpSpPr/>
        <p:nvPr/>
      </p:nvGrpSpPr>
      <p:grpSpPr>
        <a:xfrm>
          <a:off x="0" y="0"/>
          <a:ext cx="0" cy="0"/>
          <a:chOff x="0" y="0"/>
          <a:chExt cx="0" cy="0"/>
        </a:xfrm>
      </p:grpSpPr>
      <p:cxnSp>
        <p:nvCxnSpPr>
          <p:cNvPr id="4641" name="Google Shape;4641;p252"/>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graphicFrame>
        <p:nvGraphicFramePr>
          <p:cNvPr id="4642" name="Google Shape;4642;p252"/>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171450" lvl="0" marL="171450" marR="0" rtl="0" algn="l">
                        <a:lnSpc>
                          <a:spcPct val="100000"/>
                        </a:lnSpc>
                        <a:spcBef>
                          <a:spcPts val="0"/>
                        </a:spcBef>
                        <a:spcAft>
                          <a:spcPts val="0"/>
                        </a:spcAft>
                        <a:buClr>
                          <a:schemeClr val="dk1"/>
                        </a:buClr>
                        <a:buSzPts val="900"/>
                        <a:buFont typeface="Arial"/>
                        <a:buChar char="•"/>
                      </a:pPr>
                      <a:r>
                        <a:rPr b="1" lang="en-GB" sz="900">
                          <a:solidFill>
                            <a:schemeClr val="dk1"/>
                          </a:solidFill>
                          <a:latin typeface="Century Gothic"/>
                          <a:ea typeface="Century Gothic"/>
                          <a:cs typeface="Century Gothic"/>
                          <a:sym typeface="Century Gothic"/>
                        </a:rPr>
                        <a:t>The ability to deliver functional P&amp;L statements for profit centres and segments, including those not directly supported by the GL/ERP/Consolidation process.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Reflect all revenues and related expenses generated by the reporting entity over the reporting period.</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ability to monitor and analyse which entities are the most and least profitable within an organization.</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Minimise manual processes in the delivery of functional P&amp;Ls..</a:t>
                      </a:r>
                      <a:endParaRPr/>
                    </a:p>
                    <a:p>
                      <a:r>
                        <a:rPr sz="900">
                          <a:latin typeface="Century Gothic"/>
                        </a:rPr>
                        <a:t/>
                      </a:r>
                    </a:p>
                    <a:p>
                      <a:r>
                        <a:rPr sz="900">
                          <a:latin typeface="Century Gothic"/>
                        </a:rPr>
                        <a:t>Branch-level P&amp;L for all 16,000+ branches across Pakistan</a:t>
                      </a:r>
                    </a:p>
                    <a:p>
                      <a:r>
                        <a:rPr sz="900">
                          <a:latin typeface="Century Gothic"/>
                        </a:rPr>
                        <a:t>Customer-level profitability (building on UBL Customer Profitability Engine / FSDM)</a:t>
                      </a:r>
                    </a:p>
                    <a:p>
                      <a:r>
                        <a:rPr sz="900">
                          <a:latin typeface="Century Gothic"/>
                        </a:rPr>
                        <a:t>Product-level P&amp;L across conventional and Islamic product lines</a:t>
                      </a:r>
                    </a:p>
                    <a:p>
                      <a:r>
                        <a:rPr sz="900">
                          <a:latin typeface="Century Gothic"/>
                        </a:rPr>
                        <a:t>Business segment P&amp;L per SBP/IFRS 8: Corporate, Commercial, Retail, Treasury, Islamic, Digital</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xBody>
                    <a:bodyPr/>
                    <a:p/>
                  </a:txBody>
                </a:tc>
                <a:tc vMerge="1">
                  <a:txBody>
                    <a:bodyPr/>
                    <a:p/>
                  </a:txBody>
                </a:tc>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Detailed  accounting  data, interest accruals, fees, commissions, maturities, repricing and repayment schedule, counterparty 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F/X rates, internal deal or internal rates on transaction level,</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Accounting reference data.</a:t>
                      </a:r>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p>
                      <a:pPr indent="0" lvl="0" marL="0" marR="0" rtl="0" algn="l">
                        <a:spcBef>
                          <a:spcPts val="0"/>
                        </a:spcBef>
                        <a:spcAft>
                          <a:spcPts val="0"/>
                        </a:spcAft>
                        <a:buClr>
                          <a:schemeClr val="dk1"/>
                        </a:buClr>
                        <a:buSzPts val="900"/>
                        <a:buFont typeface="Arial"/>
                        <a:buNone/>
                      </a:pPr>
                      <a:r>
                        <a:rPr b="1" lang="en-GB" sz="900">
                          <a:solidFill>
                            <a:schemeClr val="dk1"/>
                          </a:solidFill>
                        </a:rPr>
                        <a:t>Solution / Analytics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Accounting Hub solution</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Allocation engine.</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Data Management solution to manage reference data and maintain hierarchies and mappings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Reporting / BI tool of choice</a:t>
                      </a:r>
                      <a:endParaRPr/>
                    </a:p>
                    <a:p>
                      <a:pPr indent="0" lvl="0" marL="0" marR="0" rtl="0" algn="l">
                        <a:spcBef>
                          <a:spcPts val="0"/>
                        </a:spcBef>
                        <a:spcAft>
                          <a:spcPts val="0"/>
                        </a:spcAft>
                        <a:buClr>
                          <a:schemeClr val="dk1"/>
                        </a:buClr>
                        <a:buSzPts val="900"/>
                        <a:buFont typeface="Arial"/>
                        <a:buNone/>
                      </a:pPr>
                      <a:r>
                        <a:t/>
                      </a:r>
                      <a:endParaRPr sz="900">
                        <a:solidFill>
                          <a:schemeClr val="dk1"/>
                        </a:solidFill>
                      </a:endParaRPr>
                    </a:p>
                    <a:p>
                      <a:r>
                        <a:rPr sz="900"/>
                        <a:t/>
                      </a:r>
                    </a:p>
                    <a:p>
                      <a:r>
                        <a:rPr sz="900"/>
                        <a:t>FSDM star schema: FACT_CUSTOMER_PROFITABILITY (35+ measures)</a:t>
                      </a:r>
                    </a:p>
                    <a:p>
                      <a:r>
                        <a:rPr sz="900"/>
                        <a:t>Activity-based costing allocations across branch, digital, ATM, agent channels</a:t>
                      </a:r>
                    </a:p>
                    <a:p>
                      <a:r>
                        <a:rPr sz="900"/>
                        <a:t>Funds Transfer Pricing (FTP) rates for NII allocation</a:t>
                      </a:r>
                    </a:p>
                    <a:p>
                      <a:r>
                        <a:rPr sz="900"/>
                        <a:t>Direct and allocated costs by cost center, branch, product, segment</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Ability to create Functional P&amp;L statements for any reporting entity from granular accounting detail</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End-to-end transparency and lineage for financial data.</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Seamless drill-down from summary level financial statements to transaction-level accounting and operational system detail.</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Faster delivery of internal financial reporting.</a:t>
                      </a:r>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r>
                        <a:rPr sz="900">
                          <a:latin typeface="Century Gothic"/>
                        </a:rPr>
                        <a:t/>
                      </a:r>
                    </a:p>
                    <a:p>
                      <a:r>
                        <a:rPr sz="900">
                          <a:latin typeface="Century Gothic"/>
                        </a:rPr>
                        <a:t>360-degree profitability: branch × customer × product × segment × channel × region</a:t>
                      </a:r>
                    </a:p>
                    <a:p>
                      <a:r>
                        <a:rPr sz="900">
                          <a:latin typeface="Century Gothic"/>
                        </a:rPr>
                        <a:t>FTP-adjusted Net Interest Income at individual customer level</a:t>
                      </a:r>
                    </a:p>
                    <a:p>
                      <a:r>
                        <a:rPr sz="900">
                          <a:latin typeface="Century Gothic"/>
                        </a:rPr>
                        <a:t>Islamic P&amp;L with correct line items (profit on financing, return on deposits)</a:t>
                      </a:r>
                    </a:p>
                    <a:p>
                      <a:r>
                        <a:rPr sz="900">
                          <a:latin typeface="Century Gothic"/>
                        </a:rPr>
                        <a:t>Data-driven decisions on branch viability, product pricing, customer retention</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4643" name="Google Shape;4643;p252"/>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Functional Profit &amp; Loss Statement</a:t>
            </a:r>
            <a:endParaRPr sz="1600"/>
          </a:p>
        </p:txBody>
      </p:sp>
      <p:sp>
        <p:nvSpPr>
          <p:cNvPr id="4644" name="Google Shape;4644;p252">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Accounting Operations and Close</a:t>
            </a:r>
            <a:endParaRPr sz="750">
              <a:solidFill>
                <a:schemeClr val="lt1"/>
              </a:solidFill>
              <a:latin typeface="Century Gothic"/>
              <a:ea typeface="Century Gothic"/>
              <a:cs typeface="Century Gothic"/>
              <a:sym typeface="Century Gothic"/>
            </a:endParaRPr>
          </a:p>
        </p:txBody>
      </p:sp>
      <p:pic>
        <p:nvPicPr>
          <p:cNvPr id="4645" name="Google Shape;4645;p252"/>
          <p:cNvPicPr preferRelativeResize="0"/>
          <p:nvPr/>
        </p:nvPicPr>
        <p:blipFill rotWithShape="1">
          <a:blip r:embed="rId4">
            <a:alphaModFix/>
          </a:blip>
          <a:srcRect b="0" l="0" r="0" t="0"/>
          <a:stretch/>
        </p:blipFill>
        <p:spPr>
          <a:xfrm>
            <a:off x="5648154" y="279312"/>
            <a:ext cx="3316459" cy="2210972"/>
          </a:xfrm>
          <a:prstGeom prst="rect">
            <a:avLst/>
          </a:prstGeom>
          <a:noFill/>
          <a:ln>
            <a:noFill/>
          </a:ln>
        </p:spPr>
      </p:pic>
      <p:grpSp>
        <p:nvGrpSpPr>
          <p:cNvPr id="4646" name="Google Shape;4646;p252"/>
          <p:cNvGrpSpPr/>
          <p:nvPr/>
        </p:nvGrpSpPr>
        <p:grpSpPr>
          <a:xfrm>
            <a:off x="7717533" y="4360377"/>
            <a:ext cx="1058348" cy="347375"/>
            <a:chOff x="7651698" y="4287227"/>
            <a:chExt cx="1058348" cy="347375"/>
          </a:xfrm>
        </p:grpSpPr>
        <p:grpSp>
          <p:nvGrpSpPr>
            <p:cNvPr id="4647" name="Google Shape;4647;p252"/>
            <p:cNvGrpSpPr/>
            <p:nvPr/>
          </p:nvGrpSpPr>
          <p:grpSpPr>
            <a:xfrm>
              <a:off x="7714163" y="4337598"/>
              <a:ext cx="995883" cy="297004"/>
              <a:chOff x="7711013" y="3986494"/>
              <a:chExt cx="995883" cy="297004"/>
            </a:xfrm>
          </p:grpSpPr>
          <p:sp>
            <p:nvSpPr>
              <p:cNvPr id="4648" name="Google Shape;4648;p252"/>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4649" name="Google Shape;4649;p252"/>
              <p:cNvGrpSpPr/>
              <p:nvPr/>
            </p:nvGrpSpPr>
            <p:grpSpPr>
              <a:xfrm>
                <a:off x="7711013" y="4002615"/>
                <a:ext cx="281520" cy="241973"/>
                <a:chOff x="5652748" y="4066000"/>
                <a:chExt cx="906498" cy="747974"/>
              </a:xfrm>
            </p:grpSpPr>
            <p:sp>
              <p:nvSpPr>
                <p:cNvPr id="4650" name="Google Shape;4650;p252"/>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4651" name="Google Shape;4651;p252"/>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4652" name="Google Shape;4652;p252"/>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4653" name="Google Shape;4653;p252">
              <a:hlinkClick action="ppaction://hlinksldjump" r:id="rId5"/>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8" name="Shape 4658"/>
        <p:cNvGrpSpPr/>
        <p:nvPr/>
      </p:nvGrpSpPr>
      <p:grpSpPr>
        <a:xfrm>
          <a:off x="0" y="0"/>
          <a:ext cx="0" cy="0"/>
          <a:chOff x="0" y="0"/>
          <a:chExt cx="0" cy="0"/>
        </a:xfrm>
      </p:grpSpPr>
      <p:graphicFrame>
        <p:nvGraphicFramePr>
          <p:cNvPr id="4659" name="Google Shape;4659;p253"/>
          <p:cNvGraphicFramePr/>
          <p:nvPr/>
        </p:nvGraphicFramePr>
        <p:xfrm>
          <a:off x="469899" y="789217"/>
          <a:ext cx="3000000" cy="3000000"/>
        </p:xfrm>
        <a:graphic>
          <a:graphicData uri="http://schemas.openxmlformats.org/drawingml/2006/table">
            <a:tbl>
              <a:tblPr bandRow="1" firstRow="1">
                <a:noFill/>
                <a:tableStyleId>{D098BFCB-6916-41F2-A2A5-0DF0D5139B6F}</a:tableStyleId>
              </a:tblPr>
              <a:tblGrid>
                <a:gridCol w="130325"/>
                <a:gridCol w="556275"/>
                <a:gridCol w="367500"/>
                <a:gridCol w="3170075"/>
                <a:gridCol w="3276050"/>
                <a:gridCol w="477150"/>
                <a:gridCol w="477150"/>
              </a:tblGrid>
              <a:tr h="180850">
                <a:tc gridSpan="3">
                  <a:txBody>
                    <a:bodyPr/>
                    <a:lstStyle/>
                    <a:p>
                      <a:pPr indent="0" lvl="0" marL="0" marR="0" rtl="0" algn="ctr">
                        <a:spcBef>
                          <a:spcPts val="0"/>
                        </a:spcBef>
                        <a:spcAft>
                          <a:spcPts val="0"/>
                        </a:spcAft>
                        <a:buNone/>
                      </a:pPr>
                      <a:r>
                        <a:rPr b="1" lang="en-GB" sz="1200">
                          <a:solidFill>
                            <a:schemeClr val="dk2"/>
                          </a:solidFill>
                        </a:rPr>
                        <a:t>Level</a:t>
                      </a:r>
                      <a:endParaRPr b="1" sz="12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hMerge="1">
                  <a:txBody>
                    <a:bodyPr/>
                    <a:p/>
                  </a:txBody>
                </a:tc>
                <a:tc gridSpan="2">
                  <a:txBody>
                    <a:bodyPr/>
                    <a:lstStyle/>
                    <a:p>
                      <a:pPr indent="0" lvl="0" marL="0" marR="0" rtl="0" algn="ctr">
                        <a:lnSpc>
                          <a:spcPct val="100000"/>
                        </a:lnSpc>
                        <a:spcBef>
                          <a:spcPts val="0"/>
                        </a:spcBef>
                        <a:spcAft>
                          <a:spcPts val="0"/>
                        </a:spcAft>
                        <a:buClr>
                          <a:schemeClr val="dk2"/>
                        </a:buClr>
                        <a:buSzPts val="1200"/>
                        <a:buFont typeface="Century Gothic"/>
                        <a:buNone/>
                      </a:pPr>
                      <a:r>
                        <a:rPr b="1" lang="en-GB" sz="1200">
                          <a:solidFill>
                            <a:schemeClr val="dk2"/>
                          </a:solidFill>
                        </a:rPr>
                        <a:t>Maturity Statement</a:t>
                      </a:r>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rPr b="1" lang="en-GB" sz="800">
                          <a:solidFill>
                            <a:schemeClr val="dk2"/>
                          </a:solidFill>
                        </a:rPr>
                        <a:t>Current</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rPr b="1" lang="en-GB" sz="800">
                          <a:solidFill>
                            <a:schemeClr val="dk2"/>
                          </a:solidFill>
                        </a:rPr>
                        <a:t>Desired</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06C1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Leading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An Accounting Hub is  used to deliver the granular financial reporting capability. Functional and segment-level P&amp;Ls are delivered easily by the use of segments which are resident in the sub ledgers. The reporting segments are now maintained in the sub-ledgers with the appropriate drill-down capabilities.</a:t>
                      </a:r>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037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F7513"/>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Innovating</a:t>
                      </a:r>
                      <a:endParaRPr/>
                    </a:p>
                    <a:p>
                      <a:pPr indent="0" lvl="0" marL="0" marR="0" rtl="0" algn="ctr">
                        <a:spcBef>
                          <a:spcPts val="0"/>
                        </a:spcBef>
                        <a:spcAft>
                          <a:spcPts val="0"/>
                        </a:spcAft>
                        <a:buNone/>
                      </a:pPr>
                      <a:r>
                        <a:t/>
                      </a:r>
                      <a:endParaRPr b="1" sz="1000">
                        <a:solidFill>
                          <a:schemeClr val="dk2"/>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Both the ERP / GL, sub-ledgers and operational systems are fed into an integrated warehouse with the links between the GL and Sub GL and other Operating Systems established. These transactions are reported out of the warehouse using a BI tool.</a:t>
                      </a:r>
                      <a:endParaRPr b="0" sz="900" u="sng">
                        <a:solidFill>
                          <a:srgbClr val="FF0000"/>
                        </a:solidFill>
                        <a:latin typeface="Century Gothic"/>
                        <a:ea typeface="Century Gothic"/>
                        <a:cs typeface="Century Gothic"/>
                        <a:sym typeface="Century Gothic"/>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C891C"/>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Practicing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Functional P&amp;Ls are automated and produced  using a BI tool which sources data directly from disparate General Ledger / ERP and other operational systems. Manual processes have been substantially reduced. Ability to drill from summary-level P&amp;L to detail is limited by granularity of data sourcing.</a:t>
                      </a:r>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lnSpc>
                          <a:spcPct val="100000"/>
                        </a:lnSpc>
                        <a:spcBef>
                          <a:spcPts val="0"/>
                        </a:spcBef>
                        <a:spcAft>
                          <a:spcPts val="0"/>
                        </a:spcAft>
                        <a:buClr>
                          <a:schemeClr val="dk1"/>
                        </a:buClr>
                        <a:buSzPts val="1400"/>
                        <a:buFont typeface="Century Gothic"/>
                        <a:buNone/>
                      </a:pPr>
                      <a:r>
                        <a:t/>
                      </a:r>
                      <a:endParaRPr sz="1400">
                        <a:solidFill>
                          <a:schemeClr val="dk1"/>
                        </a:solidFill>
                        <a:latin typeface="Noto Sans Symbols"/>
                        <a:ea typeface="Noto Sans Symbols"/>
                        <a:cs typeface="Noto Sans Symbols"/>
                        <a:sym typeface="Noto Sans Symbols"/>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E9B4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Developing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Functional P&amp;Ls are manually produced using feeds from disparate General Ledger / ERP. Substantial manual effort is required. BI tools are deployed but with limited capability to provide drill downs from summary-level P&amp;L to detailed data.</a:t>
                      </a:r>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037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1AE65"/>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Emerging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lang="en-GB" sz="900"/>
                        <a:t>Functional P&amp;L  production</a:t>
                      </a:r>
                      <a:r>
                        <a:rPr lang="en-GB" sz="900"/>
                        <a:t> is laborious and difficult. Reporting is almost exclusively done through Excel. Design and customisation of GL / ERP systems requires use of multiple segments resulting in a ‘thick’ GL, with high maintenance costs and poor performance.</a:t>
                      </a:r>
                      <a:r>
                        <a:rPr b="0" lang="en-GB" sz="900">
                          <a:solidFill>
                            <a:schemeClr val="dk1"/>
                          </a:solidFill>
                          <a:latin typeface="Century Gothic"/>
                          <a:ea typeface="Century Gothic"/>
                          <a:cs typeface="Century Gothic"/>
                          <a:sym typeface="Century Gothic"/>
                        </a:rPr>
                        <a:t> Minimal ability to drill from summary-level P&amp;L to detailed data.</a:t>
                      </a:r>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178750">
                <a:tc gridSpan="3">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Priority</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hMerge="1">
                  <a:txBody>
                    <a:bodyPr/>
                    <a:p/>
                  </a:txBody>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Key areas for improvement</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Benefits from uplift</a:t>
                      </a:r>
                      <a:endParaRPr b="1" sz="1000">
                        <a:solidFill>
                          <a:schemeClr val="dk2"/>
                        </a:solidFill>
                        <a:latin typeface="Century Gothic"/>
                        <a:ea typeface="Century Gothic"/>
                        <a:cs typeface="Century Gothic"/>
                        <a:sym typeface="Century Gothic"/>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a:txBody>
                    <a:bodyPr/>
                    <a:lstStyle/>
                    <a:p>
                      <a:pPr indent="0" lvl="0" marL="0" marR="0" rtl="0" algn="ctr">
                        <a:spcBef>
                          <a:spcPts val="0"/>
                        </a:spcBef>
                        <a:spcAft>
                          <a:spcPts val="0"/>
                        </a:spcAft>
                        <a:buNone/>
                      </a:pPr>
                      <a:r>
                        <a:rPr b="1" lang="en-GB" sz="1000">
                          <a:solidFill>
                            <a:schemeClr val="dk2"/>
                          </a:solidFill>
                        </a:rPr>
                        <a:t>Timeframe</a:t>
                      </a:r>
                      <a:endParaRPr b="1" sz="1000">
                        <a:solidFill>
                          <a:schemeClr val="dk2"/>
                        </a:solidFill>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High</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rPr lang="en-GB" sz="1000">
                          <a:solidFill>
                            <a:schemeClr val="dk1"/>
                          </a:solidFill>
                          <a:latin typeface="Noto Sans Symbols"/>
                          <a:ea typeface="Noto Sans Symbols"/>
                          <a:cs typeface="Noto Sans Symbols"/>
                          <a:sym typeface="Noto Sans Symbols"/>
                        </a:rPr>
                        <a:t>✔</a:t>
                      </a:r>
                      <a:endParaRPr b="1" sz="10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0" lvl="0" marL="0" marR="0" rtl="0" algn="l">
                        <a:lnSpc>
                          <a:spcPct val="100000"/>
                        </a:lnSpc>
                        <a:spcBef>
                          <a:spcPts val="0"/>
                        </a:spcBef>
                        <a:spcAft>
                          <a:spcPts val="0"/>
                        </a:spcAft>
                        <a:buClr>
                          <a:schemeClr val="dk1"/>
                        </a:buClr>
                        <a:buSzPts val="800"/>
                        <a:buFont typeface="Arial"/>
                        <a:buNone/>
                      </a:pPr>
                      <a:r>
                        <a:rPr sz="800" b="0">
                          <a:latin typeface="Century Gothic"/>
                        </a:rPr>
                        <a:t>Pakistan priority improvements:</a:t>
                      </a:r>
                      <a:endParaRPr/>
                    </a:p>
                    <a:p>
                      <a:r>
                        <a:rPr sz="800" b="0">
                          <a:latin typeface="Century Gothic"/>
                        </a:rPr>
                        <a:t>Branch-level P&amp;L for all 16,000+ branches (currently available at &lt;15% of banks)</a:t>
                      </a:r>
                    </a:p>
                    <a:p>
                      <a:r>
                        <a:rPr sz="800" b="0">
                          <a:latin typeface="Century Gothic"/>
                        </a:rPr>
                        <a:t>Customer profitability using FSDM FACT_CUSTOMER_PROFITABILITY (35+ measures)</a:t>
                      </a:r>
                    </a:p>
                    <a:p>
                      <a:r>
                        <a:rPr sz="800" b="0">
                          <a:latin typeface="Century Gothic"/>
                        </a:rPr>
                        <a:t>FTP engine using KIBOR yield curve (not simplified flat spreads)</a:t>
                      </a:r>
                    </a:p>
                    <a:p>
                      <a:r>
                        <a:rPr sz="800" b="0">
                          <a:latin typeface="Century Gothic"/>
                        </a:rPr>
                        <a:t>Activity-based costing for branch, digital, ATM, agent channels</a:t>
                      </a:r>
                    </a:p>
                    <a:p>
                      <a:r>
                        <a:rPr sz="800" b="0">
                          <a:latin typeface="Century Gothic"/>
                        </a:rPr>
                        <a:t>Islamic P&amp;L with correct line items (profit on financing, not interest income)</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285750" lvl="0" marL="285750" marR="0" rtl="0" algn="l">
                        <a:spcBef>
                          <a:spcPts val="0"/>
                        </a:spcBef>
                        <a:spcAft>
                          <a:spcPts val="0"/>
                        </a:spcAft>
                        <a:buClr>
                          <a:schemeClr val="dk1"/>
                        </a:buClr>
                        <a:buSzPts val="800"/>
                        <a:buFont typeface="Arial"/>
                        <a:buChar char="•"/>
                      </a:pPr>
                      <a:r>
                        <a:rPr sz="800">
                          <a:latin typeface="Century Gothic"/>
                        </a:rPr>
                        <a:t>Data-driven branch viability decisions (open/close/resize)</a:t>
                      </a:r>
                      <a:endParaRPr/>
                    </a:p>
                    <a:p>
                      <a:r>
                        <a:rPr sz="800">
                          <a:latin typeface="Century Gothic"/>
                        </a:rPr>
                        <a:t>Customer-level profitability driving retention and cross-sell</a:t>
                      </a:r>
                    </a:p>
                    <a:p>
                      <a:r>
                        <a:rPr sz="800">
                          <a:latin typeface="Century Gothic"/>
                        </a:rPr>
                        <a:t>Product pricing optimization based on true cost allocation</a:t>
                      </a:r>
                    </a:p>
                    <a:p>
                      <a:r>
                        <a:rPr sz="800">
                          <a:latin typeface="Century Gothic"/>
                        </a:rPr>
                        <a:t>SBP/IFRS 8 segment reporting from integrated profitability data</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rowSpan="3">
                  <a:txBody>
                    <a:bodyPr/>
                    <a:lstStyle/>
                    <a:p>
                      <a:pPr indent="0" lvl="0" marL="0" marR="0" rtl="0" algn="ctr">
                        <a:lnSpc>
                          <a:spcPct val="100000"/>
                        </a:lnSpc>
                        <a:spcBef>
                          <a:spcPts val="0"/>
                        </a:spcBef>
                        <a:spcAft>
                          <a:spcPts val="0"/>
                        </a:spcAft>
                        <a:buClr>
                          <a:schemeClr val="dk1"/>
                        </a:buClr>
                        <a:buSzPts val="800"/>
                        <a:buFont typeface="Century Gothic"/>
                        <a:buNone/>
                      </a:pPr>
                      <a:r>
                        <a:rPr b="0" lang="en-GB" sz="800">
                          <a:solidFill>
                            <a:schemeClr val="dk1"/>
                          </a:solidFill>
                        </a:rPr>
                        <a:t>H1 2025 —
H2 2026</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h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Medium</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xBody>
                    <a:bodyPr/>
                    <a:p/>
                  </a:txBody>
                </a:tc>
                <a:tc vMerge="1">
                  <a:txBody>
                    <a:bodyPr/>
                    <a:p/>
                  </a:txBody>
                </a:tc>
                <a:tc gridSpan="2" vMerge="1">
                  <a:txBody>
                    <a:bodyPr/>
                    <a:p/>
                  </a:txBody>
                </a:tc>
                <a:tc hMerge="1" v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Low</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xBody>
                    <a:bodyPr/>
                    <a:p/>
                  </a:txBody>
                </a:tc>
                <a:tc vMerge="1">
                  <a:txBody>
                    <a:bodyPr/>
                    <a:p/>
                  </a:txBody>
                </a:tc>
                <a:tc gridSpan="2" vMerge="1">
                  <a:txBody>
                    <a:bodyPr/>
                    <a:p/>
                  </a:txBody>
                </a:tc>
                <a:tc hMerge="1" vMerge="1">
                  <a:txBody>
                    <a:bodyPr/>
                    <a:p/>
                  </a:txBody>
                </a:tc>
              </a:tr>
            </a:tbl>
          </a:graphicData>
        </a:graphic>
      </p:graphicFrame>
      <p:grpSp>
        <p:nvGrpSpPr>
          <p:cNvPr id="4660" name="Google Shape;4660;p253"/>
          <p:cNvGrpSpPr/>
          <p:nvPr/>
        </p:nvGrpSpPr>
        <p:grpSpPr>
          <a:xfrm>
            <a:off x="469900" y="3819680"/>
            <a:ext cx="8455025" cy="732866"/>
            <a:chOff x="211138" y="3972860"/>
            <a:chExt cx="8713787" cy="642437"/>
          </a:xfrm>
        </p:grpSpPr>
        <p:sp>
          <p:nvSpPr>
            <p:cNvPr id="4661" name="Google Shape;4661;p253"/>
            <p:cNvSpPr/>
            <p:nvPr/>
          </p:nvSpPr>
          <p:spPr>
            <a:xfrm>
              <a:off x="211138" y="3972860"/>
              <a:ext cx="8713787" cy="642437"/>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4662" name="Google Shape;4662;p253"/>
            <p:cNvSpPr/>
            <p:nvPr/>
          </p:nvSpPr>
          <p:spPr>
            <a:xfrm>
              <a:off x="3692726" y="3982349"/>
              <a:ext cx="1753883" cy="632948"/>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grpSp>
        <p:nvGrpSpPr>
          <p:cNvPr id="4663" name="Google Shape;4663;p253"/>
          <p:cNvGrpSpPr/>
          <p:nvPr/>
        </p:nvGrpSpPr>
        <p:grpSpPr>
          <a:xfrm>
            <a:off x="7971865" y="980278"/>
            <a:ext cx="949325" cy="2867825"/>
            <a:chOff x="7941888" y="1062037"/>
            <a:chExt cx="983037" cy="2695575"/>
          </a:xfrm>
        </p:grpSpPr>
        <p:sp>
          <p:nvSpPr>
            <p:cNvPr id="4664" name="Google Shape;4664;p253"/>
            <p:cNvSpPr/>
            <p:nvPr/>
          </p:nvSpPr>
          <p:spPr>
            <a:xfrm>
              <a:off x="7941889" y="1062037"/>
              <a:ext cx="983036" cy="2695575"/>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4665" name="Google Shape;4665;p253"/>
            <p:cNvSpPr/>
            <p:nvPr/>
          </p:nvSpPr>
          <p:spPr>
            <a:xfrm>
              <a:off x="7941888" y="2052586"/>
              <a:ext cx="983037" cy="714476"/>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sp>
        <p:nvSpPr>
          <p:cNvPr id="4666" name="Google Shape;4666;p253"/>
          <p:cNvSpPr txBox="1"/>
          <p:nvPr>
            <p:ph type="title"/>
          </p:nvPr>
        </p:nvSpPr>
        <p:spPr>
          <a:xfrm>
            <a:off x="381000" y="296096"/>
            <a:ext cx="8543925" cy="360308"/>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Functional Profit &amp; Loss Statement</a:t>
            </a:r>
            <a:endParaRPr>
              <a:solidFill>
                <a:schemeClr val="accent6"/>
              </a:solidFill>
            </a:endParaRPr>
          </a:p>
        </p:txBody>
      </p:sp>
      <p:sp>
        <p:nvSpPr>
          <p:cNvPr id="4667" name="Google Shape;4667;p253">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Accounting Operations and Close</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1" name="Shape 4671"/>
        <p:cNvGrpSpPr/>
        <p:nvPr/>
      </p:nvGrpSpPr>
      <p:grpSpPr>
        <a:xfrm>
          <a:off x="0" y="0"/>
          <a:ext cx="0" cy="0"/>
          <a:chOff x="0" y="0"/>
          <a:chExt cx="0" cy="0"/>
        </a:xfrm>
      </p:grpSpPr>
      <p:pic>
        <p:nvPicPr>
          <p:cNvPr id="4672" name="Google Shape;4672;p254"/>
          <p:cNvPicPr preferRelativeResize="0"/>
          <p:nvPr/>
        </p:nvPicPr>
        <p:blipFill rotWithShape="1">
          <a:blip r:embed="rId3">
            <a:alphaModFix/>
          </a:blip>
          <a:srcRect b="0" l="0" r="12622" t="0"/>
          <a:stretch/>
        </p:blipFill>
        <p:spPr>
          <a:xfrm>
            <a:off x="5561013" y="0"/>
            <a:ext cx="3582987" cy="5143500"/>
          </a:xfrm>
          <a:prstGeom prst="rect">
            <a:avLst/>
          </a:prstGeom>
          <a:noFill/>
          <a:ln>
            <a:noFill/>
          </a:ln>
        </p:spPr>
      </p:pic>
      <p:sp>
        <p:nvSpPr>
          <p:cNvPr id="4673" name="Google Shape;4673;p254"/>
          <p:cNvSpPr txBox="1"/>
          <p:nvPr>
            <p:ph idx="1" type="body"/>
          </p:nvPr>
        </p:nvSpPr>
        <p:spPr>
          <a:xfrm>
            <a:off x="455485" y="2431144"/>
            <a:ext cx="4662784" cy="2296732"/>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0079DB"/>
              </a:buClr>
              <a:buSzPts val="1800"/>
              <a:buNone/>
            </a:pPr>
            <a:r>
              <a:rPr lang="en-GB">
                <a:solidFill>
                  <a:srgbClr val="0079DB"/>
                </a:solidFill>
              </a:rPr>
              <a:t>Why is it important</a:t>
            </a:r>
            <a:endParaRPr b="1">
              <a:solidFill>
                <a:schemeClr val="accent1"/>
              </a:solidFill>
            </a:endParaRPr>
          </a:p>
          <a:p>
            <a:pPr indent="0" lvl="0" marL="0" rtl="0" algn="l">
              <a:lnSpc>
                <a:spcPct val="95000"/>
              </a:lnSpc>
              <a:spcBef>
                <a:spcPts val="200"/>
              </a:spcBef>
              <a:spcAft>
                <a:spcPts val="0"/>
              </a:spcAft>
              <a:buClr>
                <a:schemeClr val="dk1"/>
              </a:buClr>
              <a:buSzPts val="1200"/>
              <a:buNone/>
            </a:pPr>
            <a:r>
              <a:rPr lang="en-GB" sz="1200"/>
              <a:t>Enterprise Performance Management covers two main areas:</a:t>
            </a:r>
            <a:endParaRPr sz="1200"/>
          </a:p>
          <a:p>
            <a:pPr indent="-169863" lvl="0" marL="169863" rtl="0" algn="l">
              <a:lnSpc>
                <a:spcPct val="95000"/>
              </a:lnSpc>
              <a:spcBef>
                <a:spcPts val="600"/>
              </a:spcBef>
              <a:spcAft>
                <a:spcPts val="0"/>
              </a:spcAft>
              <a:buClr>
                <a:schemeClr val="dk1"/>
              </a:buClr>
              <a:buSzPts val="1200"/>
              <a:buChar char="•"/>
            </a:pPr>
            <a:r>
              <a:rPr lang="en-GB" sz="1200"/>
              <a:t>Driving more efficient financial processes, enable greater control and transparency, and promote regulatory compliance (e.g. minimizing reputational risk because of incorrect financial statements.)</a:t>
            </a:r>
            <a:endParaRPr sz="1200"/>
          </a:p>
          <a:p>
            <a:pPr indent="-169863" lvl="0" marL="169863" rtl="0" algn="l">
              <a:lnSpc>
                <a:spcPct val="95000"/>
              </a:lnSpc>
              <a:spcBef>
                <a:spcPts val="600"/>
              </a:spcBef>
              <a:spcAft>
                <a:spcPts val="0"/>
              </a:spcAft>
              <a:buClr>
                <a:schemeClr val="dk1"/>
              </a:buClr>
              <a:buSzPts val="1200"/>
              <a:buChar char="•"/>
            </a:pPr>
            <a:r>
              <a:rPr lang="en-GB" sz="1200"/>
              <a:t>Measuring, monitoring and improving performance across the organisation through better profitability analytics, internal management reporting, budget, planning and forecasting etc.</a:t>
            </a:r>
            <a:endParaRPr sz="1200"/>
          </a:p>
        </p:txBody>
      </p:sp>
      <p:sp>
        <p:nvSpPr>
          <p:cNvPr id="4674" name="Google Shape;4674;p254"/>
          <p:cNvSpPr txBox="1"/>
          <p:nvPr>
            <p:ph type="title"/>
          </p:nvPr>
        </p:nvSpPr>
        <p:spPr>
          <a:xfrm>
            <a:off x="433348" y="174273"/>
            <a:ext cx="5435240" cy="704088"/>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Enterprise Performance </a:t>
            </a:r>
            <a:br>
              <a:rPr lang="en-GB"/>
            </a:br>
            <a:r>
              <a:rPr lang="en-GB"/>
              <a:t>Management</a:t>
            </a:r>
            <a:endParaRPr/>
          </a:p>
        </p:txBody>
      </p:sp>
      <p:sp>
        <p:nvSpPr>
          <p:cNvPr id="4675" name="Google Shape;4675;p254"/>
          <p:cNvSpPr/>
          <p:nvPr/>
        </p:nvSpPr>
        <p:spPr>
          <a:xfrm>
            <a:off x="-5255" y="1013819"/>
            <a:ext cx="7205662" cy="1281867"/>
          </a:xfrm>
          <a:prstGeom prst="rect">
            <a:avLst/>
          </a:prstGeom>
          <a:solidFill>
            <a:srgbClr val="005AA4"/>
          </a:solidFill>
          <a:ln>
            <a:noFill/>
          </a:ln>
          <a:effectLst>
            <a:outerShdw blurRad="50800" rotWithShape="0" algn="tl" dir="2700000" dist="38100">
              <a:srgbClr val="000000">
                <a:alpha val="40000"/>
              </a:srgbClr>
            </a:outerShdw>
          </a:effectLst>
        </p:spPr>
        <p:txBody>
          <a:bodyPr anchorCtr="0" anchor="ctr" bIns="91425" lIns="91425" spcFirstLastPara="1" rIns="91425" wrap="square" tIns="91425">
            <a:noAutofit/>
          </a:bodyPr>
          <a:lstStyle/>
          <a:p>
            <a:pPr indent="0" lvl="1" marL="90488" marR="0" rtl="0" algn="l">
              <a:spcBef>
                <a:spcPts val="0"/>
              </a:spcBef>
              <a:spcAft>
                <a:spcPts val="0"/>
              </a:spcAft>
              <a:buNone/>
            </a:pPr>
            <a:r>
              <a:rPr b="0" i="1" lang="en-GB" sz="1400" u="none" cap="none" strike="noStrike">
                <a:solidFill>
                  <a:schemeClr val="lt1"/>
                </a:solidFill>
                <a:latin typeface="Century Gothic"/>
                <a:ea typeface="Century Gothic"/>
                <a:cs typeface="Century Gothic"/>
                <a:sym typeface="Century Gothic"/>
              </a:rPr>
              <a:t>Enterprise Performance Management is a critical responsibility of the CFO department, focused on topics such as budget/planning, profitability analytics and calculation of KPIs and performance metrics. The objective is to deliver value-adding information to external and internal stakeholders in a fast and efficient manner.</a:t>
            </a:r>
            <a:endParaRPr/>
          </a:p>
        </p:txBody>
      </p:sp>
      <p:sp>
        <p:nvSpPr>
          <p:cNvPr id="4676" name="Google Shape;4676;p254">
            <a:hlinkClick action="ppaction://hlinksldjump" r:id="rId4"/>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Enterprise Performance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1" name="Shape 4681"/>
        <p:cNvGrpSpPr/>
        <p:nvPr/>
      </p:nvGrpSpPr>
      <p:grpSpPr>
        <a:xfrm>
          <a:off x="0" y="0"/>
          <a:ext cx="0" cy="0"/>
          <a:chOff x="0" y="0"/>
          <a:chExt cx="0" cy="0"/>
        </a:xfrm>
      </p:grpSpPr>
      <p:pic>
        <p:nvPicPr>
          <p:cNvPr id="4682" name="Google Shape;4682;p255"/>
          <p:cNvPicPr preferRelativeResize="0"/>
          <p:nvPr/>
        </p:nvPicPr>
        <p:blipFill rotWithShape="1">
          <a:blip r:embed="rId3">
            <a:alphaModFix/>
          </a:blip>
          <a:srcRect b="0" l="0" r="12622" t="0"/>
          <a:stretch/>
        </p:blipFill>
        <p:spPr>
          <a:xfrm>
            <a:off x="5561013" y="0"/>
            <a:ext cx="3582987" cy="5143500"/>
          </a:xfrm>
          <a:prstGeom prst="rect">
            <a:avLst/>
          </a:prstGeom>
          <a:noFill/>
          <a:ln>
            <a:noFill/>
          </a:ln>
        </p:spPr>
      </p:pic>
      <p:sp>
        <p:nvSpPr>
          <p:cNvPr id="4683" name="Google Shape;4683;p255"/>
          <p:cNvSpPr txBox="1"/>
          <p:nvPr>
            <p:ph type="title"/>
          </p:nvPr>
        </p:nvSpPr>
        <p:spPr>
          <a:xfrm>
            <a:off x="477880" y="248617"/>
            <a:ext cx="8401960" cy="630857"/>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Enterprise Performance </a:t>
            </a:r>
            <a:br>
              <a:rPr lang="en-GB"/>
            </a:br>
            <a:r>
              <a:rPr lang="en-GB"/>
              <a:t>Management - Challenges</a:t>
            </a:r>
            <a:endParaRPr/>
          </a:p>
        </p:txBody>
      </p:sp>
      <p:sp>
        <p:nvSpPr>
          <p:cNvPr id="4684" name="Google Shape;4684;p255">
            <a:hlinkClick action="ppaction://hlinksldjump" r:id="rId4"/>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Enterprise Performance Management</a:t>
            </a:r>
            <a:endParaRPr sz="750">
              <a:solidFill>
                <a:schemeClr val="lt1"/>
              </a:solidFill>
              <a:latin typeface="Century Gothic"/>
              <a:ea typeface="Century Gothic"/>
              <a:cs typeface="Century Gothic"/>
              <a:sym typeface="Century Gothic"/>
            </a:endParaRPr>
          </a:p>
        </p:txBody>
      </p:sp>
      <p:sp>
        <p:nvSpPr>
          <p:cNvPr id="4685" name="Google Shape;4685;p255"/>
          <p:cNvSpPr/>
          <p:nvPr/>
        </p:nvSpPr>
        <p:spPr>
          <a:xfrm>
            <a:off x="475559" y="1076925"/>
            <a:ext cx="8264697" cy="838769"/>
          </a:xfrm>
          <a:prstGeom prst="rect">
            <a:avLst/>
          </a:prstGeom>
          <a:solidFill>
            <a:srgbClr val="005AA4"/>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rPr b="1" lang="en-GB" sz="1400">
                <a:solidFill>
                  <a:schemeClr val="lt1"/>
                </a:solidFill>
                <a:latin typeface="Century Gothic"/>
                <a:ea typeface="Century Gothic"/>
                <a:cs typeface="Century Gothic"/>
                <a:sym typeface="Century Gothic"/>
              </a:rPr>
              <a:t>Overall challenge: </a:t>
            </a:r>
            <a:r>
              <a:rPr lang="en-GB" sz="1400">
                <a:solidFill>
                  <a:schemeClr val="lt1"/>
                </a:solidFill>
                <a:latin typeface="Century Gothic"/>
                <a:ea typeface="Century Gothic"/>
                <a:cs typeface="Century Gothic"/>
                <a:sym typeface="Century Gothic"/>
              </a:rPr>
              <a:t>Huge attention on the Output from both internal and External stakeholders. The processes are often time-consuming and manual, with lack of common definitions and business rules.</a:t>
            </a:r>
            <a:endParaRPr/>
          </a:p>
        </p:txBody>
      </p:sp>
      <p:sp>
        <p:nvSpPr>
          <p:cNvPr id="4686" name="Google Shape;4686;p255"/>
          <p:cNvSpPr/>
          <p:nvPr/>
        </p:nvSpPr>
        <p:spPr>
          <a:xfrm>
            <a:off x="3670300" y="4066286"/>
            <a:ext cx="5069957" cy="680400"/>
          </a:xfrm>
          <a:prstGeom prst="rect">
            <a:avLst/>
          </a:prstGeom>
          <a:solidFill>
            <a:srgbClr val="D8D8D8"/>
          </a:solidFill>
          <a:ln>
            <a:noFill/>
          </a:ln>
        </p:spPr>
        <p:txBody>
          <a:bodyPr anchorCtr="0" anchor="ctr" bIns="91425" lIns="432000" spcFirstLastPara="1" rIns="91425" wrap="square" tIns="90000">
            <a:noAutofit/>
          </a:bodyPr>
          <a:lstStyle/>
          <a:p>
            <a:pPr indent="0" lvl="0" marL="0" marR="0" rtl="0" algn="l">
              <a:spcBef>
                <a:spcPts val="0"/>
              </a:spcBef>
              <a:spcAft>
                <a:spcPts val="0"/>
              </a:spcAft>
              <a:buNone/>
            </a:pPr>
            <a:r>
              <a:rPr lang="en-GB" sz="900">
                <a:solidFill>
                  <a:schemeClr val="dk1"/>
                </a:solidFill>
                <a:latin typeface="Century Gothic"/>
                <a:ea typeface="Century Gothic"/>
                <a:cs typeface="Century Gothic"/>
                <a:sym typeface="Century Gothic"/>
              </a:rPr>
              <a:t>Efficient EPM processes enables the finance function to spend less time on preparing and analyzing historical performance versus forward-looking activities such as modeling, budget &amp; planning and forecasting coming periods performance. Potentially improves data quality and output accuracy.</a:t>
            </a:r>
            <a:endParaRPr/>
          </a:p>
        </p:txBody>
      </p:sp>
      <p:sp>
        <p:nvSpPr>
          <p:cNvPr id="4687" name="Google Shape;4687;p255"/>
          <p:cNvSpPr/>
          <p:nvPr/>
        </p:nvSpPr>
        <p:spPr>
          <a:xfrm>
            <a:off x="3670300" y="3369173"/>
            <a:ext cx="5069957" cy="680400"/>
          </a:xfrm>
          <a:prstGeom prst="rect">
            <a:avLst/>
          </a:prstGeom>
          <a:solidFill>
            <a:schemeClr val="lt2"/>
          </a:solidFill>
          <a:ln>
            <a:noFill/>
          </a:ln>
        </p:spPr>
        <p:txBody>
          <a:bodyPr anchorCtr="0" anchor="ctr" bIns="91425" lIns="432000" spcFirstLastPara="1" rIns="91425" wrap="square" tIns="90000">
            <a:noAutofit/>
          </a:bodyPr>
          <a:lstStyle/>
          <a:p>
            <a:pPr indent="0" lvl="0" marL="0" marR="0" rtl="0" algn="l">
              <a:spcBef>
                <a:spcPts val="0"/>
              </a:spcBef>
              <a:spcAft>
                <a:spcPts val="0"/>
              </a:spcAft>
              <a:buNone/>
            </a:pPr>
            <a:r>
              <a:rPr lang="en-GB" sz="900">
                <a:solidFill>
                  <a:srgbClr val="3C3C3B"/>
                </a:solidFill>
                <a:latin typeface="Century Gothic"/>
                <a:ea typeface="Century Gothic"/>
                <a:cs typeface="Century Gothic"/>
                <a:sym typeface="Century Gothic"/>
              </a:rPr>
              <a:t>Efficient EPM processes include embedded process management capabilities, which automatically do checks of data as well as approvals/rejections, when reporting/budgeting data are forwarded to next manager level. Potentially reduces auditing effort.</a:t>
            </a:r>
            <a:endParaRPr/>
          </a:p>
        </p:txBody>
      </p:sp>
      <p:sp>
        <p:nvSpPr>
          <p:cNvPr id="4688" name="Google Shape;4688;p255"/>
          <p:cNvSpPr/>
          <p:nvPr/>
        </p:nvSpPr>
        <p:spPr>
          <a:xfrm>
            <a:off x="565150" y="4066286"/>
            <a:ext cx="3417247" cy="680400"/>
          </a:xfrm>
          <a:prstGeom prst="homePlate">
            <a:avLst>
              <a:gd fmla="val 23856" name="adj"/>
            </a:avLst>
          </a:prstGeom>
          <a:solidFill>
            <a:schemeClr val="lt1"/>
          </a:solidFill>
          <a:ln>
            <a:noFill/>
          </a:ln>
        </p:spPr>
        <p:txBody>
          <a:bodyPr anchorCtr="0" anchor="ctr" bIns="91425" lIns="91425" spcFirstLastPara="1" rIns="228600" wrap="square" tIns="91425">
            <a:noAutofit/>
          </a:bodyPr>
          <a:lstStyle/>
          <a:p>
            <a:pPr indent="0" lvl="0" marL="0" marR="0" rtl="0" algn="r">
              <a:spcBef>
                <a:spcPts val="0"/>
              </a:spcBef>
              <a:spcAft>
                <a:spcPts val="0"/>
              </a:spcAft>
              <a:buNone/>
            </a:pPr>
            <a:r>
              <a:t/>
            </a:r>
            <a:endParaRPr b="1" sz="1200">
              <a:solidFill>
                <a:srgbClr val="FFFFFF"/>
              </a:solidFill>
              <a:latin typeface="Century Gothic"/>
              <a:ea typeface="Century Gothic"/>
              <a:cs typeface="Century Gothic"/>
              <a:sym typeface="Century Gothic"/>
            </a:endParaRPr>
          </a:p>
        </p:txBody>
      </p:sp>
      <p:sp>
        <p:nvSpPr>
          <p:cNvPr id="4689" name="Google Shape;4689;p255"/>
          <p:cNvSpPr/>
          <p:nvPr/>
        </p:nvSpPr>
        <p:spPr>
          <a:xfrm>
            <a:off x="3670300" y="2667087"/>
            <a:ext cx="5069957" cy="680400"/>
          </a:xfrm>
          <a:prstGeom prst="rect">
            <a:avLst/>
          </a:prstGeom>
          <a:solidFill>
            <a:srgbClr val="D8D8D8"/>
          </a:solidFill>
          <a:ln>
            <a:noFill/>
          </a:ln>
        </p:spPr>
        <p:txBody>
          <a:bodyPr anchorCtr="0" anchor="ctr" bIns="91425" lIns="432000" spcFirstLastPara="1" rIns="91425" wrap="square" tIns="90000">
            <a:noAutofit/>
          </a:bodyPr>
          <a:lstStyle/>
          <a:p>
            <a:pPr indent="0" lvl="0" marL="0" marR="0" rtl="0" algn="l">
              <a:spcBef>
                <a:spcPts val="0"/>
              </a:spcBef>
              <a:spcAft>
                <a:spcPts val="0"/>
              </a:spcAft>
              <a:buNone/>
            </a:pPr>
            <a:r>
              <a:rPr lang="en-GB" sz="900">
                <a:solidFill>
                  <a:srgbClr val="3C3C3B"/>
                </a:solidFill>
                <a:latin typeface="Century Gothic"/>
                <a:ea typeface="Century Gothic"/>
                <a:cs typeface="Century Gothic"/>
                <a:sym typeface="Century Gothic"/>
              </a:rPr>
              <a:t>Efficient EPM processes reduces the need for individual data massaging, because  the EPM process are based on the same data definitions, business dimensions and business rules. This shortens reporting and budgeting cycles and free up time for analytical activities.</a:t>
            </a:r>
            <a:endParaRPr/>
          </a:p>
        </p:txBody>
      </p:sp>
      <p:sp>
        <p:nvSpPr>
          <p:cNvPr id="4690" name="Google Shape;4690;p255"/>
          <p:cNvSpPr/>
          <p:nvPr/>
        </p:nvSpPr>
        <p:spPr>
          <a:xfrm>
            <a:off x="565150" y="2667088"/>
            <a:ext cx="3417247" cy="680400"/>
          </a:xfrm>
          <a:prstGeom prst="homePlate">
            <a:avLst>
              <a:gd fmla="val 23856" name="adj"/>
            </a:avLst>
          </a:prstGeom>
          <a:solidFill>
            <a:schemeClr val="lt1"/>
          </a:solidFill>
          <a:ln>
            <a:noFill/>
          </a:ln>
        </p:spPr>
        <p:txBody>
          <a:bodyPr anchorCtr="0" anchor="ctr" bIns="91425" lIns="91425" spcFirstLastPara="1" rIns="228600" wrap="square" tIns="91425">
            <a:noAutofit/>
          </a:bodyPr>
          <a:lstStyle/>
          <a:p>
            <a:pPr indent="0" lvl="0" marL="0" marR="0" rtl="0" algn="r">
              <a:spcBef>
                <a:spcPts val="0"/>
              </a:spcBef>
              <a:spcAft>
                <a:spcPts val="0"/>
              </a:spcAft>
              <a:buNone/>
            </a:pPr>
            <a:r>
              <a:t/>
            </a:r>
            <a:endParaRPr b="1" sz="1200">
              <a:solidFill>
                <a:srgbClr val="FFFFFF"/>
              </a:solidFill>
              <a:latin typeface="Century Gothic"/>
              <a:ea typeface="Century Gothic"/>
              <a:cs typeface="Century Gothic"/>
              <a:sym typeface="Century Gothic"/>
            </a:endParaRPr>
          </a:p>
        </p:txBody>
      </p:sp>
      <p:sp>
        <p:nvSpPr>
          <p:cNvPr id="4691" name="Google Shape;4691;p255"/>
          <p:cNvSpPr/>
          <p:nvPr/>
        </p:nvSpPr>
        <p:spPr>
          <a:xfrm>
            <a:off x="488950" y="2667088"/>
            <a:ext cx="3417247" cy="680400"/>
          </a:xfrm>
          <a:prstGeom prst="homePlate">
            <a:avLst>
              <a:gd fmla="val 23856" name="adj"/>
            </a:avLst>
          </a:prstGeom>
          <a:solidFill>
            <a:srgbClr val="EC881D"/>
          </a:solidFill>
          <a:ln>
            <a:noFill/>
          </a:ln>
        </p:spPr>
        <p:txBody>
          <a:bodyPr anchorCtr="0" anchor="ctr" bIns="91425" lIns="360000" spcFirstLastPara="1" rIns="228600" wrap="square" tIns="91425">
            <a:noAutofit/>
          </a:bodyPr>
          <a:lstStyle/>
          <a:p>
            <a:pPr indent="0" lvl="0" marL="0" marR="0" rtl="0" algn="l">
              <a:spcBef>
                <a:spcPts val="0"/>
              </a:spcBef>
              <a:spcAft>
                <a:spcPts val="0"/>
              </a:spcAft>
              <a:buNone/>
            </a:pPr>
            <a:r>
              <a:rPr b="1" lang="en-GB" sz="1200">
                <a:solidFill>
                  <a:srgbClr val="FFFFFF"/>
                </a:solidFill>
                <a:latin typeface="Century Gothic"/>
                <a:ea typeface="Century Gothic"/>
                <a:cs typeface="Century Gothic"/>
                <a:sym typeface="Century Gothic"/>
              </a:rPr>
              <a:t>More efficient financial processes </a:t>
            </a:r>
            <a:endParaRPr/>
          </a:p>
        </p:txBody>
      </p:sp>
      <p:sp>
        <p:nvSpPr>
          <p:cNvPr id="4692" name="Google Shape;4692;p255"/>
          <p:cNvSpPr/>
          <p:nvPr/>
        </p:nvSpPr>
        <p:spPr>
          <a:xfrm>
            <a:off x="3670299" y="1962831"/>
            <a:ext cx="5069957" cy="680400"/>
          </a:xfrm>
          <a:prstGeom prst="rect">
            <a:avLst/>
          </a:prstGeom>
          <a:solidFill>
            <a:srgbClr val="D8D8D8"/>
          </a:solidFill>
          <a:ln>
            <a:noFill/>
          </a:ln>
        </p:spPr>
        <p:txBody>
          <a:bodyPr anchorCtr="0" anchor="ctr" bIns="91425" lIns="432000" spcFirstLastPara="1" rIns="91425" wrap="square" tIns="90000">
            <a:noAutofit/>
          </a:bodyPr>
          <a:lstStyle/>
          <a:p>
            <a:pPr indent="0" lvl="0" marL="0" marR="0" rtl="0" algn="l">
              <a:spcBef>
                <a:spcPts val="0"/>
              </a:spcBef>
              <a:spcAft>
                <a:spcPts val="0"/>
              </a:spcAft>
              <a:buNone/>
            </a:pPr>
            <a:r>
              <a:rPr lang="en-GB" sz="900">
                <a:solidFill>
                  <a:schemeClr val="dk1"/>
                </a:solidFill>
                <a:latin typeface="Century Gothic"/>
                <a:ea typeface="Century Gothic"/>
                <a:cs typeface="Century Gothic"/>
                <a:sym typeface="Century Gothic"/>
              </a:rPr>
              <a:t>Efficient EPM processes are aligned with Strategic Objectives of the organization, which ensures relevant KPIs are defined also including accountability.</a:t>
            </a:r>
            <a:endParaRPr/>
          </a:p>
          <a:p>
            <a:pPr indent="0" lvl="0" marL="0" marR="0" rtl="0" algn="l">
              <a:spcBef>
                <a:spcPts val="0"/>
              </a:spcBef>
              <a:spcAft>
                <a:spcPts val="0"/>
              </a:spcAft>
              <a:buNone/>
            </a:pPr>
            <a:r>
              <a:rPr lang="en-GB" sz="900">
                <a:solidFill>
                  <a:srgbClr val="3C3C3B"/>
                </a:solidFill>
                <a:latin typeface="Century Gothic"/>
                <a:ea typeface="Century Gothic"/>
                <a:cs typeface="Century Gothic"/>
                <a:sym typeface="Century Gothic"/>
              </a:rPr>
              <a:t>The organization gains faster insight about how the organization are progressing according to Strategy as well as how employees perform.</a:t>
            </a:r>
            <a:endParaRPr/>
          </a:p>
        </p:txBody>
      </p:sp>
      <p:sp>
        <p:nvSpPr>
          <p:cNvPr id="4693" name="Google Shape;4693;p255"/>
          <p:cNvSpPr/>
          <p:nvPr/>
        </p:nvSpPr>
        <p:spPr>
          <a:xfrm>
            <a:off x="565149" y="1962832"/>
            <a:ext cx="3417247" cy="680400"/>
          </a:xfrm>
          <a:prstGeom prst="homePlate">
            <a:avLst>
              <a:gd fmla="val 23856" name="adj"/>
            </a:avLst>
          </a:prstGeom>
          <a:solidFill>
            <a:schemeClr val="lt1"/>
          </a:solidFill>
          <a:ln>
            <a:noFill/>
          </a:ln>
        </p:spPr>
        <p:txBody>
          <a:bodyPr anchorCtr="0" anchor="ctr" bIns="91425" lIns="91425" spcFirstLastPara="1" rIns="228600" wrap="square" tIns="91425">
            <a:noAutofit/>
          </a:bodyPr>
          <a:lstStyle/>
          <a:p>
            <a:pPr indent="0" lvl="0" marL="0" marR="0" rtl="0" algn="r">
              <a:spcBef>
                <a:spcPts val="0"/>
              </a:spcBef>
              <a:spcAft>
                <a:spcPts val="0"/>
              </a:spcAft>
              <a:buNone/>
            </a:pPr>
            <a:r>
              <a:t/>
            </a:r>
            <a:endParaRPr b="1" sz="1200">
              <a:solidFill>
                <a:srgbClr val="FFFFFF"/>
              </a:solidFill>
              <a:latin typeface="Century Gothic"/>
              <a:ea typeface="Century Gothic"/>
              <a:cs typeface="Century Gothic"/>
              <a:sym typeface="Century Gothic"/>
            </a:endParaRPr>
          </a:p>
        </p:txBody>
      </p:sp>
      <p:sp>
        <p:nvSpPr>
          <p:cNvPr id="4694" name="Google Shape;4694;p255"/>
          <p:cNvSpPr/>
          <p:nvPr/>
        </p:nvSpPr>
        <p:spPr>
          <a:xfrm>
            <a:off x="488949" y="1962832"/>
            <a:ext cx="3417247" cy="680400"/>
          </a:xfrm>
          <a:prstGeom prst="homePlate">
            <a:avLst>
              <a:gd fmla="val 23856" name="adj"/>
            </a:avLst>
          </a:prstGeom>
          <a:solidFill>
            <a:srgbClr val="EC881D"/>
          </a:solidFill>
          <a:ln>
            <a:noFill/>
          </a:ln>
        </p:spPr>
        <p:txBody>
          <a:bodyPr anchorCtr="0" anchor="ctr" bIns="91425" lIns="360000" spcFirstLastPara="1" rIns="228600" wrap="square" tIns="91425">
            <a:noAutofit/>
          </a:bodyPr>
          <a:lstStyle/>
          <a:p>
            <a:pPr indent="0" lvl="0" marL="0" marR="0" rtl="0" algn="l">
              <a:spcBef>
                <a:spcPts val="0"/>
              </a:spcBef>
              <a:spcAft>
                <a:spcPts val="0"/>
              </a:spcAft>
              <a:buNone/>
            </a:pPr>
            <a:r>
              <a:rPr b="1" lang="en-GB" sz="1200">
                <a:solidFill>
                  <a:srgbClr val="FFFFFF"/>
                </a:solidFill>
                <a:latin typeface="Century Gothic"/>
                <a:ea typeface="Century Gothic"/>
                <a:cs typeface="Century Gothic"/>
                <a:sym typeface="Century Gothic"/>
              </a:rPr>
              <a:t>Aligning decisions to objectives and strategy</a:t>
            </a:r>
            <a:endParaRPr/>
          </a:p>
        </p:txBody>
      </p:sp>
      <p:sp>
        <p:nvSpPr>
          <p:cNvPr id="4695" name="Google Shape;4695;p255"/>
          <p:cNvSpPr/>
          <p:nvPr/>
        </p:nvSpPr>
        <p:spPr>
          <a:xfrm>
            <a:off x="488950" y="4066286"/>
            <a:ext cx="3417247" cy="680400"/>
          </a:xfrm>
          <a:prstGeom prst="homePlate">
            <a:avLst>
              <a:gd fmla="val 23856" name="adj"/>
            </a:avLst>
          </a:prstGeom>
          <a:solidFill>
            <a:srgbClr val="EC881D"/>
          </a:solidFill>
          <a:ln>
            <a:noFill/>
          </a:ln>
        </p:spPr>
        <p:txBody>
          <a:bodyPr anchorCtr="0" anchor="ctr" bIns="91425" lIns="360000" spcFirstLastPara="1" rIns="228600" wrap="square" tIns="91425">
            <a:noAutofit/>
          </a:bodyPr>
          <a:lstStyle/>
          <a:p>
            <a:pPr indent="0" lvl="0" marL="0" marR="0" rtl="0" algn="l">
              <a:spcBef>
                <a:spcPts val="0"/>
              </a:spcBef>
              <a:spcAft>
                <a:spcPts val="0"/>
              </a:spcAft>
              <a:buNone/>
            </a:pPr>
            <a:r>
              <a:rPr b="1" lang="en-GB" sz="1200">
                <a:solidFill>
                  <a:srgbClr val="FFFFFF"/>
                </a:solidFill>
                <a:latin typeface="Century Gothic"/>
                <a:ea typeface="Century Gothic"/>
                <a:cs typeface="Century Gothic"/>
                <a:sym typeface="Century Gothic"/>
              </a:rPr>
              <a:t>More forward-looking activities </a:t>
            </a:r>
            <a:endParaRPr/>
          </a:p>
        </p:txBody>
      </p:sp>
      <p:sp>
        <p:nvSpPr>
          <p:cNvPr id="4696" name="Google Shape;4696;p255"/>
          <p:cNvSpPr/>
          <p:nvPr/>
        </p:nvSpPr>
        <p:spPr>
          <a:xfrm>
            <a:off x="565150" y="3369174"/>
            <a:ext cx="3417247" cy="680400"/>
          </a:xfrm>
          <a:prstGeom prst="homePlate">
            <a:avLst>
              <a:gd fmla="val 23856" name="adj"/>
            </a:avLst>
          </a:prstGeom>
          <a:solidFill>
            <a:schemeClr val="lt1"/>
          </a:solidFill>
          <a:ln>
            <a:noFill/>
          </a:ln>
        </p:spPr>
        <p:txBody>
          <a:bodyPr anchorCtr="0" anchor="ctr" bIns="91425" lIns="91425" spcFirstLastPara="1" rIns="228600" wrap="square" tIns="91425">
            <a:noAutofit/>
          </a:bodyPr>
          <a:lstStyle/>
          <a:p>
            <a:pPr indent="0" lvl="0" marL="0" marR="0" rtl="0" algn="r">
              <a:spcBef>
                <a:spcPts val="0"/>
              </a:spcBef>
              <a:spcAft>
                <a:spcPts val="0"/>
              </a:spcAft>
              <a:buNone/>
            </a:pPr>
            <a:r>
              <a:t/>
            </a:r>
            <a:endParaRPr b="1" sz="1200">
              <a:solidFill>
                <a:srgbClr val="FFFFFF"/>
              </a:solidFill>
              <a:latin typeface="Century Gothic"/>
              <a:ea typeface="Century Gothic"/>
              <a:cs typeface="Century Gothic"/>
              <a:sym typeface="Century Gothic"/>
            </a:endParaRPr>
          </a:p>
        </p:txBody>
      </p:sp>
      <p:sp>
        <p:nvSpPr>
          <p:cNvPr id="4697" name="Google Shape;4697;p255"/>
          <p:cNvSpPr/>
          <p:nvPr/>
        </p:nvSpPr>
        <p:spPr>
          <a:xfrm>
            <a:off x="488950" y="3369174"/>
            <a:ext cx="3417247" cy="680400"/>
          </a:xfrm>
          <a:prstGeom prst="homePlate">
            <a:avLst>
              <a:gd fmla="val 23856" name="adj"/>
            </a:avLst>
          </a:prstGeom>
          <a:solidFill>
            <a:srgbClr val="EC881D"/>
          </a:solidFill>
          <a:ln>
            <a:noFill/>
          </a:ln>
        </p:spPr>
        <p:txBody>
          <a:bodyPr anchorCtr="0" anchor="ctr" bIns="91425" lIns="360000" spcFirstLastPara="1" rIns="228600" wrap="square" tIns="91425">
            <a:noAutofit/>
          </a:bodyPr>
          <a:lstStyle/>
          <a:p>
            <a:pPr indent="0" lvl="0" marL="0" marR="0" rtl="0" algn="l">
              <a:spcBef>
                <a:spcPts val="0"/>
              </a:spcBef>
              <a:spcAft>
                <a:spcPts val="0"/>
              </a:spcAft>
              <a:buNone/>
            </a:pPr>
            <a:r>
              <a:rPr b="1" lang="en-GB" sz="1200">
                <a:solidFill>
                  <a:srgbClr val="FFFFFF"/>
                </a:solidFill>
                <a:latin typeface="Century Gothic"/>
                <a:ea typeface="Century Gothic"/>
                <a:cs typeface="Century Gothic"/>
                <a:sym typeface="Century Gothic"/>
              </a:rPr>
              <a:t>Improved control and transparency</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1" name="Shape 4701"/>
        <p:cNvGrpSpPr/>
        <p:nvPr/>
      </p:nvGrpSpPr>
      <p:grpSpPr>
        <a:xfrm>
          <a:off x="0" y="0"/>
          <a:ext cx="0" cy="0"/>
          <a:chOff x="0" y="0"/>
          <a:chExt cx="0" cy="0"/>
        </a:xfrm>
      </p:grpSpPr>
      <p:sp>
        <p:nvSpPr>
          <p:cNvPr id="4702" name="Google Shape;4702;p256"/>
          <p:cNvSpPr txBox="1"/>
          <p:nvPr>
            <p:ph type="title"/>
          </p:nvPr>
        </p:nvSpPr>
        <p:spPr>
          <a:xfrm>
            <a:off x="477880" y="174273"/>
            <a:ext cx="5435240" cy="704088"/>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Enterprise Performance </a:t>
            </a:r>
            <a:br>
              <a:rPr lang="en-GB"/>
            </a:br>
            <a:r>
              <a:rPr lang="en-GB"/>
              <a:t>Management</a:t>
            </a:r>
            <a:endParaRPr/>
          </a:p>
        </p:txBody>
      </p:sp>
      <p:sp>
        <p:nvSpPr>
          <p:cNvPr id="4703" name="Google Shape;4703;p256"/>
          <p:cNvSpPr txBox="1"/>
          <p:nvPr>
            <p:ph idx="4294967295" type="body"/>
          </p:nvPr>
        </p:nvSpPr>
        <p:spPr>
          <a:xfrm>
            <a:off x="288393" y="997338"/>
            <a:ext cx="5100036" cy="3672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600"/>
              <a:buNone/>
            </a:pPr>
            <a:r>
              <a:rPr b="1" lang="en-GB" sz="1600"/>
              <a:t>   </a:t>
            </a:r>
            <a:r>
              <a:rPr lang="en-GB">
                <a:solidFill>
                  <a:schemeClr val="dk2"/>
                </a:solidFill>
              </a:rPr>
              <a:t>Are You Able To…</a:t>
            </a:r>
            <a:endParaRPr sz="1400"/>
          </a:p>
          <a:p>
            <a:pPr indent="-228600" lvl="1" marL="457200" rtl="0" algn="l">
              <a:lnSpc>
                <a:spcPct val="100000"/>
              </a:lnSpc>
              <a:spcBef>
                <a:spcPts val="0"/>
              </a:spcBef>
              <a:spcAft>
                <a:spcPts val="0"/>
              </a:spcAft>
              <a:buClr>
                <a:schemeClr val="dk1"/>
              </a:buClr>
              <a:buSzPts val="1400"/>
              <a:buChar char="–"/>
            </a:pPr>
            <a:r>
              <a:rPr lang="en-GB" sz="1400"/>
              <a:t>Do consolidation and financial reporting in three days?</a:t>
            </a:r>
            <a:endParaRPr/>
          </a:p>
          <a:p>
            <a:pPr indent="-228600" lvl="1" marL="457200" rtl="0" algn="l">
              <a:lnSpc>
                <a:spcPct val="100000"/>
              </a:lnSpc>
              <a:spcBef>
                <a:spcPts val="300"/>
              </a:spcBef>
              <a:spcAft>
                <a:spcPts val="0"/>
              </a:spcAft>
              <a:buClr>
                <a:schemeClr val="dk1"/>
              </a:buClr>
              <a:buSzPts val="1400"/>
              <a:buChar char="–"/>
            </a:pPr>
            <a:r>
              <a:rPr lang="en-GB" sz="1400"/>
              <a:t>Analyze Group P&amp;L as well as Entity P&amp;L’s without gathering and preparing new data?</a:t>
            </a:r>
            <a:endParaRPr/>
          </a:p>
          <a:p>
            <a:pPr indent="-228600" lvl="1" marL="457200" rtl="0" algn="l">
              <a:lnSpc>
                <a:spcPct val="100000"/>
              </a:lnSpc>
              <a:spcBef>
                <a:spcPts val="300"/>
              </a:spcBef>
              <a:spcAft>
                <a:spcPts val="0"/>
              </a:spcAft>
              <a:buClr>
                <a:schemeClr val="dk1"/>
              </a:buClr>
              <a:buSzPts val="1400"/>
              <a:buChar char="–"/>
            </a:pPr>
            <a:r>
              <a:rPr lang="en-GB" sz="1400"/>
              <a:t>Measure performance against strategic objectives?</a:t>
            </a:r>
            <a:endParaRPr/>
          </a:p>
          <a:p>
            <a:pPr indent="-228600" lvl="1" marL="457200" rtl="0" algn="l">
              <a:lnSpc>
                <a:spcPct val="100000"/>
              </a:lnSpc>
              <a:spcBef>
                <a:spcPts val="300"/>
              </a:spcBef>
              <a:spcAft>
                <a:spcPts val="0"/>
              </a:spcAft>
              <a:buClr>
                <a:schemeClr val="dk1"/>
              </a:buClr>
              <a:buSzPts val="1400"/>
              <a:buChar char="–"/>
            </a:pPr>
            <a:r>
              <a:rPr lang="en-GB" sz="1400"/>
              <a:t>Understand variances between Actual data and budgeted/forecasted data without gathering and preparing new data?</a:t>
            </a:r>
            <a:endParaRPr/>
          </a:p>
          <a:p>
            <a:pPr indent="-228600" lvl="1" marL="457200" rtl="0" algn="l">
              <a:lnSpc>
                <a:spcPct val="100000"/>
              </a:lnSpc>
              <a:spcBef>
                <a:spcPts val="300"/>
              </a:spcBef>
              <a:spcAft>
                <a:spcPts val="0"/>
              </a:spcAft>
              <a:buClr>
                <a:schemeClr val="dk1"/>
              </a:buClr>
              <a:buSzPts val="1400"/>
              <a:buChar char="–"/>
            </a:pPr>
            <a:r>
              <a:rPr lang="en-GB" sz="1400"/>
              <a:t>Prepare your templates etc. for the upcoming budgeting cycle within two days?</a:t>
            </a:r>
            <a:endParaRPr/>
          </a:p>
          <a:p>
            <a:pPr indent="-228600" lvl="1" marL="457200" rtl="0" algn="l">
              <a:lnSpc>
                <a:spcPct val="100000"/>
              </a:lnSpc>
              <a:spcBef>
                <a:spcPts val="300"/>
              </a:spcBef>
              <a:spcAft>
                <a:spcPts val="0"/>
              </a:spcAft>
              <a:buClr>
                <a:schemeClr val="dk1"/>
              </a:buClr>
              <a:buSzPts val="1400"/>
              <a:buChar char="–"/>
            </a:pPr>
            <a:r>
              <a:rPr lang="en-GB" sz="1400"/>
              <a:t>Do Rolling Forecasts throughout the financial year?</a:t>
            </a:r>
            <a:endParaRPr/>
          </a:p>
          <a:p>
            <a:pPr indent="-228600" lvl="1" marL="457200" rtl="0" algn="l">
              <a:lnSpc>
                <a:spcPct val="100000"/>
              </a:lnSpc>
              <a:spcBef>
                <a:spcPts val="300"/>
              </a:spcBef>
              <a:spcAft>
                <a:spcPts val="0"/>
              </a:spcAft>
              <a:buClr>
                <a:schemeClr val="dk1"/>
              </a:buClr>
              <a:buSzPts val="1400"/>
              <a:buChar char="–"/>
            </a:pPr>
            <a:r>
              <a:rPr lang="en-GB" sz="1400"/>
              <a:t>Manage the full EPM process with only one person?</a:t>
            </a:r>
            <a:endParaRPr/>
          </a:p>
          <a:p>
            <a:pPr indent="-228600" lvl="1" marL="457200" rtl="0" algn="l">
              <a:lnSpc>
                <a:spcPct val="100000"/>
              </a:lnSpc>
              <a:spcBef>
                <a:spcPts val="300"/>
              </a:spcBef>
              <a:spcAft>
                <a:spcPts val="0"/>
              </a:spcAft>
              <a:buClr>
                <a:schemeClr val="dk1"/>
              </a:buClr>
              <a:buSzPts val="1400"/>
              <a:buChar char="–"/>
            </a:pPr>
            <a:r>
              <a:rPr lang="en-GB" sz="1400"/>
              <a:t>Easily update Reports/Dashboards with new business dimensions and/or updated hierarchies?</a:t>
            </a:r>
            <a:endParaRPr/>
          </a:p>
        </p:txBody>
      </p:sp>
      <p:sp>
        <p:nvSpPr>
          <p:cNvPr id="4704" name="Google Shape;4704;p256"/>
          <p:cNvSpPr/>
          <p:nvPr/>
        </p:nvSpPr>
        <p:spPr>
          <a:xfrm>
            <a:off x="7772401" y="-368299"/>
            <a:ext cx="1503273" cy="5054600"/>
          </a:xfrm>
          <a:prstGeom prst="roundRect">
            <a:avLst>
              <a:gd fmla="val 3493" name="adj"/>
            </a:avLst>
          </a:prstGeom>
          <a:solidFill>
            <a:srgbClr val="FFFFFF"/>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pic>
        <p:nvPicPr>
          <p:cNvPr id="4705" name="Google Shape;4705;p256"/>
          <p:cNvPicPr preferRelativeResize="0"/>
          <p:nvPr/>
        </p:nvPicPr>
        <p:blipFill rotWithShape="1">
          <a:blip r:embed="rId3">
            <a:alphaModFix/>
          </a:blip>
          <a:srcRect b="0" l="0" r="0" t="0"/>
          <a:stretch/>
        </p:blipFill>
        <p:spPr>
          <a:xfrm>
            <a:off x="5549900" y="967317"/>
            <a:ext cx="3594100" cy="2396066"/>
          </a:xfrm>
          <a:prstGeom prst="rect">
            <a:avLst/>
          </a:prstGeom>
          <a:noFill/>
          <a:ln>
            <a:noFill/>
          </a:ln>
        </p:spPr>
      </p:pic>
      <p:sp>
        <p:nvSpPr>
          <p:cNvPr id="4706" name="Google Shape;4706;p256">
            <a:hlinkClick action="ppaction://hlinksldjump" r:id="rId4"/>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Enterprise Performance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0" name="Shape 4710"/>
        <p:cNvGrpSpPr/>
        <p:nvPr/>
      </p:nvGrpSpPr>
      <p:grpSpPr>
        <a:xfrm>
          <a:off x="0" y="0"/>
          <a:ext cx="0" cy="0"/>
          <a:chOff x="0" y="0"/>
          <a:chExt cx="0" cy="0"/>
        </a:xfrm>
      </p:grpSpPr>
      <p:sp>
        <p:nvSpPr>
          <p:cNvPr id="4711" name="Google Shape;4711;p257"/>
          <p:cNvSpPr txBox="1"/>
          <p:nvPr>
            <p:ph idx="1" type="body"/>
          </p:nvPr>
        </p:nvSpPr>
        <p:spPr>
          <a:xfrm>
            <a:off x="467360" y="878361"/>
            <a:ext cx="4784456" cy="3648403"/>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0079DB"/>
              </a:buClr>
              <a:buSzPts val="1800"/>
              <a:buNone/>
            </a:pPr>
            <a:r>
              <a:rPr lang="en-GB">
                <a:solidFill>
                  <a:srgbClr val="0079DB"/>
                </a:solidFill>
              </a:rPr>
              <a:t>How – Capabilities</a:t>
            </a:r>
            <a:endParaRPr b="1">
              <a:solidFill>
                <a:schemeClr val="accent1"/>
              </a:solidFill>
            </a:endParaRPr>
          </a:p>
          <a:p>
            <a:pPr indent="-169863" lvl="0" marL="169863" rtl="0" algn="l">
              <a:lnSpc>
                <a:spcPct val="95000"/>
              </a:lnSpc>
              <a:spcBef>
                <a:spcPts val="800"/>
              </a:spcBef>
              <a:spcAft>
                <a:spcPts val="0"/>
              </a:spcAft>
              <a:buClr>
                <a:schemeClr val="dk1"/>
              </a:buClr>
              <a:buSzPts val="1300"/>
              <a:buChar char="•"/>
            </a:pPr>
            <a:r>
              <a:rPr lang="en-GB" sz="1300"/>
              <a:t>Gathering all G/L data from all ERP solutions</a:t>
            </a:r>
            <a:endParaRPr/>
          </a:p>
          <a:p>
            <a:pPr indent="-169863" lvl="0" marL="169863" rtl="0" algn="l">
              <a:lnSpc>
                <a:spcPct val="95000"/>
              </a:lnSpc>
              <a:spcBef>
                <a:spcPts val="600"/>
              </a:spcBef>
              <a:spcAft>
                <a:spcPts val="0"/>
              </a:spcAft>
              <a:buClr>
                <a:schemeClr val="dk1"/>
              </a:buClr>
              <a:buSzPts val="1300"/>
              <a:buChar char="•"/>
            </a:pPr>
            <a:r>
              <a:rPr lang="en-GB" sz="1300"/>
              <a:t>Align to a commonly defined CoA / business analysis structure</a:t>
            </a:r>
            <a:endParaRPr/>
          </a:p>
          <a:p>
            <a:pPr indent="-169863" lvl="0" marL="169863" rtl="0" algn="l">
              <a:lnSpc>
                <a:spcPct val="95000"/>
              </a:lnSpc>
              <a:spcBef>
                <a:spcPts val="600"/>
              </a:spcBef>
              <a:spcAft>
                <a:spcPts val="0"/>
              </a:spcAft>
              <a:buClr>
                <a:schemeClr val="dk1"/>
              </a:buClr>
              <a:buSzPts val="1300"/>
              <a:buChar char="•"/>
            </a:pPr>
            <a:r>
              <a:rPr lang="en-GB" sz="1300"/>
              <a:t>Align other relevant business dimensions (i.e. organization, segments, products etc.)</a:t>
            </a:r>
            <a:endParaRPr/>
          </a:p>
          <a:p>
            <a:pPr indent="-169863" lvl="0" marL="169863" rtl="0" algn="l">
              <a:lnSpc>
                <a:spcPct val="95000"/>
              </a:lnSpc>
              <a:spcBef>
                <a:spcPts val="600"/>
              </a:spcBef>
              <a:spcAft>
                <a:spcPts val="0"/>
              </a:spcAft>
              <a:buClr>
                <a:schemeClr val="dk1"/>
              </a:buClr>
              <a:buSzPts val="1300"/>
              <a:buChar char="•"/>
            </a:pPr>
            <a:r>
              <a:rPr lang="en-GB" sz="1300"/>
              <a:t>Use a dedicated EPM tool to manage the legal consolidations, process management, exchange rate calc’s, common budget assumptions, web forms etc.</a:t>
            </a:r>
            <a:endParaRPr/>
          </a:p>
          <a:p>
            <a:pPr indent="-169863" lvl="0" marL="169863" rtl="0" algn="l">
              <a:lnSpc>
                <a:spcPct val="95000"/>
              </a:lnSpc>
              <a:spcBef>
                <a:spcPts val="600"/>
              </a:spcBef>
              <a:spcAft>
                <a:spcPts val="0"/>
              </a:spcAft>
              <a:buClr>
                <a:schemeClr val="dk1"/>
              </a:buClr>
              <a:buSzPts val="1300"/>
              <a:buChar char="•"/>
            </a:pPr>
            <a:r>
              <a:rPr lang="en-GB" sz="1300"/>
              <a:t>When EPM process are done – load data back to data warehouse to ensure “one-version” of data</a:t>
            </a:r>
            <a:endParaRPr/>
          </a:p>
          <a:p>
            <a:pPr indent="-169863" lvl="0" marL="169863" rtl="0" algn="l">
              <a:lnSpc>
                <a:spcPct val="95000"/>
              </a:lnSpc>
              <a:spcBef>
                <a:spcPts val="600"/>
              </a:spcBef>
              <a:spcAft>
                <a:spcPts val="0"/>
              </a:spcAft>
              <a:buClr>
                <a:schemeClr val="dk1"/>
              </a:buClr>
              <a:buSzPts val="1300"/>
              <a:buChar char="•"/>
            </a:pPr>
            <a:r>
              <a:rPr lang="en-GB" sz="1300"/>
              <a:t>Re-join EPM data and non-EPM data with relevant business dimensions</a:t>
            </a:r>
            <a:endParaRPr/>
          </a:p>
          <a:p>
            <a:pPr indent="-169863" lvl="0" marL="169863" rtl="0" algn="l">
              <a:lnSpc>
                <a:spcPct val="95000"/>
              </a:lnSpc>
              <a:spcBef>
                <a:spcPts val="600"/>
              </a:spcBef>
              <a:spcAft>
                <a:spcPts val="0"/>
              </a:spcAft>
              <a:buClr>
                <a:schemeClr val="dk1"/>
              </a:buClr>
              <a:buSzPts val="1300"/>
              <a:buChar char="•"/>
            </a:pPr>
            <a:r>
              <a:rPr lang="en-GB" sz="1300"/>
              <a:t>This enables a common set of data for: Financial reporting, internal Mgt Reporting, Budget and Planning, Forecasting etc.</a:t>
            </a:r>
            <a:endParaRPr/>
          </a:p>
        </p:txBody>
      </p:sp>
      <p:sp>
        <p:nvSpPr>
          <p:cNvPr id="4712" name="Google Shape;4712;p257"/>
          <p:cNvSpPr txBox="1"/>
          <p:nvPr>
            <p:ph type="title"/>
          </p:nvPr>
        </p:nvSpPr>
        <p:spPr>
          <a:xfrm>
            <a:off x="477880" y="174273"/>
            <a:ext cx="5435240" cy="704088"/>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Enterprise Performance </a:t>
            </a:r>
            <a:br>
              <a:rPr lang="en-GB"/>
            </a:br>
            <a:r>
              <a:rPr lang="en-GB"/>
              <a:t>Management</a:t>
            </a:r>
            <a:endParaRPr/>
          </a:p>
        </p:txBody>
      </p:sp>
      <p:sp>
        <p:nvSpPr>
          <p:cNvPr id="4713" name="Google Shape;4713;p257"/>
          <p:cNvSpPr/>
          <p:nvPr/>
        </p:nvSpPr>
        <p:spPr>
          <a:xfrm>
            <a:off x="7772401" y="-368299"/>
            <a:ext cx="1503273" cy="5054600"/>
          </a:xfrm>
          <a:prstGeom prst="roundRect">
            <a:avLst>
              <a:gd fmla="val 3493" name="adj"/>
            </a:avLst>
          </a:prstGeom>
          <a:solidFill>
            <a:srgbClr val="FFFFFF"/>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pic>
        <p:nvPicPr>
          <p:cNvPr id="4714" name="Google Shape;4714;p257"/>
          <p:cNvPicPr preferRelativeResize="0"/>
          <p:nvPr/>
        </p:nvPicPr>
        <p:blipFill rotWithShape="1">
          <a:blip r:embed="rId3">
            <a:alphaModFix/>
          </a:blip>
          <a:srcRect b="0" l="0" r="0" t="0"/>
          <a:stretch/>
        </p:blipFill>
        <p:spPr>
          <a:xfrm>
            <a:off x="5549900" y="967317"/>
            <a:ext cx="3594100" cy="2396066"/>
          </a:xfrm>
          <a:prstGeom prst="rect">
            <a:avLst/>
          </a:prstGeom>
          <a:noFill/>
          <a:ln>
            <a:noFill/>
          </a:ln>
        </p:spPr>
      </p:pic>
      <p:sp>
        <p:nvSpPr>
          <p:cNvPr id="4715" name="Google Shape;4715;p257">
            <a:hlinkClick action="ppaction://hlinksldjump" r:id="rId4"/>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Enterprise Performance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9" name="Shape 4719"/>
        <p:cNvGrpSpPr/>
        <p:nvPr/>
      </p:nvGrpSpPr>
      <p:grpSpPr>
        <a:xfrm>
          <a:off x="0" y="0"/>
          <a:ext cx="0" cy="0"/>
          <a:chOff x="0" y="0"/>
          <a:chExt cx="0" cy="0"/>
        </a:xfrm>
      </p:grpSpPr>
      <p:pic>
        <p:nvPicPr>
          <p:cNvPr id="4720" name="Google Shape;4720;p258"/>
          <p:cNvPicPr preferRelativeResize="0"/>
          <p:nvPr/>
        </p:nvPicPr>
        <p:blipFill rotWithShape="1">
          <a:blip r:embed="rId3">
            <a:alphaModFix/>
          </a:blip>
          <a:srcRect b="0" l="0" r="12622" t="0"/>
          <a:stretch/>
        </p:blipFill>
        <p:spPr>
          <a:xfrm>
            <a:off x="5561013" y="0"/>
            <a:ext cx="3582987" cy="5143500"/>
          </a:xfrm>
          <a:prstGeom prst="rect">
            <a:avLst/>
          </a:prstGeom>
          <a:noFill/>
          <a:ln>
            <a:noFill/>
          </a:ln>
        </p:spPr>
      </p:pic>
      <p:sp>
        <p:nvSpPr>
          <p:cNvPr id="4721" name="Google Shape;4721;p258"/>
          <p:cNvSpPr txBox="1"/>
          <p:nvPr>
            <p:ph type="title"/>
          </p:nvPr>
        </p:nvSpPr>
        <p:spPr>
          <a:xfrm>
            <a:off x="477880" y="-384527"/>
            <a:ext cx="5536840" cy="126400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Value of Enterprise Performance Management</a:t>
            </a:r>
            <a:endParaRPr/>
          </a:p>
        </p:txBody>
      </p:sp>
      <p:sp>
        <p:nvSpPr>
          <p:cNvPr id="4722" name="Google Shape;4722;p258"/>
          <p:cNvSpPr txBox="1"/>
          <p:nvPr/>
        </p:nvSpPr>
        <p:spPr>
          <a:xfrm>
            <a:off x="6358142" y="1077913"/>
            <a:ext cx="2196135" cy="684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95000"/>
              </a:lnSpc>
              <a:spcBef>
                <a:spcPts val="0"/>
              </a:spcBef>
              <a:spcAft>
                <a:spcPts val="0"/>
              </a:spcAft>
              <a:buNone/>
            </a:pPr>
            <a:r>
              <a:rPr lang="en-GB" sz="1400">
                <a:solidFill>
                  <a:srgbClr val="FF0000"/>
                </a:solidFill>
                <a:latin typeface="Century Gothic"/>
                <a:ea typeface="Century Gothic"/>
                <a:cs typeface="Century Gothic"/>
                <a:sym typeface="Century Gothic"/>
              </a:rPr>
              <a:t>Cost Savings…</a:t>
            </a:r>
            <a:endParaRPr sz="1400">
              <a:solidFill>
                <a:srgbClr val="FF0000"/>
              </a:solidFill>
              <a:latin typeface="Century Gothic"/>
              <a:ea typeface="Century Gothic"/>
              <a:cs typeface="Century Gothic"/>
              <a:sym typeface="Century Gothic"/>
            </a:endParaRPr>
          </a:p>
        </p:txBody>
      </p:sp>
      <p:sp>
        <p:nvSpPr>
          <p:cNvPr id="4723" name="Google Shape;4723;p258"/>
          <p:cNvSpPr txBox="1"/>
          <p:nvPr/>
        </p:nvSpPr>
        <p:spPr>
          <a:xfrm>
            <a:off x="6358142" y="1811580"/>
            <a:ext cx="2196135" cy="684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95000"/>
              </a:lnSpc>
              <a:spcBef>
                <a:spcPts val="0"/>
              </a:spcBef>
              <a:spcAft>
                <a:spcPts val="0"/>
              </a:spcAft>
              <a:buNone/>
            </a:pPr>
            <a:r>
              <a:rPr lang="en-GB" sz="1400">
                <a:solidFill>
                  <a:srgbClr val="FF0000"/>
                </a:solidFill>
                <a:latin typeface="Century Gothic"/>
                <a:ea typeface="Century Gothic"/>
                <a:cs typeface="Century Gothic"/>
                <a:sym typeface="Century Gothic"/>
              </a:rPr>
              <a:t>Standardization…</a:t>
            </a:r>
            <a:endParaRPr sz="1400">
              <a:solidFill>
                <a:srgbClr val="FF0000"/>
              </a:solidFill>
              <a:latin typeface="Century Gothic"/>
              <a:ea typeface="Century Gothic"/>
              <a:cs typeface="Century Gothic"/>
              <a:sym typeface="Century Gothic"/>
            </a:endParaRPr>
          </a:p>
        </p:txBody>
      </p:sp>
      <p:sp>
        <p:nvSpPr>
          <p:cNvPr id="4724" name="Google Shape;4724;p258"/>
          <p:cNvSpPr txBox="1"/>
          <p:nvPr/>
        </p:nvSpPr>
        <p:spPr>
          <a:xfrm>
            <a:off x="6358142" y="2545247"/>
            <a:ext cx="2196135" cy="684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95000"/>
              </a:lnSpc>
              <a:spcBef>
                <a:spcPts val="0"/>
              </a:spcBef>
              <a:spcAft>
                <a:spcPts val="0"/>
              </a:spcAft>
              <a:buNone/>
            </a:pPr>
            <a:r>
              <a:rPr lang="en-GB" sz="1400">
                <a:solidFill>
                  <a:srgbClr val="FF0000"/>
                </a:solidFill>
                <a:latin typeface="Century Gothic"/>
                <a:ea typeface="Century Gothic"/>
                <a:cs typeface="Century Gothic"/>
                <a:sym typeface="Century Gothic"/>
              </a:rPr>
              <a:t>Simplification…</a:t>
            </a:r>
            <a:endParaRPr sz="1400">
              <a:solidFill>
                <a:srgbClr val="FF0000"/>
              </a:solidFill>
              <a:latin typeface="Century Gothic"/>
              <a:ea typeface="Century Gothic"/>
              <a:cs typeface="Century Gothic"/>
              <a:sym typeface="Century Gothic"/>
            </a:endParaRPr>
          </a:p>
        </p:txBody>
      </p:sp>
      <p:sp>
        <p:nvSpPr>
          <p:cNvPr id="4725" name="Google Shape;4725;p258"/>
          <p:cNvSpPr txBox="1"/>
          <p:nvPr/>
        </p:nvSpPr>
        <p:spPr>
          <a:xfrm>
            <a:off x="6358142" y="3278913"/>
            <a:ext cx="2196135" cy="684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95000"/>
              </a:lnSpc>
              <a:spcBef>
                <a:spcPts val="0"/>
              </a:spcBef>
              <a:spcAft>
                <a:spcPts val="0"/>
              </a:spcAft>
              <a:buNone/>
            </a:pPr>
            <a:r>
              <a:rPr lang="en-GB" sz="1400">
                <a:solidFill>
                  <a:srgbClr val="FF0000"/>
                </a:solidFill>
                <a:latin typeface="Century Gothic"/>
                <a:ea typeface="Century Gothic"/>
                <a:cs typeface="Century Gothic"/>
                <a:sym typeface="Century Gothic"/>
              </a:rPr>
              <a:t>Consolidation…</a:t>
            </a:r>
            <a:endParaRPr sz="1400">
              <a:solidFill>
                <a:srgbClr val="FF0000"/>
              </a:solidFill>
              <a:latin typeface="Century Gothic"/>
              <a:ea typeface="Century Gothic"/>
              <a:cs typeface="Century Gothic"/>
              <a:sym typeface="Century Gothic"/>
            </a:endParaRPr>
          </a:p>
        </p:txBody>
      </p:sp>
      <p:sp>
        <p:nvSpPr>
          <p:cNvPr id="4726" name="Google Shape;4726;p258">
            <a:hlinkClick action="ppaction://hlinksldjump" r:id="rId4"/>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Enterprise Performance Management</a:t>
            </a:r>
            <a:endParaRPr sz="750">
              <a:solidFill>
                <a:schemeClr val="lt1"/>
              </a:solidFill>
              <a:latin typeface="Century Gothic"/>
              <a:ea typeface="Century Gothic"/>
              <a:cs typeface="Century Gothic"/>
              <a:sym typeface="Century Gothic"/>
            </a:endParaRPr>
          </a:p>
        </p:txBody>
      </p:sp>
      <p:grpSp>
        <p:nvGrpSpPr>
          <p:cNvPr id="4727" name="Google Shape;4727;p258"/>
          <p:cNvGrpSpPr/>
          <p:nvPr/>
        </p:nvGrpSpPr>
        <p:grpSpPr>
          <a:xfrm>
            <a:off x="488950" y="1077913"/>
            <a:ext cx="5808183" cy="684000"/>
            <a:chOff x="462442" y="1276350"/>
            <a:chExt cx="5808183" cy="597600"/>
          </a:xfrm>
        </p:grpSpPr>
        <p:sp>
          <p:nvSpPr>
            <p:cNvPr id="4728" name="Google Shape;4728;p258"/>
            <p:cNvSpPr/>
            <p:nvPr/>
          </p:nvSpPr>
          <p:spPr>
            <a:xfrm>
              <a:off x="2600325" y="1276350"/>
              <a:ext cx="3670300" cy="597600"/>
            </a:xfrm>
            <a:prstGeom prst="rect">
              <a:avLst/>
            </a:prstGeom>
            <a:solidFill>
              <a:schemeClr val="lt2"/>
            </a:solidFill>
            <a:ln>
              <a:noFill/>
            </a:ln>
          </p:spPr>
          <p:txBody>
            <a:bodyPr anchorCtr="0" anchor="ctr" bIns="91425" lIns="365750" spcFirstLastPara="1" rIns="91425" wrap="square" tIns="91425">
              <a:noAutofit/>
            </a:bodyPr>
            <a:lstStyle/>
            <a:p>
              <a:pPr indent="0" lvl="0" marL="0" marR="0" rtl="0" algn="l">
                <a:spcBef>
                  <a:spcPts val="0"/>
                </a:spcBef>
                <a:spcAft>
                  <a:spcPts val="0"/>
                </a:spcAft>
                <a:buNone/>
              </a:pPr>
              <a:r>
                <a:rPr lang="en-GB" sz="1000">
                  <a:solidFill>
                    <a:schemeClr val="dk1"/>
                  </a:solidFill>
                  <a:latin typeface="Century Gothic"/>
                  <a:ea typeface="Century Gothic"/>
                  <a:cs typeface="Century Gothic"/>
                  <a:sym typeface="Century Gothic"/>
                </a:rPr>
                <a:t>Less time required for manual data massaging activities. Less need for individual data marts and applications. Less need for advanced Excel files…</a:t>
              </a:r>
              <a:endParaRPr/>
            </a:p>
          </p:txBody>
        </p:sp>
        <p:sp>
          <p:nvSpPr>
            <p:cNvPr id="4729" name="Google Shape;4729;p258"/>
            <p:cNvSpPr/>
            <p:nvPr/>
          </p:nvSpPr>
          <p:spPr>
            <a:xfrm>
              <a:off x="462442" y="1276350"/>
              <a:ext cx="2357120" cy="597600"/>
            </a:xfrm>
            <a:prstGeom prst="homePlate">
              <a:avLst>
                <a:gd fmla="val 23856" name="adj"/>
              </a:avLst>
            </a:prstGeom>
            <a:solidFill>
              <a:srgbClr val="EC881D"/>
            </a:solidFill>
            <a:ln>
              <a:noFill/>
            </a:ln>
          </p:spPr>
          <p:txBody>
            <a:bodyPr anchorCtr="0" anchor="ctr" bIns="91425" lIns="108000" spcFirstLastPara="1" rIns="228600" wrap="square" tIns="91425">
              <a:noAutofit/>
            </a:bodyPr>
            <a:lstStyle/>
            <a:p>
              <a:pPr indent="0" lvl="0" marL="0" marR="0" rtl="0" algn="l">
                <a:spcBef>
                  <a:spcPts val="0"/>
                </a:spcBef>
                <a:spcAft>
                  <a:spcPts val="0"/>
                </a:spcAft>
                <a:buNone/>
              </a:pPr>
              <a:r>
                <a:rPr b="1" lang="en-GB" sz="1200">
                  <a:solidFill>
                    <a:srgbClr val="FFFFFF"/>
                  </a:solidFill>
                  <a:latin typeface="Century Gothic"/>
                  <a:ea typeface="Century Gothic"/>
                  <a:cs typeface="Century Gothic"/>
                  <a:sym typeface="Century Gothic"/>
                </a:rPr>
                <a:t>Reduce Enterprise Cost</a:t>
              </a:r>
              <a:endParaRPr/>
            </a:p>
          </p:txBody>
        </p:sp>
      </p:grpSp>
      <p:grpSp>
        <p:nvGrpSpPr>
          <p:cNvPr id="4730" name="Google Shape;4730;p258"/>
          <p:cNvGrpSpPr/>
          <p:nvPr/>
        </p:nvGrpSpPr>
        <p:grpSpPr>
          <a:xfrm>
            <a:off x="488950" y="1811580"/>
            <a:ext cx="5808440" cy="684000"/>
            <a:chOff x="462442" y="1955625"/>
            <a:chExt cx="5808440" cy="597600"/>
          </a:xfrm>
        </p:grpSpPr>
        <p:sp>
          <p:nvSpPr>
            <p:cNvPr id="4731" name="Google Shape;4731;p258"/>
            <p:cNvSpPr/>
            <p:nvPr/>
          </p:nvSpPr>
          <p:spPr>
            <a:xfrm>
              <a:off x="2565974" y="1955625"/>
              <a:ext cx="3704908" cy="597600"/>
            </a:xfrm>
            <a:prstGeom prst="rect">
              <a:avLst/>
            </a:prstGeom>
            <a:solidFill>
              <a:schemeClr val="lt2"/>
            </a:solidFill>
            <a:ln>
              <a:noFill/>
            </a:ln>
          </p:spPr>
          <p:txBody>
            <a:bodyPr anchorCtr="0" anchor="ctr" bIns="91425" lIns="365750" spcFirstLastPara="1" rIns="91425" wrap="square" tIns="91425">
              <a:noAutofit/>
            </a:bodyPr>
            <a:lstStyle/>
            <a:p>
              <a:pPr indent="0" lvl="0" marL="0" marR="0" rtl="0" algn="l">
                <a:spcBef>
                  <a:spcPts val="0"/>
                </a:spcBef>
                <a:spcAft>
                  <a:spcPts val="0"/>
                </a:spcAft>
                <a:buNone/>
              </a:pPr>
              <a:r>
                <a:rPr lang="en-GB" sz="1000">
                  <a:solidFill>
                    <a:schemeClr val="dk1"/>
                  </a:solidFill>
                  <a:latin typeface="Century Gothic"/>
                  <a:ea typeface="Century Gothic"/>
                  <a:cs typeface="Century Gothic"/>
                  <a:sym typeface="Century Gothic"/>
                </a:rPr>
                <a:t>Input data for EPM activities are transformed according commonly defined definitions and business rules. Full traceability from Output to data source.</a:t>
              </a:r>
              <a:endParaRPr/>
            </a:p>
          </p:txBody>
        </p:sp>
        <p:sp>
          <p:nvSpPr>
            <p:cNvPr id="4732" name="Google Shape;4732;p258"/>
            <p:cNvSpPr/>
            <p:nvPr/>
          </p:nvSpPr>
          <p:spPr>
            <a:xfrm>
              <a:off x="462442" y="1955625"/>
              <a:ext cx="2357120" cy="597600"/>
            </a:xfrm>
            <a:prstGeom prst="homePlate">
              <a:avLst>
                <a:gd fmla="val 23856" name="adj"/>
              </a:avLst>
            </a:prstGeom>
            <a:solidFill>
              <a:srgbClr val="EC881D"/>
            </a:solidFill>
            <a:ln>
              <a:noFill/>
            </a:ln>
          </p:spPr>
          <p:txBody>
            <a:bodyPr anchorCtr="0" anchor="ctr" bIns="91425" lIns="108000" spcFirstLastPara="1" rIns="228600" wrap="square" tIns="91425">
              <a:noAutofit/>
            </a:bodyPr>
            <a:lstStyle/>
            <a:p>
              <a:pPr indent="0" lvl="0" marL="0" marR="0" rtl="0" algn="l">
                <a:spcBef>
                  <a:spcPts val="0"/>
                </a:spcBef>
                <a:spcAft>
                  <a:spcPts val="0"/>
                </a:spcAft>
                <a:buNone/>
              </a:pPr>
              <a:r>
                <a:rPr b="1" lang="en-GB" sz="1200">
                  <a:solidFill>
                    <a:srgbClr val="FFFFFF"/>
                  </a:solidFill>
                  <a:latin typeface="Century Gothic"/>
                  <a:ea typeface="Century Gothic"/>
                  <a:cs typeface="Century Gothic"/>
                  <a:sym typeface="Century Gothic"/>
                </a:rPr>
                <a:t>Provide Greater Transparency </a:t>
              </a:r>
              <a:endParaRPr/>
            </a:p>
          </p:txBody>
        </p:sp>
      </p:grpSp>
      <p:grpSp>
        <p:nvGrpSpPr>
          <p:cNvPr id="4733" name="Google Shape;4733;p258"/>
          <p:cNvGrpSpPr/>
          <p:nvPr/>
        </p:nvGrpSpPr>
        <p:grpSpPr>
          <a:xfrm>
            <a:off x="488950" y="2545247"/>
            <a:ext cx="5800246" cy="684000"/>
            <a:chOff x="462442" y="2631411"/>
            <a:chExt cx="5800246" cy="597600"/>
          </a:xfrm>
        </p:grpSpPr>
        <p:sp>
          <p:nvSpPr>
            <p:cNvPr id="4734" name="Google Shape;4734;p258"/>
            <p:cNvSpPr/>
            <p:nvPr/>
          </p:nvSpPr>
          <p:spPr>
            <a:xfrm>
              <a:off x="2557780" y="2631411"/>
              <a:ext cx="3704908" cy="597600"/>
            </a:xfrm>
            <a:prstGeom prst="rect">
              <a:avLst/>
            </a:prstGeom>
            <a:solidFill>
              <a:schemeClr val="lt2"/>
            </a:solidFill>
            <a:ln>
              <a:noFill/>
            </a:ln>
          </p:spPr>
          <p:txBody>
            <a:bodyPr anchorCtr="0" anchor="ctr" bIns="91425" lIns="365750" spcFirstLastPara="1" rIns="91425" wrap="square" tIns="91425">
              <a:noAutofit/>
            </a:bodyPr>
            <a:lstStyle/>
            <a:p>
              <a:pPr indent="0" lvl="0" marL="0" marR="0" rtl="0" algn="l">
                <a:spcBef>
                  <a:spcPts val="0"/>
                </a:spcBef>
                <a:spcAft>
                  <a:spcPts val="0"/>
                </a:spcAft>
                <a:buNone/>
              </a:pPr>
              <a:r>
                <a:rPr lang="en-GB" sz="1000">
                  <a:solidFill>
                    <a:schemeClr val="dk1"/>
                  </a:solidFill>
                  <a:latin typeface="Century Gothic"/>
                  <a:ea typeface="Century Gothic"/>
                  <a:cs typeface="Century Gothic"/>
                  <a:sym typeface="Century Gothic"/>
                </a:rPr>
                <a:t>Reporting and budget/forecasting cycles are shortened and Output includes ability to drill-down to more details.</a:t>
              </a:r>
              <a:endParaRPr/>
            </a:p>
          </p:txBody>
        </p:sp>
        <p:sp>
          <p:nvSpPr>
            <p:cNvPr id="4735" name="Google Shape;4735;p258"/>
            <p:cNvSpPr/>
            <p:nvPr/>
          </p:nvSpPr>
          <p:spPr>
            <a:xfrm>
              <a:off x="462442" y="2631411"/>
              <a:ext cx="2357120" cy="597600"/>
            </a:xfrm>
            <a:prstGeom prst="homePlate">
              <a:avLst>
                <a:gd fmla="val 23856" name="adj"/>
              </a:avLst>
            </a:prstGeom>
            <a:solidFill>
              <a:srgbClr val="EC881D"/>
            </a:solidFill>
            <a:ln>
              <a:noFill/>
            </a:ln>
          </p:spPr>
          <p:txBody>
            <a:bodyPr anchorCtr="0" anchor="ctr" bIns="91425" lIns="108000" spcFirstLastPara="1" rIns="228600" wrap="square" tIns="91425">
              <a:noAutofit/>
            </a:bodyPr>
            <a:lstStyle/>
            <a:p>
              <a:pPr indent="0" lvl="0" marL="0" marR="0" rtl="0" algn="l">
                <a:spcBef>
                  <a:spcPts val="0"/>
                </a:spcBef>
                <a:spcAft>
                  <a:spcPts val="0"/>
                </a:spcAft>
                <a:buNone/>
              </a:pPr>
              <a:r>
                <a:rPr b="1" lang="en-GB" sz="1200">
                  <a:solidFill>
                    <a:srgbClr val="FFFFFF"/>
                  </a:solidFill>
                  <a:latin typeface="Century Gothic"/>
                  <a:ea typeface="Century Gothic"/>
                  <a:cs typeface="Century Gothic"/>
                  <a:sym typeface="Century Gothic"/>
                </a:rPr>
                <a:t>Make Faster, Better Decisions</a:t>
              </a:r>
              <a:endParaRPr/>
            </a:p>
          </p:txBody>
        </p:sp>
      </p:grpSp>
      <p:grpSp>
        <p:nvGrpSpPr>
          <p:cNvPr id="4736" name="Google Shape;4736;p258"/>
          <p:cNvGrpSpPr/>
          <p:nvPr/>
        </p:nvGrpSpPr>
        <p:grpSpPr>
          <a:xfrm>
            <a:off x="488950" y="3278913"/>
            <a:ext cx="5800246" cy="684000"/>
            <a:chOff x="462442" y="3299050"/>
            <a:chExt cx="5800246" cy="597600"/>
          </a:xfrm>
        </p:grpSpPr>
        <p:sp>
          <p:nvSpPr>
            <p:cNvPr id="4737" name="Google Shape;4737;p258"/>
            <p:cNvSpPr/>
            <p:nvPr/>
          </p:nvSpPr>
          <p:spPr>
            <a:xfrm>
              <a:off x="2557780" y="3299050"/>
              <a:ext cx="3704908" cy="597600"/>
            </a:xfrm>
            <a:prstGeom prst="rect">
              <a:avLst/>
            </a:prstGeom>
            <a:solidFill>
              <a:schemeClr val="lt2"/>
            </a:solidFill>
            <a:ln>
              <a:noFill/>
            </a:ln>
          </p:spPr>
          <p:txBody>
            <a:bodyPr anchorCtr="0" anchor="ctr" bIns="91425" lIns="365750" spcFirstLastPara="1" rIns="91425" wrap="square" tIns="91425">
              <a:noAutofit/>
            </a:bodyPr>
            <a:lstStyle/>
            <a:p>
              <a:pPr indent="0" lvl="0" marL="0" marR="0" rtl="0" algn="l">
                <a:spcBef>
                  <a:spcPts val="0"/>
                </a:spcBef>
                <a:spcAft>
                  <a:spcPts val="0"/>
                </a:spcAft>
                <a:buNone/>
              </a:pPr>
              <a:r>
                <a:rPr lang="en-GB" sz="1000">
                  <a:solidFill>
                    <a:schemeClr val="dk1"/>
                  </a:solidFill>
                  <a:latin typeface="Century Gothic"/>
                  <a:ea typeface="Century Gothic"/>
                  <a:cs typeface="Century Gothic"/>
                  <a:sym typeface="Century Gothic"/>
                </a:rPr>
                <a:t>Having a single integrated data set for EPM activities based on common definitions and business rules ensures Output is consistent with improved data quality.</a:t>
              </a:r>
              <a:endParaRPr/>
            </a:p>
          </p:txBody>
        </p:sp>
        <p:sp>
          <p:nvSpPr>
            <p:cNvPr id="4738" name="Google Shape;4738;p258"/>
            <p:cNvSpPr/>
            <p:nvPr/>
          </p:nvSpPr>
          <p:spPr>
            <a:xfrm>
              <a:off x="462442" y="3299050"/>
              <a:ext cx="2357120" cy="597600"/>
            </a:xfrm>
            <a:prstGeom prst="homePlate">
              <a:avLst>
                <a:gd fmla="val 23856" name="adj"/>
              </a:avLst>
            </a:prstGeom>
            <a:solidFill>
              <a:srgbClr val="EC881D"/>
            </a:solidFill>
            <a:ln>
              <a:noFill/>
            </a:ln>
          </p:spPr>
          <p:txBody>
            <a:bodyPr anchorCtr="0" anchor="ctr" bIns="91425" lIns="108000" spcFirstLastPara="1" rIns="228600" wrap="square" tIns="91425">
              <a:noAutofit/>
            </a:bodyPr>
            <a:lstStyle/>
            <a:p>
              <a:pPr indent="0" lvl="0" marL="0" marR="0" rtl="0" algn="l">
                <a:spcBef>
                  <a:spcPts val="0"/>
                </a:spcBef>
                <a:spcAft>
                  <a:spcPts val="0"/>
                </a:spcAft>
                <a:buNone/>
              </a:pPr>
              <a:r>
                <a:rPr b="1" lang="en-GB" sz="1200">
                  <a:solidFill>
                    <a:srgbClr val="FFFFFF"/>
                  </a:solidFill>
                  <a:latin typeface="Century Gothic"/>
                  <a:ea typeface="Century Gothic"/>
                  <a:cs typeface="Century Gothic"/>
                  <a:sym typeface="Century Gothic"/>
                </a:rPr>
                <a:t>Data quality and consistency</a:t>
              </a:r>
              <a:endParaRPr b="1" sz="1200">
                <a:solidFill>
                  <a:srgbClr val="FFFFFF"/>
                </a:solidFill>
                <a:latin typeface="Century Gothic"/>
                <a:ea typeface="Century Gothic"/>
                <a:cs typeface="Century Gothic"/>
                <a:sym typeface="Century Gothic"/>
              </a:endParaRPr>
            </a:p>
          </p:txBody>
        </p:sp>
      </p:grpSp>
      <p:sp>
        <p:nvSpPr>
          <p:cNvPr id="4739" name="Google Shape;4739;p258"/>
          <p:cNvSpPr/>
          <p:nvPr/>
        </p:nvSpPr>
        <p:spPr>
          <a:xfrm>
            <a:off x="488950" y="4066503"/>
            <a:ext cx="8136847" cy="702078"/>
          </a:xfrm>
          <a:prstGeom prst="rect">
            <a:avLst/>
          </a:prstGeom>
          <a:solidFill>
            <a:srgbClr val="005AA4"/>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1200">
                <a:solidFill>
                  <a:srgbClr val="FFFFFF"/>
                </a:solidFill>
                <a:latin typeface="Century Gothic"/>
                <a:ea typeface="Century Gothic"/>
                <a:cs typeface="Century Gothic"/>
                <a:sym typeface="Century Gothic"/>
              </a:rPr>
              <a:t>“In essence, the goal is to flip FP&amp;A’s emphasis from a rear-view mirror, where it focuses on detailed variance reporting and analysis, into predictive analysis of key operational drivers and trends, providing real value for decision-making.”  </a:t>
            </a:r>
            <a:r>
              <a:rPr lang="en-GB" sz="900">
                <a:solidFill>
                  <a:srgbClr val="FFFFFF"/>
                </a:solidFill>
                <a:latin typeface="Century Gothic"/>
                <a:ea typeface="Century Gothic"/>
                <a:cs typeface="Century Gothic"/>
                <a:sym typeface="Century Gothic"/>
              </a:rPr>
              <a:t>(Source:  Four Cornerstones for EPM Success – The Hackett Group)</a:t>
            </a:r>
            <a:endParaRPr sz="900">
              <a:solidFill>
                <a:srgbClr val="FFFFFF"/>
              </a:solidFill>
              <a:latin typeface="Century Gothic"/>
              <a:ea typeface="Century Gothic"/>
              <a:cs typeface="Century Gothic"/>
              <a:sym typeface="Century Gothic"/>
            </a:endParaRP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Box 2"/>
          <p:cNvSpPr txBox="1"/>
          <p:nvPr/>
        </p:nvSpPr>
        <p:spPr>
          <a:xfrm>
            <a:off x="400000" y="900000"/>
            <a:ext cx="8300000" cy="3800000"/>
          </a:xfrm>
          <a:prstGeom prst="rect">
            <a:avLst/>
          </a:prstGeom>
          <a:noFill/>
        </p:spPr>
        <p:txBody>
          <a:bodyPr wrap="square">
            <a:spAutoFit/>
          </a:bodyPr>
          <a:lstStyle/>
          <a:p>
            <a:r>
              <a:rPr sz="1600" b="1">
                <a:solidFill>
                  <a:srgbClr val="003366"/>
                </a:solidFill>
              </a:rPr>
              <a:t>Finance &amp; Performance Management — At a Glance</a:t>
            </a:r>
          </a:p>
          <a:p/>
          <a:p>
            <a:r>
              <a:rPr sz="800">
                <a:latin typeface="Consolas"/>
              </a:rPr>
              <a:t>                                  Global          South Asia &amp; ME    Pakistan</a:t>
            </a:r>
          </a:p>
          <a:p>
            <a:r>
              <a:rPr sz="800">
                <a:latin typeface="Consolas"/>
              </a:rPr>
              <a:t>───────────────────────────────────────────────────────────────────────────────</a:t>
            </a:r>
          </a:p>
          <a:p>
            <a:r>
              <a:rPr sz="800">
                <a:latin typeface="Consolas"/>
              </a:rPr>
              <a:t>Monthly close cycle               3-5 days        7-15 days          15-30 days</a:t>
            </a:r>
          </a:p>
          <a:p>
            <a:r>
              <a:rPr sz="800">
                <a:latin typeface="Consolas"/>
              </a:rPr>
              <a:t>Financial consolidation auto      80%+ top banks  40-50%             &lt;25%</a:t>
            </a:r>
          </a:p>
          <a:p>
            <a:r>
              <a:rPr sz="800">
                <a:latin typeface="Consolas"/>
              </a:rPr>
              <a:t>Activity-based costing            60% large banks 20-30%             &lt;10%</a:t>
            </a:r>
          </a:p>
          <a:p>
            <a:r>
              <a:rPr sz="800">
                <a:latin typeface="Consolas"/>
              </a:rPr>
              <a:t>IFRS 9 ECL automation             70%+ EU/UK      30-40%             20-30% (SBP mandate)</a:t>
            </a:r>
          </a:p>
          <a:p>
            <a:r>
              <a:rPr sz="800">
                <a:latin typeface="Consolas"/>
              </a:rPr>
              <a:t>FTP engine deployed               80% large banks 40-50%             ~30% (KIBOR-based)</a:t>
            </a:r>
          </a:p>
          <a:p>
            <a:r>
              <a:rPr sz="800">
                <a:latin typeface="Consolas"/>
              </a:rPr>
              <a:t>Branch-level P&amp;L                  Standard        Emerging           Rare (&lt;15%)</a:t>
            </a:r>
          </a:p>
          <a:p>
            <a:r>
              <a:rPr sz="800">
                <a:latin typeface="Consolas"/>
              </a:rPr>
              <a:t>Islamic accounting (AAOIFI)       N/A             Required Islamic   Dual IFRS + AAOIFI</a:t>
            </a:r>
          </a:p>
          <a:p>
            <a:r>
              <a:rPr sz="800">
                <a:latin typeface="Consolas"/>
              </a:rPr>
              <a:t>───────────────────────────────────────────────────────────────────────────────</a:t>
            </a:r>
          </a:p>
          <a:p/>
          <a:p>
            <a:r>
              <a:rPr sz="800" b="1">
                <a:solidFill>
                  <a:srgbClr val="006699"/>
                </a:solidFill>
              </a:rPr>
              <a:t>BVF Sub-capabilities: 35 (11 Acctg Ops + 11 EPM + 7 Treasury + 6 Reporting) | FSDM Entities: ~200+ | BACR: ~150 | Maturity: Developing &gt; Innovating</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Box 2"/>
          <p:cNvSpPr txBox="1"/>
          <p:nvPr/>
        </p:nvSpPr>
        <p:spPr>
          <a:xfrm>
            <a:off x="400000" y="850000"/>
            <a:ext cx="8300000" cy="4000000"/>
          </a:xfrm>
          <a:prstGeom prst="rect">
            <a:avLst/>
          </a:prstGeom>
          <a:noFill/>
        </p:spPr>
        <p:txBody>
          <a:bodyPr wrap="square">
            <a:spAutoFit/>
          </a:bodyPr>
          <a:lstStyle/>
          <a:p>
            <a:r>
              <a:rPr sz="1100" b="1">
                <a:solidFill>
                  <a:srgbClr val="003366"/>
                </a:solidFill>
              </a:rPr>
              <a:t>Regulatory Framework</a:t>
            </a:r>
          </a:p>
          <a:p>
            <a:r>
              <a:rPr sz="900"/>
              <a:t>  SBP: 30+ statutory returns (weekly, monthly, quarterly, annual)</a:t>
            </a:r>
          </a:p>
          <a:p>
            <a:r>
              <a:rPr sz="900"/>
              <a:t>  IFRS 9: ECL provisioning mandate (2018+), IFRS 17: Takaful/insurance (2025)</a:t>
            </a:r>
          </a:p>
          <a:p>
            <a:r>
              <a:rPr sz="900"/>
              <a:t>  AAOIFI: Islamic banking accounting standards, Basel III: CAR min 11.5%, LCR/NSFR</a:t>
            </a:r>
          </a:p>
          <a:p>
            <a:r>
              <a:rPr sz="900"/>
              <a:t>  FBR: Corporate tax 39% + super tax 10%, WHT on deposits 15%/30%</a:t>
            </a:r>
          </a:p>
          <a:p/>
          <a:p>
            <a:r>
              <a:rPr sz="1100" b="1">
                <a:solidFill>
                  <a:srgbClr val="003366"/>
                </a:solidFill>
              </a:rPr>
              <a:t>Key Challenges</a:t>
            </a:r>
          </a:p>
          <a:p>
            <a:r>
              <a:rPr sz="900"/>
              <a:t>  4-5 core banking systems per bank — fragmented GL/sub-ledger data</a:t>
            </a:r>
          </a:p>
          <a:p>
            <a:r>
              <a:rPr sz="900"/>
              <a:t>  Islamic banking windows require parallel IFRS + AAOIFI accounting</a:t>
            </a:r>
          </a:p>
          <a:p>
            <a:r>
              <a:rPr sz="900"/>
              <a:t>  Monthly close 15-30 days (vs 3-5 day global benchmark)</a:t>
            </a:r>
          </a:p>
          <a:p>
            <a:r>
              <a:rPr sz="900"/>
              <a:t>  Branch-level P&amp;L not available at most banks (16,000+ branches)</a:t>
            </a:r>
          </a:p>
          <a:p>
            <a:r>
              <a:rPr sz="900"/>
              <a:t>  FTP engines use simplified KIBOR spreads, not yield-curve based</a:t>
            </a:r>
          </a:p>
          <a:p/>
          <a:p>
            <a:r>
              <a:rPr sz="1100" b="1">
                <a:solidFill>
                  <a:srgbClr val="003366"/>
                </a:solidFill>
              </a:rPr>
              <a:t>Pakistan Banking Finance Metrics</a:t>
            </a:r>
          </a:p>
          <a:p>
            <a:r>
              <a:rPr sz="900"/>
              <a:t>  Assets: PKR 35T+ (~$125B) | Deposits: PKR 25T+ | Advances: PKR 13T+</a:t>
            </a:r>
          </a:p>
          <a:p>
            <a:r>
              <a:rPr sz="900"/>
              <a:t>  NPLs: ~7.5% (PKR 900B+) | CASA: ~47% | Banks: 33 scheduled + 5 Islamic + 11 MFB</a:t>
            </a:r>
          </a:p>
          <a:p>
            <a:r>
              <a:rPr sz="900"/>
              <a:t>  SBP rate: 17.5% | WHT: 15% filers / 30% non-filers | Effective tax: ~49%</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Box 2"/>
          <p:cNvSpPr txBox="1"/>
          <p:nvPr/>
        </p:nvSpPr>
        <p:spPr>
          <a:xfrm>
            <a:off x="400000" y="850000"/>
            <a:ext cx="8300000" cy="3900000"/>
          </a:xfrm>
          <a:prstGeom prst="rect">
            <a:avLst/>
          </a:prstGeom>
          <a:noFill/>
        </p:spPr>
        <p:txBody>
          <a:bodyPr wrap="square">
            <a:spAutoFit/>
          </a:bodyPr>
          <a:lstStyle/>
          <a:p>
            <a:r>
              <a:rPr sz="1600" b="1">
                <a:solidFill>
                  <a:srgbClr val="003366"/>
                </a:solidFill>
              </a:rPr>
              <a:t>Implementation Roadmap</a:t>
            </a:r>
          </a:p>
          <a:p/>
          <a:p>
            <a:r>
              <a:rPr sz="1100" b="1">
                <a:solidFill>
                  <a:srgbClr val="006633"/>
                </a:solidFill>
              </a:rPr>
              <a:t>Phase 1: Accounting Foundation (0-6 months) — PKR 50-100M</a:t>
            </a:r>
          </a:p>
          <a:p>
            <a:r>
              <a:rPr sz="900"/>
              <a:t>  Unified chart of accounts across all core banking systems</a:t>
            </a:r>
          </a:p>
          <a:p>
            <a:r>
              <a:rPr sz="900"/>
              <a:t>  Sub-ledger integration for top 3 product systems (CASA, lending, cards)</a:t>
            </a:r>
          </a:p>
          <a:p>
            <a:r>
              <a:rPr sz="900"/>
              <a:t>  IFRS 9 ECL data pipeline automation</a:t>
            </a:r>
          </a:p>
          <a:p>
            <a:r>
              <a:rPr sz="900"/>
              <a:t>  Automated GL-to-sub-ledger reconciliation</a:t>
            </a:r>
          </a:p>
          <a:p>
            <a:r>
              <a:rPr sz="900"/>
              <a:t>  Quick Win: Close cycle from 30 to 15 days</a:t>
            </a:r>
          </a:p>
          <a:p/>
          <a:p>
            <a:r>
              <a:rPr sz="1100" b="1">
                <a:solidFill>
                  <a:srgbClr val="003399"/>
                </a:solidFill>
              </a:rPr>
              <a:t>Phase 2: Performance Analytics (6-18 months) — PKR 120-250M</a:t>
            </a:r>
          </a:p>
          <a:p>
            <a:r>
              <a:rPr sz="900"/>
              <a:t>  Funds Transfer Pricing engine (KIBOR yield-curve based)</a:t>
            </a:r>
          </a:p>
          <a:p>
            <a:r>
              <a:rPr sz="900"/>
              <a:t>  Activity-based costing framework (branch, digital, ATM, agent)</a:t>
            </a:r>
          </a:p>
          <a:p>
            <a:r>
              <a:rPr sz="900"/>
              <a:t>  Branch-level P&amp;L for all 16,000+ branches</a:t>
            </a:r>
          </a:p>
          <a:p>
            <a:r>
              <a:rPr sz="900"/>
              <a:t>  Customer profitability engine (building on UBL FSDM foundation)</a:t>
            </a:r>
          </a:p>
          <a:p>
            <a:r>
              <a:rPr sz="900"/>
              <a:t>  Expected: Identify PKR 5B+ in cost optimization</a:t>
            </a:r>
          </a:p>
          <a:p/>
          <a:p>
            <a:r>
              <a:rPr sz="1100" b="1">
                <a:solidFill>
                  <a:srgbClr val="990033"/>
                </a:solidFill>
              </a:rPr>
              <a:t>Phase 3: Enterprise Finance Intelligence (18-36 months) — PKR 200-400M</a:t>
            </a:r>
          </a:p>
          <a:p>
            <a:r>
              <a:rPr sz="900"/>
              <a:t>  Real-time financial consolidation across all entities</a:t>
            </a:r>
          </a:p>
          <a:p>
            <a:r>
              <a:rPr sz="900"/>
              <a:t>  Islamic accounting hub (dual IFRS + AAOIFI)</a:t>
            </a:r>
          </a:p>
          <a:p>
            <a:r>
              <a:rPr sz="900"/>
              <a:t>  Predictive budgeting and rolling forecasts</a:t>
            </a:r>
          </a:p>
          <a:p>
            <a:r>
              <a:rPr sz="900"/>
              <a:t>  Executive finance dashboard with drill-down to transaction level</a:t>
            </a:r>
          </a:p>
          <a:p>
            <a:r>
              <a:rPr sz="900"/>
              <a:t>  Expected: Close in &lt;5 days, 360-degree profitability view</a:t>
            </a:r>
          </a:p>
          <a:p/>
          <a:p>
            <a:r>
              <a:rPr sz="1000" b="1">
                <a:solidFill>
                  <a:srgbClr val="003366"/>
                </a:solidFill>
              </a:rPr>
              <a:t>Total 3-Year Investment: PKR 370-750M (~USD 1.3-2.7M) | Annual Value: PKR 5B+</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Teradata">
      <a:dk1>
        <a:srgbClr val="000000"/>
      </a:dk1>
      <a:lt1>
        <a:srgbClr val="FFFFFF"/>
      </a:lt1>
      <a:dk2>
        <a:srgbClr val="0079DB"/>
      </a:dk2>
      <a:lt2>
        <a:srgbClr val="D8D8D8"/>
      </a:lt2>
      <a:accent1>
        <a:srgbClr val="D56D23"/>
      </a:accent1>
      <a:accent2>
        <a:srgbClr val="BBBCBE"/>
      </a:accent2>
      <a:accent3>
        <a:srgbClr val="5F6062"/>
      </a:accent3>
      <a:accent4>
        <a:srgbClr val="0088A8"/>
      </a:accent4>
      <a:accent5>
        <a:srgbClr val="703092"/>
      </a:accent5>
      <a:accent6>
        <a:srgbClr val="CD391F"/>
      </a:accent6>
      <a:hlink>
        <a:srgbClr val="0079DB"/>
      </a:hlink>
      <a:folHlink>
        <a:srgbClr val="7030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TDC_PPT_16-9_1014-lite">
  <a:themeElements>
    <a:clrScheme name="TeradataPPT2014">
      <a:dk1>
        <a:srgbClr val="3C3C3B"/>
      </a:dk1>
      <a:lt1>
        <a:srgbClr val="FFFFFF"/>
      </a:lt1>
      <a:dk2>
        <a:srgbClr val="0079DB"/>
      </a:dk2>
      <a:lt2>
        <a:srgbClr val="D8D8D8"/>
      </a:lt2>
      <a:accent1>
        <a:srgbClr val="EC881D"/>
      </a:accent1>
      <a:accent2>
        <a:srgbClr val="0079DB"/>
      </a:accent2>
      <a:accent3>
        <a:srgbClr val="CD391F"/>
      </a:accent3>
      <a:accent4>
        <a:srgbClr val="0088A8"/>
      </a:accent4>
      <a:accent5>
        <a:srgbClr val="703092"/>
      </a:accent5>
      <a:accent6>
        <a:srgbClr val="5F6062"/>
      </a:accent6>
      <a:hlink>
        <a:srgbClr val="0079DB"/>
      </a:hlink>
      <a:folHlink>
        <a:srgbClr val="7030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