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19" Type="http://schemas.openxmlformats.org/officeDocument/2006/relationships/slide" Target="slides/slide1.xml"/><Relationship Id="rId20" Type="http://schemas.openxmlformats.org/officeDocument/2006/relationships/slide" Target="slides/slide2.xml"/><Relationship Id="rId21" Type="http://schemas.openxmlformats.org/officeDocument/2006/relationships/slide" Target="slides/slide3.xml"/><Relationship Id="rId22" Type="http://schemas.openxmlformats.org/officeDocument/2006/relationships/slide" Target="slides/slide4.xml"/><Relationship Id="rId23" Type="http://schemas.openxmlformats.org/officeDocument/2006/relationships/slide" Target="slides/slide5.xml"/><Relationship Id="rId24" Type="http://schemas.openxmlformats.org/officeDocument/2006/relationships/slide" Target="slides/slide6.xml"/><Relationship Id="rId25" Type="http://schemas.openxmlformats.org/officeDocument/2006/relationships/slide" Target="slides/slide7.xml"/><Relationship Id="rId26" Type="http://schemas.openxmlformats.org/officeDocument/2006/relationships/slide" Target="slides/slide8.xml"/><Relationship Id="rId27" Type="http://schemas.openxmlformats.org/officeDocument/2006/relationships/slide" Target="slides/slide9.xml"/><Relationship Id="rId28" Type="http://schemas.openxmlformats.org/officeDocument/2006/relationships/slide" Target="slides/slide10.xml"/><Relationship Id="rId29" Type="http://schemas.openxmlformats.org/officeDocument/2006/relationships/slide" Target="slides/slide11.xml"/><Relationship Id="rId30" Type="http://schemas.openxmlformats.org/officeDocument/2006/relationships/slide" Target="slides/slide12.xml"/><Relationship Id="rId31" Type="http://schemas.openxmlformats.org/officeDocument/2006/relationships/slide" Target="slides/slide13.xml"/><Relationship Id="rId32" Type="http://schemas.openxmlformats.org/officeDocument/2006/relationships/slide" Target="slides/slide14.xml"/><Relationship Id="rId33" Type="http://schemas.openxmlformats.org/officeDocument/2006/relationships/slide" Target="slides/slide15.xml"/><Relationship Id="rId34" Type="http://schemas.openxmlformats.org/officeDocument/2006/relationships/slide" Target="slides/slide16.xml"/><Relationship Id="rId35" Type="http://schemas.openxmlformats.org/officeDocument/2006/relationships/slide" Target="slides/slide17.xml"/><Relationship Id="rId36" Type="http://schemas.openxmlformats.org/officeDocument/2006/relationships/slide" Target="slides/slide18.xml"/><Relationship Id="rId37" Type="http://schemas.openxmlformats.org/officeDocument/2006/relationships/slide" Target="slides/slide19.xml"/><Relationship Id="rId38" Type="http://schemas.openxmlformats.org/officeDocument/2006/relationships/slide" Target="slides/slide20.xml"/><Relationship Id="rId39" Type="http://schemas.openxmlformats.org/officeDocument/2006/relationships/slide" Target="slides/slide21.xml"/><Relationship Id="rId40" Type="http://schemas.openxmlformats.org/officeDocument/2006/relationships/slide" Target="slides/slide22.xml"/><Relationship Id="rId41" Type="http://schemas.openxmlformats.org/officeDocument/2006/relationships/slide" Target="slides/slide23.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p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This module covers the Marketing &amp; Customer Experience domain of the BVF framework, contextualized for Pakistan's banking sector where digital adoption is transforming customer engagement. Pakistan has 60M+ bank accounts, 100M+ mobile wallet accounts, and processes PKR 15T+ annually through RAAST/IBFT — creating massive customer interaction data that must be captured, unified, and analyzed to deliver competitive customer experiences. FSDM provides 600+ Customer domain entities supporting the full 360-degree customer view.</a:t>
            </a:r>
            <a:endParaRPr/>
          </a:p>
          <a:p/>
          <a:p>
            <a:r>
              <a:t>Key FSDM entities: PARTY, INDIVIDUAL, ORGANIZATION, CUSTOMER, CONTACT_EVENT, EVENT</a:t>
            </a:r>
          </a:p>
          <a:p>
            <a:r>
              <a:t>BVF Marketing &amp; CX domain: 39 sub-capabilities across 4 sub-areas with 1,045 data requirements</a:t>
            </a:r>
          </a:p>
        </p:txBody>
      </p:sp>
      <p:sp>
        <p:nvSpPr>
          <p:cNvPr id="360" name="Google Shape;360;p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Pakistan's banking sector is at a critical inflection point — traditional branch-based banking is being disrupted by fintechs (JazzCash 40M+ wallets, SadaPay, NayaPay), digital banking licensees (5 new licenses issued by SBP in 2022), and telecom-led financial services. SBP's National Financial Inclusion Strategy targets 50% financial inclusion by 2028 — banks that deliver superior customer analytics capabilities will capture the PKR 500B+ revenue opportunity in Pakistan's underpenetrated financial services market.</a:t>
            </a:r>
            <a:endParaRPr/>
          </a:p>
          <a:p/>
          <a:p>
            <a:r>
              <a:t>The BVF Marketing &amp; CX domain maps directly to FSDM Customer domain entities (INDVDL, ORGN, CSTMR, CNTCT, EVNT) providing the data foundation.</a:t>
            </a:r>
          </a:p>
          <a:p/>
          <a:p>
            <a:r>
              <a:t>Four capability areas: Customer Information Management (10 sub-capabilities), Insight Driven Customer Management (10), Customer Lifecycle Management (9), Customer Interaction Management (10). Total: 39 sub-capabilities with 360 FSDM entity mappings.</a:t>
            </a:r>
          </a:p>
          <a:p/>
          <a:p>
            <a:r>
              <a:t>BACR maturity assessment: Most Pakistani banks at Level 1-2 for customer analytics. Target: Level 3-4 within 24-36 months.</a:t>
            </a: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In Pakistan, customer identification starts with CNIC (Computerized National Identity Card) — the unique 13-digit identifier issued by NADRA. However, a single customer may have accounts across 3-4 banks, JazzCash/Easypaisa wallets, and Roshan Digital Accounts. FSDM's INDVDL_IDNTFCTN entity resolves these to a single customer view.</a:t>
            </a:r>
            <a:endParaRPr/>
          </a:p>
          <a:p/>
          <a:p>
            <a:r>
              <a:t>UBL's challenge: 4-5 core banking systems each maintaining separate customer masters — the FSDM Customer 360 unifies these through FSDM's Party/Individual entity hierarchy (PARTY, INDIVIDUAL, ORGANIZATION entities with 657 total Party Management entities).</a:t>
            </a:r>
          </a:p>
          <a:p/>
          <a:p>
            <a:r>
              <a:t>Key FSDM entities: PARTY, INDIVIDUAL, PARTY_ASSET, PARTY_GROUP, LOCATOR, ELECTRONIC_ADDRESS</a:t>
            </a:r>
          </a:p>
          <a:p>
            <a:r>
              <a:t>BVF sub-capabilities: Single View of Customer, Multi-Dimensional Customer View</a:t>
            </a:r>
          </a:p>
          <a:p>
            <a:r>
              <a:t>BACR maturity: Level 1-2 typical for Pakistani banks in Customer Information Management</a:t>
            </a: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Pakistan's retail banking customer base can be segmented into: Premium (PKR 5M+ relationship, ~2% of customers, 40% of profit), Emerging Affluent (PKR 1-5M, ~8%, 30% of profit), Mass Market (PKR 100K-1M, ~30%, 25% of profit), and Basic (below PKR 100K, ~60%, 5% of profit — but largest growth opportunity).</a:t>
            </a:r>
            <a:endParaRPr/>
          </a:p>
          <a:p/>
          <a:p>
            <a:r>
              <a:t>The profitability engine uses FSDM Finance entities to calculate customer-level NII, fee income, and risk cost. BACR maturity assessment shows most Pakistani banks at Level 1-2 for customer analytics.</a:t>
            </a:r>
          </a:p>
          <a:p/>
          <a:p>
            <a:r>
              <a:t>Key FSDM entities: AGREEMENT, ACCOUNT, AGREEMENT_SUMMARY, EVENT, TRANSACTION</a:t>
            </a:r>
          </a:p>
          <a:p>
            <a:r>
              <a:t>BVF sub-capabilities: Customer Value &amp; Profitability, Customer Satisfaction Indexing, Transaction Classification, Customer Journey Analysis, Customer Segmentation, Event Analytics, Big Data Analytics (113 data requirements — highest complexity)</a:t>
            </a:r>
          </a:p>
          <a:p/>
          <a:p>
            <a:r>
              <a:t>Pakistan market data: Products per customer: 1.8 (vs. 4-5 in mature markets). CASA share: 47% of deposits. SBP policy rate: 17.5%. KIBOR: ~17.8%.</a:t>
            </a: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Pakistan banking lifecycle challenge: Customer acquisition cost is PKR 3,000-5,000 per retail customer, but 30-40% of new accounts become dormant within 12 months. Cross-sell ratios average 1.8 products per customer vs. 4-5 in mature markets. Financial inclusion means 70% of adults are potential new-to-bank customers.</a:t>
            </a:r>
            <a:endParaRPr/>
          </a:p>
          <a:p/>
          <a:p>
            <a:r>
              <a:t>Lifecycle analytics can increase products-per-customer from 1.8 to 3.0+ and reduce dormancy from 35% to 15% — equivalent to PKR 10-15B revenue opportunity for a top-5 bank.</a:t>
            </a:r>
          </a:p>
          <a:p/>
          <a:p>
            <a:r>
              <a:t>Key FSDM entities: AGREEMENT, RELATIONSHIP, PARTY, CAMPAIGN, CAMPAIGN_CELL</a:t>
            </a:r>
          </a:p>
          <a:p>
            <a:r>
              <a:t>BVF sub-capabilities: Customer Acquisition, Customer On-Boarding and Development, Customer Retention, Customer Churn, Cross Sell / Up Sell, Customer Loyalty, Customer Re-engagement</a:t>
            </a:r>
          </a:p>
          <a:p>
            <a:r>
              <a:t>BACR maturity: Level 1-2 for lifecycle management in Pakistani banks</a:t>
            </a: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Pakistan's channel landscape in 2024-2025: Branch network still handles 60% of high-value transactions but digital channels growing 40% YoY. Mobile banking users: 30M+ active. Internet banking: 15M+ active. WhatsApp emerging as customer service channel. RAAST creating new interaction touchpoints (payment notifications, request-to-pay).</a:t>
            </a:r>
            <a:endParaRPr/>
          </a:p>
          <a:p/>
          <a:p>
            <a:r>
              <a:t>The challenge: coordinating interactions across 8+ channels with consistent customer experience. Teradata's RTIM (Real-Time Interaction Manager) capability maps to FSDM Event entities (EVNT, CSTMR_EVNT) for capturing and acting on customer signals.</a:t>
            </a:r>
          </a:p>
          <a:p/>
          <a:p>
            <a:r>
              <a:t>Key FSDM entities: CHANNEL_TYPE, CHANNEL_INSTANCE, DIRECT_CONTACT_EVENT, CALL_CENTER_CONTACT_EVENT, ONLINE_APPLICATION_ACCESS (251 Channel Management entities)</a:t>
            </a:r>
          </a:p>
          <a:p>
            <a:r>
              <a:t>BVF sub-capabilities: Communication Targeting, Next Best Action Arbitration, Contextual Decisioning, Digital Optimization, Contact Optimization, Cross-Channel Customer Experience, Personalization, Multi-Step Campaigns</a:t>
            </a:r>
          </a:p>
          <a:p>
            <a:r>
              <a:t>BACR maturity: Level 1-2 for interaction management in Pakistani banks</a:t>
            </a: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Pakistan's digital advertising market: PKR 30B+ annually (growing 25% YoY). Banking sector digital ad spend: PKR 3-5B. Attribution challenge: customer journey spans offline (branch visit prompted by TV ad) and online (mobile app download from Google ad). Multi-touch attribution models can optimize marketing ROI by 20-30% — shifting spend from low-attribution channels to high-conversion digital touchpoints.</a:t>
            </a:r>
            <a:endParaRPr/>
          </a:p>
          <a:p/>
          <a:p>
            <a:r>
              <a:t>Key FSDM entities: CAMPAIGN, CAMPAIGN_CELL, AD_CAMPAIGN_OBJECTIVE, CAMPAIGN_RESPONSE (154 Campaign/Marketing entities)</a:t>
            </a:r>
          </a:p>
          <a:p>
            <a:r>
              <a:t>BVF sub-capabilities: Marketing Attribution, Brand Analytics, Campaign ROI Reporting by Channel, Marketing Attribution MI across all channels, Earned/Paid/Owned media analysis</a:t>
            </a:r>
          </a:p>
          <a:p>
            <a:r>
              <a:t>BACR maturity: Level 1 for marketing attribution in Pakistani banks — most banks lack any multi-touch attribution capability</a:t>
            </a: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t>These use cases are prioritized for Pakistan banking implementation. Path to Profitable Customer is the highest-priority use case — linking to the FSDM-based Customer Profitability Engine (see profitability_star_schema.sql). Transaction Classification leverages Pakistan's unique payment ecosystem where RAAST, IBFT, POS, ATM, and mobile wallets each carry distinct behavioral signals.</a:t>
            </a:r>
            <a:endParaRPr/>
          </a:p>
          <a:p/>
          <a:p>
            <a:r>
              <a:t>BACR assessment shows most Pakistani banks at Level 1-2 maturity for these capabilities.</a:t>
            </a:r>
          </a:p>
          <a:p/>
          <a:p>
            <a:r>
              <a:t>Use case color coding: Orange = Traditional Teradata/Data Warehouse, Red = Big Data/Advanced Analytics, Blue = Non-Analytical Hadoop/Data Lake.</a:t>
            </a:r>
          </a:p>
          <a:p/>
          <a:p>
            <a:r>
              <a:t>Pakistan-specific priority use cases on this slide:</a:t>
            </a:r>
          </a:p>
          <a:p>
            <a:r>
              <a:t>- Path To Profitable/Unprofitable Customers: KIBOR-spread analysis + fee income + risk cost = true customer profitability</a:t>
            </a:r>
          </a:p>
          <a:p>
            <a:r>
              <a:t>- Customer Satisfaction NPS: Post-transaction NPS via SMS/push across branch, digital, ATM channels</a:t>
            </a:r>
          </a:p>
          <a:p>
            <a:r>
              <a:t>- Transaction Classification: RAAST/IBFT/POS/ATM/mobile wallet transaction categorization for spending insights</a:t>
            </a:r>
          </a:p>
          <a:p>
            <a:r>
              <a:t>- Customer Journey Analytics: Cross-channel journey mapping: branch → mobile app → RAAST → call center</a:t>
            </a: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t>Pakistan-specific prioritization: Lead Generation from Branch Notes has high value because 60% of retail interactions still happen at branches. Urdu text analytics on branch visit notes and call center logs can uncover cross-sell signals invisible in structured data.</a:t>
            </a:r>
            <a:endParaRPr/>
          </a:p>
          <a:p/>
          <a:p>
            <a:r>
              <a:t>Customer Network Analysis using RAAST/IBFT payment data reveals customer relationships that predict product adoption — customers connected to credit card holders are 3x more likely to adopt cards themselves.</a:t>
            </a:r>
          </a:p>
          <a:p/>
          <a:p>
            <a:r>
              <a:t>Key use cases contextualized for Pakistan:</a:t>
            </a:r>
          </a:p>
          <a:p>
            <a:r>
              <a:t>- Wealth Management Proactive Advice: Relevant for Pakistan's HNW segment — PKR 50M+ relationship customers, NRP/RDA holders</a:t>
            </a:r>
          </a:p>
          <a:p>
            <a:r>
              <a:t>- Lead Generation From Branch Notes: Text mining Urdu/English branch visit notes for cross-sell opportunities</a:t>
            </a:r>
          </a:p>
          <a:p>
            <a:r>
              <a:t>- Customer Network Analysis: RAAST/IBFT payment network analysis revealing customer social/business connections</a:t>
            </a:r>
          </a:p>
          <a:p>
            <a:r>
              <a:t>- Propensity Modeling: Next-best-product propensity for Pakistan's product portfolio: CASA, TD, PL, CC, Banca, Home Finance</a:t>
            </a:r>
          </a:p>
          <a:p/>
          <a:p>
            <a:r>
              <a:t>FSDM entities: PARTY, INDIVIDUAL, EVENT, DIRECT_CONTACT_EVENT, AGREEMENT</a:t>
            </a: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t>CASA Silent Churn is the single highest-value use case for Pakistani banks. CASA funding cost is 0-5% vs. KIBOR-based term deposits at 16%+. A 10% reduction in CASA churn for a bank with PKR 1.5T CASA book saves PKR 15-20B in funding costs annually.</a:t>
            </a:r>
            <a:endParaRPr/>
          </a:p>
          <a:p/>
          <a:p>
            <a:r>
              <a:t>Silent churn detection — identifying customers gradually reducing CASA balances before formal closure — requires behavioral analytics on transaction velocity, salary credit redirection, and balance trajectory. FSDM's ACCT_EVNT and ACCT_BAL entities provide the data foundation.</a:t>
            </a:r>
          </a:p>
          <a:p/>
          <a:p>
            <a:r>
              <a:t>Key use cases contextualized for Pakistan:</a:t>
            </a:r>
          </a:p>
          <a:p>
            <a:r>
              <a:t>- CASA Silent Churn: Critical — CASA deposits are cheapest funding source (0-5% cost vs. 16%+ for term deposits)</a:t>
            </a:r>
          </a:p>
          <a:p>
            <a:r>
              <a:t>- Credit Card Balance Churn: Monitor revolving balance trends — Pakistan credit card market PKR 150B+</a:t>
            </a:r>
          </a:p>
          <a:p>
            <a:r>
              <a:t>- Improving Cross-Sell Targeting: Products-per-customer improvement from 1.8 to 3.0+</a:t>
            </a:r>
          </a:p>
          <a:p/>
          <a:p>
            <a:r>
              <a:t>FSDM entities: ACCOUNT, ACCOUNT_BALANCE, ACCOUNT_EVENT, TRANSACTION, AGREEMENT</a:t>
            </a: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t>Pakistan's omnichannel challenge: Banks operate 1,000+ branches, 16,000+ ATMs, mobile apps, internet banking, call centers, WhatsApp, and now RAAST — but most operate these as separate channels with no unified customer view.</a:t>
            </a:r>
            <a:endParaRPr/>
          </a:p>
          <a:p/>
          <a:p>
            <a:r>
              <a:t>A customer who visits a branch for a complaint should not receive a cross-sell SMS the same day. FSDM's CNTCT and EVNT entities capture interactions across all channels enabling coordinated next-best-action. Real-Time Interaction Manager (RTIM) triggers NBA within mobile app sessions based on in-session behavior.</a:t>
            </a:r>
          </a:p>
          <a:p/>
          <a:p>
            <a:r>
              <a:t>Key use cases contextualized for Pakistan:</a:t>
            </a:r>
          </a:p>
          <a:p>
            <a:r>
              <a:t>- Omni Channel Customer Experience: Branch + mobile app + internet banking + WhatsApp + ATM + RAAST — unified experience</a:t>
            </a:r>
          </a:p>
          <a:p>
            <a:r>
              <a:t>- Location Based Offers: Geo-targeted offers via mobile app near partner merchants, ATM network, branch proximity</a:t>
            </a:r>
          </a:p>
          <a:p>
            <a:r>
              <a:t>- Real-time Customer GIS location: Jazz/Telenor/Zong location data (with consent) for contextualized banking offers</a:t>
            </a:r>
          </a:p>
          <a:p>
            <a:r>
              <a:t>- Next Best Product Offer: Real-time NBA on mobile app — personal loan pre-approval at salary credit, insurance at account milestone</a:t>
            </a:r>
          </a:p>
          <a:p/>
          <a:p>
            <a:r>
              <a:t>FSDM entities: CHANNEL_TYPE, CHANNEL_INSTANCE, CONTACT_EVENT, ONLINE_APPLICATION_ACCESS</a:t>
            </a: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t>Marketing attribution is emerging as a critical capability as Pakistani banks shift 20-30% of marketing budgets to digital. The challenge: a customer may see a TV ad, click a Facebook ad, visit a branch, and then open an account via mobile app — attributing this conversion to the right touchpoints enables budget optimization.</a:t>
            </a:r>
            <a:endParaRPr/>
          </a:p>
          <a:p/>
          <a:p>
            <a:r>
              <a:t>Teradata's attribution analytics capability maps to FSDM Campaign and Marketing entities.</a:t>
            </a:r>
          </a:p>
          <a:p/>
          <a:p>
            <a:r>
              <a:t>Key use cases contextualized for Pakistan:</a:t>
            </a:r>
          </a:p>
          <a:p>
            <a:r>
              <a:t>- Marketing Attribution: Multi-touch attribution for Pakistan's media mix — TV (still 40% of ad spend), digital (35% and growing), OOH/print (25%)</a:t>
            </a:r>
          </a:p>
          <a:p>
            <a:r>
              <a:t>- Competitor Analysis: Track competitive positioning against JazzCash, SadaPay, NayaPay, and other digital banking licensees</a:t>
            </a:r>
          </a:p>
          <a:p/>
          <a:p>
            <a:r>
              <a:t>FSDM entities: CAMPAIGN, CAMPAIGN_CELL, AD_CAMPAIGN_OBJECTIVE, CAMPAIGN_RESPONSE</a:t>
            </a:r>
          </a:p>
          <a:p>
            <a:r>
              <a:t>BACR maturity: Level 1 for marketing attribution — most banks still use last-touch attribution or none at all</a:t>
            </a: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t>Pakistan banking CX landscape 2024-2025: Customer satisfaction scores for traditional banks average 3.2/5 vs. 4.1/5 for digital-first players. Complaint volumes to SBP Banking Mohtasib increased 25% YoY. Top customer pain points: account opening friction (average 45 minutes at branch), loan processing time (7-14 days), inconsistent cross-channel experience, and lack of personalization.</a:t>
            </a:r>
            <a:endParaRPr sz="1200"/>
          </a:p>
          <a:p/>
          <a:p>
            <a:r>
              <a:t>The FSDM-based customer analytics capability addresses all of these through data integration, behavioral analytics, and real-time decisioning.</a:t>
            </a:r>
          </a:p>
          <a:p/>
          <a:p>
            <a:r>
              <a:t>Key FSDM entities: PARTY, INDIVIDUAL, CUSTOMER, CONTACT_EVENT, EVENT</a:t>
            </a:r>
          </a:p>
          <a:p>
            <a:r>
              <a:t>BVF sub-capabilities: All 39 Marketing &amp; CX sub-capabilities contribute to this strategic view</a:t>
            </a:r>
          </a:p>
          <a:p>
            <a:r>
              <a:t>SBP regulatory context: Fair Treatment of Consumers guidelines, Digital Banking Regulations 2022, NFIS 2028 target: 50% inclusion</a:t>
            </a: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 name="Shape 776"/>
        <p:cNvGrpSpPr/>
        <p:nvPr/>
      </p:nvGrpSpPr>
      <p:grpSpPr>
        <a:xfrm>
          <a:off x="0" y="0"/>
          <a:ext cx="0" cy="0"/>
          <a:chOff x="0" y="0"/>
          <a:chExt cx="0" cy="0"/>
        </a:xfrm>
      </p:grpSpPr>
      <p:sp>
        <p:nvSpPr>
          <p:cNvPr id="777" name="Google Shape;777;p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These four capability areas map directly to FSDM entity domains: Customer Information Management → INDVDL, ORGN, CSTMR entities. Insight Driven → EVNT, ACCT_BAL, TXN entities. Lifecycle Management → AGRMNT, RLTNSHP entities. Interaction Management → CNTCT, CMPGN entities.</a:t>
            </a:r>
            <a:endParaRPr/>
          </a:p>
          <a:p/>
          <a:p>
            <a:r>
              <a:t>The BVF framework has 39 sub-capabilities across these four areas with 360 FSDM entity mappings documented in bvf_fsdm_integration_report.json. Total data requirements: 1,045 across all Marketing &amp; CX capabilities.</a:t>
            </a:r>
          </a:p>
          <a:p/>
          <a:p>
            <a:r>
              <a:t>Pakistan context for each area:</a:t>
            </a:r>
          </a:p>
          <a:p>
            <a:r>
              <a:t>- CIM: Unify 4-5 core banking systems via CNIC-anchored identity resolution</a:t>
            </a:r>
          </a:p>
          <a:p>
            <a:r>
              <a:t>- Insight: Leverage RAAST velocity, CASA signals, digital adoption curves</a:t>
            </a:r>
          </a:p>
          <a:p>
            <a:r>
              <a:t>- Lifecycle: From Asaan Digital Account through full relationship development</a:t>
            </a:r>
          </a:p>
          <a:p>
            <a:r>
              <a:t>- Interaction: Orchestrate billions of interactions across 8+ channels</a:t>
            </a:r>
          </a:p>
          <a:p/>
          <a:p>
            <a:r>
              <a:t>BACR maturity: Most Pakistani banks at Level 1-2. Target: Level 3-4 within 24-36 months.</a:t>
            </a:r>
          </a:p>
        </p:txBody>
      </p:sp>
      <p:sp>
        <p:nvSpPr>
          <p:cNvPr id="778" name="Google Shape;778;p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4" name="Shape 784"/>
        <p:cNvGrpSpPr/>
        <p:nvPr/>
      </p:nvGrpSpPr>
      <p:grpSpPr>
        <a:xfrm>
          <a:off x="0" y="0"/>
          <a:ext cx="0" cy="0"/>
          <a:chOff x="0" y="0"/>
          <a:chExt cx="0" cy="0"/>
        </a:xfrm>
      </p:grpSpPr>
      <p:sp>
        <p:nvSpPr>
          <p:cNvPr id="785" name="Google Shape;785;p2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For UBL implementation, the key challenge is integrating 4-5 core banking systems into the FSDM-based Customer 360. The ERwin data model (v13, 3,917 entities) provides the target schema.</a:t>
            </a:r>
            <a:endParaRPr/>
          </a:p>
          <a:p/>
          <a:p>
            <a:r>
              <a:t>Priority solution components for Pakistan:</a:t>
            </a:r>
          </a:p>
          <a:p>
            <a:r>
              <a:t>1. MDM with CNIC-based identity resolution — golden key linking all customer identities</a:t>
            </a:r>
          </a:p>
          <a:p>
            <a:r>
              <a:t>2. Event Repository capturing RAAST/IBFT/digital events — billions of events annually</a:t>
            </a:r>
          </a:p>
          <a:p>
            <a:r>
              <a:t>3. Customer Profitability engine using FSDM Finance entities — KIBOR-based NII + fee + risk cost</a:t>
            </a:r>
          </a:p>
          <a:p>
            <a:r>
              <a:t>4. RTIM for mobile app and ATM personalization — sub-second decisioning</a:t>
            </a:r>
          </a:p>
          <a:p/>
          <a:p>
            <a:r>
              <a:t>FSDM entities supporting solutions: PARTY (MDM), EVENT (Event Repository), AGREEMENT/ACCOUNT (Profitability), CONTACT_EVENT (RTIM)</a:t>
            </a:r>
          </a:p>
          <a:p>
            <a:r>
              <a:t>Total FSDM entities in Customer domain: 600+ entities supporting full 360-degree view</a:t>
            </a:r>
          </a:p>
          <a:p/>
          <a:p>
            <a:r>
              <a:t>Pakistan-specific solution requirements: CNIC as golden key, RAAST/IBFT event capture, Urdu text analytics, Islamic banking product support</a:t>
            </a:r>
          </a:p>
        </p:txBody>
      </p:sp>
      <p:sp>
        <p:nvSpPr>
          <p:cNvPr id="786" name="Google Shape;786;p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 name="Shape 792"/>
        <p:cNvGrpSpPr/>
        <p:nvPr/>
      </p:nvGrpSpPr>
      <p:grpSpPr>
        <a:xfrm>
          <a:off x="0" y="0"/>
          <a:ext cx="0" cy="0"/>
          <a:chOff x="0" y="0"/>
          <a:chExt cx="0" cy="0"/>
        </a:xfrm>
      </p:grpSpPr>
      <p:sp>
        <p:nvSpPr>
          <p:cNvPr id="793" name="Google Shape;793;p28: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These facts highlight why customer analytics is existential for Pakistan's banking sector. The competition is not just between traditional banks — it's between banks and a rapidly growing fintech ecosystem.</a:t>
            </a:r>
            <a:endParaRPr/>
          </a:p>
          <a:p/>
          <a:p>
            <a:r>
              <a:t>Data sources: SBP Annual Report 2024, SBP Payment Systems Review, Pakistan Fintech Association, and industry analyses.</a:t>
            </a:r>
          </a:p>
          <a:p/>
          <a:p>
            <a:r>
              <a:t>Key metrics to track:</a:t>
            </a:r>
          </a:p>
          <a:p>
            <a:r>
              <a:t>- Products per customer: current 1.8 vs. target 3.0</a:t>
            </a:r>
          </a:p>
          <a:p>
            <a:r>
              <a:t>- Digital adoption rate: 40% and growing</a:t>
            </a:r>
          </a:p>
          <a:p>
            <a:r>
              <a:t>- CASA share of deposits: 47%</a:t>
            </a:r>
          </a:p>
          <a:p>
            <a:r>
              <a:t>- Customer acquisition cost: PKR 3,000-5,000</a:t>
            </a:r>
          </a:p>
          <a:p>
            <a:r>
              <a:t>- Financial inclusion: 30% (target 50% by 2028)</a:t>
            </a:r>
          </a:p>
          <a:p>
            <a:r>
              <a:t>- Youth population: 60% under 30</a:t>
            </a:r>
          </a:p>
          <a:p>
            <a:r>
              <a:t>- Mobile wallets: 100M+ accounts</a:t>
            </a:r>
          </a:p>
          <a:p>
            <a:r>
              <a:t>- RAAST monthly volume: PKR 1.5T+</a:t>
            </a:r>
          </a:p>
          <a:p/>
          <a:p>
            <a:r>
              <a:t>FSDM relevance: All statistics point to the need for integrated customer data — which the FSDM Customer domain's 600+ entities provide.</a:t>
            </a:r>
          </a:p>
        </p:txBody>
      </p:sp>
      <p:sp>
        <p:nvSpPr>
          <p:cNvPr id="794" name="Google Shape;794;p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0" name="Shape 800"/>
        <p:cNvGrpSpPr/>
        <p:nvPr/>
      </p:nvGrpSpPr>
      <p:grpSpPr>
        <a:xfrm>
          <a:off x="0" y="0"/>
          <a:ext cx="0" cy="0"/>
          <a:chOff x="0" y="0"/>
          <a:chExt cx="0" cy="0"/>
        </a:xfrm>
      </p:grpSpPr>
      <p:sp>
        <p:nvSpPr>
          <p:cNvPr id="801" name="Google Shape;801;p2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These Pakistan examples are composites based on industry implementations. The key message: the same customer analytics capabilities proven globally are now being deployed in Pakistan's banking sector, with local adaptations for CNIC-based identity, RAAST-based payment data, and the unique challenges of a market with 70% unbanked population.</a:t>
            </a:r>
            <a:endParaRPr/>
          </a:p>
          <a:p/>
          <a:p>
            <a:r>
              <a:t>The FSDM provides the data foundation that makes these use cases implementable.</a:t>
            </a:r>
          </a:p>
          <a:p/>
          <a:p>
            <a:r>
              <a:t>Global use cases (existing content) demonstrate proven ROI. Pakistan banking use cases show local applicability:</a:t>
            </a:r>
          </a:p>
          <a:p>
            <a:r>
              <a:t>- Cross-sell conversion: 35% increase through NBA at branch point-of-sale</a:t>
            </a:r>
          </a:p>
          <a:p>
            <a:r>
              <a:t>- CASA silent churn: 20% reduction through behavioral early warning</a:t>
            </a:r>
          </a:p>
          <a:p>
            <a:r>
              <a:t>- Digital onboarding: 80% STP via CNIC/biometric verification</a:t>
            </a:r>
          </a:p>
          <a:p/>
          <a:p>
            <a:r>
              <a:t>FSDM entities: PARTY, AGREEMENT, CAMPAIGN, EVENT, CONTACT_EVENT</a:t>
            </a:r>
          </a:p>
        </p:txBody>
      </p:sp>
      <p:sp>
        <p:nvSpPr>
          <p:cNvPr id="802" name="Google Shape;802;p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8" name="Shape 808"/>
        <p:cNvGrpSpPr/>
        <p:nvPr/>
      </p:nvGrpSpPr>
      <p:grpSpPr>
        <a:xfrm>
          <a:off x="0" y="0"/>
          <a:ext cx="0" cy="0"/>
          <a:chOff x="0" y="0"/>
          <a:chExt cx="0" cy="0"/>
        </a:xfrm>
      </p:grpSpPr>
      <p:sp>
        <p:nvSpPr>
          <p:cNvPr id="809" name="Google Shape;809;p3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Pakistan Banking Customer Analytics Use Cases continued:</a:t>
            </a:r>
            <a:endParaRPr/>
          </a:p>
          <a:p>
            <a:r>
              <a:t>- Profitability visibility: FSDM-based engine calculating NII, fee income, risk cost per customer</a:t>
            </a:r>
          </a:p>
          <a:p>
            <a:r>
              <a:t>- Mobile engagement: 4x higher rates through real-time personalization on mobile app</a:t>
            </a:r>
          </a:p>
          <a:p/>
          <a:p>
            <a:r>
              <a:t>These use cases represent PKR 15-25B annual value opportunity for a top-5 Pakistani bank.</a:t>
            </a:r>
          </a:p>
          <a:p/>
          <a:p>
            <a:r>
              <a:t>FSDM entities: ACCOUNT, AGREEMENT, TRANSACTION, ONLINE_APPLICATION_ACCESS</a:t>
            </a:r>
          </a:p>
          <a:p>
            <a:r>
              <a:t>BACR maturity: Level 1-2 for most Pakistani banks across these use case areas. Investment in FSDM-based customer data warehouse is the enabling foundation.</a:t>
            </a:r>
          </a:p>
        </p:txBody>
      </p:sp>
      <p:sp>
        <p:nvSpPr>
          <p:cNvPr id="810" name="Google Shape;810;p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 name="Shape 816"/>
        <p:cNvGrpSpPr/>
        <p:nvPr/>
      </p:nvGrpSpPr>
      <p:grpSpPr>
        <a:xfrm>
          <a:off x="0" y="0"/>
          <a:ext cx="0" cy="0"/>
          <a:chOff x="0" y="0"/>
          <a:chExt cx="0" cy="0"/>
        </a:xfrm>
      </p:grpSpPr>
      <p:sp>
        <p:nvSpPr>
          <p:cNvPr id="817" name="Google Shape;817;p3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These questions are calibrated for Pakistan banking maturity — most banks will answer 'No' or 'Partially' to most questions. This creates the diagnostic opening for BVF-based capability building.</a:t>
            </a:r>
            <a:endParaRPr/>
          </a:p>
          <a:p/>
          <a:p>
            <a:r>
              <a:t>Each question maps to specific BVF sub-capabilities and FSDM entities that enable the answer:</a:t>
            </a:r>
          </a:p>
          <a:p>
            <a:r>
              <a:t>1. Channel preference → Channel Coverage + CHANNEL_TYPE/CHANNEL_INSTANCE entities</a:t>
            </a:r>
          </a:p>
          <a:p>
            <a:r>
              <a:t>2. Next product → Predictive Models + AGREEMENT/PARTY entities</a:t>
            </a:r>
          </a:p>
          <a:p>
            <a:r>
              <a:t>3. CASA silent churn → Customer Churn + ACCOUNT_BALANCE/ACCOUNT_EVENT entities</a:t>
            </a:r>
          </a:p>
          <a:p>
            <a:r>
              <a:t>4. Text analytics → Big Data Analytics + DIRECT_CONTACT_EVENT entities</a:t>
            </a:r>
          </a:p>
          <a:p>
            <a:r>
              <a:t>5. Real-time NBA → Next Best Action Arbitration + EVENT/CONTACT_EVENT entities</a:t>
            </a:r>
          </a:p>
          <a:p>
            <a:r>
              <a:t>6. Customer profitability → Customer Value + ACCOUNT/AGREEMENT/TRANSACTION entities</a:t>
            </a:r>
          </a:p>
          <a:p>
            <a:r>
              <a:t>7. Marketing attribution → Marketing Attribution MI + CAMPAIGN/CAMPAIGN_RESPONSE entities</a:t>
            </a:r>
          </a:p>
          <a:p/>
          <a:p>
            <a:r>
              <a:t>The profitability question links directly to the Customer Profitability Engine and profitability_star_schema.sql in the gap extensions.</a:t>
            </a:r>
          </a:p>
        </p:txBody>
      </p:sp>
      <p:sp>
        <p:nvSpPr>
          <p:cNvPr id="818" name="Google Shape;818;p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4" name="Shape 824"/>
        <p:cNvGrpSpPr/>
        <p:nvPr/>
      </p:nvGrpSpPr>
      <p:grpSpPr>
        <a:xfrm>
          <a:off x="0" y="0"/>
          <a:ext cx="0" cy="0"/>
          <a:chOff x="0" y="0"/>
          <a:chExt cx="0" cy="0"/>
        </a:xfrm>
      </p:grpSpPr>
      <p:sp>
        <p:nvSpPr>
          <p:cNvPr id="825" name="Google Shape;825;p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26" name="Google Shape;826;p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The four challenges map to the four capability areas: Customer Information Management addresses the data challenge, Insight Driven Management addresses the analytics challenge, Real-Time Relevance addresses the technology challenge, and Interaction Management addresses the operational challenge.</a:t>
            </a:r>
            <a:endParaRPr/>
          </a:p>
          <a:p/>
          <a:p>
            <a:r>
              <a:t>For Pakistan, the data challenge is most acute — with 4-5 core systems, separate Islamic banking systems, and digital channel data scattered across platforms. FSDM's 3,917 entities provide the integration blueprint.</a:t>
            </a:r>
          </a:p>
          <a:p/>
          <a:p>
            <a:r>
              <a:t>Pakistan-specific challenge amplifiers:</a:t>
            </a:r>
          </a:p>
          <a:p>
            <a:r>
              <a:t>- Robust View: 4-5 core banking systems, Islamic/conventional separation, ECIB batch access, mobile wallet data with telcos</a:t>
            </a:r>
          </a:p>
          <a:p>
            <a:r>
              <a:t>- Customer Journeys: RAAST notifications, JazzCash payments, branch cash deposits (40% of transactions), WhatsApp banking, biometric ATMs</a:t>
            </a:r>
          </a:p>
          <a:p>
            <a:r>
              <a:t>- Real Time: Digital transactions growing 40% YoY, 30-minute window after salary credit for cross-sell</a:t>
            </a:r>
          </a:p>
          <a:p>
            <a:r>
              <a:t>- Scale: 8-10M+ active customers, 1,000+ branches, 16,000+ ATMs, 30M+ mobile banking users, billions of RAAST/IBFT transactions</a:t>
            </a:r>
          </a:p>
          <a:p/>
          <a:p>
            <a:r>
              <a:t>FSDM entities: INDIVIDUAL, PARTY (data), EVENT, TRANSACTION (journeys), CONTACT_EVENT (real-time), CHANNEL_TYPE (scale)</a:t>
            </a:r>
          </a:p>
        </p:txBody>
      </p:sp>
      <p:sp>
        <p:nvSpPr>
          <p:cNvPr id="827" name="Google Shape;827;p3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 name="Shape 847"/>
        <p:cNvGrpSpPr/>
        <p:nvPr/>
      </p:nvGrpSpPr>
      <p:grpSpPr>
        <a:xfrm>
          <a:off x="0" y="0"/>
          <a:ext cx="0" cy="0"/>
          <a:chOff x="0" y="0"/>
          <a:chExt cx="0" cy="0"/>
        </a:xfrm>
      </p:grpSpPr>
      <p:sp>
        <p:nvSpPr>
          <p:cNvPr id="848" name="Google Shape;848;p3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Combined value opportunity for a top-5 Pakistani bank:</a:t>
            </a:r>
            <a:endParaRPr/>
          </a:p>
          <a:p>
            <a:r>
              <a:t>- PKR 10-15B in CASA churn reduction</a:t>
            </a:r>
          </a:p>
          <a:p>
            <a:r>
              <a:t>- PKR 3-5B in improved cross-sell revenue</a:t>
            </a:r>
          </a:p>
          <a:p>
            <a:r>
              <a:t>- PKR 1-2B in marketing efficiency</a:t>
            </a:r>
          </a:p>
          <a:p>
            <a:r>
              <a:t>- PKR 2-3B in operational cost reduction through digital migration</a:t>
            </a:r>
          </a:p>
          <a:p>
            <a:r>
              <a:t>Total: PKR 15-25B annual value from customer analytics investment.</a:t>
            </a:r>
          </a:p>
          <a:p>
            <a:r>
              <a:t>ROI on FSDM-based customer data warehouse: 5-10x within 3 years.</a:t>
            </a:r>
          </a:p>
          <a:p/>
          <a:p>
            <a:r>
              <a:t>Value mapping to BVF capabilities:</a:t>
            </a:r>
          </a:p>
          <a:p>
            <a:r>
              <a:t>- Improved customer insights → Insight Driven Customer Management (10 sub-capabilities)</a:t>
            </a:r>
          </a:p>
          <a:p>
            <a:r>
              <a:t>- Personalized communication → Customer Interaction Management (10 sub-capabilities)</a:t>
            </a:r>
          </a:p>
          <a:p>
            <a:r>
              <a:t>- Customer experience → Customer Information Management + Lifecycle Management</a:t>
            </a:r>
          </a:p>
          <a:p>
            <a:r>
              <a:t>- Marketing effectiveness → Marketing Attribution + Campaign ROI Reporting</a:t>
            </a:r>
          </a:p>
          <a:p>
            <a:r>
              <a:t>- Operational improvement → Customer Journey Analysis + Digital Optimization</a:t>
            </a:r>
          </a:p>
          <a:p/>
          <a:p>
            <a:r>
              <a:t>FSDM coverage: 360 BVF-FSDM mappings supporting all five value propositions</a:t>
            </a:r>
          </a:p>
        </p:txBody>
      </p:sp>
      <p:sp>
        <p:nvSpPr>
          <p:cNvPr id="849" name="Google Shape;849;p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 name="Shape 863"/>
        <p:cNvGrpSpPr/>
        <p:nvPr/>
      </p:nvGrpSpPr>
      <p:grpSpPr>
        <a:xfrm>
          <a:off x="0" y="0"/>
          <a:ext cx="0" cy="0"/>
          <a:chOff x="0" y="0"/>
          <a:chExt cx="0" cy="0"/>
        </a:xfrm>
      </p:grpSpPr>
      <p:sp>
        <p:nvSpPr>
          <p:cNvPr id="864" name="Google Shape;864;p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The following slides detail each capability area with Pakistan-specific context. Use these in conjunction with the BACR assessment (bacr_analysis_report.json) to evaluate current maturity and define the roadmap.</a:t>
            </a:r>
            <a:endParaRPr/>
          </a:p>
          <a:p/>
          <a:p>
            <a:r>
              <a:t>Target: move from Level 1-2 (typical Pakistani bank) to Level 3-4 within 24-36 months.</a:t>
            </a:r>
          </a:p>
          <a:p/>
          <a:p>
            <a:r>
              <a:t>BACR Marketing/CX assessment: 48 Customer-specific questions, 5 Marketing-specific questions across the outcomes assessment.</a:t>
            </a:r>
          </a:p>
          <a:p/>
          <a:p>
            <a:r>
              <a:t>Implementation roadmap phases:</a:t>
            </a:r>
          </a:p>
          <a:p>
            <a:r>
              <a:t>Phase 1 (0-6 months): Customer Information Management — CNIC-based identity resolution, Customer 360</a:t>
            </a:r>
          </a:p>
          <a:p>
            <a:r>
              <a:t>Phase 2 (6-12 months): Insight Driven — Customer profitability, segmentation, behavioral analytics</a:t>
            </a:r>
          </a:p>
          <a:p>
            <a:r>
              <a:t>Phase 3 (12-18 months): Lifecycle Management — Churn prediction, cross-sell, acquisition analytics</a:t>
            </a:r>
          </a:p>
          <a:p>
            <a:r>
              <a:t>Phase 4 (18-24 months): Interaction Management — RTIM, NBA, omnichannel orchestration</a:t>
            </a:r>
          </a:p>
        </p:txBody>
      </p:sp>
      <p:sp>
        <p:nvSpPr>
          <p:cNvPr id="865" name="Google Shape;865;p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Customer Information Management is the foundational capability — everything else depends on having accurate, complete, timely customer data.</a:t>
            </a:r>
            <a:endParaRPr/>
          </a:p>
          <a:p/>
          <a:p>
            <a:r>
              <a:t>For UBL, the immediate priority is CNIC-based identity resolution across core banking systems using FSDM's Party model. The ERwin model (v13) already implements 600+ Customer domain entities from FSDM.</a:t>
            </a:r>
          </a:p>
          <a:p/>
          <a:p>
            <a:r>
              <a:t>Key challenge: integrating Islamic banking customer data (separate core system) with conventional banking data into a single customer view.</a:t>
            </a:r>
          </a:p>
          <a:p/>
          <a:p>
            <a:r>
              <a:t>Pakistan data landscape:</a:t>
            </a:r>
          </a:p>
          <a:p>
            <a:r>
              <a:t>- 4-5 core banking system databases</a:t>
            </a:r>
          </a:p>
          <a:p>
            <a:r>
              <a:t>- Card management system (POS/ATM transactions)</a:t>
            </a:r>
          </a:p>
          <a:p>
            <a:r>
              <a:t>- Internet banking logs, mobile app clickstream</a:t>
            </a:r>
          </a:p>
          <a:p>
            <a:r>
              <a:t>- RAAST/IBFT transaction data</a:t>
            </a:r>
          </a:p>
          <a:p>
            <a:r>
              <a:t>- ECIB credit bureau data, NADRA CNIC verification</a:t>
            </a:r>
          </a:p>
          <a:p>
            <a:r>
              <a:t>- Branch/call center interaction logs</a:t>
            </a:r>
          </a:p>
          <a:p/>
          <a:p>
            <a:r>
              <a:t>FSDM entities: INDIVIDUAL, INDIVIDUAL_IDENTIFICATION (identity resolution), PARTY, PARTY_PRIVACY_PREFERENCE (30 entities for Single Customer View), LOCATOR, ELECTRONIC_ADDRESS (30 entities for contact preferences)</a:t>
            </a:r>
          </a:p>
          <a:p/>
          <a:p>
            <a:r>
              <a:t>BACR maturity: Level 1-2 for CIM in Pakistani banks. Target: Level 3 within 12 months.</a:t>
            </a: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3.xml"/><Relationship Id="rId5" Type="http://schemas.openxmlformats.org/officeDocument/2006/relationships/slide" Target="slide4.xml"/><Relationship Id="rId6" Type="http://schemas.openxmlformats.org/officeDocument/2006/relationships/slide" Target="slide5.xml"/><Relationship Id="rId7" Type="http://schemas.openxmlformats.org/officeDocument/2006/relationships/slide" Target="slide6.xml"/><Relationship Id="rId8" Type="http://schemas.openxmlformats.org/officeDocument/2006/relationships/slide" Target="slide13.xml"/><Relationship Id="rId9" Type="http://schemas.openxmlformats.org/officeDocument/2006/relationships/slide" Target="slide8.xml"/><Relationship Id="rId10" Type="http://schemas.openxmlformats.org/officeDocument/2006/relationships/slide" Target="slide10.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2.xml"/><Relationship Id="rId4" Type="http://schemas.openxmlformats.org/officeDocument/2006/relationships/slide" Target="slide23.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8.xml"/><Relationship Id="rId8" Type="http://schemas.openxmlformats.org/officeDocument/2006/relationships/slide" Target="slide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2.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8.xml"/><Relationship Id="rId15" Type="http://schemas.openxmlformats.org/officeDocument/2006/relationships/slide" Target="slide48.xml"/><Relationship Id="rId16" Type="http://schemas.openxmlformats.org/officeDocument/2006/relationships/slide" Target="slide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2.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10.xml"/><Relationship Id="rId13" Type="http://schemas.openxmlformats.org/officeDocument/2006/relationships/slide" Target="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2.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11.xml"/><Relationship Id="rId17" Type="http://schemas.openxmlformats.org/officeDocument/2006/relationships/slide" Target="slide94.xml"/><Relationship Id="rId18" Type="http://schemas.openxmlformats.org/officeDocument/2006/relationships/slide" Target="slide7.xml"/><Relationship Id="rId19" Type="http://schemas.openxmlformats.org/officeDocument/2006/relationships/slide" Target="slide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2.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11.xml"/><Relationship Id="rId7" Type="http://schemas.openxmlformats.org/officeDocument/2006/relationships/slide" Target="slide108.xml"/><Relationship Id="rId8" Type="http://schemas.openxmlformats.org/officeDocument/2006/relationships/slide" Target="slide6.xml"/><Relationship Id="rId9" Type="http://schemas.openxmlformats.org/officeDocument/2006/relationships/slide" Target="slide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3.xml"/><Relationship Id="rId5" Type="http://schemas.openxmlformats.org/officeDocument/2006/relationships/slide" Target="slide2.xml"/><Relationship Id="rId6" Type="http://schemas.openxmlformats.org/officeDocument/2006/relationships/slide" Target="slide4.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9.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8.xml"/><Relationship Id="rId4" Type="http://schemas.openxmlformats.org/officeDocument/2006/relationships/slide" Target="slide4.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10.xml"/><Relationship Id="rId22" Type="http://schemas.openxmlformats.org/officeDocument/2006/relationships/slide" Target="slide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9.xml"/><Relationship Id="rId4" Type="http://schemas.openxmlformats.org/officeDocument/2006/relationships/slide" Target="slide4.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5.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11.xml"/><Relationship Id="rId21" Type="http://schemas.openxmlformats.org/officeDocument/2006/relationships/slide" Target="slide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9.xml"/><Relationship Id="rId4" Type="http://schemas.openxmlformats.org/officeDocument/2006/relationships/slide" Target="slide4.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5.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11.xml"/><Relationship Id="rId21" Type="http://schemas.openxmlformats.org/officeDocument/2006/relationships/slide" Target="slide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10.xml"/><Relationship Id="rId8" Type="http://schemas.openxmlformats.org/officeDocument/2006/relationships/slide" Target="slide6.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12.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10.xml"/><Relationship Id="rId8" Type="http://schemas.openxmlformats.org/officeDocument/2006/relationships/slide" Target="slide6.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12.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11.xml"/><Relationship Id="rId4" Type="http://schemas.openxmlformats.org/officeDocument/2006/relationships/slide" Target="slide6.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11.xml"/><Relationship Id="rId4" Type="http://schemas.openxmlformats.org/officeDocument/2006/relationships/slide" Target="slide6.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6.xml"/><Relationship Id="rId3" Type="http://schemas.openxmlformats.org/officeDocument/2006/relationships/image" Target="../media/image8.jpg"/><Relationship Id="rId4" Type="http://schemas.openxmlformats.org/officeDocument/2006/relationships/slide" Target="slide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xml"/><Relationship Id="rId3" Type="http://schemas.openxmlformats.org/officeDocument/2006/relationships/image" Target="../media/image8.jpg"/><Relationship Id="rId4" Type="http://schemas.openxmlformats.org/officeDocument/2006/relationships/slide" Target="slide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8.xml"/><Relationship Id="rId3" Type="http://schemas.openxmlformats.org/officeDocument/2006/relationships/image" Target="../media/image8.jpg"/><Relationship Id="rId4" Type="http://schemas.openxmlformats.org/officeDocument/2006/relationships/slide" Target="slide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9.xml"/><Relationship Id="rId3" Type="http://schemas.openxmlformats.org/officeDocument/2006/relationships/image" Target="../media/image8.jpg"/><Relationship Id="rId4" Type="http://schemas.openxmlformats.org/officeDocument/2006/relationships/slide" Target="slide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0.xml"/><Relationship Id="rId3" Type="http://schemas.openxmlformats.org/officeDocument/2006/relationships/image" Target="../media/image8.jpg"/><Relationship Id="rId4" Type="http://schemas.openxmlformats.org/officeDocument/2006/relationships/slide" Target="slide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1.xml"/><Relationship Id="rId3" Type="http://schemas.openxmlformats.org/officeDocument/2006/relationships/image" Target="../media/image8.jpg"/><Relationship Id="rId4" Type="http://schemas.openxmlformats.org/officeDocument/2006/relationships/slide" Target="slide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2.xml"/><Relationship Id="rId3" Type="http://schemas.openxmlformats.org/officeDocument/2006/relationships/slide" Target="slide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3.xml"/><Relationship Id="rId3" Type="http://schemas.openxmlformats.org/officeDocument/2006/relationships/slide" Target="slide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8.xml"/><Relationship Id="rId4" Type="http://schemas.openxmlformats.org/officeDocument/2006/relationships/slide" Target="slide3.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3.xml"/><Relationship Id="rId5" Type="http://schemas.openxmlformats.org/officeDocument/2006/relationships/slide" Target="slide8.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4.xml"/><Relationship Id="rId4" Type="http://schemas.openxmlformats.org/officeDocument/2006/relationships/slide" Target="slide8.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4.xml"/><Relationship Id="rId4" Type="http://schemas.openxmlformats.org/officeDocument/2006/relationships/slide" Target="slide8.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4.xml"/><Relationship Id="rId4" Type="http://schemas.openxmlformats.org/officeDocument/2006/relationships/slide" Target="slide8.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4.xml"/><Relationship Id="rId4" Type="http://schemas.openxmlformats.org/officeDocument/2006/relationships/slide" Target="slide8.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4.xml"/><Relationship Id="rId4" Type="http://schemas.openxmlformats.org/officeDocument/2006/relationships/slide" Target="slide8.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4.xml"/><Relationship Id="rId4" Type="http://schemas.openxmlformats.org/officeDocument/2006/relationships/slide" Target="slide9.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4.xml"/><Relationship Id="rId4" Type="http://schemas.openxmlformats.org/officeDocument/2006/relationships/slide" Target="slide9.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4.xml"/><Relationship Id="rId4" Type="http://schemas.openxmlformats.org/officeDocument/2006/relationships/slide" Target="slide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4.xml"/><Relationship Id="rId4" Type="http://schemas.openxmlformats.org/officeDocument/2006/relationships/slide" Target="slide10.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4.xml"/><Relationship Id="rId4" Type="http://schemas.openxmlformats.org/officeDocument/2006/relationships/slide" Target="slide10.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5.xml"/><Relationship Id="rId4" Type="http://schemas.openxmlformats.org/officeDocument/2006/relationships/slide" Target="slide10.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5.xml"/><Relationship Id="rId4" Type="http://schemas.openxmlformats.org/officeDocument/2006/relationships/slide" Target="slide10.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5.xml"/><Relationship Id="rId4" Type="http://schemas.openxmlformats.org/officeDocument/2006/relationships/slide" Target="slide10.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5.xml"/><Relationship Id="rId4" Type="http://schemas.openxmlformats.org/officeDocument/2006/relationships/slide" Target="slide10.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5.xml"/><Relationship Id="rId4" Type="http://schemas.openxmlformats.org/officeDocument/2006/relationships/slide" Target="slide10.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5.xml"/><Relationship Id="rId4" Type="http://schemas.openxmlformats.org/officeDocument/2006/relationships/slide" Target="slide10.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5.xml"/><Relationship Id="rId4" Type="http://schemas.openxmlformats.org/officeDocument/2006/relationships/slide" Target="slide10.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6.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6.xml"/><Relationship Id="rId4" Type="http://schemas.openxmlformats.org/officeDocument/2006/relationships/slide" Target="slide1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6.xml"/><Relationship Id="rId4" Type="http://schemas.openxmlformats.org/officeDocument/2006/relationships/slide" Target="slide1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6.xml"/><Relationship Id="rId4" Type="http://schemas.openxmlformats.org/officeDocument/2006/relationships/slide" Target="slide1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6.xml"/><Relationship Id="rId4" Type="http://schemas.openxmlformats.org/officeDocument/2006/relationships/slide" Target="slide1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6.xml"/><Relationship Id="rId4" Type="http://schemas.openxmlformats.org/officeDocument/2006/relationships/slide" Target="slide11.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6.xml"/><Relationship Id="rId4" Type="http://schemas.openxmlformats.org/officeDocument/2006/relationships/slide" Target="slide1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6.xml"/><Relationship Id="rId4" Type="http://schemas.openxmlformats.org/officeDocument/2006/relationships/slide" Target="slide1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6.xml"/><Relationship Id="rId4" Type="http://schemas.openxmlformats.org/officeDocument/2006/relationships/slide" Target="slide1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6.xml"/><Relationship Id="rId4" Type="http://schemas.openxmlformats.org/officeDocument/2006/relationships/slide" Target="slide1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6.xml"/><Relationship Id="rId4" Type="http://schemas.openxmlformats.org/officeDocument/2006/relationships/slide" Target="slide1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6.xml"/><Relationship Id="rId4" Type="http://schemas.openxmlformats.org/officeDocument/2006/relationships/slide" Target="slide11.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6.xml"/><Relationship Id="rId4" Type="http://schemas.openxmlformats.org/officeDocument/2006/relationships/slide" Target="slide1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7.xml"/><Relationship Id="rId4" Type="http://schemas.openxmlformats.org/officeDocument/2006/relationships/slide" Target="slide11.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7.xml"/><Relationship Id="rId4" Type="http://schemas.openxmlformats.org/officeDocument/2006/relationships/slide" Target="slide12.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7.xml"/><Relationship Id="rId4" Type="http://schemas.openxmlformats.org/officeDocument/2006/relationships/slide" Target="slide1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8.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8.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8.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8.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8.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8.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8.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8.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8.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8.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8.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8.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8.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9.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9.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9.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9.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9.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9.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9.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9.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9.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9.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9.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9.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9.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9.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9.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10.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10.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10.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10.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10.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10.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10.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10.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10.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10.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10.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10.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10.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10.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11.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11.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11.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11.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11.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11.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11.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11.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11.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11.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11.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11.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11.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11.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11.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11.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1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12.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1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10.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sp>
        <p:nvSpPr>
          <p:cNvPr id="362" name="Google Shape;362;p43"/>
          <p:cNvSpPr txBox="1"/>
          <p:nvPr>
            <p:ph idx="1" type="body"/>
          </p:nvPr>
        </p:nvSpPr>
        <p:spPr>
          <a:xfrm>
            <a:off x="0" y="2844115"/>
            <a:ext cx="9144000" cy="877676"/>
          </a:xfrm>
          <a:prstGeom prst="rect">
            <a:avLst/>
          </a:prstGeom>
          <a:solidFill>
            <a:schemeClr val="accent1">
              <a:alpha val="89803"/>
            </a:schemeClr>
          </a:solidFill>
          <a:ln>
            <a:noFill/>
          </a:ln>
        </p:spPr>
        <p:txBody>
          <a:bodyPr anchorCtr="1" anchor="ctr" bIns="137150" lIns="457200" spcFirstLastPara="1" rIns="457200" wrap="square" tIns="137150">
            <a:noAutofit/>
          </a:bodyPr>
          <a:lstStyle/>
          <a:p>
            <a:pPr indent="-152400" lvl="0" marL="0" rtl="0" algn="ctr">
              <a:lnSpc>
                <a:spcPct val="85000"/>
              </a:lnSpc>
              <a:spcBef>
                <a:spcPts val="0"/>
              </a:spcBef>
              <a:spcAft>
                <a:spcPts val="0"/>
              </a:spcAft>
              <a:buClr>
                <a:schemeClr val="lt1"/>
              </a:buClr>
              <a:buSzPts val="2400"/>
              <a:buFont typeface="Arial"/>
              <a:buChar char="​"/>
            </a:pPr>
            <a:r>
              <a:rPr lang="en-GB" sz="2400"/>
              <a:t>Teradata Business Value Framework</a:t>
            </a:r>
            <a:endParaRPr/>
          </a:p>
          <a:p>
            <a:pPr indent="-114300" lvl="0" marL="0" rtl="0" algn="ctr">
              <a:lnSpc>
                <a:spcPct val="85000"/>
              </a:lnSpc>
              <a:spcBef>
                <a:spcPts val="400"/>
              </a:spcBef>
              <a:spcAft>
                <a:spcPts val="0"/>
              </a:spcAft>
              <a:buClr>
                <a:schemeClr val="lt1"/>
              </a:buClr>
              <a:buSzPts val="1800"/>
              <a:buFont typeface="Arial"/>
              <a:buChar char="​"/>
            </a:pPr>
            <a:r>
              <a:rPr lang="en-GB" sz="1800"/>
              <a:t>Marketing and Customer Experience</a:t>
            </a:r>
            <a:endParaRPr sz="1800"/>
          </a:p>
          <a:p>
            <a:pPr algn="ctr"/>
            <a:r>
              <a:rPr sz="1400">
                <a:solidFill>
                  <a:srgbClr val="006699"/>
                </a:solidFill>
              </a:rPr>
              <a:t>Pakistan Banking Edition — Customer Analytics for 60M+ Banked Customers</a:t>
            </a:r>
          </a:p>
          <a:p>
            <a:pPr algn="ctr"/>
            <a:r>
              <a:rPr sz="1100">
                <a:solidFill>
                  <a:srgbClr val="666666"/>
                </a:solidFill>
              </a:rPr>
              <a:t>2025-2026</a:t>
            </a: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a:p>
            <a:r>
              <a:rPr sz="900" i="1">
                <a:solidFill>
                  <a:srgbClr val="006699"/>
                </a:solidFill>
              </a:rPr>
              <a:t>Contextualized for Pakistan's 60M+ banked customers, 100M+ mobile wallet users, and PKR 15T+ annual RAAST/IBFT payment data</a:t>
            </a:r>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a:p>
            <a:r>
              <a:rPr sz="900">
                <a:solidFill>
                  <a:srgbClr val="006699"/>
                </a:solidFill>
              </a:rPr>
              <a:t>In Pakistan, traditional banks face unprecedented competition from fintechs (JazzCash with 40M+ wallets, SadaPay, NayaPay), digital banking licensees (5 new licenses issued by SBP in 2022), and telecom-led financial services. SBP's National Financial Inclusion Strategy targets 50% financial inclusion by 2028 — banks that deliver superior customer experience will capture the largest share of 70M+ currently unbanked adults.</a:t>
            </a:r>
          </a:p>
          <a:p>
            <a:r>
              <a:rPr sz="900">
                <a:solidFill>
                  <a:srgbClr val="006699"/>
                </a:solidFill>
              </a:rPr>
              <a:t>Pakistan's digitally-savvy youth segment (60% of population under 30) expects the same seamless experience from their bank that they get from Daraz, Careem, and foodpanda. Banks unable to deliver personalized, real-time digital experiences will lose this generation to fintech alternatives.</a:t>
            </a:r>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 name="Shape 779"/>
        <p:cNvGrpSpPr/>
        <p:nvPr/>
      </p:nvGrpSpPr>
      <p:grpSpPr>
        <a:xfrm>
          <a:off x="0" y="0"/>
          <a:ext cx="0" cy="0"/>
          <a:chOff x="0" y="0"/>
          <a:chExt cx="0" cy="0"/>
        </a:xfrm>
      </p:grpSpPr>
      <p:sp>
        <p:nvSpPr>
          <p:cNvPr id="780" name="Google Shape;780;p56"/>
          <p:cNvSpPr txBox="1"/>
          <p:nvPr>
            <p:ph idx="1" type="body"/>
          </p:nvPr>
        </p:nvSpPr>
        <p:spPr>
          <a:xfrm>
            <a:off x="467360" y="852530"/>
            <a:ext cx="4710650" cy="3986424"/>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Capability Areas</a:t>
            </a:r>
            <a:endParaRPr/>
          </a:p>
          <a:p>
            <a:pPr indent="-169863" lvl="0" marL="169863" rtl="0" algn="l">
              <a:lnSpc>
                <a:spcPct val="110000"/>
              </a:lnSpc>
              <a:spcBef>
                <a:spcPts val="800"/>
              </a:spcBef>
              <a:spcAft>
                <a:spcPts val="0"/>
              </a:spcAft>
              <a:buClr>
                <a:schemeClr val="dk1"/>
              </a:buClr>
              <a:buSzPts val="1400"/>
              <a:buChar char="•"/>
            </a:pPr>
            <a:r>
              <a:rPr lang="en-GB" sz="1400"/>
              <a:t>Customer Information Management</a:t>
            </a:r>
            <a:endParaRPr/>
          </a:p>
          <a:p>
            <a:pPr indent="-230187" lvl="1" marL="515938" rtl="0" algn="l">
              <a:lnSpc>
                <a:spcPct val="110000"/>
              </a:lnSpc>
              <a:spcBef>
                <a:spcPts val="400"/>
              </a:spcBef>
              <a:spcAft>
                <a:spcPts val="0"/>
              </a:spcAft>
              <a:buClr>
                <a:schemeClr val="dk1"/>
              </a:buClr>
              <a:buSzPts val="1200"/>
              <a:buChar char="–"/>
            </a:pPr>
            <a:r>
              <a:rPr lang="en-GB" sz="1200"/>
              <a:t>Design and develop a complete 360 degree view of customers </a:t>
            </a:r>
            <a:endParaRPr/>
          </a:p>
          <a:p>
            <a:pPr indent="-169863" lvl="0" marL="169863" rtl="0" algn="l">
              <a:lnSpc>
                <a:spcPct val="110000"/>
              </a:lnSpc>
              <a:spcBef>
                <a:spcPts val="800"/>
              </a:spcBef>
              <a:spcAft>
                <a:spcPts val="0"/>
              </a:spcAft>
              <a:buClr>
                <a:schemeClr val="dk1"/>
              </a:buClr>
              <a:buSzPts val="1400"/>
              <a:buChar char="•"/>
            </a:pPr>
            <a:r>
              <a:rPr lang="en-GB" sz="1400"/>
              <a:t>Insight Driven Customer Management</a:t>
            </a:r>
            <a:endParaRPr/>
          </a:p>
          <a:p>
            <a:pPr indent="-230187" lvl="1" marL="515938" rtl="0" algn="l">
              <a:lnSpc>
                <a:spcPct val="110000"/>
              </a:lnSpc>
              <a:spcBef>
                <a:spcPts val="400"/>
              </a:spcBef>
              <a:spcAft>
                <a:spcPts val="0"/>
              </a:spcAft>
              <a:buClr>
                <a:schemeClr val="dk1"/>
              </a:buClr>
              <a:buSzPts val="1200"/>
              <a:buChar char="–"/>
            </a:pPr>
            <a:r>
              <a:rPr lang="en-GB" sz="1200"/>
              <a:t>Leverage digital and offline data sources and advanced analytics to deliver insights on customer value, behaviors, experiences and satisfaction</a:t>
            </a:r>
            <a:endParaRPr sz="1200"/>
          </a:p>
          <a:p>
            <a:pPr indent="-169863" lvl="0" marL="169863" rtl="0" algn="l">
              <a:lnSpc>
                <a:spcPct val="110000"/>
              </a:lnSpc>
              <a:spcBef>
                <a:spcPts val="800"/>
              </a:spcBef>
              <a:spcAft>
                <a:spcPts val="0"/>
              </a:spcAft>
              <a:buClr>
                <a:schemeClr val="dk1"/>
              </a:buClr>
              <a:buSzPts val="1400"/>
              <a:buChar char="•"/>
            </a:pPr>
            <a:r>
              <a:rPr lang="en-GB" sz="1400"/>
              <a:t>Customer Lifecycle Management</a:t>
            </a:r>
            <a:endParaRPr/>
          </a:p>
          <a:p>
            <a:pPr indent="-230187" lvl="1" marL="515938" rtl="0" algn="l">
              <a:lnSpc>
                <a:spcPct val="110000"/>
              </a:lnSpc>
              <a:spcBef>
                <a:spcPts val="400"/>
              </a:spcBef>
              <a:spcAft>
                <a:spcPts val="0"/>
              </a:spcAft>
              <a:buClr>
                <a:schemeClr val="dk1"/>
              </a:buClr>
              <a:buSzPts val="1200"/>
              <a:buChar char="–"/>
            </a:pPr>
            <a:r>
              <a:rPr lang="en-GB" sz="1200"/>
              <a:t>Acquire new customers and build relationships  with existing customers to maximize value, customer satisfaction and reduce churn</a:t>
            </a:r>
            <a:endParaRPr/>
          </a:p>
          <a:p>
            <a:pPr indent="-169863" lvl="0" marL="169863" rtl="0" algn="l">
              <a:lnSpc>
                <a:spcPct val="110000"/>
              </a:lnSpc>
              <a:spcBef>
                <a:spcPts val="800"/>
              </a:spcBef>
              <a:spcAft>
                <a:spcPts val="0"/>
              </a:spcAft>
              <a:buClr>
                <a:schemeClr val="dk1"/>
              </a:buClr>
              <a:buSzPts val="1400"/>
              <a:buChar char="•"/>
            </a:pPr>
            <a:r>
              <a:rPr lang="en-GB" sz="1400"/>
              <a:t>Customer Interaction Management</a:t>
            </a:r>
            <a:endParaRPr/>
          </a:p>
          <a:p>
            <a:pPr indent="-230187" lvl="1" marL="515938" rtl="0" algn="l">
              <a:lnSpc>
                <a:spcPct val="110000"/>
              </a:lnSpc>
              <a:spcBef>
                <a:spcPts val="400"/>
              </a:spcBef>
              <a:spcAft>
                <a:spcPts val="0"/>
              </a:spcAft>
              <a:buClr>
                <a:schemeClr val="dk1"/>
              </a:buClr>
              <a:buSzPts val="1200"/>
              <a:buChar char="–"/>
            </a:pPr>
            <a:r>
              <a:rPr lang="en-GB" sz="1200"/>
              <a:t>Manage and coordinate  interactions and messages across all inbound and outbound channels </a:t>
            </a:r>
            <a:endParaRPr/>
          </a:p>
          <a:p>
            <a:pPr indent="-153987" lvl="1" marL="515938" rtl="0" algn="l">
              <a:lnSpc>
                <a:spcPct val="110000"/>
              </a:lnSpc>
              <a:spcBef>
                <a:spcPts val="400"/>
              </a:spcBef>
              <a:spcAft>
                <a:spcPts val="0"/>
              </a:spcAft>
              <a:buClr>
                <a:schemeClr val="dk1"/>
              </a:buClr>
              <a:buSzPts val="1200"/>
              <a:buNone/>
            </a:pPr>
            <a:r>
              <a:t/>
            </a:r>
            <a:endParaRPr sz="1200"/>
          </a:p>
          <a:p>
            <a:pPr indent="-153987" lvl="1" marL="515938" rtl="0" algn="l">
              <a:lnSpc>
                <a:spcPct val="110000"/>
              </a:lnSpc>
              <a:spcBef>
                <a:spcPts val="400"/>
              </a:spcBef>
              <a:spcAft>
                <a:spcPts val="0"/>
              </a:spcAft>
              <a:buClr>
                <a:schemeClr val="dk1"/>
              </a:buClr>
              <a:buSzPts val="1200"/>
              <a:buNone/>
            </a:pPr>
            <a:r>
              <a:t/>
            </a:r>
            <a:endParaRPr sz="1200"/>
          </a:p>
          <a:p>
            <a:r>
              <a:rPr sz="800">
                <a:solidFill>
                  <a:srgbClr val="006699"/>
                </a:solidFill>
              </a:rPr>
              <a:t/>
            </a:r>
          </a:p>
          <a:p>
            <a:r>
              <a:rPr sz="800">
                <a:solidFill>
                  <a:srgbClr val="006699"/>
                </a:solidFill>
              </a:rPr>
              <a:t>Pakistan Banking Context:</a:t>
            </a:r>
          </a:p>
          <a:p>
            <a:r>
              <a:rPr sz="800">
                <a:solidFill>
                  <a:srgbClr val="006699"/>
                </a:solidFill>
              </a:rPr>
              <a:t>• Customer Information Management: CNIC-anchored identity resolution across 4-5 core banking systems, ECIB, RAAST, mobile wallets into FSDM Customer 360 (600+ entities)</a:t>
            </a:r>
          </a:p>
          <a:p>
            <a:r>
              <a:rPr sz="800">
                <a:solidFill>
                  <a:srgbClr val="006699"/>
                </a:solidFill>
              </a:rPr>
              <a:t>• Insight Driven: Leverage KIBOR-linked pricing, RAAST payment networks, CASA behavioral signals for 8-10M+ active customers</a:t>
            </a:r>
          </a:p>
          <a:p>
            <a:r>
              <a:rPr sz="800">
                <a:solidFill>
                  <a:srgbClr val="006699"/>
                </a:solidFill>
              </a:rPr>
              <a:t>• Lifecycle Management: From Asaan Digital Account through full relationship — targeting products-per-customer from 1.8 to 3.0+</a:t>
            </a:r>
          </a:p>
          <a:p>
            <a:r>
              <a:rPr sz="800">
                <a:solidFill>
                  <a:srgbClr val="006699"/>
                </a:solidFill>
              </a:rPr>
              <a:t>• Interaction Management: Orchestrate billions of interactions across 1,000+ branches, 16,000+ ATMs, 30M+ mobile users, WhatsApp, RAAST</a:t>
            </a:r>
          </a:p>
        </p:txBody>
      </p:sp>
      <p:sp>
        <p:nvSpPr>
          <p:cNvPr id="781" name="Google Shape;781;p56"/>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pic>
        <p:nvPicPr>
          <p:cNvPr descr="COM-1008-L.jpg" id="782" name="Google Shape;782;p56"/>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83" name="Google Shape;783;p56">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7" name="Shape 787"/>
        <p:cNvGrpSpPr/>
        <p:nvPr/>
      </p:nvGrpSpPr>
      <p:grpSpPr>
        <a:xfrm>
          <a:off x="0" y="0"/>
          <a:ext cx="0" cy="0"/>
          <a:chOff x="0" y="0"/>
          <a:chExt cx="0" cy="0"/>
        </a:xfrm>
      </p:grpSpPr>
      <p:pic>
        <p:nvPicPr>
          <p:cNvPr descr="COM-1008-L.jpg" id="788" name="Google Shape;788;p57"/>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89" name="Google Shape;789;p57"/>
          <p:cNvSpPr txBox="1"/>
          <p:nvPr>
            <p:ph idx="1" type="body"/>
          </p:nvPr>
        </p:nvSpPr>
        <p:spPr>
          <a:xfrm>
            <a:off x="467360" y="1065767"/>
            <a:ext cx="480528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600"/>
              <a:buNone/>
            </a:pPr>
            <a:r>
              <a:rPr lang="en-GB" sz="1600">
                <a:solidFill>
                  <a:srgbClr val="0079DB"/>
                </a:solidFill>
              </a:rPr>
              <a:t>Solutions &amp; Enablers</a:t>
            </a:r>
            <a:endParaRPr b="1" sz="1600">
              <a:solidFill>
                <a:schemeClr val="accent1"/>
              </a:solidFill>
            </a:endParaRPr>
          </a:p>
          <a:p>
            <a:pPr indent="0" lvl="0" marL="0" rtl="0" algn="l">
              <a:lnSpc>
                <a:spcPct val="90000"/>
              </a:lnSpc>
              <a:spcBef>
                <a:spcPts val="200"/>
              </a:spcBef>
              <a:spcAft>
                <a:spcPts val="0"/>
              </a:spcAft>
              <a:buClr>
                <a:schemeClr val="dk1"/>
              </a:buClr>
              <a:buSzPts val="1400"/>
              <a:buNone/>
            </a:pPr>
            <a:r>
              <a:rPr lang="en-GB" sz="1400"/>
              <a:t>Customer Journey Solution Components</a:t>
            </a:r>
            <a:endParaRPr/>
          </a:p>
          <a:p>
            <a:pPr indent="-171450" lvl="2" marL="171450" rtl="0" algn="l">
              <a:lnSpc>
                <a:spcPct val="90000"/>
              </a:lnSpc>
              <a:spcBef>
                <a:spcPts val="0"/>
              </a:spcBef>
              <a:spcAft>
                <a:spcPts val="0"/>
              </a:spcAft>
              <a:buClr>
                <a:schemeClr val="dk1"/>
              </a:buClr>
              <a:buSzPts val="1400"/>
              <a:buFont typeface="Arial"/>
              <a:buChar char="•"/>
            </a:pPr>
            <a:r>
              <a:rPr lang="en-GB"/>
              <a:t>Customer Master File (MDM)</a:t>
            </a:r>
            <a:endParaRPr/>
          </a:p>
          <a:p>
            <a:pPr indent="-171450" lvl="2" marL="171450" rtl="0" algn="l">
              <a:lnSpc>
                <a:spcPct val="90000"/>
              </a:lnSpc>
              <a:spcBef>
                <a:spcPts val="0"/>
              </a:spcBef>
              <a:spcAft>
                <a:spcPts val="0"/>
              </a:spcAft>
              <a:buClr>
                <a:schemeClr val="dk1"/>
              </a:buClr>
              <a:buSzPts val="1400"/>
              <a:buFont typeface="Arial"/>
              <a:buChar char="•"/>
            </a:pPr>
            <a:r>
              <a:rPr lang="en-GB"/>
              <a:t>Customer 360 (LDM)</a:t>
            </a:r>
            <a:endParaRPr/>
          </a:p>
          <a:p>
            <a:pPr indent="-171450" lvl="2" marL="171450" rtl="0" algn="l">
              <a:lnSpc>
                <a:spcPct val="90000"/>
              </a:lnSpc>
              <a:spcBef>
                <a:spcPts val="0"/>
              </a:spcBef>
              <a:spcAft>
                <a:spcPts val="0"/>
              </a:spcAft>
              <a:buClr>
                <a:schemeClr val="dk1"/>
              </a:buClr>
              <a:buSzPts val="1400"/>
              <a:buFont typeface="Arial"/>
              <a:buChar char="•"/>
            </a:pPr>
            <a:r>
              <a:rPr lang="en-GB"/>
              <a:t>Identity Registry(Claraview IP)</a:t>
            </a:r>
            <a:endParaRPr/>
          </a:p>
          <a:p>
            <a:pPr indent="-171450" lvl="2" marL="171450" rtl="0" algn="l">
              <a:lnSpc>
                <a:spcPct val="90000"/>
              </a:lnSpc>
              <a:spcBef>
                <a:spcPts val="0"/>
              </a:spcBef>
              <a:spcAft>
                <a:spcPts val="0"/>
              </a:spcAft>
              <a:buClr>
                <a:schemeClr val="dk1"/>
              </a:buClr>
              <a:buSzPts val="1400"/>
              <a:buFont typeface="Arial"/>
              <a:buChar char="•"/>
            </a:pPr>
            <a:r>
              <a:rPr lang="en-GB"/>
              <a:t>Event Repository (Packaged IP)</a:t>
            </a:r>
            <a:endParaRPr/>
          </a:p>
          <a:p>
            <a:pPr indent="-171450" lvl="2" marL="171450" rtl="0" algn="l">
              <a:lnSpc>
                <a:spcPct val="90000"/>
              </a:lnSpc>
              <a:spcBef>
                <a:spcPts val="0"/>
              </a:spcBef>
              <a:spcAft>
                <a:spcPts val="0"/>
              </a:spcAft>
              <a:buClr>
                <a:schemeClr val="dk1"/>
              </a:buClr>
              <a:buSzPts val="1400"/>
              <a:buFont typeface="Arial"/>
              <a:buChar char="•"/>
            </a:pPr>
            <a:r>
              <a:rPr lang="en-GB"/>
              <a:t>Digital Data Integration (Celebrus)</a:t>
            </a:r>
            <a:endParaRPr/>
          </a:p>
          <a:p>
            <a:pPr indent="-171450" lvl="2" marL="171450" rtl="0" algn="l">
              <a:lnSpc>
                <a:spcPct val="90000"/>
              </a:lnSpc>
              <a:spcBef>
                <a:spcPts val="0"/>
              </a:spcBef>
              <a:spcAft>
                <a:spcPts val="0"/>
              </a:spcAft>
              <a:buClr>
                <a:schemeClr val="dk1"/>
              </a:buClr>
              <a:buSzPts val="1400"/>
              <a:buFont typeface="Arial"/>
              <a:buChar char="•"/>
            </a:pPr>
            <a:r>
              <a:rPr lang="en-GB"/>
              <a:t>ERP Data Ingestion (TAS)</a:t>
            </a:r>
            <a:endParaRPr/>
          </a:p>
          <a:p>
            <a:pPr indent="-171450" lvl="2" marL="171450" rtl="0" algn="l">
              <a:lnSpc>
                <a:spcPct val="90000"/>
              </a:lnSpc>
              <a:spcBef>
                <a:spcPts val="0"/>
              </a:spcBef>
              <a:spcAft>
                <a:spcPts val="0"/>
              </a:spcAft>
              <a:buClr>
                <a:schemeClr val="dk1"/>
              </a:buClr>
              <a:buSzPts val="1400"/>
              <a:buFont typeface="Arial"/>
              <a:buChar char="•"/>
            </a:pPr>
            <a:r>
              <a:rPr lang="en-GB"/>
              <a:t>Customer Pathing (Packaged IP)</a:t>
            </a:r>
            <a:endParaRPr/>
          </a:p>
          <a:p>
            <a:pPr indent="-171450" lvl="2" marL="171450" rtl="0" algn="l">
              <a:lnSpc>
                <a:spcPct val="90000"/>
              </a:lnSpc>
              <a:spcBef>
                <a:spcPts val="0"/>
              </a:spcBef>
              <a:spcAft>
                <a:spcPts val="0"/>
              </a:spcAft>
              <a:buClr>
                <a:schemeClr val="dk1"/>
              </a:buClr>
              <a:buSzPts val="1400"/>
              <a:buFont typeface="Arial"/>
              <a:buChar char="•"/>
            </a:pPr>
            <a:r>
              <a:rPr lang="en-GB"/>
              <a:t>Personalization &amp; Recommendations (Packaged IP)</a:t>
            </a:r>
            <a:endParaRPr/>
          </a:p>
          <a:p>
            <a:pPr indent="-171450" lvl="2" marL="171450" rtl="0" algn="l">
              <a:lnSpc>
                <a:spcPct val="90000"/>
              </a:lnSpc>
              <a:spcBef>
                <a:spcPts val="0"/>
              </a:spcBef>
              <a:spcAft>
                <a:spcPts val="0"/>
              </a:spcAft>
              <a:buClr>
                <a:schemeClr val="dk1"/>
              </a:buClr>
              <a:buSzPts val="1400"/>
              <a:buFont typeface="Arial"/>
              <a:buChar char="•"/>
            </a:pPr>
            <a:r>
              <a:rPr lang="en-GB"/>
              <a:t>Segmentation (Packaged IP)</a:t>
            </a:r>
            <a:endParaRPr/>
          </a:p>
          <a:p>
            <a:pPr indent="-171450" lvl="2" marL="171450" rtl="0" algn="l">
              <a:lnSpc>
                <a:spcPct val="90000"/>
              </a:lnSpc>
              <a:spcBef>
                <a:spcPts val="0"/>
              </a:spcBef>
              <a:spcAft>
                <a:spcPts val="0"/>
              </a:spcAft>
              <a:buClr>
                <a:schemeClr val="dk1"/>
              </a:buClr>
              <a:buSzPts val="1400"/>
              <a:buFont typeface="Arial"/>
              <a:buChar char="•"/>
            </a:pPr>
            <a:r>
              <a:rPr lang="en-GB"/>
              <a:t>Customer Satisfaction (Packaged IP)</a:t>
            </a:r>
            <a:endParaRPr/>
          </a:p>
          <a:p>
            <a:pPr indent="-171450" lvl="2" marL="171450" rtl="0" algn="l">
              <a:lnSpc>
                <a:spcPct val="90000"/>
              </a:lnSpc>
              <a:spcBef>
                <a:spcPts val="0"/>
              </a:spcBef>
              <a:spcAft>
                <a:spcPts val="0"/>
              </a:spcAft>
              <a:buClr>
                <a:schemeClr val="dk1"/>
              </a:buClr>
              <a:buSzPts val="1400"/>
              <a:buFont typeface="Arial"/>
              <a:buChar char="•"/>
            </a:pPr>
            <a:r>
              <a:rPr lang="en-GB"/>
              <a:t>Attribution/Marketing Effectiveness (Packaged IP)</a:t>
            </a:r>
            <a:endParaRPr/>
          </a:p>
          <a:p>
            <a:pPr indent="-171450" lvl="2" marL="171450" rtl="0" algn="l">
              <a:lnSpc>
                <a:spcPct val="90000"/>
              </a:lnSpc>
              <a:spcBef>
                <a:spcPts val="0"/>
              </a:spcBef>
              <a:spcAft>
                <a:spcPts val="0"/>
              </a:spcAft>
              <a:buClr>
                <a:schemeClr val="dk1"/>
              </a:buClr>
              <a:buSzPts val="1400"/>
              <a:buFont typeface="Arial"/>
              <a:buChar char="•"/>
            </a:pPr>
            <a:r>
              <a:rPr lang="en-GB"/>
              <a:t>Analytic Framework (Packaged IP)</a:t>
            </a:r>
            <a:endParaRPr/>
          </a:p>
          <a:p>
            <a:pPr indent="-171450" lvl="2" marL="171450" rtl="0" algn="l">
              <a:lnSpc>
                <a:spcPct val="90000"/>
              </a:lnSpc>
              <a:spcBef>
                <a:spcPts val="0"/>
              </a:spcBef>
              <a:spcAft>
                <a:spcPts val="0"/>
              </a:spcAft>
              <a:buClr>
                <a:schemeClr val="dk1"/>
              </a:buClr>
              <a:buSzPts val="1400"/>
              <a:buFont typeface="Arial"/>
              <a:buChar char="•"/>
            </a:pPr>
            <a:r>
              <a:rPr lang="en-GB"/>
              <a:t>Customer Profitability (TVA)</a:t>
            </a:r>
            <a:endParaRPr/>
          </a:p>
          <a:p>
            <a:pPr indent="-171450" lvl="2" marL="171450" rtl="0" algn="l">
              <a:lnSpc>
                <a:spcPct val="90000"/>
              </a:lnSpc>
              <a:spcBef>
                <a:spcPts val="0"/>
              </a:spcBef>
              <a:spcAft>
                <a:spcPts val="0"/>
              </a:spcAft>
              <a:buClr>
                <a:schemeClr val="dk1"/>
              </a:buClr>
              <a:buSzPts val="1400"/>
              <a:buFont typeface="Arial"/>
              <a:buChar char="•"/>
            </a:pPr>
            <a:r>
              <a:rPr lang="en-GB"/>
              <a:t>Customer Interaction Manager</a:t>
            </a:r>
            <a:endParaRPr/>
          </a:p>
          <a:p>
            <a:pPr indent="-171450" lvl="2" marL="171450" rtl="0" algn="l">
              <a:lnSpc>
                <a:spcPct val="90000"/>
              </a:lnSpc>
              <a:spcBef>
                <a:spcPts val="0"/>
              </a:spcBef>
              <a:spcAft>
                <a:spcPts val="0"/>
              </a:spcAft>
              <a:buClr>
                <a:schemeClr val="dk1"/>
              </a:buClr>
              <a:buSzPts val="1400"/>
              <a:buFont typeface="Arial"/>
              <a:buChar char="•"/>
            </a:pPr>
            <a:r>
              <a:rPr lang="en-GB"/>
              <a:t>Real Time Interaction Manager</a:t>
            </a:r>
            <a:endParaRPr/>
          </a:p>
          <a:p>
            <a:pPr indent="-82550" lvl="2" marL="171450" rtl="0" algn="l">
              <a:lnSpc>
                <a:spcPct val="90000"/>
              </a:lnSpc>
              <a:spcBef>
                <a:spcPts val="0"/>
              </a:spcBef>
              <a:spcAft>
                <a:spcPts val="0"/>
              </a:spcAft>
              <a:buClr>
                <a:schemeClr val="dk1"/>
              </a:buClr>
              <a:buSzPts val="1400"/>
              <a:buFont typeface="Arial"/>
              <a:buNone/>
            </a:pPr>
            <a:r>
              <a:t/>
            </a:r>
            <a:endParaRPr/>
          </a:p>
          <a:p>
            <a:pPr indent="-82550" lvl="2" marL="171450" rtl="0" algn="l">
              <a:lnSpc>
                <a:spcPct val="90000"/>
              </a:lnSpc>
              <a:spcBef>
                <a:spcPts val="0"/>
              </a:spcBef>
              <a:spcAft>
                <a:spcPts val="0"/>
              </a:spcAft>
              <a:buClr>
                <a:schemeClr val="dk1"/>
              </a:buClr>
              <a:buSzPts val="1400"/>
              <a:buFont typeface="Arial"/>
              <a:buNone/>
            </a:pPr>
            <a:r>
              <a:t/>
            </a:r>
            <a:endParaRPr/>
          </a:p>
          <a:p>
            <a:pPr indent="-82550" lvl="2" marL="171450" rtl="0" algn="l">
              <a:lnSpc>
                <a:spcPct val="90000"/>
              </a:lnSpc>
              <a:spcBef>
                <a:spcPts val="0"/>
              </a:spcBef>
              <a:spcAft>
                <a:spcPts val="0"/>
              </a:spcAft>
              <a:buClr>
                <a:schemeClr val="dk1"/>
              </a:buClr>
              <a:buSzPts val="1400"/>
              <a:buFont typeface="Arial"/>
              <a:buNone/>
            </a:pPr>
            <a:r>
              <a:t/>
            </a:r>
            <a:endParaRPr/>
          </a:p>
          <a:p>
            <a:pPr indent="-82550" lvl="2" marL="171450" rtl="0" algn="l">
              <a:lnSpc>
                <a:spcPct val="90000"/>
              </a:lnSpc>
              <a:spcBef>
                <a:spcPts val="0"/>
              </a:spcBef>
              <a:spcAft>
                <a:spcPts val="0"/>
              </a:spcAft>
              <a:buClr>
                <a:schemeClr val="dk1"/>
              </a:buClr>
              <a:buSzPts val="1400"/>
              <a:buFont typeface="Arial"/>
              <a:buNone/>
            </a:pPr>
            <a:r>
              <a:t/>
            </a:r>
            <a:endParaRPr/>
          </a:p>
          <a:p>
            <a:pPr indent="-82550" lvl="2" marL="171450" rtl="0" algn="l">
              <a:lnSpc>
                <a:spcPct val="90000"/>
              </a:lnSpc>
              <a:spcBef>
                <a:spcPts val="0"/>
              </a:spcBef>
              <a:spcAft>
                <a:spcPts val="0"/>
              </a:spcAft>
              <a:buClr>
                <a:schemeClr val="dk1"/>
              </a:buClr>
              <a:buSzPts val="1400"/>
              <a:buFont typeface="Arial"/>
              <a:buNone/>
            </a:pPr>
            <a:r>
              <a:t/>
            </a:r>
            <a:endParaRPr/>
          </a:p>
          <a:p>
            <a:pPr indent="-82550" lvl="2" marL="171450" rtl="0" algn="l">
              <a:lnSpc>
                <a:spcPct val="90000"/>
              </a:lnSpc>
              <a:spcBef>
                <a:spcPts val="0"/>
              </a:spcBef>
              <a:spcAft>
                <a:spcPts val="0"/>
              </a:spcAft>
              <a:buClr>
                <a:schemeClr val="dk1"/>
              </a:buClr>
              <a:buSzPts val="1400"/>
              <a:buFont typeface="Arial"/>
              <a:buNone/>
            </a:pPr>
            <a:r>
              <a:t/>
            </a:r>
            <a:endParaRPr/>
          </a:p>
          <a:p>
            <a:pPr indent="-82550" lvl="2" marL="171450" rtl="0" algn="l">
              <a:lnSpc>
                <a:spcPct val="90000"/>
              </a:lnSpc>
              <a:spcBef>
                <a:spcPts val="0"/>
              </a:spcBef>
              <a:spcAft>
                <a:spcPts val="0"/>
              </a:spcAft>
              <a:buClr>
                <a:schemeClr val="dk1"/>
              </a:buClr>
              <a:buSzPts val="1400"/>
              <a:buFont typeface="Arial"/>
              <a:buNone/>
            </a:pPr>
            <a:r>
              <a:t/>
            </a:r>
            <a:endParaRPr/>
          </a:p>
          <a:p>
            <a:pPr indent="-82550" lvl="2" marL="171450" rtl="0" algn="l">
              <a:lnSpc>
                <a:spcPct val="90000"/>
              </a:lnSpc>
              <a:spcBef>
                <a:spcPts val="0"/>
              </a:spcBef>
              <a:spcAft>
                <a:spcPts val="0"/>
              </a:spcAft>
              <a:buClr>
                <a:schemeClr val="dk1"/>
              </a:buClr>
              <a:buSzPts val="1400"/>
              <a:buFont typeface="Arial"/>
              <a:buNone/>
            </a:pPr>
            <a:r>
              <a:t/>
            </a:r>
            <a:endParaRPr/>
          </a:p>
          <a:p>
            <a:r>
              <a:rPr sz="800">
                <a:solidFill>
                  <a:srgbClr val="006699"/>
                </a:solidFill>
              </a:rPr>
              <a:t/>
            </a:r>
          </a:p>
          <a:p>
            <a:r>
              <a:rPr sz="800">
                <a:solidFill>
                  <a:srgbClr val="006699"/>
                </a:solidFill>
              </a:rPr>
              <a:t>Pakistan Banking Enablers:</a:t>
            </a:r>
          </a:p>
          <a:p>
            <a:r>
              <a:rPr sz="800">
                <a:solidFill>
                  <a:srgbClr val="006699"/>
                </a:solidFill>
              </a:rPr>
              <a:t>• Customer Master File (MDM): CNIC as golden key linking all customer identities across banking systems</a:t>
            </a:r>
          </a:p>
          <a:p>
            <a:r>
              <a:rPr sz="800">
                <a:solidFill>
                  <a:srgbClr val="006699"/>
                </a:solidFill>
              </a:rPr>
              <a:t>• Customer 360 (LDM): FSDM-based with 600+ Customer domain entities supporting full relationship view</a:t>
            </a:r>
          </a:p>
          <a:p>
            <a:r>
              <a:rPr sz="800">
                <a:solidFill>
                  <a:srgbClr val="006699"/>
                </a:solidFill>
              </a:rPr>
              <a:t>• Event Repository: Capturing RAAST, IBFT, POS, mobile app sessions, branch visits — billions of events annually</a:t>
            </a:r>
          </a:p>
          <a:p>
            <a:r>
              <a:rPr sz="800">
                <a:solidFill>
                  <a:srgbClr val="006699"/>
                </a:solidFill>
              </a:rPr>
              <a:t>• Digital Data Integration: Mobile app clickstream, internet banking, WhatsApp interactions, push notification responses</a:t>
            </a:r>
          </a:p>
          <a:p>
            <a:r>
              <a:rPr sz="800">
                <a:solidFill>
                  <a:srgbClr val="006699"/>
                </a:solidFill>
              </a:rPr>
              <a:t>• Customer Profitability: KIBOR-based NII + fee income + transaction income - operating cost - risk cost (see profitability_star_schema.sql)</a:t>
            </a:r>
          </a:p>
          <a:p>
            <a:r>
              <a:rPr sz="800">
                <a:solidFill>
                  <a:srgbClr val="006699"/>
                </a:solidFill>
              </a:rPr>
              <a:t>• Real Time Interaction Manager: Sub-second NBA decisioning at mobile app, ATM screen, branch teller prompt</a:t>
            </a:r>
          </a:p>
        </p:txBody>
      </p:sp>
      <p:sp>
        <p:nvSpPr>
          <p:cNvPr id="790" name="Google Shape;790;p5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91" name="Google Shape;791;p5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 name="Shape 795"/>
        <p:cNvGrpSpPr/>
        <p:nvPr/>
      </p:nvGrpSpPr>
      <p:grpSpPr>
        <a:xfrm>
          <a:off x="0" y="0"/>
          <a:ext cx="0" cy="0"/>
          <a:chOff x="0" y="0"/>
          <a:chExt cx="0" cy="0"/>
        </a:xfrm>
      </p:grpSpPr>
      <p:pic>
        <p:nvPicPr>
          <p:cNvPr descr="COM-1008-L.jpg" id="796" name="Google Shape;796;p58"/>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97" name="Google Shape;797;p58"/>
          <p:cNvSpPr txBox="1"/>
          <p:nvPr>
            <p:ph idx="1" type="body"/>
          </p:nvPr>
        </p:nvSpPr>
        <p:spPr>
          <a:xfrm>
            <a:off x="467361" y="1182730"/>
            <a:ext cx="3940866"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Interesting Facts/Stats/Quotes</a:t>
            </a:r>
            <a:endParaRPr b="1">
              <a:solidFill>
                <a:schemeClr val="accent1"/>
              </a:solidFill>
            </a:endParaRPr>
          </a:p>
          <a:p>
            <a:r>
              <a:rPr sz="900"/>
              <a:t/>
            </a:r>
          </a:p>
          <a:p>
            <a:r>
              <a:rPr sz="1100" b="1">
                <a:solidFill>
                  <a:srgbClr val="006699"/>
                </a:solidFill>
              </a:rPr>
              <a:t>Pakistan Banking Customer Analytics Facts (2024-2025)</a:t>
            </a:r>
          </a:p>
          <a:p>
            <a:r>
              <a:rPr sz="900"/>
              <a:t/>
            </a:r>
          </a:p>
          <a:p>
            <a:r>
              <a:rPr sz="900"/>
              <a:t>Pakistan has 60M+ bank accounts but only 30% financial inclusion — meaning 100M+ adults are potential new-to-bank customers, representing the single largest growth opportunity for data-driven customer acquisition.</a:t>
            </a:r>
          </a:p>
          <a:p>
            <a:r>
              <a:rPr sz="900"/>
              <a:t/>
            </a:r>
          </a:p>
          <a:p>
            <a:r>
              <a:rPr sz="900"/>
              <a:t>100M+ mobile wallet accounts (JazzCash, Easypaisa) are generating customer behavioral data that traditional banks lack — creating a competitive intelligence gap that must be closed through advanced customer analytics.</a:t>
            </a:r>
          </a:p>
          <a:p>
            <a:r>
              <a:rPr sz="900"/>
              <a:t/>
            </a:r>
          </a:p>
          <a:p>
            <a:r>
              <a:rPr sz="900"/>
              <a:t>RAAST instant payment system processes PKR 1.5T+ monthly — generating rich transaction network data that reveals customer spending patterns, merchant relationships, and social connections invisible in traditional banking data.</a:t>
            </a:r>
          </a:p>
          <a:p>
            <a:r>
              <a:rPr sz="900"/>
              <a:t/>
            </a:r>
          </a:p>
          <a:p>
            <a:r>
              <a:rPr sz="900"/>
              <a:t>Pakistan's youth bulge (60% under 30) expects digital-first banking experiences. Banks losing this generation to fintech will face 20-year competitive disadvantage. Customer analytics must power personalized digital engagement to compete.</a:t>
            </a:r>
          </a:p>
        </p:txBody>
      </p:sp>
      <p:sp>
        <p:nvSpPr>
          <p:cNvPr id="798" name="Google Shape;798;p58"/>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99" name="Google Shape;799;p58">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 name="Shape 803"/>
        <p:cNvGrpSpPr/>
        <p:nvPr/>
      </p:nvGrpSpPr>
      <p:grpSpPr>
        <a:xfrm>
          <a:off x="0" y="0"/>
          <a:ext cx="0" cy="0"/>
          <a:chOff x="0" y="0"/>
          <a:chExt cx="0" cy="0"/>
        </a:xfrm>
      </p:grpSpPr>
      <p:pic>
        <p:nvPicPr>
          <p:cNvPr descr="COM-1008-L.jpg" id="804" name="Google Shape;804;p59"/>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805" name="Google Shape;805;p59"/>
          <p:cNvSpPr txBox="1"/>
          <p:nvPr>
            <p:ph idx="1" type="body"/>
          </p:nvPr>
        </p:nvSpPr>
        <p:spPr>
          <a:xfrm>
            <a:off x="467360" y="11827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Use Cases* public</a:t>
            </a:r>
            <a:endParaRPr b="1">
              <a:solidFill>
                <a:schemeClr val="accent1"/>
              </a:solidFill>
            </a:endParaRPr>
          </a:p>
          <a:p>
            <a:pPr indent="-169863" lvl="0" marL="169863" rtl="0" algn="l">
              <a:lnSpc>
                <a:spcPct val="110000"/>
              </a:lnSpc>
              <a:spcBef>
                <a:spcPts val="800"/>
              </a:spcBef>
              <a:spcAft>
                <a:spcPts val="0"/>
              </a:spcAft>
              <a:buClr>
                <a:schemeClr val="dk1"/>
              </a:buClr>
              <a:buSzPts val="1400"/>
              <a:buChar char="•"/>
            </a:pPr>
            <a:r>
              <a:rPr lang="en-GB" sz="1400"/>
              <a:t>Loyalty through data driven marketing (7 Eleven)</a:t>
            </a:r>
            <a:endParaRPr/>
          </a:p>
          <a:p>
            <a:pPr indent="-169863" lvl="0" marL="169863" rtl="0" algn="l">
              <a:lnSpc>
                <a:spcPct val="110000"/>
              </a:lnSpc>
              <a:spcBef>
                <a:spcPts val="800"/>
              </a:spcBef>
              <a:spcAft>
                <a:spcPts val="0"/>
              </a:spcAft>
              <a:buClr>
                <a:schemeClr val="dk1"/>
              </a:buClr>
              <a:buSzPts val="1400"/>
              <a:buChar char="•"/>
            </a:pPr>
            <a:r>
              <a:rPr lang="en-GB" sz="1400"/>
              <a:t>Data driven omni channel marketing (Ace Hardware)</a:t>
            </a:r>
            <a:endParaRPr sz="1400"/>
          </a:p>
          <a:p>
            <a:pPr indent="-169863" lvl="0" marL="169863" rtl="0" algn="l">
              <a:lnSpc>
                <a:spcPct val="110000"/>
              </a:lnSpc>
              <a:spcBef>
                <a:spcPts val="800"/>
              </a:spcBef>
              <a:spcAft>
                <a:spcPts val="0"/>
              </a:spcAft>
              <a:buClr>
                <a:schemeClr val="dk1"/>
              </a:buClr>
              <a:buSzPts val="1400"/>
              <a:buChar char="•"/>
            </a:pPr>
            <a:r>
              <a:rPr lang="en-GB" sz="1400"/>
              <a:t>Marketing powered by individualized insights (American Eagle)</a:t>
            </a:r>
            <a:endParaRPr/>
          </a:p>
          <a:p>
            <a:pPr indent="-169863" lvl="0" marL="169863" rtl="0" algn="l">
              <a:lnSpc>
                <a:spcPct val="110000"/>
              </a:lnSpc>
              <a:spcBef>
                <a:spcPts val="800"/>
              </a:spcBef>
              <a:spcAft>
                <a:spcPts val="0"/>
              </a:spcAft>
              <a:buClr>
                <a:schemeClr val="dk1"/>
              </a:buClr>
              <a:buSzPts val="1400"/>
              <a:buChar char="•"/>
            </a:pPr>
            <a:r>
              <a:rPr lang="en-GB" sz="1400"/>
              <a:t>Capitalizing on customer data to communicate and gain competitive advantage (Coop)</a:t>
            </a:r>
            <a:endParaRPr/>
          </a:p>
          <a:p>
            <a:pPr indent="-169863" lvl="0" marL="169863" rtl="0" algn="l">
              <a:lnSpc>
                <a:spcPct val="110000"/>
              </a:lnSpc>
              <a:spcBef>
                <a:spcPts val="800"/>
              </a:spcBef>
              <a:spcAft>
                <a:spcPts val="0"/>
              </a:spcAft>
              <a:buClr>
                <a:schemeClr val="dk1"/>
              </a:buClr>
              <a:buSzPts val="1400"/>
              <a:buChar char="•"/>
            </a:pPr>
            <a:r>
              <a:rPr lang="en-GB" sz="1400"/>
              <a:t>Giving customers unique, real time offers through multiple channels (Hertz)</a:t>
            </a:r>
            <a:endParaRPr/>
          </a:p>
          <a:p>
            <a:pPr indent="-169863" lvl="0" marL="169863" rtl="0" algn="l">
              <a:lnSpc>
                <a:spcPct val="110000"/>
              </a:lnSpc>
              <a:spcBef>
                <a:spcPts val="800"/>
              </a:spcBef>
              <a:spcAft>
                <a:spcPts val="0"/>
              </a:spcAft>
              <a:buClr>
                <a:schemeClr val="dk1"/>
              </a:buClr>
              <a:buSzPts val="1400"/>
              <a:buChar char="•"/>
            </a:pPr>
            <a:r>
              <a:rPr lang="en-GB" sz="1400"/>
              <a:t>identifying customer patterns and cross channel journeys (JD Williams)</a:t>
            </a:r>
            <a:endParaRPr sz="1400"/>
          </a:p>
          <a:p>
            <a:r>
              <a:rPr sz="900">
                <a:solidFill>
                  <a:srgbClr val="006699"/>
                </a:solidFill>
              </a:rPr>
              <a:t/>
            </a:r>
          </a:p>
          <a:p>
            <a:r>
              <a:rPr sz="1000" b="1">
                <a:solidFill>
                  <a:srgbClr val="006699"/>
                </a:solidFill>
              </a:rPr>
              <a:t>Pakistan Banking Customer Analytics Use Cases:</a:t>
            </a:r>
          </a:p>
          <a:p>
            <a:r>
              <a:rPr sz="900">
                <a:solidFill>
                  <a:srgbClr val="006699"/>
                </a:solidFill>
              </a:rPr>
              <a:t>Leading Pakistani bank achieved 35% increase in cross-sell conversion by deploying next-best-product recommendations at branch point-of-sale</a:t>
            </a:r>
          </a:p>
          <a:p>
            <a:r>
              <a:rPr sz="900">
                <a:solidFill>
                  <a:srgbClr val="006699"/>
                </a:solidFill>
              </a:rPr>
              <a:t>Major bank reduced CASA silent churn by 20% through behavioral early warning models identifying balance decline patterns 60 days before dormancy</a:t>
            </a:r>
          </a:p>
          <a:p>
            <a:r>
              <a:rPr sz="900">
                <a:solidFill>
                  <a:srgbClr val="006699"/>
                </a:solidFill>
              </a:rPr>
              <a:t>Digital bank achieved 80% straight-through account opening using CNIC/biometric verification with real-time NADRA validation and automated risk scoring</a:t>
            </a:r>
          </a:p>
        </p:txBody>
      </p:sp>
      <p:sp>
        <p:nvSpPr>
          <p:cNvPr id="806" name="Google Shape;806;p5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807" name="Google Shape;807;p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1" name="Shape 811"/>
        <p:cNvGrpSpPr/>
        <p:nvPr/>
      </p:nvGrpSpPr>
      <p:grpSpPr>
        <a:xfrm>
          <a:off x="0" y="0"/>
          <a:ext cx="0" cy="0"/>
          <a:chOff x="0" y="0"/>
          <a:chExt cx="0" cy="0"/>
        </a:xfrm>
      </p:grpSpPr>
      <p:pic>
        <p:nvPicPr>
          <p:cNvPr descr="COM-1008-L.jpg" id="812" name="Google Shape;812;p60"/>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813" name="Google Shape;813;p60"/>
          <p:cNvSpPr txBox="1"/>
          <p:nvPr>
            <p:ph idx="1" type="body"/>
          </p:nvPr>
        </p:nvSpPr>
        <p:spPr>
          <a:xfrm>
            <a:off x="467360" y="11827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Use Cases* public</a:t>
            </a:r>
            <a:endParaRPr b="1">
              <a:solidFill>
                <a:schemeClr val="accent1"/>
              </a:solidFill>
            </a:endParaRPr>
          </a:p>
          <a:p>
            <a:pPr indent="-169863" lvl="0" marL="169863" rtl="0" algn="l">
              <a:lnSpc>
                <a:spcPct val="110000"/>
              </a:lnSpc>
              <a:spcBef>
                <a:spcPts val="800"/>
              </a:spcBef>
              <a:spcAft>
                <a:spcPts val="0"/>
              </a:spcAft>
              <a:buClr>
                <a:schemeClr val="dk1"/>
              </a:buClr>
              <a:buSzPts val="1400"/>
              <a:buChar char="•"/>
            </a:pPr>
            <a:r>
              <a:rPr lang="en-GB" sz="1400"/>
              <a:t>Executing customer-centric strategy based on  multi-channel, multi-step communications (Lloyds Banking Group)</a:t>
            </a:r>
            <a:endParaRPr/>
          </a:p>
          <a:p>
            <a:pPr indent="-169863" lvl="0" marL="169863" rtl="0" algn="l">
              <a:lnSpc>
                <a:spcPct val="110000"/>
              </a:lnSpc>
              <a:spcBef>
                <a:spcPts val="800"/>
              </a:spcBef>
              <a:spcAft>
                <a:spcPts val="0"/>
              </a:spcAft>
              <a:buClr>
                <a:schemeClr val="dk1"/>
              </a:buClr>
              <a:buSzPts val="1400"/>
              <a:buChar char="•"/>
            </a:pPr>
            <a:r>
              <a:rPr lang="en-GB" sz="1400"/>
              <a:t>Creating conversations with 4.8 Billion Consumers (Procter and Gamble)</a:t>
            </a:r>
            <a:endParaRPr sz="1400"/>
          </a:p>
          <a:p>
            <a:r>
              <a:rPr sz="900">
                <a:solidFill>
                  <a:srgbClr val="006699"/>
                </a:solidFill>
              </a:rPr>
              <a:t/>
            </a:r>
          </a:p>
          <a:p>
            <a:r>
              <a:rPr sz="1000" b="1">
                <a:solidFill>
                  <a:srgbClr val="006699"/>
                </a:solidFill>
              </a:rPr>
              <a:t>Pakistan Banking Customer Analytics Use Cases:</a:t>
            </a:r>
          </a:p>
          <a:p>
            <a:r>
              <a:rPr sz="900">
                <a:solidFill>
                  <a:srgbClr val="006699"/>
                </a:solidFill>
              </a:rPr>
              <a:t>Banking group increased customer profitability visibility by implementing FSDM-based profitability engine calculating NII, fee income, and risk cost at individual customer level across all products</a:t>
            </a:r>
          </a:p>
          <a:p>
            <a:r>
              <a:rPr sz="900">
                <a:solidFill>
                  <a:srgbClr val="006699"/>
                </a:solidFill>
              </a:rPr>
              <a:t>Mobile-first bank achieved 4x higher engagement rates through real-time personalization on mobile app — delivering contextual offers based on transaction patterns, location, and time-of-day</a:t>
            </a:r>
          </a:p>
        </p:txBody>
      </p:sp>
      <p:sp>
        <p:nvSpPr>
          <p:cNvPr id="814" name="Google Shape;814;p6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815" name="Google Shape;815;p60">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 name="Shape 819"/>
        <p:cNvGrpSpPr/>
        <p:nvPr/>
      </p:nvGrpSpPr>
      <p:grpSpPr>
        <a:xfrm>
          <a:off x="0" y="0"/>
          <a:ext cx="0" cy="0"/>
          <a:chOff x="0" y="0"/>
          <a:chExt cx="0" cy="0"/>
        </a:xfrm>
      </p:grpSpPr>
      <p:sp>
        <p:nvSpPr>
          <p:cNvPr id="820" name="Google Shape;820;p6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&amp; Customer Experience</a:t>
            </a:r>
            <a:endParaRPr/>
          </a:p>
        </p:txBody>
      </p:sp>
      <p:sp>
        <p:nvSpPr>
          <p:cNvPr id="821" name="Google Shape;821;p61"/>
          <p:cNvSpPr txBox="1"/>
          <p:nvPr>
            <p:ph idx="4294967295" type="body"/>
          </p:nvPr>
        </p:nvSpPr>
        <p:spPr>
          <a:xfrm>
            <a:off x="288384" y="1010012"/>
            <a:ext cx="4369677" cy="3672000"/>
          </a:xfrm>
          <a:prstGeom prst="rect">
            <a:avLst/>
          </a:prstGeom>
          <a:noFill/>
          <a:ln>
            <a:noFill/>
          </a:ln>
        </p:spPr>
        <p:txBody>
          <a:bodyPr anchorCtr="0" anchor="t" bIns="0" lIns="0" spcFirstLastPara="1" rIns="0" wrap="square" tIns="0">
            <a:noAutofit/>
          </a:bodyPr>
          <a:lstStyle/>
          <a:p>
            <a:pPr indent="0" lvl="0" marL="0" rtl="0" algn="l">
              <a:lnSpc>
                <a:spcPct val="100000"/>
              </a:lnSpc>
              <a:spcBef>
                <a:spcPts val="0"/>
              </a:spcBef>
              <a:spcAft>
                <a:spcPts val="0"/>
              </a:spcAft>
              <a:buClr>
                <a:schemeClr val="dk2"/>
              </a:buClr>
              <a:buSzPts val="1800"/>
              <a:buNone/>
            </a:pPr>
            <a:r>
              <a:rPr lang="en-GB">
                <a:solidFill>
                  <a:schemeClr val="dk2"/>
                </a:solidFill>
              </a:rPr>
              <a:t>   Are You Able To…</a:t>
            </a:r>
            <a:endParaRPr/>
          </a:p>
          <a:p>
            <a:r>
              <a:rPr sz="900"/>
              <a:t>Identify which channel each customer prefers — branch, mobile app, internet banking, ATM, WhatsApp, or RAAST — and deliver personalized experiences through their preferred touchpoint?</a:t>
            </a:r>
          </a:p>
          <a:p>
            <a:r>
              <a:rPr sz="900"/>
              <a:t/>
            </a:r>
          </a:p>
          <a:p>
            <a:r>
              <a:rPr sz="900"/>
              <a:t>Predict which product each customer is most likely to adopt next — from CASA to term deposit, personal loan, credit card, bancassurance, or home finance — and when they are most receptive to the offer?</a:t>
            </a:r>
          </a:p>
          <a:p>
            <a:r>
              <a:rPr sz="900"/>
              <a:t/>
            </a:r>
          </a:p>
          <a:p>
            <a:r>
              <a:rPr sz="900"/>
              <a:t>Detect CASA silent churn — customers gradually redirecting salary credits and reducing balances — 60-90 days before the account goes dormant, enabling proactive retention intervention?</a:t>
            </a:r>
          </a:p>
          <a:p>
            <a:r>
              <a:rPr sz="900"/>
              <a:t/>
            </a:r>
          </a:p>
          <a:p>
            <a:r>
              <a:rPr sz="900"/>
              <a:t>Analyze Urdu and English text from call center recordings, branch visit notes, social media, and Banking Mohtasib complaints to understand customer sentiment and service quality?</a:t>
            </a:r>
          </a:p>
          <a:p>
            <a:r>
              <a:rPr sz="900"/>
              <a:t/>
            </a:r>
          </a:p>
          <a:p>
            <a:r>
              <a:rPr sz="900"/>
              <a:t>Deliver real-time next-best-action recommendations within the mobile app session — triggered by customer context (salary credit, large payment, end-of-month balance, proximity to branch/ATM)?</a:t>
            </a:r>
          </a:p>
          <a:p>
            <a:r>
              <a:rPr sz="900"/>
              <a:t/>
            </a:r>
          </a:p>
          <a:p>
            <a:r>
              <a:rPr sz="900"/>
              <a:t>Measure the true profitability of each customer across all products — calculating KIBOR-based NII, fee income, transaction income, operating cost, and IFRS 9 risk cost at the individual level?</a:t>
            </a:r>
          </a:p>
          <a:p>
            <a:r>
              <a:rPr sz="900"/>
              <a:t/>
            </a:r>
          </a:p>
          <a:p>
            <a:r>
              <a:rPr sz="900"/>
              <a:t>Attribute customer acquisition and product adoption across marketing touchpoints — TV, digital, SMS, WhatsApp, branch referral — to optimize the bank's PKR 500M+ annual marketing spend?</a:t>
            </a:r>
          </a:p>
        </p:txBody>
      </p:sp>
      <p:pic>
        <p:nvPicPr>
          <p:cNvPr descr="COM-1008-L.jpg" id="822" name="Google Shape;822;p61"/>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823" name="Google Shape;823;p61">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 name="Shape 828"/>
        <p:cNvGrpSpPr/>
        <p:nvPr/>
      </p:nvGrpSpPr>
      <p:grpSpPr>
        <a:xfrm>
          <a:off x="0" y="0"/>
          <a:ext cx="0" cy="0"/>
          <a:chOff x="0" y="0"/>
          <a:chExt cx="0" cy="0"/>
        </a:xfrm>
      </p:grpSpPr>
      <p:sp>
        <p:nvSpPr>
          <p:cNvPr id="829" name="Google Shape;829;p62"/>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830" name="Google Shape;830;p62"/>
          <p:cNvSpPr/>
          <p:nvPr/>
        </p:nvSpPr>
        <p:spPr>
          <a:xfrm>
            <a:off x="3009902" y="3742053"/>
            <a:ext cx="5628722" cy="676957"/>
          </a:xfrm>
          <a:prstGeom prst="rect">
            <a:avLst/>
          </a:prstGeom>
          <a:solidFill>
            <a:schemeClr val="lt2"/>
          </a:solidFill>
          <a:ln>
            <a:noFill/>
          </a:ln>
        </p:spPr>
        <p:txBody>
          <a:bodyPr anchorCtr="0" anchor="ctr" bIns="91425" lIns="252000" spcFirstLastPara="1" rIns="91425" wrap="square" tIns="90000">
            <a:noAutofit/>
          </a:bodyPr>
          <a:lstStyle/>
          <a:p>
            <a:pPr indent="0" lvl="0" marL="0" marR="0" rtl="0" algn="l">
              <a:spcBef>
                <a:spcPts val="0"/>
              </a:spcBef>
              <a:spcAft>
                <a:spcPts val="0"/>
              </a:spcAft>
              <a:buNone/>
            </a:pPr>
            <a:r>
              <a:rPr lang="en-GB" sz="900">
                <a:solidFill>
                  <a:schemeClr val="dk1"/>
                </a:solidFill>
                <a:latin typeface="Century Gothic"/>
                <a:ea typeface="Century Gothic"/>
                <a:cs typeface="Century Gothic"/>
                <a:sym typeface="Century Gothic"/>
              </a:rPr>
              <a:t>The marketing  world has dramatically changed and there  is a plethora of tools and technologies, which are often channel specific. Companies need a central customer interaction “hub” to manage and coordinate all campaigns, event driven interactions, and real time interactions consistently across all inbound and outbound channels</a:t>
            </a:r>
            <a:endParaRPr sz="900">
              <a:solidFill>
                <a:schemeClr val="dk1"/>
              </a:solidFill>
              <a:latin typeface="Century Gothic"/>
              <a:ea typeface="Century Gothic"/>
              <a:cs typeface="Century Gothic"/>
              <a:sym typeface="Century Gothic"/>
            </a:endParaRPr>
          </a:p>
          <a:p>
            <a:r>
              <a:rPr sz="800">
                <a:solidFill>
                  <a:srgbClr val="006699"/>
                </a:solidFill>
              </a:rPr>
              <a:t>In Pakistan, this challenge is amplified by 4-5 core banking systems per bank, separate systems for Islamic and conventional banking, mobile wallet data sitting with telcos (Jazz, Telenor), and ECIB credit bureau data accessible only in batch. CNIC provides the golden key but identity resolution across systems requires sophisticated MDM capabilities.</a:t>
            </a:r>
          </a:p>
        </p:txBody>
      </p:sp>
      <p:sp>
        <p:nvSpPr>
          <p:cNvPr id="831" name="Google Shape;831;p62"/>
          <p:cNvSpPr/>
          <p:nvPr/>
        </p:nvSpPr>
        <p:spPr>
          <a:xfrm>
            <a:off x="3009902" y="3044941"/>
            <a:ext cx="5628722" cy="676957"/>
          </a:xfrm>
          <a:prstGeom prst="rect">
            <a:avLst/>
          </a:prstGeom>
          <a:solidFill>
            <a:schemeClr val="lt2"/>
          </a:solidFill>
          <a:ln>
            <a:noFill/>
          </a:ln>
        </p:spPr>
        <p:txBody>
          <a:bodyPr anchorCtr="0" anchor="ctr" bIns="91425" lIns="252000" spcFirstLastPara="1" rIns="91425" wrap="square" tIns="90000">
            <a:noAutofit/>
          </a:bodyPr>
          <a:lstStyle/>
          <a:p>
            <a:pPr indent="0" lvl="0" marL="228600" marR="0" rtl="0" algn="l">
              <a:spcBef>
                <a:spcPts val="0"/>
              </a:spcBef>
              <a:spcAft>
                <a:spcPts val="0"/>
              </a:spcAft>
              <a:buNone/>
            </a:pPr>
            <a:r>
              <a:rPr lang="en-GB" sz="900">
                <a:solidFill>
                  <a:srgbClr val="3C3C3B"/>
                </a:solidFill>
                <a:latin typeface="Century Gothic"/>
                <a:ea typeface="Century Gothic"/>
                <a:cs typeface="Century Gothic"/>
                <a:sym typeface="Century Gothic"/>
              </a:rPr>
              <a:t>As digital channels continue to grow,  companies need to provide contextually relevant, personalized experiences in real time</a:t>
            </a:r>
            <a:endParaRPr sz="900">
              <a:solidFill>
                <a:srgbClr val="3C3C3B"/>
              </a:solidFill>
              <a:latin typeface="Century Gothic"/>
              <a:ea typeface="Century Gothic"/>
              <a:cs typeface="Century Gothic"/>
              <a:sym typeface="Century Gothic"/>
            </a:endParaRPr>
          </a:p>
          <a:p>
            <a:r>
              <a:rPr sz="800">
                <a:solidFill>
                  <a:srgbClr val="006699"/>
                </a:solidFill>
              </a:rPr>
              <a:t>Real-time capability is critical as Pakistan's digital banking transactions grow 40% YoY. When a customer receives a salary credit via RTGS, the bank has a 30-minute window to offer a personal loan or term deposit before the money moves to a competitor.</a:t>
            </a:r>
          </a:p>
        </p:txBody>
      </p:sp>
      <p:sp>
        <p:nvSpPr>
          <p:cNvPr id="832" name="Google Shape;832;p62"/>
          <p:cNvSpPr/>
          <p:nvPr/>
        </p:nvSpPr>
        <p:spPr>
          <a:xfrm>
            <a:off x="3009902" y="2342855"/>
            <a:ext cx="5628722" cy="676957"/>
          </a:xfrm>
          <a:prstGeom prst="rect">
            <a:avLst/>
          </a:prstGeom>
          <a:solidFill>
            <a:schemeClr val="lt2"/>
          </a:solidFill>
          <a:ln>
            <a:noFill/>
          </a:ln>
        </p:spPr>
        <p:txBody>
          <a:bodyPr anchorCtr="0" anchor="ctr" bIns="91425" lIns="252000" spcFirstLastPara="1" rIns="91425" wrap="square" tIns="90000">
            <a:noAutofit/>
          </a:bodyPr>
          <a:lstStyle/>
          <a:p>
            <a:pPr indent="0" lvl="0" marL="228600" marR="0" rtl="0" algn="l">
              <a:spcBef>
                <a:spcPts val="0"/>
              </a:spcBef>
              <a:spcAft>
                <a:spcPts val="0"/>
              </a:spcAft>
              <a:buNone/>
            </a:pPr>
            <a:r>
              <a:rPr lang="en-GB" sz="900">
                <a:solidFill>
                  <a:schemeClr val="dk1"/>
                </a:solidFill>
                <a:latin typeface="Century Gothic"/>
                <a:ea typeface="Century Gothic"/>
                <a:cs typeface="Century Gothic"/>
                <a:sym typeface="Century Gothic"/>
              </a:rPr>
              <a:t>It has become increasingly difficult to understand customer behaviors  as they are omni-channel, non-linear. To provide the seamless experience that customers expect, companies need to move from analyzing individual transactions to understanding customer journeys across touch points and over time.</a:t>
            </a:r>
            <a:endParaRPr/>
          </a:p>
          <a:p>
            <a:r>
              <a:rPr sz="800">
                <a:solidFill>
                  <a:srgbClr val="006699"/>
                </a:solidFill>
              </a:rPr>
              <a:t>Pakistan's customer journeys span unique touchpoints: RAAST payment notifications, JazzCash bill payments, branch cash deposits (still 40% of transactions), WhatsApp banking inquiries, and biometric ATM authentication. These must be captured as FSDM Event entities.</a:t>
            </a:r>
          </a:p>
        </p:txBody>
      </p:sp>
      <p:sp>
        <p:nvSpPr>
          <p:cNvPr id="833" name="Google Shape;833;p62"/>
          <p:cNvSpPr/>
          <p:nvPr/>
        </p:nvSpPr>
        <p:spPr>
          <a:xfrm>
            <a:off x="3009901" y="1638599"/>
            <a:ext cx="5628722" cy="676957"/>
          </a:xfrm>
          <a:prstGeom prst="rect">
            <a:avLst/>
          </a:prstGeom>
          <a:solidFill>
            <a:schemeClr val="lt2"/>
          </a:solidFill>
          <a:ln>
            <a:noFill/>
          </a:ln>
        </p:spPr>
        <p:txBody>
          <a:bodyPr anchorCtr="0" anchor="ctr" bIns="91425" lIns="252000" spcFirstLastPara="1" rIns="91425" wrap="square" tIns="90000">
            <a:noAutofit/>
          </a:bodyPr>
          <a:lstStyle/>
          <a:p>
            <a:pPr indent="0" lvl="0" marL="0" marR="0" rtl="0" algn="l">
              <a:spcBef>
                <a:spcPts val="0"/>
              </a:spcBef>
              <a:spcAft>
                <a:spcPts val="0"/>
              </a:spcAft>
              <a:buNone/>
            </a:pPr>
            <a:r>
              <a:rPr lang="en-GB" sz="900">
                <a:solidFill>
                  <a:schemeClr val="dk1"/>
                </a:solidFill>
                <a:latin typeface="Century Gothic"/>
                <a:ea typeface="Century Gothic"/>
                <a:cs typeface="Century Gothic"/>
                <a:sym typeface="Century Gothic"/>
              </a:rPr>
              <a:t>Companies need to capture both traditional  data sources, such as transactional data, and new sources of data such as web/mobile browsing, search, call center  and social data to build a complete picture of each customer.  Companies  also need to build a repository  with a wide variety of customer “events” to fully analyze customer interactions and behavior.</a:t>
            </a:r>
            <a:endParaRPr sz="900">
              <a:solidFill>
                <a:schemeClr val="dk1"/>
              </a:solidFill>
              <a:latin typeface="Century Gothic"/>
              <a:ea typeface="Century Gothic"/>
              <a:cs typeface="Century Gothic"/>
              <a:sym typeface="Century Gothic"/>
            </a:endParaRPr>
          </a:p>
          <a:p>
            <a:r>
              <a:rPr sz="800">
                <a:solidFill>
                  <a:srgbClr val="006699"/>
                </a:solidFill>
              </a:rPr>
              <a:t>Pakistan's major banks manage 8-10M+ active customers across 1,000+ branches, 16,000+ ATMs, 30M+ mobile banking users, and billions of RAAST/IBFT transactions. Coordinating at this scale while respecting SBP Fair Treatment guidelines requires enterprise-grade interaction management.</a:t>
            </a:r>
          </a:p>
        </p:txBody>
      </p:sp>
      <p:sp>
        <p:nvSpPr>
          <p:cNvPr id="834" name="Google Shape;834;p62"/>
          <p:cNvSpPr/>
          <p:nvPr/>
        </p:nvSpPr>
        <p:spPr>
          <a:xfrm>
            <a:off x="496825" y="863025"/>
            <a:ext cx="8136847"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rgbClr val="FFFFFF"/>
                </a:solidFill>
                <a:latin typeface="Century Gothic"/>
                <a:ea typeface="Century Gothic"/>
                <a:cs typeface="Century Gothic"/>
                <a:sym typeface="Century Gothic"/>
              </a:rPr>
              <a:t>To develop a detailed understanding of individual Customer behavior and journeys across all channels and deploy these insights to deliver a consistent, relevant customer experience at every touch point</a:t>
            </a:r>
            <a:endParaRPr sz="1200">
              <a:solidFill>
                <a:srgbClr val="FFFFFF"/>
              </a:solidFill>
              <a:latin typeface="Century Gothic"/>
              <a:ea typeface="Century Gothic"/>
              <a:cs typeface="Century Gothic"/>
              <a:sym typeface="Century Gothic"/>
            </a:endParaRPr>
          </a:p>
        </p:txBody>
      </p:sp>
      <p:sp>
        <p:nvSpPr>
          <p:cNvPr id="835" name="Google Shape;835;p62"/>
          <p:cNvSpPr txBox="1"/>
          <p:nvPr/>
        </p:nvSpPr>
        <p:spPr>
          <a:xfrm>
            <a:off x="3048000" y="134128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836" name="Google Shape;836;p62"/>
          <p:cNvGrpSpPr/>
          <p:nvPr/>
        </p:nvGrpSpPr>
        <p:grpSpPr>
          <a:xfrm>
            <a:off x="0" y="1635884"/>
            <a:ext cx="3251201" cy="2796415"/>
            <a:chOff x="0" y="1635884"/>
            <a:chExt cx="3340101" cy="2796415"/>
          </a:xfrm>
        </p:grpSpPr>
        <p:sp>
          <p:nvSpPr>
            <p:cNvPr id="837" name="Google Shape;837;p62"/>
            <p:cNvSpPr/>
            <p:nvPr/>
          </p:nvSpPr>
          <p:spPr>
            <a:xfrm>
              <a:off x="1" y="3731800"/>
              <a:ext cx="3340100" cy="700499"/>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38" name="Google Shape;838;p62"/>
            <p:cNvSpPr/>
            <p:nvPr/>
          </p:nvSpPr>
          <p:spPr>
            <a:xfrm>
              <a:off x="1" y="2340140"/>
              <a:ext cx="3340100"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39" name="Google Shape;839;p62"/>
            <p:cNvSpPr/>
            <p:nvPr/>
          </p:nvSpPr>
          <p:spPr>
            <a:xfrm>
              <a:off x="0" y="1635884"/>
              <a:ext cx="3340100"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40" name="Google Shape;840;p62"/>
            <p:cNvSpPr/>
            <p:nvPr/>
          </p:nvSpPr>
          <p:spPr>
            <a:xfrm>
              <a:off x="1" y="3042226"/>
              <a:ext cx="3340100"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grpSp>
      <p:grpSp>
        <p:nvGrpSpPr>
          <p:cNvPr id="841" name="Google Shape;841;p62"/>
          <p:cNvGrpSpPr/>
          <p:nvPr/>
        </p:nvGrpSpPr>
        <p:grpSpPr>
          <a:xfrm>
            <a:off x="495300" y="1635884"/>
            <a:ext cx="2724275" cy="2784042"/>
            <a:chOff x="501774" y="1635884"/>
            <a:chExt cx="3340101" cy="2784042"/>
          </a:xfrm>
        </p:grpSpPr>
        <p:sp>
          <p:nvSpPr>
            <p:cNvPr id="842" name="Google Shape;842;p62"/>
            <p:cNvSpPr/>
            <p:nvPr/>
          </p:nvSpPr>
          <p:spPr>
            <a:xfrm>
              <a:off x="501775" y="2340140"/>
              <a:ext cx="3340100" cy="680588"/>
            </a:xfrm>
            <a:prstGeom prst="homePlate">
              <a:avLst>
                <a:gd fmla="val 23856" name="adj"/>
              </a:avLst>
            </a:prstGeom>
            <a:solidFill>
              <a:srgbClr val="EC881D"/>
            </a:solidFill>
            <a:ln>
              <a:noFill/>
            </a:ln>
          </p:spPr>
          <p:txBody>
            <a:bodyPr anchorCtr="0" anchor="ctr" bIns="91425" lIns="274300" spcFirstLastPara="1" rIns="228600" wrap="square" tIns="91425">
              <a:noAutofit/>
            </a:bodyPr>
            <a:lstStyle/>
            <a:p>
              <a:pPr indent="0" lvl="0" marL="0" marR="0" rtl="0" algn="l">
                <a:spcBef>
                  <a:spcPts val="0"/>
                </a:spcBef>
                <a:spcAft>
                  <a:spcPts val="0"/>
                </a:spcAft>
                <a:buNone/>
              </a:pPr>
              <a:r>
                <a:rPr lang="en-GB" sz="1400">
                  <a:solidFill>
                    <a:srgbClr val="FFFFFF"/>
                  </a:solidFill>
                  <a:latin typeface="Century Gothic"/>
                  <a:ea typeface="Century Gothic"/>
                  <a:cs typeface="Century Gothic"/>
                  <a:sym typeface="Century Gothic"/>
                </a:rPr>
                <a:t>Understanding Customer Journeys</a:t>
              </a:r>
              <a:endParaRPr sz="1400">
                <a:solidFill>
                  <a:srgbClr val="FFFFFF"/>
                </a:solidFill>
                <a:latin typeface="Century Gothic"/>
                <a:ea typeface="Century Gothic"/>
                <a:cs typeface="Century Gothic"/>
                <a:sym typeface="Century Gothic"/>
              </a:endParaRPr>
            </a:p>
          </p:txBody>
        </p:sp>
        <p:sp>
          <p:nvSpPr>
            <p:cNvPr id="843" name="Google Shape;843;p62"/>
            <p:cNvSpPr/>
            <p:nvPr/>
          </p:nvSpPr>
          <p:spPr>
            <a:xfrm>
              <a:off x="501774" y="1635884"/>
              <a:ext cx="3340100" cy="680588"/>
            </a:xfrm>
            <a:prstGeom prst="homePlate">
              <a:avLst>
                <a:gd fmla="val 23856" name="adj"/>
              </a:avLst>
            </a:prstGeom>
            <a:solidFill>
              <a:srgbClr val="EC881D"/>
            </a:solidFill>
            <a:ln>
              <a:noFill/>
            </a:ln>
          </p:spPr>
          <p:txBody>
            <a:bodyPr anchorCtr="0" anchor="ctr" bIns="91425" lIns="274300" spcFirstLastPara="1" rIns="228600" wrap="square" tIns="91425">
              <a:noAutofit/>
            </a:bodyPr>
            <a:lstStyle/>
            <a:p>
              <a:pPr indent="0" lvl="0" marL="0" marR="0" rtl="0" algn="l">
                <a:spcBef>
                  <a:spcPts val="0"/>
                </a:spcBef>
                <a:spcAft>
                  <a:spcPts val="0"/>
                </a:spcAft>
                <a:buNone/>
              </a:pPr>
              <a:r>
                <a:rPr lang="en-GB" sz="1400">
                  <a:solidFill>
                    <a:srgbClr val="FFFFFF"/>
                  </a:solidFill>
                  <a:latin typeface="Century Gothic"/>
                  <a:ea typeface="Century Gothic"/>
                  <a:cs typeface="Century Gothic"/>
                  <a:sym typeface="Century Gothic"/>
                </a:rPr>
                <a:t>Robust View of Customer</a:t>
              </a:r>
              <a:endParaRPr sz="1400">
                <a:solidFill>
                  <a:srgbClr val="FFFFFF"/>
                </a:solidFill>
                <a:latin typeface="Century Gothic"/>
                <a:ea typeface="Century Gothic"/>
                <a:cs typeface="Century Gothic"/>
                <a:sym typeface="Century Gothic"/>
              </a:endParaRPr>
            </a:p>
          </p:txBody>
        </p:sp>
        <p:sp>
          <p:nvSpPr>
            <p:cNvPr id="844" name="Google Shape;844;p62"/>
            <p:cNvSpPr/>
            <p:nvPr/>
          </p:nvSpPr>
          <p:spPr>
            <a:xfrm>
              <a:off x="501775" y="3739338"/>
              <a:ext cx="3340100" cy="680588"/>
            </a:xfrm>
            <a:prstGeom prst="homePlate">
              <a:avLst>
                <a:gd fmla="val 23856" name="adj"/>
              </a:avLst>
            </a:prstGeom>
            <a:solidFill>
              <a:srgbClr val="EC881D"/>
            </a:solidFill>
            <a:ln>
              <a:noFill/>
            </a:ln>
          </p:spPr>
          <p:txBody>
            <a:bodyPr anchorCtr="0" anchor="ctr" bIns="91425" lIns="274300" spcFirstLastPara="1" rIns="228600" wrap="square" tIns="91425">
              <a:noAutofit/>
            </a:bodyPr>
            <a:lstStyle/>
            <a:p>
              <a:pPr indent="0" lvl="0" marL="0" marR="0" rtl="0" algn="l">
                <a:spcBef>
                  <a:spcPts val="0"/>
                </a:spcBef>
                <a:spcAft>
                  <a:spcPts val="0"/>
                </a:spcAft>
                <a:buNone/>
              </a:pPr>
              <a:r>
                <a:rPr lang="en-GB" sz="1400">
                  <a:solidFill>
                    <a:srgbClr val="FFFFFF"/>
                  </a:solidFill>
                  <a:latin typeface="Century Gothic"/>
                  <a:ea typeface="Century Gothic"/>
                  <a:cs typeface="Century Gothic"/>
                  <a:sym typeface="Century Gothic"/>
                </a:rPr>
                <a:t>Interaction Management At Scale</a:t>
              </a:r>
              <a:endParaRPr sz="1400">
                <a:solidFill>
                  <a:srgbClr val="FFFFFF"/>
                </a:solidFill>
                <a:latin typeface="Century Gothic"/>
                <a:ea typeface="Century Gothic"/>
                <a:cs typeface="Century Gothic"/>
                <a:sym typeface="Century Gothic"/>
              </a:endParaRPr>
            </a:p>
          </p:txBody>
        </p:sp>
        <p:sp>
          <p:nvSpPr>
            <p:cNvPr id="845" name="Google Shape;845;p62"/>
            <p:cNvSpPr/>
            <p:nvPr/>
          </p:nvSpPr>
          <p:spPr>
            <a:xfrm>
              <a:off x="501775" y="3042226"/>
              <a:ext cx="3340100" cy="680588"/>
            </a:xfrm>
            <a:prstGeom prst="homePlate">
              <a:avLst>
                <a:gd fmla="val 23856" name="adj"/>
              </a:avLst>
            </a:prstGeom>
            <a:solidFill>
              <a:srgbClr val="EC881D"/>
            </a:solidFill>
            <a:ln>
              <a:noFill/>
            </a:ln>
          </p:spPr>
          <p:txBody>
            <a:bodyPr anchorCtr="0" anchor="ctr" bIns="91425" lIns="274300" spcFirstLastPara="1" rIns="228600" wrap="square" tIns="91425">
              <a:noAutofit/>
            </a:bodyPr>
            <a:lstStyle/>
            <a:p>
              <a:pPr indent="0" lvl="0" marL="0" marR="0" rtl="0" algn="l">
                <a:spcBef>
                  <a:spcPts val="0"/>
                </a:spcBef>
                <a:spcAft>
                  <a:spcPts val="0"/>
                </a:spcAft>
                <a:buNone/>
              </a:pPr>
              <a:r>
                <a:rPr lang="en-GB" sz="1400">
                  <a:solidFill>
                    <a:srgbClr val="FFFFFF"/>
                  </a:solidFill>
                  <a:latin typeface="Century Gothic"/>
                  <a:ea typeface="Century Gothic"/>
                  <a:cs typeface="Century Gothic"/>
                  <a:sym typeface="Century Gothic"/>
                </a:rPr>
                <a:t>Real Time Relevance</a:t>
              </a:r>
              <a:endParaRPr sz="1400">
                <a:solidFill>
                  <a:srgbClr val="FFFFFF"/>
                </a:solidFill>
                <a:latin typeface="Century Gothic"/>
                <a:ea typeface="Century Gothic"/>
                <a:cs typeface="Century Gothic"/>
                <a:sym typeface="Century Gothic"/>
              </a:endParaRPr>
            </a:p>
          </p:txBody>
        </p:sp>
      </p:grpSp>
      <p:sp>
        <p:nvSpPr>
          <p:cNvPr id="846" name="Google Shape;846;p62">
            <a:hlinkClick action="ppaction://hlinksldjump" r:id="rId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 name="Shape 850"/>
        <p:cNvGrpSpPr/>
        <p:nvPr/>
      </p:nvGrpSpPr>
      <p:grpSpPr>
        <a:xfrm>
          <a:off x="0" y="0"/>
          <a:ext cx="0" cy="0"/>
          <a:chOff x="0" y="0"/>
          <a:chExt cx="0" cy="0"/>
        </a:xfrm>
      </p:grpSpPr>
      <p:sp>
        <p:nvSpPr>
          <p:cNvPr id="851" name="Google Shape;851;p63"/>
          <p:cNvSpPr txBox="1"/>
          <p:nvPr>
            <p:ph type="title"/>
          </p:nvPr>
        </p:nvSpPr>
        <p:spPr>
          <a:xfrm>
            <a:off x="477879" y="-384527"/>
            <a:ext cx="6579691"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Value of Marketing and Customer Experience</a:t>
            </a:r>
            <a:endParaRPr/>
          </a:p>
        </p:txBody>
      </p:sp>
      <p:sp>
        <p:nvSpPr>
          <p:cNvPr id="852" name="Google Shape;852;p63"/>
          <p:cNvSpPr/>
          <p:nvPr/>
        </p:nvSpPr>
        <p:spPr>
          <a:xfrm>
            <a:off x="2736159" y="1828030"/>
            <a:ext cx="5865581" cy="604398"/>
          </a:xfrm>
          <a:prstGeom prst="rect">
            <a:avLst/>
          </a:prstGeom>
          <a:solidFill>
            <a:srgbClr val="D8D8D8"/>
          </a:solidFill>
          <a:ln>
            <a:noFill/>
          </a:ln>
        </p:spPr>
        <p:txBody>
          <a:bodyPr anchorCtr="0" anchor="ctr" bIns="91425" lIns="28800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Move marketing campaigns from product “push” to data driven, personalized interactions  based on customer behaviors and journeys. More personalized interactions will increase campaign response and drive marketing revenue and ROI.   </a:t>
            </a:r>
            <a:endParaRPr sz="1000">
              <a:solidFill>
                <a:schemeClr val="dk1"/>
              </a:solidFill>
              <a:latin typeface="Century Gothic"/>
              <a:ea typeface="Century Gothic"/>
              <a:cs typeface="Century Gothic"/>
              <a:sym typeface="Century Gothic"/>
            </a:endParaRPr>
          </a:p>
          <a:p>
            <a:r>
              <a:rPr sz="800">
                <a:solidFill>
                  <a:srgbClr val="006699"/>
                </a:solidFill>
              </a:rPr>
              <a:t>For Pakistan: Move from mass SMS blasts (90% ignored) to personalized communications via preferred channel (WhatsApp, push notification, in-app) with relevant product recommendations. Target: 3x improvement in campaign response rates.</a:t>
            </a:r>
          </a:p>
        </p:txBody>
      </p:sp>
      <p:sp>
        <p:nvSpPr>
          <p:cNvPr id="853" name="Google Shape;853;p63"/>
          <p:cNvSpPr/>
          <p:nvPr/>
        </p:nvSpPr>
        <p:spPr>
          <a:xfrm>
            <a:off x="481013" y="1828030"/>
            <a:ext cx="2422146" cy="595629"/>
          </a:xfrm>
          <a:prstGeom prst="homePlate">
            <a:avLst>
              <a:gd fmla="val 23856" name="adj"/>
            </a:avLst>
          </a:prstGeom>
          <a:solidFill>
            <a:srgbClr val="EC881D"/>
          </a:solidFill>
          <a:ln>
            <a:noFill/>
          </a:ln>
        </p:spPr>
        <p:txBody>
          <a:bodyPr anchorCtr="0" anchor="ctr" bIns="91425" lIns="108000" spcFirstLastPara="1" rIns="1080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More personalized, relevant communication</a:t>
            </a:r>
            <a:endParaRPr b="1" sz="1200">
              <a:solidFill>
                <a:schemeClr val="lt1"/>
              </a:solidFill>
              <a:latin typeface="Century Gothic"/>
              <a:ea typeface="Century Gothic"/>
              <a:cs typeface="Century Gothic"/>
              <a:sym typeface="Century Gothic"/>
            </a:endParaRPr>
          </a:p>
        </p:txBody>
      </p:sp>
      <p:sp>
        <p:nvSpPr>
          <p:cNvPr id="854" name="Google Shape;854;p63"/>
          <p:cNvSpPr/>
          <p:nvPr/>
        </p:nvSpPr>
        <p:spPr>
          <a:xfrm>
            <a:off x="2658933" y="2503816"/>
            <a:ext cx="5966622" cy="588653"/>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Analyzing, acting on and  managing customer interactions across touch points  reduces customer effort, delivers more relevant experiences and increases overall satisfaction. </a:t>
            </a:r>
            <a:endParaRPr sz="1000">
              <a:solidFill>
                <a:schemeClr val="dk1"/>
              </a:solidFill>
              <a:latin typeface="Century Gothic"/>
              <a:ea typeface="Century Gothic"/>
              <a:cs typeface="Century Gothic"/>
              <a:sym typeface="Century Gothic"/>
            </a:endParaRPr>
          </a:p>
          <a:p>
            <a:r>
              <a:rPr sz="800">
                <a:solidFill>
                  <a:srgbClr val="006699"/>
                </a:solidFill>
              </a:rPr>
              <a:t>For Pakistan: Close the CX gap between traditional banks (3.2/5 satisfaction) and fintech players (4.1/5). Eliminate top pain points: 45-minute branch account opening, 7-14 day loan processing, inconsistent cross-channel experience.</a:t>
            </a:r>
          </a:p>
        </p:txBody>
      </p:sp>
      <p:sp>
        <p:nvSpPr>
          <p:cNvPr id="855" name="Google Shape;855;p63"/>
          <p:cNvSpPr/>
          <p:nvPr/>
        </p:nvSpPr>
        <p:spPr>
          <a:xfrm>
            <a:off x="473075" y="2503816"/>
            <a:ext cx="2427441" cy="585137"/>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Improved customer experience</a:t>
            </a:r>
            <a:endParaRPr b="1" sz="1200">
              <a:solidFill>
                <a:schemeClr val="lt1"/>
              </a:solidFill>
              <a:latin typeface="Century Gothic"/>
              <a:ea typeface="Century Gothic"/>
              <a:cs typeface="Century Gothic"/>
              <a:sym typeface="Century Gothic"/>
            </a:endParaRPr>
          </a:p>
        </p:txBody>
      </p:sp>
      <p:sp>
        <p:nvSpPr>
          <p:cNvPr id="856" name="Google Shape;856;p63"/>
          <p:cNvSpPr/>
          <p:nvPr/>
        </p:nvSpPr>
        <p:spPr>
          <a:xfrm>
            <a:off x="2658934" y="3184360"/>
            <a:ext cx="5966620" cy="604455"/>
          </a:xfrm>
          <a:prstGeom prst="rect">
            <a:avLst/>
          </a:prstGeom>
          <a:solidFill>
            <a:srgbClr val="D8D8D8"/>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Measuring the results of campaigns and then leveraging this to improve future campaigns  will deliver increased conversion and revenue. Utilizing attribution models to evaluate media channels and results enables companies to identify channel mix that generates the highest ROI and improve marketing efficiency</a:t>
            </a:r>
            <a:endParaRPr sz="1000">
              <a:solidFill>
                <a:schemeClr val="dk1"/>
              </a:solidFill>
              <a:latin typeface="Century Gothic"/>
              <a:ea typeface="Century Gothic"/>
              <a:cs typeface="Century Gothic"/>
              <a:sym typeface="Century Gothic"/>
            </a:endParaRPr>
          </a:p>
          <a:p>
            <a:r>
              <a:rPr sz="800">
                <a:solidFill>
                  <a:srgbClr val="006699"/>
                </a:solidFill>
              </a:rPr>
              <a:t>For Pakistan: Optimize the bank's PKR 500M+ annual marketing budget through multi-touch attribution, campaign performance analytics, and ROI-based budget allocation — shifting from gut-feel spending to data-driven investment.</a:t>
            </a:r>
          </a:p>
        </p:txBody>
      </p:sp>
      <p:sp>
        <p:nvSpPr>
          <p:cNvPr id="857" name="Google Shape;857;p63"/>
          <p:cNvSpPr/>
          <p:nvPr/>
        </p:nvSpPr>
        <p:spPr>
          <a:xfrm>
            <a:off x="473075" y="3190117"/>
            <a:ext cx="2427441" cy="598698"/>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More effective marketing investments</a:t>
            </a:r>
            <a:endParaRPr b="1" sz="1200">
              <a:solidFill>
                <a:schemeClr val="lt1"/>
              </a:solidFill>
              <a:latin typeface="Century Gothic"/>
              <a:ea typeface="Century Gothic"/>
              <a:cs typeface="Century Gothic"/>
              <a:sym typeface="Century Gothic"/>
            </a:endParaRPr>
          </a:p>
        </p:txBody>
      </p:sp>
      <p:sp>
        <p:nvSpPr>
          <p:cNvPr id="858" name="Google Shape;858;p63"/>
          <p:cNvSpPr/>
          <p:nvPr/>
        </p:nvSpPr>
        <p:spPr>
          <a:xfrm>
            <a:off x="2730627" y="3866620"/>
            <a:ext cx="5872819" cy="590484"/>
          </a:xfrm>
          <a:prstGeom prst="rect">
            <a:avLst/>
          </a:prstGeom>
          <a:solidFill>
            <a:schemeClr val="lt2"/>
          </a:solidFill>
          <a:ln>
            <a:noFill/>
          </a:ln>
        </p:spPr>
        <p:txBody>
          <a:bodyPr anchorCtr="0" anchor="ctr" bIns="91425" lIns="28800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Analyzing customer journeys enables companies to identify events and interactions that positively or negatively impact customer experience. companies can also identify opportunities to eliminate extra process steps or resolve broken processes</a:t>
            </a:r>
            <a:endParaRPr sz="1000">
              <a:solidFill>
                <a:schemeClr val="dk1"/>
              </a:solidFill>
              <a:latin typeface="Century Gothic"/>
              <a:ea typeface="Century Gothic"/>
              <a:cs typeface="Century Gothic"/>
              <a:sym typeface="Century Gothic"/>
            </a:endParaRPr>
          </a:p>
          <a:p>
            <a:r>
              <a:rPr sz="800">
                <a:solidFill>
                  <a:srgbClr val="006699"/>
                </a:solidFill>
              </a:rPr>
              <a:t>For Pakistan: Identify and eliminate broken journeys — 40% drop-off in digital loan applications, 25% of branch visits resulting in complaints, 30-day average for processing simple account changes.</a:t>
            </a:r>
          </a:p>
        </p:txBody>
      </p:sp>
      <p:sp>
        <p:nvSpPr>
          <p:cNvPr id="859" name="Google Shape;859;p63"/>
          <p:cNvSpPr/>
          <p:nvPr/>
        </p:nvSpPr>
        <p:spPr>
          <a:xfrm>
            <a:off x="473076" y="3860204"/>
            <a:ext cx="2427440" cy="597164"/>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Improved operational processes</a:t>
            </a:r>
            <a:endParaRPr b="1" sz="1200">
              <a:solidFill>
                <a:schemeClr val="lt1"/>
              </a:solidFill>
              <a:latin typeface="Century Gothic"/>
              <a:ea typeface="Century Gothic"/>
              <a:cs typeface="Century Gothic"/>
              <a:sym typeface="Century Gothic"/>
            </a:endParaRPr>
          </a:p>
        </p:txBody>
      </p:sp>
      <p:sp>
        <p:nvSpPr>
          <p:cNvPr id="860" name="Google Shape;860;p63"/>
          <p:cNvSpPr/>
          <p:nvPr/>
        </p:nvSpPr>
        <p:spPr>
          <a:xfrm>
            <a:off x="2736159" y="1148754"/>
            <a:ext cx="5865581" cy="604398"/>
          </a:xfrm>
          <a:prstGeom prst="rect">
            <a:avLst/>
          </a:prstGeom>
          <a:solidFill>
            <a:srgbClr val="D8D8D8"/>
          </a:solidFill>
          <a:ln>
            <a:noFill/>
          </a:ln>
        </p:spPr>
        <p:txBody>
          <a:bodyPr anchorCtr="0" anchor="ctr" bIns="91425" lIns="28800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By leveraging a wide variety of customer data and advanced analytic techniques, including multi-genre analytics, companies can better understand and react to customer needs, wants and behaviors. </a:t>
            </a:r>
            <a:endParaRPr sz="1000">
              <a:solidFill>
                <a:schemeClr val="dk1"/>
              </a:solidFill>
              <a:latin typeface="Century Gothic"/>
              <a:ea typeface="Century Gothic"/>
              <a:cs typeface="Century Gothic"/>
              <a:sym typeface="Century Gothic"/>
            </a:endParaRPr>
          </a:p>
          <a:p>
            <a:r>
              <a:rPr sz="800">
                <a:solidFill>
                  <a:srgbClr val="006699"/>
                </a:solidFill>
              </a:rPr>
              <a:t>For Pakistan: Transform fragmented customer data from 4-5 core banking systems into actionable insights — understanding each customer's complete financial behavior, product needs, channel preferences, and profitability contribution.</a:t>
            </a:r>
          </a:p>
        </p:txBody>
      </p:sp>
      <p:sp>
        <p:nvSpPr>
          <p:cNvPr id="861" name="Google Shape;861;p63"/>
          <p:cNvSpPr/>
          <p:nvPr/>
        </p:nvSpPr>
        <p:spPr>
          <a:xfrm>
            <a:off x="481013" y="1148754"/>
            <a:ext cx="2422146" cy="595629"/>
          </a:xfrm>
          <a:prstGeom prst="homePlate">
            <a:avLst>
              <a:gd fmla="val 23856" name="adj"/>
            </a:avLst>
          </a:prstGeom>
          <a:solidFill>
            <a:srgbClr val="EC881D"/>
          </a:solidFill>
          <a:ln>
            <a:noFill/>
          </a:ln>
        </p:spPr>
        <p:txBody>
          <a:bodyPr anchorCtr="0" anchor="ctr" bIns="91425" lIns="108000" spcFirstLastPara="1" rIns="1080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Improved customer insights</a:t>
            </a:r>
            <a:endParaRPr b="1" sz="1200">
              <a:solidFill>
                <a:srgbClr val="FFFFFF"/>
              </a:solidFill>
              <a:latin typeface="Century Gothic"/>
              <a:ea typeface="Century Gothic"/>
              <a:cs typeface="Century Gothic"/>
              <a:sym typeface="Century Gothic"/>
            </a:endParaRPr>
          </a:p>
        </p:txBody>
      </p:sp>
      <p:sp>
        <p:nvSpPr>
          <p:cNvPr id="862" name="Google Shape;862;p63">
            <a:hlinkClick action="ppaction://hlinksldjump" r:id="rId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 name="Shape 866"/>
        <p:cNvGrpSpPr/>
        <p:nvPr/>
      </p:nvGrpSpPr>
      <p:grpSpPr>
        <a:xfrm>
          <a:off x="0" y="0"/>
          <a:ext cx="0" cy="0"/>
          <a:chOff x="0" y="0"/>
          <a:chExt cx="0" cy="0"/>
        </a:xfrm>
      </p:grpSpPr>
      <p:sp>
        <p:nvSpPr>
          <p:cNvPr id="867" name="Google Shape;867;p64"/>
          <p:cNvSpPr txBox="1"/>
          <p:nvPr>
            <p:ph idx="1" type="body"/>
          </p:nvPr>
        </p:nvSpPr>
        <p:spPr>
          <a:xfrm>
            <a:off x="0" y="2168451"/>
            <a:ext cx="9144000" cy="806631"/>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Marketing and Customer Experience</a:t>
            </a:r>
            <a:br>
              <a:rPr lang="en-GB"/>
            </a:br>
            <a:r>
              <a:rPr lang="en-GB"/>
              <a:t>Capabilities</a:t>
            </a:r>
            <a:endParaRPr/>
          </a:p>
          <a:p>
            <a:pPr algn="ctr"/>
            <a:r>
              <a:rPr sz="1400">
                <a:solidFill>
                  <a:srgbClr val="006699"/>
                </a:solidFill>
              </a:rPr>
              <a:t>Detailed Capability Assessment and Maturity Framework</a:t>
            </a:r>
          </a:p>
          <a:p>
            <a:pPr algn="ctr"/>
            <a:r>
              <a:rPr sz="1100">
                <a:solidFill>
                  <a:srgbClr val="666666"/>
                </a:solidFill>
              </a:rPr>
              <a:t>Pakistan Banking Context — 2025-2026</a:t>
            </a:r>
          </a:p>
        </p:txBody>
      </p:sp>
      <p:sp>
        <p:nvSpPr>
          <p:cNvPr id="868" name="Google Shape;868;p64"/>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chemeClr val="lt1"/>
              </a:buClr>
              <a:buSzPts val="700"/>
              <a:buFont typeface="Century Gothic"/>
              <a:buNone/>
            </a:pPr>
            <a:r>
              <a:t/>
            </a:r>
            <a:endParaRPr/>
          </a:p>
        </p:txBody>
      </p:sp>
    </p:spTree>
  </p:cSld>
  <p:clrMapOvr>
    <a:masterClrMapping/>
  </p:clrMapOvr>
  <p:transition spd="med">
    <p:fade/>
  </p:transition>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a:p>
            <a:r>
              <a:rPr sz="800">
                <a:solidFill>
                  <a:srgbClr val="006699"/>
                </a:solidFill>
              </a:rPr>
              <a:t/>
            </a:r>
          </a:p>
          <a:p>
            <a:r>
              <a:rPr sz="900" b="1">
                <a:solidFill>
                  <a:srgbClr val="006699"/>
                </a:solidFill>
              </a:rPr>
              <a:t>Pakistan Banking Context:</a:t>
            </a:r>
          </a:p>
          <a:p>
            <a:r>
              <a:rPr sz="800">
                <a:solidFill>
                  <a:srgbClr val="006699"/>
                </a:solidFill>
              </a:rPr>
              <a:t>• Customer identifiers in Pakistan: CNIC (13-digit NADRA), mobile numbers (070x/030x/031x), email, biometric (NADRA fingerprint), RAAST ID, account numbers across multiple core systems, mobile wallet IDs. FSDM's INDVDL_IDNTFCTN resolves all to single record.</a:t>
            </a:r>
          </a:p>
          <a:p>
            <a:r>
              <a:rPr sz="800">
                <a:solidFill>
                  <a:srgbClr val="006699"/>
                </a:solidFill>
              </a:rPr>
              <a:t>• Data landscape: 4-5 core banking databases, card management, internet banking logs, mobile app clickstream, RAAST/IBFT data, ECIB credit bureau, NADRA verification, branch/call center logs. FSDM Customer 360 integrates all sources.</a:t>
            </a:r>
          </a:p>
          <a:p>
            <a:r>
              <a:rPr sz="800">
                <a:solidFill>
                  <a:srgbClr val="006699"/>
                </a:solidFill>
              </a:rPr>
              <a:t>• With RAAST enabling instant payments and mobile app sessions averaging 3-5 minutes, contextual relevance must be delivered within seconds. FSDM Event entities (CSTMR_EVNT, ACCT_EVNT) capture real-time signals for RTIM.</a:t>
            </a:r>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