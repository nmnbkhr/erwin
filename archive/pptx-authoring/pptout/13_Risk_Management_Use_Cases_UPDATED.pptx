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6"/>
  </p:notesMasterIdLst>
  <p:sldIdLst>
    <p:sldId id="705" r:id="rId2"/>
    <p:sldId id="706" r:id="rId3"/>
    <p:sldId id="707" r:id="rId4"/>
    <p:sldId id="708" r:id="rId5"/>
    <p:sldId id="709" r:id="rId6"/>
    <p:sldId id="710" r:id="rId7"/>
    <p:sldId id="711" r:id="rId8"/>
    <p:sldId id="712" r:id="rId9"/>
    <p:sldId id="713" r:id="rId10"/>
    <p:sldId id="714" r:id="rId11"/>
    <p:sldId id="715" r:id="rId12"/>
    <p:sldId id="716" r:id="rId13"/>
    <p:sldId id="717" r:id="rId14"/>
    <p:sldId id="718" r:id="rId15"/>
    <p:sldId id="719" r:id="rId16"/>
    <p:sldId id="720" r:id="rId17"/>
    <p:sldId id="721" r:id="rId18"/>
    <p:sldId id="722" r:id="rId19"/>
    <p:sldId id="723" r:id="rId20"/>
    <p:sldId id="724" r:id="rId21"/>
    <p:sldId id="725" r:id="rId22"/>
    <p:sldId id="726" r:id="rId23"/>
    <p:sldId id="727" r:id="rId24"/>
    <p:sldId id="728" r:id="rId25"/>
  </p:sldIdLst>
  <p:sldSz cx="9144000" cy="5143500" type="screen16x9"/>
  <p:notesSz cx="6858000" cy="9945688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Noto Sans Symbols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776">
          <p15:clr>
            <a:srgbClr val="A4A3A4"/>
          </p15:clr>
        </p15:guide>
        <p15:guide id="4" pos="1764">
          <p15:clr>
            <a:srgbClr val="A4A3A4"/>
          </p15:clr>
        </p15:guide>
        <p15:guide id="5" orient="horz" pos="2229">
          <p15:clr>
            <a:srgbClr val="A4A3A4"/>
          </p15:clr>
        </p15:guide>
        <p15:guide id="6" orient="horz" pos="3140">
          <p15:clr>
            <a:srgbClr val="A4A3A4"/>
          </p15:clr>
        </p15:guide>
        <p15:guide id="7" orient="horz" pos="311">
          <p15:clr>
            <a:srgbClr val="A4A3A4"/>
          </p15:clr>
        </p15:guide>
        <p15:guide id="8" orient="horz" pos="1593">
          <p15:clr>
            <a:srgbClr val="A4A3A4"/>
          </p15:clr>
        </p15:guide>
        <p15:guide id="9" pos="5696">
          <p15:clr>
            <a:srgbClr val="A4A3A4"/>
          </p15:clr>
        </p15:guide>
        <p15:guide id="10" pos="706">
          <p15:clr>
            <a:srgbClr val="A4A3A4"/>
          </p15:clr>
        </p15:guide>
        <p15:guide id="11" pos="2941">
          <p15:clr>
            <a:srgbClr val="A4A3A4"/>
          </p15:clr>
        </p15:guide>
        <p15:guide id="12" pos="91">
          <p15:clr>
            <a:srgbClr val="A4A3A4"/>
          </p15:clr>
        </p15:guide>
        <p15:guide id="13" orient="horz" pos="105">
          <p15:clr>
            <a:srgbClr val="000000"/>
          </p15:clr>
        </p15:guide>
        <p15:guide id="14" orient="horz" pos="1616">
          <p15:clr>
            <a:srgbClr val="000000"/>
          </p15:clr>
        </p15:guide>
        <p15:guide id="15" orient="horz" pos="567">
          <p15:clr>
            <a:srgbClr val="000000"/>
          </p15:clr>
        </p15:guide>
        <p15:guide id="16" orient="horz" pos="3034">
          <p15:clr>
            <a:srgbClr val="000000"/>
          </p15:clr>
        </p15:guide>
        <p15:guide id="17" orient="horz" pos="332">
          <p15:clr>
            <a:srgbClr val="000000"/>
          </p15:clr>
        </p15:guide>
        <p15:guide id="18" pos="239">
          <p15:clr>
            <a:srgbClr val="000000"/>
          </p15:clr>
        </p15:guide>
        <p15:guide id="19" pos="5557">
          <p15:clr>
            <a:srgbClr val="000000"/>
          </p15:clr>
        </p15:guide>
        <p15:guide id="20" pos="2914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3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98BFCB-6916-41F2-A2A5-0DF0D5139B6F}">
  <a:tblStyle styleId="{D098BFCB-6916-41F2-A2A5-0DF0D5139B6F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DE7"/>
          </a:solidFill>
        </a:fill>
      </a:tcStyle>
    </a:wholeTbl>
    <a:band1H>
      <a:tcTxStyle/>
      <a:tcStyle>
        <a:tcBdr/>
        <a:fill>
          <a:solidFill>
            <a:srgbClr val="F8D9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D9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620" y="300"/>
      </p:cViewPr>
      <p:guideLst>
        <p:guide orient="horz" pos="1620"/>
        <p:guide pos="2880"/>
        <p:guide pos="776"/>
        <p:guide pos="1764"/>
        <p:guide orient="horz" pos="2229"/>
        <p:guide orient="horz" pos="3140"/>
        <p:guide orient="horz" pos="311"/>
        <p:guide orient="horz" pos="1593"/>
        <p:guide pos="5696"/>
        <p:guide pos="706"/>
        <p:guide pos="2941"/>
        <p:guide pos="91"/>
        <p:guide orient="horz" pos="105"/>
        <p:guide orient="horz" pos="1616"/>
        <p:guide orient="horz" pos="567"/>
        <p:guide orient="horz" pos="3034"/>
        <p:guide orient="horz" pos="332"/>
        <p:guide pos="239"/>
        <p:guide pos="5557"/>
        <p:guide pos="29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  <p:guide orient="horz" pos="31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0480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4800" algn="l" rtl="0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8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/>
          <p:nvPr/>
        </p:nvSpPr>
        <p:spPr>
          <a:xfrm>
            <a:off x="286468" y="9509858"/>
            <a:ext cx="10900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 b="0" i="0" u="none" strike="noStrike" cap="non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" name="Google Shape;8;n"/>
          <p:cNvGrpSpPr/>
          <p:nvPr/>
        </p:nvGrpSpPr>
        <p:grpSpPr>
          <a:xfrm>
            <a:off x="6010878" y="9504586"/>
            <a:ext cx="531812" cy="129502"/>
            <a:chOff x="5137" y="4139"/>
            <a:chExt cx="335" cy="75"/>
          </a:xfrm>
        </p:grpSpPr>
        <p:sp>
          <p:nvSpPr>
            <p:cNvPr id="9" name="Google Shape;9;n"/>
            <p:cNvSpPr/>
            <p:nvPr/>
          </p:nvSpPr>
          <p:spPr>
            <a:xfrm>
              <a:off x="5137" y="4139"/>
              <a:ext cx="324" cy="75"/>
            </a:xfrm>
            <a:custGeom>
              <a:avLst/>
              <a:gdLst/>
              <a:ahLst/>
              <a:cxnLst/>
              <a:rect l="l" t="t" r="r" b="b"/>
              <a:pathLst>
                <a:path w="3745" h="863" extrusionOk="0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" name="Google Shape;10;n"/>
            <p:cNvSpPr/>
            <p:nvPr/>
          </p:nvSpPr>
          <p:spPr>
            <a:xfrm>
              <a:off x="5464" y="4197"/>
              <a:ext cx="8" cy="9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" name="Google Shape;11;n"/>
          <p:cNvSpPr txBox="1">
            <a:spLocks noGrp="1"/>
          </p:cNvSpPr>
          <p:nvPr>
            <p:ph type="ftr" idx="11"/>
          </p:nvPr>
        </p:nvSpPr>
        <p:spPr>
          <a:xfrm>
            <a:off x="457200" y="9514580"/>
            <a:ext cx="29718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3" name="Google Shape;8373;p450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4" name="Google Shape;8374;p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9" name="Google Shape;8379;p451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80" name="Google Shape;8380;p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1" name="Google Shape;8381;p451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9" name="Google Shape;8399;p452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0" name="Google Shape;8400;p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1" name="Google Shape;8401;p452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lvl="0" indent="-17303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GB"/>
              <a:t>I think GIS in this context is just another form of visualization in this context; may want to put in parenthesis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9" name="Google Shape;8419;p453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0" name="Google Shape;8420;p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21" name="Google Shape;8421;p453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9" name="Google Shape;8439;p454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40" name="Google Shape;8440;p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41" name="Google Shape;8441;p454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9" name="Google Shape;8459;p455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60" name="Google Shape;8460;p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61" name="Google Shape;8461;p455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9" name="Google Shape;8479;p456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80" name="Google Shape;8480;p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1" name="Google Shape;8481;p456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" name="Google Shape;8499;p457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00" name="Google Shape;8500;p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1" name="Google Shape;8501;p457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" name="Google Shape;8519;p458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20" name="Google Shape;8520;p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1" name="Google Shape;8521;p458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9" name="Google Shape;8539;p459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40" name="Google Shape;8540;p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41" name="Google Shape;8541;p459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9" name="Google Shape;8559;p460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60" name="Google Shape;8560;p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61" name="Google Shape;8561;p460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9" name="Google Shape;8579;p461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80" name="Google Shape;8580;p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81" name="Google Shape;8581;p461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9" name="Google Shape;8599;p462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00" name="Google Shape;8600;p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01" name="Google Shape;8601;p462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9" name="Google Shape;8619;p463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20" name="Google Shape;8620;p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21" name="Google Shape;8621;p463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9" name="Google Shape;8639;p464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40" name="Google Shape;8640;p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1" name="Google Shape;8641;p464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lvl="0" indent="-17303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GB"/>
              <a:t>I like what’s listed as Objectives – is there a way to frame this is as a problem to be solved?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9" name="Google Shape;8659;p465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60" name="Google Shape;8660;p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1" name="Google Shape;8661;p465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3038" lvl="0" indent="-17303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GB"/>
              <a:t>I think it reads fine – you may want to clarify is “Graphing” Graph Analytics or some trend visualization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9" name="Google Shape;8679;p466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80" name="Google Shape;8680;p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81" name="Google Shape;8681;p466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9" name="Google Shape;8699;p467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00" name="Google Shape;8700;p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01" name="Google Shape;8701;p467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9" name="Google Shape;8719;p468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20" name="Google Shape;8720;p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21" name="Google Shape;8721;p468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9" name="Google Shape;8739;p469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40" name="Google Shape;8740;p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41" name="Google Shape;8741;p469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GB"/>
              <a:t>References?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9" name="Google Shape;8759;p470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60" name="Google Shape;8760;p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61" name="Google Shape;8761;p470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9" name="Google Shape;8779;p471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80" name="Google Shape;8780;p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1" name="Google Shape;8781;p471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9" name="Google Shape;8799;p472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00" name="Google Shape;8800;p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01" name="Google Shape;8801;p472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9" name="Google Shape;8819;p473:notes"/>
          <p:cNvSpPr txBox="1">
            <a:spLocks noGrp="1"/>
          </p:cNvSpPr>
          <p:nvPr>
            <p:ph type="sldNum" idx="12"/>
          </p:nvPr>
        </p:nvSpPr>
        <p:spPr>
          <a:xfrm>
            <a:off x="3885010" y="9446102"/>
            <a:ext cx="2971800" cy="49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525" tIns="46250" rIns="92525" bIns="462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fld>
            <a:endParaRPr sz="18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20" name="Google Shape;8820;p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21" name="Google Shape;8821;p473:notes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Alternate Title Slide">
  <p:cSld name="1_Alternate 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l="5141" t="25561" r="6732" b="-80"/>
          <a:stretch/>
        </p:blipFill>
        <p:spPr>
          <a:xfrm>
            <a:off x="0" y="-5583"/>
            <a:ext cx="9144000" cy="515466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>
            <a:off x="457200" y="-9525"/>
            <a:ext cx="24384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3" name="Google Shape;23;p2"/>
          <p:cNvGrpSpPr/>
          <p:nvPr/>
        </p:nvGrpSpPr>
        <p:grpSpPr>
          <a:xfrm>
            <a:off x="994118" y="305466"/>
            <a:ext cx="1362335" cy="305001"/>
            <a:chOff x="5137" y="4139"/>
            <a:chExt cx="335" cy="75"/>
          </a:xfrm>
        </p:grpSpPr>
        <p:sp>
          <p:nvSpPr>
            <p:cNvPr id="24" name="Google Shape;24;p2"/>
            <p:cNvSpPr/>
            <p:nvPr/>
          </p:nvSpPr>
          <p:spPr>
            <a:xfrm>
              <a:off x="5137" y="4139"/>
              <a:ext cx="324" cy="75"/>
            </a:xfrm>
            <a:custGeom>
              <a:avLst/>
              <a:gdLst/>
              <a:ahLst/>
              <a:cxnLst/>
              <a:rect l="l" t="t" r="r" b="b"/>
              <a:pathLst>
                <a:path w="3745" h="863" extrusionOk="0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464" y="4197"/>
              <a:ext cx="8" cy="9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0" y="2915344"/>
            <a:ext cx="9144000" cy="1065420"/>
          </a:xfrm>
          <a:prstGeom prst="rect">
            <a:avLst/>
          </a:prstGeom>
          <a:solidFill>
            <a:schemeClr val="accent1">
              <a:alpha val="89803"/>
            </a:schemeClr>
          </a:solidFill>
          <a:ln>
            <a:noFill/>
          </a:ln>
        </p:spPr>
        <p:txBody>
          <a:bodyPr spcFirstLastPara="1" wrap="square" lIns="457200" tIns="137150" rIns="457200" bIns="137150" anchor="ctr" anchorCtr="1">
            <a:noAutofit/>
          </a:bodyPr>
          <a:lstStyle>
            <a:lvl1pPr marL="457200" lvl="0" indent="-3556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​"/>
              <a:defRPr sz="2000" b="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2pPr>
            <a:lvl3pPr marL="1371600" lvl="2" indent="-330200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​"/>
              <a:defRPr sz="1600" b="1"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57200" y="1115806"/>
            <a:ext cx="8229600" cy="350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2"/>
          </p:nvPr>
        </p:nvSpPr>
        <p:spPr>
          <a:xfrm>
            <a:off x="457200" y="703405"/>
            <a:ext cx="8229600" cy="35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457200" y="128588"/>
            <a:ext cx="82296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3"/>
          </p:nvPr>
        </p:nvSpPr>
        <p:spPr>
          <a:xfrm>
            <a:off x="3297994" y="4943703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457200" y="1216372"/>
            <a:ext cx="8229600" cy="33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57200" y="164592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 Only">
  <p:cSld name="1_Title and Sub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3297994" y="4943703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57200" y="703405"/>
            <a:ext cx="8229600" cy="35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7200" y="128590"/>
            <a:ext cx="82296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69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8229600" cy="334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69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8229600" cy="334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41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457200" y="865188"/>
            <a:ext cx="8229600" cy="369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3297994" y="4923703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69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8229600" cy="334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gue">
  <p:cSld name="Segue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0" y="2342217"/>
            <a:ext cx="9144000" cy="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200" tIns="45700" rIns="457200" bIns="45700" anchor="ctr" anchorCtr="1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 sz="2200">
                <a:solidFill>
                  <a:schemeClr val="accen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>
                <a:solidFill>
                  <a:schemeClr val="accent1"/>
                </a:solidFill>
              </a:defRPr>
            </a:lvl2pPr>
            <a:lvl3pPr marL="1371600" lvl="2" indent="-317500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1">
                <a:solidFill>
                  <a:schemeClr val="accent1"/>
                </a:solidFill>
              </a:defRPr>
            </a:lvl3pPr>
            <a:lvl4pPr marL="1828800" lvl="3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4pPr>
            <a:lvl5pPr marL="2286000" lvl="4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153254" y="4837176"/>
            <a:ext cx="133221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50">
                <a:solidFill>
                  <a:srgbClr val="D8D8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850">
              <a:solidFill>
                <a:srgbClr val="D8D8D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3242535" y="4855464"/>
            <a:ext cx="2658930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entury Gothic"/>
              <a:buNone/>
              <a:defRPr sz="7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 Only">
  <p:cSld name="2_Title and Sub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Subtitle Only">
  <p:cSld name="4_Title and Sub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Image">
  <p:cSld name="Content Imag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>
            <a:spLocks noGrp="1"/>
          </p:cNvSpPr>
          <p:nvPr>
            <p:ph type="pic" idx="2"/>
          </p:nvPr>
        </p:nvSpPr>
        <p:spPr>
          <a:xfrm>
            <a:off x="4800600" y="1216152"/>
            <a:ext cx="3886200" cy="306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3886200" cy="3350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3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457200" y="1216372"/>
            <a:ext cx="8229600" cy="33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457200" y="164592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Segue">
  <p:cSld name="3_Segue">
    <p:bg>
      <p:bgPr>
        <a:solidFill>
          <a:schemeClr val="accen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0" y="2342217"/>
            <a:ext cx="9144000" cy="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200" tIns="45700" rIns="457200" bIns="45700" anchor="ctr" anchorCtr="1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 sz="2200">
                <a:solidFill>
                  <a:schemeClr val="accen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>
                <a:solidFill>
                  <a:schemeClr val="accent1"/>
                </a:solidFill>
              </a:defRPr>
            </a:lvl2pPr>
            <a:lvl3pPr marL="1371600" lvl="2" indent="-317500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1">
                <a:solidFill>
                  <a:schemeClr val="accent1"/>
                </a:solidFill>
              </a:defRPr>
            </a:lvl3pPr>
            <a:lvl4pPr marL="1828800" lvl="3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4pPr>
            <a:lvl5pPr marL="2286000" lvl="4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153254" y="4837176"/>
            <a:ext cx="133221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5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85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Segue">
  <p:cSld name="2_Segue">
    <p:bg>
      <p:bgPr>
        <a:solidFill>
          <a:schemeClr val="accen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0" y="2342217"/>
            <a:ext cx="9144000" cy="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200" tIns="45700" rIns="457200" bIns="45700" anchor="ctr" anchorCtr="1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 sz="2200">
                <a:solidFill>
                  <a:schemeClr val="accent1"/>
                </a:solidFill>
              </a:defRPr>
            </a:lvl1pPr>
            <a:lvl2pPr marL="914400" lvl="1" indent="-3429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>
                <a:solidFill>
                  <a:schemeClr val="accent1"/>
                </a:solidFill>
              </a:defRPr>
            </a:lvl2pPr>
            <a:lvl3pPr marL="1371600" lvl="2" indent="-317500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1">
                <a:solidFill>
                  <a:schemeClr val="accent1"/>
                </a:solidFill>
              </a:defRPr>
            </a:lvl3pPr>
            <a:lvl4pPr marL="1828800" lvl="3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4pPr>
            <a:lvl5pPr marL="2286000" lvl="4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​"/>
              <a:defRPr sz="1400" b="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153254" y="4837176"/>
            <a:ext cx="133221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5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85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Text, and 2 Content">
  <p:cSld name="1_Title, Text, and 2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466725" y="3747"/>
            <a:ext cx="5087938" cy="61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777875"/>
            <a:ext cx="7205662" cy="1160709"/>
          </a:xfrm>
          <a:prstGeom prst="rect">
            <a:avLst/>
          </a:prstGeom>
          <a:solidFill>
            <a:srgbClr val="005AA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64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449263" y="2201863"/>
            <a:ext cx="4866449" cy="265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2pPr>
            <a:lvl3pPr marL="1371600" lvl="2" indent="-3429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49262" y="904312"/>
            <a:ext cx="6622097" cy="102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ase Study_Option2">
  <p:cSld name="2_Case Study_Option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3495437" y="128016"/>
            <a:ext cx="5648693" cy="914400"/>
          </a:xfrm>
          <a:prstGeom prst="rect">
            <a:avLst/>
          </a:prstGeom>
          <a:solidFill>
            <a:srgbClr val="0079DB"/>
          </a:solidFill>
          <a:ln>
            <a:noFill/>
          </a:ln>
        </p:spPr>
        <p:txBody>
          <a:bodyPr spcFirstLastPara="1" wrap="square" lIns="227825" tIns="136775" rIns="455800" bIns="227825" anchor="b" anchorCtr="0">
            <a:noAutofit/>
          </a:bodyPr>
          <a:lstStyle>
            <a:lvl1pPr marL="457200" lvl="0" indent="-3683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​"/>
              <a:defRPr sz="2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1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>
            <a:spLocks noGrp="1"/>
          </p:cNvSpPr>
          <p:nvPr>
            <p:ph type="pic" idx="2"/>
          </p:nvPr>
        </p:nvSpPr>
        <p:spPr>
          <a:xfrm>
            <a:off x="0" y="0"/>
            <a:ext cx="29718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3511296" y="1152143"/>
            <a:ext cx="5164694" cy="351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lternate Title Slide">
  <p:cSld name="Alternate 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0" y="1765763"/>
            <a:ext cx="9144000" cy="1611980"/>
          </a:xfrm>
          <a:prstGeom prst="rect">
            <a:avLst/>
          </a:prstGeom>
          <a:solidFill>
            <a:schemeClr val="accent1">
              <a:alpha val="89803"/>
            </a:schemeClr>
          </a:solidFill>
          <a:ln>
            <a:noFill/>
          </a:ln>
        </p:spPr>
        <p:txBody>
          <a:bodyPr spcFirstLastPara="1" wrap="square" lIns="457200" tIns="137150" rIns="457200" bIns="137150" anchor="ctr" anchorCtr="1">
            <a:noAutofit/>
          </a:bodyPr>
          <a:lstStyle>
            <a:lvl1pPr marL="457200" lvl="0" indent="-3810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​"/>
              <a:defRPr sz="2400" b="1">
                <a:solidFill>
                  <a:schemeClr val="lt1"/>
                </a:solidFill>
              </a:defRPr>
            </a:lvl1pPr>
            <a:lvl2pPr marL="914400" lvl="1" indent="-3429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​"/>
              <a:defRPr sz="1800" b="1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1"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/>
          <p:nvPr/>
        </p:nvSpPr>
        <p:spPr>
          <a:xfrm>
            <a:off x="457200" y="0"/>
            <a:ext cx="24384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89" name="Google Shape;89;p19"/>
          <p:cNvGrpSpPr/>
          <p:nvPr/>
        </p:nvGrpSpPr>
        <p:grpSpPr>
          <a:xfrm>
            <a:off x="994117" y="305466"/>
            <a:ext cx="1362335" cy="305001"/>
            <a:chOff x="5137" y="4139"/>
            <a:chExt cx="335" cy="75"/>
          </a:xfrm>
        </p:grpSpPr>
        <p:sp>
          <p:nvSpPr>
            <p:cNvPr id="90" name="Google Shape;90;p19"/>
            <p:cNvSpPr/>
            <p:nvPr/>
          </p:nvSpPr>
          <p:spPr>
            <a:xfrm>
              <a:off x="5137" y="4139"/>
              <a:ext cx="324" cy="75"/>
            </a:xfrm>
            <a:custGeom>
              <a:avLst/>
              <a:gdLst/>
              <a:ahLst/>
              <a:cxnLst/>
              <a:rect l="l" t="t" r="r" b="b"/>
              <a:pathLst>
                <a:path w="3745" h="863" extrusionOk="0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19"/>
            <p:cNvSpPr/>
            <p:nvPr/>
          </p:nvSpPr>
          <p:spPr>
            <a:xfrm>
              <a:off x="5464" y="4197"/>
              <a:ext cx="8" cy="9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Table Contents">
  <p:cSld name="Agenda/Table Content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4800600" y="1216152"/>
            <a:ext cx="3886200" cy="334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4800600" y="263385"/>
            <a:ext cx="38862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99060" y="4858087"/>
            <a:ext cx="236220" cy="1771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0"/>
          <p:cNvSpPr>
            <a:spLocks noGrp="1"/>
          </p:cNvSpPr>
          <p:nvPr>
            <p:ph type="pic" idx="2"/>
          </p:nvPr>
        </p:nvSpPr>
        <p:spPr>
          <a:xfrm>
            <a:off x="0" y="0"/>
            <a:ext cx="4343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>
            <a:spLocks noGrp="1"/>
          </p:cNvSpPr>
          <p:nvPr>
            <p:ph type="body" idx="1"/>
          </p:nvPr>
        </p:nvSpPr>
        <p:spPr>
          <a:xfrm>
            <a:off x="4800600" y="1216188"/>
            <a:ext cx="3886200" cy="334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457200" y="1216152"/>
            <a:ext cx="3886200" cy="334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3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457200" y="173735"/>
            <a:ext cx="8229600" cy="70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ntent">
  <p:cSld name="Title and Three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2438400" cy="334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2"/>
          </p:nvPr>
        </p:nvSpPr>
        <p:spPr>
          <a:xfrm>
            <a:off x="3352800" y="1216152"/>
            <a:ext cx="2438400" cy="334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3"/>
          </p:nvPr>
        </p:nvSpPr>
        <p:spPr>
          <a:xfrm>
            <a:off x="6248400" y="1216152"/>
            <a:ext cx="2438400" cy="334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4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Left Weighted">
  <p:cSld name="Title and Two Left Weighte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>
            <a:spLocks noGrp="1"/>
          </p:cNvSpPr>
          <p:nvPr>
            <p:ph type="pic" idx="2"/>
          </p:nvPr>
        </p:nvSpPr>
        <p:spPr>
          <a:xfrm>
            <a:off x="6258796" y="1216152"/>
            <a:ext cx="2438400" cy="306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457200" y="1216152"/>
            <a:ext cx="5334000" cy="334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3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Right Weighted">
  <p:cSld name="Title and Two Right Weighted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>
            <a:spLocks noGrp="1"/>
          </p:cNvSpPr>
          <p:nvPr>
            <p:ph type="pic" idx="2"/>
          </p:nvPr>
        </p:nvSpPr>
        <p:spPr>
          <a:xfrm>
            <a:off x="457200" y="1216152"/>
            <a:ext cx="2438400" cy="307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3352800" y="1216152"/>
            <a:ext cx="5334000" cy="3344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3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Only">
  <p:cSld name="Title and Subtitle 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title"/>
          </p:nvPr>
        </p:nvSpPr>
        <p:spPr>
          <a:xfrm>
            <a:off x="457200" y="173736"/>
            <a:ext cx="8229600" cy="41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body" idx="1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>
            <a:spLocks noGrp="1"/>
          </p:cNvSpPr>
          <p:nvPr>
            <p:ph type="body" idx="1"/>
          </p:nvPr>
        </p:nvSpPr>
        <p:spPr>
          <a:xfrm>
            <a:off x="3514722" y="777240"/>
            <a:ext cx="5629278" cy="914400"/>
          </a:xfrm>
          <a:prstGeom prst="rect">
            <a:avLst/>
          </a:prstGeom>
          <a:solidFill>
            <a:srgbClr val="0079DB"/>
          </a:solidFill>
          <a:ln>
            <a:noFill/>
          </a:ln>
        </p:spPr>
        <p:txBody>
          <a:bodyPr spcFirstLastPara="1" wrap="square" lIns="228600" tIns="137150" rIns="457200" bIns="228600" anchor="b" anchorCtr="0">
            <a:noAutofit/>
          </a:bodyPr>
          <a:lstStyle>
            <a:lvl1pPr marL="457200" lvl="0" indent="-3683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​"/>
              <a:defRPr sz="2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1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7"/>
          <p:cNvSpPr>
            <a:spLocks noGrp="1"/>
          </p:cNvSpPr>
          <p:nvPr>
            <p:ph type="pic" idx="2"/>
          </p:nvPr>
        </p:nvSpPr>
        <p:spPr>
          <a:xfrm>
            <a:off x="0" y="0"/>
            <a:ext cx="29718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body" idx="3"/>
          </p:nvPr>
        </p:nvSpPr>
        <p:spPr>
          <a:xfrm>
            <a:off x="3511296" y="1878314"/>
            <a:ext cx="5146943" cy="278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>
            <a:spLocks noGrp="1"/>
          </p:cNvSpPr>
          <p:nvPr>
            <p:ph type="pic" idx="4"/>
          </p:nvPr>
        </p:nvSpPr>
        <p:spPr>
          <a:xfrm>
            <a:off x="3505200" y="73152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se Study_Option2">
  <p:cSld name="1_Case Study_Option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>
            <a:spLocks noGrp="1"/>
          </p:cNvSpPr>
          <p:nvPr>
            <p:ph type="body" idx="1"/>
          </p:nvPr>
        </p:nvSpPr>
        <p:spPr>
          <a:xfrm>
            <a:off x="3495307" y="128016"/>
            <a:ext cx="5648693" cy="914400"/>
          </a:xfrm>
          <a:prstGeom prst="rect">
            <a:avLst/>
          </a:prstGeom>
          <a:solidFill>
            <a:srgbClr val="0079DB"/>
          </a:solidFill>
          <a:ln>
            <a:noFill/>
          </a:ln>
        </p:spPr>
        <p:txBody>
          <a:bodyPr spcFirstLastPara="1" wrap="square" lIns="228600" tIns="137150" rIns="457200" bIns="228600" anchor="b" anchorCtr="0">
            <a:noAutofit/>
          </a:bodyPr>
          <a:lstStyle>
            <a:lvl1pPr marL="457200" lvl="0" indent="-3683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​"/>
              <a:defRPr sz="2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1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Arial"/>
              <a:buChar char="​"/>
              <a:defRPr sz="14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8"/>
          <p:cNvSpPr>
            <a:spLocks noGrp="1"/>
          </p:cNvSpPr>
          <p:nvPr>
            <p:ph type="pic" idx="2"/>
          </p:nvPr>
        </p:nvSpPr>
        <p:spPr>
          <a:xfrm>
            <a:off x="0" y="0"/>
            <a:ext cx="29718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body" idx="3"/>
          </p:nvPr>
        </p:nvSpPr>
        <p:spPr>
          <a:xfrm>
            <a:off x="3511296" y="1152143"/>
            <a:ext cx="5164694" cy="351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">
  <p:cSld name="End Slid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/>
        </p:nvSpPr>
        <p:spPr>
          <a:xfrm>
            <a:off x="171052" y="4837176"/>
            <a:ext cx="115416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rgbClr val="A2A2A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rgbClr val="A2A2A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1"/>
          </p:nvPr>
        </p:nvSpPr>
        <p:spPr>
          <a:xfrm>
            <a:off x="3297994" y="4855464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35" name="Google Shape;135;p29"/>
          <p:cNvSpPr txBox="1"/>
          <p:nvPr/>
        </p:nvSpPr>
        <p:spPr>
          <a:xfrm>
            <a:off x="153254" y="4837176"/>
            <a:ext cx="133221" cy="1308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50">
                <a:solidFill>
                  <a:srgbClr val="6C6C6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850">
              <a:solidFill>
                <a:srgbClr val="6C6C6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36" name="Google Shape;136;p29"/>
          <p:cNvGrpSpPr/>
          <p:nvPr/>
        </p:nvGrpSpPr>
        <p:grpSpPr>
          <a:xfrm>
            <a:off x="2742406" y="2158207"/>
            <a:ext cx="3659188" cy="827087"/>
            <a:chOff x="1728" y="1805"/>
            <a:chExt cx="2305" cy="521"/>
          </a:xfrm>
        </p:grpSpPr>
        <p:sp>
          <p:nvSpPr>
            <p:cNvPr id="137" name="Google Shape;137;p29"/>
            <p:cNvSpPr/>
            <p:nvPr/>
          </p:nvSpPr>
          <p:spPr>
            <a:xfrm>
              <a:off x="1728" y="1805"/>
              <a:ext cx="2231" cy="521"/>
            </a:xfrm>
            <a:custGeom>
              <a:avLst/>
              <a:gdLst/>
              <a:ahLst/>
              <a:cxnLst/>
              <a:rect l="l" t="t" r="r" b="b"/>
              <a:pathLst>
                <a:path w="3745" h="863" extrusionOk="0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3974" y="2210"/>
              <a:ext cx="59" cy="59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body" idx="1"/>
          </p:nvPr>
        </p:nvSpPr>
        <p:spPr>
          <a:xfrm>
            <a:off x="457200" y="1115840"/>
            <a:ext cx="8229600" cy="350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 sz="1400"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​"/>
              <a:defRPr sz="1800"/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41" name="Google Shape;141;p30"/>
          <p:cNvSpPr txBox="1">
            <a:spLocks noGrp="1"/>
          </p:cNvSpPr>
          <p:nvPr>
            <p:ph type="body" idx="2"/>
          </p:nvPr>
        </p:nvSpPr>
        <p:spPr>
          <a:xfrm>
            <a:off x="457200" y="703405"/>
            <a:ext cx="8229600" cy="35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457200" y="128590"/>
            <a:ext cx="8229600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body" idx="3"/>
          </p:nvPr>
        </p:nvSpPr>
        <p:spPr>
          <a:xfrm>
            <a:off x="3297994" y="4943703"/>
            <a:ext cx="2548012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FB0FF"/>
              </a:buClr>
              <a:buSzPts val="700"/>
              <a:buFont typeface="Century Gothic"/>
              <a:buNone/>
              <a:defRPr sz="700" b="1">
                <a:solidFill>
                  <a:srgbClr val="4FB0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entury Gothic"/>
              <a:buNone/>
              <a:defRPr sz="1600">
                <a:solidFill>
                  <a:schemeClr val="accent2"/>
                </a:solidFill>
              </a:defRPr>
            </a:lvl5pPr>
            <a:lvl6pPr marL="2743200" lvl="5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8pPr>
            <a:lvl9pPr marL="4114800" lvl="8" indent="-342900" algn="l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1800"/>
              <a:buChar char="​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16372"/>
            <a:ext cx="8229600" cy="334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8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​"/>
              <a:defRPr sz="18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​"/>
              <a:defRPr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eriod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5750" algn="l" rtl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Clr>
                <a:schemeClr val="accent6"/>
              </a:buClr>
              <a:buSzPts val="900"/>
              <a:buFont typeface="Arial"/>
              <a:buChar char="​"/>
              <a:defRPr sz="9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153254" y="4896022"/>
            <a:ext cx="133221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50">
                <a:solidFill>
                  <a:srgbClr val="6C6C6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850">
              <a:solidFill>
                <a:srgbClr val="6C6C6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457200" y="164592"/>
            <a:ext cx="822960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  <a:defRPr sz="22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1"/>
          <p:cNvGrpSpPr/>
          <p:nvPr/>
        </p:nvGrpSpPr>
        <p:grpSpPr>
          <a:xfrm>
            <a:off x="7772401" y="4853350"/>
            <a:ext cx="914400" cy="204717"/>
            <a:chOff x="5137" y="4139"/>
            <a:chExt cx="335" cy="75"/>
          </a:xfrm>
        </p:grpSpPr>
        <p:sp>
          <p:nvSpPr>
            <p:cNvPr id="17" name="Google Shape;17;p1"/>
            <p:cNvSpPr/>
            <p:nvPr/>
          </p:nvSpPr>
          <p:spPr>
            <a:xfrm>
              <a:off x="5137" y="4139"/>
              <a:ext cx="324" cy="75"/>
            </a:xfrm>
            <a:custGeom>
              <a:avLst/>
              <a:gdLst/>
              <a:ahLst/>
              <a:cxnLst/>
              <a:rect l="l" t="t" r="r" b="b"/>
              <a:pathLst>
                <a:path w="3745" h="863" extrusionOk="0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5464" y="4197"/>
              <a:ext cx="8" cy="9"/>
            </a:xfrm>
            <a:custGeom>
              <a:avLst/>
              <a:gdLst/>
              <a:ahLst/>
              <a:cxnLst/>
              <a:rect l="l" t="t" r="r" b="b"/>
              <a:pathLst>
                <a:path w="99" h="98" extrusionOk="0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" name="Google Shape;19;p1"/>
          <p:cNvSpPr txBox="1"/>
          <p:nvPr/>
        </p:nvSpPr>
        <p:spPr>
          <a:xfrm>
            <a:off x="457200" y="4867275"/>
            <a:ext cx="3214489" cy="23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None/>
            </a:pPr>
            <a:r>
              <a:rPr lang="en-GB" sz="800" b="0" baseline="30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 </a:t>
            </a:r>
            <a:r>
              <a:rPr lang="en-GB" sz="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2017 Teradata Confidential Information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 b="0">
              <a:solidFill>
                <a:srgbClr val="A2A2A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" name="Google Shape;8376;p480"/>
          <p:cNvSpPr txBox="1">
            <a:spLocks noGrp="1"/>
          </p:cNvSpPr>
          <p:nvPr>
            <p:ph type="body" idx="1"/>
          </p:nvPr>
        </p:nvSpPr>
        <p:spPr>
          <a:xfrm>
            <a:off x="0" y="2153191"/>
            <a:ext cx="9144000" cy="8371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200" tIns="45700" rIns="457200" bIns="45700" anchor="ctr" anchorCtr="1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entury Gothic"/>
              <a:buNone/>
            </a:pPr>
            <a:r>
              <a:rPr lang="en-GB"/>
              <a:t>Risk Management &amp; Mitigation</a:t>
            </a:r>
            <a:br>
              <a:rPr lang="en-GB"/>
            </a:br>
            <a:r>
              <a:rPr lang="en-GB"/>
              <a:t>Use Cases</a:t>
            </a:r>
            <a:endParaRPr/>
          </a:p>
        </p:txBody>
      </p:sp>
      <p:sp>
        <p:nvSpPr>
          <p:cNvPr id="8377" name="Google Shape;8377;p480"/>
          <p:cNvSpPr txBox="1">
            <a:spLocks noGrp="1"/>
          </p:cNvSpPr>
          <p:nvPr>
            <p:ph type="body" idx="2"/>
          </p:nvPr>
        </p:nvSpPr>
        <p:spPr>
          <a:xfrm>
            <a:off x="3242535" y="4855464"/>
            <a:ext cx="2658930" cy="1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entury Gothic"/>
              <a:buNone/>
            </a:pP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83" name="Google Shape;8383;p481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84" name="Google Shape;8384;p481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85" name="Google Shape;8385;p481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86" name="Google Shape;8386;p481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87" name="Google Shape;8387;p481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Expand addressable lending market by 40-60% through scoring of previously unscorable customers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reliance on collateral-based lending which limits SME and consumer credit growth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15-20% reduction in early delinquency rates vs. judgmental underwriting for new-to-lending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SBP financial inclusion targets (50% by 2028) with data-driven credit access</a:t>
            </a:r>
            <a:endParaRPr sz="700"/>
          </a:p>
        </p:txBody>
      </p:sp>
      <p:sp>
        <p:nvSpPr>
          <p:cNvPr id="8388" name="Google Shape;8388;p481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Scorecard producing PD estimates for 80%+ of currently </a:t>
            </a:r>
            <a:r>
              <a:rPr lang="en-GB" sz="700" dirty="0" err="1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unscorable</a:t>
            </a: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applicants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 grade assignment enabling automated decisioning for low-risk new-to-lending (target: 60% STP)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Risk-based pricing recommendations adjusting KIBOR spread by predicted risk grade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monitoring dashboard tracking new-to-lending vintage performance vs. benchmarks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89" name="Google Shape;8389;p481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Gini coefficient &gt;0.35 on out-of-sample validation for new-to-lending scorecard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90-day delinquency rate for scored new-to-lending within 1.5x of established customer portfolio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decisioning rate &gt;50% for new-to-lending applications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Score-to-default correlation validated across 3+ vintages of origination</a:t>
            </a:r>
            <a:endParaRPr sz="700" dirty="0"/>
          </a:p>
        </p:txBody>
      </p:sp>
      <p:sp>
        <p:nvSpPr>
          <p:cNvPr id="8390" name="Google Shape;8390;p481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Alternative data scoring using gradient boosted trees (XGBoost/LightGBM) on non-traditional features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analysis of transaction graphs to infer creditworthiness from payment network position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Survival analysis for time-to-default modeling on thin-file segments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Transfer learning from existing customer behavioral models applied to new-to-lending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Psychometric scoring integration for micro-enterprise lending</a:t>
            </a:r>
            <a:endParaRPr sz="700"/>
          </a:p>
        </p:txBody>
      </p:sp>
      <p:sp>
        <p:nvSpPr>
          <p:cNvPr id="8391" name="Google Shape;8391;p481"/>
          <p:cNvSpPr/>
          <p:nvPr/>
        </p:nvSpPr>
        <p:spPr>
          <a:xfrm>
            <a:off x="411714" y="3663398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Limited historical default data for alternative-data-scored segments makes model validation difficult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Regulatory acceptance of non-traditional data sources by SBP for provisioning purposes uncertain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quality and availability of utility/telecom data varies significantly across urban and rural settings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bias risk — ensuring financial inclusion goals do not create adverse selection</a:t>
            </a:r>
            <a:endParaRPr sz="700" dirty="0"/>
          </a:p>
        </p:txBody>
      </p:sp>
      <p:sp>
        <p:nvSpPr>
          <p:cNvPr id="8392" name="Google Shape;8392;p481"/>
          <p:cNvSpPr/>
          <p:nvPr/>
        </p:nvSpPr>
        <p:spPr>
          <a:xfrm>
            <a:off x="435704" y="235822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CNIC demographics and NADRA verification data (FSDM: INDVDL, IDNTFTN entities)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Mobile money transaction patterns (</a:t>
            </a:r>
            <a:r>
              <a:rPr lang="en-GB" sz="7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JazzCash</a:t>
            </a: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</a:t>
            </a:r>
            <a:r>
              <a:rPr lang="en-GB" sz="7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Easypaisa</a:t>
            </a: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— velocity, regularity, average balance)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Utility payment history (electricity, gas, telecom — regularity, amounts)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RAAST/IBFT transaction frequency and network analysis (FSDM: EVNT, TRXN entities)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Employer/salary data from payroll accounts; Agricultural land records for rural borrowers</a:t>
            </a:r>
            <a:endParaRPr sz="700" dirty="0"/>
          </a:p>
        </p:txBody>
      </p:sp>
      <p:sp>
        <p:nvSpPr>
          <p:cNvPr id="8393" name="Google Shape;8393;p481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 credit scoring models for customers with no prior lending history — the "thin file" or "new-to-credit" segment representing 70% of Pakistan's adult population (financial inclusion at ~30%)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Traditional bureau-based scoring fails for individuals without ECIB history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Banks miss profitable lending opportunities in the unbanked/underbanked segment while competitors (</a:t>
            </a:r>
            <a:r>
              <a:rPr lang="en-GB" sz="7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JazzCash</a:t>
            </a: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-GB" sz="7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SadaPay</a:t>
            </a: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advance digital lending without traditional credit data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alternative data scoring approach leveraging mobile money, utility payments, and digital </a:t>
            </a:r>
            <a:r>
              <a:rPr lang="en-GB" sz="700" dirty="0" err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</a:t>
            </a: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signals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94" name="Google Shape;8394;p481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95" name="Google Shape;8395;p481"/>
          <p:cNvSpPr/>
          <p:nvPr/>
        </p:nvSpPr>
        <p:spPr>
          <a:xfrm>
            <a:off x="355600" y="80594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96" name="Google Shape;8396;p481"/>
          <p:cNvSpPr txBox="1">
            <a:spLocks noGrp="1"/>
          </p:cNvSpPr>
          <p:nvPr>
            <p:ph type="title"/>
          </p:nvPr>
        </p:nvSpPr>
        <p:spPr>
          <a:xfrm>
            <a:off x="423864" y="37625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Credit Risk Modeling for “New to Lending” Customers</a:t>
            </a:r>
            <a:endParaRPr sz="2400"/>
          </a:p>
        </p:txBody>
      </p:sp>
      <p:sp>
        <p:nvSpPr>
          <p:cNvPr id="8397" name="Google Shape;8397;p481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03" name="Google Shape;8403;p482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04" name="Google Shape;8404;p482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05" name="Google Shape;8405;p482"/>
          <p:cNvCxnSpPr/>
          <p:nvPr/>
        </p:nvCxnSpPr>
        <p:spPr>
          <a:xfrm>
            <a:off x="4576599" y="81059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06" name="Google Shape;8406;p482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7" name="Google Shape;8407;p482"/>
          <p:cNvSpPr/>
          <p:nvPr/>
        </p:nvSpPr>
        <p:spPr>
          <a:xfrm>
            <a:off x="4820082" y="80789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underwriting results from avoidance of weather-related and other naturally occurring property risks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underwriting and combined loss ratios—range of 1-5% increase.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Reductions of catastrophe losses and unallocated claims expenses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reserves and higher profits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333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 sz="750" b="1">
              <a:solidFill>
                <a:srgbClr val="BBBCB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8" name="Google Shape;8408;p482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ability to visualize property risk across various risk types (e.g., water, tidal surge, wind, hail, wild fire, sink holes, etc.)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Finer-grained risk analysis as compared to older postal code methods of analysis or inconsistent geo-coded results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Easier identification of insurable properties vs. riskier uninsurable properties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09" name="Google Shape;8409;p482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 of a property for all geographic risk types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Consistent geo-coding across an insurer enterprise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Ability to leverage geospatial analysis of catastrophe loss areas for efficient deployment of adjusters and response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0" name="Google Shape;8410;p482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Predictive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Cluster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Advanced Analytics  Group to Review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1" name="Google Shape;8411;p482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Updating and standardizing geo-coding and geospatial tools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Integrating third-party risk overlays for visualization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Increasing granularity of property data and analytics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2" name="Google Shape;8412;p482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Geospatial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Property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Underwriting &amp; Actuarial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Third-Party</a:t>
            </a:r>
            <a:endParaRPr/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3" name="Google Shape;8413;p482"/>
          <p:cNvSpPr/>
          <p:nvPr/>
        </p:nvSpPr>
        <p:spPr>
          <a:xfrm>
            <a:off x="423863" y="80789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Leverage geospatial analysis due to changing risk patterns to gain a better understanding of risks and underwriting results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Leverage granular data, consistent geo-coding, and risk overlay visualizations to assess property and other types of risk.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 choreographed catastrophe response for accelerated claim loss &amp; expense control and customer satisfaction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EC881D"/>
              </a:buClr>
              <a:buSzPts val="900"/>
              <a:buFont typeface="Noto Sans Symbols"/>
              <a:buNone/>
            </a:pPr>
            <a:endParaRPr sz="9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4" name="Google Shape;8414;p482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Georges Prouty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5" name="Google Shape;8415;p482"/>
          <p:cNvSpPr/>
          <p:nvPr/>
        </p:nvSpPr>
        <p:spPr>
          <a:xfrm>
            <a:off x="355600" y="594284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16" name="Google Shape;8416;p482"/>
          <p:cNvSpPr txBox="1">
            <a:spLocks noGrp="1"/>
          </p:cNvSpPr>
          <p:nvPr>
            <p:ph type="title"/>
          </p:nvPr>
        </p:nvSpPr>
        <p:spPr>
          <a:xfrm>
            <a:off x="423864" y="164592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Geospatial Risk </a:t>
            </a:r>
            <a:endParaRPr sz="2400"/>
          </a:p>
        </p:txBody>
      </p:sp>
      <p:sp>
        <p:nvSpPr>
          <p:cNvPr id="8417" name="Google Shape;8417;p482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23" name="Google Shape;8423;p483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24" name="Google Shape;8424;p483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25" name="Google Shape;8425;p483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26" name="Google Shape;8426;p483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7" name="Google Shape;8427;p483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5-point improvement in Gini coefficient translates to 10-15bps reduction in expected losses for a typical PKR 200B consumer lending portfolio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Quantified business case for data and analytics investments (ROI justification for FSDM implementation)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false positive rates in credit decisioning improve customer experience and reduce manual review costs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risk discrimination enables more granular pricing — capturing risk premium accurately rather than cross-subsidizing</a:t>
            </a:r>
            <a:endParaRPr sz="700"/>
          </a:p>
        </p:txBody>
      </p:sp>
      <p:sp>
        <p:nvSpPr>
          <p:cNvPr id="8428" name="Google Shape;8428;p483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Quantified model lift report showing incremental Gini improvement from each data source addition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 importance ranking identifying highest-value data elements for risk prediction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Cost-benefit analysis mapping data acquisition cost vs. expected loss reduction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Recommended model refresh cycle based on score degradation monitoring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29" name="Google Shape;8429;p483"/>
          <p:cNvSpPr/>
          <p:nvPr/>
        </p:nvSpPr>
        <p:spPr>
          <a:xfrm>
            <a:off x="3290403" y="380312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 minimum 3-point Gini improvement from FSDM data integration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Validate lift persistence across 6+ months of out-of-time data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Achieve PSI &lt; 0.25 confirming score stability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Produce actionable roadmap for full production model replacement with quantified NPV</a:t>
            </a:r>
            <a:endParaRPr sz="700" dirty="0"/>
          </a:p>
        </p:txBody>
      </p:sp>
      <p:sp>
        <p:nvSpPr>
          <p:cNvPr id="8430" name="Google Shape;8430;p483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Gini coefficient and KS statistic comparison between existing and enhanced models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ROC-AUC analysis with confidence intervals using bootstrap resampling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Population Stability Index (PSI) measuring score distribution drift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Characteristic analysis comparing discriminatory power of individual features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Lift chart analysis at each decile; Brier score for calibration accuracy assessment</a:t>
            </a:r>
            <a:endParaRPr sz="700"/>
          </a:p>
        </p:txBody>
      </p:sp>
      <p:sp>
        <p:nvSpPr>
          <p:cNvPr id="8431" name="Google Shape;8431;p483"/>
          <p:cNvSpPr/>
          <p:nvPr/>
        </p:nvSpPr>
        <p:spPr>
          <a:xfrm>
            <a:off x="423863" y="370861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Through-the-door population shifts confound model comparison — must control for changes in applicant mix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Vintage maturity differences between old and new model periods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Regulatory model validation requirements (SBP expects independent validation)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Resource constraints for parallel model execution during transition period</a:t>
            </a:r>
            <a:endParaRPr sz="700" dirty="0"/>
          </a:p>
        </p:txBody>
      </p:sp>
      <p:sp>
        <p:nvSpPr>
          <p:cNvPr id="8432" name="Google Shape;8432;p483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model scores and feature data from current production scorecards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feature sets from FSDM integration (full transaction history, multi-product behavioral data, channel interaction data)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ECIB credit bureau data (current utilization, inquiries, delinquency history)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Macroeconomic variables (KIBOR, CPI, unemployment proxy, PKR/USD)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tracking data (vintage curves, gain charts, stability reports)</a:t>
            </a:r>
            <a:endParaRPr sz="700"/>
          </a:p>
        </p:txBody>
      </p:sp>
      <p:sp>
        <p:nvSpPr>
          <p:cNvPr id="8433" name="Google Shape;8433;p483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Quantify the incremental predictive power gained from integrating additional data sources, advanced analytical techniques, or model enhancements into existing risk models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banks typically operate legacy scorecards built 5-7 years ago on limited feature sets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 whether investment in data warehouse integration (FSDM), alternative data, or advanced ML techniques delivers measurable improvement in risk discrimination and calibration accuracy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34" name="Google Shape;8434;p483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35" name="Google Shape;8435;p483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36" name="Google Shape;8436;p483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Risk Model Lift</a:t>
            </a:r>
            <a:endParaRPr sz="2400"/>
          </a:p>
        </p:txBody>
      </p:sp>
      <p:sp>
        <p:nvSpPr>
          <p:cNvPr id="8437" name="Google Shape;8437;p483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43" name="Google Shape;8443;p484"/>
          <p:cNvCxnSpPr/>
          <p:nvPr/>
        </p:nvCxnSpPr>
        <p:spPr>
          <a:xfrm>
            <a:off x="3207395" y="2335220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44" name="Google Shape;8444;p484"/>
          <p:cNvCxnSpPr/>
          <p:nvPr/>
        </p:nvCxnSpPr>
        <p:spPr>
          <a:xfrm>
            <a:off x="6057948" y="2335220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45" name="Google Shape;8445;p484"/>
          <p:cNvCxnSpPr/>
          <p:nvPr/>
        </p:nvCxnSpPr>
        <p:spPr>
          <a:xfrm>
            <a:off x="4576600" y="984697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46" name="Google Shape;8446;p484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47" name="Google Shape;8447;p484"/>
          <p:cNvSpPr/>
          <p:nvPr/>
        </p:nvSpPr>
        <p:spPr>
          <a:xfrm>
            <a:off x="4820083" y="981998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Proactive identification of correlated default risk reduces unexpected losses by 15-25% through early intervention on connected exposures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compliance with SBP single-obligor (30% of capital) and group exposure limits (50% of capital)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IFRS 9 Stage 2 identification through network-based Significant Increase in Credit Risk (SICR) triggers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stress testing outcomes by modeling contagion effects across interconnected portfolios</a:t>
            </a:r>
            <a:endParaRPr sz="700"/>
          </a:p>
        </p:txBody>
      </p:sp>
      <p:sp>
        <p:nvSpPr>
          <p:cNvPr id="8448" name="Google Shape;8448;p484"/>
          <p:cNvSpPr/>
          <p:nvPr/>
        </p:nvSpPr>
        <p:spPr>
          <a:xfrm>
            <a:off x="6148807" y="2226035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visualization of credit exposure interconnections with contagion risk scores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Portfolio-level impact assessment for top 50 obligor default scenarios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warning alerts when connected party risk exceeds thresholds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IFRS 9 SICR detection through network deterioration signals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Regulatory concentration risk reporting with full group exposure transparency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49" name="Google Shape;8449;p484"/>
          <p:cNvSpPr/>
          <p:nvPr/>
        </p:nvSpPr>
        <p:spPr>
          <a:xfrm>
            <a:off x="3270910" y="3557539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Map 90%+ of top 100 obligor networks with connected party identification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 contagion risk scoring correlated with observed default clustering in historical data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Produce SBP-compliant group exposure reports with automated beneficial ownership roll-up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Validate network SICR triggers against observed Stage 2/3 migrations</a:t>
            </a:r>
            <a:endParaRPr sz="700" dirty="0"/>
          </a:p>
        </p:txBody>
      </p:sp>
      <p:sp>
        <p:nvSpPr>
          <p:cNvPr id="8450" name="Google Shape;8450;p484"/>
          <p:cNvSpPr/>
          <p:nvPr/>
        </p:nvSpPr>
        <p:spPr>
          <a:xfrm>
            <a:off x="3271846" y="222603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 analytics mapping borrower-guarantor-related party networks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Contagion simulation using Monte Carlo with correlated default probabilities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Supply chain network analysis using payment flow data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Stress testing with cascading default scenarios (largest obligor default, sector-wide stress)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Copula models for joint default probability estimation</a:t>
            </a:r>
            <a:endParaRPr sz="700"/>
          </a:p>
        </p:txBody>
      </p:sp>
      <p:sp>
        <p:nvSpPr>
          <p:cNvPr id="8451" name="Google Shape;8451;p484"/>
          <p:cNvSpPr/>
          <p:nvPr/>
        </p:nvSpPr>
        <p:spPr>
          <a:xfrm>
            <a:off x="423864" y="3576502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Beneficial ownership data is incomplete in Pakistan — shell companies and nominee directors obscure true group structures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Cross-bank exposure data limited to ECIB aggregates without granular detail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Supply chain relationships not systematically captured in bank systems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Computational complexity of network-based simulations on large portfolios</a:t>
            </a:r>
            <a:endParaRPr sz="700" dirty="0"/>
          </a:p>
        </p:txBody>
      </p:sp>
      <p:sp>
        <p:nvSpPr>
          <p:cNvPr id="8452" name="Google Shape;8452;p484"/>
          <p:cNvSpPr/>
          <p:nvPr/>
        </p:nvSpPr>
        <p:spPr>
          <a:xfrm>
            <a:off x="423864" y="222603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FSDM Agreement, Party, and Relationship entities for exposure mapping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exposure data and beneficial ownership structures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Guarantee and collateral cross-linking data (FSDM: COLLATERAL, AGRMNT entities)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Supply chain payment data (trade finance LC/collection); Sector concentration data (SBP sector codes)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ECIB bureau data showing multi-bank exposures; Stock market data for listed group companies</a:t>
            </a:r>
            <a:endParaRPr sz="700"/>
          </a:p>
        </p:txBody>
      </p:sp>
      <p:sp>
        <p:nvSpPr>
          <p:cNvPr id="8453" name="Google Shape;8453;p484"/>
          <p:cNvSpPr/>
          <p:nvPr/>
        </p:nvSpPr>
        <p:spPr>
          <a:xfrm>
            <a:off x="423864" y="981998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 the cascading economic impact when a borrower defaults — across the bank's portfolio (contagion through related parties, guarantors, group exposures)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Evaluate impact on borrower's supply chain (trade creditors, employees, dependent businesses) and systemic risk implications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Pakistan's concentrated banking sector where top 20 groups represent 30%+ of system credit, understanding second-order default impacts is critical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SBP concentration risk compliance and IFRS 9 Stage 2 identification through network-based SICR triggers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54" name="Google Shape;8454;p484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55" name="Google Shape;8455;p484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56" name="Google Shape;8456;p484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Consequential Impact of Credit Default</a:t>
            </a:r>
            <a:endParaRPr sz="2400"/>
          </a:p>
        </p:txBody>
      </p:sp>
      <p:sp>
        <p:nvSpPr>
          <p:cNvPr id="8457" name="Google Shape;8457;p484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63" name="Google Shape;8463;p485"/>
          <p:cNvCxnSpPr/>
          <p:nvPr/>
        </p:nvCxnSpPr>
        <p:spPr>
          <a:xfrm>
            <a:off x="3207395" y="238304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64" name="Google Shape;8464;p485"/>
          <p:cNvCxnSpPr/>
          <p:nvPr/>
        </p:nvCxnSpPr>
        <p:spPr>
          <a:xfrm>
            <a:off x="6057948" y="238304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65" name="Google Shape;8465;p485"/>
          <p:cNvCxnSpPr/>
          <p:nvPr/>
        </p:nvCxnSpPr>
        <p:spPr>
          <a:xfrm>
            <a:off x="4576600" y="103252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66" name="Google Shape;8466;p485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67" name="Google Shape;8467;p485"/>
          <p:cNvSpPr/>
          <p:nvPr/>
        </p:nvSpPr>
        <p:spPr>
          <a:xfrm>
            <a:off x="4820083" y="102982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Accurate LGD estimates incorporating guarantee values reduce IFRS 9 ECL provisions by 10-20% for guaranteed portfolios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Identification of weak/ineffective guarantees enables proactive guarantee refresh or additional collateral requests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risk-based pricing reflecting true guarantee quality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utilization of government guarantee schemes (PKR 50B+ available through SBP refinance windows)</a:t>
            </a:r>
            <a:endParaRPr sz="700"/>
          </a:p>
        </p:txBody>
      </p:sp>
      <p:sp>
        <p:nvSpPr>
          <p:cNvPr id="8468" name="Google Shape;8468;p485"/>
          <p:cNvSpPr/>
          <p:nvPr/>
        </p:nvSpPr>
        <p:spPr>
          <a:xfrm>
            <a:off x="6148807" y="227386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Guarantee quality scorecard rating each guarantee from A (government/bank-backed) to D (personal, limited capacity)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Portfolio-level guarantee coverage dashboard showing net uncovered exposure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LGD model enhancement incorporating guarantee quality grades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alerts for expiring, deteriorating, or inadequate guarantee coverage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Optimized government guarantee scheme utilization recommendations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69" name="Google Shape;8469;p485"/>
          <p:cNvSpPr/>
          <p:nvPr/>
        </p:nvSpPr>
        <p:spPr>
          <a:xfrm>
            <a:off x="3270910" y="3663398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Classify 90%+ of guarantee portfolio by quality grade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 statistically significant LGD differentiation between guarantee quality grades (A-D)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Identify PKR 5B+ in inadequately guaranteed exposure for remediation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IFRS 9 ECL for guaranteed portfolio by 10%+ through more accurate LGD modeling</a:t>
            </a:r>
            <a:endParaRPr sz="700"/>
          </a:p>
        </p:txBody>
      </p:sp>
      <p:sp>
        <p:nvSpPr>
          <p:cNvPr id="8470" name="Google Shape;8470;p485"/>
          <p:cNvSpPr/>
          <p:nvPr/>
        </p:nvSpPr>
        <p:spPr>
          <a:xfrm>
            <a:off x="3271846" y="227386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Guarantor creditworthiness scoring using adapted PD models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Guarantee haircut analysis based on historical recovery rates by type (personal, corporate, government, bank)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Survival analysis on guarantee invocation timelines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Correlation analysis between borrower default and guarantor distress (wrong-way risk)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Coverage gap analysis comparing guarantee amounts to exposure at default</a:t>
            </a:r>
            <a:endParaRPr sz="700"/>
          </a:p>
        </p:txBody>
      </p:sp>
      <p:sp>
        <p:nvSpPr>
          <p:cNvPr id="8471" name="Google Shape;8471;p485"/>
          <p:cNvSpPr/>
          <p:nvPr/>
        </p:nvSpPr>
        <p:spPr>
          <a:xfrm>
            <a:off x="423864" y="35573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Guarantor financial data is often outdated (annual statements vs. quarterly refresh needed)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Legal enforceability varies significantly across Pakistani court jurisdictions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 guarantees from related parties offer limited diversification benefit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Double-counting risk when guarantor is also borrower in another facility; Government guarantee claims are slow (12-24 months)</a:t>
            </a:r>
            <a:endParaRPr sz="700" dirty="0"/>
          </a:p>
        </p:txBody>
      </p:sp>
      <p:sp>
        <p:nvSpPr>
          <p:cNvPr id="8472" name="Google Shape;8472;p485"/>
          <p:cNvSpPr/>
          <p:nvPr/>
        </p:nvSpPr>
        <p:spPr>
          <a:xfrm>
            <a:off x="423864" y="227386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FSDM Collateral, Agreement, and Party entities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Guarantee contracts with terms, amounts, and expiry dates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Guarantor financial data (net worth, income, existing obligations)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Government guarantee scheme utilization data; Historical recovery data from guarantee invocations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Legal enforceability assessment data by jurisdiction and guarantee type</a:t>
            </a:r>
            <a:endParaRPr sz="700"/>
          </a:p>
        </p:txBody>
      </p:sp>
      <p:sp>
        <p:nvSpPr>
          <p:cNvPr id="8473" name="Google Shape;8473;p485"/>
          <p:cNvSpPr/>
          <p:nvPr/>
        </p:nvSpPr>
        <p:spPr>
          <a:xfrm>
            <a:off x="423864" y="102982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Analyze the effectiveness, coverage adequacy, and risk-reducing value of guarantee structures across the lending portfolio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 banks heavily rely on personal guarantees (particularly in SME and agricultural lending) and government guarantee schemes (SBP refinance, SMEDA, Kamyab Pakistan)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Many guarantees are paper-only with no analysis of guarantor's actual capacity to pay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Quantify true Loss Given Default (LGD) reduction from guarantee coverage vs. uncollateralized exposure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74" name="Google Shape;8474;p485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75" name="Google Shape;8475;p485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76" name="Google Shape;8476;p485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Guarantee Analytics</a:t>
            </a:r>
            <a:endParaRPr sz="2400"/>
          </a:p>
        </p:txBody>
      </p:sp>
      <p:sp>
        <p:nvSpPr>
          <p:cNvPr id="8477" name="Google Shape;8477;p485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83" name="Google Shape;8483;p486"/>
          <p:cNvCxnSpPr/>
          <p:nvPr/>
        </p:nvCxnSpPr>
        <p:spPr>
          <a:xfrm>
            <a:off x="3207395" y="2335220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84" name="Google Shape;8484;p486"/>
          <p:cNvCxnSpPr/>
          <p:nvPr/>
        </p:nvCxnSpPr>
        <p:spPr>
          <a:xfrm>
            <a:off x="6057948" y="2335220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85" name="Google Shape;8485;p486"/>
          <p:cNvCxnSpPr/>
          <p:nvPr/>
        </p:nvCxnSpPr>
        <p:spPr>
          <a:xfrm>
            <a:off x="4576600" y="984697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86" name="Google Shape;8486;p486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87" name="Google Shape;8487;p486"/>
          <p:cNvSpPr/>
          <p:nvPr/>
        </p:nvSpPr>
        <p:spPr>
          <a:xfrm>
            <a:off x="4820083" y="981998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time-to-decision from 7+ days to same-day for 60%+ of consumer applications through automated scoring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 underwriting consistency (eliminate branch/region variation in approval rates for same risk profile)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underwriting cost by PKR 2,000-5,000 per application through straight-through processing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early delinquency by 20-30% through data-driven override controls</a:t>
            </a:r>
            <a:endParaRPr sz="700"/>
          </a:p>
        </p:txBody>
      </p:sp>
      <p:sp>
        <p:nvSpPr>
          <p:cNvPr id="8488" name="Google Shape;8488;p486"/>
          <p:cNvSpPr/>
          <p:nvPr/>
        </p:nvSpPr>
        <p:spPr>
          <a:xfrm>
            <a:off x="6148807" y="2226035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Unified underwriting platform with automated scoring, policy checks, and decision recommendations for consumer, SME, and mortgage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Underwriter override dashboard with mandatory reason codes and post-outcome tracking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SBP compliance checking (sector limits, concentration, DTI)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Queue-based workflow routing high-risk to senior underwriters; auto-approving low-risk with audit trail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89" name="Google Shape;8489;p486"/>
          <p:cNvSpPr/>
          <p:nvPr/>
        </p:nvSpPr>
        <p:spPr>
          <a:xfrm>
            <a:off x="3279098" y="3695001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Auto-decision rate &gt;50% for consumer lending with default rate within 10% of manually underwritten portfolio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Time-to-decision &lt;24 hours for auto-eligible applications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Override rate &lt;15% with documented override performance tracking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Underwriter productivity improvement of 40%+ (applications processed per underwriter per day)</a:t>
            </a:r>
            <a:endParaRPr sz="700" dirty="0"/>
          </a:p>
        </p:txBody>
      </p:sp>
      <p:sp>
        <p:nvSpPr>
          <p:cNvPr id="8490" name="Google Shape;8490;p486"/>
          <p:cNvSpPr/>
          <p:nvPr/>
        </p:nvSpPr>
        <p:spPr>
          <a:xfrm>
            <a:off x="3271846" y="222603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scorecard using logistic regression or gradient boosting on application + bureau features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scorecard incorporating 12-month transaction velocity, deposit stability, and payment patterns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Policy rule engine enforcing SBP prudential limits (DTI ratios, maximum exposure, sector limits)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document verification using OCR and cross-matching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Champion-challenger framework for continuous model improvement</a:t>
            </a:r>
            <a:endParaRPr sz="700"/>
          </a:p>
        </p:txBody>
      </p:sp>
      <p:sp>
        <p:nvSpPr>
          <p:cNvPr id="8491" name="Google Shape;8491;p486"/>
          <p:cNvSpPr/>
          <p:nvPr/>
        </p:nvSpPr>
        <p:spPr>
          <a:xfrm>
            <a:off x="422229" y="3576502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Organizational resistance from underwriters accustomed to judgmental authority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quality gaps in income verification (informal sector represents 40%+ of Pakistan's economy)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Integration across multiple core banking systems for single customer view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regulatory acceptance of automated decisioning for larger facilities</a:t>
            </a:r>
            <a:endParaRPr sz="700" dirty="0"/>
          </a:p>
        </p:txBody>
      </p:sp>
      <p:sp>
        <p:nvSpPr>
          <p:cNvPr id="8492" name="Google Shape;8492;p486"/>
          <p:cNvSpPr/>
          <p:nvPr/>
        </p:nvSpPr>
        <p:spPr>
          <a:xfrm>
            <a:off x="423864" y="222603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data (demographics, income, employment, existing obligations)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ECIB credit bureau data (eCIB score, inquiry history, existing facilities)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CNIC verification via NADRA; Bank's own customer behavioral data (FSDM: ACCT, TRXN entities)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Collateral valuation data; Digital channel data (application completion patterns, device fingerprint)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Prudential Regulation compliance parameters</a:t>
            </a:r>
            <a:endParaRPr sz="700"/>
          </a:p>
        </p:txBody>
      </p:sp>
      <p:sp>
        <p:nvSpPr>
          <p:cNvPr id="8493" name="Google Shape;8493;p486"/>
          <p:cNvSpPr/>
          <p:nvPr/>
        </p:nvSpPr>
        <p:spPr>
          <a:xfrm>
            <a:off x="423864" y="981998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 credit underwriting from judgmental, document-heavy manual assessment to data-driven, risk-scored automated decisioning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banks average 7-14 days for consumer loan decisioning and 30-60 days for SME/commercial vs. fintech instant pre-approval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Underwriting quality is inconsistent across branches with limited post-disbursement feedback on underwriter accuracy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94" name="Google Shape;8494;p486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95" name="Google Shape;8495;p486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96" name="Google Shape;8496;p486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Underwriting for Risk</a:t>
            </a:r>
            <a:endParaRPr sz="2400"/>
          </a:p>
        </p:txBody>
      </p:sp>
      <p:sp>
        <p:nvSpPr>
          <p:cNvPr id="8497" name="Google Shape;8497;p486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03" name="Google Shape;8503;p487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04" name="Google Shape;8504;p487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05" name="Google Shape;8505;p487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06" name="Google Shape;8506;p487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07" name="Google Shape;8507;p487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 capital allocation across business lines based on risk-adjusted returns (RAROC)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excess capital buffers through more accurate RWA calculation (typical bank carries 200-400bps buffer above minimum)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strategic decisions on portfolio mix, product pricing, and business expansion with capital efficiency lens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Timely and accurate ICAAP submission to SBP with scenario-based capital planning</a:t>
            </a:r>
            <a:endParaRPr sz="700"/>
          </a:p>
        </p:txBody>
      </p:sp>
      <p:sp>
        <p:nvSpPr>
          <p:cNvPr id="8508" name="Google Shape;8508;p487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monthly CAR calculation with reconciliation to SBP returns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Business-line level capital allocation with RAROC rankings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ICAAP document with forward-looking capital projections under stress scenarios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optimization recommendations identifying RWA reduction opportunities (collateral CRM, exposure restructuring)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capital monitoring dashboard for Treasury/ALCO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09" name="Google Shape;8509;p487"/>
          <p:cNvSpPr/>
          <p:nvPr/>
        </p:nvSpPr>
        <p:spPr>
          <a:xfrm>
            <a:off x="3270909" y="3733736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 calculation within 0.1% of SBP reconciled figure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RWA optimization identifying PKR 10B+ reduction opportunities through CRM improvements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RAROC rankings produced for all business lines and top 50 customer relationships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ICAAP stress testing completed within 2-week SBP timeline</a:t>
            </a:r>
            <a:endParaRPr sz="700" dirty="0"/>
          </a:p>
        </p:txBody>
      </p:sp>
      <p:sp>
        <p:nvSpPr>
          <p:cNvPr id="8510" name="Google Shape;8510;p487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Basel III Standardized Approach RWA calculation by asset class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 mitigation (CRM) computation applying collateral haircuts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standardized measurement (interest rate, equity, FX, commodities)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ICAAP stress testing with 3 macroeconomic scenarios (base, adverse, severe)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allocation using RAROC framework (economic capital at 99.9% VaR); Reverse stress testing</a:t>
            </a:r>
            <a:endParaRPr sz="700"/>
          </a:p>
        </p:txBody>
      </p:sp>
      <p:sp>
        <p:nvSpPr>
          <p:cNvPr id="8511" name="Google Shape;8511;p487"/>
          <p:cNvSpPr/>
          <p:nvPr/>
        </p:nvSpPr>
        <p:spPr>
          <a:xfrm>
            <a:off x="423863" y="3673446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core systems require standardized exposure data extraction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Collateral revaluation frequency inadequate for accurate CRM calculations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IRB model parameters not yet approved by SBP for most Pakistani banks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Granular business-line P&amp;L allocation needed for RAROC but transfer pricing accuracy is limited</a:t>
            </a:r>
            <a:endParaRPr sz="700" dirty="0"/>
          </a:p>
        </p:txBody>
      </p:sp>
      <p:sp>
        <p:nvSpPr>
          <p:cNvPr id="8512" name="Google Shape;8512;p487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FSDM Agreement, Risk Rating, Collateral, and Finance entities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Individual facility data (exposure amounts, risk weights, maturity, collateral CRM)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positions (trading book, banking book securities, FX open positions)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Operational risk loss event data; Tier 1/Tier 2 capital instruments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Macroeconomic scenario data for stress testing; SBP regulatory parameters and conversion factors</a:t>
            </a:r>
            <a:endParaRPr sz="700"/>
          </a:p>
        </p:txBody>
      </p:sp>
      <p:sp>
        <p:nvSpPr>
          <p:cNvPr id="8513" name="Google Shape;8513;p487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Build an integrated capital calculation engine computing regulatory capital (CET1, Tier 1, Total Capital) and economic capital across credit, market, and operational risk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SBP requires minimum CAR of 11.5% (including CCB 2.5%) with D-SIB surcharge of 1-1.5% for systemically important banks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planning must integrate with ICAAP submission and stress testing requirements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banks compute RWA manually with spreadsheets, creating reconciliation issues with SBP returns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14" name="Google Shape;8514;p487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15" name="Google Shape;8515;p487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16" name="Google Shape;8516;p487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Calculation and Management of Capital</a:t>
            </a:r>
            <a:endParaRPr sz="2400"/>
          </a:p>
        </p:txBody>
      </p:sp>
      <p:sp>
        <p:nvSpPr>
          <p:cNvPr id="8517" name="Google Shape;8517;p487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23" name="Google Shape;8523;p488"/>
          <p:cNvCxnSpPr/>
          <p:nvPr/>
        </p:nvCxnSpPr>
        <p:spPr>
          <a:xfrm>
            <a:off x="3207395" y="2373001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24" name="Google Shape;8524;p488"/>
          <p:cNvCxnSpPr/>
          <p:nvPr/>
        </p:nvCxnSpPr>
        <p:spPr>
          <a:xfrm>
            <a:off x="6057948" y="2373001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25" name="Google Shape;8525;p488"/>
          <p:cNvCxnSpPr/>
          <p:nvPr/>
        </p:nvCxnSpPr>
        <p:spPr>
          <a:xfrm>
            <a:off x="4576600" y="1022478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26" name="Google Shape;8526;p488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27" name="Google Shape;8527;p488"/>
          <p:cNvSpPr/>
          <p:nvPr/>
        </p:nvSpPr>
        <p:spPr>
          <a:xfrm>
            <a:off x="4820083" y="1019779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Quantified evidence for model promotion decisions — reducing model risk and regulatory challenge during SBP validation reviews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10-15% improvement in policy decisions (cut-offs, pricing, limits) through continuous optimization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Faster time-to-market for model enhancements with controlled risk exposure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Documentation trail satisfying IFRS 9 model governance and SBP requirements</a:t>
            </a:r>
            <a:endParaRPr sz="700"/>
          </a:p>
        </p:txBody>
      </p:sp>
      <p:sp>
        <p:nvSpPr>
          <p:cNvPr id="8528" name="Google Shape;8528;p488"/>
          <p:cNvSpPr/>
          <p:nvPr/>
        </p:nvSpPr>
        <p:spPr>
          <a:xfrm>
            <a:off x="6148807" y="2263816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champion-challenger framework with random traffic allocation and parallel scoring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monitoring of challenger performance with early warning if challenger underperforms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Formal model promotion workflow with statistical evidence package for SBP validation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Historical test results repository documenting all model changes and outcomes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29" name="Google Shape;8529;p488"/>
          <p:cNvSpPr/>
          <p:nvPr/>
        </p:nvSpPr>
        <p:spPr>
          <a:xfrm>
            <a:off x="3271846" y="3623205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Framework operational with at least 2 concurrent champion-challenger tests running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Statistical significance achieved within 6 months for high-volume products (consumer lending, cards)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promotion decision documented with p-value &lt;0.05 on primary performance metric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model validation team accepts A/B testing evidence for model change approval</a:t>
            </a:r>
            <a:endParaRPr sz="700" dirty="0"/>
          </a:p>
        </p:txBody>
      </p:sp>
      <p:sp>
        <p:nvSpPr>
          <p:cNvPr id="8530" name="Google Shape;8530;p488"/>
          <p:cNvSpPr/>
          <p:nvPr/>
        </p:nvSpPr>
        <p:spPr>
          <a:xfrm>
            <a:off x="3271846" y="2263816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Randomized controlled trial design with stratified sampling by risk segment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Statistical significance testing (chi-square, t-test) on key performance metrics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Sequential analysis for early stopping rules (detect winner sooner without full vintage maturity)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Bayesian A/B testing for continuous probability estimation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Multi-armed bandit for 3+ challenger strategies; Thompson sampling for optimal allocation</a:t>
            </a:r>
            <a:endParaRPr sz="700"/>
          </a:p>
        </p:txBody>
      </p:sp>
      <p:sp>
        <p:nvSpPr>
          <p:cNvPr id="8531" name="Google Shape;8531;p488"/>
          <p:cNvSpPr/>
          <p:nvPr/>
        </p:nvSpPr>
        <p:spPr>
          <a:xfrm>
            <a:off x="423864" y="3487552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Vintage maturity requirements (12-18 months for credit risk) delay test conclusions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Small sample sizes in niche segments (agriculture, Islamic finance) reduce statistical power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Ethical concerns about randomly assigning customers to potentially inferior strategies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Organizational resistance when challenger results challenge established credit policies</a:t>
            </a:r>
            <a:endParaRPr sz="700" dirty="0"/>
          </a:p>
        </p:txBody>
      </p:sp>
      <p:sp>
        <p:nvSpPr>
          <p:cNvPr id="8532" name="Google Shape;8532;p488"/>
          <p:cNvSpPr/>
          <p:nvPr/>
        </p:nvSpPr>
        <p:spPr>
          <a:xfrm>
            <a:off x="423864" y="2263816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model scores and challenger model scores run in parallel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data, decisioning outcomes, and performance data (default, delinquency, loss)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Policy parameters (cut-offs, overrides, exceptions)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assignment flags for controlled experiments; Customer segment identifiers for stratified analysis</a:t>
            </a:r>
            <a:endParaRPr sz="700"/>
          </a:p>
        </p:txBody>
      </p:sp>
      <p:sp>
        <p:nvSpPr>
          <p:cNvPr id="8533" name="Google Shape;8533;p488"/>
          <p:cNvSpPr/>
          <p:nvPr/>
        </p:nvSpPr>
        <p:spPr>
          <a:xfrm>
            <a:off x="423864" y="1019779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Establish a rigorous champion-challenger testing framework for risk models, credit policies, collections strategies, and pricing decisions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Pakistani banks deploy risk models without systematic performance comparison — new models replace old based on development-sample metrics alone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creates model risk and prevents evidence-based policy optimization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controlled live testing framework satisfying SBP Guidelines on Risk Models requirements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34" name="Google Shape;8534;p488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35" name="Google Shape;8535;p488"/>
          <p:cNvSpPr/>
          <p:nvPr/>
        </p:nvSpPr>
        <p:spPr>
          <a:xfrm>
            <a:off x="355600" y="523729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36" name="Google Shape;8536;p488"/>
          <p:cNvSpPr txBox="1">
            <a:spLocks noGrp="1"/>
          </p:cNvSpPr>
          <p:nvPr>
            <p:ph type="title"/>
          </p:nvPr>
        </p:nvSpPr>
        <p:spPr>
          <a:xfrm>
            <a:off x="423864" y="94037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of A/B Testing</a:t>
            </a:r>
            <a:endParaRPr sz="2400"/>
          </a:p>
        </p:txBody>
      </p:sp>
      <p:sp>
        <p:nvSpPr>
          <p:cNvPr id="8537" name="Google Shape;8537;p488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43" name="Google Shape;8543;p489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44" name="Google Shape;8544;p489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45" name="Google Shape;8545;p489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46" name="Google Shape;8546;p489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47" name="Google Shape;8547;p489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model deployment time from 6+ months to 4-6 weeks through automated model promotion pipelines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Eliminate recoding errors that typically reduce model Gini by 2-5 points during manual translation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 in-database scoring using Teradata's analytical functions — eliminating data extraction latency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 SBP requirement for model implementation documentation with full audit trail</a:t>
            </a:r>
            <a:endParaRPr/>
          </a:p>
        </p:txBody>
      </p:sp>
      <p:sp>
        <p:nvSpPr>
          <p:cNvPr id="8548" name="Google Shape;8548;p489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End-to-end model deployment pipeline: Dev → Test → UAT → Production with automated validation at each gate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In-database scoring capability for batch and near-real-time use cases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monitoring dashboard with automated alerts on performance degradation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registry tracking all production models with version history and validation documentation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49" name="Google Shape;8549;p489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 one risk model end-to-end in &lt;6 weeks using the pipeline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 &lt;0.5 point Gini difference between development and production scoring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model monitoring detecting performance degradation within 30 days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documentation package satisfying SBP model validation requirements</a:t>
            </a:r>
            <a:endParaRPr/>
          </a:p>
        </p:txBody>
      </p:sp>
      <p:sp>
        <p:nvSpPr>
          <p:cNvPr id="8550" name="Google Shape;8550;p489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serialization and containerization (Docker/Kubernetes or Teradata in-database deployment)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PMML/ONNX model interchange for platform-agnostic deployment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 store pattern ensuring consistent feature computation between dev and production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model monitoring with drift detection (PSI, CSI, feature distribution shifts)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A/B routing for staged rollout of new models</a:t>
            </a:r>
            <a:endParaRPr/>
          </a:p>
        </p:txBody>
      </p:sp>
      <p:sp>
        <p:nvSpPr>
          <p:cNvPr id="8551" name="Google Shape;8551;p489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and risk analytics teams operate in silos with different tools, environments, and release cycles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Teradata in-database analytics requires SQL-based model implementation vs. native Python/R objects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data quality differs from development samples requiring robust error handling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model validation requires comprehensive documentation of implementation process</a:t>
            </a:r>
            <a:endParaRPr/>
          </a:p>
        </p:txBody>
      </p:sp>
      <p:sp>
        <p:nvSpPr>
          <p:cNvPr id="8552" name="Google Shape;8552;p489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Trained model objects (PMML/ONNX format)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 engineering specifications and data transformation rules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data feeds from FSDM entities (Agreement, Party, Risk Rating)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monitoring metrics (score distributions, feature drift, performance degradation)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 control metadata for model lineage</a:t>
            </a:r>
            <a:endParaRPr/>
          </a:p>
        </p:txBody>
      </p:sp>
      <p:sp>
        <p:nvSpPr>
          <p:cNvPr id="8553" name="Google Shape;8553;p489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Bridge the gap between risk model development (typically in R/Python/SAS) and production deployment in core banking and decision engines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Pakistani banks face 6-12 month lags between model completion and production implementation — model performance degrades during this gap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Manual model recoding from analytical environments to production introduces "detuning" errors compromising model integrity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54" name="Google Shape;8554;p489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55" name="Google Shape;8555;p489"/>
          <p:cNvSpPr/>
          <p:nvPr/>
        </p:nvSpPr>
        <p:spPr>
          <a:xfrm>
            <a:off x="355600" y="848282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56" name="Google Shape;8556;p489"/>
          <p:cNvSpPr txBox="1">
            <a:spLocks noGrp="1"/>
          </p:cNvSpPr>
          <p:nvPr>
            <p:ph type="title"/>
          </p:nvPr>
        </p:nvSpPr>
        <p:spPr>
          <a:xfrm>
            <a:off x="423864" y="418590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Risk Model Deployment and Operationalization</a:t>
            </a:r>
            <a:endParaRPr sz="2400"/>
          </a:p>
        </p:txBody>
      </p:sp>
      <p:sp>
        <p:nvSpPr>
          <p:cNvPr id="8557" name="Google Shape;8557;p489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63" name="Google Shape;8563;p490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64" name="Google Shape;8564;p490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65" name="Google Shape;8565;p490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66" name="Google Shape;8566;p490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67" name="Google Shape;8567;p490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5-10% improvement in portfolio RAROC through optimized cut-off strategies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adverse selection by aligning pricing with individual risk profiles (KIBOR + risk-adjusted spread)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acceptance rates for profitable segments while tightening for loss-making segments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Quantified risk appetite framework aligned with bank strategic objectives and SBP capital targets</a:t>
            </a:r>
            <a:endParaRPr/>
          </a:p>
        </p:txBody>
      </p:sp>
      <p:sp>
        <p:nvSpPr>
          <p:cNvPr id="8568" name="Google Shape;8568;p490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 cut-off recommendations by product and segment with expected P&amp;L impact quantified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Risk-adjusted pricing grid mapping score ranges to KIBOR spreads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Strategy performance monitoring dashboard tracking acceptance rates, early delinquency, and RAROC by strategy cell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strategy refresh recommendations when performance deviates from projections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69" name="Google Shape;8569;p490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Demonstrate 3%+ RAROC improvement on pilot product through optimized strategy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Acceptance rate change translates to predicted volume/loss impact within 15% accuracy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Strategy monitoring dashboard live with monthly performance tracking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and risk functions aligned on risk appetite boundaries with documented tolerances</a:t>
            </a:r>
            <a:endParaRPr/>
          </a:p>
        </p:txBody>
      </p:sp>
      <p:sp>
        <p:nvSpPr>
          <p:cNvPr id="8570" name="Google Shape;8570;p490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Profit-maximizing cut-off optimization using marginal PD x LGD x EAD vs. marginal revenue analysis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Reject inference techniques (parceling, bivariate probit) to estimate reject performance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Sensitivity analysis of acceptance rate vs. loss rate at different cut-offs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strategy trees incorporating score, income, LTV, DTI, and segment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What-if simulation for portfolio composition under alternative strategies</a:t>
            </a:r>
            <a:endParaRPr/>
          </a:p>
        </p:txBody>
      </p:sp>
      <p:sp>
        <p:nvSpPr>
          <p:cNvPr id="8571" name="Google Shape;8571;p490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Reject inference inherently uncertain — no perfect data on rejected applicants' true performance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Revenue projections require reliable FTP rates and operating cost allocation (profitability engine dependency)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Organizational alignment between risk (minimize losses) and business (maximize volume) on optimal trade-off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Strategy changes require time to mature before impact is observable</a:t>
            </a:r>
            <a:endParaRPr/>
          </a:p>
        </p:txBody>
      </p:sp>
      <p:sp>
        <p:nvSpPr>
          <p:cNvPr id="8572" name="Google Shape;8572;p490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scorecard outputs with decision outcomes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Through-the-door population data including rejects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Pricing data (KIBOR spread, fee income); Loss data by risk grade, vintage, and product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Revenue data by customer relationship; Capital consumption by facility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FTP rates from Treasury</a:t>
            </a:r>
            <a:endParaRPr/>
          </a:p>
        </p:txBody>
      </p:sp>
      <p:sp>
        <p:nvSpPr>
          <p:cNvPr id="8573" name="Google Shape;8573;p490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 the trade-off between risk appetite and revenue generation across lending products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Pakistani banks often apply uniform risk policies (flat cut-offs, standard pricing) that either over-accept risk or over-reject profitable customers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analytical framework to find optimal decision boundaries maximizing risk-adjusted returns across customer segments and products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74" name="Google Shape;8574;p490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75" name="Google Shape;8575;p490"/>
          <p:cNvSpPr/>
          <p:nvPr/>
        </p:nvSpPr>
        <p:spPr>
          <a:xfrm>
            <a:off x="355600" y="848282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76" name="Google Shape;8576;p490"/>
          <p:cNvSpPr txBox="1">
            <a:spLocks noGrp="1"/>
          </p:cNvSpPr>
          <p:nvPr>
            <p:ph type="title"/>
          </p:nvPr>
        </p:nvSpPr>
        <p:spPr>
          <a:xfrm>
            <a:off x="423864" y="418590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Risk / Reward Strategy Optimization</a:t>
            </a:r>
            <a:endParaRPr sz="2400"/>
          </a:p>
        </p:txBody>
      </p:sp>
      <p:sp>
        <p:nvSpPr>
          <p:cNvPr id="8577" name="Google Shape;8577;p490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83" name="Google Shape;8583;p491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84" name="Google Shape;8584;p491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85" name="Google Shape;8585;p491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86" name="Google Shape;8586;p491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87" name="Google Shape;8587;p491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Earlier detection of credit deterioration (30-90 days before traditional delinquency flags) enables proactive intervention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Stage 3 migration by 15-25% through timely Stage 2 identification and intervention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accurate IFRS 9 Stage 2 classification reduces ECL volatility and provision-to-loss ratio overstatement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model lift directly improves limit management decisions — protecting from excess exposure to deteriorating customers</a:t>
            </a:r>
            <a:endParaRPr/>
          </a:p>
        </p:txBody>
      </p:sp>
      <p:sp>
        <p:nvSpPr>
          <p:cNvPr id="8588" name="Google Shape;8588;p491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behavioral scorecard with minimum 5-point Gini improvement over existing model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SICR trigger alerts flagging Stage 2 candidates 60+ days before delinquency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model lift report quantifying incremental value of each data domain (transactions, digital, cross-product)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deployment recommendation with migration plan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89" name="Google Shape;8589;p491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Gini &gt;0.50 on out-of-time validation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SICR detection preceding Stage 3 migration by average 60+ days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ECL accuracy improvement (actual vs. predicted loss ratio within 90-110%)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model validation acceptance of behavioral model for IFRS 9 staging</a:t>
            </a:r>
            <a:endParaRPr/>
          </a:p>
        </p:txBody>
      </p:sp>
      <p:sp>
        <p:nvSpPr>
          <p:cNvPr id="8590" name="Google Shape;8590;p491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Rolling behavioral score recalibration with 12-month outcome windows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Time-series feature engineering (3/6/12-month trends in transaction velocity, balance volatility, utilization trajectory)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SHAP analysis for model explainability — identifying which behavioral changes drive score movement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Survival analysis for time-to-Stage-3 prediction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Kalman filtering for dynamic score smoothing</a:t>
            </a:r>
            <a:endParaRPr/>
          </a:p>
        </p:txBody>
      </p:sp>
      <p:sp>
        <p:nvSpPr>
          <p:cNvPr id="8591" name="Google Shape;8591;p491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data requires minimum 12-month history — new customers excluded from scoring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Product-specific behavior patterns require separate models (CASA, cards, lending, trade)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IFRS 9 SICR threshold calibration is judgment-heavy — different thresholds produce materially different Stage 2 populations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complexity vs. explainability trade-off for regulatory acceptance</a:t>
            </a:r>
            <a:endParaRPr/>
          </a:p>
        </p:txBody>
      </p:sp>
      <p:sp>
        <p:nvSpPr>
          <p:cNvPr id="8592" name="Google Shape;8592;p491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12-month transaction behavioral features from FSDM Event and Transaction entities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Account utilization patterns (balance trends, limit utilization velocity)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Payment behavior (minimum vs. full payment ratio, payment timing drift)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Cross-product behavioral signals (deposit drawdown, investment redemption as distress indicators)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Digital channel engagement changes as early warning indicators</a:t>
            </a:r>
            <a:endParaRPr/>
          </a:p>
        </p:txBody>
      </p:sp>
      <p:sp>
        <p:nvSpPr>
          <p:cNvPr id="8593" name="Google Shape;8593;p491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 and enhance predictive power of behavioral risk models used for portfolio monitoring and limit management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Unlike application scorecards (Slide 4), behavioral models leverage ongoing customer transaction data to detect deterioration in creditworthiness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Essential for IFRS 9 Stage 2 identification where Significant Increase in Credit Risk (SICR) must be detected before default occurs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94" name="Google Shape;8594;p491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95" name="Google Shape;8595;p491"/>
          <p:cNvSpPr/>
          <p:nvPr/>
        </p:nvSpPr>
        <p:spPr>
          <a:xfrm>
            <a:off x="355600" y="580173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96" name="Google Shape;8596;p491"/>
          <p:cNvSpPr txBox="1">
            <a:spLocks noGrp="1"/>
          </p:cNvSpPr>
          <p:nvPr>
            <p:ph type="title"/>
          </p:nvPr>
        </p:nvSpPr>
        <p:spPr>
          <a:xfrm>
            <a:off x="423864" y="150481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Risk Model Lift</a:t>
            </a:r>
            <a:endParaRPr sz="2400"/>
          </a:p>
        </p:txBody>
      </p:sp>
      <p:sp>
        <p:nvSpPr>
          <p:cNvPr id="8597" name="Google Shape;8597;p491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3" name="Google Shape;8603;p492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04" name="Google Shape;8604;p492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05" name="Google Shape;8605;p492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06" name="Google Shape;8606;p492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07" name="Google Shape;8607;p492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Proactive risk management identifying portfolio vulnerabilities before stress materializes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Regulatory compliance with SBP ICAAP and Basel III Pillar 2 stress testing requirements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planning optimization — right-sizing buffers based on actual stress outcomes rather than arbitrary add-ons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Strategic decision support for ALCO on portfolio rebalancing and concentration reduction</a:t>
            </a:r>
            <a:endParaRPr/>
          </a:p>
        </p:txBody>
      </p:sp>
      <p:sp>
        <p:nvSpPr>
          <p:cNvPr id="8608" name="Google Shape;8608;p492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ICAAP stress testing report with capital impact under 3 scenarios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Sector-level vulnerability analysis identifying concentrations most sensitive to macroeconomic stress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Reverse stress test results showing distance-to-breach for capital ratios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Management action triggers linked to macroeconomic indicators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stress testing capability enabling ad-hoc scenario analysis for emerging risks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09" name="Google Shape;8609;p492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ICAAP stress test completed within SBP-mandated timeline with full documentation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impact estimates validated against historical stress episodes (2008 GFC, 2018 currency crisis, 2022 crisis)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Reverse stress test identifies specific breaking scenarios with quantified probability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Stress testing infrastructure enables ad-hoc scenario analysis within 48 hours</a:t>
            </a:r>
            <a:endParaRPr/>
          </a:p>
        </p:txBody>
      </p:sp>
      <p:sp>
        <p:nvSpPr>
          <p:cNvPr id="8610" name="Google Shape;8610;p492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Top-down macroeconomic scenario generation with 3 scenarios (baseline, adverse, severely adverse)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Bottom-up PD/LGD stress models linking macro factors to risk parameters using satellite models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Portfolio-level credit loss simulation under stressed PD/LGD/EAD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stress testing using historical and hypothetical scenarios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Reverse stress testing identifying scenarios that breach minimum capital; Monte Carlo simulation for joint probability</a:t>
            </a:r>
            <a:endParaRPr/>
          </a:p>
        </p:txBody>
      </p:sp>
      <p:sp>
        <p:nvSpPr>
          <p:cNvPr id="8611" name="Google Shape;8611;p492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Limited historical stress data for Pakistan — only 2-3 true stress episodes in last 20 years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Macro-to-risk-parameter linkages are structurally unstable in Pakistan's evolving economy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Cross-risk integration (credit + market + liquidity) requires comprehensive data and consistent scenarios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Computational intensity for account-level stress testing on PKR 2-3 trillion lending portfolios</a:t>
            </a:r>
            <a:endParaRPr/>
          </a:p>
        </p:txBody>
      </p:sp>
      <p:sp>
        <p:nvSpPr>
          <p:cNvPr id="8612" name="Google Shape;8612;p492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Account-level exposure data from FSDM Agreement entities; Risk rating, collateral, and guarantee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Macroeconomic time series (GDP, CPI, KIBOR, PKR/USD, real estate indices, sector indicators)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Historical loss data by risk grade, sector, and collateral type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position data (trading book, banking book)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stress testing parameters and scenario specifications</a:t>
            </a:r>
            <a:endParaRPr/>
          </a:p>
        </p:txBody>
      </p:sp>
      <p:sp>
        <p:nvSpPr>
          <p:cNvPr id="8613" name="Google Shape;8613;p492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Build comprehensive scenario analysis and stress testing capability meeting SBP ICAAP and Basel III Pillar 2 obligations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Pakistani banks must assess capital adequacy under stress: PKR devaluation (30-40%), KIBOR spike (500bps+), GDP contraction (2-3%), real estate correction (25-40%)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banks perform stress testing as annual compliance exercise using simple sensitivity analysis rather than integrated scenario-based modeling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14" name="Google Shape;8614;p492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Risk Analytics CoE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15" name="Google Shape;8615;p492"/>
          <p:cNvSpPr/>
          <p:nvPr/>
        </p:nvSpPr>
        <p:spPr>
          <a:xfrm>
            <a:off x="355600" y="82006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16" name="Google Shape;8616;p492"/>
          <p:cNvSpPr txBox="1">
            <a:spLocks noGrp="1"/>
          </p:cNvSpPr>
          <p:nvPr>
            <p:ph type="title"/>
          </p:nvPr>
        </p:nvSpPr>
        <p:spPr>
          <a:xfrm>
            <a:off x="423864" y="39036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Risk Scenario and Stress Testing</a:t>
            </a:r>
            <a:endParaRPr sz="2400"/>
          </a:p>
        </p:txBody>
      </p:sp>
      <p:sp>
        <p:nvSpPr>
          <p:cNvPr id="8617" name="Google Shape;8617;p492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Core for Risk Analytics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23" name="Google Shape;8623;p493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24" name="Google Shape;8624;p493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25" name="Google Shape;8625;p493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26" name="Google Shape;8626;p493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27" name="Google Shape;8627;p493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Disciplined credit growth aligned with capital capacity and strategic objectives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monitoring of risk appetite utilization prevents breach situations and reactive corrective actions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Board governance with clear risk appetite KPIs and escalation triggers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Optimized capital deployment by directing origination to under-utilized segments while constraining over-concentrated ones</a:t>
            </a:r>
            <a:endParaRPr/>
          </a:p>
        </p:txBody>
      </p:sp>
      <p:sp>
        <p:nvSpPr>
          <p:cNvPr id="8628" name="Google Shape;8628;p493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Quantified Risk Appetite Statement with 15-20 metrics cascaded from Board to business-unit operating limits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dashboard showing appetite utilization by sector, geography, product, and risk grade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escalation alerts when utilization exceeds warning thresholds (85% Yellow, 95% Red)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appetite consumption report for Board Risk Committee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29" name="Google Shape;8629;p493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RAS document with 15+ quantitative metrics approved by Board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Cascading limits operational across all business lines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undetected appetite breaches (all breaches flagged within 24 hours)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Board report produced within T+5 business days</a:t>
            </a:r>
            <a:endParaRPr/>
          </a:p>
        </p:txBody>
      </p:sp>
      <p:sp>
        <p:nvSpPr>
          <p:cNvPr id="8630" name="Google Shape;8630;p493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Top-down capital allocation based on target ROE and risk tolerance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VaR (99.9%) calculation for economic capital by portfolio segment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Concentration risk measurement using Herfindahl-Hirschman Index (HHI) by sector, geography, and obligor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 utilization monitoring with traffic-light dashboard (Green/Amber/Red)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Sensitivity analysis of appetite metrics to macroeconomic stress scenarios</a:t>
            </a:r>
            <a:endParaRPr/>
          </a:p>
        </p:txBody>
      </p:sp>
      <p:sp>
        <p:nvSpPr>
          <p:cNvPr id="8631" name="Google Shape;8631;p493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Translating qualitative Board statements into quantitative operating limits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Historical data limitations for calibrating appetite metrics in Pakistan's volatile economic environment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Balancing growth mandates (SBP financial inclusion targets) with prudent risk appetite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Appetite setting for new products/segments with limited loss history</a:t>
            </a:r>
            <a:endParaRPr/>
          </a:p>
        </p:txBody>
      </p:sp>
      <p:sp>
        <p:nvSpPr>
          <p:cNvPr id="8632" name="Google Shape;8632;p493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FSDM Portfolio, Agreement, and Organization entities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adequacy data (CET1, Tier 1, Total Capital ratios)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Sector-wise exposure data (SBP sector codes); Geographic concentration data (province, city, rural/urban)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 grade distribution; Loss experience data (provision charges, write-offs, recoveries)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Economic capital model outputs; Peer benchmarking data from SBP Financial Stability Reports</a:t>
            </a:r>
            <a:endParaRPr/>
          </a:p>
        </p:txBody>
      </p:sp>
      <p:sp>
        <p:nvSpPr>
          <p:cNvPr id="8633" name="Google Shape;8633;p493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Define and operationalize credit risk appetite from Board-level strategic risk tolerance down to individual product, segment, and geographic lending limits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SBP requires formal Risk Appetite Statement (RAS) with quantitative metrics and cascading limits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Pakistani banks define appetite qualitatively with limited connection to daily origination and portfolio management decisions</a:t>
            </a: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34" name="Google Shape;8634;p493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35" name="Google Shape;8635;p493"/>
          <p:cNvSpPr/>
          <p:nvPr/>
        </p:nvSpPr>
        <p:spPr>
          <a:xfrm>
            <a:off x="355600" y="551951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36" name="Google Shape;8636;p493"/>
          <p:cNvSpPr txBox="1">
            <a:spLocks noGrp="1"/>
          </p:cNvSpPr>
          <p:nvPr>
            <p:ph type="title"/>
          </p:nvPr>
        </p:nvSpPr>
        <p:spPr>
          <a:xfrm>
            <a:off x="423864" y="122259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Credit Risk Appetite</a:t>
            </a:r>
            <a:endParaRPr sz="2400"/>
          </a:p>
        </p:txBody>
      </p:sp>
      <p:sp>
        <p:nvSpPr>
          <p:cNvPr id="8637" name="Google Shape;8637;p493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3" name="Google Shape;8643;p494"/>
          <p:cNvCxnSpPr/>
          <p:nvPr/>
        </p:nvCxnSpPr>
        <p:spPr>
          <a:xfrm>
            <a:off x="3207394" y="2513894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4" name="Google Shape;8644;p494"/>
          <p:cNvCxnSpPr/>
          <p:nvPr/>
        </p:nvCxnSpPr>
        <p:spPr>
          <a:xfrm>
            <a:off x="6057947" y="2513894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45" name="Google Shape;8645;p494"/>
          <p:cNvCxnSpPr/>
          <p:nvPr/>
        </p:nvCxnSpPr>
        <p:spPr>
          <a:xfrm>
            <a:off x="4576599" y="81059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46" name="Google Shape;8646;p494"/>
          <p:cNvSpPr/>
          <p:nvPr/>
        </p:nvSpPr>
        <p:spPr>
          <a:xfrm rot="5400000">
            <a:off x="-86832" y="2588856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47" name="Google Shape;8647;p494"/>
          <p:cNvSpPr/>
          <p:nvPr/>
        </p:nvSpPr>
        <p:spPr>
          <a:xfrm>
            <a:off x="4820082" y="1033673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credit losses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reserve capital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credit risk processing costs</a:t>
            </a:r>
            <a:endParaRPr/>
          </a:p>
          <a:p>
            <a:pPr marL="108000" marR="0" lvl="0" indent="-5084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333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 sz="750" b="1">
              <a:solidFill>
                <a:srgbClr val="BBBCB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48" name="Google Shape;8648;p494"/>
          <p:cNvSpPr/>
          <p:nvPr/>
        </p:nvSpPr>
        <p:spPr>
          <a:xfrm>
            <a:off x="6148806" y="2404709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 credit event prediction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 financial and capital adequacy planning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 capital reserve and allowance for credit loss provisions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reporting and decision making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data lineage and transparency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efficient reconciliations (between financial and risk views)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49" name="Google Shape;8649;p494"/>
          <p:cNvSpPr/>
          <p:nvPr/>
        </p:nvSpPr>
        <p:spPr>
          <a:xfrm>
            <a:off x="3271845" y="3628445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Identify specific risk data to be integrated across all lines of business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Determine  frequency of update - daily, weekly, monthly to support business insights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 not limit analysis to just structured data, include: free-text in applications, customer notes, collections, etc.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Establishment of data lineage between operating systems and financial systems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0" name="Google Shape;8650;p494"/>
          <p:cNvSpPr/>
          <p:nvPr/>
        </p:nvSpPr>
        <p:spPr>
          <a:xfrm>
            <a:off x="3271845" y="2404709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Path and Pattern (nPath) to identify most frequent paths leading to credit events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Regression analytics 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Text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Advanced Analytics Group to Review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1" name="Google Shape;8651;p494"/>
          <p:cNvSpPr/>
          <p:nvPr/>
        </p:nvSpPr>
        <p:spPr>
          <a:xfrm>
            <a:off x="423863" y="3628445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Integration across all lines of business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Critical to be able to operationalize the identified analytics 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Predicting  the cost of an adverse  event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Extending data lineage through third party models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2" name="Google Shape;8652;p494"/>
          <p:cNvSpPr/>
          <p:nvPr/>
        </p:nvSpPr>
        <p:spPr>
          <a:xfrm>
            <a:off x="423863" y="2404709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Lending system transactions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 related information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Rules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Analytical model outputs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reference hierarchies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 &amp; Recovery process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Economic factor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External data, e.g. FICO</a:t>
            </a:r>
            <a:endParaRPr/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3" name="Google Shape;8653;p494"/>
          <p:cNvSpPr/>
          <p:nvPr/>
        </p:nvSpPr>
        <p:spPr>
          <a:xfrm>
            <a:off x="423863" y="1033673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 behavioral view of Probability of Default (PoD),  Loss Given Default (LGD) and Earnings at Risk (EaR)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 proactive credit risk exposure management at deal and portfolio level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Accurately predict credit risk events to support mitigating actions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product classification completed at too high a level of aggregation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scoring models do not include up to date economic factors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 management and financial management processes operate independently and sub-optimize financial performance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301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881D"/>
              </a:buClr>
              <a:buSzPts val="800"/>
              <a:buFont typeface="Noto Sans Symbols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4" name="Google Shape;8654;p494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Henry Kolisnik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5" name="Google Shape;8655;p494"/>
          <p:cNvSpPr/>
          <p:nvPr/>
        </p:nvSpPr>
        <p:spPr>
          <a:xfrm>
            <a:off x="355600" y="82006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56" name="Google Shape;8656;p494"/>
          <p:cNvSpPr txBox="1">
            <a:spLocks noGrp="1"/>
          </p:cNvSpPr>
          <p:nvPr>
            <p:ph type="title"/>
          </p:nvPr>
        </p:nvSpPr>
        <p:spPr>
          <a:xfrm>
            <a:off x="423864" y="390368"/>
            <a:ext cx="6307136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Pre-Default Risk and Credit Event Prediction</a:t>
            </a:r>
            <a:endParaRPr sz="2400"/>
          </a:p>
        </p:txBody>
      </p:sp>
      <p:sp>
        <p:nvSpPr>
          <p:cNvPr id="8657" name="Google Shape;8657;p494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63" name="Google Shape;8663;p495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4" name="Google Shape;8664;p495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65" name="Google Shape;8665;p495"/>
          <p:cNvCxnSpPr/>
          <p:nvPr/>
        </p:nvCxnSpPr>
        <p:spPr>
          <a:xfrm>
            <a:off x="4576599" y="81059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66" name="Google Shape;8666;p495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67" name="Google Shape;8667;p495"/>
          <p:cNvSpPr/>
          <p:nvPr/>
        </p:nvSpPr>
        <p:spPr>
          <a:xfrm>
            <a:off x="4820082" y="80789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profit—range of 1-5% increase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risk adjusted margins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targeted retention &amp; acquisition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sales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competitive market capability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333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 sz="750" b="1">
              <a:solidFill>
                <a:srgbClr val="BBBCB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68" name="Google Shape;8668;p495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Enablement of more granular risk segmentation for potential underwriting.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Enablement of deeper and wider risk analysis through the integration of traditional and big data and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Expansion of product offerings through the identification of insurable coverages and segments of the population 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69" name="Google Shape;8669;p495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Integration of traditional and other types of data (non-traditional)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granular data for analysis of underwriting risk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Incorporation of geospatial data for location analysis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Ability to visualize results</a:t>
            </a:r>
            <a:endParaRPr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0" name="Google Shape;8670;p495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Traditional actuarial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Text analytics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Graphing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Advanced Analytics Group to Review</a:t>
            </a: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1" name="Google Shape;8671;p495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integration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Reducing-eliminating summarized data use by underwriters &amp; by underwriting models 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use of atomic data for analysis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Leveraging both text and traditional data in analysis.</a:t>
            </a:r>
            <a:endParaRPr/>
          </a:p>
          <a:p>
            <a:pPr marL="108000" marR="0" lvl="0" indent="-108000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Underwriting access to analytics (BI and visualization) and integration with underwriting operational systems</a:t>
            </a:r>
            <a:endParaRPr/>
          </a:p>
          <a:p>
            <a:pPr marL="108000" marR="0" lvl="0" indent="-57199" algn="l" rtl="0">
              <a:spcBef>
                <a:spcPts val="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8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2" name="Google Shape;8672;p495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Highly atomic risk and claims data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Third-party data such as Motor Vehicle Registry (MVRs)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Non-traditional data, which includes text</a:t>
            </a:r>
            <a:endParaRPr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Policy data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3" name="Google Shape;8673;p495"/>
          <p:cNvSpPr/>
          <p:nvPr/>
        </p:nvSpPr>
        <p:spPr>
          <a:xfrm>
            <a:off x="423863" y="80789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10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Insurance sales are becoming ever increasingly challenging and competitive.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 insured policy shopping through pricing flexibility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detailed data prevents the ability to underwrite new segments of risks, i.e., formerly considered uninsurable</a:t>
            </a:r>
            <a:endParaRPr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 retention of profitable policyholders and acquisition of new policyholders</a:t>
            </a:r>
            <a:endParaRPr/>
          </a:p>
          <a:p>
            <a:pPr marL="108000" marR="0" lvl="0" indent="-47674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50"/>
              <a:buFont typeface="Arial"/>
              <a:buNone/>
            </a:pPr>
            <a:endParaRPr sz="95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EC881D"/>
              </a:buClr>
              <a:buSzPts val="900"/>
              <a:buFont typeface="Noto Sans Symbols"/>
              <a:buNone/>
            </a:pPr>
            <a:endParaRPr sz="9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4" name="Google Shape;8674;p495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Georges Prouty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5" name="Google Shape;8675;p495"/>
          <p:cNvSpPr/>
          <p:nvPr/>
        </p:nvSpPr>
        <p:spPr>
          <a:xfrm>
            <a:off x="355600" y="594284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76" name="Google Shape;8676;p495"/>
          <p:cNvSpPr txBox="1">
            <a:spLocks noGrp="1"/>
          </p:cNvSpPr>
          <p:nvPr>
            <p:ph type="title"/>
          </p:nvPr>
        </p:nvSpPr>
        <p:spPr>
          <a:xfrm>
            <a:off x="423864" y="164592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Risk Based Policy Pricing</a:t>
            </a:r>
            <a:endParaRPr sz="2400"/>
          </a:p>
        </p:txBody>
      </p:sp>
      <p:sp>
        <p:nvSpPr>
          <p:cNvPr id="8677" name="Google Shape;8677;p495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83" name="Google Shape;8683;p496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84" name="Google Shape;8684;p496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85" name="Google Shape;8685;p496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86" name="Google Shape;8686;p496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87" name="Google Shape;8687;p496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15-25bps margin improvement through risk-differentiated pricing (charge more for higher risk, compete on low risk)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adverse selection — flat pricing attracts higher-risk borrowers while losing low-risk to competitors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Portfolio-level loss reduction through better risk-price alignment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Expansion into under-served segments (smaller cities, commercial properties) with appropriately priced risk</a:t>
            </a:r>
            <a:endParaRPr sz="700"/>
          </a:p>
        </p:txBody>
      </p:sp>
      <p:sp>
        <p:nvSpPr>
          <p:cNvPr id="8688" name="Google Shape;8688;p496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Risk-based pricing grid: LTV buckets x risk grade x property type x location = recommended KIBOR spread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pricing tool integrated with loan origination system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Property risk scoring model augmenting traditional valuation with location risk factors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monitoring dashboard tracking pricing adequacy vs. actual loss experience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89" name="Google Shape;8689;p496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Pricing model deployed for pilot city (Karachi/Lahore) with risk differentiation across LTV and risk grade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Back-tested pricing adequacy: actual losses within ±20% of priced expected loss for 3+ vintages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Property risk scores showing statistically significant correlation with actual recovery outcomes</a:t>
            </a:r>
            <a:endParaRPr sz="700"/>
          </a:p>
        </p:txBody>
      </p:sp>
      <p:sp>
        <p:nvSpPr>
          <p:cNvPr id="8690" name="Google Shape;8690;p496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LTV-based pricing model incorporating property type risk adjustments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Hedonic property valuation model using location, size, type, and age features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scoring for small business (turnover, years in business, account conduct)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loss pricing: KIBOR + FTP spread + expected loss + operating cost + target margin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Scenario analysis for property price correction (25-40% haircuts)</a:t>
            </a:r>
            <a:endParaRPr sz="700"/>
          </a:p>
        </p:txBody>
      </p:sp>
      <p:sp>
        <p:nvSpPr>
          <p:cNvPr id="8691" name="Google Shape;8691;p496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standardized property price index in Pakistan — valuations are subjective and often inflated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Forced-sale recovery timelines average 3-7 years in Pakistani courts, impacting recovery NPV dramatically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DC/FBR property valuation rates differ significantly from market values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Small business financial data quality is poor (informal accounting, cash-based businesses)</a:t>
            </a:r>
            <a:endParaRPr sz="700"/>
          </a:p>
        </p:txBody>
      </p:sp>
      <p:sp>
        <p:nvSpPr>
          <p:cNvPr id="8692" name="Google Shape;8692;p496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Property valuation data (forced-sale value, market value, location, type)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Borrower financial data (business turnover, profitability, bank account conduct)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ECIB credit bureau history; Historical default and recovery data by property type and location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property market data and real estate indices; KIBOR term structure for FTP-based pricing floors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Competitor pricing surveys</a:t>
            </a:r>
            <a:endParaRPr sz="700"/>
          </a:p>
        </p:txBody>
      </p:sp>
      <p:sp>
        <p:nvSpPr>
          <p:cNvPr id="8693" name="Google Shape;8693;p496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 risk-based pricing models for small business mortgage/property-secured lending — a PKR 500B+ market segment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Pakistani banks currently apply flat pricing (KIBOR + 3-5%) without differentiation by risk profile, property type, location, or LTV ratio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Commercial property valuation in Pakistan is opaque (no standardized indices), making LTV-based pricing particularly challenging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analytics to price risk accurately while remaining competitive against informal lending sources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94" name="Google Shape;8694;p496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95" name="Google Shape;8695;p496"/>
          <p:cNvSpPr/>
          <p:nvPr/>
        </p:nvSpPr>
        <p:spPr>
          <a:xfrm>
            <a:off x="355600" y="862393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96" name="Google Shape;8696;p496"/>
          <p:cNvSpPr txBox="1">
            <a:spLocks noGrp="1"/>
          </p:cNvSpPr>
          <p:nvPr>
            <p:ph type="title"/>
          </p:nvPr>
        </p:nvSpPr>
        <p:spPr>
          <a:xfrm>
            <a:off x="423864" y="432701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Real Estate Mortgage Pricing – Small Business</a:t>
            </a:r>
            <a:endParaRPr sz="2400"/>
          </a:p>
        </p:txBody>
      </p:sp>
      <p:sp>
        <p:nvSpPr>
          <p:cNvPr id="8697" name="Google Shape;8697;p496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3" name="Google Shape;8703;p497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04" name="Google Shape;8704;p497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05" name="Google Shape;8705;p497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06" name="Google Shape;8706;p497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07" name="Google Shape;8707;p497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Optimized risk-return profile through deliberate portfolio composition management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Compliance with SBP single-obligor (30% equity) and group exposure limits (50% equity) through early warning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unexpected losses through diversification — sector/geographic concentration risk capital charge optimization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capital efficiency by directing origination toward high-RAROC segments</a:t>
            </a:r>
            <a:endParaRPr sz="700" dirty="0"/>
          </a:p>
        </p:txBody>
      </p:sp>
      <p:sp>
        <p:nvSpPr>
          <p:cNvPr id="8708" name="Google Shape;8708;p497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heat map showing concentration risk by sector, geography, obligor, and risk grade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Marginal capital contribution by business line enabling capital-efficient origination decisions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concentration monitoring with SBP limit compliance dashboard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optimization recommendations with quantified risk-return trade-offs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Strategic origination guidance: "grow in segment X, maintain in Y, reduce in Z"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09" name="Google Shape;8709;p497"/>
          <p:cNvSpPr/>
          <p:nvPr/>
        </p:nvSpPr>
        <p:spPr>
          <a:xfrm>
            <a:off x="3297182" y="3793212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model operational with loss distribution by sector and risk grade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Concentration risk dashboard with automated SBP limit monitoring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RAROC-based origination guidance published monthly to all business lines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</a:t>
            </a:r>
            <a:r>
              <a:rPr lang="en-GB" sz="700" dirty="0" err="1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</a:t>
            </a: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reduction of 5-10% through identified rebalancing opportunities</a:t>
            </a:r>
            <a:endParaRPr sz="700" dirty="0"/>
          </a:p>
        </p:txBody>
      </p:sp>
      <p:sp>
        <p:nvSpPr>
          <p:cNvPr id="8710" name="Google Shape;8710;p497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portfolio model (CreditMetrics/CreditRisk+ approach) for portfolio-level loss distribution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Marginal risk contribution analysis (each facility's contribution to portfolio VaR)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Concentration risk measurement (HHI, Granularity Adjustment)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optimization using mean-variance framework adapted for credit (target RAROC maximization)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Stress testing portfolio composition under sector-specific scenarios</a:t>
            </a:r>
            <a:endParaRPr sz="700"/>
          </a:p>
        </p:txBody>
      </p:sp>
      <p:sp>
        <p:nvSpPr>
          <p:cNvPr id="8711" name="Google Shape;8711;p497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portfolio models require default correlation estimates — limited empirical data in Pakistan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Active portfolio management tools (credit derivatives, securitization) underdeveloped in Pakistan's capital markets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Organizational resistance from relationship managers whose clients may fall in "reduce" segments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quality for accurate sector/geographic classification across complex group structures</a:t>
            </a:r>
            <a:endParaRPr sz="700" dirty="0"/>
          </a:p>
        </p:txBody>
      </p:sp>
      <p:sp>
        <p:nvSpPr>
          <p:cNvPr id="8712" name="Google Shape;8712;p497"/>
          <p:cNvSpPr/>
          <p:nvPr/>
        </p:nvSpPr>
        <p:spPr>
          <a:xfrm>
            <a:off x="423863" y="2253767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portfolio data from FSDM Agreement, Party, Organization entities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 ratings, collateral, guarantees; Sector classification (SBP codes)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Geographic distribution (province, city); Facility-level P&amp;L data for RAROC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consumption by facility; Market data for credit derivative pricing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exposure limit parameters</a:t>
            </a:r>
            <a:endParaRPr sz="700" dirty="0"/>
          </a:p>
        </p:txBody>
      </p:sp>
      <p:sp>
        <p:nvSpPr>
          <p:cNvPr id="8713" name="Google Shape;8713;p497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 credit portfolio management from passive originate-and-hold to active portfolio optimization managing concentrations and risk-return trade-offs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banking sector has high concentration risk: top 20 groups = 30%+ of system credit, textile/sugar/energy = 40%+ of industrial lending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Government securities dominate banking book; Need analytics to actively manage portfolio composition within SBP concentration limits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14" name="Google Shape;8714;p497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15" name="Google Shape;8715;p497"/>
          <p:cNvSpPr/>
          <p:nvPr/>
        </p:nvSpPr>
        <p:spPr>
          <a:xfrm>
            <a:off x="355600" y="862393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16" name="Google Shape;8716;p497"/>
          <p:cNvSpPr txBox="1">
            <a:spLocks noGrp="1"/>
          </p:cNvSpPr>
          <p:nvPr>
            <p:ph type="title"/>
          </p:nvPr>
        </p:nvSpPr>
        <p:spPr>
          <a:xfrm>
            <a:off x="423864" y="432701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Credit Portfolio Management</a:t>
            </a:r>
            <a:endParaRPr sz="2400"/>
          </a:p>
        </p:txBody>
      </p:sp>
      <p:sp>
        <p:nvSpPr>
          <p:cNvPr id="8717" name="Google Shape;8717;p497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3" name="Google Shape;8723;p498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24" name="Google Shape;8724;p498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25" name="Google Shape;8725;p498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6" name="Google Shape;8726;p498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27" name="Google Shape;8727;p498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credit risk visibility enabling proactive management rather than reactive response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identification of emerging risks through leading indicator monitoring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Board reporting quality satisfying SBP corporate governance expectations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Competitive intelligence on peer banks' credit strategies informing strategic positioning</a:t>
            </a:r>
            <a:endParaRPr sz="700"/>
          </a:p>
        </p:txBody>
      </p:sp>
      <p:sp>
        <p:nvSpPr>
          <p:cNvPr id="8728" name="Google Shape;8728;p498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 dashboard with real-time portfolio risk metrics (NPL ratio, provision coverage, ECL by stage, risk grade migration)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Credit Risk Intelligence report combining internal analytics with external market intelligence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warning system with leading indicators (KIBOR trends, sector distress signals, obligor-specific alerts)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comparison benchmarks on 10+ key credit risk metrics; Ad-hoc analysis capability for emerging risks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29" name="Google Shape;8729;p498"/>
          <p:cNvSpPr/>
          <p:nvPr/>
        </p:nvSpPr>
        <p:spPr>
          <a:xfrm>
            <a:off x="3279097" y="3796817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 dashboard operational with daily refresh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Monthly intelligence report produced within T+3 business days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warning system generating actionable alerts with &lt;5% false positive rate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Board Risk Committee reporting quality rated "satisfactory" in SBP inspection</a:t>
            </a:r>
            <a:endParaRPr sz="700" dirty="0"/>
          </a:p>
        </p:txBody>
      </p:sp>
      <p:sp>
        <p:nvSpPr>
          <p:cNvPr id="8730" name="Google Shape;8730;p498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Dashboard analytics with drill-through from enterprise to individual obligor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analysis with statistical process control (detect meaningful shifts vs. noise)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benchmarking analysis on NPL ratios, provision coverage, sector exposures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Leading indicator monitoring using macro-credit linkage models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Heat maps for sector and geographic risk concentration; Text analytics on news for early warning</a:t>
            </a:r>
            <a:endParaRPr sz="700"/>
          </a:p>
        </p:txBody>
      </p:sp>
      <p:sp>
        <p:nvSpPr>
          <p:cNvPr id="8731" name="Google Shape;8731;p498"/>
          <p:cNvSpPr/>
          <p:nvPr/>
        </p:nvSpPr>
        <p:spPr>
          <a:xfrm>
            <a:off x="421292" y="3612909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freshness — core banking provides daily data but analytical enrichment (scoring, staging) may lag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External data access and integration (SBP data, market data, news feeds)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Defining meaningful leading indicators in Pakistan's volatile economic environment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Information overload risk — too many metrics dilutes focus on truly important risk signals</a:t>
            </a:r>
            <a:endParaRPr sz="700" dirty="0"/>
          </a:p>
        </p:txBody>
      </p:sp>
      <p:sp>
        <p:nvSpPr>
          <p:cNvPr id="8732" name="Google Shape;8732;p498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Internal portfolio data (FSDM entities across all risk domains)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Financial Stability Reports and banking sector statistics; ECIB system-level credit bureau trend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Macroeconomic indicators (KIBOR, CPI, industrial production, trade data)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Peer bank published results (PSX filings, annual reports)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International credit risk intelligence (Moody's, S&amp;P sovereign and banking reports)</a:t>
            </a:r>
            <a:endParaRPr sz="700"/>
          </a:p>
        </p:txBody>
      </p:sp>
      <p:sp>
        <p:nvSpPr>
          <p:cNvPr id="8733" name="Google Shape;8733;p498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 the CRO and Credit Committee with comprehensive credit risk intelligence integrating portfolio analytics, market intelligence, and peer benchmarking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Currently, Pakistani bank CROs rely on fragmented monthly reports from different departments, often 2-3 weeks old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integrated view of credit risk posture and trends; Need unified decision-support platform with forward-looking risk indicators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4" name="Google Shape;8734;p498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Credit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5" name="Google Shape;8735;p498"/>
          <p:cNvSpPr/>
          <p:nvPr/>
        </p:nvSpPr>
        <p:spPr>
          <a:xfrm>
            <a:off x="355600" y="53784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36" name="Google Shape;8736;p498"/>
          <p:cNvSpPr txBox="1">
            <a:spLocks noGrp="1"/>
          </p:cNvSpPr>
          <p:nvPr>
            <p:ph type="title"/>
          </p:nvPr>
        </p:nvSpPr>
        <p:spPr>
          <a:xfrm>
            <a:off x="423864" y="10814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Credit Risk Management Intelligence</a:t>
            </a:r>
            <a:endParaRPr sz="2400"/>
          </a:p>
        </p:txBody>
      </p:sp>
      <p:sp>
        <p:nvSpPr>
          <p:cNvPr id="8737" name="Google Shape;8737;p498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Credit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3" name="Google Shape;8743;p499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44" name="Google Shape;8744;p499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45" name="Google Shape;8745;p499"/>
          <p:cNvCxnSpPr/>
          <p:nvPr/>
        </p:nvCxnSpPr>
        <p:spPr>
          <a:xfrm>
            <a:off x="4576599" y="81059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46" name="Google Shape;8746;p499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47" name="Google Shape;8747;p499"/>
          <p:cNvSpPr/>
          <p:nvPr/>
        </p:nvSpPr>
        <p:spPr>
          <a:xfrm>
            <a:off x="4820082" y="80789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Earnings volatility reduced by more effective use of hedging products (e.g. mitigation of adverse currency movements)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Accurately represent the firm’s risk management activities in financial statements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Compliance with regulatory and accounting standards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Easier and lower maintenance costs of modern accounting processes</a:t>
            </a:r>
            <a:endParaRPr sz="700"/>
          </a:p>
          <a:p>
            <a:pPr marL="108000" marR="0" lvl="0" indent="-5084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333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endParaRPr sz="700" b="1">
              <a:solidFill>
                <a:srgbClr val="BBBCB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48" name="Google Shape;8748;p499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Rapid visualization of optimal hedging strategy with P&amp;L impact based upon portfolio asset mix and asset/liability forecast.</a:t>
            </a:r>
            <a:endParaRPr sz="700"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49" name="Google Shape;8749;p499"/>
          <p:cNvSpPr/>
          <p:nvPr/>
        </p:nvSpPr>
        <p:spPr>
          <a:xfrm>
            <a:off x="3271845" y="3557890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Consolidated environment of hedging analytics</a:t>
            </a:r>
            <a:endParaRPr sz="700" dirty="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Integrated view of detailed forward currency risk</a:t>
            </a:r>
            <a:endParaRPr sz="700" dirty="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Accelerated calculation and delivery of optimized hedged solution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FX hedge effectiveness demonstrated on PKR/USD portfolio within 2025-2026 POV timeline</a:t>
            </a:r>
            <a:endParaRPr sz="700" dirty="0"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80975" marR="0" lvl="0" indent="-123825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0" name="Google Shape;8750;p499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Predictive Value at Risk (VaR)</a:t>
            </a:r>
            <a:endParaRPr sz="70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Linear optimization</a:t>
            </a:r>
            <a:endParaRPr sz="70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Advanced Analytics Group to Review</a:t>
            </a:r>
            <a:endParaRPr sz="700"/>
          </a:p>
          <a:p>
            <a:pPr marL="108000" marR="0" lvl="0" indent="-57199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None/>
            </a:pP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1" name="Google Shape;8751;p499"/>
          <p:cNvSpPr/>
          <p:nvPr/>
        </p:nvSpPr>
        <p:spPr>
          <a:xfrm>
            <a:off x="423863" y="3693542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availability:  Level of integration, Degree of granularity, Timeliness, Quality</a:t>
            </a:r>
            <a:endParaRPr sz="700" dirty="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Knowledge of and confidence in portfolio hedge products (derivatives: swaps, futures, options)</a:t>
            </a:r>
            <a:endParaRPr sz="700" dirty="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2" name="Google Shape;8752;p499"/>
          <p:cNvSpPr/>
          <p:nvPr/>
        </p:nvSpPr>
        <p:spPr>
          <a:xfrm>
            <a:off x="428544" y="2433622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Portfolio balance and transaction data (Balances, rates, fees etc.)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data – Real-time and historic F/X rates and Interest rates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Cashflow and asset/liability forecast 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FX position reporting data; KIBOR vs SOFR basis spread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RDA deposit maturity profile; Import LC pipeline data</a:t>
            </a:r>
            <a:endParaRPr sz="700" dirty="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NDF (Non-Deliverable Forward) market data for PKR hedging</a:t>
            </a:r>
            <a:endParaRPr sz="700" dirty="0"/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57199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3" name="Google Shape;8753;p499"/>
          <p:cNvSpPr/>
          <p:nvPr/>
        </p:nvSpPr>
        <p:spPr>
          <a:xfrm>
            <a:off x="423863" y="80789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 and effective hedging strategy delivering the ability to implement accounting changes and perform Fair Value and Hedge Accounting in a quick, flexible and cost-effective manner.</a:t>
            </a:r>
            <a:endParaRPr sz="70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multi-national firms, adverse currency movements can have a material impact on earnings.</a:t>
            </a:r>
            <a:endParaRPr sz="700"/>
          </a:p>
          <a:p>
            <a:pPr marL="108000" marR="0" lvl="0" indent="-108000" algn="l" rtl="0">
              <a:spcBef>
                <a:spcPts val="3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Solutions offered by the Financial Services industry tend to be “one size fits all” and/or expensive. 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Pakistan, PKR volatility (35% depreciation in 2022-23) makes FX hedging critical for banks with dollar-denominated liabilities (RDA deposits, foreign borrowings) and import-financing portfolios</a:t>
            </a:r>
            <a:endParaRPr sz="700"/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SBP's FX Net Open Position limits require active management of currency exposure across banking and trading books</a:t>
            </a:r>
            <a:endParaRPr sz="700"/>
          </a:p>
          <a:p>
            <a:pPr marL="180975" marR="0" lvl="0" indent="-12382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EC881D"/>
              </a:buClr>
              <a:buSzPts val="900"/>
              <a:buFont typeface="Noto Sans Symbols"/>
              <a:buNone/>
            </a:pP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4" name="Google Shape;8754;p499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Market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5" name="Google Shape;8755;p499"/>
          <p:cNvSpPr/>
          <p:nvPr/>
        </p:nvSpPr>
        <p:spPr>
          <a:xfrm>
            <a:off x="355600" y="594284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56" name="Google Shape;8756;p499"/>
          <p:cNvSpPr txBox="1">
            <a:spLocks noGrp="1"/>
          </p:cNvSpPr>
          <p:nvPr>
            <p:ph type="title"/>
          </p:nvPr>
        </p:nvSpPr>
        <p:spPr>
          <a:xfrm>
            <a:off x="423864" y="164592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Currency Hedge Analytics</a:t>
            </a:r>
            <a:endParaRPr sz="2400"/>
          </a:p>
        </p:txBody>
      </p:sp>
      <p:sp>
        <p:nvSpPr>
          <p:cNvPr id="8757" name="Google Shape;8757;p499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63" name="Google Shape;8763;p500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64" name="Google Shape;8764;p500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65" name="Google Shape;8765;p500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66" name="Google Shape;8766;p500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67" name="Google Shape;8767;p500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Prevent settlement failures (PKR 50M+ SBP penalty per incident)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 intra-day liquidity buffers — reducing idle cash vs. deployment in overnight money market (KIBOR ~17.5%)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LCR monitoring preventing regulatory breach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detection of liquidity stress through intra-day flow pattern analysis</a:t>
            </a:r>
            <a:endParaRPr sz="725"/>
          </a:p>
        </p:txBody>
      </p:sp>
      <p:sp>
        <p:nvSpPr>
          <p:cNvPr id="8768" name="Google Shape;8768;p500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liquidity dashboard showing intra-day cash position, projected end-of-day position, and LCR estimate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alerts for approaching liquidity thresholds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position monitoring with intra-day P&amp;L and VaR updates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Historical intra-day pattern analysis for optimizing opening-of-day liquidity buffer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Integration with ALCO decision support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69" name="Google Shape;8769;p500"/>
          <p:cNvSpPr/>
          <p:nvPr/>
        </p:nvSpPr>
        <p:spPr>
          <a:xfrm>
            <a:off x="3279097" y="3798236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25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liquidity dashboard operational with &lt;5 minute data latency</a:t>
            </a:r>
            <a:endParaRPr sz="725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Intra-day cash flow forecast accuracy within 10% by 11:00 AM</a:t>
            </a:r>
            <a:endParaRPr sz="725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PRISM settlement failures attributable to liquidity management</a:t>
            </a:r>
            <a:endParaRPr sz="725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LCR maintained above 105% buffer at all intra-day measurement points</a:t>
            </a:r>
            <a:endParaRPr sz="725" dirty="0"/>
          </a:p>
        </p:txBody>
      </p:sp>
      <p:sp>
        <p:nvSpPr>
          <p:cNvPr id="8770" name="Google Shape;8770;p500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Intra-day cash flow forecasting using historical pattern analysis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Liquidity stress indicators (early redemption of term deposits, CASA drawdown velocity, inter-bank funding concentration)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 recalculation on market risk positions as markets move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Intra-day LCR estimation using real-time balance data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Anomaly detection on payment flow patterns (sudden outflows, counterparty concentration)</a:t>
            </a:r>
            <a:endParaRPr sz="725"/>
          </a:p>
        </p:txBody>
      </p:sp>
      <p:sp>
        <p:nvSpPr>
          <p:cNvPr id="8771" name="Google Shape;8771;p500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data integration from PRISM, RAAST, core banking, and trading systems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Computational intensity of continuous LCR recalculation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 history of real-time payment data (RAAST launched 2022)</a:t>
            </a:r>
            <a:endParaRPr sz="725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Intra-day forecasting accuracy depends on customer behavior modeling for large corporates and government payments</a:t>
            </a:r>
            <a:endParaRPr sz="725"/>
          </a:p>
        </p:txBody>
      </p:sp>
      <p:sp>
        <p:nvSpPr>
          <p:cNvPr id="8772" name="Google Shape;8772;p500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PRISM RTGS settlement data (real-time); RAAST payment flows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Inter-bank money market transactions; SBP repo/reverse repo operations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CASA balance intra-day movements; Large deposit withdrawal alerts</a:t>
            </a:r>
            <a:endParaRPr sz="725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 position changes (trading book); SBP discount window utilization</a:t>
            </a:r>
            <a:endParaRPr sz="725"/>
          </a:p>
        </p:txBody>
      </p:sp>
      <p:sp>
        <p:nvSpPr>
          <p:cNvPr id="8773" name="Google Shape;8773;p500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5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25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Monitor and analyze intra-day liquidity flows and market risk exposures for SBP LCR (&gt;=100%) and NSFR (&gt;=100%) compliance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PRISM RTGS and RAAST process PKR 10+ trillion daily — banks must manage intra-day liquidity to avoid settlement failures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25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to minimize idle cash buffers while ensuring sufficient liquidity at all intra-day measurement points</a:t>
            </a:r>
            <a:endParaRPr sz="725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74" name="Google Shape;8774;p500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Market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75" name="Google Shape;8775;p500"/>
          <p:cNvSpPr/>
          <p:nvPr/>
        </p:nvSpPr>
        <p:spPr>
          <a:xfrm>
            <a:off x="355600" y="53784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76" name="Google Shape;8776;p500"/>
          <p:cNvSpPr txBox="1">
            <a:spLocks noGrp="1"/>
          </p:cNvSpPr>
          <p:nvPr>
            <p:ph type="title"/>
          </p:nvPr>
        </p:nvSpPr>
        <p:spPr>
          <a:xfrm>
            <a:off x="423864" y="10814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Liquidity and Market Risk Intra-Day Trend</a:t>
            </a:r>
            <a:endParaRPr sz="2400"/>
          </a:p>
        </p:txBody>
      </p:sp>
      <p:sp>
        <p:nvSpPr>
          <p:cNvPr id="8777" name="Google Shape;8777;p500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83" name="Google Shape;8783;p501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84" name="Google Shape;8784;p501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85" name="Google Shape;8785;p501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86" name="Google Shape;8786;p501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87" name="Google Shape;8787;p501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Accurate transfer pricing reflecting true cost-of-funds including liquidity premium and term premium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Elimination of hidden subsidy to fixed-rate products from floating-rate funding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Risk-adjusted product profitability enabling informed product mix decisions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Competitive pricing reflecting actual risk cost rather than arbitrary market-matching</a:t>
            </a:r>
            <a:endParaRPr sz="700"/>
          </a:p>
        </p:txBody>
      </p:sp>
      <p:sp>
        <p:nvSpPr>
          <p:cNvPr id="8788" name="Google Shape;8788;p501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Market-risk-adjusted FTP rates published daily by Treasury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Product-level option-adjusted spread analysis showing true economic margin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Pricing tool for relationship managers incorporating market risk cost, credit risk cost, operating cost, and target margin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Sensitivity reports showing product P&amp;L impact under KIBOR ±200bps scenarios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89" name="Google Shape;8789;p501"/>
          <p:cNvSpPr/>
          <p:nvPr/>
        </p:nvSpPr>
        <p:spPr>
          <a:xfrm>
            <a:off x="3271845" y="3753833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FTP system operational with daily matched-maturity rates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Option-adjusted spread analysis available for top 5 product categories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Pricing tool deployed to 100+ relationship managers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profitability variance to market risk factors quantified and reported monthly</a:t>
            </a:r>
            <a:endParaRPr sz="700" dirty="0"/>
          </a:p>
        </p:txBody>
      </p:sp>
      <p:sp>
        <p:nvSpPr>
          <p:cNvPr id="8790" name="Google Shape;8790;p501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FTP based on matched-maturity marginal cost-of-funds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Option-adjusted pricing for products with embedded behavioral optionality (prepayable loans, callable deposits)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Interest rate risk sensitivity analysis (Duration, PV01, key rate durations)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Scenario-based pricing analysis under different KIBOR paths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Economic Value of Equity (EVE) impact assessment of product pricing decisions</a:t>
            </a:r>
            <a:endParaRPr sz="700"/>
          </a:p>
        </p:txBody>
      </p:sp>
      <p:sp>
        <p:nvSpPr>
          <p:cNvPr id="8791" name="Google Shape;8791;p501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KIBOR term structure illiquid beyond 1 year — limited market data for longer tenors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optionality estimation requires Pakistan-specific modeling (differs from international benchmarks)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FTP governance — ensuring Treasury pricing reflects market reality, not internal politics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Islamic product profit rate benchmarking against KIBOR-based conventional pricing</a:t>
            </a:r>
            <a:endParaRPr sz="700"/>
          </a:p>
        </p:txBody>
      </p:sp>
      <p:sp>
        <p:nvSpPr>
          <p:cNvPr id="8792" name="Google Shape;8792;p501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KIBOR term structure (overnight to 5-year); SBP policy rate history and market expectations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FX forward curve (PKR/USD, PKR/EUR, PKR/GBP); Product-level cash flow projections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optionality data (prepayment rates, deposit early withdrawal, drawdown patterns)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Competitor pricing data; SBP monetary policy statements</a:t>
            </a:r>
            <a:endParaRPr sz="700"/>
          </a:p>
        </p:txBody>
      </p:sp>
      <p:sp>
        <p:nvSpPr>
          <p:cNvPr id="8793" name="Google Shape;8793;p501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Incorporate market risk (interest rate, FX, liquidity) into product pricing for banking book (loans, deposits) and trading book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Pakistan, KIBOR volatility can swing 300-500bps within quarters and PKR/USD can move 10-15% in weeks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pricing ignoring market risk exposes banks to margin compression and hidden option costs (prepayment, early withdrawal)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94" name="Google Shape;8794;p501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Market Risk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95" name="Google Shape;8795;p501"/>
          <p:cNvSpPr/>
          <p:nvPr/>
        </p:nvSpPr>
        <p:spPr>
          <a:xfrm>
            <a:off x="355600" y="53784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96" name="Google Shape;8796;p501"/>
          <p:cNvSpPr txBox="1">
            <a:spLocks noGrp="1"/>
          </p:cNvSpPr>
          <p:nvPr>
            <p:ph type="title"/>
          </p:nvPr>
        </p:nvSpPr>
        <p:spPr>
          <a:xfrm>
            <a:off x="423864" y="10814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Analytics for Market Risk Based Pricing</a:t>
            </a:r>
            <a:endParaRPr sz="2400"/>
          </a:p>
        </p:txBody>
      </p:sp>
      <p:sp>
        <p:nvSpPr>
          <p:cNvPr id="8797" name="Google Shape;8797;p501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Risk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3" name="Google Shape;8803;p502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04" name="Google Shape;8804;p502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05" name="Google Shape;8805;p502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06" name="Google Shape;8806;p502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07" name="Google Shape;8807;p502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25-35% improvement in promise-to-pay conversion rates through personalized engagement strategies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15-20% customer retention improvement for rehabilitated delinquent accounts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customer complaints and SBP regulatory intervention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litigation costs through earlier voluntary settlement; Enhanced brand reputation</a:t>
            </a:r>
            <a:endParaRPr sz="700"/>
          </a:p>
        </p:txBody>
      </p:sp>
      <p:sp>
        <p:nvSpPr>
          <p:cNvPr id="8808" name="Google Shape;8808;p502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Personalized collections journey for each delinquent customer based on risk-value segmentation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Optimized contact scheduling (right time, right channel, right collector)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Customer-friendly restructuring offers generated based on affordability analysis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dashboard tracking efficiency and customer experience metrics (complaint rate, SBP escalations)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09" name="Google Shape;8809;p502"/>
          <p:cNvSpPr/>
          <p:nvPr/>
        </p:nvSpPr>
        <p:spPr>
          <a:xfrm>
            <a:off x="3271845" y="3698567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customer experience score improved by 20+ points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Promise-to-pay conversion rate improved by 25%+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rehabilitation rate (cured within 6 months) improved by 15%+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SBP enforcement actions related to collection practices</a:t>
            </a:r>
            <a:endParaRPr sz="700" dirty="0"/>
          </a:p>
        </p:txBody>
      </p:sp>
      <p:sp>
        <p:nvSpPr>
          <p:cNvPr id="8810" name="Google Shape;8810;p502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Customer-level collections strategy assignment using decision trees (distress severity x relationship value x willingness-to-pay)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 contact time and channel prediction using historical response analysis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Collector-customer matching based on skill profiles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Sentiment analysis on customer interactions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Cure rate prediction models informing intervention intensity</a:t>
            </a:r>
            <a:endParaRPr sz="700"/>
          </a:p>
        </p:txBody>
      </p:sp>
      <p:sp>
        <p:nvSpPr>
          <p:cNvPr id="8811" name="Google Shape;8811;p502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Cultural sensitivity in Pakistan — collections must respect local customs, religious considerations, and family dynamics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Limited digital contact capabilities (SMS/email) for rural borrowers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data quality — contact numbers frequently change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collection guidelines and consumer protection rules constrain collection methods and timing</a:t>
            </a:r>
            <a:endParaRPr sz="700"/>
          </a:p>
        </p:txBody>
      </p:sp>
      <p:sp>
        <p:nvSpPr>
          <p:cNvPr id="8812" name="Google Shape;8812;p502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relationship data (full banking relationship value, tenure, products)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Delinquency history and payment patterns; Collection activity logs (calls, messages, visits, outcomes)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contact preferences (time of day, channel, language)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Behavioral data indicating financial distress level; Previous restructuring/rescheduling history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Collector performance data</a:t>
            </a:r>
            <a:endParaRPr sz="700"/>
          </a:p>
        </p:txBody>
      </p:sp>
      <p:sp>
        <p:nvSpPr>
          <p:cNvPr id="8813" name="Google Shape;8813;p502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 collections from adversarial, compliance-driven process into customer-centric engagement maximizing recovery while preserving relationships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Pakistani banks lose 15-20% of delinquent customers permanently due to aggressive collection practices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SBP Fair Treatment of Consumers guidelines require dignified collection practices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analytics-driven personalized engagement strategies based on distress severity and relationship value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14" name="Google Shape;8814;p502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Collections &amp; Recovery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15" name="Google Shape;8815;p502"/>
          <p:cNvSpPr/>
          <p:nvPr/>
        </p:nvSpPr>
        <p:spPr>
          <a:xfrm>
            <a:off x="355600" y="53784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16" name="Google Shape;8816;p502"/>
          <p:cNvSpPr txBox="1">
            <a:spLocks noGrp="1"/>
          </p:cNvSpPr>
          <p:nvPr>
            <p:ph type="title"/>
          </p:nvPr>
        </p:nvSpPr>
        <p:spPr>
          <a:xfrm>
            <a:off x="423864" y="10814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Improving the Collections Experience</a:t>
            </a:r>
            <a:endParaRPr sz="2400"/>
          </a:p>
        </p:txBody>
      </p:sp>
      <p:sp>
        <p:nvSpPr>
          <p:cNvPr id="8817" name="Google Shape;8817;p502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&amp; Recoveries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23" name="Google Shape;8823;p503"/>
          <p:cNvCxnSpPr/>
          <p:nvPr/>
        </p:nvCxnSpPr>
        <p:spPr>
          <a:xfrm>
            <a:off x="3207394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24" name="Google Shape;8824;p503"/>
          <p:cNvCxnSpPr/>
          <p:nvPr/>
        </p:nvCxnSpPr>
        <p:spPr>
          <a:xfrm>
            <a:off x="6057947" y="2443339"/>
            <a:ext cx="0" cy="233914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25" name="Google Shape;8825;p503"/>
          <p:cNvCxnSpPr/>
          <p:nvPr/>
        </p:nvCxnSpPr>
        <p:spPr>
          <a:xfrm>
            <a:off x="4576599" y="1092816"/>
            <a:ext cx="0" cy="1501152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26" name="Google Shape;8826;p503"/>
          <p:cNvSpPr/>
          <p:nvPr/>
        </p:nvSpPr>
        <p:spPr>
          <a:xfrm rot="5400000">
            <a:off x="-86832" y="2518301"/>
            <a:ext cx="299641" cy="13028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27" name="Google Shape;8827;p503"/>
          <p:cNvSpPr/>
          <p:nvPr/>
        </p:nvSpPr>
        <p:spPr>
          <a:xfrm>
            <a:off x="4820082" y="1090117"/>
            <a:ext cx="4019117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Benefit 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10-15% improvement in overall recovery rates (equivalent to PKR 20-30B additional recovery system-wide)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time-to-recovery by 30-45 days through optimized prioritization and strategy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Operating cost reduction of 20-25% per collected PKR through automated queue management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IFRS 9 ECL reduction through improved recovery rate assumptions in LGD models</a:t>
            </a:r>
            <a:endParaRPr sz="700"/>
          </a:p>
        </p:txBody>
      </p:sp>
      <p:sp>
        <p:nvSpPr>
          <p:cNvPr id="8828" name="Google Shape;8828;p503"/>
          <p:cNvSpPr/>
          <p:nvPr/>
        </p:nvSpPr>
        <p:spPr>
          <a:xfrm>
            <a:off x="6148806" y="2334154"/>
            <a:ext cx="2714400" cy="237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45700" rIns="36000" bIns="457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collections queue management with daily prioritized work lists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Predictive delinquency flow model forecasting next-month DPD migration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Strategy optimization dashboard with champion-challenger results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Collateral recovery tracking with expected vs. actual recovery analysis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Post-write-off recovery scoring; Comprehensive collections MIS for Board reporting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29" name="Google Shape;8829;p503"/>
          <p:cNvSpPr/>
          <p:nvPr/>
        </p:nvSpPr>
        <p:spPr>
          <a:xfrm>
            <a:off x="3271845" y="3688518"/>
            <a:ext cx="2715336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Success Criteria</a:t>
            </a:r>
            <a:endParaRPr sz="7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scorecard Gini &gt;0.40 for predicting 90-day cure probability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Queue management system reducing average collector idle time by 30%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Roll-rate model forecasting accuracy within ±10% of actual DPD migration</a:t>
            </a:r>
            <a:endParaRPr sz="700" dirty="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 dirty="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Recovery rate improvement of 5%+ on pilot portfolio within 12 months; Collections MIS with daily refresh</a:t>
            </a:r>
            <a:endParaRPr sz="700" dirty="0"/>
          </a:p>
        </p:txBody>
      </p:sp>
      <p:sp>
        <p:nvSpPr>
          <p:cNvPr id="8830" name="Google Shape;8830;p503"/>
          <p:cNvSpPr/>
          <p:nvPr/>
        </p:nvSpPr>
        <p:spPr>
          <a:xfrm>
            <a:off x="3271845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Methodology / Analytic Technique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Roll-rate modeling for delinquency transition prediction (current→30→60→90→default)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scorecard for prioritization (probability of cure x amount at risk)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Champion-challenger testing on collection strategies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Collateral recovery optimization using auction market data and forced-sale value modeling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Agent allocation optimization; Text analytics on collection notes for outcome patterns</a:t>
            </a:r>
            <a:endParaRPr sz="700"/>
          </a:p>
        </p:txBody>
      </p:sp>
      <p:sp>
        <p:nvSpPr>
          <p:cNvPr id="8831" name="Google Shape;8831;p503"/>
          <p:cNvSpPr/>
          <p:nvPr/>
        </p:nvSpPr>
        <p:spPr>
          <a:xfrm>
            <a:off x="423863" y="3557890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000" marR="0" lvl="0" indent="-180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Challenges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quality — collections activity data poorly captured in many Pakistani banks (inconsistent logging)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Legal recovery timelines unpredictable in Pakistan's court system (3-7+ years for decree execution)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NPL stock includes very old accounts with limited current data</a:t>
            </a:r>
            <a:endParaRPr sz="700"/>
          </a:p>
          <a:p>
            <a:pPr marL="108000" marR="0" lvl="0" indent="-108000" algn="l" rtl="0">
              <a:spcBef>
                <a:spcPts val="400"/>
              </a:spcBef>
              <a:spcAft>
                <a:spcPts val="0"/>
              </a:spcAft>
              <a:buClr>
                <a:srgbClr val="3C3C3B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rgbClr val="3C3C3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 recovery channels (internal team, external agents, legal) with fragmented tracking systems</a:t>
            </a:r>
            <a:endParaRPr sz="700"/>
          </a:p>
        </p:txBody>
      </p:sp>
      <p:sp>
        <p:nvSpPr>
          <p:cNvPr id="8832" name="Google Shape;8832;p503"/>
          <p:cNvSpPr/>
          <p:nvPr/>
        </p:nvSpPr>
        <p:spPr>
          <a:xfrm>
            <a:off x="423863" y="2334154"/>
            <a:ext cx="27144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800" tIns="46800" rIns="46800" bIns="468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FSDM Agreement, Collateral, Event, and Party entities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Full delinquency bucket history (DPD 1-30, 31-60, 61-90, 90+, write-off)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 activity data (calls, visits, legal notices, promises, payments)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Collateral data (type, value, location, legal status); Court case tracking data</a:t>
            </a:r>
            <a:endParaRPr sz="700"/>
          </a:p>
          <a:p>
            <a:pPr marL="108000" marR="0" lvl="0" indent="-108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External recovery agent performance data; Guarantor and related-party data</a:t>
            </a:r>
            <a:endParaRPr sz="700"/>
          </a:p>
        </p:txBody>
      </p:sp>
      <p:sp>
        <p:nvSpPr>
          <p:cNvPr id="8833" name="Google Shape;8833;p503"/>
          <p:cNvSpPr/>
          <p:nvPr/>
        </p:nvSpPr>
        <p:spPr>
          <a:xfrm>
            <a:off x="423863" y="1090117"/>
            <a:ext cx="3957637" cy="147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marR="0" lvl="0" indent="-1809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 / Problem Statement</a:t>
            </a:r>
            <a:endParaRPr sz="7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Build comprehensive collections analytics platform optimizing every aspect of recovery — from early delinquency through write-off and post-write-off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Pakistan's banking sector carries NPLs of PKR 900B+ (~7-8% of advances) with recovery rates averaging 25-35%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8000" marR="0" lvl="0" indent="-108000" algn="l" rtl="0">
              <a:spcBef>
                <a:spcPts val="500"/>
              </a:spcBef>
              <a:spcAft>
                <a:spcPts val="0"/>
              </a:spcAft>
              <a:buClr>
                <a:srgbClr val="3C3C3B"/>
              </a:buClr>
              <a:buSzPts val="900"/>
              <a:buFont typeface="Arial"/>
              <a:buChar char="•"/>
            </a:pPr>
            <a:r>
              <a:rPr lang="en-GB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Analytics can improve recovery rates, reduce time-to-recovery, and lower collection costs per PKR recovered</a:t>
            </a:r>
            <a:endParaRPr sz="700">
              <a:solidFill>
                <a:srgbClr val="3C3C3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34" name="Google Shape;8834;p503"/>
          <p:cNvSpPr/>
          <p:nvPr/>
        </p:nvSpPr>
        <p:spPr>
          <a:xfrm>
            <a:off x="6545101" y="290513"/>
            <a:ext cx="2598899" cy="5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Owner:   Collections &amp; Recovery Team</a:t>
            </a:r>
            <a:endParaRPr sz="900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35" name="Google Shape;8835;p503"/>
          <p:cNvSpPr/>
          <p:nvPr/>
        </p:nvSpPr>
        <p:spPr>
          <a:xfrm>
            <a:off x="355600" y="537840"/>
            <a:ext cx="5910169" cy="180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Case Summary</a:t>
            </a:r>
            <a:endParaRPr sz="10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36" name="Google Shape;8836;p503"/>
          <p:cNvSpPr txBox="1">
            <a:spLocks noGrp="1"/>
          </p:cNvSpPr>
          <p:nvPr>
            <p:ph type="title"/>
          </p:nvPr>
        </p:nvSpPr>
        <p:spPr>
          <a:xfrm>
            <a:off x="423864" y="108148"/>
            <a:ext cx="6121237" cy="37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lang="en-GB" sz="2400"/>
              <a:t>Collections Analytics</a:t>
            </a:r>
            <a:endParaRPr sz="2400"/>
          </a:p>
        </p:txBody>
      </p:sp>
      <p:sp>
        <p:nvSpPr>
          <p:cNvPr id="8837" name="Google Shape;8837;p503">
            <a:hlinkClick r:id="" action="ppaction://noaction"/>
          </p:cNvPr>
          <p:cNvSpPr/>
          <p:nvPr/>
        </p:nvSpPr>
        <p:spPr>
          <a:xfrm>
            <a:off x="6515100" y="-196501"/>
            <a:ext cx="2777392" cy="3785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6000" tIns="180000" rIns="18000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Collections &amp; Recoveries</a:t>
            </a:r>
            <a:endParaRPr sz="75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DC_PPT_16-9_1014-lite">
  <a:themeElements>
    <a:clrScheme name="TeradataPPT2014">
      <a:dk1>
        <a:srgbClr val="3C3C3B"/>
      </a:dk1>
      <a:lt1>
        <a:srgbClr val="FFFFFF"/>
      </a:lt1>
      <a:dk2>
        <a:srgbClr val="0079DB"/>
      </a:dk2>
      <a:lt2>
        <a:srgbClr val="D8D8D8"/>
      </a:lt2>
      <a:accent1>
        <a:srgbClr val="EC881D"/>
      </a:accent1>
      <a:accent2>
        <a:srgbClr val="0079DB"/>
      </a:accent2>
      <a:accent3>
        <a:srgbClr val="CD391F"/>
      </a:accent3>
      <a:accent4>
        <a:srgbClr val="0088A8"/>
      </a:accent4>
      <a:accent5>
        <a:srgbClr val="703092"/>
      </a:accent5>
      <a:accent6>
        <a:srgbClr val="5F6062"/>
      </a:accent6>
      <a:hlink>
        <a:srgbClr val="0079DB"/>
      </a:hlink>
      <a:folHlink>
        <a:srgbClr val="7030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radata">
      <a:dk1>
        <a:srgbClr val="000000"/>
      </a:dk1>
      <a:lt1>
        <a:srgbClr val="FFFFFF"/>
      </a:lt1>
      <a:dk2>
        <a:srgbClr val="0079DB"/>
      </a:dk2>
      <a:lt2>
        <a:srgbClr val="D8D8D8"/>
      </a:lt2>
      <a:accent1>
        <a:srgbClr val="D56D23"/>
      </a:accent1>
      <a:accent2>
        <a:srgbClr val="BBBCBE"/>
      </a:accent2>
      <a:accent3>
        <a:srgbClr val="5F6062"/>
      </a:accent3>
      <a:accent4>
        <a:srgbClr val="0088A8"/>
      </a:accent4>
      <a:accent5>
        <a:srgbClr val="703092"/>
      </a:accent5>
      <a:accent6>
        <a:srgbClr val="CD391F"/>
      </a:accent6>
      <a:hlink>
        <a:srgbClr val="0079DB"/>
      </a:hlink>
      <a:folHlink>
        <a:srgbClr val="7030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9004</Words>
  <Application>Microsoft Office PowerPoint</Application>
  <PresentationFormat>On-screen Show (16:9)</PresentationFormat>
  <Paragraphs>1018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Noto Sans Symbols</vt:lpstr>
      <vt:lpstr>Century Gothic</vt:lpstr>
      <vt:lpstr>Arial</vt:lpstr>
      <vt:lpstr>1_TDC_PPT_16-9_1014-lite</vt:lpstr>
      <vt:lpstr>PowerPoint Presentation</vt:lpstr>
      <vt:lpstr>Credit Risk Modeling for “New to Lending” Customers</vt:lpstr>
      <vt:lpstr>Geospatial Risk </vt:lpstr>
      <vt:lpstr>Risk Model Lift</vt:lpstr>
      <vt:lpstr>Consequential Impact of Credit Default</vt:lpstr>
      <vt:lpstr>Guarantee Analytics</vt:lpstr>
      <vt:lpstr>Underwriting for Risk</vt:lpstr>
      <vt:lpstr>Calculation and Management of Capital</vt:lpstr>
      <vt:lpstr>Analytics of A/B Testing</vt:lpstr>
      <vt:lpstr>Risk Model Deployment and Operationalization</vt:lpstr>
      <vt:lpstr>Analytics for Risk / Reward Strategy Optimization</vt:lpstr>
      <vt:lpstr>Risk Model Lift</vt:lpstr>
      <vt:lpstr>Analytics for Risk Scenario and Stress Testing</vt:lpstr>
      <vt:lpstr>Analytics for Credit Risk Appetite</vt:lpstr>
      <vt:lpstr>Pre-Default Risk and Credit Event Prediction</vt:lpstr>
      <vt:lpstr>Analytics for Risk Based Policy Pricing</vt:lpstr>
      <vt:lpstr>Real Estate Mortgage Pricing – Small Business</vt:lpstr>
      <vt:lpstr>Analytics for Credit Portfolio Management</vt:lpstr>
      <vt:lpstr>Credit Risk Management Intelligence</vt:lpstr>
      <vt:lpstr>Currency Hedge Analytics</vt:lpstr>
      <vt:lpstr>Liquidity and Market Risk Intra-Day Trend</vt:lpstr>
      <vt:lpstr>Analytics for Market Risk Based Pricing</vt:lpstr>
      <vt:lpstr>Improving the Collections Experience</vt:lpstr>
      <vt:lpstr>Collections Analytics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SYED MUHAMMAD NOMAN BUKHARI</cp:lastModifiedBy>
  <cp:revision>1</cp:revision>
  <dcterms:modified xsi:type="dcterms:W3CDTF">2026-02-27T13:22:30Z</dcterms:modified>
</cp:coreProperties>
</file>