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slides/slide620.xml" ContentType="application/vnd.openxmlformats-officedocument.presentationml.slide+xml"/>
  <Override PartName="/ppt/notesSlides/notesSlide620.xml" ContentType="application/vnd.openxmlformats-officedocument.presentationml.notesSlide+xml"/>
  <Override PartName="/ppt/slides/slide621.xml" ContentType="application/vnd.openxmlformats-officedocument.presentationml.slide+xml"/>
  <Override PartName="/ppt/notesSlides/notesSlide621.xml" ContentType="application/vnd.openxmlformats-officedocument.presentationml.notesSlide+xml"/>
  <Override PartName="/ppt/slides/slide622.xml" ContentType="application/vnd.openxmlformats-officedocument.presentationml.slide+xml"/>
  <Override PartName="/ppt/notesSlides/notesSlide622.xml" ContentType="application/vnd.openxmlformats-officedocument.presentationml.notesSlide+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542" r:id="rId632"/>
    <p:sldId id="543" r:id="rId633"/>
    <p:sldId id="484" r:id="rId235"/>
    <p:sldId id="485" r:id="rId236"/>
    <p:sldId id="486" r:id="rId237"/>
    <p:sldId id="487" r:id="rId238"/>
    <p:sldId id="488" r:id="rId239"/>
    <p:sldId id="489" r:id="rId240"/>
    <p:sldId id="490" r:id="rId241"/>
    <p:sldId id="491" r:id="rId242"/>
    <p:sldId id="492" r:id="rId243"/>
    <p:sldId id="493" r:id="rId244"/>
    <p:sldId id="494" r:id="rId245"/>
    <p:sldId id="495" r:id="rId246"/>
    <p:sldId id="496" r:id="rId247"/>
    <p:sldId id="497" r:id="rId248"/>
    <p:sldId id="498" r:id="rId249"/>
    <p:sldId id="499" r:id="rId250"/>
    <p:sldId id="500" r:id="rId251"/>
    <p:sldId id="501" r:id="rId252"/>
    <p:sldId id="502" r:id="rId253"/>
    <p:sldId id="503" r:id="rId254"/>
    <p:sldId id="504" r:id="rId255"/>
    <p:sldId id="505" r:id="rId256"/>
    <p:sldId id="506" r:id="rId257"/>
    <p:sldId id="507" r:id="rId258"/>
    <p:sldId id="508" r:id="rId259"/>
    <p:sldId id="509" r:id="rId260"/>
    <p:sldId id="510" r:id="rId261"/>
    <p:sldId id="511" r:id="rId262"/>
    <p:sldId id="512" r:id="rId263"/>
    <p:sldId id="513" r:id="rId264"/>
    <p:sldId id="514" r:id="rId265"/>
    <p:sldId id="515" r:id="rId266"/>
    <p:sldId id="516" r:id="rId267"/>
    <p:sldId id="517" r:id="rId268"/>
    <p:sldId id="518" r:id="rId269"/>
    <p:sldId id="519" r:id="rId270"/>
    <p:sldId id="520" r:id="rId271"/>
    <p:sldId id="521" r:id="rId272"/>
    <p:sldId id="522" r:id="rId273"/>
    <p:sldId id="523" r:id="rId274"/>
    <p:sldId id="524" r:id="rId275"/>
    <p:sldId id="525" r:id="rId276"/>
    <p:sldId id="526" r:id="rId277"/>
    <p:sldId id="527" r:id="rId278"/>
    <p:sldId id="528" r:id="rId279"/>
    <p:sldId id="529" r:id="rId280"/>
    <p:sldId id="530" r:id="rId281"/>
    <p:sldId id="531" r:id="rId282"/>
    <p:sldId id="532" r:id="rId283"/>
    <p:sldId id="533" r:id="rId284"/>
    <p:sldId id="534" r:id="rId285"/>
    <p:sldId id="535" r:id="rId286"/>
    <p:sldId id="536" r:id="rId287"/>
    <p:sldId id="537" r:id="rId288"/>
    <p:sldId id="538" r:id="rId289"/>
    <p:sldId id="539" r:id="rId290"/>
    <p:sldId id="540" r:id="rId291"/>
    <p:sldId id="544" r:id="rId634"/>
    <p:sldId id="541" r:id="rId292"/>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235" Type="http://schemas.openxmlformats.org/officeDocument/2006/relationships/slide" Target="slides/slide229.xml"/><Relationship Id="rId236" Type="http://schemas.openxmlformats.org/officeDocument/2006/relationships/slide" Target="slides/slide230.xml"/><Relationship Id="rId237" Type="http://schemas.openxmlformats.org/officeDocument/2006/relationships/slide" Target="slides/slide231.xml"/><Relationship Id="rId238" Type="http://schemas.openxmlformats.org/officeDocument/2006/relationships/slide" Target="slides/slide232.xml"/><Relationship Id="rId239" Type="http://schemas.openxmlformats.org/officeDocument/2006/relationships/slide" Target="slides/slide233.xml"/><Relationship Id="rId240" Type="http://schemas.openxmlformats.org/officeDocument/2006/relationships/slide" Target="slides/slide234.xml"/><Relationship Id="rId241" Type="http://schemas.openxmlformats.org/officeDocument/2006/relationships/slide" Target="slides/slide235.xml"/><Relationship Id="rId242" Type="http://schemas.openxmlformats.org/officeDocument/2006/relationships/slide" Target="slides/slide236.xml"/><Relationship Id="rId243" Type="http://schemas.openxmlformats.org/officeDocument/2006/relationships/slide" Target="slides/slide237.xml"/><Relationship Id="rId244" Type="http://schemas.openxmlformats.org/officeDocument/2006/relationships/slide" Target="slides/slide238.xml"/><Relationship Id="rId245" Type="http://schemas.openxmlformats.org/officeDocument/2006/relationships/slide" Target="slides/slide239.xml"/><Relationship Id="rId246" Type="http://schemas.openxmlformats.org/officeDocument/2006/relationships/slide" Target="slides/slide240.xml"/><Relationship Id="rId247" Type="http://schemas.openxmlformats.org/officeDocument/2006/relationships/slide" Target="slides/slide241.xml"/><Relationship Id="rId248" Type="http://schemas.openxmlformats.org/officeDocument/2006/relationships/slide" Target="slides/slide242.xml"/><Relationship Id="rId249" Type="http://schemas.openxmlformats.org/officeDocument/2006/relationships/slide" Target="slides/slide243.xml"/><Relationship Id="rId250" Type="http://schemas.openxmlformats.org/officeDocument/2006/relationships/slide" Target="slides/slide244.xml"/><Relationship Id="rId251" Type="http://schemas.openxmlformats.org/officeDocument/2006/relationships/slide" Target="slides/slide245.xml"/><Relationship Id="rId252" Type="http://schemas.openxmlformats.org/officeDocument/2006/relationships/slide" Target="slides/slide246.xml"/><Relationship Id="rId253" Type="http://schemas.openxmlformats.org/officeDocument/2006/relationships/slide" Target="slides/slide247.xml"/><Relationship Id="rId254" Type="http://schemas.openxmlformats.org/officeDocument/2006/relationships/slide" Target="slides/slide248.xml"/><Relationship Id="rId255" Type="http://schemas.openxmlformats.org/officeDocument/2006/relationships/slide" Target="slides/slide249.xml"/><Relationship Id="rId256" Type="http://schemas.openxmlformats.org/officeDocument/2006/relationships/slide" Target="slides/slide250.xml"/><Relationship Id="rId257" Type="http://schemas.openxmlformats.org/officeDocument/2006/relationships/slide" Target="slides/slide251.xml"/><Relationship Id="rId258" Type="http://schemas.openxmlformats.org/officeDocument/2006/relationships/slide" Target="slides/slide252.xml"/><Relationship Id="rId259" Type="http://schemas.openxmlformats.org/officeDocument/2006/relationships/slide" Target="slides/slide253.xml"/><Relationship Id="rId260" Type="http://schemas.openxmlformats.org/officeDocument/2006/relationships/slide" Target="slides/slide254.xml"/><Relationship Id="rId261" Type="http://schemas.openxmlformats.org/officeDocument/2006/relationships/slide" Target="slides/slide255.xml"/><Relationship Id="rId262" Type="http://schemas.openxmlformats.org/officeDocument/2006/relationships/slide" Target="slides/slide256.xml"/><Relationship Id="rId263" Type="http://schemas.openxmlformats.org/officeDocument/2006/relationships/slide" Target="slides/slide257.xml"/><Relationship Id="rId264" Type="http://schemas.openxmlformats.org/officeDocument/2006/relationships/slide" Target="slides/slide258.xml"/><Relationship Id="rId265" Type="http://schemas.openxmlformats.org/officeDocument/2006/relationships/slide" Target="slides/slide259.xml"/><Relationship Id="rId266" Type="http://schemas.openxmlformats.org/officeDocument/2006/relationships/slide" Target="slides/slide260.xml"/><Relationship Id="rId267" Type="http://schemas.openxmlformats.org/officeDocument/2006/relationships/slide" Target="slides/slide261.xml"/><Relationship Id="rId268" Type="http://schemas.openxmlformats.org/officeDocument/2006/relationships/slide" Target="slides/slide262.xml"/><Relationship Id="rId269" Type="http://schemas.openxmlformats.org/officeDocument/2006/relationships/slide" Target="slides/slide263.xml"/><Relationship Id="rId270" Type="http://schemas.openxmlformats.org/officeDocument/2006/relationships/slide" Target="slides/slide264.xml"/><Relationship Id="rId271" Type="http://schemas.openxmlformats.org/officeDocument/2006/relationships/slide" Target="slides/slide265.xml"/><Relationship Id="rId272" Type="http://schemas.openxmlformats.org/officeDocument/2006/relationships/slide" Target="slides/slide266.xml"/><Relationship Id="rId273" Type="http://schemas.openxmlformats.org/officeDocument/2006/relationships/slide" Target="slides/slide267.xml"/><Relationship Id="rId274" Type="http://schemas.openxmlformats.org/officeDocument/2006/relationships/slide" Target="slides/slide268.xml"/><Relationship Id="rId275" Type="http://schemas.openxmlformats.org/officeDocument/2006/relationships/slide" Target="slides/slide269.xml"/><Relationship Id="rId276" Type="http://schemas.openxmlformats.org/officeDocument/2006/relationships/slide" Target="slides/slide270.xml"/><Relationship Id="rId277" Type="http://schemas.openxmlformats.org/officeDocument/2006/relationships/slide" Target="slides/slide271.xml"/><Relationship Id="rId278" Type="http://schemas.openxmlformats.org/officeDocument/2006/relationships/slide" Target="slides/slide272.xml"/><Relationship Id="rId279" Type="http://schemas.openxmlformats.org/officeDocument/2006/relationships/slide" Target="slides/slide273.xml"/><Relationship Id="rId280" Type="http://schemas.openxmlformats.org/officeDocument/2006/relationships/slide" Target="slides/slide274.xml"/><Relationship Id="rId281" Type="http://schemas.openxmlformats.org/officeDocument/2006/relationships/slide" Target="slides/slide275.xml"/><Relationship Id="rId282" Type="http://schemas.openxmlformats.org/officeDocument/2006/relationships/slide" Target="slides/slide276.xml"/><Relationship Id="rId283" Type="http://schemas.openxmlformats.org/officeDocument/2006/relationships/slide" Target="slides/slide277.xml"/><Relationship Id="rId284" Type="http://schemas.openxmlformats.org/officeDocument/2006/relationships/slide" Target="slides/slide278.xml"/><Relationship Id="rId285" Type="http://schemas.openxmlformats.org/officeDocument/2006/relationships/slide" Target="slides/slide279.xml"/><Relationship Id="rId286" Type="http://schemas.openxmlformats.org/officeDocument/2006/relationships/slide" Target="slides/slide280.xml"/><Relationship Id="rId287" Type="http://schemas.openxmlformats.org/officeDocument/2006/relationships/slide" Target="slides/slide281.xml"/><Relationship Id="rId288" Type="http://schemas.openxmlformats.org/officeDocument/2006/relationships/slide" Target="slides/slide282.xml"/><Relationship Id="rId289" Type="http://schemas.openxmlformats.org/officeDocument/2006/relationships/slide" Target="slides/slide283.xml"/><Relationship Id="rId290" Type="http://schemas.openxmlformats.org/officeDocument/2006/relationships/slide" Target="slides/slide284.xml"/><Relationship Id="rId291" Type="http://schemas.openxmlformats.org/officeDocument/2006/relationships/slide" Target="slides/slide285.xml"/><Relationship Id="rId292" Type="http://schemas.openxmlformats.org/officeDocument/2006/relationships/slide" Target="slides/slide286.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 Id="rId632" Type="http://schemas.openxmlformats.org/officeDocument/2006/relationships/slide" Target="slides/slide620.xml"/><Relationship Id="rId633" Type="http://schemas.openxmlformats.org/officeDocument/2006/relationships/slide" Target="slides/slide621.xml"/><Relationship Id="rId634" Type="http://schemas.openxmlformats.org/officeDocument/2006/relationships/slide" Target="slides/slide62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0.xml.rels><?xml version='1.0' encoding='UTF-8' standalone='yes'?><Relationships xmlns="http://schemas.openxmlformats.org/package/2006/relationships"><Relationship Id="rId1" Type="http://schemas.openxmlformats.org/officeDocument/2006/relationships/notesMaster" Target="../notesMasters/notesMaster1.xml"/></Relationships>
</file>

<file path=ppt/notesSlides/_rels/notesSlide621.xml.rels><?xml version='1.0' encoding='UTF-8' standalone='yes'?><Relationships xmlns="http://schemas.openxmlformats.org/package/2006/relationships"><Relationship Id="rId1" Type="http://schemas.openxmlformats.org/officeDocument/2006/relationships/notesMaster" Target="../notesMasters/notesMaster1.xml"/></Relationships>
</file>

<file path=ppt/notesSlides/_rels/notesSlide622.xml.rels><?xml version='1.0' encoding='UTF-8' standalone='yes'?><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Revenue Analytics — Capability Detail</a:t>
            </a:r>
            <a:endParaRPr/>
          </a:p>
          <a:p>
            <a:pPr indent="0" lvl="0" marL="0" rtl="0" algn="l">
              <a:spcBef>
                <a:spcPts val="600"/>
              </a:spcBef>
              <a:spcAft>
                <a:spcPts val="200"/>
              </a:spcAft>
              <a:buNone/>
            </a:pPr>
            <a:r>
              <a:rPr b="1" lang="en-GB" sz="1200"/>
              <a:t>GLOBAL CONTEXT:</a:t>
            </a:r>
            <a:endParaRPr/>
          </a:p>
          <a:p>
            <a:pPr indent="0" lvl="0" marL="0" rtl="0" algn="l">
              <a:spcBef>
                <a:spcPts val="400"/>
              </a:spcBef>
              <a:spcAft>
                <a:spcPts val="0"/>
              </a:spcAft>
              <a:buNone/>
            </a:pPr>
            <a:r>
              <a:rPr lang="en-GB" sz="1200"/>
              <a:t>Revenue analytics decomposes income streams to identify growth opportunities and optimize revenue mix. For banks, this means analyzing net interest income, fees, FX income, and investment returns across all dimensions.</a:t>
            </a:r>
            <a:endParaRPr/>
          </a:p>
          <a:p>
            <a:pPr indent="0" lvl="0" marL="0" rtl="0" algn="l">
              <a:spcBef>
                <a:spcPts val="600"/>
              </a:spcBef>
              <a:spcAft>
                <a:spcPts val="200"/>
              </a:spcAft>
              <a:buNone/>
            </a:pPr>
            <a:r>
              <a:rPr b="1" lang="en-GB" sz="1200"/>
              <a:t>REGIONAL (South Asia &amp; ME):</a:t>
            </a:r>
            <a:endParaRPr/>
          </a:p>
          <a:p>
            <a:pPr indent="0" lvl="0" marL="0" rtl="0" algn="l">
              <a:spcBef>
                <a:spcPts val="400"/>
              </a:spcBef>
              <a:spcAft>
                <a:spcPts val="0"/>
              </a:spcAft>
              <a:buNone/>
            </a:pPr>
            <a:r>
              <a:rPr lang="en-GB" sz="1200"/>
              <a:t>South Asian banks typically derive 65-75% revenue from NII, with fee income growing but still below global averages. FX income is significant given currency volatility in emerging markets.</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Pakistan bank revenue: NII ~70%, fees ~15%, FX ~8%, investment income ~7%. NII driven by KIBOR spread management and CASA ratio. Fee income sources: trade finance (LC/LG), cards, RAAST/IBFT, account services, remittances.</a:t>
            </a:r>
            <a:endParaRPr/>
          </a:p>
          <a:p>
            <a:pPr indent="0" lvl="0" marL="0" rtl="0" algn="l">
              <a:spcBef>
                <a:spcPts val="400"/>
              </a:spcBef>
              <a:spcAft>
                <a:spcPts val="0"/>
              </a:spcAft>
              <a:buNone/>
            </a:pPr>
            <a:r>
              <a:rPr lang="en-GB" sz="1200"/>
              <a:t>Islamic revenue: profit on financing, return on investments, Ijarah rental, Murabaha margin. Must be tracked separately under AAOIFI standards.</a:t>
            </a:r>
            <a:endParaRPr/>
          </a:p>
          <a:p>
            <a:pPr indent="0" lvl="0" marL="0" rtl="0" algn="l">
              <a:spcBef>
                <a:spcPts val="400"/>
              </a:spcBef>
              <a:spcAft>
                <a:spcPts val="0"/>
              </a:spcAft>
              <a:buNone/>
            </a:pPr>
            <a:r>
              <a:rPr lang="en-GB" sz="1200"/>
              <a:t>FSDM Entities: RVNU, NII, FEE_INCM, FX_INCM, INVST_INCM, PRDCT_RVNU, CSTMR_RVNU</a:t>
            </a:r>
            <a:endParaRPr/>
          </a:p>
        </p:txBody>
      </p:sp>
    </p:spTree>
  </p:cSld>
  <p:clrMapOvr>
    <a:masterClrMapping/>
  </p:clrMapOvr>
</p:notes>
</file>

<file path=ppt/notesSlides/notesSlide2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8" name="Shape 4758"/>
        <p:cNvGrpSpPr/>
        <p:nvPr/>
      </p:nvGrpSpPr>
      <p:grpSpPr>
        <a:xfrm>
          <a:off x="0" y="0"/>
          <a:ext cx="0" cy="0"/>
          <a:chOff x="0" y="0"/>
          <a:chExt cx="0" cy="0"/>
        </a:xfrm>
      </p:grpSpPr>
      <p:sp>
        <p:nvSpPr>
          <p:cNvPr id="4759" name="Google Shape;4759;p23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60" name="Google Shape;4760;p2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61" name="Google Shape;4761;p2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Revenue Analytics — Maturity Assessment</a:t>
            </a:r>
            <a:endParaRPr/>
          </a:p>
          <a:p>
            <a:pPr indent="0" lvl="0" marL="0" rtl="0" algn="l">
              <a:spcBef>
                <a:spcPts val="600"/>
              </a:spcBef>
              <a:spcAft>
                <a:spcPts val="200"/>
              </a:spcAft>
              <a:buNone/>
            </a:pPr>
            <a:r>
              <a:rPr b="1" lang="en-GB" sz="1200"/>
              <a:t>PAKISTAN MATURITY:</a:t>
            </a:r>
            <a:endParaRPr/>
          </a:p>
          <a:p>
            <a:pPr indent="0" lvl="0" marL="0" rtl="0" algn="l">
              <a:spcBef>
                <a:spcPts val="400"/>
              </a:spcBef>
              <a:spcAft>
                <a:spcPts val="0"/>
              </a:spcAft>
              <a:buNone/>
            </a:pPr>
            <a:r>
              <a:rPr lang="en-GB" sz="1200"/>
              <a:t>Current: Basic — most banks report total revenue by business line. Limited product-level or customer-level revenue decomposition. NII is typically a GL line item, not decomposed by product/customer.</a:t>
            </a:r>
            <a:endParaRPr/>
          </a:p>
          <a:p>
            <a:pPr indent="0" lvl="0" marL="0" rtl="0" algn="l">
              <a:spcBef>
                <a:spcPts val="400"/>
              </a:spcBef>
              <a:spcAft>
                <a:spcPts val="0"/>
              </a:spcAft>
              <a:buNone/>
            </a:pPr>
            <a:r>
              <a:rPr lang="en-GB" sz="1200"/>
              <a:t>Target: Developing/Practicing — full NII decomposition by product, customer, branch using FTP. Fee income tracked by type and channel. Islamic vs. conventional revenue separated at transaction level.</a:t>
            </a:r>
            <a:endParaRPr/>
          </a:p>
          <a:p>
            <a:pPr indent="0" lvl="0" marL="0" rtl="0" algn="l">
              <a:spcBef>
                <a:spcPts val="400"/>
              </a:spcBef>
              <a:spcAft>
                <a:spcPts val="0"/>
              </a:spcAft>
              <a:buNone/>
            </a:pPr>
            <a:r>
              <a:rPr lang="en-GB" sz="1200"/>
              <a:t>Priority: NII decomposition with KIBOR spread analysis; separate Islamic/conventional revenue; channel-level fee income tracking (RAAST impact).</a:t>
            </a:r>
            <a:endParaRPr/>
          </a:p>
          <a:p>
            <a:pPr indent="0" lvl="0" marL="0" rtl="0" algn="l">
              <a:spcBef>
                <a:spcPts val="400"/>
              </a:spcBef>
              <a:spcAft>
                <a:spcPts val="0"/>
              </a:spcAft>
              <a:buNone/>
            </a:pPr>
            <a:r>
              <a:rPr lang="en-GB" sz="1200"/>
              <a:t>FSDM enables customer-level revenue calculation through its star schema linking accounts, products, customers, and financial transactions.</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GL, AP, HR, Expense Analytics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Pakistan bank cost structure: staff 40-50% of OpEx (50-100K employees at large banks), occupancy 15-20% (16,000+ branches), IT 10-15% (growing with digital), depreciation 5-10%, admin/other 15-25%.</a:t>
            </a:r>
            <a:endParaRPr/>
          </a:p>
          <a:p>
            <a:pPr indent="0" lvl="0" marL="0" rtl="0" algn="l">
              <a:spcBef>
                <a:spcPts val="400"/>
              </a:spcBef>
              <a:spcAft>
                <a:spcPts val="0"/>
              </a:spcAft>
              <a:buNone/>
            </a:pPr>
            <a:r>
              <a:rPr lang="en-GB" sz="1200"/>
              <a:t>Cost-to-income ratio: industry range 45-65%, key SBP and analyst benchmark. Large banks targeting &lt;50%.</a:t>
            </a:r>
            <a:endParaRPr/>
          </a:p>
          <a:p>
            <a:pPr indent="0" lvl="0" marL="0" rtl="0" algn="l">
              <a:spcBef>
                <a:spcPts val="400"/>
              </a:spcBef>
              <a:spcAft>
                <a:spcPts val="0"/>
              </a:spcAft>
              <a:buNone/>
            </a:pPr>
            <a:r>
              <a:rPr lang="en-GB" sz="1200"/>
              <a:t>Branch cost: varies 3-5x between metro and rural. Channel cost per transaction: branch PKR 150-300, ATM PKR 30-50, digital PKR 5-15.</a:t>
            </a:r>
            <a:endParaRPr/>
          </a:p>
          <a:p>
            <a:pPr indent="0" lvl="0" marL="0" rtl="0" algn="l">
              <a:spcBef>
                <a:spcPts val="400"/>
              </a:spcBef>
              <a:spcAft>
                <a:spcPts val="0"/>
              </a:spcAft>
              <a:buNone/>
            </a:pPr>
            <a:r>
              <a:rPr lang="en-GB" sz="1200"/>
              <a:t>AP analytics: FBR WHT compliance on all vendor payments. Procurement consolidation across branches is a major opportunity.</a:t>
            </a:r>
            <a:endParaRPr/>
          </a:p>
          <a:p>
            <a:pPr indent="0" lvl="0" marL="0" rtl="0" algn="l">
              <a:spcBef>
                <a:spcPts val="400"/>
              </a:spcBef>
              <a:spcAft>
                <a:spcPts val="0"/>
              </a:spcAft>
              <a:buNone/>
            </a:pPr>
            <a:r>
              <a:rPr lang="en-GB" sz="1200"/>
              <a:t>FSDM: EXPNS, GL_ACCT, CST_CNTR, EMPL, VNDR, AP, OPEX</a:t>
            </a:r>
            <a:endParaRPr/>
          </a:p>
        </p:txBody>
      </p:sp>
    </p:spTree>
  </p:cSld>
  <p:clrMapOvr>
    <a:masterClrMapping/>
  </p:clrMapOvr>
</p:notes>
</file>

<file path=ppt/notesSlides/notesSlide2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0" name="Shape 4790"/>
        <p:cNvGrpSpPr/>
        <p:nvPr/>
      </p:nvGrpSpPr>
      <p:grpSpPr>
        <a:xfrm>
          <a:off x="0" y="0"/>
          <a:ext cx="0" cy="0"/>
          <a:chOff x="0" y="0"/>
          <a:chExt cx="0" cy="0"/>
        </a:xfrm>
      </p:grpSpPr>
      <p:sp>
        <p:nvSpPr>
          <p:cNvPr id="4791" name="Google Shape;4791;p23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92" name="Google Shape;4792;p2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93" name="Google Shape;4793;p2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GL, AP, HR, Expense Analytics — Maturity Assessment</a:t>
            </a:r>
            <a:endParaRPr/>
          </a:p>
          <a:p>
            <a:pPr indent="0" lvl="0" marL="0" rtl="0" algn="l">
              <a:spcBef>
                <a:spcPts val="400"/>
              </a:spcBef>
              <a:spcAft>
                <a:spcPts val="0"/>
              </a:spcAft>
              <a:buNone/>
            </a:pPr>
            <a:r>
              <a:rPr lang="en-GB" sz="1200"/>
              <a:t>Current: Basic/Developing — GL reporting exists but limited analytical capability. Cost center reporting is basic. HR analytics is mostly headcount-based.</a:t>
            </a:r>
            <a:endParaRPr/>
          </a:p>
          <a:p>
            <a:pPr indent="0" lvl="0" marL="0" rtl="0" algn="l">
              <a:spcBef>
                <a:spcPts val="400"/>
              </a:spcBef>
              <a:spcAft>
                <a:spcPts val="0"/>
              </a:spcAft>
              <a:buNone/>
            </a:pPr>
            <a:r>
              <a:rPr lang="en-GB" sz="1200"/>
              <a:t>Target: Branch-level cost analytics, channel cost comparison, HR productivity metrics (revenue per employee, accounts per RM), automated FBR WHT vendor compliance.</a:t>
            </a:r>
            <a:endParaRPr/>
          </a:p>
          <a:p>
            <a:pPr indent="0" lvl="0" marL="0" rtl="0" algn="l">
              <a:spcBef>
                <a:spcPts val="400"/>
              </a:spcBef>
              <a:spcAft>
                <a:spcPts val="0"/>
              </a:spcAft>
              <a:buNone/>
            </a:pPr>
            <a:r>
              <a:rPr lang="en-GB" sz="1200"/>
              <a:t>Priority: C/I ratio optimization; branch cost analytics; digital channel cost advantage quantification.</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Activity Based Costing — Capability Detail (CRITICAL)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Almost no Pakistan bank has formal ABC. Costs allocated by: headcount ratios (most common, crude), revenue splits (circular), flat formulas (e.g., 10% per business line).</a:t>
            </a:r>
            <a:endParaRPr/>
          </a:p>
          <a:p>
            <a:pPr indent="0" lvl="0" marL="0" rtl="0" algn="l">
              <a:spcBef>
                <a:spcPts val="400"/>
              </a:spcBef>
              <a:spcAft>
                <a:spcPts val="0"/>
              </a:spcAft>
              <a:buNone/>
            </a:pPr>
            <a:r>
              <a:rPr lang="en-GB" sz="1200"/>
              <a:t>Why ABC matters: prerequisite for customer profitability, product profitability, channel migration business case, and branch rationalization.</a:t>
            </a:r>
            <a:endParaRPr/>
          </a:p>
          <a:p>
            <a:pPr indent="0" lvl="0" marL="0" rtl="0" algn="l">
              <a:spcBef>
                <a:spcPts val="400"/>
              </a:spcBef>
              <a:spcAft>
                <a:spcPts val="0"/>
              </a:spcAft>
              <a:buNone/>
            </a:pPr>
            <a:r>
              <a:rPr lang="en-GB" sz="1200"/>
              <a:t>Branch vs. digital: PKR 150-300 vs. PKR 5-15 per transaction — but without ABC this is not quantified. ABC enables digital migration ROI calculation.</a:t>
            </a:r>
            <a:endParaRPr/>
          </a:p>
          <a:p>
            <a:pPr indent="0" lvl="0" marL="0" rtl="0" algn="l">
              <a:spcBef>
                <a:spcPts val="400"/>
              </a:spcBef>
              <a:spcAft>
                <a:spcPts val="0"/>
              </a:spcAft>
              <a:buNone/>
            </a:pPr>
            <a:r>
              <a:rPr lang="en-GB" sz="1200"/>
              <a:t>UBL Context: FSDM captures transaction volumes by customer, product, channel, branch — providing activity driver data needed for ABC. Customer Profitability Engine consumes ABC unit costs.</a:t>
            </a:r>
            <a:endParaRPr/>
          </a:p>
          <a:p>
            <a:pPr indent="0" lvl="0" marL="0" rtl="0" algn="l">
              <a:spcBef>
                <a:spcPts val="400"/>
              </a:spcBef>
              <a:spcAft>
                <a:spcPts val="0"/>
              </a:spcAft>
              <a:buNone/>
            </a:pPr>
            <a:r>
              <a:rPr lang="en-GB" sz="1200"/>
              <a:t>FSDM: ACTVTY, ACTVTY_CST, CST_DRVR, CST_ALLCTN, UNT_CST, CHNL_CST</a:t>
            </a:r>
            <a:endParaRPr/>
          </a:p>
        </p:txBody>
      </p:sp>
    </p:spTree>
  </p:cSld>
  <p:clrMapOvr>
    <a:masterClrMapping/>
  </p:clrMapOvr>
</p:notes>
</file>

<file path=ppt/notesSlides/notesSlide2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2" name="Shape 4822"/>
        <p:cNvGrpSpPr/>
        <p:nvPr/>
      </p:nvGrpSpPr>
      <p:grpSpPr>
        <a:xfrm>
          <a:off x="0" y="0"/>
          <a:ext cx="0" cy="0"/>
          <a:chOff x="0" y="0"/>
          <a:chExt cx="0" cy="0"/>
        </a:xfrm>
      </p:grpSpPr>
      <p:sp>
        <p:nvSpPr>
          <p:cNvPr id="4823" name="Google Shape;4823;p23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24" name="Google Shape;4824;p2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25" name="Google Shape;4825;p2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Activity Based Costing — Maturity Assessment</a:t>
            </a:r>
            <a:endParaRPr/>
          </a:p>
          <a:p>
            <a:pPr indent="0" lvl="0" marL="0" rtl="0" algn="l">
              <a:spcBef>
                <a:spcPts val="400"/>
              </a:spcBef>
              <a:spcAft>
                <a:spcPts val="0"/>
              </a:spcAft>
              <a:buNone/>
            </a:pPr>
            <a:r>
              <a:rPr lang="en-GB" sz="1200"/>
              <a:t>Current: Absent/Basic — no formal ABC at most Pakistan banks. Cost allocation is formula-based.</a:t>
            </a:r>
            <a:endParaRPr/>
          </a:p>
          <a:p>
            <a:pPr indent="0" lvl="0" marL="0" rtl="0" algn="l">
              <a:spcBef>
                <a:spcPts val="400"/>
              </a:spcBef>
              <a:spcAft>
                <a:spcPts val="0"/>
              </a:spcAft>
              <a:buNone/>
            </a:pPr>
            <a:r>
              <a:rPr lang="en-GB" sz="1200"/>
              <a:t>Target: Developing — formal ABC model for multi-channel banking with 20-30 key activities mapped to resources, unit costs calculated per activity per channel.</a:t>
            </a:r>
            <a:endParaRPr/>
          </a:p>
          <a:p>
            <a:pPr indent="0" lvl="0" marL="0" rtl="0" algn="l">
              <a:spcBef>
                <a:spcPts val="400"/>
              </a:spcBef>
              <a:spcAft>
                <a:spcPts val="0"/>
              </a:spcAft>
              <a:buNone/>
            </a:pPr>
            <a:r>
              <a:rPr lang="en-GB" sz="1200"/>
              <a:t>Implementation: Phase 1 define activities, Phase 2 map to resources, Phase 3 calculate unit costs, Phase 4 allocate to customers using FSDM activity volumes.</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Profitability Modelling — Capability Detail (MOST CRITICAL)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Multi-dimensional profitability: Customer x Product x Branch x Segment x Channel x Region. Full P&amp;L at each dimension.</a:t>
            </a:r>
            <a:endParaRPr/>
          </a:p>
          <a:p>
            <a:pPr indent="0" lvl="0" marL="0" rtl="0" algn="l">
              <a:spcBef>
                <a:spcPts val="400"/>
              </a:spcBef>
              <a:spcAft>
                <a:spcPts val="0"/>
              </a:spcAft>
              <a:buNone/>
            </a:pPr>
            <a:r>
              <a:rPr lang="en-GB" sz="1200"/>
              <a:t>Components: FTP-adjusted NII + fee income - direct costs - ABC-allocated costs - IFRS 9 provision - capital charge = economic profit.</a:t>
            </a:r>
            <a:endParaRPr/>
          </a:p>
          <a:p>
            <a:pPr indent="0" lvl="0" marL="0" rtl="0" algn="l">
              <a:spcBef>
                <a:spcPts val="400"/>
              </a:spcBef>
              <a:spcAft>
                <a:spcPts val="0"/>
              </a:spcAft>
              <a:buNone/>
            </a:pPr>
            <a:r>
              <a:rPr lang="en-GB" sz="1200"/>
              <a:t>Must handle BOTH conventional (interest-based) and Islamic (profit-sharing) economics.</a:t>
            </a:r>
            <a:endParaRPr/>
          </a:p>
          <a:p>
            <a:pPr indent="0" lvl="0" marL="0" rtl="0" algn="l">
              <a:spcBef>
                <a:spcPts val="400"/>
              </a:spcBef>
              <a:spcAft>
                <a:spcPts val="0"/>
              </a:spcAft>
              <a:buNone/>
            </a:pPr>
            <a:r>
              <a:rPr lang="en-GB" sz="1200"/>
              <a:t>&lt;15% of Pakistan banks can calculate customer-level profitability. UBL FSDM-based Customer Profitability Engine is industry-leading.</a:t>
            </a:r>
            <a:endParaRPr/>
          </a:p>
          <a:p>
            <a:pPr indent="0" lvl="0" marL="0" rtl="0" algn="l">
              <a:spcBef>
                <a:spcPts val="400"/>
              </a:spcBef>
              <a:spcAft>
                <a:spcPts val="0"/>
              </a:spcAft>
              <a:buNone/>
            </a:pPr>
            <a:r>
              <a:rPr lang="en-GB" sz="1200"/>
              <a:t>Typical finding: top 20% of customers generate 150%+ of profit; bottom 30% are loss-making.</a:t>
            </a:r>
            <a:endParaRPr/>
          </a:p>
          <a:p>
            <a:pPr indent="0" lvl="0" marL="0" rtl="0" algn="l">
              <a:spcBef>
                <a:spcPts val="400"/>
              </a:spcBef>
              <a:spcAft>
                <a:spcPts val="0"/>
              </a:spcAft>
              <a:buNone/>
            </a:pPr>
            <a:r>
              <a:rPr lang="en-GB" sz="1200"/>
              <a:t>FSDM: PRFT, CSTMR_PRFT, PRDCT_PRFT, BRNCH_PL, FTP_ADJ, ABC_CST, ECL_CHRG, CAP_CHRG</a:t>
            </a:r>
            <a:endParaRPr/>
          </a:p>
        </p:txBody>
      </p:sp>
    </p:spTree>
  </p:cSld>
  <p:clrMapOvr>
    <a:masterClrMapping/>
  </p:clrMapOvr>
</p:notes>
</file>

<file path=ppt/notesSlides/notesSlide2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4" name="Shape 4854"/>
        <p:cNvGrpSpPr/>
        <p:nvPr/>
      </p:nvGrpSpPr>
      <p:grpSpPr>
        <a:xfrm>
          <a:off x="0" y="0"/>
          <a:ext cx="0" cy="0"/>
          <a:chOff x="0" y="0"/>
          <a:chExt cx="0" cy="0"/>
        </a:xfrm>
      </p:grpSpPr>
      <p:sp>
        <p:nvSpPr>
          <p:cNvPr id="4855" name="Google Shape;4855;p23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56" name="Google Shape;4856;p2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57" name="Google Shape;4857;p2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Profitability Modelling — Maturity Assessment</a:t>
            </a:r>
            <a:endParaRPr/>
          </a:p>
          <a:p>
            <a:pPr indent="0" lvl="0" marL="0" rtl="0" algn="l">
              <a:spcBef>
                <a:spcPts val="400"/>
              </a:spcBef>
              <a:spcAft>
                <a:spcPts val="0"/>
              </a:spcAft>
              <a:buNone/>
            </a:pPr>
            <a:r>
              <a:rPr lang="en-GB" sz="1200"/>
              <a:t>Current: Basic/Absent — most Pakistan banks cannot calculate customer or product profitability. Branch P&amp;L is not available at most banks.</a:t>
            </a:r>
            <a:endParaRPr/>
          </a:p>
          <a:p>
            <a:pPr indent="0" lvl="0" marL="0" rtl="0" algn="l">
              <a:spcBef>
                <a:spcPts val="400"/>
              </a:spcBef>
              <a:spcAft>
                <a:spcPts val="0"/>
              </a:spcAft>
              <a:buNone/>
            </a:pPr>
            <a:r>
              <a:rPr lang="en-GB" sz="1200"/>
              <a:t>Target: Practicing — full multi-dimensional profitability with FTP, ABC, provisions, and capital charges. UBL engine as benchmark.</a:t>
            </a:r>
            <a:endParaRPr/>
          </a:p>
          <a:p>
            <a:pPr indent="0" lvl="0" marL="0" rtl="0" algn="l">
              <a:spcBef>
                <a:spcPts val="400"/>
              </a:spcBef>
              <a:spcAft>
                <a:spcPts val="0"/>
              </a:spcAft>
              <a:buNone/>
            </a:pPr>
            <a:r>
              <a:rPr lang="en-GB" sz="1200"/>
              <a:t>Priority: Customer profitability engine (FSDM-based), product profitability with FTP, branch P&amp;L.</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Future / Lifetime Value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Customer LTV: incorporating Pakistan relationship banking patterns, salary account retention vs. acquisition cost, Islamic multi-product relationships.</a:t>
            </a:r>
            <a:endParaRPr/>
          </a:p>
          <a:p>
            <a:pPr indent="0" lvl="0" marL="0" rtl="0" algn="l">
              <a:spcBef>
                <a:spcPts val="400"/>
              </a:spcBef>
              <a:spcAft>
                <a:spcPts val="0"/>
              </a:spcAft>
              <a:buNone/>
            </a:pPr>
            <a:r>
              <a:rPr lang="en-GB" sz="1200"/>
              <a:t>Salary account LTV: employer partnerships are key acquisition channel. Need to track retention rate, product penetration growth, revenue trajectory over customer lifecycle.</a:t>
            </a:r>
            <a:endParaRPr/>
          </a:p>
          <a:p>
            <a:pPr indent="0" lvl="0" marL="0" rtl="0" algn="l">
              <a:spcBef>
                <a:spcPts val="400"/>
              </a:spcBef>
              <a:spcAft>
                <a:spcPts val="0"/>
              </a:spcAft>
              <a:buNone/>
            </a:pPr>
            <a:r>
              <a:rPr lang="en-GB" sz="1200"/>
              <a:t>Cross-sell prediction: savings to investment, deposit to financing, conventional to Islamic conversion.</a:t>
            </a:r>
            <a:endParaRPr/>
          </a:p>
          <a:p>
            <a:pPr indent="0" lvl="0" marL="0" rtl="0" algn="l">
              <a:spcBef>
                <a:spcPts val="400"/>
              </a:spcBef>
              <a:spcAft>
                <a:spcPts val="0"/>
              </a:spcAft>
              <a:buNone/>
            </a:pPr>
            <a:r>
              <a:rPr lang="en-GB" sz="1200"/>
              <a:t>FSDM: CSTMR_LTV, RLTSHP, CRSS_SLL, RTNTN, ACQSTN_CST</a:t>
            </a:r>
            <a:endParaRPr/>
          </a:p>
        </p:txBody>
      </p:sp>
    </p:spTree>
  </p:cSld>
  <p:clrMapOvr>
    <a:masterClrMapping/>
  </p:clrMapOvr>
</p:notes>
</file>

<file path=ppt/notesSlides/notesSlide2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6" name="Shape 4886"/>
        <p:cNvGrpSpPr/>
        <p:nvPr/>
      </p:nvGrpSpPr>
      <p:grpSpPr>
        <a:xfrm>
          <a:off x="0" y="0"/>
          <a:ext cx="0" cy="0"/>
          <a:chOff x="0" y="0"/>
          <a:chExt cx="0" cy="0"/>
        </a:xfrm>
      </p:grpSpPr>
      <p:sp>
        <p:nvSpPr>
          <p:cNvPr id="4887" name="Google Shape;4887;p23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88" name="Google Shape;4888;p2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89" name="Google Shape;4889;p2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Future / Lifetime Value — Maturity Assessment</a:t>
            </a:r>
            <a:endParaRPr/>
          </a:p>
          <a:p>
            <a:pPr indent="0" lvl="0" marL="0" rtl="0" algn="l">
              <a:spcBef>
                <a:spcPts val="400"/>
              </a:spcBef>
              <a:spcAft>
                <a:spcPts val="0"/>
              </a:spcAft>
              <a:buNone/>
            </a:pPr>
            <a:r>
              <a:rPr lang="en-GB" sz="1200"/>
              <a:t>Current: Absent — no Pakistan bank calculates customer LTV systematically.</a:t>
            </a:r>
            <a:endParaRPr/>
          </a:p>
          <a:p>
            <a:pPr indent="0" lvl="0" marL="0" rtl="0" algn="l">
              <a:spcBef>
                <a:spcPts val="400"/>
              </a:spcBef>
              <a:spcAft>
                <a:spcPts val="0"/>
              </a:spcAft>
              <a:buNone/>
            </a:pPr>
            <a:r>
              <a:rPr lang="en-GB" sz="1200"/>
              <a:t>Target: Developing — LTV model for key segments using FSDM data: transaction history, product holdings, revenue trajectory, attrition patterns.</a:t>
            </a:r>
            <a:endParaRPr/>
          </a:p>
          <a:p>
            <a:pPr indent="0" lvl="0" marL="0" rtl="0" algn="l">
              <a:spcBef>
                <a:spcPts val="400"/>
              </a:spcBef>
              <a:spcAft>
                <a:spcPts val="0"/>
              </a:spcAft>
              <a:buNone/>
            </a:pPr>
            <a:r>
              <a:rPr lang="en-GB" sz="1200"/>
              <a:t>Priority: Salary account LTV, cross-sell prediction, churn reduction for high-value segments.</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Profitability Analytics and Optimisation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Multi-dimensional profitability analysis: customer x product x channel x branch x segment. CASA vs. term deposit profitability under different KIBOR scenarios.</a:t>
            </a:r>
            <a:endParaRPr/>
          </a:p>
          <a:p>
            <a:pPr indent="0" lvl="0" marL="0" rtl="0" algn="l">
              <a:spcBef>
                <a:spcPts val="400"/>
              </a:spcBef>
              <a:spcAft>
                <a:spcPts val="0"/>
              </a:spcAft>
              <a:buNone/>
            </a:pPr>
            <a:r>
              <a:rPr lang="en-GB" sz="1200"/>
              <a:t>Islamic banking profitability: profit-sharing pool mechanism vs. conventional interest margin — different economics require separate analysis.</a:t>
            </a:r>
            <a:endParaRPr/>
          </a:p>
          <a:p>
            <a:pPr indent="0" lvl="0" marL="0" rtl="0" algn="l">
              <a:spcBef>
                <a:spcPts val="400"/>
              </a:spcBef>
              <a:spcAft>
                <a:spcPts val="0"/>
              </a:spcAft>
              <a:buNone/>
            </a:pPr>
            <a:r>
              <a:rPr lang="en-GB" sz="1200"/>
              <a:t>RAROC-based capital allocation to business lines enables optimal resource deployment.</a:t>
            </a:r>
            <a:endParaRPr/>
          </a:p>
          <a:p>
            <a:pPr indent="0" lvl="0" marL="0" rtl="0" algn="l">
              <a:spcBef>
                <a:spcPts val="400"/>
              </a:spcBef>
              <a:spcAft>
                <a:spcPts val="0"/>
              </a:spcAft>
              <a:buNone/>
            </a:pPr>
            <a:r>
              <a:rPr lang="en-GB" sz="1200"/>
              <a:t>FSDM: PRFT_ANLYS, PRFT_OPTMZN, RAROC, CAP_ALLCTN, SGM_PRFT</a:t>
            </a:r>
            <a:endParaRPr/>
          </a:p>
        </p:txBody>
      </p:sp>
    </p:spTree>
  </p:cSld>
  <p:clrMapOvr>
    <a:masterClrMapping/>
  </p:clrMapOvr>
</p:notes>
</file>

<file path=ppt/notesSlides/notesSlide2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8" name="Shape 4918"/>
        <p:cNvGrpSpPr/>
        <p:nvPr/>
      </p:nvGrpSpPr>
      <p:grpSpPr>
        <a:xfrm>
          <a:off x="0" y="0"/>
          <a:ext cx="0" cy="0"/>
          <a:chOff x="0" y="0"/>
          <a:chExt cx="0" cy="0"/>
        </a:xfrm>
      </p:grpSpPr>
      <p:sp>
        <p:nvSpPr>
          <p:cNvPr id="4919" name="Google Shape;4919;p24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20" name="Google Shape;4920;p2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21" name="Google Shape;4921;p2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Profitability Analytics and Optimisation — Maturity Assessment</a:t>
            </a:r>
            <a:endParaRPr/>
          </a:p>
          <a:p>
            <a:pPr indent="0" lvl="0" marL="0" rtl="0" algn="l">
              <a:spcBef>
                <a:spcPts val="400"/>
              </a:spcBef>
              <a:spcAft>
                <a:spcPts val="0"/>
              </a:spcAft>
              <a:buNone/>
            </a:pPr>
            <a:r>
              <a:rPr lang="en-GB" sz="1200"/>
              <a:t>Current: Basic — limited profitability analysis beyond total bank P&amp;L. No optimization capability.</a:t>
            </a:r>
            <a:endParaRPr/>
          </a:p>
          <a:p>
            <a:pPr indent="0" lvl="0" marL="0" rtl="0" algn="l">
              <a:spcBef>
                <a:spcPts val="400"/>
              </a:spcBef>
              <a:spcAft>
                <a:spcPts val="0"/>
              </a:spcAft>
              <a:buNone/>
            </a:pPr>
            <a:r>
              <a:rPr lang="en-GB" sz="1200"/>
              <a:t>Target: Practicing — analytics-driven pricing, product mix, and channel optimization based on multi-dimensional profitability.</a:t>
            </a:r>
            <a:endParaRPr/>
          </a:p>
          <a:p>
            <a:pPr indent="0" lvl="0" marL="0" rtl="0" algn="l">
              <a:spcBef>
                <a:spcPts val="400"/>
              </a:spcBef>
              <a:spcAft>
                <a:spcPts val="0"/>
              </a:spcAft>
              <a:buNone/>
            </a:pPr>
            <a:r>
              <a:rPr lang="en-GB" sz="1200"/>
              <a:t>Priority: KIBOR scenario analysis on profitability, Islamic pool profitability, RAROC by business line.</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Pricing Analysis &amp; Optimisation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Lending rates: KIBOR-based pricing (KIBOR + spread). Spread varies 2-5% based on risk. Most pricing is standardized, not risk-adjusted at individual level.</a:t>
            </a:r>
            <a:endParaRPr/>
          </a:p>
          <a:p>
            <a:pPr indent="0" lvl="0" marL="0" rtl="0" algn="l">
              <a:spcBef>
                <a:spcPts val="400"/>
              </a:spcBef>
              <a:spcAft>
                <a:spcPts val="0"/>
              </a:spcAft>
              <a:buNone/>
            </a:pPr>
            <a:r>
              <a:rPr lang="en-GB" sz="1200"/>
              <a:t>Deposit rates: CASA (near zero cost) vs. term deposits (competing with PIB yields). Dynamic deposit pricing is rare.</a:t>
            </a:r>
            <a:endParaRPr/>
          </a:p>
          <a:p>
            <a:pPr indent="0" lvl="0" marL="0" rtl="0" algn="l">
              <a:spcBef>
                <a:spcPts val="400"/>
              </a:spcBef>
              <a:spcAft>
                <a:spcPts val="0"/>
              </a:spcAft>
              <a:buNone/>
            </a:pPr>
            <a:r>
              <a:rPr lang="en-GB" sz="1200"/>
              <a:t>Fee pricing: SBP consumer protection rules increasingly constrain fees. RAAST has made fund transfers nearly free, pressuring fee income.</a:t>
            </a:r>
            <a:endParaRPr/>
          </a:p>
          <a:p>
            <a:pPr indent="0" lvl="0" marL="0" rtl="0" algn="l">
              <a:spcBef>
                <a:spcPts val="400"/>
              </a:spcBef>
              <a:spcAft>
                <a:spcPts val="0"/>
              </a:spcAft>
              <a:buNone/>
            </a:pPr>
            <a:r>
              <a:rPr lang="en-GB" sz="1200"/>
              <a:t>FSDM: PRCNG, KIBOR_RT, SPRD, DPST_RT, FEE_SCHDUL, RSK_ADJ_PRCNG</a:t>
            </a:r>
            <a:endParaRPr/>
          </a:p>
        </p:txBody>
      </p:sp>
    </p:spTree>
  </p:cSld>
  <p:clrMapOvr>
    <a:masterClrMapping/>
  </p:clrMapOvr>
</p:notes>
</file>

<file path=ppt/notesSlides/notesSlide2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0" name="Shape 4950"/>
        <p:cNvGrpSpPr/>
        <p:nvPr/>
      </p:nvGrpSpPr>
      <p:grpSpPr>
        <a:xfrm>
          <a:off x="0" y="0"/>
          <a:ext cx="0" cy="0"/>
          <a:chOff x="0" y="0"/>
          <a:chExt cx="0" cy="0"/>
        </a:xfrm>
      </p:grpSpPr>
      <p:sp>
        <p:nvSpPr>
          <p:cNvPr id="4951" name="Google Shape;4951;p24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52" name="Google Shape;4952;p2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53" name="Google Shape;4953;p2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Pricing Analysis &amp; Optimisation — Maturity Assessment</a:t>
            </a:r>
            <a:endParaRPr/>
          </a:p>
          <a:p>
            <a:pPr indent="0" lvl="0" marL="0" rtl="0" algn="l">
              <a:spcBef>
                <a:spcPts val="400"/>
              </a:spcBef>
              <a:spcAft>
                <a:spcPts val="0"/>
              </a:spcAft>
              <a:buNone/>
            </a:pPr>
            <a:r>
              <a:rPr lang="en-GB" sz="1200"/>
              <a:t>Current: Basic — KIBOR + flat spread for most lending. No analytical pricing optimization.</a:t>
            </a:r>
            <a:endParaRPr/>
          </a:p>
          <a:p>
            <a:pPr indent="0" lvl="0" marL="0" rtl="0" algn="l">
              <a:spcBef>
                <a:spcPts val="400"/>
              </a:spcBef>
              <a:spcAft>
                <a:spcPts val="0"/>
              </a:spcAft>
              <a:buNone/>
            </a:pPr>
            <a:r>
              <a:rPr lang="en-GB" sz="1200"/>
              <a:t>Target: Developing — risk-adjusted pricing using customer credit profile, relationship value, and competitive intelligence.</a:t>
            </a:r>
            <a:endParaRPr/>
          </a:p>
          <a:p>
            <a:pPr indent="0" lvl="0" marL="0" rtl="0" algn="l">
              <a:spcBef>
                <a:spcPts val="400"/>
              </a:spcBef>
              <a:spcAft>
                <a:spcPts val="0"/>
              </a:spcAft>
              <a:buNone/>
            </a:pPr>
            <a:r>
              <a:rPr lang="en-GB" sz="1200"/>
              <a:t>Priority: NIM improvement through spread optimization, deposit rate optimization, fee schedule review.</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Performance Management and KPIs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Bank KPIs: ROE, ROA, NIM, C/I ratio, NPL ratio, CASA ratio, digital adoption rate, customer growth. Business line KPIs differ: Corporate (large ticket, trade), Retail (volume, cross-sell), Treasury (yield, risk).</a:t>
            </a:r>
            <a:endParaRPr/>
          </a:p>
          <a:p>
            <a:pPr indent="0" lvl="0" marL="0" rtl="0" algn="l">
              <a:spcBef>
                <a:spcPts val="400"/>
              </a:spcBef>
              <a:spcAft>
                <a:spcPts val="0"/>
              </a:spcAft>
              <a:buNone/>
            </a:pPr>
            <a:r>
              <a:rPr lang="en-GB" sz="1200"/>
              <a:t>Branch scorecard: deposits, advances, CASA, fee income, cost-to-income, customer count, digital migration. Most banks track manually.</a:t>
            </a:r>
            <a:endParaRPr/>
          </a:p>
          <a:p>
            <a:pPr indent="0" lvl="0" marL="0" rtl="0" algn="l">
              <a:spcBef>
                <a:spcPts val="400"/>
              </a:spcBef>
              <a:spcAft>
                <a:spcPts val="0"/>
              </a:spcAft>
              <a:buNone/>
            </a:pPr>
            <a:r>
              <a:rPr lang="en-GB" sz="1200"/>
              <a:t>SBP compliance metrics must be integrated into performance management.</a:t>
            </a:r>
            <a:endParaRPr/>
          </a:p>
          <a:p>
            <a:pPr indent="0" lvl="0" marL="0" rtl="0" algn="l">
              <a:spcBef>
                <a:spcPts val="400"/>
              </a:spcBef>
              <a:spcAft>
                <a:spcPts val="0"/>
              </a:spcAft>
              <a:buNone/>
            </a:pPr>
            <a:r>
              <a:rPr lang="en-GB" sz="1200"/>
              <a:t>FSDM: KPI, PRFMNC, SCRCRD, TRGT, BRNCH_KPI, BL_KPI</a:t>
            </a:r>
            <a:endParaRPr/>
          </a:p>
        </p:txBody>
      </p:sp>
    </p:spTree>
  </p:cSld>
  <p:clrMapOvr>
    <a:masterClrMapping/>
  </p:clrMapOvr>
</p:notes>
</file>

<file path=ppt/notesSlides/notesSlide2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2" name="Shape 4982"/>
        <p:cNvGrpSpPr/>
        <p:nvPr/>
      </p:nvGrpSpPr>
      <p:grpSpPr>
        <a:xfrm>
          <a:off x="0" y="0"/>
          <a:ext cx="0" cy="0"/>
          <a:chOff x="0" y="0"/>
          <a:chExt cx="0" cy="0"/>
        </a:xfrm>
      </p:grpSpPr>
      <p:sp>
        <p:nvSpPr>
          <p:cNvPr id="4983" name="Google Shape;4983;p24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84" name="Google Shape;4984;p2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85" name="Google Shape;4985;p2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Performance Management and KPIs — Maturity Assessment</a:t>
            </a:r>
            <a:endParaRPr/>
          </a:p>
          <a:p>
            <a:pPr indent="0" lvl="0" marL="0" rtl="0" algn="l">
              <a:spcBef>
                <a:spcPts val="400"/>
              </a:spcBef>
              <a:spcAft>
                <a:spcPts val="0"/>
              </a:spcAft>
              <a:buNone/>
            </a:pPr>
            <a:r>
              <a:rPr lang="en-GB" sz="1200"/>
              <a:t>Current: Basic/Developing — KPIs tracked but manually compiled. Monthly performance packs take days to produce.</a:t>
            </a:r>
            <a:endParaRPr/>
          </a:p>
          <a:p>
            <a:pPr indent="0" lvl="0" marL="0" rtl="0" algn="l">
              <a:spcBef>
                <a:spcPts val="400"/>
              </a:spcBef>
              <a:spcAft>
                <a:spcPts val="0"/>
              </a:spcAft>
              <a:buNone/>
            </a:pPr>
            <a:r>
              <a:rPr lang="en-GB" sz="1200"/>
              <a:t>Target: Practicing — real-time performance dashboards with automated data from FSDM. Cascading from bank to business line to branch to RM.</a:t>
            </a:r>
            <a:endParaRPr/>
          </a:p>
          <a:p>
            <a:pPr indent="0" lvl="0" marL="0" rtl="0" algn="l">
              <a:spcBef>
                <a:spcPts val="400"/>
              </a:spcBef>
              <a:spcAft>
                <a:spcPts val="0"/>
              </a:spcAft>
              <a:buNone/>
            </a:pPr>
            <a:r>
              <a:rPr lang="en-GB" sz="1200"/>
              <a:t>Priority: Automated scorecards, real-time branch KPIs, SBP compliance integration.</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Inventory Analytics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Banking inventory: fixed assets (16,000+ branches, ATMs), IT assets, security equipment. Cash inventory at branches and ATMs requires optimization.</a:t>
            </a:r>
            <a:endParaRPr/>
          </a:p>
          <a:p>
            <a:pPr indent="0" lvl="0" marL="0" rtl="0" algn="l">
              <a:spcBef>
                <a:spcPts val="400"/>
              </a:spcBef>
              <a:spcAft>
                <a:spcPts val="0"/>
              </a:spcAft>
              <a:buNone/>
            </a:pPr>
            <a:r>
              <a:rPr lang="en-GB" sz="1200"/>
              <a:t>ATM cash optimization: minimize idle cash while avoiding stock-outs. Branch cash: Eid periods need 2-3x normal levels.</a:t>
            </a:r>
            <a:endParaRPr/>
          </a:p>
          <a:p>
            <a:pPr indent="0" lvl="0" marL="0" rtl="0" algn="l">
              <a:spcBef>
                <a:spcPts val="400"/>
              </a:spcBef>
              <a:spcAft>
                <a:spcPts val="0"/>
              </a:spcAft>
              <a:buNone/>
            </a:pPr>
            <a:r>
              <a:rPr lang="en-GB" sz="1200"/>
              <a:t>Stationery and supplies procurement across branch network — consolidation opportunity.</a:t>
            </a:r>
            <a:endParaRPr/>
          </a:p>
          <a:p>
            <a:pPr indent="0" lvl="0" marL="0" rtl="0" algn="l">
              <a:spcBef>
                <a:spcPts val="400"/>
              </a:spcBef>
              <a:spcAft>
                <a:spcPts val="0"/>
              </a:spcAft>
              <a:buNone/>
            </a:pPr>
            <a:r>
              <a:rPr lang="en-GB" sz="1200"/>
              <a:t>FSDM: INVNTRY, FXD_ASST, CSH_INVNTRY, ATM_CSH, BRNCH_ASST</a:t>
            </a:r>
            <a:endParaRPr/>
          </a:p>
        </p:txBody>
      </p:sp>
    </p:spTree>
  </p:cSld>
  <p:clrMapOvr>
    <a:masterClrMapping/>
  </p:clrMapOvr>
</p:notes>
</file>

<file path=ppt/notesSlides/notesSlide2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4" name="Shape 5014"/>
        <p:cNvGrpSpPr/>
        <p:nvPr/>
      </p:nvGrpSpPr>
      <p:grpSpPr>
        <a:xfrm>
          <a:off x="0" y="0"/>
          <a:ext cx="0" cy="0"/>
          <a:chOff x="0" y="0"/>
          <a:chExt cx="0" cy="0"/>
        </a:xfrm>
      </p:grpSpPr>
      <p:sp>
        <p:nvSpPr>
          <p:cNvPr id="5015" name="Google Shape;5015;p24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16" name="Google Shape;5016;p2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17" name="Google Shape;5017;p2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Inventory Analytics — Maturity Assessment</a:t>
            </a:r>
            <a:endParaRPr/>
          </a:p>
          <a:p>
            <a:pPr indent="0" lvl="0" marL="0" rtl="0" algn="l">
              <a:spcBef>
                <a:spcPts val="400"/>
              </a:spcBef>
              <a:spcAft>
                <a:spcPts val="0"/>
              </a:spcAft>
              <a:buNone/>
            </a:pPr>
            <a:r>
              <a:rPr lang="en-GB" sz="1200"/>
              <a:t>Current: Basic — fixed asset register exists but limited analytics. Cash management is rule-based, not optimized.</a:t>
            </a:r>
            <a:endParaRPr/>
          </a:p>
          <a:p>
            <a:pPr indent="0" lvl="0" marL="0" rtl="0" algn="l">
              <a:spcBef>
                <a:spcPts val="400"/>
              </a:spcBef>
              <a:spcAft>
                <a:spcPts val="0"/>
              </a:spcAft>
              <a:buNone/>
            </a:pPr>
            <a:r>
              <a:rPr lang="en-GB" sz="1200"/>
              <a:t>Target: Developing — ATM cash optimization, branch asset utilization, procurement analytics.</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Financial Budgeting, Planning &amp; Forecasting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Current budget cycle: 3-4 months manual process. Bottom-up from branches, consolidated at head office with multiple revision rounds.</a:t>
            </a:r>
            <a:endParaRPr/>
          </a:p>
          <a:p>
            <a:pPr indent="0" lvl="0" marL="0" rtl="0" algn="l">
              <a:spcBef>
                <a:spcPts val="400"/>
              </a:spcBef>
              <a:spcAft>
                <a:spcPts val="0"/>
              </a:spcAft>
              <a:buNone/>
            </a:pPr>
            <a:r>
              <a:rPr lang="en-GB" sz="1200"/>
              <a:t>No rolling forecasts — annual budget becomes outdated quickly in volatile KIBOR environment.</a:t>
            </a:r>
            <a:endParaRPr/>
          </a:p>
          <a:p>
            <a:pPr indent="0" lvl="0" marL="0" rtl="0" algn="l">
              <a:spcBef>
                <a:spcPts val="400"/>
              </a:spcBef>
              <a:spcAft>
                <a:spcPts val="0"/>
              </a:spcAft>
              <a:buNone/>
            </a:pPr>
            <a:r>
              <a:rPr lang="en-GB" sz="1200"/>
              <a:t>Budget vs. actual variance: reported monthly but with significant delay (T+15-20 days).</a:t>
            </a:r>
            <a:endParaRPr/>
          </a:p>
          <a:p>
            <a:pPr indent="0" lvl="0" marL="0" rtl="0" algn="l">
              <a:spcBef>
                <a:spcPts val="400"/>
              </a:spcBef>
              <a:spcAft>
                <a:spcPts val="0"/>
              </a:spcAft>
              <a:buNone/>
            </a:pPr>
            <a:r>
              <a:rPr lang="en-GB" sz="1200"/>
              <a:t>Key budget drivers: KIBOR rate assumptions, deposit/advance growth, fee income targets, cost inflation, headcount plan.</a:t>
            </a:r>
            <a:endParaRPr/>
          </a:p>
          <a:p>
            <a:pPr indent="0" lvl="0" marL="0" rtl="0" algn="l">
              <a:spcBef>
                <a:spcPts val="400"/>
              </a:spcBef>
              <a:spcAft>
                <a:spcPts val="0"/>
              </a:spcAft>
              <a:buNone/>
            </a:pPr>
            <a:r>
              <a:rPr lang="en-GB" sz="1200"/>
              <a:t>FSDM: BDGT, FRCST, VAR_ANLYS, PLNG, BDGT_VS_ACT</a:t>
            </a:r>
            <a:endParaRPr/>
          </a:p>
        </p:txBody>
      </p:sp>
    </p:spTree>
  </p:cSld>
  <p:clrMapOvr>
    <a:masterClrMapping/>
  </p:clrMapOvr>
</p:notes>
</file>

<file path=ppt/notesSlides/notesSlide2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6" name="Shape 5046"/>
        <p:cNvGrpSpPr/>
        <p:nvPr/>
      </p:nvGrpSpPr>
      <p:grpSpPr>
        <a:xfrm>
          <a:off x="0" y="0"/>
          <a:ext cx="0" cy="0"/>
          <a:chOff x="0" y="0"/>
          <a:chExt cx="0" cy="0"/>
        </a:xfrm>
      </p:grpSpPr>
      <p:sp>
        <p:nvSpPr>
          <p:cNvPr id="5047" name="Google Shape;5047;p24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48" name="Google Shape;5048;p2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49" name="Google Shape;5049;p2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Financial Budgeting, Planning &amp; Forecasting — Maturity Assessment</a:t>
            </a:r>
            <a:endParaRPr/>
          </a:p>
          <a:p>
            <a:pPr indent="0" lvl="0" marL="0" rtl="0" algn="l">
              <a:spcBef>
                <a:spcPts val="400"/>
              </a:spcBef>
              <a:spcAft>
                <a:spcPts val="0"/>
              </a:spcAft>
              <a:buNone/>
            </a:pPr>
            <a:r>
              <a:rPr lang="en-GB" sz="1200"/>
              <a:t>Current: Basic — Excel-based annual budget, 3-4 month cycle, no rolling forecasts.</a:t>
            </a:r>
            <a:endParaRPr/>
          </a:p>
          <a:p>
            <a:pPr indent="0" lvl="0" marL="0" rtl="0" algn="l">
              <a:spcBef>
                <a:spcPts val="400"/>
              </a:spcBef>
              <a:spcAft>
                <a:spcPts val="0"/>
              </a:spcAft>
              <a:buNone/>
            </a:pPr>
            <a:r>
              <a:rPr lang="en-GB" sz="1200"/>
              <a:t>Target: Developing/Practicing — analytical planning platform with monthly rolling forecasts, scenario planning for KIBOR changes, branch-level budget accountability.</a:t>
            </a:r>
            <a:endParaRPr/>
          </a:p>
          <a:p>
            <a:pPr indent="0" lvl="0" marL="0" rtl="0" algn="l">
              <a:spcBef>
                <a:spcPts val="400"/>
              </a:spcBef>
              <a:spcAft>
                <a:spcPts val="0"/>
              </a:spcAft>
              <a:buNone/>
            </a:pPr>
            <a:r>
              <a:rPr lang="en-GB" sz="1200"/>
              <a:t>Priority: Reduce budget cycle, implement rolling forecasts, automate variance reporting.</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Business Process Analytics &amp; Optimisation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Key processes: loan origination (application to disbursement), account opening (CNIC/NADRA, KYC), trade finance (LC issuance/amendment), complaint resolution (SBP SLA).</a:t>
            </a:r>
            <a:endParaRPr/>
          </a:p>
          <a:p>
            <a:pPr indent="0" lvl="0" marL="0" rtl="0" algn="l">
              <a:spcBef>
                <a:spcPts val="400"/>
              </a:spcBef>
              <a:spcAft>
                <a:spcPts val="0"/>
              </a:spcAft>
              <a:buNone/>
            </a:pPr>
            <a:r>
              <a:rPr lang="en-GB" sz="1200"/>
              <a:t>SBP consumer protection SLAs drive complaint process optimization — non-compliance penalties.</a:t>
            </a:r>
            <a:endParaRPr/>
          </a:p>
          <a:p>
            <a:pPr indent="0" lvl="0" marL="0" rtl="0" algn="l">
              <a:spcBef>
                <a:spcPts val="400"/>
              </a:spcBef>
              <a:spcAft>
                <a:spcPts val="0"/>
              </a:spcAft>
              <a:buNone/>
            </a:pPr>
            <a:r>
              <a:rPr lang="en-GB" sz="1200"/>
              <a:t>Digital account opening: Roshan Digital Account (RDA) for overseas Pakistanis has streamlined process; domestic digital onboarding growing.</a:t>
            </a:r>
            <a:endParaRPr/>
          </a:p>
          <a:p>
            <a:pPr indent="0" lvl="0" marL="0" rtl="0" algn="l">
              <a:spcBef>
                <a:spcPts val="400"/>
              </a:spcBef>
              <a:spcAft>
                <a:spcPts val="0"/>
              </a:spcAft>
              <a:buNone/>
            </a:pPr>
            <a:r>
              <a:rPr lang="en-GB" sz="1200"/>
              <a:t>FSDM: PRCS, PRCS_STP, PRCS_OPTMZN, SLA, CMPLNT, LN_ORGTN</a:t>
            </a:r>
            <a:endParaRPr/>
          </a:p>
        </p:txBody>
      </p:sp>
    </p:spTree>
  </p:cSld>
  <p:clrMapOvr>
    <a:masterClrMapping/>
  </p:clrMapOvr>
</p:notes>
</file>

<file path=ppt/notesSlides/notesSlide2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8" name="Shape 5078"/>
        <p:cNvGrpSpPr/>
        <p:nvPr/>
      </p:nvGrpSpPr>
      <p:grpSpPr>
        <a:xfrm>
          <a:off x="0" y="0"/>
          <a:ext cx="0" cy="0"/>
          <a:chOff x="0" y="0"/>
          <a:chExt cx="0" cy="0"/>
        </a:xfrm>
      </p:grpSpPr>
      <p:sp>
        <p:nvSpPr>
          <p:cNvPr id="5079" name="Google Shape;5079;p25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80" name="Google Shape;5080;p2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81" name="Google Shape;5081;p2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Business Process Analytics &amp; Optimisation — Maturity Assessment</a:t>
            </a:r>
            <a:endParaRPr/>
          </a:p>
          <a:p>
            <a:pPr indent="0" lvl="0" marL="0" rtl="0" algn="l">
              <a:spcBef>
                <a:spcPts val="400"/>
              </a:spcBef>
              <a:spcAft>
                <a:spcPts val="0"/>
              </a:spcAft>
              <a:buNone/>
            </a:pPr>
            <a:r>
              <a:rPr lang="en-GB" sz="1200"/>
              <a:t>Current: Basic — limited process analytics. Cycle times not systematically tracked.</a:t>
            </a:r>
            <a:endParaRPr/>
          </a:p>
          <a:p>
            <a:pPr indent="0" lvl="0" marL="0" rtl="0" algn="l">
              <a:spcBef>
                <a:spcPts val="400"/>
              </a:spcBef>
              <a:spcAft>
                <a:spcPts val="0"/>
              </a:spcAft>
              <a:buNone/>
            </a:pPr>
            <a:r>
              <a:rPr lang="en-GB" sz="1200"/>
              <a:t>Target: Developing — process mining, SLA monitoring, digital process optimization.</a:t>
            </a:r>
            <a:endParaRPr/>
          </a:p>
          <a:p>
            <a:pPr indent="0" lvl="0" marL="0" rtl="0" algn="l">
              <a:spcBef>
                <a:spcPts val="400"/>
              </a:spcBef>
              <a:spcAft>
                <a:spcPts val="0"/>
              </a:spcAft>
              <a:buNone/>
            </a:pPr>
            <a:r>
              <a:rPr lang="en-GB" sz="1200"/>
              <a:t>Priority: Loan origination cycle time, SBP complaint SLA compliance, account opening digitization.</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Treasury Management — Section Overview</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Pakistan bank treasury manages PKR 10T+ in government securities (PIBs, T-Bills, Sukuk, Ijara), FX positions, money market instruments, and derivatives.</a:t>
            </a:r>
            <a:endParaRPr/>
          </a:p>
          <a:p>
            <a:pPr indent="0" lvl="0" marL="0" rtl="0" algn="l">
              <a:spcBef>
                <a:spcPts val="400"/>
              </a:spcBef>
              <a:spcAft>
                <a:spcPts val="0"/>
              </a:spcAft>
              <a:buNone/>
            </a:pPr>
            <a:r>
              <a:rPr lang="en-GB" sz="1200"/>
              <a:t>SBP policy rate: 17.5% (reference period) — high rate environment drives significant treasury income and focus.</a:t>
            </a:r>
            <a:endParaRPr/>
          </a:p>
          <a:p>
            <a:pPr indent="0" lvl="0" marL="0" rtl="0" algn="l">
              <a:spcBef>
                <a:spcPts val="400"/>
              </a:spcBef>
              <a:spcAft>
                <a:spcPts val="0"/>
              </a:spcAft>
              <a:buNone/>
            </a:pPr>
            <a:r>
              <a:rPr lang="en-GB" sz="1200"/>
              <a:t>SBP constraints: open FX position limits, SLR requirements, CRR (5%), interbank exposure limits.</a:t>
            </a:r>
            <a:endParaRPr/>
          </a:p>
          <a:p>
            <a:pPr indent="0" lvl="0" marL="0" rtl="0" algn="l">
              <a:spcBef>
                <a:spcPts val="400"/>
              </a:spcBef>
              <a:spcAft>
                <a:spcPts val="0"/>
              </a:spcAft>
              <a:buNone/>
            </a:pPr>
            <a:r>
              <a:rPr lang="en-GB" sz="1200"/>
              <a:t>Islamic treasury: parallel desk managing Sukuk, Islamic interbank (Bai Muajjal, Wakalah), Shariah-compliant investments.</a:t>
            </a:r>
            <a:endParaRPr/>
          </a:p>
          <a:p>
            <a:pPr indent="0" lvl="0" marL="0" rtl="0" algn="l">
              <a:spcBef>
                <a:spcPts val="400"/>
              </a:spcBef>
              <a:spcAft>
                <a:spcPts val="0"/>
              </a:spcAft>
              <a:buNone/>
            </a:pPr>
            <a:r>
              <a:rPr lang="en-GB" sz="1200"/>
              <a:t>ADR constraint: SBP minimum ADR targets push banks to lend, reducing treasury portfolio flexibility.</a:t>
            </a:r>
            <a:endParaRPr/>
          </a:p>
          <a:p>
            <a:pPr indent="0" lvl="0" marL="0" rtl="0" algn="l">
              <a:spcBef>
                <a:spcPts val="400"/>
              </a:spcBef>
              <a:spcAft>
                <a:spcPts val="0"/>
              </a:spcAft>
              <a:buNone/>
            </a:pPr>
            <a:r>
              <a:rPr lang="en-GB" sz="1200"/>
              <a:t>RAAST real-time payments: settlement-final immediately impacting intraday liquidity position.</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1" name="Shape 5101"/>
        <p:cNvGrpSpPr/>
        <p:nvPr/>
      </p:nvGrpSpPr>
      <p:grpSpPr>
        <a:xfrm>
          <a:off x="0" y="0"/>
          <a:ext cx="0" cy="0"/>
          <a:chOff x="0" y="0"/>
          <a:chExt cx="0" cy="0"/>
        </a:xfrm>
      </p:grpSpPr>
      <p:sp>
        <p:nvSpPr>
          <p:cNvPr id="5102" name="Google Shape;5102;p2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03" name="Google Shape;5103;p2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Treasury Management — Challenges</a:t>
            </a:r>
            <a:endParaRPr/>
          </a:p>
          <a:p>
            <a:pPr indent="0" lvl="0" marL="0" rtl="0" algn="l">
              <a:spcBef>
                <a:spcPts val="400"/>
              </a:spcBef>
              <a:spcAft>
                <a:spcPts val="0"/>
              </a:spcAft>
              <a:buNone/>
            </a:pPr>
            <a:r>
              <a:rPr lang="en-GB" sz="1200"/>
              <a:t>Pakistan-specific challenges: managing dual conventional/Islamic treasury desks, SBP regulatory constraints (CRR/SLR/FX limits), RAAST intraday liquidity impact.</a:t>
            </a:r>
            <a:endParaRPr/>
          </a:p>
          <a:p>
            <a:pPr indent="0" lvl="0" marL="0" rtl="0" algn="l">
              <a:spcBef>
                <a:spcPts val="400"/>
              </a:spcBef>
              <a:spcAft>
                <a:spcPts val="0"/>
              </a:spcAft>
              <a:buNone/>
            </a:pPr>
            <a:r>
              <a:rPr lang="en-GB" sz="1200"/>
              <a:t>High rate environment: KIBOR volatility makes ALM and FTP critical. Government securities yield significantly affects bank profitability.</a:t>
            </a:r>
            <a:endParaRPr/>
          </a:p>
          <a:p>
            <a:pPr indent="0" lvl="0" marL="0" rtl="0" algn="l">
              <a:spcBef>
                <a:spcPts val="400"/>
              </a:spcBef>
              <a:spcAft>
                <a:spcPts val="0"/>
              </a:spcAft>
              <a:buNone/>
            </a:pPr>
            <a:r>
              <a:rPr lang="en-GB" sz="1200"/>
              <a:t>Data challenges: treasury data spread across multiple systems (core banking, treasury management, market data). Need integrated view.</a:t>
            </a:r>
            <a:endParaRPr/>
          </a:p>
        </p:txBody>
      </p:sp>
      <p:sp>
        <p:nvSpPr>
          <p:cNvPr id="5104" name="Google Shape;5104;p25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2" name="Shape 5122"/>
        <p:cNvGrpSpPr/>
        <p:nvPr/>
      </p:nvGrpSpPr>
      <p:grpSpPr>
        <a:xfrm>
          <a:off x="0" y="0"/>
          <a:ext cx="0" cy="0"/>
          <a:chOff x="0" y="0"/>
          <a:chExt cx="0" cy="0"/>
        </a:xfrm>
      </p:grpSpPr>
      <p:sp>
        <p:nvSpPr>
          <p:cNvPr id="5123" name="Google Shape;5123;p25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Treasury Management — Assessment</a:t>
            </a:r>
            <a:endParaRPr/>
          </a:p>
          <a:p>
            <a:pPr indent="0" lvl="0" marL="0" rtl="0" algn="l">
              <a:spcBef>
                <a:spcPts val="400"/>
              </a:spcBef>
              <a:spcAft>
                <a:spcPts val="0"/>
              </a:spcAft>
              <a:buNone/>
            </a:pPr>
            <a:r>
              <a:rPr lang="en-GB" sz="1200"/>
              <a:t>Key Pakistan questions: Can you calculate intraday liquidity with RAAST impact? Can you produce matched-maturity FTP using KIBOR yield curve? Can you run ALM stress per SBP ICAAP? Can you model Islamic treasury instruments?</a:t>
            </a:r>
            <a:endParaRPr/>
          </a:p>
          <a:p>
            <a:pPr indent="0" lvl="0" marL="0" rtl="0" algn="l">
              <a:spcBef>
                <a:spcPts val="400"/>
              </a:spcBef>
              <a:spcAft>
                <a:spcPts val="0"/>
              </a:spcAft>
              <a:buNone/>
            </a:pPr>
            <a:r>
              <a:rPr lang="en-GB" sz="1200"/>
              <a:t>Most Pakistan banks: manual treasury reporting, end-of-day positions only, limited stress testing capability, flat KIBOR FTP.</a:t>
            </a:r>
            <a:endParaRPr/>
          </a:p>
        </p:txBody>
      </p:sp>
      <p:sp>
        <p:nvSpPr>
          <p:cNvPr id="5124" name="Google Shape;5124;p2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1" name="Shape 5131"/>
        <p:cNvGrpSpPr/>
        <p:nvPr/>
      </p:nvGrpSpPr>
      <p:grpSpPr>
        <a:xfrm>
          <a:off x="0" y="0"/>
          <a:ext cx="0" cy="0"/>
          <a:chOff x="0" y="0"/>
          <a:chExt cx="0" cy="0"/>
        </a:xfrm>
      </p:grpSpPr>
      <p:sp>
        <p:nvSpPr>
          <p:cNvPr id="5132" name="Google Shape;5132;p25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Treasury Management — How (Capabilities)</a:t>
            </a:r>
            <a:endParaRPr/>
          </a:p>
          <a:p>
            <a:pPr indent="0" lvl="0" marL="0" rtl="0" algn="l">
              <a:spcBef>
                <a:spcPts val="400"/>
              </a:spcBef>
              <a:spcAft>
                <a:spcPts val="0"/>
              </a:spcAft>
              <a:buNone/>
            </a:pPr>
            <a:r>
              <a:rPr lang="en-GB" sz="1200"/>
              <a:t>Pakistan capabilities needed: intraday liquidity monitoring (RAAST/RTGS), matched-maturity FTP (KIBOR yield curve), ALM automation (repricing gap, duration), stress testing per SBP ICAAP.</a:t>
            </a:r>
            <a:endParaRPr/>
          </a:p>
          <a:p>
            <a:pPr indent="0" lvl="0" marL="0" rtl="0" algn="l">
              <a:spcBef>
                <a:spcPts val="400"/>
              </a:spcBef>
              <a:spcAft>
                <a:spcPts val="0"/>
              </a:spcAft>
              <a:buNone/>
            </a:pPr>
            <a:r>
              <a:rPr lang="en-GB" sz="1200"/>
              <a:t>Islamic treasury capabilities: Sukuk portfolio management, Islamic interbank analytics, Shariah-compliant investment analysis.</a:t>
            </a:r>
            <a:endParaRPr/>
          </a:p>
          <a:p>
            <a:pPr indent="0" lvl="0" marL="0" rtl="0" algn="l">
              <a:spcBef>
                <a:spcPts val="400"/>
              </a:spcBef>
              <a:spcAft>
                <a:spcPts val="0"/>
              </a:spcAft>
              <a:buNone/>
            </a:pPr>
            <a:r>
              <a:rPr lang="en-GB" sz="1200"/>
              <a:t>FSDM enables: integrated view of all financial instruments, market data, counterparty exposure, and regulatory position.</a:t>
            </a:r>
            <a:endParaRPr/>
          </a:p>
        </p:txBody>
      </p:sp>
      <p:sp>
        <p:nvSpPr>
          <p:cNvPr id="5133" name="Google Shape;5133;p2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0" name="Shape 5140"/>
        <p:cNvGrpSpPr/>
        <p:nvPr/>
      </p:nvGrpSpPr>
      <p:grpSpPr>
        <a:xfrm>
          <a:off x="0" y="0"/>
          <a:ext cx="0" cy="0"/>
          <a:chOff x="0" y="0"/>
          <a:chExt cx="0" cy="0"/>
        </a:xfrm>
      </p:grpSpPr>
      <p:sp>
        <p:nvSpPr>
          <p:cNvPr id="5141" name="Google Shape;5141;p25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Value of Treasury Management</a:t>
            </a:r>
            <a:endParaRPr/>
          </a:p>
          <a:p>
            <a:pPr indent="0" lvl="0" marL="0" rtl="0" algn="l">
              <a:spcBef>
                <a:spcPts val="400"/>
              </a:spcBef>
              <a:spcAft>
                <a:spcPts val="0"/>
              </a:spcAft>
              <a:buNone/>
            </a:pPr>
            <a:r>
              <a:rPr lang="en-GB" sz="1200"/>
              <a:t>Pakistan value: SBP Basel III compliance (automated LCR/NSFR/CAR), real-time treasury dashboard, optimal HQLA management, risk-adjusted investment decisions.</a:t>
            </a:r>
            <a:endParaRPr/>
          </a:p>
          <a:p>
            <a:pPr indent="0" lvl="0" marL="0" rtl="0" algn="l">
              <a:spcBef>
                <a:spcPts val="400"/>
              </a:spcBef>
              <a:spcAft>
                <a:spcPts val="0"/>
              </a:spcAft>
              <a:buNone/>
            </a:pPr>
            <a:r>
              <a:rPr lang="en-GB" sz="1200"/>
              <a:t>Revenue impact: better rate risk management in KIBOR volatile environment, optimized government securities portfolio duration, improved FTP accuracy.</a:t>
            </a:r>
            <a:endParaRPr/>
          </a:p>
          <a:p>
            <a:pPr indent="0" lvl="0" marL="0" rtl="0" algn="l">
              <a:spcBef>
                <a:spcPts val="400"/>
              </a:spcBef>
              <a:spcAft>
                <a:spcPts val="0"/>
              </a:spcAft>
              <a:buNone/>
            </a:pPr>
            <a:r>
              <a:rPr lang="en-GB" sz="1200"/>
              <a:t>Cost reduction: automated regulatory reporting, reduced manual reconciliation, fewer SBP limit breaches.</a:t>
            </a:r>
            <a:endParaRPr/>
          </a:p>
        </p:txBody>
      </p:sp>
      <p:sp>
        <p:nvSpPr>
          <p:cNvPr id="5142" name="Google Shape;5142;p2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Cashflow Generation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Critical cashflow events: deposit maturities (PKR billions daily), govt securities (PIB coupon, T-Bill maturity, Sukuk distributions), SBP CRR/SLR, RAAST (PKR 50B+ daily), NIFT clearing.</a:t>
            </a:r>
            <a:endParaRPr/>
          </a:p>
          <a:p>
            <a:pPr indent="0" lvl="0" marL="0" rtl="0" algn="l">
              <a:spcBef>
                <a:spcPts val="400"/>
              </a:spcBef>
              <a:spcAft>
                <a:spcPts val="0"/>
              </a:spcAft>
              <a:buNone/>
            </a:pPr>
            <a:r>
              <a:rPr lang="en-GB" sz="1200"/>
              <a:t>Seasonal: Eid cash demand (2-3x normal), agricultural cycles, tax quarters, Ramadan charity.</a:t>
            </a:r>
            <a:endParaRPr/>
          </a:p>
          <a:p>
            <a:pPr indent="0" lvl="0" marL="0" rtl="0" algn="l">
              <a:spcBef>
                <a:spcPts val="400"/>
              </a:spcBef>
              <a:spcAft>
                <a:spcPts val="0"/>
              </a:spcAft>
              <a:buNone/>
            </a:pPr>
            <a:r>
              <a:rPr lang="en-GB" sz="1200"/>
              <a:t>Need: forecast PKR and FCY cashflows incorporating RAAST real-time settlement impact.</a:t>
            </a:r>
            <a:endParaRPr/>
          </a:p>
          <a:p>
            <a:pPr indent="0" lvl="0" marL="0" rtl="0" algn="l">
              <a:spcBef>
                <a:spcPts val="400"/>
              </a:spcBef>
              <a:spcAft>
                <a:spcPts val="0"/>
              </a:spcAft>
              <a:buNone/>
            </a:pPr>
            <a:r>
              <a:rPr lang="en-GB" sz="1200"/>
              <a:t>FSDM: CSHFLW, CSHFLW_FRCST, MTRTY, RPLMT, STLMNT, CRR, SLR</a:t>
            </a:r>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7" name="Shape 5177"/>
        <p:cNvGrpSpPr/>
        <p:nvPr/>
      </p:nvGrpSpPr>
      <p:grpSpPr>
        <a:xfrm>
          <a:off x="0" y="0"/>
          <a:ext cx="0" cy="0"/>
          <a:chOff x="0" y="0"/>
          <a:chExt cx="0" cy="0"/>
        </a:xfrm>
      </p:grpSpPr>
      <p:sp>
        <p:nvSpPr>
          <p:cNvPr id="5178" name="Google Shape;5178;p25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79" name="Google Shape;5179;p2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80" name="Google Shape;5180;p2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Cashflow Generation — Maturity Assessment</a:t>
            </a:r>
            <a:endParaRPr/>
          </a:p>
          <a:p>
            <a:pPr indent="0" lvl="0" marL="0" rtl="0" algn="l">
              <a:spcBef>
                <a:spcPts val="400"/>
              </a:spcBef>
              <a:spcAft>
                <a:spcPts val="0"/>
              </a:spcAft>
              <a:buNone/>
            </a:pPr>
            <a:r>
              <a:rPr lang="en-GB" sz="1200"/>
              <a:t>Current: Basic — contractual cashflows from core banking, limited forecasting. No RAAST intraday modeling.</a:t>
            </a:r>
            <a:endParaRPr/>
          </a:p>
          <a:p>
            <a:pPr indent="0" lvl="0" marL="0" rtl="0" algn="l">
              <a:spcBef>
                <a:spcPts val="400"/>
              </a:spcBef>
              <a:spcAft>
                <a:spcPts val="0"/>
              </a:spcAft>
              <a:buNone/>
            </a:pPr>
            <a:r>
              <a:rPr lang="en-GB" sz="1200"/>
              <a:t>Target: Developing — automated contractual + behavioral cashflow modeling with seasonal patterns and RAAST impact.</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Liquidity Management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SBP Basel III: LCR min 100% (banks typically 130-200% due to heavy govt securities), NSFR min 100%, intraday liquidity monitoring.</a:t>
            </a:r>
            <a:endParaRPr/>
          </a:p>
          <a:p>
            <a:pPr indent="0" lvl="0" marL="0" rtl="0" algn="l">
              <a:spcBef>
                <a:spcPts val="400"/>
              </a:spcBef>
              <a:spcAft>
                <a:spcPts val="0"/>
              </a:spcAft>
              <a:buNone/>
            </a:pPr>
            <a:r>
              <a:rPr lang="en-GB" sz="1200"/>
              <a:t>HQLA: Level 1 = cash + SBP balances + PIBs + T-Bills (0% haircut). Level 2A = rated corporate bonds (15%, limited market). Level 2B = very limited.</a:t>
            </a:r>
            <a:endParaRPr/>
          </a:p>
          <a:p>
            <a:pPr indent="0" lvl="0" marL="0" rtl="0" algn="l">
              <a:spcBef>
                <a:spcPts val="400"/>
              </a:spcBef>
              <a:spcAft>
                <a:spcPts val="0"/>
              </a:spcAft>
              <a:buNone/>
            </a:pPr>
            <a:r>
              <a:rPr lang="en-GB" sz="1200"/>
              <a:t>Challenge: high LCR driven by govt securities investment, not genuine liquidity management capability.</a:t>
            </a:r>
            <a:endParaRPr/>
          </a:p>
          <a:p>
            <a:pPr indent="0" lvl="0" marL="0" rtl="0" algn="l">
              <a:spcBef>
                <a:spcPts val="400"/>
              </a:spcBef>
              <a:spcAft>
                <a:spcPts val="0"/>
              </a:spcAft>
              <a:buNone/>
            </a:pPr>
            <a:r>
              <a:rPr lang="en-GB" sz="1200"/>
              <a:t>RAAST: real-time settlement creates intraday volatility — need monitoring capability.</a:t>
            </a:r>
            <a:endParaRPr/>
          </a:p>
          <a:p>
            <a:pPr indent="0" lvl="0" marL="0" rtl="0" algn="l">
              <a:spcBef>
                <a:spcPts val="400"/>
              </a:spcBef>
              <a:spcAft>
                <a:spcPts val="0"/>
              </a:spcAft>
              <a:buNone/>
            </a:pPr>
            <a:r>
              <a:rPr lang="en-GB" sz="1200"/>
              <a:t>FSDM: LQDTY, LCR, NSFR, HQLA, CSHFLW_STRSS, INTRA_DAY</a:t>
            </a:r>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9" name="Shape 5209"/>
        <p:cNvGrpSpPr/>
        <p:nvPr/>
      </p:nvGrpSpPr>
      <p:grpSpPr>
        <a:xfrm>
          <a:off x="0" y="0"/>
          <a:ext cx="0" cy="0"/>
          <a:chOff x="0" y="0"/>
          <a:chExt cx="0" cy="0"/>
        </a:xfrm>
      </p:grpSpPr>
      <p:sp>
        <p:nvSpPr>
          <p:cNvPr id="5210" name="Google Shape;5210;p2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11" name="Google Shape;5211;p2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12" name="Google Shape;5212;p2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Liquidity Management — Maturity Assessment</a:t>
            </a:r>
            <a:endParaRPr/>
          </a:p>
          <a:p>
            <a:pPr indent="0" lvl="0" marL="0" rtl="0" algn="l">
              <a:spcBef>
                <a:spcPts val="400"/>
              </a:spcBef>
              <a:spcAft>
                <a:spcPts val="0"/>
              </a:spcAft>
              <a:buNone/>
            </a:pPr>
            <a:r>
              <a:rPr lang="en-GB" sz="1200"/>
              <a:t>Current: Developing — LCR/NSFR calculated but often end-of-day. Limited stress testing capability.</a:t>
            </a:r>
            <a:endParaRPr/>
          </a:p>
          <a:p>
            <a:pPr indent="0" lvl="0" marL="0" rtl="0" algn="l">
              <a:spcBef>
                <a:spcPts val="400"/>
              </a:spcBef>
              <a:spcAft>
                <a:spcPts val="0"/>
              </a:spcAft>
              <a:buNone/>
            </a:pPr>
            <a:r>
              <a:rPr lang="en-GB" sz="1200"/>
              <a:t>Target: Practicing — real-time LCR/NSFR, intraday monitoring, automated stress scenarios, early warning system.</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Capital Planning and Management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SBP Basel III: CET1 6%, Tier 1 8.5%, Total CAR 11.5%, CCB 2.5%, D-SIB surcharge 1-2%. Effective minimum 14-16% for large banks.</a:t>
            </a:r>
            <a:endParaRPr/>
          </a:p>
          <a:p>
            <a:pPr indent="0" lvl="0" marL="0" rtl="0" algn="l">
              <a:spcBef>
                <a:spcPts val="400"/>
              </a:spcBef>
              <a:spcAft>
                <a:spcPts val="0"/>
              </a:spcAft>
              <a:buNone/>
            </a:pPr>
            <a:r>
              <a:rPr lang="en-GB" sz="1200"/>
              <a:t>ICAAP: annual SBP submission with stress scenarios (GDP decline, PKR depreciation, rate shock, credit quality). 3-year forward projection required.</a:t>
            </a:r>
            <a:endParaRPr/>
          </a:p>
          <a:p>
            <a:pPr indent="0" lvl="0" marL="0" rtl="0" algn="l">
              <a:spcBef>
                <a:spcPts val="400"/>
              </a:spcBef>
              <a:spcAft>
                <a:spcPts val="0"/>
              </a:spcAft>
              <a:buNone/>
            </a:pPr>
            <a:r>
              <a:rPr lang="en-GB" sz="1200"/>
              <a:t>Capital allocation to business lines for RAROC. SBP minimum paid-up capital requirements periodically increased (last: PKR 10B).</a:t>
            </a:r>
            <a:endParaRPr/>
          </a:p>
          <a:p>
            <a:pPr indent="0" lvl="0" marL="0" rtl="0" algn="l">
              <a:spcBef>
                <a:spcPts val="400"/>
              </a:spcBef>
              <a:spcAft>
                <a:spcPts val="0"/>
              </a:spcAft>
              <a:buNone/>
            </a:pPr>
            <a:r>
              <a:rPr lang="en-GB" sz="1200"/>
              <a:t>FSDM: CAR, CET1, TIER1, RWA, ICAAP, RAROC, CAP_ALLCTN</a:t>
            </a:r>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1" name="Shape 5241"/>
        <p:cNvGrpSpPr/>
        <p:nvPr/>
      </p:nvGrpSpPr>
      <p:grpSpPr>
        <a:xfrm>
          <a:off x="0" y="0"/>
          <a:ext cx="0" cy="0"/>
          <a:chOff x="0" y="0"/>
          <a:chExt cx="0" cy="0"/>
        </a:xfrm>
      </p:grpSpPr>
      <p:sp>
        <p:nvSpPr>
          <p:cNvPr id="5242" name="Google Shape;5242;p26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43" name="Google Shape;5243;p2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44" name="Google Shape;5244;p2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Capital Planning and Management — Maturity Assessment</a:t>
            </a:r>
            <a:endParaRPr/>
          </a:p>
          <a:p>
            <a:pPr indent="0" lvl="0" marL="0" rtl="0" algn="l">
              <a:spcBef>
                <a:spcPts val="400"/>
              </a:spcBef>
              <a:spcAft>
                <a:spcPts val="0"/>
              </a:spcAft>
              <a:buNone/>
            </a:pPr>
            <a:r>
              <a:rPr lang="en-GB" sz="1200"/>
              <a:t>Current: Developing — CAR calculated quarterly, ICAAP submitted annually. Limited business line capital allocation.</a:t>
            </a:r>
            <a:endParaRPr/>
          </a:p>
          <a:p>
            <a:pPr indent="0" lvl="0" marL="0" rtl="0" algn="l">
              <a:spcBef>
                <a:spcPts val="400"/>
              </a:spcBef>
              <a:spcAft>
                <a:spcPts val="0"/>
              </a:spcAft>
              <a:buNone/>
            </a:pPr>
            <a:r>
              <a:rPr lang="en-GB" sz="1200"/>
              <a:t>Target: Practicing — automated CAR monitoring, ICAAP stress automation, RAROC-based allocation to business lines.</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Asset &amp; Liability Management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Key ALM challenge: high proportion of KIBOR-linked assets vs. mixed fixed/floating liabilities. Rate sensitivity: NII impact of +/-100-300 bps changes.</a:t>
            </a:r>
            <a:endParaRPr/>
          </a:p>
          <a:p>
            <a:pPr indent="0" lvl="0" marL="0" rtl="0" algn="l">
              <a:spcBef>
                <a:spcPts val="400"/>
              </a:spcBef>
              <a:spcAft>
                <a:spcPts val="0"/>
              </a:spcAft>
              <a:buNone/>
            </a:pPr>
            <a:r>
              <a:rPr lang="en-GB" sz="1200"/>
              <a:t>Government securities portfolio: PIB duration management critical for EVE risk. Most banks hold PKR trillions in govt securities.</a:t>
            </a:r>
            <a:endParaRPr/>
          </a:p>
          <a:p>
            <a:pPr indent="0" lvl="0" marL="0" rtl="0" algn="l">
              <a:spcBef>
                <a:spcPts val="400"/>
              </a:spcBef>
              <a:spcAft>
                <a:spcPts val="0"/>
              </a:spcAft>
              <a:buNone/>
            </a:pPr>
            <a:r>
              <a:rPr lang="en-GB" sz="1200"/>
              <a:t>Repricing gap analysis with KIBOR-linked matching. SBP ICAAP requires IRRBB (Interest Rate Risk in the Banking Book) quantification.</a:t>
            </a:r>
            <a:endParaRPr/>
          </a:p>
          <a:p>
            <a:pPr indent="0" lvl="0" marL="0" rtl="0" algn="l">
              <a:spcBef>
                <a:spcPts val="400"/>
              </a:spcBef>
              <a:spcAft>
                <a:spcPts val="0"/>
              </a:spcAft>
              <a:buNone/>
            </a:pPr>
            <a:r>
              <a:rPr lang="en-GB" sz="1200"/>
              <a:t>FSDM: ALM, RPRCING_GAP, DRTN, EVE, NII_SNSTVTY, IRRBB</a:t>
            </a:r>
            <a:endParaRPr/>
          </a:p>
        </p:txBody>
      </p:sp>
    </p:spTree>
  </p:cSld>
  <p:clrMapOvr>
    <a:masterClrMapping/>
  </p:clrMapOvr>
</p:notes>
</file>

<file path=ppt/notesSlides/notesSlide2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3" name="Shape 5273"/>
        <p:cNvGrpSpPr/>
        <p:nvPr/>
      </p:nvGrpSpPr>
      <p:grpSpPr>
        <a:xfrm>
          <a:off x="0" y="0"/>
          <a:ext cx="0" cy="0"/>
          <a:chOff x="0" y="0"/>
          <a:chExt cx="0" cy="0"/>
        </a:xfrm>
      </p:grpSpPr>
      <p:sp>
        <p:nvSpPr>
          <p:cNvPr id="5274" name="Google Shape;5274;p2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75" name="Google Shape;5275;p2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76" name="Google Shape;5276;p2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Asset &amp; Liability Management — Maturity Assessment</a:t>
            </a:r>
            <a:endParaRPr/>
          </a:p>
          <a:p>
            <a:pPr indent="0" lvl="0" marL="0" rtl="0" algn="l">
              <a:spcBef>
                <a:spcPts val="400"/>
              </a:spcBef>
              <a:spcAft>
                <a:spcPts val="0"/>
              </a:spcAft>
              <a:buNone/>
            </a:pPr>
            <a:r>
              <a:rPr lang="en-GB" sz="1200"/>
              <a:t>Current: Developing — basic repricing gap analysis, manual duration calculations. Limited scenario analysis.</a:t>
            </a:r>
            <a:endParaRPr/>
          </a:p>
          <a:p>
            <a:pPr indent="0" lvl="0" marL="0" rtl="0" algn="l">
              <a:spcBef>
                <a:spcPts val="400"/>
              </a:spcBef>
              <a:spcAft>
                <a:spcPts val="0"/>
              </a:spcAft>
              <a:buNone/>
            </a:pPr>
            <a:r>
              <a:rPr lang="en-GB" sz="1200"/>
              <a:t>Target: Practicing — automated ALM with multiple rate scenarios, EVE/NII sensitivity, stress testing per SBP ICAAP.</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Funds Transfer Pricing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Current state: most Pakistan banks use flat KIBOR rate for FTP. ~30% use any form of yield-curve based FTP.</a:t>
            </a:r>
            <a:endParaRPr/>
          </a:p>
          <a:p>
            <a:pPr indent="0" lvl="0" marL="0" rtl="0" algn="l">
              <a:spcBef>
                <a:spcPts val="400"/>
              </a:spcBef>
              <a:spcAft>
                <a:spcPts val="0"/>
              </a:spcAft>
              <a:buNone/>
            </a:pPr>
            <a:r>
              <a:rPr lang="en-GB" sz="1200"/>
              <a:t>Target: matched-maturity FTP using KIBOR yield curve (1M, 3M, 6M, 12M). FTP covers deposits, advances, investments, off-balance sheet.</a:t>
            </a:r>
            <a:endParaRPr/>
          </a:p>
          <a:p>
            <a:pPr indent="0" lvl="0" marL="0" rtl="0" algn="l">
              <a:spcBef>
                <a:spcPts val="400"/>
              </a:spcBef>
              <a:spcAft>
                <a:spcPts val="0"/>
              </a:spcAft>
              <a:buNone/>
            </a:pPr>
            <a:r>
              <a:rPr lang="en-GB" sz="1200"/>
              <a:t>Islamic FTP: profit-sharing pool mechanism separate from interest-based — different economics require different FTP methodology.</a:t>
            </a:r>
            <a:endParaRPr/>
          </a:p>
          <a:p>
            <a:pPr indent="0" lvl="0" marL="0" rtl="0" algn="l">
              <a:spcBef>
                <a:spcPts val="400"/>
              </a:spcBef>
              <a:spcAft>
                <a:spcPts val="0"/>
              </a:spcAft>
              <a:buNone/>
            </a:pPr>
            <a:r>
              <a:rPr lang="en-GB" sz="1200"/>
              <a:t>CASA value: FTP credit on zero/low-cost deposits deployed at KIBOR+ reveals true CASA contribution to profitability.</a:t>
            </a:r>
            <a:endParaRPr/>
          </a:p>
          <a:p>
            <a:pPr indent="0" lvl="0" marL="0" rtl="0" algn="l">
              <a:spcBef>
                <a:spcPts val="400"/>
              </a:spcBef>
              <a:spcAft>
                <a:spcPts val="0"/>
              </a:spcAft>
              <a:buNone/>
            </a:pPr>
            <a:r>
              <a:rPr lang="en-GB" sz="1200"/>
              <a:t>FTP is prerequisite for: product profitability, branch P&amp;L, business line profitability, customer profitability.</a:t>
            </a:r>
            <a:endParaRPr/>
          </a:p>
          <a:p>
            <a:pPr indent="0" lvl="0" marL="0" rtl="0" algn="l">
              <a:spcBef>
                <a:spcPts val="400"/>
              </a:spcBef>
              <a:spcAft>
                <a:spcPts val="0"/>
              </a:spcAft>
              <a:buNone/>
            </a:pPr>
            <a:r>
              <a:rPr lang="en-GB" sz="1200"/>
              <a:t>FSDM: FTP, FTP_RT, FTP_ADJ, YILD_CRV, KIBOR, DPST_FTP, ADV_FTP</a:t>
            </a:r>
            <a:endParaRPr/>
          </a:p>
        </p:txBody>
      </p:sp>
    </p:spTree>
  </p:cSld>
  <p:clrMapOvr>
    <a:masterClrMapping/>
  </p:clrMapOvr>
</p:notes>
</file>

<file path=ppt/notesSlides/notesSlide2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5" name="Shape 5305"/>
        <p:cNvGrpSpPr/>
        <p:nvPr/>
      </p:nvGrpSpPr>
      <p:grpSpPr>
        <a:xfrm>
          <a:off x="0" y="0"/>
          <a:ext cx="0" cy="0"/>
          <a:chOff x="0" y="0"/>
          <a:chExt cx="0" cy="0"/>
        </a:xfrm>
      </p:grpSpPr>
      <p:sp>
        <p:nvSpPr>
          <p:cNvPr id="5306" name="Google Shape;5306;p2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07" name="Google Shape;5307;p2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08" name="Google Shape;5308;p2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Funds Transfer Pricing — Maturity Assessment</a:t>
            </a:r>
            <a:endParaRPr/>
          </a:p>
          <a:p>
            <a:pPr indent="0" lvl="0" marL="0" rtl="0" algn="l">
              <a:spcBef>
                <a:spcPts val="400"/>
              </a:spcBef>
              <a:spcAft>
                <a:spcPts val="0"/>
              </a:spcAft>
              <a:buNone/>
            </a:pPr>
            <a:r>
              <a:rPr lang="en-GB" sz="1200"/>
              <a:t>Current: Basic/Absent — most banks use flat KIBOR. No matched-maturity FTP.</a:t>
            </a:r>
            <a:endParaRPr/>
          </a:p>
          <a:p>
            <a:pPr indent="0" lvl="0" marL="0" rtl="0" algn="l">
              <a:spcBef>
                <a:spcPts val="400"/>
              </a:spcBef>
              <a:spcAft>
                <a:spcPts val="0"/>
              </a:spcAft>
              <a:buNone/>
            </a:pPr>
            <a:r>
              <a:rPr lang="en-GB" sz="1200"/>
              <a:t>Target: Practicing — yield-curve based FTP engine with daily rates, covering all balance sheet items.</a:t>
            </a:r>
            <a:endParaRPr/>
          </a:p>
          <a:p>
            <a:pPr indent="0" lvl="0" marL="0" rtl="0" algn="l">
              <a:spcBef>
                <a:spcPts val="400"/>
              </a:spcBef>
              <a:spcAft>
                <a:spcPts val="0"/>
              </a:spcAft>
              <a:buNone/>
            </a:pPr>
            <a:r>
              <a:rPr lang="en-GB" sz="1200"/>
              <a:t>Priority: implement matched-maturity FTP, Islamic FTP pool mechanism, CASA value quantification.</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FX &amp; Trading Book Management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SBP: open FX position limits (intraday and overnight). Breach attracts penalties. PKR/USD is primary pair, with PKR/EUR, PKR/GBP, PKR/AED significant.</a:t>
            </a:r>
            <a:endParaRPr/>
          </a:p>
          <a:p>
            <a:pPr indent="0" lvl="0" marL="0" rtl="0" algn="l">
              <a:spcBef>
                <a:spcPts val="400"/>
              </a:spcBef>
              <a:spcAft>
                <a:spcPts val="0"/>
              </a:spcAft>
              <a:buNone/>
            </a:pPr>
            <a:r>
              <a:rPr lang="en-GB" sz="1200"/>
              <a:t>PKR volatility creates both opportunity and risk. Banks need real-time position monitoring.</a:t>
            </a:r>
            <a:endParaRPr/>
          </a:p>
          <a:p>
            <a:pPr indent="0" lvl="0" marL="0" rtl="0" algn="l">
              <a:spcBef>
                <a:spcPts val="400"/>
              </a:spcBef>
              <a:spcAft>
                <a:spcPts val="0"/>
              </a:spcAft>
              <a:buNone/>
            </a:pPr>
            <a:r>
              <a:rPr lang="en-GB" sz="1200"/>
              <a:t>Trading book: VaR and stress testing per SBP market risk guidelines. Government securities trading P&amp;L is significant income source.</a:t>
            </a:r>
            <a:endParaRPr/>
          </a:p>
          <a:p>
            <a:pPr indent="0" lvl="0" marL="0" rtl="0" algn="l">
              <a:spcBef>
                <a:spcPts val="400"/>
              </a:spcBef>
              <a:spcAft>
                <a:spcPts val="0"/>
              </a:spcAft>
              <a:buNone/>
            </a:pPr>
            <a:r>
              <a:rPr lang="en-GB" sz="1200"/>
              <a:t>FSDM: FX_PSTN, TRDNG_BK, VAR, MKT_RSK, FX_PL</a:t>
            </a:r>
            <a:endParaRPr/>
          </a:p>
        </p:txBody>
      </p:sp>
    </p:spTree>
  </p:cSld>
  <p:clrMapOvr>
    <a:masterClrMapping/>
  </p:clrMapOvr>
</p:notes>
</file>

<file path=ppt/notesSlides/notesSlide2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7" name="Shape 5337"/>
        <p:cNvGrpSpPr/>
        <p:nvPr/>
      </p:nvGrpSpPr>
      <p:grpSpPr>
        <a:xfrm>
          <a:off x="0" y="0"/>
          <a:ext cx="0" cy="0"/>
          <a:chOff x="0" y="0"/>
          <a:chExt cx="0" cy="0"/>
        </a:xfrm>
      </p:grpSpPr>
      <p:sp>
        <p:nvSpPr>
          <p:cNvPr id="5338" name="Google Shape;5338;p2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39" name="Google Shape;5339;p2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40" name="Google Shape;5340;p2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FX &amp; Trading Book Management — Maturity Assessment</a:t>
            </a:r>
            <a:endParaRPr/>
          </a:p>
          <a:p>
            <a:pPr indent="0" lvl="0" marL="0" rtl="0" algn="l">
              <a:spcBef>
                <a:spcPts val="400"/>
              </a:spcBef>
              <a:spcAft>
                <a:spcPts val="0"/>
              </a:spcAft>
              <a:buNone/>
            </a:pPr>
            <a:r>
              <a:rPr lang="en-GB" sz="1200"/>
              <a:t>Current: Developing — FX position monitored but often not real-time. VaR calculated but limited stress testing.</a:t>
            </a:r>
            <a:endParaRPr/>
          </a:p>
          <a:p>
            <a:pPr indent="0" lvl="0" marL="0" rtl="0" algn="l">
              <a:spcBef>
                <a:spcPts val="400"/>
              </a:spcBef>
              <a:spcAft>
                <a:spcPts val="0"/>
              </a:spcAft>
              <a:buNone/>
            </a:pPr>
            <a:r>
              <a:rPr lang="en-GB" sz="1200"/>
              <a:t>Target: Practicing — real-time FX monitoring, automated VaR, stress testing, P&amp;L attribution.</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Interest (Risk) Rate Management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KIBOR environment: volatile, with significant impact on bank NII. SBP policy rate changes (often 100-200 bps at a time) create large NII swings.</a:t>
            </a:r>
            <a:endParaRPr/>
          </a:p>
          <a:p>
            <a:pPr indent="0" lvl="0" marL="0" rtl="0" algn="l">
              <a:spcBef>
                <a:spcPts val="400"/>
              </a:spcBef>
              <a:spcAft>
                <a:spcPts val="0"/>
              </a:spcAft>
              <a:buNone/>
            </a:pPr>
            <a:r>
              <a:rPr lang="en-GB" sz="1200"/>
              <a:t>Banking book IRRBB: EVE and NII sensitivity per SBP requirements. Need scenario analysis under multiple rate paths.</a:t>
            </a:r>
            <a:endParaRPr/>
          </a:p>
          <a:p>
            <a:pPr indent="0" lvl="0" marL="0" rtl="0" algn="l">
              <a:spcBef>
                <a:spcPts val="400"/>
              </a:spcBef>
              <a:spcAft>
                <a:spcPts val="0"/>
              </a:spcAft>
              <a:buNone/>
            </a:pPr>
            <a:r>
              <a:rPr lang="en-GB" sz="1200"/>
              <a:t>Basis risk: KIBOR vs. SBP policy rate vs. deposit rate — spreads between these rates fluctuate.</a:t>
            </a:r>
            <a:endParaRPr/>
          </a:p>
          <a:p>
            <a:pPr indent="0" lvl="0" marL="0" rtl="0" algn="l">
              <a:spcBef>
                <a:spcPts val="400"/>
              </a:spcBef>
              <a:spcAft>
                <a:spcPts val="0"/>
              </a:spcAft>
              <a:buNone/>
            </a:pPr>
            <a:r>
              <a:rPr lang="en-GB" sz="1200"/>
              <a:t>FSDM: INTR_RT, KIBOR, IRRBB, EVE, NII_SNSTVTY, BSS_RSK, RT_SCNRO</a:t>
            </a:r>
            <a:endParaRPr/>
          </a:p>
        </p:txBody>
      </p:sp>
    </p:spTree>
  </p:cSld>
  <p:clrMapOvr>
    <a:masterClrMapping/>
  </p:clrMapOvr>
</p:notes>
</file>

<file path=ppt/notesSlides/notesSlide2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9" name="Shape 5369"/>
        <p:cNvGrpSpPr/>
        <p:nvPr/>
      </p:nvGrpSpPr>
      <p:grpSpPr>
        <a:xfrm>
          <a:off x="0" y="0"/>
          <a:ext cx="0" cy="0"/>
          <a:chOff x="0" y="0"/>
          <a:chExt cx="0" cy="0"/>
        </a:xfrm>
      </p:grpSpPr>
      <p:sp>
        <p:nvSpPr>
          <p:cNvPr id="5370" name="Google Shape;5370;p2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71" name="Google Shape;5371;p2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72" name="Google Shape;5372;p2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Interest (Risk) Rate Management — Maturity Assessment</a:t>
            </a:r>
            <a:endParaRPr/>
          </a:p>
          <a:p>
            <a:pPr indent="0" lvl="0" marL="0" rtl="0" algn="l">
              <a:spcBef>
                <a:spcPts val="400"/>
              </a:spcBef>
              <a:spcAft>
                <a:spcPts val="0"/>
              </a:spcAft>
              <a:buNone/>
            </a:pPr>
            <a:r>
              <a:rPr lang="en-GB" sz="1200"/>
              <a:t>Current: Developing — basic rate sensitivity analysis. Limited forward-looking scenario modeling.</a:t>
            </a:r>
            <a:endParaRPr/>
          </a:p>
          <a:p>
            <a:pPr indent="0" lvl="0" marL="0" rtl="0" algn="l">
              <a:spcBef>
                <a:spcPts val="400"/>
              </a:spcBef>
              <a:spcAft>
                <a:spcPts val="0"/>
              </a:spcAft>
              <a:buNone/>
            </a:pPr>
            <a:r>
              <a:rPr lang="en-GB" sz="1200"/>
              <a:t>Target: Practicing — automated IRRBB reporting, multiple rate scenario analysis, proactive rate risk management.</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Financial Reporting — Section Overview</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Pakistan banks produce 30+ SBP statutory returns (WSP weekly, MSA monthly, QFS quarterly, annual audited) — largely manual, consuming significant finance team bandwidth.</a:t>
            </a:r>
            <a:endParaRPr/>
          </a:p>
          <a:p>
            <a:pPr indent="0" lvl="0" marL="0" rtl="0" algn="l">
              <a:spcBef>
                <a:spcPts val="400"/>
              </a:spcBef>
              <a:spcAft>
                <a:spcPts val="0"/>
              </a:spcAft>
              <a:buNone/>
            </a:pPr>
            <a:r>
              <a:rPr lang="en-GB" sz="1200"/>
              <a:t>IFRS 9: ECL reporting mandated — quarterly Note 10 disclosure with Stage 1/2/3 movement. Data quality challenges persist.</a:t>
            </a:r>
            <a:endParaRPr/>
          </a:p>
          <a:p>
            <a:pPr indent="0" lvl="0" marL="0" rtl="0" algn="l">
              <a:spcBef>
                <a:spcPts val="400"/>
              </a:spcBef>
              <a:spcAft>
                <a:spcPts val="0"/>
              </a:spcAft>
              <a:buNone/>
            </a:pPr>
            <a:r>
              <a:rPr lang="en-GB" sz="1200"/>
              <a:t>SECP/PSX: quarterly and annual IFRS financial statements. 15+ listed banks require timely disclosure.</a:t>
            </a:r>
            <a:endParaRPr/>
          </a:p>
          <a:p>
            <a:pPr indent="0" lvl="0" marL="0" rtl="0" algn="l">
              <a:spcBef>
                <a:spcPts val="400"/>
              </a:spcBef>
              <a:spcAft>
                <a:spcPts val="0"/>
              </a:spcAft>
              <a:buNone/>
            </a:pPr>
            <a:r>
              <a:rPr lang="en-GB" sz="1200"/>
              <a:t>External auditors (Big 4 + local firms): increasing granularity demands — data warehouse enables faster audit.</a:t>
            </a:r>
            <a:endParaRPr/>
          </a:p>
          <a:p>
            <a:pPr indent="0" lvl="0" marL="0" rtl="0" algn="l">
              <a:spcBef>
                <a:spcPts val="400"/>
              </a:spcBef>
              <a:spcAft>
                <a:spcPts val="0"/>
              </a:spcAft>
              <a:buNone/>
            </a:pPr>
            <a:r>
              <a:rPr lang="en-GB" sz="1200"/>
              <a:t>Islamic banking: dual reporting — IFRS financial statements + AAOIFI supplementary disclosures.</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3" name="Shape 5393"/>
        <p:cNvGrpSpPr/>
        <p:nvPr/>
      </p:nvGrpSpPr>
      <p:grpSpPr>
        <a:xfrm>
          <a:off x="0" y="0"/>
          <a:ext cx="0" cy="0"/>
          <a:chOff x="0" y="0"/>
          <a:chExt cx="0" cy="0"/>
        </a:xfrm>
      </p:grpSpPr>
      <p:sp>
        <p:nvSpPr>
          <p:cNvPr id="5394" name="Google Shape;5394;p2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5" name="Google Shape;5395;p2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Financial Reporting — Challenges</a:t>
            </a:r>
            <a:endParaRPr/>
          </a:p>
          <a:p>
            <a:pPr indent="0" lvl="0" marL="0" rtl="0" algn="l">
              <a:spcBef>
                <a:spcPts val="400"/>
              </a:spcBef>
              <a:spcAft>
                <a:spcPts val="0"/>
              </a:spcAft>
              <a:buNone/>
            </a:pPr>
            <a:r>
              <a:rPr lang="en-GB" sz="1200"/>
              <a:t>Pakistan: 30+ manual SBP returns, IFRS 9 ECL complexity, SECP/PSX disclosure timelines, dual IFRS/AAOIFI for Islamic banking.</a:t>
            </a:r>
            <a:endParaRPr/>
          </a:p>
          <a:p>
            <a:pPr indent="0" lvl="0" marL="0" rtl="0" algn="l">
              <a:spcBef>
                <a:spcPts val="400"/>
              </a:spcBef>
              <a:spcAft>
                <a:spcPts val="0"/>
              </a:spcAft>
              <a:buNone/>
            </a:pPr>
            <a:r>
              <a:rPr lang="en-GB" sz="1200"/>
              <a:t>Finance teams spend 80%+ time on data extraction and validation, not analysis. Month-end close takes 15-20+ days.</a:t>
            </a:r>
            <a:endParaRPr/>
          </a:p>
          <a:p>
            <a:pPr indent="0" lvl="0" marL="0" rtl="0" algn="l">
              <a:spcBef>
                <a:spcPts val="400"/>
              </a:spcBef>
              <a:spcAft>
                <a:spcPts val="0"/>
              </a:spcAft>
              <a:buNone/>
            </a:pPr>
            <a:r>
              <a:rPr lang="en-GB" sz="1200"/>
              <a:t>Data from core banking, GL, treasury, risk systems needs reconciliation before reporting.</a:t>
            </a:r>
            <a:endParaRPr/>
          </a:p>
        </p:txBody>
      </p:sp>
      <p:sp>
        <p:nvSpPr>
          <p:cNvPr id="5396" name="Google Shape;5396;p27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4" name="Shape 5414"/>
        <p:cNvGrpSpPr/>
        <p:nvPr/>
      </p:nvGrpSpPr>
      <p:grpSpPr>
        <a:xfrm>
          <a:off x="0" y="0"/>
          <a:ext cx="0" cy="0"/>
          <a:chOff x="0" y="0"/>
          <a:chExt cx="0" cy="0"/>
        </a:xfrm>
      </p:grpSpPr>
      <p:sp>
        <p:nvSpPr>
          <p:cNvPr id="5415" name="Google Shape;5415;p27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Financial Reporting — Assessment</a:t>
            </a:r>
            <a:endParaRPr/>
          </a:p>
          <a:p>
            <a:pPr indent="0" lvl="0" marL="0" rtl="0" algn="l">
              <a:spcBef>
                <a:spcPts val="400"/>
              </a:spcBef>
              <a:spcAft>
                <a:spcPts val="0"/>
              </a:spcAft>
              <a:buNone/>
            </a:pPr>
            <a:r>
              <a:rPr lang="en-GB" sz="1200"/>
              <a:t>Pakistan-specific: Can you automate SBP returns from data warehouse? Produce IFRS 9 ECL with stage movement? Generate dual IFRS/AAOIFI? Close within 5 days?</a:t>
            </a:r>
            <a:endParaRPr/>
          </a:p>
          <a:p>
            <a:pPr indent="0" lvl="0" marL="0" rtl="0" algn="l">
              <a:spcBef>
                <a:spcPts val="400"/>
              </a:spcBef>
              <a:spcAft>
                <a:spcPts val="0"/>
              </a:spcAft>
              <a:buNone/>
            </a:pPr>
            <a:r>
              <a:rPr lang="en-GB" sz="1200"/>
              <a:t>Most banks: manual returns, Excel-based consolidation, limited automation, slow close cycle.</a:t>
            </a:r>
            <a:endParaRPr/>
          </a:p>
        </p:txBody>
      </p:sp>
      <p:sp>
        <p:nvSpPr>
          <p:cNvPr id="5416" name="Google Shape;5416;p2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3" name="Shape 5423"/>
        <p:cNvGrpSpPr/>
        <p:nvPr/>
      </p:nvGrpSpPr>
      <p:grpSpPr>
        <a:xfrm>
          <a:off x="0" y="0"/>
          <a:ext cx="0" cy="0"/>
          <a:chOff x="0" y="0"/>
          <a:chExt cx="0" cy="0"/>
        </a:xfrm>
      </p:grpSpPr>
      <p:sp>
        <p:nvSpPr>
          <p:cNvPr id="5424" name="Google Shape;5424;p27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Financial Reporting — How (Capabilities)</a:t>
            </a:r>
            <a:endParaRPr/>
          </a:p>
          <a:p>
            <a:pPr indent="0" lvl="0" marL="0" rtl="0" algn="l">
              <a:spcBef>
                <a:spcPts val="400"/>
              </a:spcBef>
              <a:spcAft>
                <a:spcPts val="0"/>
              </a:spcAft>
              <a:buNone/>
            </a:pPr>
            <a:r>
              <a:rPr lang="en-GB" sz="1200"/>
              <a:t>Pakistan capabilities: automated SBP statutory reporting, IFRS 9 ECL engine, SECP/PSX disclosure, dual IFRS/AAOIFI framework, external auditor data access.</a:t>
            </a:r>
            <a:endParaRPr/>
          </a:p>
          <a:p>
            <a:pPr indent="0" lvl="0" marL="0" rtl="0" algn="l">
              <a:spcBef>
                <a:spcPts val="400"/>
              </a:spcBef>
              <a:spcAft>
                <a:spcPts val="0"/>
              </a:spcAft>
              <a:buNone/>
            </a:pPr>
            <a:r>
              <a:rPr lang="en-GB" sz="1200"/>
              <a:t>FSDM enables: single source of truth for all financial data, full audit trail, automated report generation.</a:t>
            </a:r>
            <a:endParaRPr/>
          </a:p>
        </p:txBody>
      </p:sp>
      <p:sp>
        <p:nvSpPr>
          <p:cNvPr id="5425" name="Google Shape;5425;p2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2" name="Shape 5432"/>
        <p:cNvGrpSpPr/>
        <p:nvPr/>
      </p:nvGrpSpPr>
      <p:grpSpPr>
        <a:xfrm>
          <a:off x="0" y="0"/>
          <a:ext cx="0" cy="0"/>
          <a:chOff x="0" y="0"/>
          <a:chExt cx="0" cy="0"/>
        </a:xfrm>
      </p:grpSpPr>
      <p:sp>
        <p:nvSpPr>
          <p:cNvPr id="5433" name="Google Shape;5433;p27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Value of Financial Reporting</a:t>
            </a:r>
            <a:endParaRPr/>
          </a:p>
          <a:p>
            <a:pPr indent="0" lvl="0" marL="0" rtl="0" algn="l">
              <a:spcBef>
                <a:spcPts val="400"/>
              </a:spcBef>
              <a:spcAft>
                <a:spcPts val="0"/>
              </a:spcAft>
              <a:buNone/>
            </a:pPr>
            <a:r>
              <a:rPr lang="en-GB" sz="1200"/>
              <a:t>Pakistan value: automate 30+ SBP returns (save months of effort), IFRS 9 accuracy (reduce provision volatility), faster close cycle, auditor-ready data.</a:t>
            </a:r>
            <a:endParaRPr/>
          </a:p>
          <a:p>
            <a:pPr indent="0" lvl="0" marL="0" rtl="0" algn="l">
              <a:spcBef>
                <a:spcPts val="400"/>
              </a:spcBef>
              <a:spcAft>
                <a:spcPts val="0"/>
              </a:spcAft>
              <a:buNone/>
            </a:pPr>
            <a:r>
              <a:rPr lang="en-GB" sz="1200"/>
              <a:t>Strategic: trustworthy data enables better decisions, regulatory compliance reduces risk, transparency improves market confidence.</a:t>
            </a:r>
            <a:endParaRPr/>
          </a:p>
        </p:txBody>
      </p:sp>
      <p:sp>
        <p:nvSpPr>
          <p:cNvPr id="5434" name="Google Shape;5434;p2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Statutory Financial Reporting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IFRS-compliant quarterly and annual financial statements per SBP/SECP/IFRS. Balance sheet, P&amp;L, cashflow, changes in equity, and all IFRS notes.</a:t>
            </a:r>
            <a:endParaRPr/>
          </a:p>
          <a:p>
            <a:pPr indent="0" lvl="0" marL="0" rtl="0" algn="l">
              <a:spcBef>
                <a:spcPts val="400"/>
              </a:spcBef>
              <a:spcAft>
                <a:spcPts val="0"/>
              </a:spcAft>
              <a:buNone/>
            </a:pPr>
            <a:r>
              <a:rPr lang="en-GB" sz="1200"/>
              <a:t>Dual reporting: conventional IFRS + AAOIFI supplementary for Islamic banking windows.</a:t>
            </a:r>
            <a:endParaRPr/>
          </a:p>
          <a:p>
            <a:pPr indent="0" lvl="0" marL="0" rtl="0" algn="l">
              <a:spcBef>
                <a:spcPts val="400"/>
              </a:spcBef>
              <a:spcAft>
                <a:spcPts val="0"/>
              </a:spcAft>
              <a:buNone/>
            </a:pPr>
            <a:r>
              <a:rPr lang="en-GB" sz="1200"/>
              <a:t>Group consolidation: banking subsidiaries, insurance, asset management, brokerage — intercompany elimination.</a:t>
            </a:r>
            <a:endParaRPr/>
          </a:p>
          <a:p>
            <a:pPr indent="0" lvl="0" marL="0" rtl="0" algn="l">
              <a:spcBef>
                <a:spcPts val="400"/>
              </a:spcBef>
              <a:spcAft>
                <a:spcPts val="0"/>
              </a:spcAft>
              <a:buNone/>
            </a:pPr>
            <a:r>
              <a:rPr lang="en-GB" sz="1200"/>
              <a:t>FSDM: GL, SUB_LDGR, CSTMR, PRDCT, TXN — full audit trail from financial statement to source.</a:t>
            </a:r>
            <a:endParaRPr/>
          </a:p>
        </p:txBody>
      </p:sp>
    </p:spTree>
  </p:cSld>
  <p:clrMapOvr>
    <a:masterClrMapping/>
  </p:clrMapOvr>
</p:notes>
</file>

<file path=ppt/notesSlides/notesSlide2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9" name="Shape 5469"/>
        <p:cNvGrpSpPr/>
        <p:nvPr/>
      </p:nvGrpSpPr>
      <p:grpSpPr>
        <a:xfrm>
          <a:off x="0" y="0"/>
          <a:ext cx="0" cy="0"/>
          <a:chOff x="0" y="0"/>
          <a:chExt cx="0" cy="0"/>
        </a:xfrm>
      </p:grpSpPr>
      <p:sp>
        <p:nvSpPr>
          <p:cNvPr id="5470" name="Google Shape;5470;p2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71" name="Google Shape;5471;p2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72" name="Google Shape;5472;p2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Statutory Financial Reporting — Maturity Assessment</a:t>
            </a:r>
            <a:endParaRPr/>
          </a:p>
          <a:p>
            <a:pPr indent="0" lvl="0" marL="0" rtl="0" algn="l">
              <a:spcBef>
                <a:spcPts val="400"/>
              </a:spcBef>
              <a:spcAft>
                <a:spcPts val="0"/>
              </a:spcAft>
              <a:buNone/>
            </a:pPr>
            <a:r>
              <a:rPr lang="en-GB" sz="1200"/>
              <a:t>Current: Basic/Developing — financial statements produced but with significant manual effort.</a:t>
            </a:r>
            <a:endParaRPr/>
          </a:p>
          <a:p>
            <a:pPr indent="0" lvl="0" marL="0" rtl="0" algn="l">
              <a:spcBef>
                <a:spcPts val="400"/>
              </a:spcBef>
              <a:spcAft>
                <a:spcPts val="0"/>
              </a:spcAft>
              <a:buNone/>
            </a:pPr>
            <a:r>
              <a:rPr lang="en-GB" sz="1200"/>
              <a:t>Target: Practicing — automated financial statement generation from data warehouse with drill-down audit trail.</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Regulatory &amp; Compliance Reporting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SBP returns: WSP (weekly), MSA (monthly), QFS (quarterly), annual audited, capital adequacy (quarterly), LCR/NSFR (monthly/quarterly), LEF, ECIB (monthly), STR, CTR.</a:t>
            </a:r>
            <a:endParaRPr/>
          </a:p>
          <a:p>
            <a:pPr indent="0" lvl="0" marL="0" rtl="0" algn="l">
              <a:spcBef>
                <a:spcPts val="400"/>
              </a:spcBef>
              <a:spcAft>
                <a:spcPts val="0"/>
              </a:spcAft>
              <a:buNone/>
            </a:pPr>
            <a:r>
              <a:rPr lang="en-GB" sz="1200"/>
              <a:t>IFRS 9 ECL: stage movement analysis, sector-wise provision, forward-looking macro scenarios. Basel III: CAR, LCR, NSFR, leverage ratio, large exposure.</a:t>
            </a:r>
            <a:endParaRPr/>
          </a:p>
          <a:p>
            <a:pPr indent="0" lvl="0" marL="0" rtl="0" algn="l">
              <a:spcBef>
                <a:spcPts val="400"/>
              </a:spcBef>
              <a:spcAft>
                <a:spcPts val="0"/>
              </a:spcAft>
              <a:buNone/>
            </a:pPr>
            <a:r>
              <a:rPr lang="en-GB" sz="1200"/>
              <a:t>AML/CFT: STR filing, CTR reporting, sanctions screening. SBP green banking: environmental lending disclosures (emerging).</a:t>
            </a:r>
            <a:endParaRPr/>
          </a:p>
          <a:p>
            <a:pPr indent="0" lvl="0" marL="0" rtl="0" algn="l">
              <a:spcBef>
                <a:spcPts val="400"/>
              </a:spcBef>
              <a:spcAft>
                <a:spcPts val="0"/>
              </a:spcAft>
              <a:buNone/>
            </a:pPr>
            <a:r>
              <a:rPr lang="en-GB" sz="1200"/>
              <a:t>Current: most returns manual from GL + Excel. Target: automated from FSDM-based data warehouse with audit trail.</a:t>
            </a:r>
            <a:endParaRPr/>
          </a:p>
          <a:p>
            <a:pPr indent="0" lvl="0" marL="0" rtl="0" algn="l">
              <a:spcBef>
                <a:spcPts val="400"/>
              </a:spcBef>
              <a:spcAft>
                <a:spcPts val="0"/>
              </a:spcAft>
              <a:buNone/>
            </a:pPr>
            <a:r>
              <a:rPr lang="en-GB" sz="1200"/>
              <a:t>FSDM: RGLTY_RPT, SBP_RTRN, IFRS_DSCLSR, BSL_RPT, ECL_RPT, AML_RPT</a:t>
            </a:r>
            <a:endParaRPr/>
          </a:p>
        </p:txBody>
      </p:sp>
    </p:spTree>
  </p:cSld>
  <p:clrMapOvr>
    <a:masterClrMapping/>
  </p:clrMapOvr>
</p:notes>
</file>

<file path=ppt/notesSlides/notesSlide2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1" name="Shape 5501"/>
        <p:cNvGrpSpPr/>
        <p:nvPr/>
      </p:nvGrpSpPr>
      <p:grpSpPr>
        <a:xfrm>
          <a:off x="0" y="0"/>
          <a:ext cx="0" cy="0"/>
          <a:chOff x="0" y="0"/>
          <a:chExt cx="0" cy="0"/>
        </a:xfrm>
      </p:grpSpPr>
      <p:sp>
        <p:nvSpPr>
          <p:cNvPr id="5502" name="Google Shape;5502;p27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03" name="Google Shape;5503;p2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04" name="Google Shape;5504;p2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Regulatory &amp; Compliance Reporting — Maturity Assessment</a:t>
            </a:r>
            <a:endParaRPr/>
          </a:p>
          <a:p>
            <a:pPr indent="0" lvl="0" marL="0" rtl="0" algn="l">
              <a:spcBef>
                <a:spcPts val="400"/>
              </a:spcBef>
              <a:spcAft>
                <a:spcPts val="0"/>
              </a:spcAft>
              <a:buNone/>
            </a:pPr>
            <a:r>
              <a:rPr lang="en-GB" sz="1200"/>
              <a:t>Current: Basic — manual SBP returns, limited automation. IFRS 9 ECL is semi-automated at best.</a:t>
            </a:r>
            <a:endParaRPr/>
          </a:p>
          <a:p>
            <a:pPr indent="0" lvl="0" marL="0" rtl="0" algn="l">
              <a:spcBef>
                <a:spcPts val="400"/>
              </a:spcBef>
              <a:spcAft>
                <a:spcPts val="0"/>
              </a:spcAft>
              <a:buNone/>
            </a:pPr>
            <a:r>
              <a:rPr lang="en-GB" sz="1200"/>
              <a:t>Target: Practicing — all 30+ SBP returns automated, IFRS 9 ECL engine, Basel III reports from integrated data.</a:t>
            </a:r>
            <a:endParaRPr/>
          </a:p>
          <a:p>
            <a:pPr indent="0" lvl="0" marL="0" rtl="0" algn="l">
              <a:spcBef>
                <a:spcPts val="400"/>
              </a:spcBef>
              <a:spcAft>
                <a:spcPts val="0"/>
              </a:spcAft>
              <a:buNone/>
            </a:pPr>
            <a:r>
              <a:rPr lang="en-GB" sz="1200"/>
              <a:t>Priority: automate top 5 SBP returns first, then IFRS 9 ECL, then full Basel III suite.</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Sales Reporting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Track banking product sales: accounts opened, loans originated, cards issued, insurance sold (bancassurance), investments, trade finance volumes.</a:t>
            </a:r>
            <a:endParaRPr/>
          </a:p>
          <a:p>
            <a:pPr indent="0" lvl="0" marL="0" rtl="0" algn="l">
              <a:spcBef>
                <a:spcPts val="400"/>
              </a:spcBef>
              <a:spcAft>
                <a:spcPts val="0"/>
              </a:spcAft>
              <a:buNone/>
            </a:pPr>
            <a:r>
              <a:rPr lang="en-GB" sz="1200"/>
              <a:t>Sales by channel: branch, digital, agent, RM direct, employer partnership. Target tracking at branch and RM level is largely manual.</a:t>
            </a:r>
            <a:endParaRPr/>
          </a:p>
          <a:p>
            <a:pPr indent="0" lvl="0" marL="0" rtl="0" algn="l">
              <a:spcBef>
                <a:spcPts val="400"/>
              </a:spcBef>
              <a:spcAft>
                <a:spcPts val="0"/>
              </a:spcAft>
              <a:buNone/>
            </a:pPr>
            <a:r>
              <a:rPr lang="en-GB" sz="1200"/>
              <a:t>Digital channel: mobile app and internet banking sales growing rapidly but attribution is poor.</a:t>
            </a:r>
            <a:endParaRPr/>
          </a:p>
          <a:p>
            <a:pPr indent="0" lvl="0" marL="0" rtl="0" algn="l">
              <a:spcBef>
                <a:spcPts val="400"/>
              </a:spcBef>
              <a:spcAft>
                <a:spcPts val="0"/>
              </a:spcAft>
              <a:buNone/>
            </a:pPr>
            <a:r>
              <a:rPr lang="en-GB" sz="1200"/>
              <a:t>FSDM: SLS, SLS_TRGT, SLS_CHNL, PRDCT_SLS, RM_PRFMNC</a:t>
            </a:r>
            <a:endParaRPr/>
          </a:p>
        </p:txBody>
      </p:sp>
    </p:spTree>
  </p:cSld>
  <p:clrMapOvr>
    <a:masterClrMapping/>
  </p:clrMapOvr>
</p:notes>
</file>

<file path=ppt/notesSlides/notesSlide2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3" name="Shape 5533"/>
        <p:cNvGrpSpPr/>
        <p:nvPr/>
      </p:nvGrpSpPr>
      <p:grpSpPr>
        <a:xfrm>
          <a:off x="0" y="0"/>
          <a:ext cx="0" cy="0"/>
          <a:chOff x="0" y="0"/>
          <a:chExt cx="0" cy="0"/>
        </a:xfrm>
      </p:grpSpPr>
      <p:sp>
        <p:nvSpPr>
          <p:cNvPr id="5534" name="Google Shape;5534;p28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35" name="Google Shape;5535;p2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36" name="Google Shape;5536;p2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Sales Reporting — Maturity Assessment</a:t>
            </a:r>
            <a:endParaRPr/>
          </a:p>
          <a:p>
            <a:pPr indent="0" lvl="0" marL="0" rtl="0" algn="l">
              <a:spcBef>
                <a:spcPts val="400"/>
              </a:spcBef>
              <a:spcAft>
                <a:spcPts val="0"/>
              </a:spcAft>
              <a:buNone/>
            </a:pPr>
            <a:r>
              <a:rPr lang="en-GB" sz="1200"/>
              <a:t>Current: Basic — sales tracked but manually. Limited channel attribution and pipeline visibility.</a:t>
            </a:r>
            <a:endParaRPr/>
          </a:p>
          <a:p>
            <a:pPr indent="0" lvl="0" marL="0" rtl="0" algn="l">
              <a:spcBef>
                <a:spcPts val="400"/>
              </a:spcBef>
              <a:spcAft>
                <a:spcPts val="0"/>
              </a:spcAft>
              <a:buNone/>
            </a:pPr>
            <a:r>
              <a:rPr lang="en-GB" sz="1200"/>
              <a:t>Target: Developing — automated sales tracking with channel attribution, pipeline analytics, RM performance dashboards.</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Performance Reporting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Bank scorecard: ROE, ROA, NIM, C/I ratio, NPL, CASA ratio, digital adoption. Business line performance: Corporate, Commercial, Retail, Treasury, Islamic.</a:t>
            </a:r>
            <a:endParaRPr/>
          </a:p>
          <a:p>
            <a:pPr indent="0" lvl="0" marL="0" rtl="0" algn="l">
              <a:spcBef>
                <a:spcPts val="400"/>
              </a:spcBef>
              <a:spcAft>
                <a:spcPts val="0"/>
              </a:spcAft>
              <a:buNone/>
            </a:pPr>
            <a:r>
              <a:rPr lang="en-GB" sz="1200"/>
              <a:t>Branch scorecard: deposits, advances, CASA, fee income, cost-to-income, customer count, digital migration.</a:t>
            </a:r>
            <a:endParaRPr/>
          </a:p>
          <a:p>
            <a:pPr indent="0" lvl="0" marL="0" rtl="0" algn="l">
              <a:spcBef>
                <a:spcPts val="400"/>
              </a:spcBef>
              <a:spcAft>
                <a:spcPts val="0"/>
              </a:spcAft>
              <a:buNone/>
            </a:pPr>
            <a:r>
              <a:rPr lang="en-GB" sz="1200"/>
              <a:t>Performance packs: monthly board/ALCO/management packs — currently 15-20 days to produce.</a:t>
            </a:r>
            <a:endParaRPr/>
          </a:p>
          <a:p>
            <a:pPr indent="0" lvl="0" marL="0" rtl="0" algn="l">
              <a:spcBef>
                <a:spcPts val="400"/>
              </a:spcBef>
              <a:spcAft>
                <a:spcPts val="0"/>
              </a:spcAft>
              <a:buNone/>
            </a:pPr>
            <a:r>
              <a:rPr lang="en-GB" sz="1200"/>
              <a:t>FSDM: PRFMNC_RPT, KPI, SCRCRD, BL_PRFMNC, BRNCH_PRFMNC</a:t>
            </a:r>
            <a:endParaRPr/>
          </a:p>
        </p:txBody>
      </p:sp>
    </p:spTree>
  </p:cSld>
  <p:clrMapOvr>
    <a:masterClrMapping/>
  </p:clrMapOvr>
</p:notes>
</file>

<file path=ppt/notesSlides/notesSlide2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5" name="Shape 5565"/>
        <p:cNvGrpSpPr/>
        <p:nvPr/>
      </p:nvGrpSpPr>
      <p:grpSpPr>
        <a:xfrm>
          <a:off x="0" y="0"/>
          <a:ext cx="0" cy="0"/>
          <a:chOff x="0" y="0"/>
          <a:chExt cx="0" cy="0"/>
        </a:xfrm>
      </p:grpSpPr>
      <p:sp>
        <p:nvSpPr>
          <p:cNvPr id="5566" name="Google Shape;5566;p2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67" name="Google Shape;5567;p2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68" name="Google Shape;5568;p2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Performance Reporting — Maturity Assessment</a:t>
            </a:r>
            <a:endParaRPr/>
          </a:p>
          <a:p>
            <a:pPr indent="0" lvl="0" marL="0" rtl="0" algn="l">
              <a:spcBef>
                <a:spcPts val="400"/>
              </a:spcBef>
              <a:spcAft>
                <a:spcPts val="0"/>
              </a:spcAft>
              <a:buNone/>
            </a:pPr>
            <a:r>
              <a:rPr lang="en-GB" sz="1200"/>
              <a:t>Current: Developing — performance data collected but manual consolidation. Monthly packs take days.</a:t>
            </a:r>
            <a:endParaRPr/>
          </a:p>
          <a:p>
            <a:pPr indent="0" lvl="0" marL="0" rtl="0" algn="l">
              <a:spcBef>
                <a:spcPts val="400"/>
              </a:spcBef>
              <a:spcAft>
                <a:spcPts val="0"/>
              </a:spcAft>
              <a:buNone/>
            </a:pPr>
            <a:r>
              <a:rPr lang="en-GB" sz="1200"/>
              <a:t>Target: Practicing — real-time performance dashboards replacing manual monthly packs.</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Exception Reporting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Automated exception detection: SBP limit breaches (FX position, large exposure), IFRS 9 stage migration triggers, AML threshold alerts, budget variance thresholds.</a:t>
            </a:r>
            <a:endParaRPr/>
          </a:p>
          <a:p>
            <a:pPr indent="0" lvl="0" marL="0" rtl="0" algn="l">
              <a:spcBef>
                <a:spcPts val="400"/>
              </a:spcBef>
              <a:spcAft>
                <a:spcPts val="0"/>
              </a:spcAft>
              <a:buNone/>
            </a:pPr>
            <a:r>
              <a:rPr lang="en-GB" sz="1200"/>
              <a:t>Workflow-based exception handling: escalation to appropriate authority with SBP reporting timelines.</a:t>
            </a:r>
            <a:endParaRPr/>
          </a:p>
          <a:p>
            <a:pPr indent="0" lvl="0" marL="0" rtl="0" algn="l">
              <a:spcBef>
                <a:spcPts val="400"/>
              </a:spcBef>
              <a:spcAft>
                <a:spcPts val="0"/>
              </a:spcAft>
              <a:buNone/>
            </a:pPr>
            <a:r>
              <a:rPr lang="en-GB" sz="1200"/>
              <a:t>Critical: SBP limit breach must be reported immediately — automated detection prevents penalties.</a:t>
            </a:r>
            <a:endParaRPr/>
          </a:p>
          <a:p>
            <a:pPr indent="0" lvl="0" marL="0" rtl="0" algn="l">
              <a:spcBef>
                <a:spcPts val="400"/>
              </a:spcBef>
              <a:spcAft>
                <a:spcPts val="0"/>
              </a:spcAft>
              <a:buNone/>
            </a:pPr>
            <a:r>
              <a:rPr lang="en-GB" sz="1200"/>
              <a:t>FSDM: EXCPTN, ALRT, THRSHOLD, SBP_LMT, ESCLTN</a:t>
            </a:r>
            <a:endParaRPr/>
          </a:p>
        </p:txBody>
      </p:sp>
    </p:spTree>
  </p:cSld>
  <p:clrMapOvr>
    <a:masterClrMapping/>
  </p:clrMapOvr>
</p:notes>
</file>

<file path=ppt/notesSlides/notesSlide2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7" name="Shape 5597"/>
        <p:cNvGrpSpPr/>
        <p:nvPr/>
      </p:nvGrpSpPr>
      <p:grpSpPr>
        <a:xfrm>
          <a:off x="0" y="0"/>
          <a:ext cx="0" cy="0"/>
          <a:chOff x="0" y="0"/>
          <a:chExt cx="0" cy="0"/>
        </a:xfrm>
      </p:grpSpPr>
      <p:sp>
        <p:nvSpPr>
          <p:cNvPr id="5598" name="Google Shape;5598;p28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99" name="Google Shape;5599;p2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00" name="Google Shape;5600;p2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Exception Reporting — Maturity Assessment</a:t>
            </a:r>
            <a:endParaRPr/>
          </a:p>
          <a:p>
            <a:pPr indent="0" lvl="0" marL="0" rtl="0" algn="l">
              <a:spcBef>
                <a:spcPts val="400"/>
              </a:spcBef>
              <a:spcAft>
                <a:spcPts val="0"/>
              </a:spcAft>
              <a:buNone/>
            </a:pPr>
            <a:r>
              <a:rPr lang="en-GB" sz="1200"/>
              <a:t>Current: Basic — manual monitoring of limits and thresholds. Reactive rather than proactive.</a:t>
            </a:r>
            <a:endParaRPr/>
          </a:p>
          <a:p>
            <a:pPr indent="0" lvl="0" marL="0" rtl="0" algn="l">
              <a:spcBef>
                <a:spcPts val="400"/>
              </a:spcBef>
              <a:spcAft>
                <a:spcPts val="0"/>
              </a:spcAft>
              <a:buNone/>
            </a:pPr>
            <a:r>
              <a:rPr lang="en-GB" sz="1200"/>
              <a:t>Target: Developing — automated rule-based exception engine with workflow escalation.</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Executive Dashboards — Capability Detail</a:t>
            </a:r>
            <a:endParaRPr/>
          </a:p>
          <a:p>
            <a:pPr indent="0" lvl="0" marL="0" rtl="0" algn="l">
              <a:spcBef>
                <a:spcPts val="600"/>
              </a:spcBef>
              <a:spcAft>
                <a:spcPts val="200"/>
              </a:spcAft>
              <a:buNone/>
            </a:pPr>
            <a:r>
              <a:rPr b="1" lang="en-GB" sz="1200"/>
              <a:t>PAKISTAN CONTEXT:</a:t>
            </a:r>
            <a:endParaRPr/>
          </a:p>
          <a:p>
            <a:pPr indent="0" lvl="0" marL="0" rtl="0" algn="l">
              <a:spcBef>
                <a:spcPts val="400"/>
              </a:spcBef>
              <a:spcAft>
                <a:spcPts val="0"/>
              </a:spcAft>
              <a:buNone/>
            </a:pPr>
            <a:r>
              <a:rPr lang="en-GB" sz="1200"/>
              <a:t>CEO/CFO dashboard: bank P&amp;L (MTD/QTD/YTD), ROE, ROA, NIM, budget vs. actual, deposits, advances, investments, capital. Drill-down: bank -&gt; business line -&gt; region -&gt; branch -&gt; customer.</a:t>
            </a:r>
            <a:endParaRPr/>
          </a:p>
          <a:p>
            <a:pPr indent="0" lvl="0" marL="0" rtl="0" algn="l">
              <a:spcBef>
                <a:spcPts val="400"/>
              </a:spcBef>
              <a:spcAft>
                <a:spcPts val="0"/>
              </a:spcAft>
              <a:buNone/>
            </a:pPr>
            <a:r>
              <a:rPr lang="en-GB" sz="1200"/>
              <a:t>Treasury dashboard: government securities portfolio (duration, yield), FX position, money market, LCR/NSFR — real-time.</a:t>
            </a:r>
            <a:endParaRPr/>
          </a:p>
          <a:p>
            <a:pPr indent="0" lvl="0" marL="0" rtl="0" algn="l">
              <a:spcBef>
                <a:spcPts val="400"/>
              </a:spcBef>
              <a:spcAft>
                <a:spcPts val="0"/>
              </a:spcAft>
              <a:buNone/>
            </a:pPr>
            <a:r>
              <a:rPr lang="en-GB" sz="1200"/>
              <a:t>Risk dashboard: NPL trends, IFRS 9 ECL movement, capital adequacy, top 20 exposures. Islamic banking panel for dual-window banks.</a:t>
            </a:r>
            <a:endParaRPr/>
          </a:p>
          <a:p>
            <a:pPr indent="0" lvl="0" marL="0" rtl="0" algn="l">
              <a:spcBef>
                <a:spcPts val="400"/>
              </a:spcBef>
              <a:spcAft>
                <a:spcPts val="0"/>
              </a:spcAft>
              <a:buNone/>
            </a:pPr>
            <a:r>
              <a:rPr lang="en-GB" sz="1200"/>
              <a:t>Current: PowerPoint/Excel based. Target: self-service with full drill-down from FSDM data.</a:t>
            </a:r>
            <a:endParaRPr/>
          </a:p>
          <a:p>
            <a:pPr indent="0" lvl="0" marL="0" rtl="0" algn="l">
              <a:spcBef>
                <a:spcPts val="400"/>
              </a:spcBef>
              <a:spcAft>
                <a:spcPts val="0"/>
              </a:spcAft>
              <a:buNone/>
            </a:pPr>
            <a:r>
              <a:rPr lang="en-GB" sz="1200"/>
              <a:t>FSDM: DSHBRD, KPI, PRFMNC_RPT, EXCTVL_RPT, DRILL_DWN, VSULZTN</a:t>
            </a:r>
            <a:endParaRPr/>
          </a:p>
        </p:txBody>
      </p:sp>
    </p:spTree>
  </p:cSld>
  <p:clrMapOvr>
    <a:masterClrMapping/>
  </p:clrMapOvr>
</p:notes>
</file>

<file path=ppt/notesSlides/notesSlide2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9" name="Shape 5629"/>
        <p:cNvGrpSpPr/>
        <p:nvPr/>
      </p:nvGrpSpPr>
      <p:grpSpPr>
        <a:xfrm>
          <a:off x="0" y="0"/>
          <a:ext cx="0" cy="0"/>
          <a:chOff x="0" y="0"/>
          <a:chExt cx="0" cy="0"/>
        </a:xfrm>
      </p:grpSpPr>
      <p:sp>
        <p:nvSpPr>
          <p:cNvPr id="5630" name="Google Shape;5630;p2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31" name="Google Shape;5631;p2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32" name="Google Shape;5632;p2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600"/>
              </a:spcBef>
              <a:spcAft>
                <a:spcPts val="200"/>
              </a:spcAft>
              <a:buNone/>
            </a:pPr>
            <a:r>
              <a:rPr b="1" lang="en-GB" sz="1200"/>
              <a:t>SLIDE: Executive Dashboards — Maturity Assessment</a:t>
            </a:r>
            <a:endParaRPr/>
          </a:p>
          <a:p>
            <a:pPr indent="0" lvl="0" marL="0" rtl="0" algn="l">
              <a:spcBef>
                <a:spcPts val="400"/>
              </a:spcBef>
              <a:spcAft>
                <a:spcPts val="0"/>
              </a:spcAft>
              <a:buNone/>
            </a:pPr>
            <a:r>
              <a:rPr lang="en-GB" sz="1200"/>
              <a:t>Current: Basic — static reports and presentations. No self-service capability.</a:t>
            </a:r>
            <a:endParaRPr/>
          </a:p>
          <a:p>
            <a:pPr indent="0" lvl="0" marL="0" rtl="0" algn="l">
              <a:spcBef>
                <a:spcPts val="400"/>
              </a:spcBef>
              <a:spcAft>
                <a:spcPts val="0"/>
              </a:spcAft>
              <a:buNone/>
            </a:pPr>
            <a:r>
              <a:rPr lang="en-GB" sz="1200"/>
              <a:t>Target: Practicing — self-service dashboards with drill-down to transaction level, real-time data.</a:t>
            </a:r>
            <a:endParaRPr/>
          </a:p>
          <a:p>
            <a:pPr indent="0" lvl="0" marL="0" rtl="0" algn="l">
              <a:spcBef>
                <a:spcPts val="400"/>
              </a:spcBef>
              <a:spcAft>
                <a:spcPts val="0"/>
              </a:spcAft>
              <a:buNone/>
            </a:pPr>
            <a:r>
              <a:rPr lang="en-GB" sz="1200"/>
              <a:t>Priority: CEO/CFO dashboard, treasury real-time position, risk dashboard, board reporting automation.</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Image"/>
          <p:cNvSpPr>
            <a:spLocks noGrp="1" noRot="1" noChangeAspect="1"/>
          </p:cNvSpPr>
          <p:nvPr>
            <p:ph type="sldImg"/>
          </p:nvPr>
        </p:nvSpPr>
        <p:spPr/>
      </p:sp>
      <p:sp>
        <p:nvSpPr>
          <p:cNvPr id="3" name="Notes"/>
          <p:cNvSpPr>
            <a:spLocks noGrp="1"/>
          </p:cNvSpPr>
          <p:nvPr>
            <p:ph type="body" idx="1"/>
          </p:nvPr>
        </p:nvSpPr>
        <p:spPr/>
        <p:txBody>
          <a:bodyPr/>
          <a:lstStyle/>
          <a:p>
            <a:pPr indent="0" lvl="0" marL="0" rtl="0" algn="l">
              <a:spcBef>
                <a:spcPts val="600"/>
              </a:spcBef>
              <a:spcAft>
                <a:spcPts val="200"/>
              </a:spcAft>
              <a:buNone/>
            </a:pPr>
            <a:r>
              <a:rPr b="1" lang="en-GB" sz="1200"/>
              <a:t>SLIDE: EPM, Treasury &amp; Reporting - At a Glance (Dashboard)</a:t>
            </a:r>
            <a:endParaRPr/>
          </a:p>
          <a:p>
            <a:pPr indent="0" lvl="0" marL="0" rtl="0" algn="l">
              <a:spcBef>
                <a:spcPts val="400"/>
              </a:spcBef>
              <a:spcAft>
                <a:spcPts val="0"/>
              </a:spcAft>
              <a:buNone/>
            </a:pPr>
            <a:r>
              <a:rPr lang="en-GB" sz="1200"/>
              <a:t>This dashboard compares EPM, Treasury, and Reporting maturity across Global, Regional, and Pakistan benchmarks.</a:t>
            </a:r>
            <a:endParaRPr/>
          </a:p>
          <a:p>
            <a:pPr indent="0" lvl="0" marL="0" rtl="0" algn="l">
              <a:spcBef>
                <a:spcPts val="400"/>
              </a:spcBef>
              <a:spcAft>
                <a:spcPts val="0"/>
              </a:spcAft>
              <a:buNone/>
            </a:pPr>
            <a:r>
              <a:rPr lang="en-GB" sz="1200"/>
              <a:t>Key insight: Pakistan is behind global benchmarks in most areas, with UBL Customer Profitability Engine being a notable exception.</a:t>
            </a:r>
            <a:endParaRPr/>
          </a:p>
          <a:p>
            <a:pPr indent="0" lvl="0" marL="0" rtl="0" algn="l">
              <a:spcBef>
                <a:spcPts val="400"/>
              </a:spcBef>
              <a:spcAft>
                <a:spcPts val="0"/>
              </a:spcAft>
              <a:buNone/>
            </a:pPr>
            <a:r>
              <a:rPr lang="en-GB" sz="1200"/>
              <a:t>BVF covers 24 sub-capabilities across 3 sub-domains with ~250+ FSDM entities and ~120 BACR assessment questions.</a:t>
            </a:r>
            <a:endParaRPr/>
          </a:p>
        </p:txBody>
      </p:sp>
    </p:spTree>
  </p:cSld>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Image"/>
          <p:cNvSpPr>
            <a:spLocks noGrp="1" noRot="1" noChangeAspect="1"/>
          </p:cNvSpPr>
          <p:nvPr>
            <p:ph type="sldImg"/>
          </p:nvPr>
        </p:nvSpPr>
        <p:spPr/>
      </p:sp>
      <p:sp>
        <p:nvSpPr>
          <p:cNvPr id="3" name="Notes"/>
          <p:cNvSpPr>
            <a:spLocks noGrp="1"/>
          </p:cNvSpPr>
          <p:nvPr>
            <p:ph type="body" idx="1"/>
          </p:nvPr>
        </p:nvSpPr>
        <p:spPr/>
        <p:txBody>
          <a:bodyPr/>
          <a:lstStyle/>
          <a:p>
            <a:pPr indent="0" lvl="0" marL="0" rtl="0" algn="l">
              <a:spcBef>
                <a:spcPts val="600"/>
              </a:spcBef>
              <a:spcAft>
                <a:spcPts val="200"/>
              </a:spcAft>
              <a:buNone/>
            </a:pPr>
            <a:r>
              <a:rPr b="1" lang="en-GB" sz="1200"/>
              <a:t>SLIDE: Pakistan Banking - EPM, Treasury &amp; Reporting Landscape</a:t>
            </a:r>
            <a:endParaRPr/>
          </a:p>
          <a:p>
            <a:pPr indent="0" lvl="0" marL="0" rtl="0" algn="l">
              <a:spcBef>
                <a:spcPts val="400"/>
              </a:spcBef>
              <a:spcAft>
                <a:spcPts val="0"/>
              </a:spcAft>
              <a:buNone/>
            </a:pPr>
            <a:r>
              <a:rPr lang="en-GB" sz="1200"/>
              <a:t>EPM: &lt;15% of banks calculate customer profitability. &lt;10% have ABC. Branch P&amp;L not available. Budget cycle 3-4 months manual.</a:t>
            </a:r>
            <a:endParaRPr/>
          </a:p>
          <a:p>
            <a:pPr indent="0" lvl="0" marL="0" rtl="0" algn="l">
              <a:spcBef>
                <a:spcPts val="400"/>
              </a:spcBef>
              <a:spcAft>
                <a:spcPts val="0"/>
              </a:spcAft>
              <a:buNone/>
            </a:pPr>
            <a:r>
              <a:rPr lang="en-GB" sz="1200"/>
              <a:t>Treasury: SBP rate 17.5%, PKR 10T+ govt securities, most banks use flat KIBOR FTP, Islamic treasury parallel desk.</a:t>
            </a:r>
            <a:endParaRPr/>
          </a:p>
          <a:p>
            <a:pPr indent="0" lvl="0" marL="0" rtl="0" algn="l">
              <a:spcBef>
                <a:spcPts val="400"/>
              </a:spcBef>
              <a:spcAft>
                <a:spcPts val="0"/>
              </a:spcAft>
              <a:buNone/>
            </a:pPr>
            <a:r>
              <a:rPr lang="en-GB" sz="1200"/>
              <a:t>Reporting: 30+ manual SBP returns, IFRS 9 ECL challenges, SECP/PSX disclosure, AAOIFI for Islamic banking.</a:t>
            </a:r>
            <a:endParaRPr/>
          </a:p>
        </p:txBody>
      </p:sp>
    </p:spTree>
  </p:cSld>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Image"/>
          <p:cNvSpPr>
            <a:spLocks noGrp="1" noRot="1" noChangeAspect="1"/>
          </p:cNvSpPr>
          <p:nvPr>
            <p:ph type="sldImg"/>
          </p:nvPr>
        </p:nvSpPr>
        <p:spPr/>
      </p:sp>
      <p:sp>
        <p:nvSpPr>
          <p:cNvPr id="3" name="Notes"/>
          <p:cNvSpPr>
            <a:spLocks noGrp="1"/>
          </p:cNvSpPr>
          <p:nvPr>
            <p:ph type="body" idx="1"/>
          </p:nvPr>
        </p:nvSpPr>
        <p:spPr/>
        <p:txBody>
          <a:bodyPr/>
          <a:lstStyle/>
          <a:p>
            <a:pPr indent="0" lvl="0" marL="0" rtl="0" algn="l">
              <a:spcBef>
                <a:spcPts val="600"/>
              </a:spcBef>
              <a:spcAft>
                <a:spcPts val="200"/>
              </a:spcAft>
              <a:buNone/>
            </a:pPr>
            <a:r>
              <a:rPr b="1" lang="en-GB" sz="1200"/>
              <a:t>SLIDE: Implementation Roadmap</a:t>
            </a:r>
            <a:endParaRPr/>
          </a:p>
          <a:p>
            <a:pPr indent="0" lvl="0" marL="0" rtl="0" algn="l">
              <a:spcBef>
                <a:spcPts val="400"/>
              </a:spcBef>
              <a:spcAft>
                <a:spcPts val="0"/>
              </a:spcAft>
              <a:buNone/>
            </a:pPr>
            <a:r>
              <a:rPr lang="en-GB" sz="1200"/>
              <a:t>Phase 1 (0-6m): Foundation - FTP engine, ABC, revenue analytics, automate top SBP returns. PKR 80-150M.</a:t>
            </a:r>
            <a:endParaRPr/>
          </a:p>
          <a:p>
            <a:pPr indent="0" lvl="0" marL="0" rtl="0" algn="l">
              <a:spcBef>
                <a:spcPts val="400"/>
              </a:spcBef>
              <a:spcAft>
                <a:spcPts val="0"/>
              </a:spcAft>
              <a:buNone/>
            </a:pPr>
            <a:r>
              <a:rPr lang="en-GB" sz="1200"/>
              <a:t>Phase 2 (6-18m): Intelligence - customer profitability, branch P&amp;L, treasury dashboard, ALM. PKR 150-300M.</a:t>
            </a:r>
            <a:endParaRPr/>
          </a:p>
          <a:p>
            <a:pPr indent="0" lvl="0" marL="0" rtl="0" algn="l">
              <a:spcBef>
                <a:spcPts val="400"/>
              </a:spcBef>
              <a:spcAft>
                <a:spcPts val="0"/>
              </a:spcAft>
              <a:buNone/>
            </a:pPr>
            <a:r>
              <a:rPr lang="en-GB" sz="1200"/>
              <a:t>Phase 3 (18-36m): Predictive - pricing optimization, rolling forecasts, real-time liquidity, Islamic analytics. PKR 200-400M.</a:t>
            </a:r>
            <a:endParaRPr/>
          </a:p>
          <a:p>
            <a:pPr indent="0" lvl="0" marL="0" rtl="0" algn="l">
              <a:spcBef>
                <a:spcPts val="400"/>
              </a:spcBef>
              <a:spcAft>
                <a:spcPts val="0"/>
              </a:spcAft>
              <a:buNone/>
            </a:pPr>
            <a:r>
              <a:rPr lang="en-GB" sz="1200"/>
              <a:t>Total investment: PKR 430-850M. Expected: PKR 10B+ profitability optimization, 15-25% capital allocation improvement.</a:t>
            </a:r>
            <a:endParaRPr/>
          </a:p>
        </p:txBody>
      </p:sp>
    </p:spTree>
  </p:cSld>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0.xml"/><Relationship Id="rId3"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2.xml"/><Relationship Id="rId3" Type="http://schemas.openxmlformats.org/officeDocument/2006/relationships/slide" Target="slide185.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4.xml"/><Relationship Id="rId3" Type="http://schemas.openxmlformats.org/officeDocument/2006/relationships/slide" Target="slide185.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6.xml"/><Relationship Id="rId3" Type="http://schemas.openxmlformats.org/officeDocument/2006/relationships/slide" Target="slide185.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8.xml"/><Relationship Id="rId3" Type="http://schemas.openxmlformats.org/officeDocument/2006/relationships/slide" Target="slide185.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0.xml"/><Relationship Id="rId3" Type="http://schemas.openxmlformats.org/officeDocument/2006/relationships/slide" Target="slide185.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2.xml"/><Relationship Id="rId3" Type="http://schemas.openxmlformats.org/officeDocument/2006/relationships/slide" Target="slide185.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4.xml"/><Relationship Id="rId3" Type="http://schemas.openxmlformats.org/officeDocument/2006/relationships/slide" Target="slide185.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6.xml"/><Relationship Id="rId3" Type="http://schemas.openxmlformats.org/officeDocument/2006/relationships/slide" Target="slide185.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8.xml"/><Relationship Id="rId3" Type="http://schemas.openxmlformats.org/officeDocument/2006/relationships/slide" Target="slide185.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0.xml"/><Relationship Id="rId3" Type="http://schemas.openxmlformats.org/officeDocument/2006/relationships/slide" Target="slide185.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2.xml"/><Relationship Id="rId3" Type="http://schemas.openxmlformats.org/officeDocument/2006/relationships/image" Target="../media/image42.jpg"/><Relationship Id="rId4" Type="http://schemas.openxmlformats.org/officeDocument/2006/relationships/slide" Target="slide18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3.xml"/><Relationship Id="rId3" Type="http://schemas.openxmlformats.org/officeDocument/2006/relationships/image" Target="../media/image40.png"/><Relationship Id="rId4" Type="http://schemas.openxmlformats.org/officeDocument/2006/relationships/slide" Target="slide186.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4.xml"/><Relationship Id="rId3" Type="http://schemas.openxmlformats.org/officeDocument/2006/relationships/slide" Target="slide186.xml"/><Relationship Id="rId4" Type="http://schemas.openxmlformats.org/officeDocument/2006/relationships/image" Target="../media/image40.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5.xml"/><Relationship Id="rId3" Type="http://schemas.openxmlformats.org/officeDocument/2006/relationships/image" Target="../media/image37.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7.xml"/><Relationship Id="rId3"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9.xml"/><Relationship Id="rId3" Type="http://schemas.openxmlformats.org/officeDocument/2006/relationships/slide" Target="slide18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1.xml"/><Relationship Id="rId3" Type="http://schemas.openxmlformats.org/officeDocument/2006/relationships/slide" Target="slide18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3.xml"/><Relationship Id="rId3" Type="http://schemas.openxmlformats.org/officeDocument/2006/relationships/slide" Target="slide186.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5.xml"/><Relationship Id="rId3" Type="http://schemas.openxmlformats.org/officeDocument/2006/relationships/slide" Target="slide186.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7.xml"/><Relationship Id="rId3" Type="http://schemas.openxmlformats.org/officeDocument/2006/relationships/slide" Target="slide186.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9.xml"/><Relationship Id="rId3" Type="http://schemas.openxmlformats.org/officeDocument/2006/relationships/slide" Target="slide186.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1.xml"/><Relationship Id="rId3" Type="http://schemas.openxmlformats.org/officeDocument/2006/relationships/image" Target="../media/image44.png"/><Relationship Id="rId4" Type="http://schemas.openxmlformats.org/officeDocument/2006/relationships/slide" Target="slide18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2.xml"/><Relationship Id="rId3" Type="http://schemas.openxmlformats.org/officeDocument/2006/relationships/slide" Target="slide187.xml"/><Relationship Id="rId4" Type="http://schemas.openxmlformats.org/officeDocument/2006/relationships/image" Target="../media/image46.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3.xml"/><Relationship Id="rId3" Type="http://schemas.openxmlformats.org/officeDocument/2006/relationships/slide" Target="slide187.xml"/><Relationship Id="rId4" Type="http://schemas.openxmlformats.org/officeDocument/2006/relationships/image" Target="../media/image46.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4.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76.xml"/><Relationship Id="rId3"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78.xml"/><Relationship Id="rId3" Type="http://schemas.openxmlformats.org/officeDocument/2006/relationships/slide" Target="slide18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0.xml"/><Relationship Id="rId3" Type="http://schemas.openxmlformats.org/officeDocument/2006/relationships/slide" Target="slide18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2.xml"/><Relationship Id="rId3" Type="http://schemas.openxmlformats.org/officeDocument/2006/relationships/slide" Target="slide18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4.xml"/><Relationship Id="rId3" Type="http://schemas.openxmlformats.org/officeDocument/2006/relationships/slide" Target="slide18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6.xml"/><Relationship Id="rId3" Type="http://schemas.openxmlformats.org/officeDocument/2006/relationships/slide" Target="slide18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_rels/slide620.xml.rels><?xml version='1.0' encoding='UTF-8' standalone='yes'?><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0.xml"/></Relationships>
</file>

<file path=ppt/slides/_rels/slide621.xml.rels><?xml version='1.0' encoding='UTF-8' standalone='yes'?><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1.xml"/></Relationships>
</file>

<file path=ppt/slides/_rels/slide622.xml.rels><?xml version='1.0' encoding='UTF-8' standalone='yes'?><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2.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Decompose revenue: NII (~70%), fee/commission (~15%), FX gains (~8%), investment income (~7%)</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Separate conventional revenue (interest-based) from Islamic revenue (profit-sharing, Murabaha margin)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Analyze NII drivers: volume (deposit/advance growth), rate (KIBOR spread), mix (CASA vs. term)</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KIBOR rates (1M, 3M, 6M, 12M), SBP policy rate, product-level interest rates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profit-sharing ratios, Murabaha margins, Ijarah rental rates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 tariff schedules by channel (RAAST/IBFT, ATM/POS, LC/LG, remittance)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Revenue attribution across conventional and Islamic product lines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NII sensitivity to KIBOR changes (+/-100bps impact quantified)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 income optimization across 16,000+ branches and digital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62" name="Shape 4762"/>
        <p:cNvGrpSpPr/>
        <p:nvPr/>
      </p:nvGrpSpPr>
      <p:grpSpPr>
        <a:xfrm>
          <a:off x="0" y="0"/>
          <a:ext cx="0" cy="0"/>
          <a:chOff x="0" y="0"/>
          <a:chExt cx="0" cy="0"/>
        </a:xfrm>
      </p:grpSpPr>
      <p:graphicFrame>
        <p:nvGraphicFramePr>
          <p:cNvPr id="4763" name="Google Shape;4763;p26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Revenue Analytics is used extensively across the organisation. It uses best-in-class analytical techniques and a broad range of high quality, integrated data.   Sophisticated model exists which calculates revenue components.  Data is at a granular level which enables a multi-dimensional view of revenue.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Detailed revenue data is automatically sourced from transactional and / or ERP system.  Analysis can be performed understand the underlying components and feed downstream applications.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Revenue Analytics is performed on a more granular basis, which enables deeper insights to the components of revenue.  Results can feed downstream applications at an aggregated level.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Revenue analytics is performed at a hierarchy level but based on summary-level data. Some manual intervention is required for data acquisition.  Mainly used to understand components of revenue, including product sales and ancillary revenues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Actual sales, forecast and plans are rolled up at an aggregated level , usually using a manual process to acquire data.  Typically done in Excel or Access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NII decomposition by product, customer, branch with KIBOR spread analysis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Islamic vs. conventional revenue separation with profit-sharing analytics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Fee income analytics: RAAST/IBFT, trade finance, cards, remittance channels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 PKR 5-10B revenue optimization through spread and fee analysis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Branch-level revenue visibility enables performance-based resource allocation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CASA ratio impact on NII — quantify zero-cost deposit advantage</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764" name="Google Shape;4764;p260"/>
          <p:cNvGrpSpPr/>
          <p:nvPr/>
        </p:nvGrpSpPr>
        <p:grpSpPr>
          <a:xfrm>
            <a:off x="469900" y="3819680"/>
            <a:ext cx="8455025" cy="732866"/>
            <a:chOff x="211138" y="3972860"/>
            <a:chExt cx="8713787" cy="642437"/>
          </a:xfrm>
        </p:grpSpPr>
        <p:sp>
          <p:nvSpPr>
            <p:cNvPr id="4765" name="Google Shape;4765;p26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766" name="Google Shape;4766;p26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4767" name="Google Shape;4767;p260"/>
          <p:cNvGrpSpPr/>
          <p:nvPr/>
        </p:nvGrpSpPr>
        <p:grpSpPr>
          <a:xfrm>
            <a:off x="7971865" y="980278"/>
            <a:ext cx="949325" cy="2867825"/>
            <a:chOff x="7941888" y="1062037"/>
            <a:chExt cx="983037" cy="2695575"/>
          </a:xfrm>
        </p:grpSpPr>
        <p:sp>
          <p:nvSpPr>
            <p:cNvPr id="4768" name="Google Shape;4768;p26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769" name="Google Shape;4769;p26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4770" name="Google Shape;4770;p26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a:solidFill>
                <a:schemeClr val="accent6"/>
              </a:solidFill>
            </a:endParaRPr>
          </a:p>
        </p:txBody>
      </p:sp>
      <p:sp>
        <p:nvSpPr>
          <p:cNvPr id="4771" name="Google Shape;4771;p2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Analyze cost structure: staff (40-50% OpEx), occupancy (15-20%), IT (10-15%), admin (15-25%)</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HR analytics for 50,000-100,000 employees at large banks -- productivity per employee, per branch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cost-to-income ratio (industry 45-65%) -- key SBP and analyst benchmark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Branch-level cost data across 16,000+ locations (rent, staff, utilities, security)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FBR WHT compliance tracking on all vendor payments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Channel cost per transaction: branch PKR 150-300, ATM PKR 30-50, digital PKR 5-15</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Cost-to-income optimization below 50% target for top-tier Pakistan banks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 cost variance analysis (metro vs. rural varies 3-5x)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Vendor consolidation opportunities across 16,000+ branch procurement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4" name="Shape 4794"/>
        <p:cNvGrpSpPr/>
        <p:nvPr/>
      </p:nvGrpSpPr>
      <p:grpSpPr>
        <a:xfrm>
          <a:off x="0" y="0"/>
          <a:ext cx="0" cy="0"/>
          <a:chOff x="0" y="0"/>
          <a:chExt cx="0" cy="0"/>
        </a:xfrm>
      </p:grpSpPr>
      <p:graphicFrame>
        <p:nvGraphicFramePr>
          <p:cNvPr id="4795" name="Google Shape;4795;p26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GL, AP, HR and Expense processes are efficient and automated. Detailed data from across the organisation is updated and integrated daily, as well as with other non-finance data and multi-structured data. Sophisticated analytics on this domains  is used as a strategic planning and negotiating tool, is used to identify and manage policy exceptions, and is used to inform employee performance appraisals.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The majority of GL, AP, HR and Expense data is integrated in a single, integrated data warehouse or mart. Analysis across multiple dimensions, and drill-down to detailed transactions is available.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GL, AP, HR and Expense data is sourced and integrated on at least a monthly basis, primarily at a summary-level, however it is not integrated with other non-finance data domains. Some centralised reporting and analysis is performed, largely focused on aggregated results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GL, AP, HR and Expense data is widely distributed across the organisation, with little standarisation and integration. Focus is primarily on the GL, AP, HR and Expense processes themselves. Standard and ad-hoc reporting takes place, however there is little analytics and optimisation.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GL, AP, HR and Expense data is done is silos, with minimal  standardisation. Focus is primarily on the GL, AP, HR and Expense processes themselves.  One off reporting takes place but is not shared across the organisation.  Conflicting reporting and calculation definitions are possible due to lack of integration.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Cost-to-income ratio optimization (Pakistan banks: 45-65% range)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Branch cost analytics: metro vs. rural, per-branch operating cost variance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HR productivity: revenue per employee, accounts per RM, FBR WHT compliance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 10-15% operating expense reduction through branch cost optimization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cost comparison enables digital migration business case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Vendor consolidation across 16,000+ branches reduces procurement cost</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796" name="Google Shape;4796;p262"/>
          <p:cNvGrpSpPr/>
          <p:nvPr/>
        </p:nvGrpSpPr>
        <p:grpSpPr>
          <a:xfrm>
            <a:off x="469900" y="3819680"/>
            <a:ext cx="8455025" cy="732866"/>
            <a:chOff x="211138" y="3972860"/>
            <a:chExt cx="8713787" cy="642437"/>
          </a:xfrm>
        </p:grpSpPr>
        <p:sp>
          <p:nvSpPr>
            <p:cNvPr id="4797" name="Google Shape;4797;p26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798" name="Google Shape;4798;p26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4799" name="Google Shape;4799;p262"/>
          <p:cNvGrpSpPr/>
          <p:nvPr/>
        </p:nvGrpSpPr>
        <p:grpSpPr>
          <a:xfrm>
            <a:off x="7971865" y="980278"/>
            <a:ext cx="949325" cy="2867825"/>
            <a:chOff x="7941888" y="1062037"/>
            <a:chExt cx="983037" cy="2695575"/>
          </a:xfrm>
        </p:grpSpPr>
        <p:sp>
          <p:nvSpPr>
            <p:cNvPr id="4800" name="Google Shape;4800;p26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01" name="Google Shape;4801;p26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4802" name="Google Shape;4802;p262"/>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 Optimisation</a:t>
            </a:r>
            <a:endParaRPr>
              <a:solidFill>
                <a:schemeClr val="accent6"/>
              </a:solidFill>
            </a:endParaRPr>
          </a:p>
        </p:txBody>
      </p:sp>
      <p:sp>
        <p:nvSpPr>
          <p:cNvPr id="4803" name="Google Shape;4803;p2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ABC for multi-channel banking: branch, ATM, mobile, internet, contact center, agent costs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true cost-to-serve per customer -- most banks use headcount or formula allocation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ABC prerequisite for: customer profitability, product profitability, branch rationalization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Transaction volumes by channel from FSDM, staff time studies at branches and ops centers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IT infrastructure costs allocated by usage, branch-level granular cost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20-30 key activities: account opening, cash deposit, fund transfer, loan origination, card issuance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Enterprise Analytics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Quantify branch transaction cost PKR 150-300 vs. digital PKR 5-15</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channel migration business case with ABC baseline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unprofitable branches for rationalization or digital conversion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6" name="Shape 4826"/>
        <p:cNvGrpSpPr/>
        <p:nvPr/>
      </p:nvGrpSpPr>
      <p:grpSpPr>
        <a:xfrm>
          <a:off x="0" y="0"/>
          <a:ext cx="0" cy="0"/>
          <a:chOff x="0" y="0"/>
          <a:chExt cx="0" cy="0"/>
        </a:xfrm>
      </p:grpSpPr>
      <p:graphicFrame>
        <p:nvGraphicFramePr>
          <p:cNvPr id="4827" name="Google Shape;4827;p26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ABC process is automated, and is integrated with the wider profitability modelling processes within the organisation (e.g. customer profitability, lifetime value). It uses a single, integrated source of input data, which includes detailed process metrics. It is updated frequently, and Is able to  be modified quickly with “what if”  capability and multiple iterations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ABC process is performed more frequently (e.g. quarterly/monthly) using an ABC/cost-modelling tool. Multiple cost models are produced (e.g. standard/budgeted unit costs vs. actual unit costs).  Could be used to feed downstream analytics or applications.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ABC process is still performed annually and may use spreadsheets or an ABC/cost-modelling tool, however most of the required data is available from a single, integrated source.  Calculated unit-costs include breakdown by channel, however many costs are done at an average level.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ABC process is performed on an infrequent basis (annual or less). It is a manual process which relies on manual data collection / entry, and uses spreadsheets to perform calculations. Calculated unit-costs are done at a higher level of granularity (Category / Product Type vs. Class / SKU)</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ABC process is a high-level Excel based model and may have multiple versions by business unit or analysis objective.  Difficult to maintain and update, and possibly inconsistent across the organization.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ABC model for multi-channel banking: branch, ATM, mobile, internet, agent</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True cost-to-serve per customer replacing headcount-based allocation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Channel unit cost: branch PKR 150-300 vs. digital PKR 5-15 per transaction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Prerequisite for customer and product profitability calculation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Branch rationalization decisions based on activity-based P&amp;L</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Digital migration ROI quantified through ABC cost comparison</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828" name="Google Shape;4828;p264"/>
          <p:cNvGrpSpPr/>
          <p:nvPr/>
        </p:nvGrpSpPr>
        <p:grpSpPr>
          <a:xfrm>
            <a:off x="469900" y="3819680"/>
            <a:ext cx="8455025" cy="732866"/>
            <a:chOff x="211138" y="3972860"/>
            <a:chExt cx="8713787" cy="642437"/>
          </a:xfrm>
        </p:grpSpPr>
        <p:sp>
          <p:nvSpPr>
            <p:cNvPr id="4829" name="Google Shape;4829;p26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30" name="Google Shape;4830;p26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4831" name="Google Shape;4831;p264"/>
          <p:cNvGrpSpPr/>
          <p:nvPr/>
        </p:nvGrpSpPr>
        <p:grpSpPr>
          <a:xfrm>
            <a:off x="7971865" y="980278"/>
            <a:ext cx="949325" cy="2867825"/>
            <a:chOff x="7941888" y="1062037"/>
            <a:chExt cx="983037" cy="2695575"/>
          </a:xfrm>
        </p:grpSpPr>
        <p:sp>
          <p:nvSpPr>
            <p:cNvPr id="4832" name="Google Shape;4832;p26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33" name="Google Shape;4833;p26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4834" name="Google Shape;4834;p26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a:solidFill>
                <a:schemeClr val="accent6"/>
              </a:solidFill>
            </a:endParaRPr>
          </a:p>
        </p:txBody>
      </p:sp>
      <p:sp>
        <p:nvSpPr>
          <p:cNvPr id="4835" name="Google Shape;4835;p2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Multi-dimensional P&amp;L: Customer, Product, Branch, Segment, Channel, Region levels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Handle BOTH conventional (interest-based) and Islamic (profit-sharing) in single framework</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Core of UBL Customer Profitability Engine on FSDM star schema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FSDM star schema: customer, product, account, transaction, balance, rate, cost, provision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FTP-adjusted NII + fee income - direct costs - ABC allocated costs - IFRS 9 ECL - capital charge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profit on financing, return to depositors, Mudaraba sharing ratios, Takaful provisions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Enterprise Analytics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Customer-level economic profit (EVA) for 60M+ customers across all dimensions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 P&amp;L for each of 16,000+ branches (NII, fees, costs, provisions, profit)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bottom 20% unprofitable customers for migration or repricing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8" name="Shape 4858"/>
        <p:cNvGrpSpPr/>
        <p:nvPr/>
      </p:nvGrpSpPr>
      <p:grpSpPr>
        <a:xfrm>
          <a:off x="0" y="0"/>
          <a:ext cx="0" cy="0"/>
          <a:chOff x="0" y="0"/>
          <a:chExt cx="0" cy="0"/>
        </a:xfrm>
      </p:grpSpPr>
      <p:graphicFrame>
        <p:nvGraphicFramePr>
          <p:cNvPr id="4859" name="Google Shape;4859;p26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calculation for all customers, and with comprehensive coverage across all products and services, calculated on at least a monthly basis using a rules-based application for flexibility and lower TCO. Granular calculations provide drill-down to individual accounts and profit rules and enable multi-dimensional view of results.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calculation for all customers, and with comprehensive coverage across all products and services, calculated on at least a monthly basis. ABC costing methods are used to define granular calculations.  Drill-down to individual accounts and profit components.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calculations use customer behaviour (transactions &amp; other events), however limited due to: Incomplete coverage of the P&amp;L (e.g. not including costs, risk or capital); Significant gaps in coverage of customers or product &amp; services; Limited frequency (less than monthly); Limited granularity / detail in profitability results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calculations which are based on assigning average profitability values to customers (or other dimensional view – e.g. product, channel) based on their product holdings.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Multiple profitability models done using averages.  Usually done in Excel, Access or SQL server.  Difficult to source data, inflexible for change, results set not shared across organisation.   Many times these models are built for a one dimensional view of profitability and are only directionally correct.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Customer profitability engine: NII + fees - cost-to-serve - provisions per customer</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Product profitability with KIBOR-based FTP and ABC cost allocation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Branch P&amp;L: NII, fees, costs, provisions — not available at most Pakistan banks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 top/bottom 20% customers — typical finding: 20% generate 150% of profit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cross-subsidy analysis reveals hidden loss-making products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UBL FSDM-based Profitability Engine enables multi-dimensional profit analysis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860" name="Google Shape;4860;p266"/>
          <p:cNvGrpSpPr/>
          <p:nvPr/>
        </p:nvGrpSpPr>
        <p:grpSpPr>
          <a:xfrm>
            <a:off x="469900" y="3819680"/>
            <a:ext cx="8455025" cy="732866"/>
            <a:chOff x="211138" y="3972860"/>
            <a:chExt cx="8713787" cy="642437"/>
          </a:xfrm>
        </p:grpSpPr>
        <p:sp>
          <p:nvSpPr>
            <p:cNvPr id="4861" name="Google Shape;4861;p26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62" name="Google Shape;4862;p26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4863" name="Google Shape;4863;p266"/>
          <p:cNvGrpSpPr/>
          <p:nvPr/>
        </p:nvGrpSpPr>
        <p:grpSpPr>
          <a:xfrm>
            <a:off x="7971865" y="980278"/>
            <a:ext cx="949325" cy="2867825"/>
            <a:chOff x="7941888" y="1062037"/>
            <a:chExt cx="983037" cy="2695575"/>
          </a:xfrm>
        </p:grpSpPr>
        <p:sp>
          <p:nvSpPr>
            <p:cNvPr id="4864" name="Google Shape;4864;p26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65" name="Google Shape;4865;p26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4866" name="Google Shape;4866;p266"/>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a:solidFill>
                <a:schemeClr val="accent6"/>
              </a:solidFill>
            </a:endParaRPr>
          </a:p>
        </p:txBody>
      </p:sp>
      <p:sp>
        <p:nvSpPr>
          <p:cNvPr id="4867" name="Google Shape;4867;p2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CLTV: current profitability + residual value + future product adoption + retention probability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Factor high attrition risk from fintech competition and salary account switching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CLTV informs retention spend, acquisition targeting, and pricing decisions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Engine output (FTP-adjusted NII + fees - costs - provisions)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propensity models, churn probability scores, remaining product tenures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products have different tenure/profit profiles vs. conventional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Value-based customer management: invest in high-CLTV, rationalize negative-CLTV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Retention budget allocation based on CLTV at risk from fintech migration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Acquisition targeting: acquire customer profiles with highest predicted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0" name="Shape 4890"/>
        <p:cNvGrpSpPr/>
        <p:nvPr/>
      </p:nvGrpSpPr>
      <p:grpSpPr>
        <a:xfrm>
          <a:off x="0" y="0"/>
          <a:ext cx="0" cy="0"/>
          <a:chOff x="0" y="0"/>
          <a:chExt cx="0" cy="0"/>
        </a:xfrm>
      </p:grpSpPr>
      <p:graphicFrame>
        <p:nvGraphicFramePr>
          <p:cNvPr id="4891" name="Google Shape;4891;p26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Full Future/Lifetime Value model for individual customers which includes comprehensive coverage of:</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Projected cashflows from existing product holdings; Attrition models for existing product holdings, and for Customer attrition; Propensity to buy and Life Stage progression models for new products.; Behavioural usage models for non-contractual products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Propensity models for some key products used to enhance customer-level model with attrition models for existing product holdings, and propensity to buy models for new products.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Basic customer-level NPV model for existing product holdings only, using projected results from current/historic profit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BI / Excel-based NPV models for key products/segments using summarised results from current/historic profit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Excel based model not fed from any upstream application.  Usually a stand-alone or one-off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Customer lifetime value incorporating Pakistan relationship banking patterns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Salary account retention vs. acquisition cost in employer partnership model</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Islamic customer value: multi-product Shariah-compliant relationships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Optimize customer acquisition spend by targeting high-LTV segments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churn in salary accounts through proactive relationship management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Cross-sell prediction: savings to investment, deposit to financing conversion</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892" name="Google Shape;4892;p268"/>
          <p:cNvGrpSpPr/>
          <p:nvPr/>
        </p:nvGrpSpPr>
        <p:grpSpPr>
          <a:xfrm>
            <a:off x="469900" y="3819680"/>
            <a:ext cx="8455025" cy="732866"/>
            <a:chOff x="211138" y="3972860"/>
            <a:chExt cx="8713787" cy="642437"/>
          </a:xfrm>
        </p:grpSpPr>
        <p:sp>
          <p:nvSpPr>
            <p:cNvPr id="4893" name="Google Shape;4893;p26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94" name="Google Shape;4894;p26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4895" name="Google Shape;4895;p268"/>
          <p:cNvGrpSpPr/>
          <p:nvPr/>
        </p:nvGrpSpPr>
        <p:grpSpPr>
          <a:xfrm>
            <a:off x="7971865" y="980278"/>
            <a:ext cx="949325" cy="2867825"/>
            <a:chOff x="7941888" y="1062037"/>
            <a:chExt cx="983037" cy="2695575"/>
          </a:xfrm>
        </p:grpSpPr>
        <p:sp>
          <p:nvSpPr>
            <p:cNvPr id="4896" name="Google Shape;4896;p26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97" name="Google Shape;4897;p26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4898" name="Google Shape;4898;p26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a:solidFill>
                <a:schemeClr val="accent6"/>
              </a:solidFill>
            </a:endParaRPr>
          </a:p>
        </p:txBody>
      </p:sp>
      <p:sp>
        <p:nvSpPr>
          <p:cNvPr id="4899" name="Google Shape;4899;p2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Analyze profitability drivers across customer, product, branch, and channel dimensions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Key levers: CASA mix improvement, digital migration, cross-sell, risk-adjusted pricing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move bottom 20% unprofitable customers to breakeven through repricing or migration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Multi-dimensional profitability cube from Customer Profitability Engine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Channel cost differentials (branch vs. digital), product margin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Competitor pricing benchmarks for deposits and lending products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Every 1% CASA shift saves PKR 2-3B in cost of funds for large bank</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10% branch-to-digital migration saves PKR 1-2B annually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Cross-sell from 1.8 to 2.5 products increases revenue 25-35%</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2" name="Shape 4922"/>
        <p:cNvGrpSpPr/>
        <p:nvPr/>
      </p:nvGrpSpPr>
      <p:grpSpPr>
        <a:xfrm>
          <a:off x="0" y="0"/>
          <a:ext cx="0" cy="0"/>
          <a:chOff x="0" y="0"/>
          <a:chExt cx="0" cy="0"/>
        </a:xfrm>
      </p:grpSpPr>
      <p:graphicFrame>
        <p:nvGraphicFramePr>
          <p:cNvPr id="4923" name="Google Shape;4923;p27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Automated process with ability to measure, monitor and track profitability improvement opportunities.  Used extensively across the organisation to support a wide range of strategic, tactical and operational decision-making.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also used operationally to deliver information and guidance to staff on customer retention, customer experience, pricing and other operational decisions (e.g. fee refunds)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also used to support product development, product pricing, segment-based offers,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used to deliver summary-level and individual customer reports to managers.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Non-integrated profitability model results which manually feed analytical models.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Multi-dimensional profitability: customer x product x channel x branch x segment</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CASA vs. term deposit profitability under different KIBOR rate scenarios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Islamic banking profitability: profit-sharing pool vs. conventional interest margin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Optimize pricing and product mix based on actual profitability data</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 branches, products, and segments for strategic investment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RAROC-based capital allocation to business lines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924" name="Google Shape;4924;p270"/>
          <p:cNvGrpSpPr/>
          <p:nvPr/>
        </p:nvGrpSpPr>
        <p:grpSpPr>
          <a:xfrm>
            <a:off x="469900" y="3819680"/>
            <a:ext cx="8455025" cy="732866"/>
            <a:chOff x="211138" y="3972860"/>
            <a:chExt cx="8713787" cy="642437"/>
          </a:xfrm>
        </p:grpSpPr>
        <p:sp>
          <p:nvSpPr>
            <p:cNvPr id="4925" name="Google Shape;4925;p27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26" name="Google Shape;4926;p27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4927" name="Google Shape;4927;p270"/>
          <p:cNvGrpSpPr/>
          <p:nvPr/>
        </p:nvGrpSpPr>
        <p:grpSpPr>
          <a:xfrm>
            <a:off x="7971865" y="980278"/>
            <a:ext cx="949325" cy="2867825"/>
            <a:chOff x="7941888" y="1062037"/>
            <a:chExt cx="983037" cy="2695575"/>
          </a:xfrm>
        </p:grpSpPr>
        <p:sp>
          <p:nvSpPr>
            <p:cNvPr id="4928" name="Google Shape;4928;p27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29" name="Google Shape;4929;p27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4930" name="Google Shape;4930;p27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Optimisation</a:t>
            </a:r>
            <a:endParaRPr>
              <a:solidFill>
                <a:schemeClr val="accent6"/>
              </a:solidFill>
            </a:endParaRPr>
          </a:p>
        </p:txBody>
      </p:sp>
      <p:sp>
        <p:nvSpPr>
          <p:cNvPr id="4931" name="Google Shape;4931;p2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Lending pricing: KIBOR + risk premium (2-8% depending on segment and risk rating)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pricing: Murabaha margin, Ijarah rental, Musharaka sharing -- competitive yet Shariah-compliant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Pricing must consider: ECIB credit score, relationship value, product bundling, competitive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KIBOR yield curve (1M-12M), SBP policy rate, competitor rate surveys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ECIB credit scores, internal risk ratings, historical loss given default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Deposit pricing: SBP minimum rate, large deposit negotiated rates, Islamic weightage ratios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Risk-adjusted pricing on personal loans to improve NIM by 20-50bps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elasticity: volume change per 25bps rate change by product and segment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Competitive positioning dashboard: rates vs. top 5 banks by product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4" name="Shape 4954"/>
        <p:cNvGrpSpPr/>
        <p:nvPr/>
      </p:nvGrpSpPr>
      <p:grpSpPr>
        <a:xfrm>
          <a:off x="0" y="0"/>
          <a:ext cx="0" cy="0"/>
          <a:chOff x="0" y="0"/>
          <a:chExt cx="0" cy="0"/>
        </a:xfrm>
      </p:grpSpPr>
      <p:graphicFrame>
        <p:nvGraphicFramePr>
          <p:cNvPr id="4955" name="Google Shape;4955;p27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240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9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Pricing analysis and optimisation is used extensively across the organisation. It uses best-in-class analytical techniques and a broad range of high quality, integrated data to determine the optimal price for products and services. Individual customer-level pricing (or price guidance) is calculated for key products and includes consideration of aspects such as propensity to buy, attrition, customer profitability and price elasticity.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Price elasticity models are developed for key products (identifying the key demographics and behavioural factors which distinguish price sensitivity) and are used to enhance price optimisation strategy and decisions.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50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analysis is performed on a more granular basis, including channel, customer segment, risk grade etc. Detailed profitability data is used as an input to Price optimisation (e.g. identify segments/customers for whom price should be higher to cover behaviourally-driven costs).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50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analysis is performed largely at Product class level based on summary-level data. Price optimisation is largely on a reactive basis in response to performance against targets/plans and competitive pricing.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models are done at an aggregated level , usually using a manual process to acquire data.  Data based on historical data.  Done in isolation.  Typically done in Excel or Access on an ad-hoc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602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535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KIBOR-based lending rate optimization with risk-adjusted pricing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Deposit rate optimization: CASA acquisition cost vs. term deposit pricing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Fee schedule optimization across channels and customer segments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 net interest margin by 10-20 bps through analytical pricing</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pricing intelligence across peer banks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Dynamic pricing based on customer relationship value</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535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5350">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956" name="Google Shape;4956;p272"/>
          <p:cNvGrpSpPr/>
          <p:nvPr/>
        </p:nvGrpSpPr>
        <p:grpSpPr>
          <a:xfrm>
            <a:off x="469900" y="3819680"/>
            <a:ext cx="8455025" cy="732866"/>
            <a:chOff x="211138" y="3972860"/>
            <a:chExt cx="8713787" cy="642437"/>
          </a:xfrm>
        </p:grpSpPr>
        <p:sp>
          <p:nvSpPr>
            <p:cNvPr id="4957" name="Google Shape;4957;p27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58" name="Google Shape;4958;p27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4959" name="Google Shape;4959;p272"/>
          <p:cNvGrpSpPr/>
          <p:nvPr/>
        </p:nvGrpSpPr>
        <p:grpSpPr>
          <a:xfrm>
            <a:off x="7971865" y="980278"/>
            <a:ext cx="949325" cy="2867825"/>
            <a:chOff x="7941888" y="1062037"/>
            <a:chExt cx="983037" cy="2695575"/>
          </a:xfrm>
        </p:grpSpPr>
        <p:sp>
          <p:nvSpPr>
            <p:cNvPr id="4960" name="Google Shape;4960;p27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61" name="Google Shape;4961;p27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4962" name="Google Shape;4962;p272"/>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a:solidFill>
                <a:schemeClr val="accent6"/>
              </a:solidFill>
            </a:endParaRPr>
          </a:p>
        </p:txBody>
      </p:sp>
      <p:sp>
        <p:nvSpPr>
          <p:cNvPr id="4963" name="Google Shape;4963;p2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Pakistan KPI framework: ROE (&gt;20%), ROA (&gt;1.5%), NIM, Cost-to-Income (&lt;50%), NPL, CASA, CAR (&gt;11.5%)</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Cascade from bank to business line to branch to individual RM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Include Islamic KPIs: profit-sharing competitiveness, Islamic asset quality, Shariah compliance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Financial KPIs from GL and profitability engine, operational KPIs from core banking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Branch-level scorecards: deposits, advances, CASA ratio, fee income, customer count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RM performance: portfolio size, revenue contribution, cross-sell ratio, NPL ratio</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KPI dashboard from bank level to individual RM with drill-down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Performance-based incentive alignment across 16,000+ branches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Balanced scorecard: financial + customer + operational + compliance dimensions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86" name="Shape 4986"/>
        <p:cNvGrpSpPr/>
        <p:nvPr/>
      </p:nvGrpSpPr>
      <p:grpSpPr>
        <a:xfrm>
          <a:off x="0" y="0"/>
          <a:ext cx="0" cy="0"/>
          <a:chOff x="0" y="0"/>
          <a:chExt cx="0" cy="0"/>
        </a:xfrm>
      </p:grpSpPr>
      <p:graphicFrame>
        <p:nvGraphicFramePr>
          <p:cNvPr id="4987" name="Google Shape;4987;p274"/>
          <p:cNvGraphicFramePr/>
          <p:nvPr/>
        </p:nvGraphicFramePr>
        <p:xfrm>
          <a:off x="469899" y="727585"/>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625">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Performance management is part of the culture of the organisation and is executed on a centralised and co-ordinated basis using an integrated set of validated and quality-assured data.  A comprehensive range of KPIs and other measures are clearly defined and agreed, and cover both strategic and operational performance, using best-in-class data and reporting/BI/Dashboard tools are used to calculate and deliver information to end-users.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Performance management and KPI production is centralised, and most data is available from a single, integrated source. KPIs and other measures are clearly defined and agreed, cover key business functions, and are aligned with strategic objectives. Drill-down from summary-level to detail is available (e.g. total business-&gt;business unit-&gt;individual manager)</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6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Responsibility for some performance management and KPI production is centralised however data is still fragmented and is subject to manual sourcing, integration and data quality activities.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6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management is performed independently by many separate functions within the organisation using disparate data, which need to be manually sourced and/or integrated.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Simple KPI reporting functions are produced for use at an executive level for senior management.  Manual data acquisition from non-integrated sources results in reduced response time.</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52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3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Bank-wide KPI scorecard: ROE, ROA, NIM, C/I ratio, NPL, CASA, digital adoption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Business line KPIs: Corporate, Commercial, Retail, Treasury, Islamic</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Branch scorecard linking to SBP compliance metrics and financial targets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Align performance metrics with SBP requirements and strategic objectives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Cascading KPIs from bank-wide to branch to individual RM level</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Real-time performance visibility replacing monthly manual reporting</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3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300">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988" name="Google Shape;4988;p274"/>
          <p:cNvGrpSpPr/>
          <p:nvPr/>
        </p:nvGrpSpPr>
        <p:grpSpPr>
          <a:xfrm>
            <a:off x="469900" y="3767573"/>
            <a:ext cx="8455025" cy="732866"/>
            <a:chOff x="211138" y="3972860"/>
            <a:chExt cx="8713787" cy="642437"/>
          </a:xfrm>
        </p:grpSpPr>
        <p:sp>
          <p:nvSpPr>
            <p:cNvPr id="4989" name="Google Shape;4989;p27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90" name="Google Shape;4990;p27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4991" name="Google Shape;4991;p274"/>
          <p:cNvGrpSpPr/>
          <p:nvPr/>
        </p:nvGrpSpPr>
        <p:grpSpPr>
          <a:xfrm>
            <a:off x="7971865" y="916670"/>
            <a:ext cx="949325" cy="2867825"/>
            <a:chOff x="7941888" y="1062037"/>
            <a:chExt cx="983037" cy="2695575"/>
          </a:xfrm>
        </p:grpSpPr>
        <p:sp>
          <p:nvSpPr>
            <p:cNvPr id="4992" name="Google Shape;4992;p27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93" name="Google Shape;4993;p27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4994" name="Google Shape;4994;p27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a:solidFill>
                <a:schemeClr val="accent6"/>
              </a:solidFill>
            </a:endParaRPr>
          </a:p>
        </p:txBody>
      </p:sp>
      <p:sp>
        <p:nvSpPr>
          <p:cNvPr id="4995" name="Google Shape;4995;p2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Banking inventory: ATM cash (PKR 500B+ across 16,000 ATMs), branch cash, card stock, cheque books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ATM cash optimization: reduce idle cash while avoiding stockouts (free PKR 50-100B working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Card inventory: manage production and distribution pipeline for 30M+ debit and 3M+ credit cards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ATM cash demand forecasting: location, day of week, month-end, Eid/Ramadan seasonal spikes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Card production pipeline: order, print, dispatch, activate lifecycle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 cash requirements varying by branch type and seasonal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PKR 50-100B freed through ATM cash optimization across 16,000+ machines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Card activation rate improvement through inventory-to-activation tracking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 cash demand forecasting reducing emergency replenishment by 30-40%</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8" name="Shape 5018"/>
        <p:cNvGrpSpPr/>
        <p:nvPr/>
      </p:nvGrpSpPr>
      <p:grpSpPr>
        <a:xfrm>
          <a:off x="0" y="0"/>
          <a:ext cx="0" cy="0"/>
          <a:chOff x="0" y="0"/>
          <a:chExt cx="0" cy="0"/>
        </a:xfrm>
      </p:grpSpPr>
      <p:graphicFrame>
        <p:nvGraphicFramePr>
          <p:cNvPr id="5019" name="Google Shape;5019;p27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Automated , integrated inventory analytics solution using  sophisticated modeling tools which enable analysis of stocking levels,  overstock, waste / slippage and optimal inventory projections based on predictive analytics using historical data and emerging trend analysis.  Results are used to optimize or improve cash flow.</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Sophisticated reporting and forecasting of inventory based on historical trend analysis which can be shared across the organization and leverages integrated data sources.  Introduction of higher level predictive modeling techniques to predict trends.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Reporting and analysis based data collected form multiple sources – some of which may be done manually.  Non-granular approach, primarily performed at a category or aggregated level.  Optimization capability done at a local level, highly focused on managing across the entire supply chain.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Simple reporting of inventory performance based on aggregated results using BI tools and data acquired form sub-level systems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Periodic Excel spreadsheet of inventory done at an aggregated level and manually sourced.  Single point in time solution.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Banking inventory: fixed assets (branches, ATMs), IT assets, security equipment</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Cash inventory optimization: branch cash levels, ATM replenishment cycles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Stationery and supplies across 16,000+ branch network</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Optimize ATM cash levels — reduce idle cash and stock-out events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utilization tracking for branch rationalization decisions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Procurement consolidation across branch network</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020" name="Google Shape;5020;p276"/>
          <p:cNvGrpSpPr/>
          <p:nvPr/>
        </p:nvGrpSpPr>
        <p:grpSpPr>
          <a:xfrm>
            <a:off x="469900" y="3819680"/>
            <a:ext cx="8455025" cy="732866"/>
            <a:chOff x="211138" y="3972860"/>
            <a:chExt cx="8713787" cy="642437"/>
          </a:xfrm>
        </p:grpSpPr>
        <p:sp>
          <p:nvSpPr>
            <p:cNvPr id="5021" name="Google Shape;5021;p27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22" name="Google Shape;5022;p27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023" name="Google Shape;5023;p276"/>
          <p:cNvGrpSpPr/>
          <p:nvPr/>
        </p:nvGrpSpPr>
        <p:grpSpPr>
          <a:xfrm>
            <a:off x="7971865" y="980278"/>
            <a:ext cx="949325" cy="2867825"/>
            <a:chOff x="7941888" y="1062037"/>
            <a:chExt cx="983037" cy="2695575"/>
          </a:xfrm>
        </p:grpSpPr>
        <p:sp>
          <p:nvSpPr>
            <p:cNvPr id="5024" name="Google Shape;5024;p27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25" name="Google Shape;5025;p27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026" name="Google Shape;5026;p276"/>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a:solidFill>
                <a:schemeClr val="accent6"/>
              </a:solidFill>
            </a:endParaRPr>
          </a:p>
        </p:txBody>
      </p:sp>
      <p:sp>
        <p:nvSpPr>
          <p:cNvPr id="5027" name="Google Shape;5027;p2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Pakistan budget cycle: 3-4 months (Sep-Dec) -- target: reduce to 4-6 weeks with rolling forecasts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Must separately plan conventional and Islamic business lines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rate changes (200-300bps in single meeting) dramatically impact NII forecast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Historical budget vs. actual data, KIBOR forward curve, deposit/advance growth trends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Inflation assumptions (15-25% drives salary and occupancy increases)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IFRS 9 provision forecasts (volatile -- depends on macro scenarios)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Rolling monthly forecasts replacing annual budget with mid-year review</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What-if scenarios: KIBOR changes (100bps = PKR 5-10B NII impact for large bank)</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Branch-level full P&amp;L budgets with automated variance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0" name="Shape 5050"/>
        <p:cNvGrpSpPr/>
        <p:nvPr/>
      </p:nvGrpSpPr>
      <p:grpSpPr>
        <a:xfrm>
          <a:off x="0" y="0"/>
          <a:ext cx="0" cy="0"/>
          <a:chOff x="0" y="0"/>
          <a:chExt cx="0" cy="0"/>
        </a:xfrm>
      </p:grpSpPr>
      <p:graphicFrame>
        <p:nvGraphicFramePr>
          <p:cNvPr id="5051" name="Google Shape;5051;p27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Budgeting, Planning and Forecasting is a largely automated process, utilising data from a single, validated and quality-assured source. Best-in-class tool provides Budgeting, Planning and Forecasting functionality with minimal manual intervention. Fast budget process cycle time. Very high levels of accuracy (actuals : budget)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Budgeting, Planning and Forecasting is mostly centralised, and the majority of required data is available from a single, integrated source. A specialised Budgeting, Planning &amp; Forecasting tool is used. High levels of accuracy (actuals : budget)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Responsibility for Budgeting, Planning and Forecasting is centralised however data is still fragmented and is subject to manual sourcing, integration and data quality activities. Moderate levels of accuracy (actuals : budget)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Budgeting, Planning and Forecasting is performed independently by many separate functions within the organisation using disparate data, which need</a:t>
                      </a:r>
                      <a:r>
                        <a:rPr b="0" lang="en-GB" sz="900">
                          <a:solidFill>
                            <a:srgbClr val="FF0000"/>
                          </a:solidFill>
                          <a:latin typeface="Century Gothic"/>
                          <a:ea typeface="Century Gothic"/>
                          <a:cs typeface="Century Gothic"/>
                          <a:sym typeface="Century Gothic"/>
                        </a:rPr>
                        <a:t>s</a:t>
                      </a:r>
                      <a:r>
                        <a:rPr b="0" lang="en-GB" sz="900">
                          <a:solidFill>
                            <a:schemeClr val="dk1"/>
                          </a:solidFill>
                          <a:latin typeface="Century Gothic"/>
                          <a:ea typeface="Century Gothic"/>
                          <a:cs typeface="Century Gothic"/>
                          <a:sym typeface="Century Gothic"/>
                        </a:rPr>
                        <a:t> to be manually  sourced and/or integrated. Slow budget process cycle time. Low levels of accuracy (actuals : budget)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Static budget done annually, usually using spread sheets and not shared across the organization.  Lack of detail minimises the usefulness.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Replace 3-4 month manual budget cycle with analytical planning platform</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Rolling forecasts incorporating KIBOR rate scenarios and SBP policy changes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Business line and branch-level budget vs. actual variance analytics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budget cycle from months to weeks with analytical approach</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Monthly rolling forecasts enable agile response to rate environment changes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Branch-level budget accountability with automated variance reporting</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052" name="Google Shape;5052;p278"/>
          <p:cNvGrpSpPr/>
          <p:nvPr/>
        </p:nvGrpSpPr>
        <p:grpSpPr>
          <a:xfrm>
            <a:off x="469900" y="3819680"/>
            <a:ext cx="8455025" cy="732866"/>
            <a:chOff x="211138" y="3972860"/>
            <a:chExt cx="8713787" cy="642437"/>
          </a:xfrm>
        </p:grpSpPr>
        <p:sp>
          <p:nvSpPr>
            <p:cNvPr id="5053" name="Google Shape;5053;p27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54" name="Google Shape;5054;p27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055" name="Google Shape;5055;p278"/>
          <p:cNvGrpSpPr/>
          <p:nvPr/>
        </p:nvGrpSpPr>
        <p:grpSpPr>
          <a:xfrm>
            <a:off x="7971865" y="980278"/>
            <a:ext cx="949325" cy="2867825"/>
            <a:chOff x="7941888" y="1062037"/>
            <a:chExt cx="983037" cy="2695575"/>
          </a:xfrm>
        </p:grpSpPr>
        <p:sp>
          <p:nvSpPr>
            <p:cNvPr id="5056" name="Google Shape;5056;p27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57" name="Google Shape;5057;p27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058" name="Google Shape;5058;p27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Forecasting</a:t>
            </a:r>
            <a:endParaRPr>
              <a:solidFill>
                <a:schemeClr val="accent6"/>
              </a:solidFill>
            </a:endParaRPr>
          </a:p>
        </p:txBody>
      </p:sp>
      <p:sp>
        <p:nvSpPr>
          <p:cNvPr id="5059" name="Google Shape;5059;p2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account opening (7-14 days to &lt;1 day), loan origination (21-45 days to &lt;7 days)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Process mining on core banking system logs to identify bottlenecks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Consumer Protection SLAs drive complaint resolution optimization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Core banking system event logs, workflow timestamps, SLA compliance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Complaint resolution timelines tracked against SBP mandated standards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Loan origination pipeline data: application to disbursement time by product type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Complaint resolution from 30 days to &lt;7 days (SBP compliance benefit)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Loan origination time reduction saving PKR 500-1,000 per application in processing cost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Digital onboarding process optimization: CNIC verification to account activation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2" name="Shape 5082"/>
        <p:cNvGrpSpPr/>
        <p:nvPr/>
      </p:nvGrpSpPr>
      <p:grpSpPr>
        <a:xfrm>
          <a:off x="0" y="0"/>
          <a:ext cx="0" cy="0"/>
          <a:chOff x="0" y="0"/>
          <a:chExt cx="0" cy="0"/>
        </a:xfrm>
      </p:grpSpPr>
      <p:graphicFrame>
        <p:nvGraphicFramePr>
          <p:cNvPr id="5083" name="Google Shape;5083;p28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Business process analytics and optimisation is used extensively across the organisation. A broad range of processes are regularly monitored to identify deterioration or specific areas to focus on. A broad range of structured and multi-structured data is used, which is available with minimal manual sourcing and integration effort, and a broad range of advanced analytical techniques. A structured process exists to deploy improvements into production, and to track improvements and monitor over time.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Business process analytics and optimisation uses a range of structured and multi-structured data, and advanced analytical techniques. A structured process exists to deploy process improvements into production. A track record of process optimisation driving improvements in revenue, cost or customer experience can be demonstrated.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Business process analytics and optimisation uses detailed data to support analysis and optimisation, however this needs to be manually sourced and integrated. Analytical processes are a mixture of manual investigation / insight and use of analytical tools and techniques.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Business process analytics and optimisation is largely manual and based on traditional observation, analysis, time &amp; motion studies and summary-level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Traditional ‘time &amp; motion’ studies, which can be resource-intensive, costly, and disruptive to the business.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Loan origination process: application to disbursement cycle time optimization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Account opening process: CNIC/NADRA verification, KYC, CDD digitization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SBP consumer complaint resolution process SLA monitoring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loan turnaround from weeks to days through process analytics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Digital account opening: reduce branch dependency and cost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SBP compliance: automated process SLA tracking and exception alerts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084" name="Google Shape;5084;p280"/>
          <p:cNvGrpSpPr/>
          <p:nvPr/>
        </p:nvGrpSpPr>
        <p:grpSpPr>
          <a:xfrm>
            <a:off x="469900" y="3827631"/>
            <a:ext cx="8455025" cy="732866"/>
            <a:chOff x="211138" y="3972860"/>
            <a:chExt cx="8713787" cy="642437"/>
          </a:xfrm>
        </p:grpSpPr>
        <p:sp>
          <p:nvSpPr>
            <p:cNvPr id="5085" name="Google Shape;5085;p28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86" name="Google Shape;5086;p28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087" name="Google Shape;5087;p280"/>
          <p:cNvGrpSpPr/>
          <p:nvPr/>
        </p:nvGrpSpPr>
        <p:grpSpPr>
          <a:xfrm>
            <a:off x="7971865" y="980278"/>
            <a:ext cx="949325" cy="2867825"/>
            <a:chOff x="7941888" y="1062037"/>
            <a:chExt cx="983037" cy="2695575"/>
          </a:xfrm>
        </p:grpSpPr>
        <p:sp>
          <p:nvSpPr>
            <p:cNvPr id="5088" name="Google Shape;5088;p28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89" name="Google Shape;5089;p28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090" name="Google Shape;5090;p28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Optimisation</a:t>
            </a:r>
            <a:endParaRPr>
              <a:solidFill>
                <a:schemeClr val="accent6"/>
              </a:solidFill>
            </a:endParaRPr>
          </a:p>
        </p:txBody>
      </p:sp>
      <p:sp>
        <p:nvSpPr>
          <p:cNvPr id="5091" name="Google Shape;5091;p2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a:p>
            <a:pPr indent="0" lvl="0" marL="0" rtl="0" algn="l">
              <a:lnSpc>
                <a:spcPct val="95000"/>
              </a:lnSpc>
              <a:spcBef>
                <a:spcPts val="400"/>
              </a:spcBef>
              <a:spcAft>
                <a:spcPts val="0"/>
              </a:spcAft>
              <a:buNone/>
            </a:pPr>
            <a:r>
              <a:rPr b="1" lang="en-GB" sz="1000">
                <a:solidFill>
                  <a:srgbClr val="0079DB"/>
                </a:solidFill>
              </a:rPr>
              <a:t>Pakistan Context:</a:t>
            </a:r>
            <a:endParaRPr/>
          </a:p>
          <a:p>
            <a:pPr indent="-169863" lvl="0" marL="169863" rtl="0" algn="l">
              <a:lnSpc>
                <a:spcPct val="95000"/>
              </a:lnSpc>
              <a:spcBef>
                <a:spcPts val="200"/>
              </a:spcBef>
              <a:spcAft>
                <a:spcPts val="0"/>
              </a:spcAft>
              <a:buClr>
                <a:srgbClr val="0079DB"/>
              </a:buClr>
              <a:buSzPts val="1000"/>
              <a:buChar char="•"/>
            </a:pPr>
            <a:r>
              <a:rPr lang="en-GB" sz="1000">
                <a:solidFill>
                  <a:srgbClr val="0079DB"/>
                </a:solidFill>
              </a:rPr>
              <a:t>Pakistan bank treasury manages PKR 10T+ in government securities, FX positions, money market instruments, and derivatives</a:t>
            </a:r>
            <a:endParaRPr/>
          </a:p>
          <a:p>
            <a:pPr indent="-169863" lvl="0" marL="169863" rtl="0" algn="l">
              <a:lnSpc>
                <a:spcPct val="95000"/>
              </a:lnSpc>
              <a:spcBef>
                <a:spcPts val="200"/>
              </a:spcBef>
              <a:spcAft>
                <a:spcPts val="0"/>
              </a:spcAft>
              <a:buClr>
                <a:srgbClr val="0079DB"/>
              </a:buClr>
              <a:buSzPts val="1000"/>
              <a:buChar char="•"/>
            </a:pPr>
            <a:r>
              <a:rPr lang="en-GB" sz="1000">
                <a:solidFill>
                  <a:srgbClr val="0079DB"/>
                </a:solidFill>
              </a:rPr>
              <a:t>SBP constraints: Open FX position limits, SLR requirements, CRR requirements, interbank exposure limits</a:t>
            </a:r>
            <a:endParaRPr/>
          </a:p>
          <a:p>
            <a:pPr indent="-169863" lvl="0" marL="169863" rtl="0" algn="l">
              <a:lnSpc>
                <a:spcPct val="95000"/>
              </a:lnSpc>
              <a:spcBef>
                <a:spcPts val="200"/>
              </a:spcBef>
              <a:spcAft>
                <a:spcPts val="0"/>
              </a:spcAft>
              <a:buClr>
                <a:srgbClr val="0079DB"/>
              </a:buClr>
              <a:buSzPts val="1000"/>
              <a:buChar char="•"/>
            </a:pPr>
            <a:r>
              <a:rPr lang="en-GB" sz="1000">
                <a:solidFill>
                  <a:srgbClr val="0079DB"/>
                </a:solidFill>
              </a:rPr>
              <a:t>Islamic treasury: parallel desk managing Sukuk, Islamic interbank (Bai Muajjal, Wakalah), and Shariah-compliant investments</a:t>
            </a:r>
            <a:endParaRPr/>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5" name="Shape 5105"/>
        <p:cNvGrpSpPr/>
        <p:nvPr/>
      </p:nvGrpSpPr>
      <p:grpSpPr>
        <a:xfrm>
          <a:off x="0" y="0"/>
          <a:ext cx="0" cy="0"/>
          <a:chOff x="0" y="0"/>
          <a:chExt cx="0" cy="0"/>
        </a:xfrm>
      </p:grpSpPr>
      <p:pic>
        <p:nvPicPr>
          <p:cNvPr id="5106" name="Google Shape;5106;p282"/>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107" name="Google Shape;5107;p282"/>
          <p:cNvSpPr txBox="1"/>
          <p:nvPr>
            <p:ph type="title"/>
          </p:nvPr>
        </p:nvSpPr>
        <p:spPr>
          <a:xfrm>
            <a:off x="477880" y="85725"/>
            <a:ext cx="8401960" cy="793750"/>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br>
              <a:rPr lang="en-GB"/>
            </a:br>
            <a:r>
              <a:rPr lang="en-GB"/>
              <a:t>Business Challenges</a:t>
            </a:r>
            <a:endParaRPr/>
          </a:p>
        </p:txBody>
      </p:sp>
      <p:sp>
        <p:nvSpPr>
          <p:cNvPr id="5108" name="Google Shape;5108;p28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
        <p:nvSpPr>
          <p:cNvPr id="5109" name="Google Shape;5109;p282"/>
          <p:cNvSpPr/>
          <p:nvPr/>
        </p:nvSpPr>
        <p:spPr>
          <a:xfrm>
            <a:off x="475559" y="1076925"/>
            <a:ext cx="8264697" cy="838769"/>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chemeClr val="lt1"/>
                </a:solidFill>
                <a:latin typeface="Century Gothic"/>
                <a:ea typeface="Century Gothic"/>
                <a:cs typeface="Century Gothic"/>
                <a:sym typeface="Century Gothic"/>
              </a:rPr>
              <a:t>Overall challenge</a:t>
            </a:r>
            <a:r>
              <a:rPr lang="en-GB" sz="1400">
                <a:solidFill>
                  <a:schemeClr val="lt1"/>
                </a:solidFill>
                <a:latin typeface="Century Gothic"/>
                <a:ea typeface="Century Gothic"/>
                <a:cs typeface="Century Gothic"/>
                <a:sym typeface="Century Gothic"/>
              </a:rPr>
              <a:t>: Enhanced levels of detail supporting in-depth analysis and reporting with more frequent iterations, and enable cash flow rules to be established / maintained within the Treasury function</a:t>
            </a:r>
            <a:endParaRPr/>
          </a:p>
        </p:txBody>
      </p:sp>
      <p:sp>
        <p:nvSpPr>
          <p:cNvPr id="5110" name="Google Shape;5110;p282"/>
          <p:cNvSpPr/>
          <p:nvPr/>
        </p:nvSpPr>
        <p:spPr>
          <a:xfrm>
            <a:off x="3670300" y="4066286"/>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Leverage multiple data types (e.g. structured &amp; unstructured)and sources in a well governed environment while meeting challenging and tight business,  regulatory and reporting requirements.</a:t>
            </a:r>
            <a:endParaRPr/>
          </a:p>
        </p:txBody>
      </p:sp>
      <p:sp>
        <p:nvSpPr>
          <p:cNvPr id="5111" name="Google Shape;5111;p282"/>
          <p:cNvSpPr/>
          <p:nvPr/>
        </p:nvSpPr>
        <p:spPr>
          <a:xfrm>
            <a:off x="3670300" y="3369173"/>
            <a:ext cx="5069957" cy="680400"/>
          </a:xfrm>
          <a:prstGeom prst="rect">
            <a:avLst/>
          </a:prstGeom>
          <a:solidFill>
            <a:schemeClr val="lt2"/>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Having adequate means to meet day to day expenses, as well as financial obligations in the short-term, respond timely to unexpected liquidity events and a more granular, accurate and timely analysis to support ALM decisions.</a:t>
            </a:r>
            <a:endParaRPr/>
          </a:p>
        </p:txBody>
      </p:sp>
      <p:sp>
        <p:nvSpPr>
          <p:cNvPr id="5112" name="Google Shape;5112;p282"/>
          <p:cNvSpPr/>
          <p:nvPr/>
        </p:nvSpPr>
        <p:spPr>
          <a:xfrm>
            <a:off x="565150" y="4066286"/>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113" name="Google Shape;5113;p282"/>
          <p:cNvSpPr/>
          <p:nvPr/>
        </p:nvSpPr>
        <p:spPr>
          <a:xfrm>
            <a:off x="3670300" y="2667087"/>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Excessive time consuming manual processes resulting from integration of detailed transactional data coming from cash generating systems and cash usage systems.</a:t>
            </a:r>
            <a:endParaRPr sz="900">
              <a:solidFill>
                <a:schemeClr val="dk1"/>
              </a:solidFill>
              <a:latin typeface="Century Gothic"/>
              <a:ea typeface="Century Gothic"/>
              <a:cs typeface="Century Gothic"/>
              <a:sym typeface="Century Gothic"/>
            </a:endParaRPr>
          </a:p>
        </p:txBody>
      </p:sp>
      <p:sp>
        <p:nvSpPr>
          <p:cNvPr id="5114" name="Google Shape;5114;p282"/>
          <p:cNvSpPr/>
          <p:nvPr/>
        </p:nvSpPr>
        <p:spPr>
          <a:xfrm>
            <a:off x="565150" y="2667088"/>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115" name="Google Shape;5115;p282"/>
          <p:cNvSpPr/>
          <p:nvPr/>
        </p:nvSpPr>
        <p:spPr>
          <a:xfrm>
            <a:off x="488950" y="2667088"/>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Costly &amp; time consuming processes</a:t>
            </a:r>
            <a:endParaRPr/>
          </a:p>
        </p:txBody>
      </p:sp>
      <p:sp>
        <p:nvSpPr>
          <p:cNvPr id="5116" name="Google Shape;5116;p282"/>
          <p:cNvSpPr/>
          <p:nvPr/>
        </p:nvSpPr>
        <p:spPr>
          <a:xfrm>
            <a:off x="3670299" y="1962831"/>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Generate detailed , accurate and granular cash flow data to support a range of activities across Treasury and beyond (including ALM, Liquidity Management, Future Value calculations etc.)</a:t>
            </a:r>
            <a:endParaRPr/>
          </a:p>
        </p:txBody>
      </p:sp>
      <p:sp>
        <p:nvSpPr>
          <p:cNvPr id="5117" name="Google Shape;5117;p282"/>
          <p:cNvSpPr/>
          <p:nvPr/>
        </p:nvSpPr>
        <p:spPr>
          <a:xfrm>
            <a:off x="565149" y="1962832"/>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118" name="Google Shape;5118;p282"/>
          <p:cNvSpPr/>
          <p:nvPr/>
        </p:nvSpPr>
        <p:spPr>
          <a:xfrm>
            <a:off x="488949" y="1962832"/>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Comprehensive Access to detailed data</a:t>
            </a:r>
            <a:endParaRPr/>
          </a:p>
        </p:txBody>
      </p:sp>
      <p:sp>
        <p:nvSpPr>
          <p:cNvPr id="5119" name="Google Shape;5119;p282"/>
          <p:cNvSpPr/>
          <p:nvPr/>
        </p:nvSpPr>
        <p:spPr>
          <a:xfrm>
            <a:off x="488950" y="4066286"/>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New data types and sources</a:t>
            </a:r>
            <a:endParaRPr/>
          </a:p>
        </p:txBody>
      </p:sp>
      <p:sp>
        <p:nvSpPr>
          <p:cNvPr id="5120" name="Google Shape;5120;p282"/>
          <p:cNvSpPr/>
          <p:nvPr/>
        </p:nvSpPr>
        <p:spPr>
          <a:xfrm>
            <a:off x="565150" y="3369174"/>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121" name="Google Shape;5121;p282"/>
          <p:cNvSpPr/>
          <p:nvPr/>
        </p:nvSpPr>
        <p:spPr>
          <a:xfrm>
            <a:off x="488950" y="3369174"/>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Matching short term obligations with available “quick assets”</a:t>
            </a:r>
            <a:endParaRPr/>
          </a:p>
        </p:txBody>
      </p:sp>
      <p:sp>
        <p:nvSpPr>
          <p:cNvPr id="99901" name="PK Context 24"/>
          <p:cNvSpPr txBox="1"/>
          <p:nvPr/>
        </p:nvSpPr>
        <p:spPr>
          <a:xfrm>
            <a:off x="475559" y="4800000"/>
            <a:ext cx="8264697" cy="300000"/>
          </a:xfrm>
          <a:prstGeom prst="rect">
            <a:avLst/>
          </a:prstGeom>
          <a:noFill/>
          <a:ln>
            <a:noFill/>
          </a:ln>
        </p:spPr>
        <p:txBody>
          <a:bodyPr anchorCtr="0" anchor="ctr" bIns="0" lIns="91425" spcFirstLastPara="1" rIns="91425" wrap="square" tIns="0">
            <a:noAutofit/>
          </a:bodyPr>
          <a:lstStyle/>
          <a:p>
            <a:pPr indent="0" lvl="0" marL="0" rtl="0" algn="l">
              <a:buNone/>
            </a:pPr>
            <a:r>
              <a:rPr b="1" lang="en-GB" sz="800">
                <a:solidFill>
                  <a:srgbClr val="0079DB"/>
                </a:solidFill>
              </a:rPr>
              <a:t>Pakistan: SBP policy rate drives treasury focus; PKR 10T+ govt securities; RAAST real-time settlement; dual conventional/Islamic treasury desks</a:t>
            </a:r>
            <a:endParaRPr/>
          </a:p>
        </p:txBody>
      </p:sp>
    </p:spTree>
  </p:cSld>
  <p:clrMapOvr>
    <a:masterClrMapping/>
  </p:clrMapOvr>
</p:sld>
</file>

<file path=ppt/slides/slide2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5" name="Shape 5125"/>
        <p:cNvGrpSpPr/>
        <p:nvPr/>
      </p:nvGrpSpPr>
      <p:grpSpPr>
        <a:xfrm>
          <a:off x="0" y="0"/>
          <a:ext cx="0" cy="0"/>
          <a:chOff x="0" y="0"/>
          <a:chExt cx="0" cy="0"/>
        </a:xfrm>
      </p:grpSpPr>
      <p:sp>
        <p:nvSpPr>
          <p:cNvPr id="5126" name="Google Shape;5126;p283"/>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127" name="Google Shape;5127;p283"/>
          <p:cNvSpPr txBox="1"/>
          <p:nvPr>
            <p:ph idx="4294967295" type="body"/>
          </p:nvPr>
        </p:nvSpPr>
        <p:spPr>
          <a:xfrm>
            <a:off x="288393" y="997338"/>
            <a:ext cx="4831307"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1"/>
              </a:buClr>
              <a:buSzPts val="1600"/>
              <a:buNone/>
            </a:pPr>
            <a:r>
              <a:rPr b="1" lang="en-GB" sz="1600"/>
              <a:t>   </a:t>
            </a:r>
            <a:r>
              <a:rPr lang="en-GB">
                <a:solidFill>
                  <a:schemeClr val="dk2"/>
                </a:solidFill>
              </a:rPr>
              <a:t>Are You Able To…</a:t>
            </a:r>
            <a:br>
              <a:rPr lang="en-GB">
                <a:solidFill>
                  <a:schemeClr val="dk2"/>
                </a:solidFill>
              </a:rPr>
            </a:br>
            <a:endParaRPr>
              <a:solidFill>
                <a:schemeClr val="dk2"/>
              </a:solidFill>
            </a:endParaRPr>
          </a:p>
          <a:p>
            <a:pPr indent="-228600" lvl="1" marL="457200" rtl="0" algn="l">
              <a:lnSpc>
                <a:spcPct val="100000"/>
              </a:lnSpc>
              <a:spcBef>
                <a:spcPts val="0"/>
              </a:spcBef>
              <a:spcAft>
                <a:spcPts val="0"/>
              </a:spcAft>
              <a:buClr>
                <a:schemeClr val="dk1"/>
              </a:buClr>
              <a:buSzPts val="1300"/>
              <a:buChar char="–"/>
            </a:pPr>
            <a:r>
              <a:rPr lang="en-GB" sz="1300"/>
              <a:t>Maximize investable assets for the longest period possible?</a:t>
            </a:r>
            <a:endParaRPr/>
          </a:p>
          <a:p>
            <a:pPr indent="-228600" lvl="1" marL="457200" rtl="0" algn="l">
              <a:lnSpc>
                <a:spcPct val="100000"/>
              </a:lnSpc>
              <a:spcBef>
                <a:spcPts val="300"/>
              </a:spcBef>
              <a:spcAft>
                <a:spcPts val="0"/>
              </a:spcAft>
              <a:buClr>
                <a:schemeClr val="dk1"/>
              </a:buClr>
              <a:buSzPts val="1300"/>
              <a:buChar char="–"/>
            </a:pPr>
            <a:r>
              <a:rPr lang="en-GB" sz="1300"/>
              <a:t>Generate detailed , accurate and granular cash flow data to support a range of activities across Treasury and beyond (including ALM, Liquidity Management, Future Value calculations etc.)?</a:t>
            </a:r>
            <a:endParaRPr sz="1300"/>
          </a:p>
          <a:p>
            <a:pPr indent="-228600" lvl="1" marL="457200" rtl="0" algn="l">
              <a:lnSpc>
                <a:spcPct val="100000"/>
              </a:lnSpc>
              <a:spcBef>
                <a:spcPts val="300"/>
              </a:spcBef>
              <a:spcAft>
                <a:spcPts val="0"/>
              </a:spcAft>
              <a:buClr>
                <a:schemeClr val="dk1"/>
              </a:buClr>
              <a:buSzPts val="1300"/>
              <a:buChar char="–"/>
            </a:pPr>
            <a:r>
              <a:rPr lang="en-GB" sz="1300"/>
              <a:t>Have clear line of site between “quick assets” and expected short term liabilities?</a:t>
            </a:r>
            <a:endParaRPr sz="1300"/>
          </a:p>
          <a:p>
            <a:pPr indent="-228600" lvl="1" marL="457200" rtl="0" algn="l">
              <a:lnSpc>
                <a:spcPct val="100000"/>
              </a:lnSpc>
              <a:spcBef>
                <a:spcPts val="300"/>
              </a:spcBef>
              <a:spcAft>
                <a:spcPts val="0"/>
              </a:spcAft>
              <a:buClr>
                <a:schemeClr val="dk1"/>
              </a:buClr>
              <a:buSzPts val="1300"/>
              <a:buChar char="–"/>
            </a:pPr>
            <a:r>
              <a:rPr lang="en-GB" sz="1300"/>
              <a:t>Reduce the dependency on SME effort and the “Excel Army”?</a:t>
            </a:r>
            <a:endParaRPr sz="1300"/>
          </a:p>
          <a:p>
            <a:pPr indent="-228600" lvl="1" marL="457200" rtl="0" algn="l">
              <a:lnSpc>
                <a:spcPct val="85000"/>
              </a:lnSpc>
              <a:spcBef>
                <a:spcPts val="500"/>
              </a:spcBef>
              <a:spcAft>
                <a:spcPts val="0"/>
              </a:spcAft>
              <a:buClr>
                <a:schemeClr val="dk1"/>
              </a:buClr>
              <a:buSzPts val="1300"/>
              <a:buFont typeface="Arial"/>
              <a:buChar char="‒"/>
            </a:pPr>
            <a:r>
              <a:rPr lang="en-GB" sz="1300"/>
              <a:t>Manage through unexpected events, e.g. a liquidity event?</a:t>
            </a:r>
            <a:endParaRPr/>
          </a:p>
          <a:p>
            <a:pPr indent="-228600" lvl="1" marL="457200" rtl="0" algn="l">
              <a:lnSpc>
                <a:spcPct val="85000"/>
              </a:lnSpc>
              <a:spcBef>
                <a:spcPts val="400"/>
              </a:spcBef>
              <a:spcAft>
                <a:spcPts val="0"/>
              </a:spcAft>
              <a:buClr>
                <a:schemeClr val="dk1"/>
              </a:buClr>
              <a:buSzPts val="1300"/>
              <a:buFont typeface="Arial"/>
              <a:buChar char="‒"/>
            </a:pPr>
            <a:r>
              <a:rPr lang="en-GB" sz="1300"/>
              <a:t>Support contractual and non-contractual cash flows?</a:t>
            </a:r>
            <a:endParaRPr sz="1300"/>
          </a:p>
          <a:p>
            <a:pPr indent="0" lvl="0" marL="0" rtl="0" algn="l">
              <a:lnSpc>
                <a:spcPct val="100000"/>
              </a:lnSpc>
              <a:spcBef>
                <a:spcPts val="500"/>
              </a:spcBef>
              <a:spcAft>
                <a:spcPts val="0"/>
              </a:spcAft>
              <a:buNone/>
            </a:pPr>
            <a:r>
              <a:rPr b="1" lang="en-GB" sz="1200">
                <a:solidFill>
                  <a:srgbClr val="0079DB"/>
                </a:solidFill>
              </a:rPr>
              <a:t>Pakistan-Specific:</a:t>
            </a:r>
            <a:endParaRPr/>
          </a:p>
          <a:p>
            <a:pPr indent="-228600" lvl="1" marL="457200" rtl="0" algn="l">
              <a:lnSpc>
                <a:spcPct val="100000"/>
              </a:lnSpc>
              <a:spcBef>
                <a:spcPts val="400"/>
              </a:spcBef>
              <a:spcAft>
                <a:spcPts val="0"/>
              </a:spcAft>
              <a:buClr>
                <a:srgbClr val="0079DB"/>
              </a:buClr>
              <a:buSzPts val="1200"/>
              <a:buChar char="–"/>
            </a:pPr>
            <a:r>
              <a:rPr lang="en-GB" sz="1200">
                <a:solidFill>
                  <a:srgbClr val="0079DB"/>
                </a:solidFill>
              </a:rPr>
              <a:t>Can you calculate intraday liquidity position incorporating RAAST real-time settlement impact?</a:t>
            </a:r>
            <a:endParaRPr sz="1200"/>
          </a:p>
          <a:p>
            <a:pPr indent="-228600" lvl="1" marL="457200" rtl="0" algn="l">
              <a:lnSpc>
                <a:spcPct val="100000"/>
              </a:lnSpc>
              <a:spcBef>
                <a:spcPts val="400"/>
              </a:spcBef>
              <a:spcAft>
                <a:spcPts val="0"/>
              </a:spcAft>
              <a:buClr>
                <a:srgbClr val="0079DB"/>
              </a:buClr>
              <a:buSzPts val="1200"/>
              <a:buChar char="–"/>
            </a:pPr>
            <a:r>
              <a:rPr lang="en-GB" sz="1200">
                <a:solidFill>
                  <a:srgbClr val="0079DB"/>
                </a:solidFill>
              </a:rPr>
              <a:t>Can you produce matched-maturity FTP rates using KIBOR yield curve?</a:t>
            </a:r>
            <a:endParaRPr sz="1200"/>
          </a:p>
          <a:p>
            <a:pPr indent="-228600" lvl="1" marL="457200" rtl="0" algn="l">
              <a:lnSpc>
                <a:spcPct val="100000"/>
              </a:lnSpc>
              <a:spcBef>
                <a:spcPts val="400"/>
              </a:spcBef>
              <a:spcAft>
                <a:spcPts val="0"/>
              </a:spcAft>
              <a:buClr>
                <a:srgbClr val="0079DB"/>
              </a:buClr>
              <a:buSzPts val="1200"/>
              <a:buChar char="–"/>
            </a:pPr>
            <a:r>
              <a:rPr lang="en-GB" sz="1200">
                <a:solidFill>
                  <a:srgbClr val="0079DB"/>
                </a:solidFill>
              </a:rPr>
              <a:t>Can you run ALM stress scenarios per SBP ICAAP requirements?</a:t>
            </a:r>
            <a:endParaRPr sz="1200"/>
          </a:p>
        </p:txBody>
      </p:sp>
      <p:sp>
        <p:nvSpPr>
          <p:cNvPr id="5128" name="Google Shape;5128;p283"/>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id="5129" name="Google Shape;5129;p283"/>
          <p:cNvPicPr preferRelativeResize="0"/>
          <p:nvPr/>
        </p:nvPicPr>
        <p:blipFill rotWithShape="1">
          <a:blip r:embed="rId3">
            <a:alphaModFix/>
          </a:blip>
          <a:srcRect b="0" l="0" r="0" t="0"/>
          <a:stretch/>
        </p:blipFill>
        <p:spPr>
          <a:xfrm>
            <a:off x="5561014" y="967317"/>
            <a:ext cx="3576636" cy="2430846"/>
          </a:xfrm>
          <a:prstGeom prst="rect">
            <a:avLst/>
          </a:prstGeom>
          <a:noFill/>
          <a:ln>
            <a:noFill/>
          </a:ln>
        </p:spPr>
      </p:pic>
      <p:sp>
        <p:nvSpPr>
          <p:cNvPr id="5130" name="Google Shape;5130;p28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4" name="Shape 5134"/>
        <p:cNvGrpSpPr/>
        <p:nvPr/>
      </p:nvGrpSpPr>
      <p:grpSpPr>
        <a:xfrm>
          <a:off x="0" y="0"/>
          <a:ext cx="0" cy="0"/>
          <a:chOff x="0" y="0"/>
          <a:chExt cx="0" cy="0"/>
        </a:xfrm>
      </p:grpSpPr>
      <p:sp>
        <p:nvSpPr>
          <p:cNvPr id="5135" name="Google Shape;5135;p284"/>
          <p:cNvSpPr txBox="1"/>
          <p:nvPr>
            <p:ph idx="1" type="body"/>
          </p:nvPr>
        </p:nvSpPr>
        <p:spPr>
          <a:xfrm>
            <a:off x="467360" y="1182730"/>
            <a:ext cx="4753226"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71450" lvl="0" marL="171450" rtl="0" algn="l">
              <a:lnSpc>
                <a:spcPct val="95000"/>
              </a:lnSpc>
              <a:spcBef>
                <a:spcPts val="800"/>
              </a:spcBef>
              <a:spcAft>
                <a:spcPts val="0"/>
              </a:spcAft>
              <a:buClr>
                <a:schemeClr val="dk1"/>
              </a:buClr>
              <a:buSzPts val="1400"/>
              <a:buChar char="•"/>
            </a:pPr>
            <a:r>
              <a:rPr lang="en-GB" sz="1400"/>
              <a:t>Generate greater granular view of Cash flow to enable enhanced ALM and Liquidity Management capabilities.</a:t>
            </a:r>
            <a:endParaRPr/>
          </a:p>
          <a:p>
            <a:pPr indent="-171450" lvl="0" marL="171450" rtl="0" algn="l">
              <a:lnSpc>
                <a:spcPct val="95000"/>
              </a:lnSpc>
              <a:spcBef>
                <a:spcPts val="800"/>
              </a:spcBef>
              <a:spcAft>
                <a:spcPts val="0"/>
              </a:spcAft>
              <a:buClr>
                <a:schemeClr val="dk1"/>
              </a:buClr>
              <a:buSzPts val="1400"/>
              <a:buChar char="•"/>
            </a:pPr>
            <a:r>
              <a:rPr lang="en-GB" sz="1400"/>
              <a:t>Accelerate time to cash flow insight</a:t>
            </a:r>
            <a:endParaRPr/>
          </a:p>
          <a:p>
            <a:pPr indent="-171450" lvl="0" marL="171450" rtl="0" algn="l">
              <a:lnSpc>
                <a:spcPct val="95000"/>
              </a:lnSpc>
              <a:spcBef>
                <a:spcPts val="800"/>
              </a:spcBef>
              <a:spcAft>
                <a:spcPts val="0"/>
              </a:spcAft>
              <a:buClr>
                <a:schemeClr val="dk1"/>
              </a:buClr>
              <a:buSzPts val="1400"/>
              <a:buChar char="•"/>
            </a:pPr>
            <a:r>
              <a:rPr lang="en-GB" sz="1400"/>
              <a:t>Flexible functionality enabling cash flow rules  established and maintained without hard-coding and with minimal IT requirement.</a:t>
            </a:r>
            <a:endParaRPr/>
          </a:p>
          <a:p>
            <a:pPr indent="-171450" lvl="0" marL="171450" rtl="0" algn="l">
              <a:lnSpc>
                <a:spcPct val="95000"/>
              </a:lnSpc>
              <a:spcBef>
                <a:spcPts val="800"/>
              </a:spcBef>
              <a:spcAft>
                <a:spcPts val="0"/>
              </a:spcAft>
              <a:buClr>
                <a:schemeClr val="dk1"/>
              </a:buClr>
              <a:buSzPts val="1400"/>
              <a:buChar char="•"/>
            </a:pPr>
            <a:r>
              <a:rPr lang="en-GB" sz="1400"/>
              <a:t>Support for contractual and non-contractual cash flows</a:t>
            </a:r>
            <a:endParaRPr/>
          </a:p>
          <a:p>
            <a:pPr indent="-171450" lvl="0" marL="171450" rtl="0" algn="l">
              <a:lnSpc>
                <a:spcPct val="95000"/>
              </a:lnSpc>
              <a:spcBef>
                <a:spcPts val="800"/>
              </a:spcBef>
              <a:spcAft>
                <a:spcPts val="0"/>
              </a:spcAft>
              <a:buClr>
                <a:schemeClr val="dk1"/>
              </a:buClr>
              <a:buSzPts val="1400"/>
              <a:buChar char="•"/>
            </a:pPr>
            <a:r>
              <a:rPr lang="en-GB" sz="1400"/>
              <a:t>Accurate Liquidity information at multiple levels (legal entity, business line, product, customer, transaction)</a:t>
            </a:r>
            <a:endParaRPr sz="1400"/>
          </a:p>
          <a:p>
            <a:pPr indent="0" lvl="0" marL="0" rtl="0" algn="l">
              <a:lnSpc>
                <a:spcPct val="95000"/>
              </a:lnSpc>
              <a:spcBef>
                <a:spcPts val="400"/>
              </a:spcBef>
              <a:spcAft>
                <a:spcPts val="0"/>
              </a:spcAft>
              <a:buNone/>
            </a:pPr>
            <a:r>
              <a:rPr b="1" lang="en-GB" sz="1200">
                <a:solidFill>
                  <a:srgbClr val="0079DB"/>
                </a:solidFill>
              </a:rPr>
              <a:t>Pakistan Context:</a:t>
            </a:r>
            <a:endParaRPr/>
          </a:p>
          <a:p>
            <a:pPr indent="-169863" lvl="0" marL="169863" rtl="0" algn="l">
              <a:lnSpc>
                <a:spcPct val="95000"/>
              </a:lnSpc>
              <a:spcBef>
                <a:spcPts val="400"/>
              </a:spcBef>
              <a:spcAft>
                <a:spcPts val="0"/>
              </a:spcAft>
              <a:buClr>
                <a:srgbClr val="0079DB"/>
              </a:buClr>
              <a:buSzPts val="1200"/>
              <a:buChar char="•"/>
            </a:pPr>
            <a:r>
              <a:rPr lang="en-GB" sz="1200">
                <a:solidFill>
                  <a:srgbClr val="0079DB"/>
                </a:solidFill>
              </a:rPr>
              <a:t>Intraday liquidity monitoring incorporating RAAST and RTGS settlement impact</a:t>
            </a:r>
            <a:endParaRPr/>
          </a:p>
          <a:p>
            <a:pPr indent="-169863" lvl="0" marL="169863" rtl="0" algn="l">
              <a:lnSpc>
                <a:spcPct val="95000"/>
              </a:lnSpc>
              <a:spcBef>
                <a:spcPts val="400"/>
              </a:spcBef>
              <a:spcAft>
                <a:spcPts val="0"/>
              </a:spcAft>
              <a:buClr>
                <a:srgbClr val="0079DB"/>
              </a:buClr>
              <a:buSzPts val="1200"/>
              <a:buChar char="•"/>
            </a:pPr>
            <a:r>
              <a:rPr lang="en-GB" sz="1200">
                <a:solidFill>
                  <a:srgbClr val="0079DB"/>
                </a:solidFill>
              </a:rPr>
              <a:t>Matched-maturity FTP using KIBOR yield curve (1M, 3M, 6M, 12M)</a:t>
            </a:r>
            <a:endParaRPr/>
          </a:p>
          <a:p>
            <a:pPr indent="-169863" lvl="0" marL="169863" rtl="0" algn="l">
              <a:lnSpc>
                <a:spcPct val="95000"/>
              </a:lnSpc>
              <a:spcBef>
                <a:spcPts val="400"/>
              </a:spcBef>
              <a:spcAft>
                <a:spcPts val="0"/>
              </a:spcAft>
              <a:buClr>
                <a:srgbClr val="0079DB"/>
              </a:buClr>
              <a:buSzPts val="1200"/>
              <a:buChar char="•"/>
            </a:pPr>
            <a:r>
              <a:rPr lang="en-GB" sz="1200">
                <a:solidFill>
                  <a:srgbClr val="0079DB"/>
                </a:solidFill>
              </a:rPr>
              <a:t>ALM stress scenarios per SBP ICAAP guidelines with Islamic treasury parallel</a:t>
            </a:r>
            <a:endParaRPr/>
          </a:p>
        </p:txBody>
      </p:sp>
      <p:sp>
        <p:nvSpPr>
          <p:cNvPr id="5136" name="Google Shape;5136;p284"/>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137" name="Google Shape;5137;p284"/>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38" name="Google Shape;5138;p2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id="5139" name="Google Shape;5139;p284"/>
          <p:cNvPicPr preferRelativeResize="0"/>
          <p:nvPr/>
        </p:nvPicPr>
        <p:blipFill rotWithShape="1">
          <a:blip r:embed="rId4">
            <a:alphaModFix/>
          </a:blip>
          <a:srcRect b="0" l="0" r="0" t="0"/>
          <a:stretch/>
        </p:blipFill>
        <p:spPr>
          <a:xfrm>
            <a:off x="5561014" y="967317"/>
            <a:ext cx="3576636" cy="2430846"/>
          </a:xfrm>
          <a:prstGeom prst="rect">
            <a:avLst/>
          </a:prstGeom>
          <a:noFill/>
          <a:ln>
            <a:noFill/>
          </a:ln>
        </p:spPr>
      </p:pic>
    </p:spTree>
  </p:cSld>
  <p:clrMapOvr>
    <a:masterClrMapping/>
  </p:clrMapOvr>
</p:sld>
</file>

<file path=ppt/slides/slide2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3" name="Shape 5143"/>
        <p:cNvGrpSpPr/>
        <p:nvPr/>
      </p:nvGrpSpPr>
      <p:grpSpPr>
        <a:xfrm>
          <a:off x="0" y="0"/>
          <a:ext cx="0" cy="0"/>
          <a:chOff x="0" y="0"/>
          <a:chExt cx="0" cy="0"/>
        </a:xfrm>
      </p:grpSpPr>
      <p:pic>
        <p:nvPicPr>
          <p:cNvPr id="5144" name="Google Shape;5144;p285"/>
          <p:cNvPicPr preferRelativeResize="0"/>
          <p:nvPr/>
        </p:nvPicPr>
        <p:blipFill rotWithShape="1">
          <a:blip r:embed="rId3">
            <a:alphaModFix/>
          </a:blip>
          <a:srcRect b="0" l="3653" r="19512" t="0"/>
          <a:stretch/>
        </p:blipFill>
        <p:spPr>
          <a:xfrm>
            <a:off x="5549900" y="0"/>
            <a:ext cx="3594100" cy="5143500"/>
          </a:xfrm>
          <a:prstGeom prst="rect">
            <a:avLst/>
          </a:prstGeom>
          <a:noFill/>
          <a:ln>
            <a:noFill/>
          </a:ln>
        </p:spPr>
      </p:pic>
      <p:sp>
        <p:nvSpPr>
          <p:cNvPr id="5145" name="Google Shape;5145;p285"/>
          <p:cNvSpPr txBox="1"/>
          <p:nvPr>
            <p:ph type="title"/>
          </p:nvPr>
        </p:nvSpPr>
        <p:spPr>
          <a:xfrm>
            <a:off x="477880" y="-384527"/>
            <a:ext cx="553684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Treasury Management</a:t>
            </a:r>
            <a:endParaRPr/>
          </a:p>
        </p:txBody>
      </p:sp>
      <p:sp>
        <p:nvSpPr>
          <p:cNvPr id="5146" name="Google Shape;5146;p2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grpSp>
        <p:nvGrpSpPr>
          <p:cNvPr id="5147" name="Google Shape;5147;p285"/>
          <p:cNvGrpSpPr/>
          <p:nvPr/>
        </p:nvGrpSpPr>
        <p:grpSpPr>
          <a:xfrm>
            <a:off x="488950" y="1276350"/>
            <a:ext cx="5808183" cy="720000"/>
            <a:chOff x="462442" y="1276350"/>
            <a:chExt cx="5808183" cy="597600"/>
          </a:xfrm>
        </p:grpSpPr>
        <p:sp>
          <p:nvSpPr>
            <p:cNvPr id="5148" name="Google Shape;5148;p285"/>
            <p:cNvSpPr/>
            <p:nvPr/>
          </p:nvSpPr>
          <p:spPr>
            <a:xfrm>
              <a:off x="2600325" y="1276350"/>
              <a:ext cx="3670300"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Improved management and monitoring of short- and long-term liquidity</a:t>
              </a:r>
              <a:endParaRPr/>
            </a:p>
          </p:txBody>
        </p:sp>
        <p:sp>
          <p:nvSpPr>
            <p:cNvPr id="5149" name="Google Shape;5149;p285"/>
            <p:cNvSpPr/>
            <p:nvPr/>
          </p:nvSpPr>
          <p:spPr>
            <a:xfrm>
              <a:off x="462442" y="12763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Enhanced liquidity management</a:t>
              </a:r>
              <a:endParaRPr/>
            </a:p>
          </p:txBody>
        </p:sp>
      </p:grpSp>
      <p:grpSp>
        <p:nvGrpSpPr>
          <p:cNvPr id="5150" name="Google Shape;5150;p285"/>
          <p:cNvGrpSpPr/>
          <p:nvPr/>
        </p:nvGrpSpPr>
        <p:grpSpPr>
          <a:xfrm>
            <a:off x="488950" y="2035038"/>
            <a:ext cx="5808440" cy="720000"/>
            <a:chOff x="462442" y="1955625"/>
            <a:chExt cx="5808440" cy="597600"/>
          </a:xfrm>
        </p:grpSpPr>
        <p:sp>
          <p:nvSpPr>
            <p:cNvPr id="5151" name="Google Shape;5151;p285"/>
            <p:cNvSpPr/>
            <p:nvPr/>
          </p:nvSpPr>
          <p:spPr>
            <a:xfrm>
              <a:off x="2565974" y="1955625"/>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Meet current corporate, regulatory  and other reporting requirements on a timely basis.</a:t>
              </a:r>
              <a:endParaRPr sz="1000">
                <a:solidFill>
                  <a:srgbClr val="5F6062"/>
                </a:solidFill>
                <a:latin typeface="Century Gothic"/>
                <a:ea typeface="Century Gothic"/>
                <a:cs typeface="Century Gothic"/>
                <a:sym typeface="Century Gothic"/>
              </a:endParaRPr>
            </a:p>
          </p:txBody>
        </p:sp>
        <p:sp>
          <p:nvSpPr>
            <p:cNvPr id="5152" name="Google Shape;5152;p285"/>
            <p:cNvSpPr/>
            <p:nvPr/>
          </p:nvSpPr>
          <p:spPr>
            <a:xfrm>
              <a:off x="462442" y="1955625"/>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Accelerated analytics &amp; reporting</a:t>
              </a:r>
              <a:endParaRPr/>
            </a:p>
          </p:txBody>
        </p:sp>
      </p:grpSp>
      <p:grpSp>
        <p:nvGrpSpPr>
          <p:cNvPr id="5153" name="Google Shape;5153;p285"/>
          <p:cNvGrpSpPr/>
          <p:nvPr/>
        </p:nvGrpSpPr>
        <p:grpSpPr>
          <a:xfrm>
            <a:off x="488950" y="2793726"/>
            <a:ext cx="5800246" cy="720000"/>
            <a:chOff x="462442" y="2631411"/>
            <a:chExt cx="5800246" cy="597600"/>
          </a:xfrm>
        </p:grpSpPr>
        <p:sp>
          <p:nvSpPr>
            <p:cNvPr id="5154" name="Google Shape;5154;p285"/>
            <p:cNvSpPr/>
            <p:nvPr/>
          </p:nvSpPr>
          <p:spPr>
            <a:xfrm>
              <a:off x="2557780" y="2631411"/>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Ability to analyse / evaluate the organization’s short and long-term viability under different forward-looking strategies</a:t>
              </a:r>
              <a:endParaRPr sz="1000">
                <a:solidFill>
                  <a:srgbClr val="5F6062"/>
                </a:solidFill>
                <a:latin typeface="Century Gothic"/>
                <a:ea typeface="Century Gothic"/>
                <a:cs typeface="Century Gothic"/>
                <a:sym typeface="Century Gothic"/>
              </a:endParaRPr>
            </a:p>
          </p:txBody>
        </p:sp>
        <p:sp>
          <p:nvSpPr>
            <p:cNvPr id="5155" name="Google Shape;5155;p285"/>
            <p:cNvSpPr/>
            <p:nvPr/>
          </p:nvSpPr>
          <p:spPr>
            <a:xfrm>
              <a:off x="462442" y="2631411"/>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Agility to respond to business events</a:t>
              </a:r>
              <a:endParaRPr/>
            </a:p>
          </p:txBody>
        </p:sp>
      </p:grpSp>
      <p:grpSp>
        <p:nvGrpSpPr>
          <p:cNvPr id="5156" name="Google Shape;5156;p285"/>
          <p:cNvGrpSpPr/>
          <p:nvPr/>
        </p:nvGrpSpPr>
        <p:grpSpPr>
          <a:xfrm>
            <a:off x="488950" y="3552414"/>
            <a:ext cx="5800246" cy="720000"/>
            <a:chOff x="462442" y="3299050"/>
            <a:chExt cx="5800246" cy="597600"/>
          </a:xfrm>
        </p:grpSpPr>
        <p:sp>
          <p:nvSpPr>
            <p:cNvPr id="5157" name="Google Shape;5157;p285"/>
            <p:cNvSpPr/>
            <p:nvPr/>
          </p:nvSpPr>
          <p:spPr>
            <a:xfrm>
              <a:off x="2557780" y="3299050"/>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Significantly enhanced, consistent, and reliable data across all capital requirements</a:t>
              </a:r>
              <a:endParaRPr/>
            </a:p>
          </p:txBody>
        </p:sp>
        <p:sp>
          <p:nvSpPr>
            <p:cNvPr id="5158" name="Google Shape;5158;p285"/>
            <p:cNvSpPr/>
            <p:nvPr/>
          </p:nvSpPr>
          <p:spPr>
            <a:xfrm>
              <a:off x="462442" y="32990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quality and consistency</a:t>
              </a:r>
              <a:endParaRPr/>
            </a:p>
          </p:txBody>
        </p:sp>
      </p:grpSp>
      <p:sp>
        <p:nvSpPr>
          <p:cNvPr id="99902" name="PK Context 27"/>
          <p:cNvSpPr txBox="1"/>
          <p:nvPr/>
        </p:nvSpPr>
        <p:spPr>
          <a:xfrm>
            <a:off x="488950" y="4350000"/>
            <a:ext cx="5800246" cy="700000"/>
          </a:xfrm>
          <a:prstGeom prst="rect">
            <a:avLst/>
          </a:prstGeom>
          <a:noFill/>
          <a:ln>
            <a:noFill/>
          </a:ln>
        </p:spPr>
        <p:txBody>
          <a:bodyPr anchorCtr="0" anchor="t" bIns="0" lIns="0" spcFirstLastPara="1" rIns="0" wrap="square" tIns="0">
            <a:noAutofit/>
          </a:bodyPr>
          <a:lstStyle/>
          <a:p>
            <a:pPr indent="0" lvl="0" marL="0" rtl="0" algn="l">
              <a:spcBef>
                <a:spcPts val="0"/>
              </a:spcBef>
              <a:buNone/>
            </a:pPr>
            <a:r>
              <a:rPr b="1" lang="en-GB" sz="900">
                <a:solidFill>
                  <a:srgbClr val="0079DB"/>
                </a:solidFill>
              </a:rPr>
              <a:t>Pakistan Value:</a:t>
            </a:r>
            <a:endParaRPr/>
          </a:p>
          <a:p>
            <a:pPr indent="-120000" lvl="0" marL="120000" rtl="0" algn="l">
              <a:spcBef>
                <a:spcPts val="100"/>
              </a:spcBef>
              <a:buChar char="•"/>
            </a:pPr>
            <a:r>
              <a:rPr lang="en-GB" sz="800">
                <a:solidFill>
                  <a:srgbClr val="0079DB"/>
                </a:solidFill>
              </a:rPr>
              <a:t>SBP Basel III compliance: automated LCR/NSFR/CAR reporting</a:t>
            </a:r>
            <a:endParaRPr/>
          </a:p>
          <a:p>
            <a:pPr indent="-120000" lvl="0" marL="120000" rtl="0" algn="l">
              <a:spcBef>
                <a:spcPts val="100"/>
              </a:spcBef>
              <a:buChar char="•"/>
            </a:pPr>
            <a:r>
              <a:rPr lang="en-GB" sz="800">
                <a:solidFill>
                  <a:srgbClr val="0079DB"/>
                </a:solidFill>
              </a:rPr>
              <a:t>Real-time treasury dashboard: govt securities, FX position, money market, RAAST liquidity</a:t>
            </a:r>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Forecast PKR and FCY cashflows: deposit maturities, loan repayments, government security maturities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RAAST real-time payment impact on intraday cashflow (settlement-final, immediate)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Model seasonal cashflows: Eid spending spikes, Ramadan charity, tax quarters, agricultural cycles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CRR (5% in cash) and SLR requirements, deposit maturity schedules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Government security coupon dates, T-Bill maturities, Sukuk distributions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RAAST daily volumes (PKR 50B+), NIFT clearing settlement, RTGS flows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Intraday cashflow visibility incorporating RAAST real-time settlement impact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Seasonal cash demand forecasting: Eid requires 2-3x normal branch cash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CRR/SLR optimization reducing idle reserves while maintaining SBP compliance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1" name="Shape 5181"/>
        <p:cNvGrpSpPr/>
        <p:nvPr/>
      </p:nvGrpSpPr>
      <p:grpSpPr>
        <a:xfrm>
          <a:off x="0" y="0"/>
          <a:ext cx="0" cy="0"/>
          <a:chOff x="0" y="0"/>
          <a:chExt cx="0" cy="0"/>
        </a:xfrm>
      </p:grpSpPr>
      <p:graphicFrame>
        <p:nvGraphicFramePr>
          <p:cNvPr id="5182" name="Google Shape;5182;p28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analytics and modelling uses best-in-class tools against a single, integrated and validated set of input data. Models are developed using rules-based functionality and generally generate cashflows on a granular basis (agreement/contract-level). </a:t>
                      </a:r>
                      <a:endParaRPr b="0" sz="900" strike="sngStrike">
                        <a:solidFill>
                          <a:srgbClr val="FF0000"/>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analytics and modelling are based on an integrated and validated set of input data. Models are developed using rules-based functionality and generally generate cashflows on a granular basis (agreement/contract-level).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modelling and generation takes place for portfolios / products using a single, integrated and validated set of input data. Significant coverage of granular cashflow generation.</a:t>
                      </a:r>
                      <a:endParaRPr b="0" sz="900" strike="sngStrike">
                        <a:solidFill>
                          <a:srgbClr val="FF0000"/>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modelling is shifting from on a summary-level towards (more) granular cashflows generated for some portfolios / products. Cashflow generation is executed using hard-coded routines which require significant technical/IT effort to maintain. Data is sourced from disparate operational systems and other sources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modelling occurs only at a summary-level. Input data requires manual sourcing, integration and validation.</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PKR and FCY cashflow forecasting: deposits, loans, govt securities, SBP CRR/SLR</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RAAST real-time settlement impact on intraday cashflow positions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Seasonal cashflow modeling: Eid, Ramadan, tax quarters, agricultural cycles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Accurate cashflow forecasting reduces emergency liquidity buffer requirements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Intraday position management enables optimal fund deployment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Automated contractual and behavioral cashflow modeling from FSDM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183" name="Google Shape;5183;p287"/>
          <p:cNvGrpSpPr/>
          <p:nvPr/>
        </p:nvGrpSpPr>
        <p:grpSpPr>
          <a:xfrm>
            <a:off x="469900" y="3819680"/>
            <a:ext cx="8455025" cy="732866"/>
            <a:chOff x="211138" y="3972860"/>
            <a:chExt cx="8713787" cy="642437"/>
          </a:xfrm>
        </p:grpSpPr>
        <p:sp>
          <p:nvSpPr>
            <p:cNvPr id="5184" name="Google Shape;5184;p28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185" name="Google Shape;5185;p28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186" name="Google Shape;5186;p287"/>
          <p:cNvGrpSpPr/>
          <p:nvPr/>
        </p:nvGrpSpPr>
        <p:grpSpPr>
          <a:xfrm>
            <a:off x="7971865" y="980278"/>
            <a:ext cx="949325" cy="2867825"/>
            <a:chOff x="7941888" y="1062037"/>
            <a:chExt cx="983037" cy="2695575"/>
          </a:xfrm>
        </p:grpSpPr>
        <p:sp>
          <p:nvSpPr>
            <p:cNvPr id="5187" name="Google Shape;5187;p28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188" name="Google Shape;5188;p28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189" name="Google Shape;5189;p28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a:solidFill>
                <a:schemeClr val="accent6"/>
              </a:solidFill>
            </a:endParaRPr>
          </a:p>
        </p:txBody>
      </p:sp>
      <p:sp>
        <p:nvSpPr>
          <p:cNvPr id="5190" name="Google Shape;5190;p2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Basel III liquidity: LCR (min 100%), NSFR (min 100%), intraday liquidity monitoring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Manage HQLA: PIBs, T-Bills, SBP repo facility, cash with SBP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RAAST real-time settlement changes liquidity dynamics -- need intraday monitoring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HQLA composition: Level 1 (PIBs, T-Bills, SBP balances), Level 2A/2B (limited in Pakistan)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 cash outflow projections over 30-day and 1-year horizons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Stress testing scenarios per SBP ICAAP requirements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Automated LCR/NSFR calculation and monitoring (currently 130-200% for most banks)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Intraday liquidity dashboard incorporating RAAST/RTGS settlement flows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Liquidity stress testing with bank-specific and system-wide scenarios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3" name="Shape 5213"/>
        <p:cNvGrpSpPr/>
        <p:nvPr/>
      </p:nvGrpSpPr>
      <p:grpSpPr>
        <a:xfrm>
          <a:off x="0" y="0"/>
          <a:ext cx="0" cy="0"/>
          <a:chOff x="0" y="0"/>
          <a:chExt cx="0" cy="0"/>
        </a:xfrm>
      </p:grpSpPr>
      <p:graphicFrame>
        <p:nvGraphicFramePr>
          <p:cNvPr id="5214" name="Google Shape;5214;p28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625">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Fully integrated risk and collateral management and reporting environment. Liquidity management policy and practice supported by a data and analytic centric information architecture. Ad-hoc analytics requiring granular level data across multiple dimensions (asset, tenor, time period etc.) can be fulfilled well within speed-of-business demands. Data capabilities support streaming and real-time market data updates.</a:t>
                      </a:r>
                      <a:endParaRPr b="0" sz="8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Single source of liquidity management data based on a common integrated enterprise data platform supporting aggregation and analysis across the interplay of liquidity with assets liabilities and capital. Comprehensive analytical capabilities available. Materially compliant with BCBS 239 but some legacy / manual processing still evident (e.g. stress scenarios). </a:t>
                      </a:r>
                      <a:endParaRPr b="0" sz="8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6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Liquidity analytics and reporting supported through line-of-business data warehousing. Integration and aggregation of liquidity data still dependent on app centric data architecture for granular analytics.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6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Liquidity management policies and standards meet minimum regulatory standards for intra-day liquidity management. Reporting at summary Market/Liquidity Risk and Funding/Liquidity Risk levels. Deeper levels of granular analysis requires integration of source data for each new use case. Functional data marts are common.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Liquidity management policies and standards are not yet sufficient to comply with regulatory standards. They may be under development. Adequate tools to support intraday liquidity management are not yet in place.</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52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300">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SBP Basel III liquidity: LCR (min 100%), NSFR, intraday monitoring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HQLA composition management: PIBs, T-Bills, SBP repo, cash with SBP</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Stress testing: bank-specific and system-wide liquidity stress per SBP</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Optimize HQLA portfolio — reduce excess liquidity while maintaining compliance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Real-time LCR/NSFR monitoring rather than end-of-day calculation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Early warning system for liquidity stress events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300">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300">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215" name="Google Shape;5215;p289"/>
          <p:cNvGrpSpPr/>
          <p:nvPr/>
        </p:nvGrpSpPr>
        <p:grpSpPr>
          <a:xfrm>
            <a:off x="7971865" y="980278"/>
            <a:ext cx="949325" cy="2867825"/>
            <a:chOff x="7941888" y="1062037"/>
            <a:chExt cx="983037" cy="2695575"/>
          </a:xfrm>
        </p:grpSpPr>
        <p:sp>
          <p:nvSpPr>
            <p:cNvPr id="5216" name="Google Shape;5216;p28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17" name="Google Shape;5217;p28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218" name="Google Shape;5218;p289"/>
          <p:cNvSpPr txBox="1"/>
          <p:nvPr>
            <p:ph type="title"/>
          </p:nvPr>
        </p:nvSpPr>
        <p:spPr>
          <a:xfrm>
            <a:off x="381000" y="304619"/>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a:solidFill>
                <a:schemeClr val="accent6"/>
              </a:solidFill>
            </a:endParaRPr>
          </a:p>
        </p:txBody>
      </p:sp>
      <p:grpSp>
        <p:nvGrpSpPr>
          <p:cNvPr id="5219" name="Google Shape;5219;p289"/>
          <p:cNvGrpSpPr/>
          <p:nvPr/>
        </p:nvGrpSpPr>
        <p:grpSpPr>
          <a:xfrm>
            <a:off x="469900" y="3827631"/>
            <a:ext cx="8455025" cy="732866"/>
            <a:chOff x="211138" y="3972860"/>
            <a:chExt cx="8713787" cy="642437"/>
          </a:xfrm>
        </p:grpSpPr>
        <p:sp>
          <p:nvSpPr>
            <p:cNvPr id="5220" name="Google Shape;5220;p28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21" name="Google Shape;5221;p28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222" name="Google Shape;5222;p2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minimum CAR: 11.5% total + 2.5% conservation buffer = 14% effective; D-SIB surcharge 1-2%</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ICAAP: annual SBP submission with stress testing over 3-year forward period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 allocation to business lines for RAROC calculation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RWA by category (credit, market, operational), capital composition (CET1, AT1, Tier 2)</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Stress scenarios: GDP decline, PKR depreciation, interest rate shock, credit deterioration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minimum paid-up capital requirements (last increase to PKR 10B)</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RWA optimization: identify where RWA can be reduced without revenue impact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RAROC at customer/product/segment level -- which business lines earn above cost of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 planning for target asset growth with SBP regulatory compliance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5" name="Shape 5245"/>
        <p:cNvGrpSpPr/>
        <p:nvPr/>
      </p:nvGrpSpPr>
      <p:grpSpPr>
        <a:xfrm>
          <a:off x="0" y="0"/>
          <a:ext cx="0" cy="0"/>
          <a:chOff x="0" y="0"/>
          <a:chExt cx="0" cy="0"/>
        </a:xfrm>
      </p:grpSpPr>
      <p:graphicFrame>
        <p:nvGraphicFramePr>
          <p:cNvPr id="5246" name="Google Shape;5246;p29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Capital Planning &amp; Management analysis and reporting is delivered as integrated part of enterprise data &amp; analytical capability, using common validated and quality-assured data with audit trail. All data loaded at least daily, and where relevant / required on near real-time basis. Regular analysis &amp; reporting performed using shared tools and services, and well within speed-of-business and/or regulatory demands.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Capital Planning &amp; Management analysis and reporting is generally delivered as integrated part of enterprise data &amp; analytical capability, although some aspects may still rely on Treasury- or line-of-business data warehousing, or application-specific data architecture components. All data loaded at least daily.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Capital Planning &amp; Management is generally supported through dedicated Treasury- or line-of-business data warehousing. Integration and aggregation of Capital Planning &amp; Management data for analytical purposes is still dependent on application centric data architecture.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Capital Planning &amp; Management is performed largely using summary-level data which is sourced into application- or function-specific data mart(s). Deeper levels of granular analysis requires integration of source data for each new use case.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Capital Planning &amp; Management is only performed based on summary-level data.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SBP CAR compliance: CET1 6%, Tier 1 8.5%, Total 11.5% + buffers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ICAAP: annual stress testing with 3-year forward capital projection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RWA optimization across business lines for RAROC-based allocation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Optimal capital allocation maximizes return while maintaining SBP compliance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Automated ICAAP stress scenarios reduce manual effort and improve accuracy</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D-SIB surcharge planning for systemically important banks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247" name="Google Shape;5247;p291"/>
          <p:cNvGrpSpPr/>
          <p:nvPr/>
        </p:nvGrpSpPr>
        <p:grpSpPr>
          <a:xfrm>
            <a:off x="469900" y="3827631"/>
            <a:ext cx="8455025" cy="732866"/>
            <a:chOff x="211138" y="3972860"/>
            <a:chExt cx="8713787" cy="642437"/>
          </a:xfrm>
        </p:grpSpPr>
        <p:sp>
          <p:nvSpPr>
            <p:cNvPr id="5248" name="Google Shape;5248;p29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49" name="Google Shape;5249;p29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250" name="Google Shape;5250;p291"/>
          <p:cNvGrpSpPr/>
          <p:nvPr/>
        </p:nvGrpSpPr>
        <p:grpSpPr>
          <a:xfrm>
            <a:off x="7971865" y="980278"/>
            <a:ext cx="949325" cy="2867825"/>
            <a:chOff x="7941888" y="1062037"/>
            <a:chExt cx="983037" cy="2695575"/>
          </a:xfrm>
        </p:grpSpPr>
        <p:sp>
          <p:nvSpPr>
            <p:cNvPr id="5251" name="Google Shape;5251;p29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52" name="Google Shape;5252;p29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253" name="Google Shape;5253;p29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a:solidFill>
                <a:schemeClr val="accent6"/>
              </a:solidFill>
            </a:endParaRPr>
          </a:p>
        </p:txBody>
      </p:sp>
      <p:sp>
        <p:nvSpPr>
          <p:cNvPr id="5254" name="Google Shape;5254;p2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Manage interest rate risk per SBP IRRBB guidelines (Basel-based)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Repricing gap: floating rate advances (KIBOR-linked) vs. fixed rate deposits (3M-1Y FDs)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Duration analysis for PKR 10T+ government securities portfolio (major exposure)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Asset-liability repricing schedule, duration of securities portfolio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ALM: Mudaraba deposits (variable profit-sharing) have different risk profile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KIBOR yield curve data, SBP MPC meeting calendar and rate expectations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NII sensitivity: +/-200bps rate shock impact on earnings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 sensitivity: economic value impact of yield curve shifts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Quarterly repricing gap report for SBP submission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7" name="Shape 5277"/>
        <p:cNvGrpSpPr/>
        <p:nvPr/>
      </p:nvGrpSpPr>
      <p:grpSpPr>
        <a:xfrm>
          <a:off x="0" y="0"/>
          <a:ext cx="0" cy="0"/>
          <a:chOff x="0" y="0"/>
          <a:chExt cx="0" cy="0"/>
        </a:xfrm>
      </p:grpSpPr>
      <p:graphicFrame>
        <p:nvGraphicFramePr>
          <p:cNvPr id="5278" name="Google Shape;5278;p29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ALM analysis and reporting is delivered as integrated part of enterprise data &amp; analytical capability, using common validated and quality-assured data with audit trail. All data loaded at least daily, and where relevant / required on near real-time basis. Analysis &amp; reporting performed in-database using shared tools and services, and well within speed-of-business and/or regulatory demands or if dedicated ALM tools/applications are used then they are best-in-class and use the enterprise data.</a:t>
                      </a:r>
                      <a:endParaRPr b="0" sz="8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ALM analysis and reporting is generally delivered as integrated part of enterprise data &amp; analytical capability, although some aspects may still rely on Treasury or line-of-business data warehousing, or application-specific data architecture components. All data loaded at least daily, and where relevant / required on near real-time basis.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 &amp; Liability Management is generally supported through dedicated Treasury- or line-of-business data warehousing. Integration and aggregation of ALM data for analytical purposes is still dependent on application centric data architecture.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 &amp; Liability Management  is performed largely using summary-level data which is sourced into application- or function-specific data mart(s). Deeper levels of granular analysis requires integration of source data for each new use case.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Asset&amp; Liability Management is not institutionalized . It is managed by the CFO and/or Controller as an ad-hoc process, largely using summary-level data  which is manually sourced.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Repricing gap analysis with KIBOR-linked asset/liability matching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Duration and convexity analysis for government securities portfolio</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Interest rate sensitivity: NII impact of +/-100-300 bps rate changes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Optimize NII through analytical gap management in high-rate environment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Investment portfolio duration management aligned to rate expectations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SBP ICAAP interest rate risk quantification automated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279" name="Google Shape;5279;p293"/>
          <p:cNvGrpSpPr/>
          <p:nvPr/>
        </p:nvGrpSpPr>
        <p:grpSpPr>
          <a:xfrm>
            <a:off x="469900" y="3827631"/>
            <a:ext cx="8455025" cy="732866"/>
            <a:chOff x="211138" y="3972860"/>
            <a:chExt cx="8713787" cy="642437"/>
          </a:xfrm>
        </p:grpSpPr>
        <p:sp>
          <p:nvSpPr>
            <p:cNvPr id="5280" name="Google Shape;5280;p29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81" name="Google Shape;5281;p29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282" name="Google Shape;5282;p293"/>
          <p:cNvGrpSpPr/>
          <p:nvPr/>
        </p:nvGrpSpPr>
        <p:grpSpPr>
          <a:xfrm>
            <a:off x="7971865" y="980278"/>
            <a:ext cx="949325" cy="2867825"/>
            <a:chOff x="7941888" y="1062037"/>
            <a:chExt cx="983037" cy="2695575"/>
          </a:xfrm>
        </p:grpSpPr>
        <p:sp>
          <p:nvSpPr>
            <p:cNvPr id="5283" name="Google Shape;5283;p29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84" name="Google Shape;5284;p29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285" name="Google Shape;5285;p29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a:solidFill>
                <a:schemeClr val="accent6"/>
              </a:solidFill>
            </a:endParaRPr>
          </a:p>
        </p:txBody>
      </p:sp>
      <p:sp>
        <p:nvSpPr>
          <p:cNvPr id="5286" name="Google Shape;5286;p2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Matched-maturity FTP using KIBOR yield curve (1M, 3M, 6M, 12M + interpolation)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FTP is foundation for all profitability -- without it, NII attribution is inaccurate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reality: most banks use single-rate FTP (KIBOR 6M flat) -- significantly distorts P&amp;L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KIBOR yield curve daily, product-level maturity/repricing profiles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CASA behavioral maturity model (70% core as 1-3 year, 30% volatile as overnight)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FTP: Islamic interbank rate or internal Mudaraba pool return benchmark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Accurate product-level NII attribution (credit cards vs. home finance have very different FTP margins)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 profitability truth: CASA-gathering branches may be overstated, lending branches understated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UBL FSDM Engine stores FTP rate at account level enabling multi-dimensional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9" name="Shape 5309"/>
        <p:cNvGrpSpPr/>
        <p:nvPr/>
      </p:nvGrpSpPr>
      <p:grpSpPr>
        <a:xfrm>
          <a:off x="0" y="0"/>
          <a:ext cx="0" cy="0"/>
          <a:chOff x="0" y="0"/>
          <a:chExt cx="0" cy="0"/>
        </a:xfrm>
      </p:grpSpPr>
      <p:graphicFrame>
        <p:nvGraphicFramePr>
          <p:cNvPr id="5310" name="Google Shape;5310;p29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Funds Transfer Pricing uses best-in-class, business user configurable tools to inform funding, pricing, liquidity and planning decisions on a daily (or intra-day) basis. A single validated set of granular input data is sourced from an integrated, cross-functional data warehouse.  A comprehensive set of FTP methodologies are supported, which are  matched to the funding characteristics of each instrument.  FTP is calculated at the individual instrument level as part of a comprehensive profitability model to support consistent multi-dimensional analysis.</a:t>
                      </a:r>
                      <a:r>
                        <a:rPr b="0" lang="en-GB" sz="800" strike="sngStrike">
                          <a:solidFill>
                            <a:schemeClr val="dk1"/>
                          </a:solidFill>
                          <a:latin typeface="Century Gothic"/>
                          <a:ea typeface="Century Gothic"/>
                          <a:cs typeface="Century Gothic"/>
                          <a:sym typeface="Century Gothic"/>
                        </a:rPr>
                        <a:t> </a:t>
                      </a:r>
                      <a:endParaRPr b="0" sz="800" strike="sngStrike">
                        <a:solidFill>
                          <a:schemeClr val="dk1"/>
                        </a:solidFill>
                        <a:latin typeface="Century Gothic"/>
                        <a:ea typeface="Century Gothic"/>
                        <a:cs typeface="Century Gothic"/>
                        <a:sym typeface="Century Gothic"/>
                      </a:endParaRPr>
                    </a:p>
                  </a:txBody>
                  <a:tcPr marT="18000" marB="180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Funds Transfer Pricing uses best-in-class, business user configurable tools to inform funding, pricing, liquidity and planning decisions on a monthly basis. A single validated set of granular input data is sourced from an integrated, cross-functional data warehouse.  A comprehensive set of FTP methodologies are supported, which are  matched to the funding characteristics of each instrument.  FTP is mainly calculated at the individual instrument level with some portfolio level pooling, as part of a comprehensive profitability model to support consistent multi-dimensional analysis.</a:t>
                      </a:r>
                      <a:r>
                        <a:rPr b="0" lang="en-GB" sz="800" strike="sngStrike">
                          <a:solidFill>
                            <a:schemeClr val="dk1"/>
                          </a:solidFill>
                          <a:latin typeface="Century Gothic"/>
                          <a:ea typeface="Century Gothic"/>
                          <a:cs typeface="Century Gothic"/>
                          <a:sym typeface="Century Gothic"/>
                        </a:rPr>
                        <a:t> </a:t>
                      </a:r>
                      <a:endParaRPr b="0" sz="800">
                        <a:solidFill>
                          <a:schemeClr val="dk1"/>
                        </a:solidFill>
                        <a:latin typeface="Century Gothic"/>
                        <a:ea typeface="Century Gothic"/>
                        <a:cs typeface="Century Gothic"/>
                        <a:sym typeface="Century Gothic"/>
                      </a:endParaRPr>
                    </a:p>
                  </a:txBody>
                  <a:tcPr marT="18000" marB="180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Funds Transfer Pricing generally occurs monthly, at a summary(portfolio) level and uses an application-centric approach, with limited sophistication (simple pool rates and other non DCF methodologies). Data is sourced from disparate operational systems and other sources on a largely automated basis into an application data mart. Limited drill-down to granular levels is availability.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282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Funds Transfer Pricing occurs only at a summary (portfolio) level on a monthly basis, using a desktop tool (e.g. excel).  Input data requires manual sourcing, integration and validation.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Funds Transfer Pricing is not calculated or is performed on GL balances as part of the monthly close process by applying simple pool rates in excel.</a:t>
                      </a:r>
                      <a:endParaRPr b="0" sz="900" strike="sngStrike">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Move from flat KIBOR FTP to matched-maturity yield-curve-based FTP</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FTP engine covering: deposits, advances, investments, off-balance sheet</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Islamic FTP: profit-sharing pool mechanism separate from interest-based</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True product and business line profitability through accurate FTP</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CASA value quantification: zero-cost deposits deployed at KIBOR+</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Branch P&amp;L accuracy: FTP credits/charges based on actual maturity profiles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311" name="Google Shape;5311;p295"/>
          <p:cNvGrpSpPr/>
          <p:nvPr/>
        </p:nvGrpSpPr>
        <p:grpSpPr>
          <a:xfrm>
            <a:off x="469900" y="3924300"/>
            <a:ext cx="8455025" cy="732866"/>
            <a:chOff x="211138" y="3972860"/>
            <a:chExt cx="8713787" cy="642437"/>
          </a:xfrm>
        </p:grpSpPr>
        <p:sp>
          <p:nvSpPr>
            <p:cNvPr id="5312" name="Google Shape;5312;p29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13" name="Google Shape;5313;p29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314" name="Google Shape;5314;p295"/>
          <p:cNvGrpSpPr/>
          <p:nvPr/>
        </p:nvGrpSpPr>
        <p:grpSpPr>
          <a:xfrm>
            <a:off x="7971865" y="980278"/>
            <a:ext cx="949325" cy="2954847"/>
            <a:chOff x="7941888" y="1062037"/>
            <a:chExt cx="983037" cy="2695575"/>
          </a:xfrm>
        </p:grpSpPr>
        <p:sp>
          <p:nvSpPr>
            <p:cNvPr id="5315" name="Google Shape;5315;p29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16" name="Google Shape;5316;p29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317" name="Google Shape;5317;p29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a:solidFill>
                <a:schemeClr val="accent6"/>
              </a:solidFill>
            </a:endParaRPr>
          </a:p>
        </p:txBody>
      </p:sp>
      <p:sp>
        <p:nvSpPr>
          <p:cNvPr id="5318" name="Google Shape;5318;p2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Manage PKR/USD, PKR/GBP, PKR/EUR, PKR/AED positions for trade and remittance operations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limits open FX positions -- banks must monitor continuously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Remittance flows: USD 30B+/year inward; trade flows: imports ~$60B drive FX demand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FX position by currency pair, SBP position limit monitoring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Government securities trading portfolio (PIBs, T-Bills), money market positions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Limited derivatives market in Pakistan (no liquid interest rate swap market)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FX position monitoring against SBP limits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Treasury P&amp;L: securities trading gains + FX spread + money market income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PKR volatility risk management (significant devaluation episodes 2018, 2022-23)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1" name="Shape 5341"/>
        <p:cNvGrpSpPr/>
        <p:nvPr/>
      </p:nvGrpSpPr>
      <p:grpSpPr>
        <a:xfrm>
          <a:off x="0" y="0"/>
          <a:ext cx="0" cy="0"/>
          <a:chOff x="0" y="0"/>
          <a:chExt cx="0" cy="0"/>
        </a:xfrm>
      </p:grpSpPr>
      <p:graphicFrame>
        <p:nvGraphicFramePr>
          <p:cNvPr id="5342" name="Google Shape;5342;p29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Simultaneous FXR and IRR hedging strategies capability within an integrated enterprise risk management platform. Business agility enabled through analytic ecosystem architecture. Integrated transaction and position data with streaming FX and IR data supporting near real-time VaR</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FXR integrated into ‘up-stream’ enterprise risk framework. Integrated transaction and position data with streaming FX and IR data supporting near real-time VaR. Data and analytic centric vision and strategy with a well defined roadmap.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Fit for purpose applications and some degree of integration to support regulatory reporting but data-marts still proliferate within FX sensitive lines of business. Vision &amp; strategy orienting towards analytic and data centric architecture &amp; some progress on roadmap.</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Point solutions and heavy dependence on spreadsheet models. Data marts proliferate, minimal referential integrity and data governance necessary to meet minimum regulatory requirements. Non-scalable architecture, incremental changes increasingly costly.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Based on aggregated data in spreadsheet models. Barely meets minimum regulatory requirements.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SBP open FX position limits monitoring and compliance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PKR/USD, PKR/EUR, PKR/GBP, PKR/AED position and P&amp;L tracking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Trading book VaR and stress testing per SBP market risk guidelines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Real-time FX position monitoring prevents SBP limit breaches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Trading desk P&amp;L attribution: rate vs. volume vs. spread analysis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Automated market risk reporting for SBP and internal governance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343" name="Google Shape;5343;p297"/>
          <p:cNvGrpSpPr/>
          <p:nvPr/>
        </p:nvGrpSpPr>
        <p:grpSpPr>
          <a:xfrm>
            <a:off x="469900" y="3819680"/>
            <a:ext cx="8455025" cy="732866"/>
            <a:chOff x="211138" y="3972860"/>
            <a:chExt cx="8713787" cy="642437"/>
          </a:xfrm>
        </p:grpSpPr>
        <p:sp>
          <p:nvSpPr>
            <p:cNvPr id="5344" name="Google Shape;5344;p29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45" name="Google Shape;5345;p29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346" name="Google Shape;5346;p297"/>
          <p:cNvGrpSpPr/>
          <p:nvPr/>
        </p:nvGrpSpPr>
        <p:grpSpPr>
          <a:xfrm>
            <a:off x="7971865" y="980278"/>
            <a:ext cx="949325" cy="2867825"/>
            <a:chOff x="7941888" y="1062037"/>
            <a:chExt cx="983037" cy="2695575"/>
          </a:xfrm>
        </p:grpSpPr>
        <p:sp>
          <p:nvSpPr>
            <p:cNvPr id="5347" name="Google Shape;5347;p29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48" name="Google Shape;5348;p29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349" name="Google Shape;5349;p29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a:solidFill>
                <a:schemeClr val="accent6"/>
              </a:solidFill>
            </a:endParaRPr>
          </a:p>
        </p:txBody>
      </p:sp>
      <p:sp>
        <p:nvSpPr>
          <p:cNvPr id="5350" name="Google Shape;5350;p2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High-rate environment (SBP policy rate 17.5%) with significant volatility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MPC meets 6-8 times/year -- each decision can move rates 100-300bps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Model NII sensitivity: +/-100bps, +/-200bps per SBP IRRBB requirements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Repricing gap by time bucket, KIBOR historical volatility and forward curve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rate risk: Mudaraba and Musharaka have variable profit-sharing dynamics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Optionality risk: loan prepayment, FD early withdrawal behavioral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100bps rate change = PKR 5-10B NII impact quantified for large bank</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Yield curve risk: non-parallel shift scenarios on NII and EVE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Rate risk dashboard with real-time position and SBP compliance monitoring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3" name="Shape 5373"/>
        <p:cNvGrpSpPr/>
        <p:nvPr/>
      </p:nvGrpSpPr>
      <p:grpSpPr>
        <a:xfrm>
          <a:off x="0" y="0"/>
          <a:ext cx="0" cy="0"/>
          <a:chOff x="0" y="0"/>
          <a:chExt cx="0" cy="0"/>
        </a:xfrm>
      </p:grpSpPr>
      <p:graphicFrame>
        <p:nvGraphicFramePr>
          <p:cNvPr id="5374" name="Google Shape;5374;p29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Simultaneous IRR and FXR hedging strategies capability within an integrated enterprise risk management platform. Business agility enabled through analytic ecosystem architecture. . Integrated transaction and position data with streaming FX and IR data supporting near real-time VaR.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IRR integrated into ‘up-stream’ enterprise risk framework. Integrated transaction and position data with streaming FX and IR data supporting near real-time VaR. Data and analytic centric vision and strategy with a well defined roadmap.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Fit for purpose applications and some degree of integration to support regulatory reporting but data-marts still proliferate within IR sensitive lines of business. Vision &amp; strategy orienting towards analytic and data centric architecture &amp; some progress on roadmap.</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Point solutions and heavy dependence on spreadsheet models. Data marts proliferate, minimal referential integrity and data governance necessary to meet minimum regulatory requirements. Non-scalable architecture, incremental changes increasingly costly.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Based on aggregated data in spreadsheet models to meet at least minimum regulatory requirements.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KIBOR yield curve modeling and rate scenario analysis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Banking book interest rate risk: EVE and NII sensitivity per SBP</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Basis risk: KIBOR vs. SBP policy rate vs. deposit rate spread dynamics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Proactive rate risk management in volatile Pakistan interest rate environment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NII forecasting under multiple rate scenarios for strategic planning</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Automated IRRBB reporting per SBP Basel III requirements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375" name="Google Shape;5375;p299"/>
          <p:cNvGrpSpPr/>
          <p:nvPr/>
        </p:nvGrpSpPr>
        <p:grpSpPr>
          <a:xfrm>
            <a:off x="469900" y="3819680"/>
            <a:ext cx="8455025" cy="732866"/>
            <a:chOff x="211138" y="3972860"/>
            <a:chExt cx="8713787" cy="642437"/>
          </a:xfrm>
        </p:grpSpPr>
        <p:sp>
          <p:nvSpPr>
            <p:cNvPr id="5376" name="Google Shape;5376;p29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77" name="Google Shape;5377;p29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378" name="Google Shape;5378;p299"/>
          <p:cNvGrpSpPr/>
          <p:nvPr/>
        </p:nvGrpSpPr>
        <p:grpSpPr>
          <a:xfrm>
            <a:off x="7971865" y="980278"/>
            <a:ext cx="949325" cy="2867825"/>
            <a:chOff x="7941888" y="1062037"/>
            <a:chExt cx="983037" cy="2695575"/>
          </a:xfrm>
        </p:grpSpPr>
        <p:sp>
          <p:nvSpPr>
            <p:cNvPr id="5379" name="Google Shape;5379;p29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80" name="Google Shape;5380;p29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381" name="Google Shape;5381;p29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a:solidFill>
                <a:schemeClr val="accent6"/>
              </a:solidFill>
            </a:endParaRPr>
          </a:p>
        </p:txBody>
      </p:sp>
      <p:sp>
        <p:nvSpPr>
          <p:cNvPr id="5382" name="Google Shape;5382;p2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a:p>
            <a:pPr indent="0" lvl="0" marL="0" rtl="0" algn="l">
              <a:lnSpc>
                <a:spcPct val="95000"/>
              </a:lnSpc>
              <a:spcBef>
                <a:spcPts val="400"/>
              </a:spcBef>
              <a:spcAft>
                <a:spcPts val="0"/>
              </a:spcAft>
              <a:buNone/>
            </a:pPr>
            <a:r>
              <a:rPr b="1" lang="en-GB" sz="1000">
                <a:solidFill>
                  <a:srgbClr val="0079DB"/>
                </a:solidFill>
              </a:rPr>
              <a:t>Pakistan Context:</a:t>
            </a:r>
            <a:endParaRPr/>
          </a:p>
          <a:p>
            <a:pPr indent="-169863" lvl="0" marL="169863" rtl="0" algn="l">
              <a:lnSpc>
                <a:spcPct val="95000"/>
              </a:lnSpc>
              <a:spcBef>
                <a:spcPts val="200"/>
              </a:spcBef>
              <a:spcAft>
                <a:spcPts val="0"/>
              </a:spcAft>
              <a:buClr>
                <a:srgbClr val="0079DB"/>
              </a:buClr>
              <a:buSzPts val="1000"/>
              <a:buChar char="•"/>
            </a:pPr>
            <a:r>
              <a:rPr lang="en-GB" sz="1000">
                <a:solidFill>
                  <a:srgbClr val="0079DB"/>
                </a:solidFill>
              </a:rPr>
              <a:t>Pakistan banks produce 30+ SBP statutory returns - largely manual process consuming significant finance team bandwidth</a:t>
            </a:r>
            <a:endParaRPr/>
          </a:p>
          <a:p>
            <a:pPr indent="-169863" lvl="0" marL="169863" rtl="0" algn="l">
              <a:lnSpc>
                <a:spcPct val="95000"/>
              </a:lnSpc>
              <a:spcBef>
                <a:spcPts val="200"/>
              </a:spcBef>
              <a:spcAft>
                <a:spcPts val="0"/>
              </a:spcAft>
              <a:buClr>
                <a:srgbClr val="0079DB"/>
              </a:buClr>
              <a:buSzPts val="1000"/>
              <a:buChar char="•"/>
            </a:pPr>
            <a:r>
              <a:rPr lang="en-GB" sz="1000">
                <a:solidFill>
                  <a:srgbClr val="0079DB"/>
                </a:solidFill>
              </a:rPr>
              <a:t>IFRS 9 ECL reporting: quarterly Note 10 disclosure with Stage 1/2/3 movement analysis</a:t>
            </a:r>
            <a:endParaRPr/>
          </a:p>
          <a:p>
            <a:pPr indent="-169863" lvl="0" marL="169863" rtl="0" algn="l">
              <a:lnSpc>
                <a:spcPct val="95000"/>
              </a:lnSpc>
              <a:spcBef>
                <a:spcPts val="200"/>
              </a:spcBef>
              <a:spcAft>
                <a:spcPts val="0"/>
              </a:spcAft>
              <a:buClr>
                <a:srgbClr val="0079DB"/>
              </a:buClr>
              <a:buSzPts val="1000"/>
              <a:buChar char="•"/>
            </a:pPr>
            <a:r>
              <a:rPr lang="en-GB" sz="1000">
                <a:solidFill>
                  <a:srgbClr val="0079DB"/>
                </a:solidFill>
              </a:rPr>
              <a:t>SECP/PSX requires quarterly and annual IFRS financial statements and timely disclosure for 15+ listed banks</a:t>
            </a:r>
            <a:endParaRPr/>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7" name="Shape 5397"/>
        <p:cNvGrpSpPr/>
        <p:nvPr/>
      </p:nvGrpSpPr>
      <p:grpSpPr>
        <a:xfrm>
          <a:off x="0" y="0"/>
          <a:ext cx="0" cy="0"/>
          <a:chOff x="0" y="0"/>
          <a:chExt cx="0" cy="0"/>
        </a:xfrm>
      </p:grpSpPr>
      <p:pic>
        <p:nvPicPr>
          <p:cNvPr id="5398" name="Google Shape;5398;p301"/>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99" name="Google Shape;5399;p301"/>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 Challenges</a:t>
            </a:r>
            <a:endParaRPr/>
          </a:p>
        </p:txBody>
      </p:sp>
      <p:sp>
        <p:nvSpPr>
          <p:cNvPr id="5400" name="Google Shape;5400;p3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
        <p:nvSpPr>
          <p:cNvPr id="5401" name="Google Shape;5401;p301"/>
          <p:cNvSpPr/>
          <p:nvPr/>
        </p:nvSpPr>
        <p:spPr>
          <a:xfrm>
            <a:off x="475559" y="1076925"/>
            <a:ext cx="8264697" cy="838769"/>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chemeClr val="lt1"/>
                </a:solidFill>
                <a:latin typeface="Century Gothic"/>
                <a:ea typeface="Century Gothic"/>
                <a:cs typeface="Century Gothic"/>
                <a:sym typeface="Century Gothic"/>
              </a:rPr>
              <a:t>Overall challenge</a:t>
            </a:r>
            <a:r>
              <a:rPr lang="en-GB" sz="1400">
                <a:solidFill>
                  <a:schemeClr val="lt1"/>
                </a:solidFill>
                <a:latin typeface="Century Gothic"/>
                <a:ea typeface="Century Gothic"/>
                <a:cs typeface="Century Gothic"/>
                <a:sym typeface="Century Gothic"/>
              </a:rPr>
              <a:t>: Financial Reporting needs to be useful, comprehensible, actionable and trustworthy. This is made difficult due to the following challenges:</a:t>
            </a:r>
            <a:endParaRPr/>
          </a:p>
        </p:txBody>
      </p:sp>
      <p:sp>
        <p:nvSpPr>
          <p:cNvPr id="5402" name="Google Shape;5402;p301"/>
          <p:cNvSpPr/>
          <p:nvPr/>
        </p:nvSpPr>
        <p:spPr>
          <a:xfrm>
            <a:off x="3670300" y="4066286"/>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lnSpc>
                <a:spcPct val="110000"/>
              </a:lnSpc>
              <a:spcBef>
                <a:spcPts val="0"/>
              </a:spcBef>
              <a:spcAft>
                <a:spcPts val="0"/>
              </a:spcAft>
              <a:buNone/>
            </a:pPr>
            <a:r>
              <a:rPr lang="en-GB" sz="900">
                <a:solidFill>
                  <a:schemeClr val="dk1"/>
                </a:solidFill>
                <a:latin typeface="Century Gothic"/>
                <a:ea typeface="Century Gothic"/>
                <a:cs typeface="Century Gothic"/>
                <a:sym typeface="Century Gothic"/>
              </a:rPr>
              <a:t>Due to changes in  disclosures, companies are adjusting  their reporting practices. Internal Controls have to correspondingly improve otherwise risk and deficiencies can exponentially increase. Companies are revamping business processes, reassess risk and revamp training to staff.</a:t>
            </a:r>
            <a:endParaRPr sz="900">
              <a:solidFill>
                <a:schemeClr val="dk1"/>
              </a:solidFill>
              <a:latin typeface="Century Gothic"/>
              <a:ea typeface="Century Gothic"/>
              <a:cs typeface="Century Gothic"/>
              <a:sym typeface="Century Gothic"/>
            </a:endParaRPr>
          </a:p>
        </p:txBody>
      </p:sp>
      <p:sp>
        <p:nvSpPr>
          <p:cNvPr id="5403" name="Google Shape;5403;p301"/>
          <p:cNvSpPr/>
          <p:nvPr/>
        </p:nvSpPr>
        <p:spPr>
          <a:xfrm>
            <a:off x="3670300" y="3369173"/>
            <a:ext cx="5069957" cy="680400"/>
          </a:xfrm>
          <a:prstGeom prst="rect">
            <a:avLst/>
          </a:prstGeom>
          <a:solidFill>
            <a:schemeClr val="lt2"/>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Financial analyst spend 80% of their time doing data extraction, validation, calculations and report creation activities as opposed to analysing the results. Automating a large part of the financial process during month end through usage of efficient processes, people and technology can mitigate this challenge.</a:t>
            </a:r>
            <a:endParaRPr sz="900">
              <a:solidFill>
                <a:srgbClr val="3C3C3B"/>
              </a:solidFill>
              <a:latin typeface="Century Gothic"/>
              <a:ea typeface="Century Gothic"/>
              <a:cs typeface="Century Gothic"/>
              <a:sym typeface="Century Gothic"/>
            </a:endParaRPr>
          </a:p>
        </p:txBody>
      </p:sp>
      <p:sp>
        <p:nvSpPr>
          <p:cNvPr id="5404" name="Google Shape;5404;p301"/>
          <p:cNvSpPr/>
          <p:nvPr/>
        </p:nvSpPr>
        <p:spPr>
          <a:xfrm>
            <a:off x="565150" y="4066286"/>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405" name="Google Shape;5405;p301"/>
          <p:cNvSpPr/>
          <p:nvPr/>
        </p:nvSpPr>
        <p:spPr>
          <a:xfrm>
            <a:off x="3670300" y="2667087"/>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Data used in Financial Reporting is stored in a myriad of ERP’s, source systems, legacy systems. They are sometimes devoid of logic, un-validated and can be hard to access. </a:t>
            </a:r>
            <a:r>
              <a:rPr lang="en-GB" sz="900">
                <a:solidFill>
                  <a:srgbClr val="5F6062"/>
                </a:solidFill>
                <a:latin typeface="Century Gothic"/>
                <a:ea typeface="Century Gothic"/>
                <a:cs typeface="Century Gothic"/>
                <a:sym typeface="Century Gothic"/>
              </a:rPr>
              <a:t>Financial data needs to be reliable, accurate, auditable, and traceable back to the source.</a:t>
            </a:r>
            <a:endParaRPr sz="900">
              <a:solidFill>
                <a:srgbClr val="3C3C3B"/>
              </a:solidFill>
              <a:latin typeface="Century Gothic"/>
              <a:ea typeface="Century Gothic"/>
              <a:cs typeface="Century Gothic"/>
              <a:sym typeface="Century Gothic"/>
            </a:endParaRPr>
          </a:p>
        </p:txBody>
      </p:sp>
      <p:sp>
        <p:nvSpPr>
          <p:cNvPr id="5406" name="Google Shape;5406;p301"/>
          <p:cNvSpPr/>
          <p:nvPr/>
        </p:nvSpPr>
        <p:spPr>
          <a:xfrm>
            <a:off x="565150" y="2667088"/>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407" name="Google Shape;5407;p301"/>
          <p:cNvSpPr/>
          <p:nvPr/>
        </p:nvSpPr>
        <p:spPr>
          <a:xfrm>
            <a:off x="488950" y="2667088"/>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Inconsistent Data residing in various repositories</a:t>
            </a:r>
            <a:endParaRPr/>
          </a:p>
        </p:txBody>
      </p:sp>
      <p:sp>
        <p:nvSpPr>
          <p:cNvPr id="5408" name="Google Shape;5408;p301"/>
          <p:cNvSpPr/>
          <p:nvPr/>
        </p:nvSpPr>
        <p:spPr>
          <a:xfrm>
            <a:off x="3670299" y="1962831"/>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lnSpc>
                <a:spcPct val="110000"/>
              </a:lnSpc>
              <a:spcBef>
                <a:spcPts val="0"/>
              </a:spcBef>
              <a:spcAft>
                <a:spcPts val="0"/>
              </a:spcAft>
              <a:buNone/>
            </a:pPr>
            <a:r>
              <a:rPr lang="en-GB" sz="900">
                <a:solidFill>
                  <a:schemeClr val="dk1"/>
                </a:solidFill>
                <a:latin typeface="Century Gothic"/>
                <a:ea typeface="Century Gothic"/>
                <a:cs typeface="Century Gothic"/>
                <a:sym typeface="Century Gothic"/>
              </a:rPr>
              <a:t>Compliance &amp; Regulatory bodies continue to build strong safety nets and standards have changed for Financial Instruments, Contracts, Leases and Revenue Recognition. This has wide spread impact on Reporting, Internal controls &amp; audits as well.</a:t>
            </a:r>
            <a:endParaRPr sz="900">
              <a:solidFill>
                <a:schemeClr val="dk1"/>
              </a:solidFill>
              <a:latin typeface="Century Gothic"/>
              <a:ea typeface="Century Gothic"/>
              <a:cs typeface="Century Gothic"/>
              <a:sym typeface="Century Gothic"/>
            </a:endParaRPr>
          </a:p>
        </p:txBody>
      </p:sp>
      <p:sp>
        <p:nvSpPr>
          <p:cNvPr id="5409" name="Google Shape;5409;p301"/>
          <p:cNvSpPr/>
          <p:nvPr/>
        </p:nvSpPr>
        <p:spPr>
          <a:xfrm>
            <a:off x="565149" y="1962832"/>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410" name="Google Shape;5410;p301"/>
          <p:cNvSpPr/>
          <p:nvPr/>
        </p:nvSpPr>
        <p:spPr>
          <a:xfrm>
            <a:off x="488949" y="1962832"/>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Keeping Track of different Accounting &amp; Financial Standards</a:t>
            </a:r>
            <a:endParaRPr/>
          </a:p>
        </p:txBody>
      </p:sp>
      <p:sp>
        <p:nvSpPr>
          <p:cNvPr id="5411" name="Google Shape;5411;p301"/>
          <p:cNvSpPr/>
          <p:nvPr/>
        </p:nvSpPr>
        <p:spPr>
          <a:xfrm>
            <a:off x="488950" y="4066286"/>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Managing Internal Controls</a:t>
            </a:r>
            <a:endParaRPr/>
          </a:p>
        </p:txBody>
      </p:sp>
      <p:sp>
        <p:nvSpPr>
          <p:cNvPr id="5412" name="Google Shape;5412;p301"/>
          <p:cNvSpPr/>
          <p:nvPr/>
        </p:nvSpPr>
        <p:spPr>
          <a:xfrm>
            <a:off x="565150" y="3369174"/>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413" name="Google Shape;5413;p301"/>
          <p:cNvSpPr/>
          <p:nvPr/>
        </p:nvSpPr>
        <p:spPr>
          <a:xfrm>
            <a:off x="488950" y="3369174"/>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A manually intensive data gathering, validation and reporting process</a:t>
            </a:r>
            <a:endParaRPr/>
          </a:p>
        </p:txBody>
      </p:sp>
      <p:sp>
        <p:nvSpPr>
          <p:cNvPr id="99903" name="PK Context 43"/>
          <p:cNvSpPr txBox="1"/>
          <p:nvPr/>
        </p:nvSpPr>
        <p:spPr>
          <a:xfrm>
            <a:off x="475559" y="4800000"/>
            <a:ext cx="8264697" cy="300000"/>
          </a:xfrm>
          <a:prstGeom prst="rect">
            <a:avLst/>
          </a:prstGeom>
          <a:noFill/>
          <a:ln>
            <a:noFill/>
          </a:ln>
        </p:spPr>
        <p:txBody>
          <a:bodyPr anchorCtr="0" anchor="ctr" bIns="0" lIns="91425" spcFirstLastPara="1" rIns="91425" wrap="square" tIns="0">
            <a:noAutofit/>
          </a:bodyPr>
          <a:lstStyle/>
          <a:p>
            <a:pPr indent="0" lvl="0" marL="0" rtl="0" algn="l">
              <a:buNone/>
            </a:pPr>
            <a:r>
              <a:rPr b="1" lang="en-GB" sz="800">
                <a:solidFill>
                  <a:srgbClr val="0079DB"/>
                </a:solidFill>
              </a:rPr>
              <a:t>Pakistan: 30+ SBP statutory returns, IFRS 9 ECL reporting, SECP/PSX disclosure, AAOIFI for Islamic banking - all manual</a:t>
            </a:r>
            <a:endParaRPr/>
          </a:p>
        </p:txBody>
      </p:sp>
    </p:spTree>
  </p:cSld>
  <p:clrMapOvr>
    <a:masterClrMapping/>
  </p:clrMapOvr>
</p:sld>
</file>

<file path=ppt/slides/slide2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7" name="Shape 5417"/>
        <p:cNvGrpSpPr/>
        <p:nvPr/>
      </p:nvGrpSpPr>
      <p:grpSpPr>
        <a:xfrm>
          <a:off x="0" y="0"/>
          <a:ext cx="0" cy="0"/>
          <a:chOff x="0" y="0"/>
          <a:chExt cx="0" cy="0"/>
        </a:xfrm>
      </p:grpSpPr>
      <p:sp>
        <p:nvSpPr>
          <p:cNvPr id="5418" name="Google Shape;5418;p30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419" name="Google Shape;5419;p302"/>
          <p:cNvSpPr txBox="1"/>
          <p:nvPr>
            <p:ph idx="4294967295" type="body"/>
          </p:nvPr>
        </p:nvSpPr>
        <p:spPr>
          <a:xfrm>
            <a:off x="288393" y="997338"/>
            <a:ext cx="5261507"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1"/>
              </a:buClr>
              <a:buSzPts val="1600"/>
              <a:buNone/>
            </a:pPr>
            <a:r>
              <a:rPr b="1" lang="en-GB" sz="1600"/>
              <a:t>   </a:t>
            </a:r>
            <a:r>
              <a:rPr lang="en-GB">
                <a:solidFill>
                  <a:schemeClr val="dk2"/>
                </a:solidFill>
              </a:rPr>
              <a:t>Are You Able To…</a:t>
            </a:r>
            <a:br>
              <a:rPr lang="en-GB">
                <a:solidFill>
                  <a:schemeClr val="dk2"/>
                </a:solidFill>
              </a:rPr>
            </a:br>
            <a:endParaRPr sz="800">
              <a:solidFill>
                <a:schemeClr val="dk2"/>
              </a:solidFill>
            </a:endParaRPr>
          </a:p>
          <a:p>
            <a:pPr indent="-228600" lvl="1" marL="457200" rtl="0" algn="l">
              <a:lnSpc>
                <a:spcPct val="100000"/>
              </a:lnSpc>
              <a:spcBef>
                <a:spcPts val="0"/>
              </a:spcBef>
              <a:spcAft>
                <a:spcPts val="0"/>
              </a:spcAft>
              <a:buClr>
                <a:schemeClr val="dk1"/>
              </a:buClr>
              <a:buSzPts val="1300"/>
              <a:buChar char="–"/>
            </a:pPr>
            <a:r>
              <a:rPr lang="en-GB" sz="1300"/>
              <a:t>Create all the External and Internal Reporting and deliver dashboards to your constituents in a timely manner</a:t>
            </a:r>
            <a:endParaRPr/>
          </a:p>
          <a:p>
            <a:pPr indent="-228600" lvl="1" marL="457200" rtl="0" algn="l">
              <a:lnSpc>
                <a:spcPct val="100000"/>
              </a:lnSpc>
              <a:spcBef>
                <a:spcPts val="600"/>
              </a:spcBef>
              <a:spcAft>
                <a:spcPts val="0"/>
              </a:spcAft>
              <a:buClr>
                <a:schemeClr val="dk1"/>
              </a:buClr>
              <a:buSzPts val="1300"/>
              <a:buChar char="–"/>
            </a:pPr>
            <a:r>
              <a:rPr lang="en-GB" sz="1300"/>
              <a:t>In the underlying data accurate, trustworthy and most importantly actionable?</a:t>
            </a:r>
            <a:endParaRPr/>
          </a:p>
          <a:p>
            <a:pPr indent="-228600" lvl="1" marL="457200" rtl="0" algn="l">
              <a:lnSpc>
                <a:spcPct val="100000"/>
              </a:lnSpc>
              <a:spcBef>
                <a:spcPts val="600"/>
              </a:spcBef>
              <a:spcAft>
                <a:spcPts val="0"/>
              </a:spcAft>
              <a:buClr>
                <a:schemeClr val="dk1"/>
              </a:buClr>
              <a:buSzPts val="1300"/>
              <a:buChar char="–"/>
            </a:pPr>
            <a:r>
              <a:rPr lang="en-GB" sz="1300"/>
              <a:t>Are you able to keep up with all of the Financial and Accounting Standards?</a:t>
            </a:r>
            <a:endParaRPr/>
          </a:p>
          <a:p>
            <a:pPr indent="-228600" lvl="1" marL="457200" rtl="0" algn="l">
              <a:lnSpc>
                <a:spcPct val="100000"/>
              </a:lnSpc>
              <a:spcBef>
                <a:spcPts val="600"/>
              </a:spcBef>
              <a:spcAft>
                <a:spcPts val="0"/>
              </a:spcAft>
              <a:buClr>
                <a:schemeClr val="dk1"/>
              </a:buClr>
              <a:buSzPts val="1300"/>
              <a:buChar char="–"/>
            </a:pPr>
            <a:r>
              <a:rPr lang="en-GB" sz="1300"/>
              <a:t>Do you have the ability to integrate your ERP data into your non-ERP data and how it is tied to your financial results?</a:t>
            </a:r>
            <a:endParaRPr/>
          </a:p>
          <a:p>
            <a:pPr indent="-228600" lvl="1" marL="457200" rtl="0" algn="l">
              <a:lnSpc>
                <a:spcPct val="100000"/>
              </a:lnSpc>
              <a:spcBef>
                <a:spcPts val="600"/>
              </a:spcBef>
              <a:spcAft>
                <a:spcPts val="0"/>
              </a:spcAft>
              <a:buClr>
                <a:schemeClr val="dk1"/>
              </a:buClr>
              <a:buSzPts val="1300"/>
              <a:buChar char="–"/>
            </a:pPr>
            <a:r>
              <a:rPr lang="en-GB" sz="1300"/>
              <a:t>Can you perform financial reporting in less than a day?</a:t>
            </a:r>
            <a:endParaRPr sz="1300"/>
          </a:p>
          <a:p>
            <a:pPr indent="-228600" lvl="1" marL="457200" rtl="0" algn="l">
              <a:lnSpc>
                <a:spcPct val="100000"/>
              </a:lnSpc>
              <a:spcBef>
                <a:spcPts val="600"/>
              </a:spcBef>
              <a:spcAft>
                <a:spcPts val="0"/>
              </a:spcAft>
              <a:buClr>
                <a:schemeClr val="dk1"/>
              </a:buClr>
              <a:buSzPts val="1300"/>
              <a:buChar char="–"/>
            </a:pPr>
            <a:r>
              <a:rPr lang="en-GB" sz="1300"/>
              <a:t>Can you perform Rolling Forecasts throughout the financial year?</a:t>
            </a:r>
            <a:endParaRPr/>
          </a:p>
          <a:p>
            <a:pPr indent="-228600" lvl="1" marL="457200" rtl="0" algn="l">
              <a:lnSpc>
                <a:spcPct val="100000"/>
              </a:lnSpc>
              <a:spcBef>
                <a:spcPts val="600"/>
              </a:spcBef>
              <a:spcAft>
                <a:spcPts val="0"/>
              </a:spcAft>
              <a:buClr>
                <a:schemeClr val="dk1"/>
              </a:buClr>
              <a:buSzPts val="1300"/>
              <a:buChar char="–"/>
            </a:pPr>
            <a:r>
              <a:rPr lang="en-GB" sz="1300"/>
              <a:t>Can you easily update Reports/Dashboards with new business dimensions and/or updated hierarchies</a:t>
            </a:r>
            <a:endParaRPr/>
          </a:p>
          <a:p>
            <a:pPr indent="0" lvl="0" marL="0" rtl="0" algn="l">
              <a:lnSpc>
                <a:spcPct val="100000"/>
              </a:lnSpc>
              <a:spcBef>
                <a:spcPts val="500"/>
              </a:spcBef>
              <a:spcAft>
                <a:spcPts val="0"/>
              </a:spcAft>
              <a:buNone/>
            </a:pPr>
            <a:r>
              <a:rPr b="1" lang="en-GB" sz="1200">
                <a:solidFill>
                  <a:srgbClr val="0079DB"/>
                </a:solidFill>
              </a:rPr>
              <a:t>Pakistan-Specific:</a:t>
            </a:r>
            <a:endParaRPr/>
          </a:p>
          <a:p>
            <a:pPr indent="-228600" lvl="1" marL="457200" rtl="0" algn="l">
              <a:lnSpc>
                <a:spcPct val="100000"/>
              </a:lnSpc>
              <a:spcBef>
                <a:spcPts val="400"/>
              </a:spcBef>
              <a:spcAft>
                <a:spcPts val="0"/>
              </a:spcAft>
              <a:buClr>
                <a:srgbClr val="0079DB"/>
              </a:buClr>
              <a:buSzPts val="1200"/>
              <a:buChar char="–"/>
            </a:pPr>
            <a:r>
              <a:rPr lang="en-GB" sz="1200">
                <a:solidFill>
                  <a:srgbClr val="0079DB"/>
                </a:solidFill>
              </a:rPr>
              <a:t>Can you automate SBP statutory returns (WSP, MSA, QFS) directly from the data warehouse?</a:t>
            </a:r>
            <a:endParaRPr sz="1200"/>
          </a:p>
          <a:p>
            <a:pPr indent="-228600" lvl="1" marL="457200" rtl="0" algn="l">
              <a:lnSpc>
                <a:spcPct val="100000"/>
              </a:lnSpc>
              <a:spcBef>
                <a:spcPts val="400"/>
              </a:spcBef>
              <a:spcAft>
                <a:spcPts val="0"/>
              </a:spcAft>
              <a:buClr>
                <a:srgbClr val="0079DB"/>
              </a:buClr>
              <a:buSzPts val="1200"/>
              <a:buChar char="–"/>
            </a:pPr>
            <a:r>
              <a:rPr lang="en-GB" sz="1200">
                <a:solidFill>
                  <a:srgbClr val="0079DB"/>
                </a:solidFill>
              </a:rPr>
              <a:t>Can you produce IFRS 9 ECL disclosures with Stage 1/2/3 movement analysis?</a:t>
            </a:r>
            <a:endParaRPr sz="1200"/>
          </a:p>
          <a:p>
            <a:pPr indent="-228600" lvl="1" marL="457200" rtl="0" algn="l">
              <a:lnSpc>
                <a:spcPct val="100000"/>
              </a:lnSpc>
              <a:spcBef>
                <a:spcPts val="400"/>
              </a:spcBef>
              <a:spcAft>
                <a:spcPts val="0"/>
              </a:spcAft>
              <a:buClr>
                <a:srgbClr val="0079DB"/>
              </a:buClr>
              <a:buSzPts val="1200"/>
              <a:buChar char="–"/>
            </a:pPr>
            <a:r>
              <a:rPr lang="en-GB" sz="1200">
                <a:solidFill>
                  <a:srgbClr val="0079DB"/>
                </a:solidFill>
              </a:rPr>
              <a:t>Can you generate dual IFRS/AAOIFI reports for Islamic banking operations?</a:t>
            </a:r>
            <a:endParaRPr sz="1200"/>
          </a:p>
        </p:txBody>
      </p:sp>
      <p:sp>
        <p:nvSpPr>
          <p:cNvPr id="5420" name="Google Shape;5420;p302"/>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21" name="Google Shape;5421;p3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id="5422" name="Google Shape;5422;p302"/>
          <p:cNvPicPr preferRelativeResize="0"/>
          <p:nvPr/>
        </p:nvPicPr>
        <p:blipFill rotWithShape="1">
          <a:blip r:embed="rId4">
            <a:alphaModFix/>
          </a:blip>
          <a:srcRect b="0" l="0" r="0" t="0"/>
          <a:stretch/>
        </p:blipFill>
        <p:spPr>
          <a:xfrm>
            <a:off x="5553868" y="967317"/>
            <a:ext cx="3590132" cy="2393421"/>
          </a:xfrm>
          <a:prstGeom prst="rect">
            <a:avLst/>
          </a:prstGeom>
          <a:noFill/>
          <a:ln>
            <a:noFill/>
          </a:ln>
        </p:spPr>
      </p:pic>
    </p:spTree>
  </p:cSld>
  <p:clrMapOvr>
    <a:masterClrMapping/>
  </p:clrMapOvr>
</p:sld>
</file>

<file path=ppt/slides/slide2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6" name="Shape 5426"/>
        <p:cNvGrpSpPr/>
        <p:nvPr/>
      </p:nvGrpSpPr>
      <p:grpSpPr>
        <a:xfrm>
          <a:off x="0" y="0"/>
          <a:ext cx="0" cy="0"/>
          <a:chOff x="0" y="0"/>
          <a:chExt cx="0" cy="0"/>
        </a:xfrm>
      </p:grpSpPr>
      <p:sp>
        <p:nvSpPr>
          <p:cNvPr id="5427" name="Google Shape;5427;p303"/>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Efficient Financial consolidation and Statutory Reporting </a:t>
            </a:r>
            <a:endParaRPr/>
          </a:p>
          <a:p>
            <a:pPr indent="-169863" lvl="0" marL="169863" rtl="0" algn="l">
              <a:lnSpc>
                <a:spcPct val="95000"/>
              </a:lnSpc>
              <a:spcBef>
                <a:spcPts val="600"/>
              </a:spcBef>
              <a:spcAft>
                <a:spcPts val="0"/>
              </a:spcAft>
              <a:buClr>
                <a:schemeClr val="dk1"/>
              </a:buClr>
              <a:buSzPts val="1400"/>
              <a:buChar char="•"/>
            </a:pPr>
            <a:r>
              <a:rPr lang="en-GB" sz="1400"/>
              <a:t>Efficient Management Reporting and reporting on myriad of internal metrics for management</a:t>
            </a:r>
            <a:endParaRPr/>
          </a:p>
          <a:p>
            <a:pPr indent="-169863" lvl="0" marL="169863" rtl="0" algn="l">
              <a:lnSpc>
                <a:spcPct val="95000"/>
              </a:lnSpc>
              <a:spcBef>
                <a:spcPts val="600"/>
              </a:spcBef>
              <a:spcAft>
                <a:spcPts val="0"/>
              </a:spcAft>
              <a:buClr>
                <a:schemeClr val="dk1"/>
              </a:buClr>
              <a:buSzPts val="1400"/>
              <a:buChar char="•"/>
            </a:pPr>
            <a:r>
              <a:rPr lang="en-GB" sz="1400"/>
              <a:t>Effective Variance Reporting between different accounting standards IFRS, GAAP, Local Regulators</a:t>
            </a:r>
            <a:endParaRPr/>
          </a:p>
          <a:p>
            <a:pPr indent="-169863" lvl="0" marL="169863" rtl="0" algn="l">
              <a:lnSpc>
                <a:spcPct val="95000"/>
              </a:lnSpc>
              <a:spcBef>
                <a:spcPts val="600"/>
              </a:spcBef>
              <a:spcAft>
                <a:spcPts val="0"/>
              </a:spcAft>
              <a:buClr>
                <a:schemeClr val="dk1"/>
              </a:buClr>
              <a:buSzPts val="1400"/>
              <a:buChar char="•"/>
            </a:pPr>
            <a:r>
              <a:rPr lang="en-GB" sz="1400"/>
              <a:t> Effective Executive Dashboards that allow CxO’s to drill down to problem and highlight exceptions</a:t>
            </a:r>
            <a:endParaRPr/>
          </a:p>
          <a:p>
            <a:pPr indent="-169863" lvl="0" marL="169863" rtl="0" algn="l">
              <a:lnSpc>
                <a:spcPct val="95000"/>
              </a:lnSpc>
              <a:spcBef>
                <a:spcPts val="600"/>
              </a:spcBef>
              <a:spcAft>
                <a:spcPts val="0"/>
              </a:spcAft>
              <a:buClr>
                <a:schemeClr val="dk1"/>
              </a:buClr>
              <a:buSzPts val="1400"/>
              <a:buChar char="•"/>
            </a:pPr>
            <a:r>
              <a:rPr lang="en-GB" sz="1400"/>
              <a:t>Ability to drill down to the granular grain of data in search of answers</a:t>
            </a:r>
            <a:endParaRPr/>
          </a:p>
          <a:p>
            <a:pPr indent="0" lvl="0" marL="0" rtl="0" algn="l">
              <a:lnSpc>
                <a:spcPct val="95000"/>
              </a:lnSpc>
              <a:spcBef>
                <a:spcPts val="400"/>
              </a:spcBef>
              <a:spcAft>
                <a:spcPts val="0"/>
              </a:spcAft>
              <a:buNone/>
            </a:pPr>
            <a:r>
              <a:rPr b="1" lang="en-GB" sz="1200">
                <a:solidFill>
                  <a:srgbClr val="0079DB"/>
                </a:solidFill>
              </a:rPr>
              <a:t>Pakistan Context:</a:t>
            </a:r>
            <a:endParaRPr/>
          </a:p>
          <a:p>
            <a:pPr indent="-169863" lvl="0" marL="169863" rtl="0" algn="l">
              <a:lnSpc>
                <a:spcPct val="95000"/>
              </a:lnSpc>
              <a:spcBef>
                <a:spcPts val="400"/>
              </a:spcBef>
              <a:spcAft>
                <a:spcPts val="0"/>
              </a:spcAft>
              <a:buClr>
                <a:srgbClr val="0079DB"/>
              </a:buClr>
              <a:buSzPts val="1200"/>
              <a:buChar char="•"/>
            </a:pPr>
            <a:r>
              <a:rPr lang="en-GB" sz="1200">
                <a:solidFill>
                  <a:srgbClr val="0079DB"/>
                </a:solidFill>
              </a:rPr>
              <a:t>Automated SBP statutory reporting (30+ returns) from FSDM-based data warehouse</a:t>
            </a:r>
            <a:endParaRPr/>
          </a:p>
          <a:p>
            <a:pPr indent="-169863" lvl="0" marL="169863" rtl="0" algn="l">
              <a:lnSpc>
                <a:spcPct val="95000"/>
              </a:lnSpc>
              <a:spcBef>
                <a:spcPts val="400"/>
              </a:spcBef>
              <a:spcAft>
                <a:spcPts val="0"/>
              </a:spcAft>
              <a:buClr>
                <a:srgbClr val="0079DB"/>
              </a:buClr>
              <a:buSzPts val="1200"/>
              <a:buChar char="•"/>
            </a:pPr>
            <a:r>
              <a:rPr lang="en-GB" sz="1200">
                <a:solidFill>
                  <a:srgbClr val="0079DB"/>
                </a:solidFill>
              </a:rPr>
              <a:t>IFRS 9 ECL stage movement analysis and provision reporting</a:t>
            </a:r>
            <a:endParaRPr/>
          </a:p>
          <a:p>
            <a:pPr indent="-169863" lvl="0" marL="169863" rtl="0" algn="l">
              <a:lnSpc>
                <a:spcPct val="95000"/>
              </a:lnSpc>
              <a:spcBef>
                <a:spcPts val="400"/>
              </a:spcBef>
              <a:spcAft>
                <a:spcPts val="0"/>
              </a:spcAft>
              <a:buClr>
                <a:srgbClr val="0079DB"/>
              </a:buClr>
              <a:buSzPts val="1200"/>
              <a:buChar char="•"/>
            </a:pPr>
            <a:r>
              <a:rPr lang="en-GB" sz="1200">
                <a:solidFill>
                  <a:srgbClr val="0079DB"/>
                </a:solidFill>
              </a:rPr>
              <a:t>Dual IFRS/AAOIFI reporting framework for Islamic banking windows</a:t>
            </a:r>
            <a:endParaRPr/>
          </a:p>
          <a:p>
            <a:pPr indent="-169863" lvl="0" marL="169863" rtl="0" algn="l">
              <a:lnSpc>
                <a:spcPct val="95000"/>
              </a:lnSpc>
              <a:spcBef>
                <a:spcPts val="400"/>
              </a:spcBef>
              <a:spcAft>
                <a:spcPts val="0"/>
              </a:spcAft>
              <a:buClr>
                <a:srgbClr val="0079DB"/>
              </a:buClr>
              <a:buSzPts val="1200"/>
              <a:buChar char="•"/>
            </a:pPr>
            <a:r>
              <a:rPr lang="en-GB" sz="1200">
                <a:solidFill>
                  <a:srgbClr val="0079DB"/>
                </a:solidFill>
              </a:rPr>
              <a:t>External auditor data access with full audit trail and lineage</a:t>
            </a:r>
            <a:endParaRPr/>
          </a:p>
        </p:txBody>
      </p:sp>
      <p:sp>
        <p:nvSpPr>
          <p:cNvPr id="5428" name="Google Shape;5428;p303"/>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429" name="Google Shape;5429;p303"/>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0" name="Google Shape;5430;p3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id="5431" name="Google Shape;5431;p303"/>
          <p:cNvPicPr preferRelativeResize="0"/>
          <p:nvPr/>
        </p:nvPicPr>
        <p:blipFill rotWithShape="1">
          <a:blip r:embed="rId4">
            <a:alphaModFix/>
          </a:blip>
          <a:srcRect b="0" l="0" r="0" t="0"/>
          <a:stretch/>
        </p:blipFill>
        <p:spPr>
          <a:xfrm>
            <a:off x="5553868" y="967317"/>
            <a:ext cx="3590132" cy="2393421"/>
          </a:xfrm>
          <a:prstGeom prst="rect">
            <a:avLst/>
          </a:prstGeom>
          <a:noFill/>
          <a:ln>
            <a:noFill/>
          </a:ln>
        </p:spPr>
      </p:pic>
    </p:spTree>
  </p:cSld>
  <p:clrMapOvr>
    <a:masterClrMapping/>
  </p:clrMapOvr>
</p:sld>
</file>

<file path=ppt/slides/slide2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5" name="Shape 5435"/>
        <p:cNvGrpSpPr/>
        <p:nvPr/>
      </p:nvGrpSpPr>
      <p:grpSpPr>
        <a:xfrm>
          <a:off x="0" y="0"/>
          <a:ext cx="0" cy="0"/>
          <a:chOff x="0" y="0"/>
          <a:chExt cx="0" cy="0"/>
        </a:xfrm>
      </p:grpSpPr>
      <p:pic>
        <p:nvPicPr>
          <p:cNvPr id="5436" name="Google Shape;5436;p304"/>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437" name="Google Shape;5437;p304"/>
          <p:cNvSpPr txBox="1"/>
          <p:nvPr>
            <p:ph type="title"/>
          </p:nvPr>
        </p:nvSpPr>
        <p:spPr>
          <a:xfrm>
            <a:off x="477880" y="-384527"/>
            <a:ext cx="553684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Financial Reporting</a:t>
            </a:r>
            <a:endParaRPr/>
          </a:p>
        </p:txBody>
      </p:sp>
      <p:sp>
        <p:nvSpPr>
          <p:cNvPr id="5438" name="Google Shape;5438;p30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grpSp>
        <p:nvGrpSpPr>
          <p:cNvPr id="5439" name="Google Shape;5439;p304"/>
          <p:cNvGrpSpPr/>
          <p:nvPr/>
        </p:nvGrpSpPr>
        <p:grpSpPr>
          <a:xfrm>
            <a:off x="488950" y="1276350"/>
            <a:ext cx="5808183" cy="720000"/>
            <a:chOff x="462442" y="1276350"/>
            <a:chExt cx="5808183" cy="597600"/>
          </a:xfrm>
        </p:grpSpPr>
        <p:sp>
          <p:nvSpPr>
            <p:cNvPr id="5440" name="Google Shape;5440;p304"/>
            <p:cNvSpPr/>
            <p:nvPr/>
          </p:nvSpPr>
          <p:spPr>
            <a:xfrm>
              <a:off x="2600325" y="1276350"/>
              <a:ext cx="3670300"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When the underlying data is validated, centralized driven by common definitions and stored and accessed from a common repository then the reports become trustworthy and actionable.</a:t>
              </a:r>
              <a:endParaRPr/>
            </a:p>
          </p:txBody>
        </p:sp>
        <p:sp>
          <p:nvSpPr>
            <p:cNvPr id="5441" name="Google Shape;5441;p304"/>
            <p:cNvSpPr/>
            <p:nvPr/>
          </p:nvSpPr>
          <p:spPr>
            <a:xfrm>
              <a:off x="462442" y="12763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Providing trustworthy and Actionable Reports</a:t>
              </a:r>
              <a:endParaRPr/>
            </a:p>
          </p:txBody>
        </p:sp>
      </p:grpSp>
      <p:grpSp>
        <p:nvGrpSpPr>
          <p:cNvPr id="5442" name="Google Shape;5442;p304"/>
          <p:cNvGrpSpPr/>
          <p:nvPr/>
        </p:nvGrpSpPr>
        <p:grpSpPr>
          <a:xfrm>
            <a:off x="488950" y="2035038"/>
            <a:ext cx="5808440" cy="720000"/>
            <a:chOff x="462442" y="1955625"/>
            <a:chExt cx="5808440" cy="597600"/>
          </a:xfrm>
        </p:grpSpPr>
        <p:sp>
          <p:nvSpPr>
            <p:cNvPr id="5443" name="Google Shape;5443;p304"/>
            <p:cNvSpPr/>
            <p:nvPr/>
          </p:nvSpPr>
          <p:spPr>
            <a:xfrm>
              <a:off x="2565974" y="1955625"/>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Reconcile and link financial results (GL) to operational drivers and transactional level  revenue and cost detail .  Enhance visibility and timeliness to reduce earnings volatility.</a:t>
              </a:r>
              <a:endParaRPr/>
            </a:p>
          </p:txBody>
        </p:sp>
        <p:sp>
          <p:nvSpPr>
            <p:cNvPr id="5444" name="Google Shape;5444;p304"/>
            <p:cNvSpPr/>
            <p:nvPr/>
          </p:nvSpPr>
          <p:spPr>
            <a:xfrm>
              <a:off x="462442" y="1955625"/>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Provide Greater Transparency </a:t>
              </a:r>
              <a:endParaRPr/>
            </a:p>
          </p:txBody>
        </p:sp>
      </p:grpSp>
      <p:grpSp>
        <p:nvGrpSpPr>
          <p:cNvPr id="5445" name="Google Shape;5445;p304"/>
          <p:cNvGrpSpPr/>
          <p:nvPr/>
        </p:nvGrpSpPr>
        <p:grpSpPr>
          <a:xfrm>
            <a:off x="488950" y="2793726"/>
            <a:ext cx="5800246" cy="720000"/>
            <a:chOff x="462442" y="2631411"/>
            <a:chExt cx="5800246" cy="597600"/>
          </a:xfrm>
        </p:grpSpPr>
        <p:sp>
          <p:nvSpPr>
            <p:cNvPr id="5446" name="Google Shape;5446;p304"/>
            <p:cNvSpPr/>
            <p:nvPr/>
          </p:nvSpPr>
          <p:spPr>
            <a:xfrm>
              <a:off x="2557780" y="2631411"/>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Adapting to market changes – Early insights into leading indicators.  Clear, aligned performance metrics to drive accountability.</a:t>
              </a:r>
              <a:endParaRPr/>
            </a:p>
          </p:txBody>
        </p:sp>
        <p:sp>
          <p:nvSpPr>
            <p:cNvPr id="5447" name="Google Shape;5447;p304"/>
            <p:cNvSpPr/>
            <p:nvPr/>
          </p:nvSpPr>
          <p:spPr>
            <a:xfrm>
              <a:off x="462442" y="2631411"/>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Make Faster, Better Decisions</a:t>
              </a:r>
              <a:endParaRPr/>
            </a:p>
          </p:txBody>
        </p:sp>
      </p:grpSp>
      <p:grpSp>
        <p:nvGrpSpPr>
          <p:cNvPr id="5448" name="Google Shape;5448;p304"/>
          <p:cNvGrpSpPr/>
          <p:nvPr/>
        </p:nvGrpSpPr>
        <p:grpSpPr>
          <a:xfrm>
            <a:off x="488950" y="3552414"/>
            <a:ext cx="5800246" cy="720000"/>
            <a:chOff x="462442" y="3299050"/>
            <a:chExt cx="5800246" cy="597600"/>
          </a:xfrm>
        </p:grpSpPr>
        <p:sp>
          <p:nvSpPr>
            <p:cNvPr id="5449" name="Google Shape;5449;p304"/>
            <p:cNvSpPr/>
            <p:nvPr/>
          </p:nvSpPr>
          <p:spPr>
            <a:xfrm>
              <a:off x="2557780" y="3299050"/>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Financial data is reliable, accurate, auditable, and traceable back to the source.  Less time is spent on data quality and more time spent on analyzing.</a:t>
              </a:r>
              <a:endParaRPr/>
            </a:p>
          </p:txBody>
        </p:sp>
        <p:sp>
          <p:nvSpPr>
            <p:cNvPr id="5450" name="Google Shape;5450;p304"/>
            <p:cNvSpPr/>
            <p:nvPr/>
          </p:nvSpPr>
          <p:spPr>
            <a:xfrm>
              <a:off x="462442" y="32990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quality and consistency</a:t>
              </a:r>
              <a:endParaRPr/>
            </a:p>
          </p:txBody>
        </p:sp>
      </p:grpSp>
      <p:sp>
        <p:nvSpPr>
          <p:cNvPr id="99904" name="PK Context 46"/>
          <p:cNvSpPr txBox="1"/>
          <p:nvPr/>
        </p:nvSpPr>
        <p:spPr>
          <a:xfrm>
            <a:off x="488950" y="4350000"/>
            <a:ext cx="5800246" cy="700000"/>
          </a:xfrm>
          <a:prstGeom prst="rect">
            <a:avLst/>
          </a:prstGeom>
          <a:noFill/>
          <a:ln>
            <a:noFill/>
          </a:ln>
        </p:spPr>
        <p:txBody>
          <a:bodyPr anchorCtr="0" anchor="t" bIns="0" lIns="0" spcFirstLastPara="1" rIns="0" wrap="square" tIns="0">
            <a:noAutofit/>
          </a:bodyPr>
          <a:lstStyle/>
          <a:p>
            <a:pPr indent="0" lvl="0" marL="0" rtl="0" algn="l">
              <a:spcBef>
                <a:spcPts val="0"/>
              </a:spcBef>
              <a:buNone/>
            </a:pPr>
            <a:r>
              <a:rPr b="1" lang="en-GB" sz="900">
                <a:solidFill>
                  <a:srgbClr val="0079DB"/>
                </a:solidFill>
              </a:rPr>
              <a:t>Pakistan Value:</a:t>
            </a:r>
            <a:endParaRPr/>
          </a:p>
          <a:p>
            <a:pPr indent="-120000" lvl="0" marL="120000" rtl="0" algn="l">
              <a:spcBef>
                <a:spcPts val="100"/>
              </a:spcBef>
              <a:buChar char="•"/>
            </a:pPr>
            <a:r>
              <a:rPr lang="en-GB" sz="800">
                <a:solidFill>
                  <a:srgbClr val="0079DB"/>
                </a:solidFill>
              </a:rPr>
              <a:t>Automate 30+ SBP statutory returns - reduce months of manual effort to days</a:t>
            </a:r>
            <a:endParaRPr/>
          </a:p>
          <a:p>
            <a:pPr indent="-120000" lvl="0" marL="120000" rtl="0" algn="l">
              <a:spcBef>
                <a:spcPts val="100"/>
              </a:spcBef>
              <a:buChar char="•"/>
            </a:pPr>
            <a:r>
              <a:rPr lang="en-GB" sz="800">
                <a:solidFill>
                  <a:srgbClr val="0079DB"/>
                </a:solidFill>
              </a:rPr>
              <a:t>IFRS 9 ECL, SECP/PSX disclosure, and AAOIFI compliance from single data warehouse</a:t>
            </a:r>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IFRS-compliant quarterly and annual financial statements per SBP/SECP/IFRS requirements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Dual reporting for Islamic banking: IFRS statements + AAOIFI-compliant supplementary disclosures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Generate balance sheet, P&amp;L, cashflow statement, changes in equity, all IFRS notes from data warehouse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FSDM: all GL, sub-ledger, customer, product, transaction data with full audit trail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IFRS 9 ECL data (stage classification, provision movement), IFRS 16 lease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banking: AAOIFI-specific disclosures, profit distribution statements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Automated financial statement generation reducing month-end close from weeks to days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Full audit trail from financial statement to individual transaction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SECP/PSX timely disclosure compliance for 15+ listed banks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3" name="Shape 5473"/>
        <p:cNvGrpSpPr/>
        <p:nvPr/>
      </p:nvGrpSpPr>
      <p:grpSpPr>
        <a:xfrm>
          <a:off x="0" y="0"/>
          <a:ext cx="0" cy="0"/>
          <a:chOff x="0" y="0"/>
          <a:chExt cx="0" cy="0"/>
        </a:xfrm>
      </p:grpSpPr>
      <p:graphicFrame>
        <p:nvGraphicFramePr>
          <p:cNvPr id="5474" name="Google Shape;5474;p30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Statutory reports are produced on a largely automated basis from a single, integrated source of validated data.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Some companies may have outsourced this process, delivering data to eg. Audit Companies.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of the required data is available from a single, integrated source, although a small number of other data sources may exist. Regular reports &amp; extracts are available on a largely automated basis , as well as ad-hoc reports and queries using a single reporting/BI tool.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summary-level financial reporting is available from single source (based however on multiple data sources) using multiple tools and is subject to manual processes before use.</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summary-level financial reporting is available from multiple sources. Most other / more detailed data needs to be collected from multiple sources using multiple tools and is subject to manual processes before use.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Statutory Financial Reports are manually prepared from multiple, disparate data sources. Considerable time is spent collecting, validating and integrating data prior to its use in reporting. Multiple reporting, BI, spreadsheet tools are used.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IFRS-compliant quarterly and annual financial statements per SBP/SECP</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Dual reporting: conventional IFRS + AAOIFI supplementary for Islamic banking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Financial statement generation from integrated data warehouse with audit trail</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quarterly close from weeks to days with automated reporting</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audit trail from financial statement line item to source transaction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Consistent financial statements across group entities for consolidation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475" name="Google Shape;5475;p306"/>
          <p:cNvGrpSpPr/>
          <p:nvPr/>
        </p:nvGrpSpPr>
        <p:grpSpPr>
          <a:xfrm>
            <a:off x="469900" y="3819680"/>
            <a:ext cx="8455025" cy="732866"/>
            <a:chOff x="211138" y="3972860"/>
            <a:chExt cx="8713787" cy="642437"/>
          </a:xfrm>
        </p:grpSpPr>
        <p:sp>
          <p:nvSpPr>
            <p:cNvPr id="5476" name="Google Shape;5476;p30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477" name="Google Shape;5477;p30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478" name="Google Shape;5478;p306"/>
          <p:cNvGrpSpPr/>
          <p:nvPr/>
        </p:nvGrpSpPr>
        <p:grpSpPr>
          <a:xfrm>
            <a:off x="7971865" y="980278"/>
            <a:ext cx="949325" cy="2867825"/>
            <a:chOff x="7941888" y="1062037"/>
            <a:chExt cx="983037" cy="2695575"/>
          </a:xfrm>
        </p:grpSpPr>
        <p:sp>
          <p:nvSpPr>
            <p:cNvPr id="5479" name="Google Shape;5479;p30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480" name="Google Shape;5480;p30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481" name="Google Shape;5481;p306"/>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a:solidFill>
                <a:schemeClr val="accent6"/>
              </a:solidFill>
            </a:endParaRPr>
          </a:p>
        </p:txBody>
      </p:sp>
      <p:sp>
        <p:nvSpPr>
          <p:cNvPr id="5482" name="Google Shape;5482;p3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Automate 30+ SBP statutory returns: WSP (weekly), MSA (monthly), QFS (quarterly), annual audited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IFRS 9 ECL reporting: stage movement analysis, sector-wise provision, forward-looking scenarios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Basel III: CAR, LCR, NSFR, leverage ratio, large exposure framework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return data requirements from GL, loans, deposits, investments,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AML/CFT: STR filing data, CTR reporting, sanctions screening results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green banking: environmental lending disclosures (emerging requirement)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Automated SBP return generation saving 100+ person-hours per month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IFRS 9 ECL model output integrated into regulatory reporting pipeline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AML/CFT compliance reporting with audit trail for FATF requirements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5" name="Shape 5505"/>
        <p:cNvGrpSpPr/>
        <p:nvPr/>
      </p:nvGrpSpPr>
      <p:grpSpPr>
        <a:xfrm>
          <a:off x="0" y="0"/>
          <a:ext cx="0" cy="0"/>
          <a:chOff x="0" y="0"/>
          <a:chExt cx="0" cy="0"/>
        </a:xfrm>
      </p:grpSpPr>
      <p:graphicFrame>
        <p:nvGraphicFramePr>
          <p:cNvPr id="5506" name="Google Shape;5506;p30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Regulatory and Compliance reporting requirements are addressed on an systematic and integrated basis. A comprehensive common data platform is used. Where possible common calculation and reporting tools are used, however specific solutions for particular pieces of regulation/compliance may be used if appropriate. Data used is clearly documented and understood, subject to comprehensive data governance, and data quality and lineage can be clearly demonstrated.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of the required data is available from a single, integrated source, although some supplementary data sources may exist. Regular reports &amp; extracts to downstream regulatory and compliance solutions are available on a largely automated basis. Ad-hoc reports and queries can easily be produced using a single reporting/BI tool.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summary-level financial reporting is available from a single source, however most other / more detailed data needs to be collected from multiple sources using multiple tools, and is subject to manual processes before use.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Each different Regulatory and Compliance reporting requirement is delivered on a siloed basis, using different data sourcing and tools with some level of automation.</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Each different Regulatory and Compliance reporting requirement is gathered manually from multiple sources using elementary tools e.g. spreadsheets.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Automate 30+ SBP statutory returns: WSP, MSA, QFS, capital adequacy</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IFRS 9 ECL reporting: stage movement, sector provisions, macro scenarios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Basel III reports: CAR, LCR, NSFR, leverage ratio, large exposure framework</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Eliminate manual SBP return preparation — save months of team effort annually</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IFRS 9 ECL accuracy through granular data reduces provision volatility</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Single source of truth for all regulatory submissions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507" name="Google Shape;5507;p308"/>
          <p:cNvGrpSpPr/>
          <p:nvPr/>
        </p:nvGrpSpPr>
        <p:grpSpPr>
          <a:xfrm>
            <a:off x="469900" y="3835582"/>
            <a:ext cx="8455025" cy="732866"/>
            <a:chOff x="211138" y="3972860"/>
            <a:chExt cx="8713787" cy="642437"/>
          </a:xfrm>
        </p:grpSpPr>
        <p:sp>
          <p:nvSpPr>
            <p:cNvPr id="5508" name="Google Shape;5508;p30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09" name="Google Shape;5509;p30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510" name="Google Shape;5510;p308"/>
          <p:cNvGrpSpPr/>
          <p:nvPr/>
        </p:nvGrpSpPr>
        <p:grpSpPr>
          <a:xfrm>
            <a:off x="7971865" y="980278"/>
            <a:ext cx="949325" cy="2867825"/>
            <a:chOff x="7941888" y="1062037"/>
            <a:chExt cx="983037" cy="2695575"/>
          </a:xfrm>
        </p:grpSpPr>
        <p:sp>
          <p:nvSpPr>
            <p:cNvPr id="5511" name="Google Shape;5511;p30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12" name="Google Shape;5512;p30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513" name="Google Shape;5513;p30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a:solidFill>
                <a:schemeClr val="accent6"/>
              </a:solidFill>
            </a:endParaRPr>
          </a:p>
        </p:txBody>
      </p:sp>
      <p:sp>
        <p:nvSpPr>
          <p:cNvPr id="5514" name="Google Shape;5514;p3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product sales: accounts opened, loans originated, cards issued, insurance sold, trade volumes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Sales by channel: branch, digital, agent, RM direct, employer partnership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 and RM-level target tracking (currently manual at most banks)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Core banking new account/product data, loan origination system pipeline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Card issuance and activation tracking, bancassurance sales through branches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Cross-sell metrics: products per customer, wallet share, next-best-product uptake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sales dashboard by branch, region, and channel with target tracking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RM productivity analysis: revenue per RM, products originated per RM per month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Sales campaign effectiveness measurement and ROI tracking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7" name="Shape 5537"/>
        <p:cNvGrpSpPr/>
        <p:nvPr/>
      </p:nvGrpSpPr>
      <p:grpSpPr>
        <a:xfrm>
          <a:off x="0" y="0"/>
          <a:ext cx="0" cy="0"/>
          <a:chOff x="0" y="0"/>
          <a:chExt cx="0" cy="0"/>
        </a:xfrm>
      </p:grpSpPr>
      <p:graphicFrame>
        <p:nvGraphicFramePr>
          <p:cNvPr id="5538" name="Google Shape;5538;p31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0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68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Sales reporting exists as part of an integrated environment which enables close monitoring and reporting of performance against objectives, targets and plans.  It utilises a common source of high quality, validated and integrated data subject to comprehensive data governance. Daily and intra-day monitoring and alerts are supported. Advanced analytics are used to more accurately pinpoint causes of poor performance.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Sales reporting is generally centralised and utilises a common source of integrated data and reporting tools. Reporting is possible on a daily basis, and ability to drill down to granular level to identify areas and causes of poor performance.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3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Sales reporting is centralised, however the data which is required is obtained from many different sources and requires integration and validation effort. Reporting is on a more frequent basis (minimum weekly)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3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Sales reporting for different products is delivered on a fragmented basis across different sources/siloes of data, and requires significant manual effort. Reporting takes place on an infrequent (monthly)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Sales reporting is aggregated summary data and there is no link to detailed products and sales orders. Everything is managed in elementary tooling, e.g. Excel. Reporting takes place on an infrequent basis.</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37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1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Product sales tracking: accounts, loans, cards, insurance, investments by channel</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Branch and RM-level sales target vs. actual with pipeline analytics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Digital channel sales attribution and conversion funnel analysis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Performance-based incentive management with automated sales tracking</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effectiveness comparison enables resource optimization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pipeline visibility from lead to closure across all products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1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1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539" name="Google Shape;5539;p310"/>
          <p:cNvGrpSpPr/>
          <p:nvPr/>
        </p:nvGrpSpPr>
        <p:grpSpPr>
          <a:xfrm>
            <a:off x="469900" y="3835582"/>
            <a:ext cx="8455025" cy="732866"/>
            <a:chOff x="211138" y="3972860"/>
            <a:chExt cx="8713787" cy="642437"/>
          </a:xfrm>
        </p:grpSpPr>
        <p:sp>
          <p:nvSpPr>
            <p:cNvPr id="5540" name="Google Shape;5540;p31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41" name="Google Shape;5541;p31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542" name="Google Shape;5542;p310"/>
          <p:cNvGrpSpPr/>
          <p:nvPr/>
        </p:nvGrpSpPr>
        <p:grpSpPr>
          <a:xfrm>
            <a:off x="7971865" y="980278"/>
            <a:ext cx="949325" cy="2867825"/>
            <a:chOff x="7941888" y="1062037"/>
            <a:chExt cx="983037" cy="2695575"/>
          </a:xfrm>
        </p:grpSpPr>
        <p:sp>
          <p:nvSpPr>
            <p:cNvPr id="5543" name="Google Shape;5543;p31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44" name="Google Shape;5544;p31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545" name="Google Shape;5545;p31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a:solidFill>
                <a:schemeClr val="accent6"/>
              </a:solidFill>
            </a:endParaRPr>
          </a:p>
        </p:txBody>
      </p:sp>
      <p:sp>
        <p:nvSpPr>
          <p:cNvPr id="5546" name="Google Shape;5546;p3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Bank-wide scorecard: financial (ROE, ROA, NIM, C/I, NPL) + operational (customers, digital adoption)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Business line performance: Corporate, Commercial, Retail, Treasury, Islamic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 scorecard: deposits, advances, CASA, fee income, cost-to-income, digital migration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Integrated financial and operational data from GL, core banking, and profitability engine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Peer benchmarking data from SBP published industry statistics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Quarterly analyst presentation data requirements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Automated performance pack replacing 2-3 week manual MIS preparation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Business line P&amp;L with RAROC and EVA metrics for strategic resource allocation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Board-ready quarterly performance report with drill-down capability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9" name="Shape 5569"/>
        <p:cNvGrpSpPr/>
        <p:nvPr/>
      </p:nvGrpSpPr>
      <p:grpSpPr>
        <a:xfrm>
          <a:off x="0" y="0"/>
          <a:ext cx="0" cy="0"/>
          <a:chOff x="0" y="0"/>
          <a:chExt cx="0" cy="0"/>
        </a:xfrm>
      </p:grpSpPr>
      <p:graphicFrame>
        <p:nvGraphicFramePr>
          <p:cNvPr id="5570" name="Google Shape;5570;p31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0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68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Performance reporting exists as part of an integrated environment which enables close monitoring and reporting of performance against objectives, targets and plans.  It utilises a common source of high quality, validated and integrated data subject to comprehensive data governance. Daily and intra-day monitoring and alerts are supported. Advanced analytics are used to more accurately pinpoint causes of poor performance.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reporting is generally centralised and utilises a common source of integrated data and reporting tools. Reporting is possible on a daily basis, and ability to drill down to granular level to identify areas and causes of poor performance.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3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reporting is centralised, however the data which is required is obtained from many different sources and requires integration and validation effort. Reporting is on a more frequent basis (minimum weekly)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3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reporting is delivered on a fragmented basis across different sources/siloes of data, and requires significant manual effort. Reporting takes place on an infrequent (monthly)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reporting takes place on demand only, based on aggregated summary data. Manual rekeying data into elementary tooling, e.g. Excel.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37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1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Bank-wide scorecard: ROE, ROA, NIM, C/I, NPL, CASA, digital KPIs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Business line P&amp;L with FTP and ABC-based cost allocation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Branch scorecard: deposits, advances, CASA, fees, cost-to-income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Replace monthly manual performance packs with real-time dashboards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Drill-down from bank-wide to business line to branch to individual RM</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Performance trends and peer comparison for strategic decision-making</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1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1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571" name="Google Shape;5571;p312"/>
          <p:cNvGrpSpPr/>
          <p:nvPr/>
        </p:nvGrpSpPr>
        <p:grpSpPr>
          <a:xfrm>
            <a:off x="469900" y="3835582"/>
            <a:ext cx="8455025" cy="732866"/>
            <a:chOff x="211138" y="3972860"/>
            <a:chExt cx="8713787" cy="642437"/>
          </a:xfrm>
        </p:grpSpPr>
        <p:sp>
          <p:nvSpPr>
            <p:cNvPr id="5572" name="Google Shape;5572;p31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73" name="Google Shape;5573;p31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574" name="Google Shape;5574;p312"/>
          <p:cNvGrpSpPr/>
          <p:nvPr/>
        </p:nvGrpSpPr>
        <p:grpSpPr>
          <a:xfrm>
            <a:off x="7971865" y="980278"/>
            <a:ext cx="949325" cy="2867825"/>
            <a:chOff x="7941888" y="1062037"/>
            <a:chExt cx="983037" cy="2695575"/>
          </a:xfrm>
        </p:grpSpPr>
        <p:sp>
          <p:nvSpPr>
            <p:cNvPr id="5575" name="Google Shape;5575;p31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76" name="Google Shape;5576;p31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577" name="Google Shape;5577;p312"/>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a:solidFill>
                <a:schemeClr val="accent6"/>
              </a:solidFill>
            </a:endParaRPr>
          </a:p>
        </p:txBody>
      </p:sp>
      <p:sp>
        <p:nvSpPr>
          <p:cNvPr id="5578" name="Google Shape;5578;p3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Automate detection: SBP limit breaches (FX, large exposure), IFRS 9 stage triggers, AML alerts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Workflow-based exception handling with SBP reporting timelines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Budget variance thresholds triggering automatic escalation to management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limit monitoring data for FX positions, credit exposure, liquidity ratios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IFRS 9 stage migration triggers (30 DPD, significant credit deterioration)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AML transaction monitoring alerts and suspicious activity indicators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SBP compliance monitoring with automatic breach notifications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IFRS 9 stage migration early warning reducing unexpected provision jumps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Audit trail for all exception events meeting SBP and external auditor requirements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1" name="Shape 5601"/>
        <p:cNvGrpSpPr/>
        <p:nvPr/>
      </p:nvGrpSpPr>
      <p:grpSpPr>
        <a:xfrm>
          <a:off x="0" y="0"/>
          <a:ext cx="0" cy="0"/>
          <a:chOff x="0" y="0"/>
          <a:chExt cx="0" cy="0"/>
        </a:xfrm>
      </p:grpSpPr>
      <p:graphicFrame>
        <p:nvGraphicFramePr>
          <p:cNvPr id="5602" name="Google Shape;5602;p31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Exception reporting is centralised, with well-defined and documented responsibilities and processes. Exception rules, variances and parameters are routinely quantified and agreed. A best-in-class tool or solution is used to perform comparisons and process exception rules on an automated basis. All data is available from a single, integrated and validated source. Exceptions requiring action are delivered via workflow functionality.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Exception reporting is centralised, with well-defined and documented responsibilities and processes. Exception rules, variances and parameters are routinely quantified and agreed. A dedicated tool or solution is used to perform these processes on a largely automated basis against data which is largely available from a single source.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Exception reporting  is subject to some centralisation, with some use of common tools and processes. Some exception rules, variances and parameters are quantified and agreed. However the underlying data upon which is operates is still fragmented, and needs to be sourced directly.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Exception reporting is fragmented and distributed widely across the organisation. Exception rules, variances and parameters are not routinely quantified. It is largely manual, and involves extensive manual review of reports and spreadsheets.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Exception reporting is based on aggregated summary level data, requires huge manual effort in gathering and preparing the report and it is (often) static.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Automated exception detection: SBP limit breaches, large exposure, FX position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IFRS 9 stage migration triggers and AML/CFT threshold alerts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Budget variance thresholds with escalation workflow</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Proactive risk management through automated alert generation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SBP compliance: immediate notification of regulatory limit breaches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manual monitoring effort with rule-based exception engine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603" name="Google Shape;5603;p314"/>
          <p:cNvGrpSpPr/>
          <p:nvPr/>
        </p:nvGrpSpPr>
        <p:grpSpPr>
          <a:xfrm>
            <a:off x="469900" y="3835582"/>
            <a:ext cx="8455025" cy="732866"/>
            <a:chOff x="211138" y="3972860"/>
            <a:chExt cx="8713787" cy="642437"/>
          </a:xfrm>
        </p:grpSpPr>
        <p:sp>
          <p:nvSpPr>
            <p:cNvPr id="5604" name="Google Shape;5604;p31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605" name="Google Shape;5605;p31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606" name="Google Shape;5606;p314"/>
          <p:cNvGrpSpPr/>
          <p:nvPr/>
        </p:nvGrpSpPr>
        <p:grpSpPr>
          <a:xfrm>
            <a:off x="7971865" y="980278"/>
            <a:ext cx="949325" cy="2867825"/>
            <a:chOff x="7941888" y="1062037"/>
            <a:chExt cx="983037" cy="2695575"/>
          </a:xfrm>
        </p:grpSpPr>
        <p:sp>
          <p:nvSpPr>
            <p:cNvPr id="5607" name="Google Shape;5607;p31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608" name="Google Shape;5608;p31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609" name="Google Shape;5609;p31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a:solidFill>
                <a:schemeClr val="accent6"/>
              </a:solidFill>
            </a:endParaRPr>
          </a:p>
        </p:txBody>
      </p:sp>
      <p:sp>
        <p:nvSpPr>
          <p:cNvPr id="5610" name="Google Shape;5610;p3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CEO/CFO dashboard: bank P&amp;L to business line to region to branch to customer drill-down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treasury: securities portfolio, FX position, money market, liquidity ratios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Risk dashboard: NPL trends, IFRS 9 ECL movement, capital adequacy, top 20 exposures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Integrated data from profitability engine, treasury system, risk management, core banking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banking performance panel for banks with Islamic windows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Competitor benchmarking from SBP published data and analyst reports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Replace monthly paper-based MIS pack (2-3 week prep) with real-time self-service dashboard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Full drill-down from bank P&amp;L to individual transaction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Mobile-enabled executive dashboard for CEO/CFO/CRO/Board with role-based views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3" name="Shape 5633"/>
        <p:cNvGrpSpPr/>
        <p:nvPr/>
      </p:nvGrpSpPr>
      <p:grpSpPr>
        <a:xfrm>
          <a:off x="0" y="0"/>
          <a:ext cx="0" cy="0"/>
          <a:chOff x="0" y="0"/>
          <a:chExt cx="0" cy="0"/>
        </a:xfrm>
      </p:grpSpPr>
      <p:graphicFrame>
        <p:nvGraphicFramePr>
          <p:cNvPr id="5634" name="Google Shape;5634;p31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Executives have direct access to comprehensive Dashboards based on a single integrated set of validated and agreed data which is updated on a daily or intra-day basis. Dashboards display information using a variety of appropriate visualisations (e.g. charts, geographic, RAG status), with slice/drill-down capabilities. Exceptions and potential issues are highlighted based on defined business rules.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Executives have direct access to Dashboards which deliver information sourced primarily from a single integrated set of validated and agreed data, which is updated on a daily basis. Non-standard reports can be quickly delivered by staff from the same integrated source.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Paper reports are supplemented by direct executive access to electronic reporting via a standard BI/Reporting tool. The available reports are prepared automatically but utilise data which is sourced from a number of disparate sources and is subject to specific quality and validation processes.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Executive reporting is largely paper based and consists largely of standard reports, delivered on an infrequent basis (monthly or less) from disparate sources of data. Requests for non-standard information by executives are delivered via largely manual processes.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Executive reporting is not common in an organization. Reporting only exists on ad-hoc basis and requires huge manual interventions to collect data and aggregate. No standards exist for reports.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CEO/CFO dashboard: bank P&amp;L, balance sheet, risk, regulatory compliance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Treasury dashboard: govt securities, FX position, money market, liquidity ratios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Islamic banking performance panel for dual-window banks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Self-service drill-down from bank-wide KPI to transaction level</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Real-time treasury position replacing end-of-day manual reporting</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Board reporting pack generation automated from dashboard framework</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635" name="Google Shape;5635;p316"/>
          <p:cNvGrpSpPr/>
          <p:nvPr/>
        </p:nvGrpSpPr>
        <p:grpSpPr>
          <a:xfrm>
            <a:off x="469900" y="3835582"/>
            <a:ext cx="8455025" cy="732866"/>
            <a:chOff x="211138" y="3972860"/>
            <a:chExt cx="8713787" cy="642437"/>
          </a:xfrm>
        </p:grpSpPr>
        <p:sp>
          <p:nvSpPr>
            <p:cNvPr id="5636" name="Google Shape;5636;p31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637" name="Google Shape;5637;p31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5638" name="Google Shape;5638;p316"/>
          <p:cNvGrpSpPr/>
          <p:nvPr/>
        </p:nvGrpSpPr>
        <p:grpSpPr>
          <a:xfrm>
            <a:off x="7971865" y="980278"/>
            <a:ext cx="949325" cy="2867825"/>
            <a:chOff x="7941888" y="1062037"/>
            <a:chExt cx="983037" cy="2695575"/>
          </a:xfrm>
        </p:grpSpPr>
        <p:sp>
          <p:nvSpPr>
            <p:cNvPr id="5639" name="Google Shape;5639;p31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640" name="Google Shape;5640;p31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5641" name="Google Shape;5641;p316"/>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a:solidFill>
                <a:schemeClr val="accent6"/>
              </a:solidFill>
            </a:endParaRPr>
          </a:p>
        </p:txBody>
      </p:sp>
      <p:sp>
        <p:nvSpPr>
          <p:cNvPr id="5642" name="Google Shape;5642;p3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a:spLocks noGrp="1"/>
          </p:cNvSpPr>
          <p:nvPr>
            <p:ph type="title"/>
          </p:nvPr>
        </p:nvSpPr>
        <p:spPr>
          <a:xfrm>
            <a:off x="477880" y="100000"/>
            <a:ext cx="5500000" cy="500000"/>
          </a:xfrm>
        </p:spPr>
        <p:txBody>
          <a:bodyPr anchor="b" lIns="0" tIns="0" rIns="0" bIns="0"/>
          <a:lstStyle/>
          <a:p>
            <a:r>
              <a:rPr lang="en-GB" b="1" sz="2200"/>
              <a:t>EPM, Treasury &amp; Reporting — At a Glance</a:t>
            </a:r>
          </a:p>
        </p:txBody>
      </p:sp>
      <p:graphicFrame>
        <p:nvGraphicFramePr>
          <p:cNvPr id="3" name="Table1"/>
          <p:cNvGraphicFramePr>
            <a:graphicFrameLocks noGrp="1"/>
          </p:cNvGraphicFramePr>
          <p:nvPr/>
        </p:nvGraphicFramePr>
        <p:xfrm>
          <a:off x="350000" y="700000"/>
          <a:ext cx="8500000" cy="2700000"/>
        </p:xfrm>
        <a:graphic>
          <a:graphicData uri="http://schemas.openxmlformats.org/drawingml/2006/table">
            <a:tbl>
              <a:tblPr firstRow="1" bandRow="1"/>
              <a:tblGrid>
                <a:gridCol w="2800000"/>
                <a:gridCol w="1900000"/>
                <a:gridCol w="1900000"/>
                <a:gridCol w="1900000"/>
              </a:tblGrid>
              <a:tr h="320000">
                <a:tc>
                  <a:txBody>
                    <a:bodyPr/>
                    <a:lstStyle/>
                    <a:p>
                      <a:pPr algn="l"/>
                      <a:r>
                        <a:rPr lang="en-GB" b="1" sz="1000">
                          <a:solidFill>
                            <a:srgbClr val="FFFFFF"/>
                          </a:solidFill>
                        </a:rPr>
                        <a:t/>
                      </a:r>
                    </a:p>
                  </a:txBody>
                  <a:tcPr>
                    <a:solidFill>
                      <a:srgbClr val="005AA4"/>
                    </a:solidFill>
                  </a:tcPr>
                </a:tc>
                <a:tc>
                  <a:txBody>
                    <a:bodyPr/>
                    <a:lstStyle/>
                    <a:p>
                      <a:pPr algn="l"/>
                      <a:r>
                        <a:rPr lang="en-GB" b="1" sz="1000">
                          <a:solidFill>
                            <a:srgbClr val="FFFFFF"/>
                          </a:solidFill>
                        </a:rPr>
                        <a:t>Global</a:t>
                      </a:r>
                    </a:p>
                  </a:txBody>
                  <a:tcPr>
                    <a:solidFill>
                      <a:srgbClr val="005AA4"/>
                    </a:solidFill>
                  </a:tcPr>
                </a:tc>
                <a:tc>
                  <a:txBody>
                    <a:bodyPr/>
                    <a:lstStyle/>
                    <a:p>
                      <a:pPr algn="l"/>
                      <a:r>
                        <a:rPr lang="en-GB" b="1" sz="1000">
                          <a:solidFill>
                            <a:srgbClr val="FFFFFF"/>
                          </a:solidFill>
                        </a:rPr>
                        <a:t>South Asia &amp; ME</a:t>
                      </a:r>
                    </a:p>
                  </a:txBody>
                  <a:tcPr>
                    <a:solidFill>
                      <a:srgbClr val="005AA4"/>
                    </a:solidFill>
                  </a:tcPr>
                </a:tc>
                <a:tc>
                  <a:txBody>
                    <a:bodyPr/>
                    <a:lstStyle/>
                    <a:p>
                      <a:pPr algn="l"/>
                      <a:r>
                        <a:rPr lang="en-GB" b="1" sz="1000">
                          <a:solidFill>
                            <a:srgbClr val="FFFFFF"/>
                          </a:solidFill>
                        </a:rPr>
                        <a:t>Pakistan</a:t>
                      </a:r>
                    </a:p>
                  </a:txBody>
                  <a:tcPr>
                    <a:solidFill>
                      <a:srgbClr val="005AA4"/>
                    </a:solidFill>
                  </a:tcPr>
                </a:tc>
              </a:tr>
              <a:tr h="340000">
                <a:tc>
                  <a:txBody>
                    <a:bodyPr/>
                    <a:lstStyle/>
                    <a:p>
                      <a:pPr algn="l"/>
                      <a:r>
                        <a:rPr lang="en-GB" b="1" sz="900"/>
                        <a:t>Customer-level profitability</a:t>
                      </a:r>
                    </a:p>
                  </a:txBody>
                  <a:tcPr>
                    <a:noFill/>
                  </a:tcPr>
                </a:tc>
                <a:tc>
                  <a:txBody>
                    <a:bodyPr/>
                    <a:lstStyle/>
                    <a:p>
                      <a:pPr algn="l"/>
                      <a:r>
                        <a:rPr lang="en-GB" sz="900"/>
                        <a:t>70%+ of top banks</a:t>
                      </a:r>
                    </a:p>
                  </a:txBody>
                  <a:tcPr>
                    <a:noFill/>
                  </a:tcPr>
                </a:tc>
                <a:tc>
                  <a:txBody>
                    <a:bodyPr/>
                    <a:lstStyle/>
                    <a:p>
                      <a:pPr algn="l"/>
                      <a:r>
                        <a:rPr lang="en-GB" sz="900"/>
                        <a:t>30-40%</a:t>
                      </a:r>
                    </a:p>
                  </a:txBody>
                  <a:tcPr>
                    <a:noFill/>
                  </a:tcPr>
                </a:tc>
                <a:tc>
                  <a:txBody>
                    <a:bodyPr/>
                    <a:lstStyle/>
                    <a:p>
                      <a:pPr algn="l"/>
                      <a:r>
                        <a:rPr lang="en-GB" b="1" sz="900">
                          <a:solidFill>
                            <a:srgbClr val="0079DB"/>
                          </a:solidFill>
                        </a:rPr>
                        <a:t>&lt;15% (UBL pioneer)</a:t>
                      </a:r>
                    </a:p>
                  </a:txBody>
                  <a:tcPr>
                    <a:noFill/>
                  </a:tcPr>
                </a:tc>
              </a:tr>
              <a:tr h="340000">
                <a:tc>
                  <a:txBody>
                    <a:bodyPr/>
                    <a:lstStyle/>
                    <a:p>
                      <a:pPr algn="l"/>
                      <a:r>
                        <a:rPr lang="en-GB" b="1" sz="900"/>
                        <a:t>FTP engine (yield-curve)</a:t>
                      </a:r>
                    </a:p>
                  </a:txBody>
                  <a:tcPr>
                    <a:noFill/>
                  </a:tcPr>
                </a:tc>
                <a:tc>
                  <a:txBody>
                    <a:bodyPr/>
                    <a:lstStyle/>
                    <a:p>
                      <a:pPr algn="l"/>
                      <a:r>
                        <a:rPr lang="en-GB" sz="900"/>
                        <a:t>80% of large banks</a:t>
                      </a:r>
                    </a:p>
                  </a:txBody>
                  <a:tcPr>
                    <a:noFill/>
                  </a:tcPr>
                </a:tc>
                <a:tc>
                  <a:txBody>
                    <a:bodyPr/>
                    <a:lstStyle/>
                    <a:p>
                      <a:pPr algn="l"/>
                      <a:r>
                        <a:rPr lang="en-GB" sz="900"/>
                        <a:t>40-50%</a:t>
                      </a:r>
                    </a:p>
                  </a:txBody>
                  <a:tcPr>
                    <a:noFill/>
                  </a:tcPr>
                </a:tc>
                <a:tc>
                  <a:txBody>
                    <a:bodyPr/>
                    <a:lstStyle/>
                    <a:p>
                      <a:pPr algn="l"/>
                      <a:r>
                        <a:rPr lang="en-GB" b="1" sz="900">
                          <a:solidFill>
                            <a:srgbClr val="0079DB"/>
                          </a:solidFill>
                        </a:rPr>
                        <a:t>~30% (flat KIBOR)</a:t>
                      </a:r>
                    </a:p>
                  </a:txBody>
                  <a:tcPr>
                    <a:noFill/>
                  </a:tcPr>
                </a:tc>
              </a:tr>
              <a:tr h="340000">
                <a:tc>
                  <a:txBody>
                    <a:bodyPr/>
                    <a:lstStyle/>
                    <a:p>
                      <a:pPr algn="l"/>
                      <a:r>
                        <a:rPr lang="en-GB" b="1" sz="900"/>
                        <a:t>Activity-based costing</a:t>
                      </a:r>
                    </a:p>
                  </a:txBody>
                  <a:tcPr>
                    <a:noFill/>
                  </a:tcPr>
                </a:tc>
                <a:tc>
                  <a:txBody>
                    <a:bodyPr/>
                    <a:lstStyle/>
                    <a:p>
                      <a:pPr algn="l"/>
                      <a:r>
                        <a:rPr lang="en-GB" sz="900"/>
                        <a:t>60% of large banks</a:t>
                      </a:r>
                    </a:p>
                  </a:txBody>
                  <a:tcPr>
                    <a:noFill/>
                  </a:tcPr>
                </a:tc>
                <a:tc>
                  <a:txBody>
                    <a:bodyPr/>
                    <a:lstStyle/>
                    <a:p>
                      <a:pPr algn="l"/>
                      <a:r>
                        <a:rPr lang="en-GB" sz="900"/>
                        <a:t>20-30%</a:t>
                      </a:r>
                    </a:p>
                  </a:txBody>
                  <a:tcPr>
                    <a:noFill/>
                  </a:tcPr>
                </a:tc>
                <a:tc>
                  <a:txBody>
                    <a:bodyPr/>
                    <a:lstStyle/>
                    <a:p>
                      <a:pPr algn="l"/>
                      <a:r>
                        <a:rPr lang="en-GB" b="1" sz="900">
                          <a:solidFill>
                            <a:srgbClr val="0079DB"/>
                          </a:solidFill>
                        </a:rPr>
                        <a:t>&lt;10%</a:t>
                      </a:r>
                    </a:p>
                  </a:txBody>
                  <a:tcPr>
                    <a:noFill/>
                  </a:tcPr>
                </a:tc>
              </a:tr>
              <a:tr h="340000">
                <a:tc>
                  <a:txBody>
                    <a:bodyPr/>
                    <a:lstStyle/>
                    <a:p>
                      <a:pPr algn="l"/>
                      <a:r>
                        <a:rPr lang="en-GB" b="1" sz="900"/>
                        <a:t>Real-time treasury dashboard</a:t>
                      </a:r>
                    </a:p>
                  </a:txBody>
                  <a:tcPr>
                    <a:noFill/>
                  </a:tcPr>
                </a:tc>
                <a:tc>
                  <a:txBody>
                    <a:bodyPr/>
                    <a:lstStyle/>
                    <a:p>
                      <a:pPr algn="l"/>
                      <a:r>
                        <a:rPr lang="en-GB" sz="900"/>
                        <a:t>65% of large banks</a:t>
                      </a:r>
                    </a:p>
                  </a:txBody>
                  <a:tcPr>
                    <a:noFill/>
                  </a:tcPr>
                </a:tc>
                <a:tc>
                  <a:txBody>
                    <a:bodyPr/>
                    <a:lstStyle/>
                    <a:p>
                      <a:pPr algn="l"/>
                      <a:r>
                        <a:rPr lang="en-GB" sz="900"/>
                        <a:t>25-35%</a:t>
                      </a:r>
                    </a:p>
                  </a:txBody>
                  <a:tcPr>
                    <a:noFill/>
                  </a:tcPr>
                </a:tc>
                <a:tc>
                  <a:txBody>
                    <a:bodyPr/>
                    <a:lstStyle/>
                    <a:p>
                      <a:pPr algn="l"/>
                      <a:r>
                        <a:rPr lang="en-GB" b="1" sz="900">
                          <a:solidFill>
                            <a:srgbClr val="0079DB"/>
                          </a:solidFill>
                        </a:rPr>
                        <a:t>&lt;15%</a:t>
                      </a:r>
                    </a:p>
                  </a:txBody>
                  <a:tcPr>
                    <a:noFill/>
                  </a:tcPr>
                </a:tc>
              </a:tr>
              <a:tr h="340000">
                <a:tc>
                  <a:txBody>
                    <a:bodyPr/>
                    <a:lstStyle/>
                    <a:p>
                      <a:pPr algn="l"/>
                      <a:r>
                        <a:rPr lang="en-GB" b="1" sz="900"/>
                        <a:t>ALM automation</a:t>
                      </a:r>
                    </a:p>
                  </a:txBody>
                  <a:tcPr>
                    <a:noFill/>
                  </a:tcPr>
                </a:tc>
                <a:tc>
                  <a:txBody>
                    <a:bodyPr/>
                    <a:lstStyle/>
                    <a:p>
                      <a:pPr algn="l"/>
                      <a:r>
                        <a:rPr lang="en-GB" sz="900"/>
                        <a:t>75% in EU/UK</a:t>
                      </a:r>
                    </a:p>
                  </a:txBody>
                  <a:tcPr>
                    <a:noFill/>
                  </a:tcPr>
                </a:tc>
                <a:tc>
                  <a:txBody>
                    <a:bodyPr/>
                    <a:lstStyle/>
                    <a:p>
                      <a:pPr algn="l"/>
                      <a:r>
                        <a:rPr lang="en-GB" sz="900"/>
                        <a:t>35-45%</a:t>
                      </a:r>
                    </a:p>
                  </a:txBody>
                  <a:tcPr>
                    <a:noFill/>
                  </a:tcPr>
                </a:tc>
                <a:tc>
                  <a:txBody>
                    <a:bodyPr/>
                    <a:lstStyle/>
                    <a:p>
                      <a:pPr algn="l"/>
                      <a:r>
                        <a:rPr lang="en-GB" b="1" sz="900">
                          <a:solidFill>
                            <a:srgbClr val="0079DB"/>
                          </a:solidFill>
                        </a:rPr>
                        <a:t>25-35%</a:t>
                      </a:r>
                    </a:p>
                  </a:txBody>
                  <a:tcPr>
                    <a:noFill/>
                  </a:tcPr>
                </a:tc>
              </a:tr>
              <a:tr h="340000">
                <a:tc>
                  <a:txBody>
                    <a:bodyPr/>
                    <a:lstStyle/>
                    <a:p>
                      <a:pPr algn="l"/>
                      <a:r>
                        <a:rPr lang="en-GB" b="1" sz="900"/>
                        <a:t>Automated SBP statutory returns</a:t>
                      </a:r>
                    </a:p>
                  </a:txBody>
                  <a:tcPr>
                    <a:noFill/>
                  </a:tcPr>
                </a:tc>
                <a:tc>
                  <a:txBody>
                    <a:bodyPr/>
                    <a:lstStyle/>
                    <a:p>
                      <a:pPr algn="l"/>
                      <a:r>
                        <a:rPr lang="en-GB" sz="900"/>
                        <a:t>N/A</a:t>
                      </a:r>
                    </a:p>
                  </a:txBody>
                  <a:tcPr>
                    <a:noFill/>
                  </a:tcPr>
                </a:tc>
                <a:tc>
                  <a:txBody>
                    <a:bodyPr/>
                    <a:lstStyle/>
                    <a:p>
                      <a:pPr algn="l"/>
                      <a:r>
                        <a:rPr lang="en-GB" sz="900"/>
                        <a:t>N/A</a:t>
                      </a:r>
                    </a:p>
                  </a:txBody>
                  <a:tcPr>
                    <a:noFill/>
                  </a:tcPr>
                </a:tc>
                <a:tc>
                  <a:txBody>
                    <a:bodyPr/>
                    <a:lstStyle/>
                    <a:p>
                      <a:pPr algn="l"/>
                      <a:r>
                        <a:rPr lang="en-GB" b="1" sz="900">
                          <a:solidFill>
                            <a:srgbClr val="0079DB"/>
                          </a:solidFill>
                        </a:rPr>
                        <a:t>&lt;20%</a:t>
                      </a:r>
                    </a:p>
                  </a:txBody>
                  <a:tcPr>
                    <a:noFill/>
                  </a:tcPr>
                </a:tc>
              </a:tr>
              <a:tr h="340000">
                <a:tc>
                  <a:txBody>
                    <a:bodyPr/>
                    <a:lstStyle/>
                    <a:p>
                      <a:pPr algn="l"/>
                      <a:r>
                        <a:rPr lang="en-GB" b="1" sz="900"/>
                        <a:t>Self-service exec dashboard</a:t>
                      </a:r>
                    </a:p>
                  </a:txBody>
                  <a:tcPr>
                    <a:noFill/>
                  </a:tcPr>
                </a:tc>
                <a:tc>
                  <a:txBody>
                    <a:bodyPr/>
                    <a:lstStyle/>
                    <a:p>
                      <a:pPr algn="l"/>
                      <a:r>
                        <a:rPr lang="en-GB" sz="900"/>
                        <a:t>Standard practice</a:t>
                      </a:r>
                    </a:p>
                  </a:txBody>
                  <a:tcPr>
                    <a:noFill/>
                  </a:tcPr>
                </a:tc>
                <a:tc>
                  <a:txBody>
                    <a:bodyPr/>
                    <a:lstStyle/>
                    <a:p>
                      <a:pPr algn="l"/>
                      <a:r>
                        <a:rPr lang="en-GB" sz="900"/>
                        <a:t>30-40%</a:t>
                      </a:r>
                    </a:p>
                  </a:txBody>
                  <a:tcPr>
                    <a:noFill/>
                  </a:tcPr>
                </a:tc>
                <a:tc>
                  <a:txBody>
                    <a:bodyPr/>
                    <a:lstStyle/>
                    <a:p>
                      <a:pPr algn="l"/>
                      <a:r>
                        <a:rPr lang="en-GB" b="1" sz="900">
                          <a:solidFill>
                            <a:srgbClr val="0079DB"/>
                          </a:solidFill>
                        </a:rPr>
                        <a:t>&lt;20%</a:t>
                      </a:r>
                    </a:p>
                  </a:txBody>
                  <a:tcPr>
                    <a:noFill/>
                  </a:tcPr>
                </a:tc>
              </a:tr>
            </a:tbl>
          </a:graphicData>
        </a:graphic>
      </p:graphicFrame>
      <p:sp>
        <p:nvSpPr>
          <p:cNvPr id="4" name="InfoBar4"/>
          <p:cNvSpPr/>
          <p:nvPr/>
        </p:nvSpPr>
        <p:spPr>
          <a:xfrm>
            <a:off x="350000" y="3720000"/>
            <a:ext cx="8500000" cy="380000"/>
          </a:xfrm>
          <a:prstGeom prst="rect">
            <a:avLst/>
          </a:prstGeom>
          <a:solidFill>
            <a:srgbClr val="005AA4"/>
          </a:solidFill>
        </p:spPr>
        <p:txBody>
          <a:bodyPr wrap="square" anchor="ctr" lIns="91425" tIns="45700" rIns="91425" bIns="45700"/>
          <a:lstStyle/>
          <a:p>
            <a:r>
              <a:rPr lang="en-GB" sz="900" b="0">
                <a:solidFill>
                  <a:srgbClr val="FFFFFF"/>
                </a:solidFill>
              </a:rPr>
              <a:t>BVF Sub-capabilities: 11 EPM + 7 Treasury + 6 Reporting = 24  |  FSDM Entities: ~250+  |  BACR: ~120 questions  |  Focus: Developing → Innovating</a:t>
            </a:r>
          </a:p>
        </p:txBody>
      </p:sp>
      <p:sp>
        <p:nvSpPr>
          <p:cNvPr id="5" name="TextBox5"/>
          <p:cNvSpPr txBox="1"/>
          <p:nvPr/>
        </p:nvSpPr>
        <p:spPr>
          <a:xfrm>
            <a:off x="350000" y="4150000"/>
            <a:ext cx="8500000" cy="400000"/>
          </a:xfrm>
          <a:prstGeom prst="rect">
            <a:avLst/>
          </a:prstGeom>
          <a:noFill/>
        </p:spPr>
        <p:txBody>
          <a:bodyPr wrap="square" lIns="72000" tIns="36000" rIns="72000" bIns="36000"/>
          <a:lstStyle/>
          <a:p>
            <a:r>
              <a:rPr lang="en-GB" sz="900">
                <a:solidFill>
                  <a:srgbClr val="0079DB"/>
                </a:solidFill>
              </a:rPr>
              <a:t>Pakistan Differentiators: UBL FSDM-based Customer Profitability Engine (industry-leading)  |  SBP Basel III full compliance  |  Dual conventional/Islamic treasury  |  30+ SBP statutory returns automation</a:t>
            </a:r>
          </a:p>
        </p:txBody>
      </p:sp>
    </p:spTree>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a:spLocks noGrp="1"/>
          </p:cNvSpPr>
          <p:nvPr>
            <p:ph type="title"/>
          </p:nvPr>
        </p:nvSpPr>
        <p:spPr>
          <a:xfrm>
            <a:off x="477880" y="100000"/>
            <a:ext cx="5500000" cy="500000"/>
          </a:xfrm>
        </p:spPr>
        <p:txBody>
          <a:bodyPr anchor="b" lIns="0" tIns="0" rIns="0" bIns="0"/>
          <a:lstStyle/>
          <a:p>
            <a:r>
              <a:rPr lang="en-GB" b="1" sz="2200"/>
              <a:t>Pakistan Banking — EPM, Treasury &amp; Reporting Landscape</a:t>
            </a:r>
          </a:p>
        </p:txBody>
      </p:sp>
      <p:sp>
        <p:nvSpPr>
          <p:cNvPr id="3" name="TextBox3"/>
          <p:cNvSpPr txBox="1"/>
          <p:nvPr/>
        </p:nvSpPr>
        <p:spPr>
          <a:xfrm>
            <a:off x="350000" y="700000"/>
            <a:ext cx="8500000" cy="200000"/>
          </a:xfrm>
          <a:prstGeom prst="rect">
            <a:avLst/>
          </a:prstGeom>
          <a:noFill/>
        </p:spPr>
        <p:txBody>
          <a:bodyPr wrap="square" lIns="72000" tIns="36000" rIns="72000" bIns="36000"/>
          <a:lstStyle/>
          <a:p>
            <a:r>
              <a:rPr lang="en-GB" b="1" sz="1000">
                <a:solidFill>
                  <a:srgbClr val="005AA4"/>
                </a:solidFill>
              </a:rPr>
              <a:t>ENTERPRISE PERFORMANCE MANAGEMENT:</a:t>
            </a:r>
          </a:p>
        </p:txBody>
      </p:sp>
      <p:sp>
        <p:nvSpPr>
          <p:cNvPr id="4" name="TextBox4"/>
          <p:cNvSpPr txBox="1"/>
          <p:nvPr/>
        </p:nvSpPr>
        <p:spPr>
          <a:xfrm>
            <a:off x="500000" y="900000"/>
            <a:ext cx="8300000" cy="200000"/>
          </a:xfrm>
          <a:prstGeom prst="rect">
            <a:avLst/>
          </a:prstGeom>
          <a:noFill/>
        </p:spPr>
        <p:txBody>
          <a:bodyPr wrap="square" lIns="72000" tIns="36000" rIns="72000" bIns="36000"/>
          <a:lstStyle/>
          <a:p>
            <a:r>
              <a:rPr lang="en-GB" sz="850"/>
              <a:t>• Customer profitability: &lt;15% of banks (UBL FSDM engine is industry-leading)</a:t>
            </a:r>
          </a:p>
        </p:txBody>
      </p:sp>
      <p:sp>
        <p:nvSpPr>
          <p:cNvPr id="5" name="TextBox5"/>
          <p:cNvSpPr txBox="1"/>
          <p:nvPr/>
        </p:nvSpPr>
        <p:spPr>
          <a:xfrm>
            <a:off x="500000" y="1095000"/>
            <a:ext cx="8300000" cy="200000"/>
          </a:xfrm>
          <a:prstGeom prst="rect">
            <a:avLst/>
          </a:prstGeom>
          <a:noFill/>
        </p:spPr>
        <p:txBody>
          <a:bodyPr wrap="square" lIns="72000" tIns="36000" rIns="72000" bIns="36000"/>
          <a:lstStyle/>
          <a:p>
            <a:r>
              <a:rPr lang="en-GB" sz="850"/>
              <a:t>• Activity-based costing: &lt;10% have formal ABC - cost allocation is formula-based</a:t>
            </a:r>
          </a:p>
        </p:txBody>
      </p:sp>
      <p:sp>
        <p:nvSpPr>
          <p:cNvPr id="6" name="TextBox6"/>
          <p:cNvSpPr txBox="1"/>
          <p:nvPr/>
        </p:nvSpPr>
        <p:spPr>
          <a:xfrm>
            <a:off x="500000" y="1290000"/>
            <a:ext cx="8300000" cy="200000"/>
          </a:xfrm>
          <a:prstGeom prst="rect">
            <a:avLst/>
          </a:prstGeom>
          <a:noFill/>
        </p:spPr>
        <p:txBody>
          <a:bodyPr wrap="square" lIns="72000" tIns="36000" rIns="72000" bIns="36000"/>
          <a:lstStyle/>
          <a:p>
            <a:r>
              <a:rPr lang="en-GB" sz="850"/>
              <a:t>• Branch P&amp;L: not available at most banks - branches measured on deposits/advances only</a:t>
            </a:r>
          </a:p>
        </p:txBody>
      </p:sp>
      <p:sp>
        <p:nvSpPr>
          <p:cNvPr id="7" name="TextBox7"/>
          <p:cNvSpPr txBox="1"/>
          <p:nvPr/>
        </p:nvSpPr>
        <p:spPr>
          <a:xfrm>
            <a:off x="500000" y="1485000"/>
            <a:ext cx="8300000" cy="200000"/>
          </a:xfrm>
          <a:prstGeom prst="rect">
            <a:avLst/>
          </a:prstGeom>
          <a:noFill/>
        </p:spPr>
        <p:txBody>
          <a:bodyPr wrap="square" lIns="72000" tIns="36000" rIns="72000" bIns="36000"/>
          <a:lstStyle/>
          <a:p>
            <a:r>
              <a:rPr lang="en-GB" sz="850"/>
              <a:t>• Pricing: KIBOR + spread, limited analytical optimization</a:t>
            </a:r>
          </a:p>
        </p:txBody>
      </p:sp>
      <p:sp>
        <p:nvSpPr>
          <p:cNvPr id="8" name="TextBox8"/>
          <p:cNvSpPr txBox="1"/>
          <p:nvPr/>
        </p:nvSpPr>
        <p:spPr>
          <a:xfrm>
            <a:off x="500000" y="1680000"/>
            <a:ext cx="8300000" cy="200000"/>
          </a:xfrm>
          <a:prstGeom prst="rect">
            <a:avLst/>
          </a:prstGeom>
          <a:noFill/>
        </p:spPr>
        <p:txBody>
          <a:bodyPr wrap="square" lIns="72000" tIns="36000" rIns="72000" bIns="36000"/>
          <a:lstStyle/>
          <a:p>
            <a:r>
              <a:rPr lang="en-GB" sz="850"/>
              <a:t>• Budget cycle: 3-4 months manual, no rolling forecasts</a:t>
            </a:r>
          </a:p>
        </p:txBody>
      </p:sp>
      <p:sp>
        <p:nvSpPr>
          <p:cNvPr id="9" name="TextBox9"/>
          <p:cNvSpPr txBox="1"/>
          <p:nvPr/>
        </p:nvSpPr>
        <p:spPr>
          <a:xfrm>
            <a:off x="350000" y="1955000"/>
            <a:ext cx="8500000" cy="200000"/>
          </a:xfrm>
          <a:prstGeom prst="rect">
            <a:avLst/>
          </a:prstGeom>
          <a:noFill/>
        </p:spPr>
        <p:txBody>
          <a:bodyPr wrap="square" lIns="72000" tIns="36000" rIns="72000" bIns="36000"/>
          <a:lstStyle/>
          <a:p>
            <a:r>
              <a:rPr lang="en-GB" b="1" sz="1000">
                <a:solidFill>
                  <a:srgbClr val="005AA4"/>
                </a:solidFill>
              </a:rPr>
              <a:t>TREASURY INSIGHT &amp; MANAGEMENT:</a:t>
            </a:r>
          </a:p>
        </p:txBody>
      </p:sp>
      <p:sp>
        <p:nvSpPr>
          <p:cNvPr id="10" name="TextBox10"/>
          <p:cNvSpPr txBox="1"/>
          <p:nvPr/>
        </p:nvSpPr>
        <p:spPr>
          <a:xfrm>
            <a:off x="500000" y="2155000"/>
            <a:ext cx="8300000" cy="200000"/>
          </a:xfrm>
          <a:prstGeom prst="rect">
            <a:avLst/>
          </a:prstGeom>
          <a:noFill/>
        </p:spPr>
        <p:txBody>
          <a:bodyPr wrap="square" lIns="72000" tIns="36000" rIns="72000" bIns="36000"/>
          <a:lstStyle/>
          <a:p>
            <a:r>
              <a:rPr lang="en-GB" sz="850"/>
              <a:t>• SBP policy rate: 17.5% - high rate environment drives treasury focus</a:t>
            </a:r>
          </a:p>
        </p:txBody>
      </p:sp>
      <p:sp>
        <p:nvSpPr>
          <p:cNvPr id="11" name="TextBox11"/>
          <p:cNvSpPr txBox="1"/>
          <p:nvPr/>
        </p:nvSpPr>
        <p:spPr>
          <a:xfrm>
            <a:off x="500000" y="2350000"/>
            <a:ext cx="8300000" cy="200000"/>
          </a:xfrm>
          <a:prstGeom prst="rect">
            <a:avLst/>
          </a:prstGeom>
          <a:noFill/>
        </p:spPr>
        <p:txBody>
          <a:bodyPr wrap="square" lIns="72000" tIns="36000" rIns="72000" bIns="36000"/>
          <a:lstStyle/>
          <a:p>
            <a:r>
              <a:rPr lang="en-GB" sz="850"/>
              <a:t>• Government securities: PKR 10T+ (PIBs, T-Bills, Sukuk, Ijara)</a:t>
            </a:r>
          </a:p>
        </p:txBody>
      </p:sp>
      <p:sp>
        <p:nvSpPr>
          <p:cNvPr id="12" name="TextBox12"/>
          <p:cNvSpPr txBox="1"/>
          <p:nvPr/>
        </p:nvSpPr>
        <p:spPr>
          <a:xfrm>
            <a:off x="500000" y="2545000"/>
            <a:ext cx="8300000" cy="200000"/>
          </a:xfrm>
          <a:prstGeom prst="rect">
            <a:avLst/>
          </a:prstGeom>
          <a:noFill/>
        </p:spPr>
        <p:txBody>
          <a:bodyPr wrap="square" lIns="72000" tIns="36000" rIns="72000" bIns="36000"/>
          <a:lstStyle/>
          <a:p>
            <a:r>
              <a:rPr lang="en-GB" sz="850"/>
              <a:t>• FTP: Most banks use flat KIBOR - few use yield-curve matched-maturity</a:t>
            </a:r>
          </a:p>
        </p:txBody>
      </p:sp>
      <p:sp>
        <p:nvSpPr>
          <p:cNvPr id="13" name="TextBox13"/>
          <p:cNvSpPr txBox="1"/>
          <p:nvPr/>
        </p:nvSpPr>
        <p:spPr>
          <a:xfrm>
            <a:off x="500000" y="2740000"/>
            <a:ext cx="8300000" cy="200000"/>
          </a:xfrm>
          <a:prstGeom prst="rect">
            <a:avLst/>
          </a:prstGeom>
          <a:noFill/>
        </p:spPr>
        <p:txBody>
          <a:bodyPr wrap="square" lIns="72000" tIns="36000" rIns="72000" bIns="36000"/>
          <a:lstStyle/>
          <a:p>
            <a:r>
              <a:rPr lang="en-GB" sz="850"/>
              <a:t>• Liquidity: SBP LCR/NSFR requirements; RAAST impacts intraday liquidity</a:t>
            </a:r>
          </a:p>
        </p:txBody>
      </p:sp>
      <p:sp>
        <p:nvSpPr>
          <p:cNvPr id="14" name="TextBox14"/>
          <p:cNvSpPr txBox="1"/>
          <p:nvPr/>
        </p:nvSpPr>
        <p:spPr>
          <a:xfrm>
            <a:off x="500000" y="2935000"/>
            <a:ext cx="8300000" cy="200000"/>
          </a:xfrm>
          <a:prstGeom prst="rect">
            <a:avLst/>
          </a:prstGeom>
          <a:noFill/>
        </p:spPr>
        <p:txBody>
          <a:bodyPr wrap="square" lIns="72000" tIns="36000" rIns="72000" bIns="36000"/>
          <a:lstStyle/>
          <a:p>
            <a:r>
              <a:rPr lang="en-GB" sz="850"/>
              <a:t>• Islamic treasury: Sukuk, IIBR, Bai Muajjal, Wakalah - parallel desk</a:t>
            </a:r>
          </a:p>
        </p:txBody>
      </p:sp>
      <p:sp>
        <p:nvSpPr>
          <p:cNvPr id="15" name="TextBox15"/>
          <p:cNvSpPr txBox="1"/>
          <p:nvPr/>
        </p:nvSpPr>
        <p:spPr>
          <a:xfrm>
            <a:off x="350000" y="3210000"/>
            <a:ext cx="8500000" cy="200000"/>
          </a:xfrm>
          <a:prstGeom prst="rect">
            <a:avLst/>
          </a:prstGeom>
          <a:noFill/>
        </p:spPr>
        <p:txBody>
          <a:bodyPr wrap="square" lIns="72000" tIns="36000" rIns="72000" bIns="36000"/>
          <a:lstStyle/>
          <a:p>
            <a:r>
              <a:rPr lang="en-GB" b="1" sz="1000">
                <a:solidFill>
                  <a:srgbClr val="005AA4"/>
                </a:solidFill>
              </a:rPr>
              <a:t>FINANCIAL REPORTING:</a:t>
            </a:r>
          </a:p>
        </p:txBody>
      </p:sp>
      <p:sp>
        <p:nvSpPr>
          <p:cNvPr id="16" name="TextBox16"/>
          <p:cNvSpPr txBox="1"/>
          <p:nvPr/>
        </p:nvSpPr>
        <p:spPr>
          <a:xfrm>
            <a:off x="500000" y="3410000"/>
            <a:ext cx="8300000" cy="200000"/>
          </a:xfrm>
          <a:prstGeom prst="rect">
            <a:avLst/>
          </a:prstGeom>
          <a:noFill/>
        </p:spPr>
        <p:txBody>
          <a:bodyPr wrap="square" lIns="72000" tIns="36000" rIns="72000" bIns="36000"/>
          <a:lstStyle/>
          <a:p>
            <a:r>
              <a:rPr lang="en-GB" sz="850"/>
              <a:t>• SBP returns: 30+ statutory returns (weekly, monthly, quarterly) - largely manual</a:t>
            </a:r>
          </a:p>
        </p:txBody>
      </p:sp>
      <p:sp>
        <p:nvSpPr>
          <p:cNvPr id="17" name="TextBox17"/>
          <p:cNvSpPr txBox="1"/>
          <p:nvPr/>
        </p:nvSpPr>
        <p:spPr>
          <a:xfrm>
            <a:off x="500000" y="3605000"/>
            <a:ext cx="8300000" cy="200000"/>
          </a:xfrm>
          <a:prstGeom prst="rect">
            <a:avLst/>
          </a:prstGeom>
          <a:noFill/>
        </p:spPr>
        <p:txBody>
          <a:bodyPr wrap="square" lIns="72000" tIns="36000" rIns="72000" bIns="36000"/>
          <a:lstStyle/>
          <a:p>
            <a:r>
              <a:rPr lang="en-GB" sz="850"/>
              <a:t>• IFRS 9: ECL reporting mandated - data quality challenges remain</a:t>
            </a:r>
          </a:p>
        </p:txBody>
      </p:sp>
      <p:sp>
        <p:nvSpPr>
          <p:cNvPr id="18" name="TextBox18"/>
          <p:cNvSpPr txBox="1"/>
          <p:nvPr/>
        </p:nvSpPr>
        <p:spPr>
          <a:xfrm>
            <a:off x="500000" y="3800000"/>
            <a:ext cx="8300000" cy="200000"/>
          </a:xfrm>
          <a:prstGeom prst="rect">
            <a:avLst/>
          </a:prstGeom>
          <a:noFill/>
        </p:spPr>
        <p:txBody>
          <a:bodyPr wrap="square" lIns="72000" tIns="36000" rIns="72000" bIns="36000"/>
          <a:lstStyle/>
          <a:p>
            <a:r>
              <a:rPr lang="en-GB" sz="850"/>
              <a:t>• Audit: Big 4 + local firms - increasing granularity demands</a:t>
            </a:r>
          </a:p>
        </p:txBody>
      </p:sp>
      <p:sp>
        <p:nvSpPr>
          <p:cNvPr id="19" name="TextBox19"/>
          <p:cNvSpPr txBox="1"/>
          <p:nvPr/>
        </p:nvSpPr>
        <p:spPr>
          <a:xfrm>
            <a:off x="500000" y="3995000"/>
            <a:ext cx="8300000" cy="200000"/>
          </a:xfrm>
          <a:prstGeom prst="rect">
            <a:avLst/>
          </a:prstGeom>
          <a:noFill/>
        </p:spPr>
        <p:txBody>
          <a:bodyPr wrap="square" lIns="72000" tIns="36000" rIns="72000" bIns="36000"/>
          <a:lstStyle/>
          <a:p>
            <a:r>
              <a:rPr lang="en-GB" sz="850"/>
              <a:t>• SECP/PSX: Listed bank quarterly/annual IFRS financial statements</a:t>
            </a:r>
          </a:p>
        </p:txBody>
      </p:sp>
    </p:spTree>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a:spLocks noGrp="1"/>
          </p:cNvSpPr>
          <p:nvPr>
            <p:ph type="title"/>
          </p:nvPr>
        </p:nvSpPr>
        <p:spPr>
          <a:xfrm>
            <a:off x="477880" y="100000"/>
            <a:ext cx="5500000" cy="500000"/>
          </a:xfrm>
        </p:spPr>
        <p:txBody>
          <a:bodyPr anchor="b" lIns="0" tIns="0" rIns="0" bIns="0"/>
          <a:lstStyle/>
          <a:p>
            <a:r>
              <a:rPr lang="en-GB" b="1" sz="2200"/>
              <a:t>EPM, Treasury &amp; Reporting — Implementation Roadmap</a:t>
            </a:r>
          </a:p>
        </p:txBody>
      </p:sp>
      <p:sp>
        <p:nvSpPr>
          <p:cNvPr id="3" name="Phase3"/>
          <p:cNvSpPr/>
          <p:nvPr/>
        </p:nvSpPr>
        <p:spPr>
          <a:xfrm>
            <a:off x="250000" y="750000"/>
            <a:ext cx="2700000" cy="2800000"/>
          </a:xfrm>
          <a:prstGeom prst="roundRect">
            <a:avLst>
              <a:gd name="adj" fmla="val 5000"/>
            </a:avLst>
          </a:prstGeom>
          <a:solidFill>
            <a:srgbClr val="0079DB"/>
          </a:solidFill>
        </p:spPr>
        <p:txBody>
          <a:bodyPr wrap="square" lIns="91425" tIns="45700" rIns="91425" bIns="45700"/>
          <a:lstStyle/>
          <a:p>
            <a:r>
              <a:rPr lang="en-GB" sz="1100" b="1">
                <a:solidFill>
                  <a:srgbClr val="FFFFFF"/>
                </a:solidFill>
              </a:rPr>
              <a:t>Phase 1: Profitability Foundation (0-6 months)</a:t>
            </a:r>
          </a:p>
          <a:p>
            <a:pPr marL="171450" indent="-171450">
              <a:buChar char="•"/>
            </a:pPr>
            <a:r>
              <a:rPr lang="en-GB" sz="800">
                <a:solidFill>
                  <a:srgbClr val="FFFFFF"/>
                </a:solidFill>
              </a:rPr>
              <a:t>FTP engine (KIBOR yield-curve, matched-maturity)</a:t>
            </a:r>
          </a:p>
          <a:p>
            <a:pPr marL="171450" indent="-171450">
              <a:buChar char="•"/>
            </a:pPr>
            <a:r>
              <a:rPr lang="en-GB" sz="800">
                <a:solidFill>
                  <a:srgbClr val="FFFFFF"/>
                </a:solidFill>
              </a:rPr>
              <a:t>ABC framework (branch, ATM, digital, agent)</a:t>
            </a:r>
          </a:p>
          <a:p>
            <a:pPr marL="171450" indent="-171450">
              <a:buChar char="•"/>
            </a:pPr>
            <a:r>
              <a:rPr lang="en-GB" sz="800">
                <a:solidFill>
                  <a:srgbClr val="FFFFFF"/>
                </a:solidFill>
              </a:rPr>
              <a:t>Revenue analytics: NII + fee decomposition</a:t>
            </a:r>
          </a:p>
          <a:p>
            <a:pPr marL="171450" indent="-171450">
              <a:buChar char="•"/>
            </a:pPr>
            <a:r>
              <a:rPr lang="en-GB" sz="800">
                <a:solidFill>
                  <a:srgbClr val="FFFFFF"/>
                </a:solidFill>
              </a:rPr>
              <a:t>Automate top 5 SBP statutory returns</a:t>
            </a:r>
          </a:p>
          <a:p>
            <a:pPr marL="171450" indent="-171450">
              <a:buChar char="•"/>
            </a:pPr>
            <a:r>
              <a:rPr lang="en-GB" sz="800">
                <a:solidFill>
                  <a:srgbClr val="FFFFFF"/>
                </a:solidFill>
              </a:rPr>
              <a:t>Investment: PKR 80-150M</a:t>
            </a:r>
          </a:p>
        </p:txBody>
      </p:sp>
      <p:sp>
        <p:nvSpPr>
          <p:cNvPr id="4" name="Phase4"/>
          <p:cNvSpPr/>
          <p:nvPr/>
        </p:nvSpPr>
        <p:spPr>
          <a:xfrm>
            <a:off x="3200000" y="750000"/>
            <a:ext cx="2700000" cy="2800000"/>
          </a:xfrm>
          <a:prstGeom prst="roundRect">
            <a:avLst>
              <a:gd name="adj" fmla="val 5000"/>
            </a:avLst>
          </a:prstGeom>
          <a:solidFill>
            <a:srgbClr val="005AA4"/>
          </a:solidFill>
        </p:spPr>
        <p:txBody>
          <a:bodyPr wrap="square" lIns="91425" tIns="45700" rIns="91425" bIns="45700"/>
          <a:lstStyle/>
          <a:p>
            <a:r>
              <a:rPr lang="en-GB" sz="1100" b="1">
                <a:solidFill>
                  <a:srgbClr val="FFFFFF"/>
                </a:solidFill>
              </a:rPr>
              <a:t>Phase 2: Performance Intelligence (6-18 months)</a:t>
            </a:r>
          </a:p>
          <a:p>
            <a:pPr marL="171450" indent="-171450">
              <a:buChar char="•"/>
            </a:pPr>
            <a:r>
              <a:rPr lang="en-GB" sz="800">
                <a:solidFill>
                  <a:srgbClr val="FFFFFF"/>
                </a:solidFill>
              </a:rPr>
              <a:t>Customer profitability engine (FSDM model)</a:t>
            </a:r>
          </a:p>
          <a:p>
            <a:pPr marL="171450" indent="-171450">
              <a:buChar char="•"/>
            </a:pPr>
            <a:r>
              <a:rPr lang="en-GB" sz="800">
                <a:solidFill>
                  <a:srgbClr val="FFFFFF"/>
                </a:solidFill>
              </a:rPr>
              <a:t>Branch P&amp;L (NII, fees, costs, provisions)</a:t>
            </a:r>
          </a:p>
          <a:p>
            <a:pPr marL="171450" indent="-171450">
              <a:buChar char="•"/>
            </a:pPr>
            <a:r>
              <a:rPr lang="en-GB" sz="800">
                <a:solidFill>
                  <a:srgbClr val="FFFFFF"/>
                </a:solidFill>
              </a:rPr>
              <a:t>Treasury dashboard (portfolio, yield, liquidity)</a:t>
            </a:r>
          </a:p>
          <a:p>
            <a:pPr marL="171450" indent="-171450">
              <a:buChar char="•"/>
            </a:pPr>
            <a:r>
              <a:rPr lang="en-GB" sz="800">
                <a:solidFill>
                  <a:srgbClr val="FFFFFF"/>
                </a:solidFill>
              </a:rPr>
              <a:t>ALM automation + budget variance reporting</a:t>
            </a:r>
          </a:p>
          <a:p>
            <a:pPr marL="171450" indent="-171450">
              <a:buChar char="•"/>
            </a:pPr>
            <a:r>
              <a:rPr lang="en-GB" sz="800">
                <a:solidFill>
                  <a:srgbClr val="FFFFFF"/>
                </a:solidFill>
              </a:rPr>
              <a:t>Investment: PKR 150-300M</a:t>
            </a:r>
          </a:p>
        </p:txBody>
      </p:sp>
      <p:sp>
        <p:nvSpPr>
          <p:cNvPr id="5" name="Phase5"/>
          <p:cNvSpPr/>
          <p:nvPr/>
        </p:nvSpPr>
        <p:spPr>
          <a:xfrm>
            <a:off x="6150000" y="750000"/>
            <a:ext cx="2700000" cy="2800000"/>
          </a:xfrm>
          <a:prstGeom prst="roundRect">
            <a:avLst>
              <a:gd name="adj" fmla="val 5000"/>
            </a:avLst>
          </a:prstGeom>
          <a:solidFill>
            <a:srgbClr val="EC881D"/>
          </a:solidFill>
        </p:spPr>
        <p:txBody>
          <a:bodyPr wrap="square" lIns="91425" tIns="45700" rIns="91425" bIns="45700"/>
          <a:lstStyle/>
          <a:p>
            <a:r>
              <a:rPr lang="en-GB" sz="1100" b="1">
                <a:solidFill>
                  <a:srgbClr val="FFFFFF"/>
                </a:solidFill>
              </a:rPr>
              <a:t>Phase 3: Predictive Finance (18-36 months)</a:t>
            </a:r>
          </a:p>
          <a:p>
            <a:pPr marL="171450" indent="-171450">
              <a:buChar char="•"/>
            </a:pPr>
            <a:r>
              <a:rPr lang="en-GB" sz="800">
                <a:solidFill>
                  <a:srgbClr val="FFFFFF"/>
                </a:solidFill>
              </a:rPr>
              <a:t>Pricing optimization engine (risk-adjusted)</a:t>
            </a:r>
          </a:p>
          <a:p>
            <a:pPr marL="171450" indent="-171450">
              <a:buChar char="•"/>
            </a:pPr>
            <a:r>
              <a:rPr lang="en-GB" sz="800">
                <a:solidFill>
                  <a:srgbClr val="FFFFFF"/>
                </a:solidFill>
              </a:rPr>
              <a:t>Predictive budgeting + rolling forecasts</a:t>
            </a:r>
          </a:p>
          <a:p>
            <a:pPr marL="171450" indent="-171450">
              <a:buChar char="•"/>
            </a:pPr>
            <a:r>
              <a:rPr lang="en-GB" sz="800">
                <a:solidFill>
                  <a:srgbClr val="FFFFFF"/>
                </a:solidFill>
              </a:rPr>
              <a:t>Real-time liquidity (RAAST/RTGS modeling)</a:t>
            </a:r>
          </a:p>
          <a:p>
            <a:pPr marL="171450" indent="-171450">
              <a:buChar char="•"/>
            </a:pPr>
            <a:r>
              <a:rPr lang="en-GB" sz="800">
                <a:solidFill>
                  <a:srgbClr val="FFFFFF"/>
                </a:solidFill>
              </a:rPr>
              <a:t>Islamic treasury analytics (Sukuk, profit-sharing)</a:t>
            </a:r>
          </a:p>
          <a:p>
            <a:pPr marL="171450" indent="-171450">
              <a:buChar char="•"/>
            </a:pPr>
            <a:r>
              <a:rPr lang="en-GB" sz="800">
                <a:solidFill>
                  <a:srgbClr val="FFFFFF"/>
                </a:solidFill>
              </a:rPr>
              <a:t>Executive self-service dashboard</a:t>
            </a:r>
          </a:p>
          <a:p>
            <a:pPr marL="171450" indent="-171450">
              <a:buChar char="•"/>
            </a:pPr>
            <a:r>
              <a:rPr lang="en-GB" sz="800">
                <a:solidFill>
                  <a:srgbClr val="FFFFFF"/>
                </a:solidFill>
              </a:rPr>
              <a:t>Investment: PKR 200-400M</a:t>
            </a:r>
          </a:p>
        </p:txBody>
      </p:sp>
      <p:sp>
        <p:nvSpPr>
          <p:cNvPr id="6" name="Arrow1"/>
          <p:cNvSpPr/>
          <p:nvPr/>
        </p:nvSpPr>
        <p:spPr>
          <a:xfrm>
            <a:off x="2950000" y="1900000"/>
            <a:ext cx="300000" cy="300000"/>
          </a:xfrm>
          <a:prstGeom prst="rightArrow">
            <a:avLst/>
          </a:prstGeom>
          <a:solidFill>
            <a:srgbClr val="005AA4"/>
          </a:solidFill>
        </p:spPr>
      </p:sp>
      <p:sp>
        <p:nvSpPr>
          <p:cNvPr id="7" name="Arrow2"/>
          <p:cNvSpPr/>
          <p:nvPr/>
        </p:nvSpPr>
        <p:spPr>
          <a:xfrm>
            <a:off x="5900000" y="1900000"/>
            <a:ext cx="300000" cy="300000"/>
          </a:xfrm>
          <a:prstGeom prst="rightArrow">
            <a:avLst/>
          </a:prstGeom>
          <a:solidFill>
            <a:srgbClr val="EC881D"/>
          </a:solidFill>
        </p:spPr>
      </p:sp>
      <p:sp>
        <p:nvSpPr>
          <p:cNvPr id="8" name="InfoBar8"/>
          <p:cNvSpPr/>
          <p:nvPr/>
        </p:nvSpPr>
        <p:spPr>
          <a:xfrm>
            <a:off x="250000" y="3700000"/>
            <a:ext cx="8650000" cy="450000"/>
          </a:xfrm>
          <a:prstGeom prst="rect">
            <a:avLst/>
          </a:prstGeom>
          <a:solidFill>
            <a:srgbClr val="005AA4"/>
          </a:solidFill>
        </p:spPr>
        <p:txBody>
          <a:bodyPr wrap="square" anchor="ctr" lIns="91425" tIns="45700" rIns="91425" bIns="45700"/>
          <a:lstStyle/>
          <a:p>
            <a:r>
              <a:rPr lang="en-GB" sz="900" b="0">
                <a:solidFill>
                  <a:srgbClr val="FFFFFF"/>
                </a:solidFill>
              </a:rPr>
              <a:t>Total Investment: PKR 430-850M over 36 months  |  Quick Win: Branch NII visibility (Month 3)  |  Expected: PKR 10B+ profitability optimization  |  15-25% capital allocation improvement</a:t>
            </a:r>
          </a:p>
        </p:txBody>
      </p:sp>
      <p:sp>
        <p:nvSpPr>
          <p:cNvPr id="9" name="TextBox9"/>
          <p:cNvSpPr txBox="1"/>
          <p:nvPr/>
        </p:nvSpPr>
        <p:spPr>
          <a:xfrm>
            <a:off x="250000" y="4200000"/>
            <a:ext cx="8650000" cy="400000"/>
          </a:xfrm>
          <a:prstGeom prst="rect">
            <a:avLst/>
          </a:prstGeom>
          <a:noFill/>
        </p:spPr>
        <p:txBody>
          <a:bodyPr wrap="square" lIns="72000" tIns="36000" rIns="72000" bIns="36000"/>
          <a:lstStyle/>
          <a:p>
            <a:r>
              <a:rPr lang="en-GB" sz="900">
                <a:solidFill>
                  <a:srgbClr val="005AA4"/>
                </a:solidFill>
              </a:rPr>
              <a:t>Key Success Factors: FSDM data foundation  |  UBL Customer Profitability Engine  |  SBP compliance integration  |  Islamic/conventional dual framework  |  Executive sponsorship</a:t>
            </a: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