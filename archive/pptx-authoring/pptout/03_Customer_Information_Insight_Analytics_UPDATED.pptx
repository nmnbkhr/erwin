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2.xml" ContentType="application/vnd.openxmlformats-officedocument.presentationml.notesSlide+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291" r:id="rId42"/>
    <p:sldId id="321" r:id="rId632"/>
    <p:sldId id="292" r:id="rId43"/>
    <p:sldId id="293" r:id="rId44"/>
    <p:sldId id="294" r:id="rId45"/>
    <p:sldId id="295" r:id="rId46"/>
    <p:sldId id="322" r:id="rId633"/>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3" r:id="rId634"/>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slide" Target="slides/slide41.xml"/><Relationship Id="rId48" Type="http://schemas.openxmlformats.org/officeDocument/2006/relationships/slide" Target="slides/slide42.xml"/><Relationship Id="rId49" Type="http://schemas.openxmlformats.org/officeDocument/2006/relationships/slide" Target="slides/slide43.xml"/><Relationship Id="rId50" Type="http://schemas.openxmlformats.org/officeDocument/2006/relationships/slide" Target="slides/slide44.xml"/><Relationship Id="rId51" Type="http://schemas.openxmlformats.org/officeDocument/2006/relationships/slide" Target="slides/slide45.xml"/><Relationship Id="rId52" Type="http://schemas.openxmlformats.org/officeDocument/2006/relationships/slide" Target="slides/slide46.xml"/><Relationship Id="rId53" Type="http://schemas.openxmlformats.org/officeDocument/2006/relationships/slide" Target="slides/slide47.xml"/><Relationship Id="rId54" Type="http://schemas.openxmlformats.org/officeDocument/2006/relationships/slide" Target="slides/slide48.xml"/><Relationship Id="rId55" Type="http://schemas.openxmlformats.org/officeDocument/2006/relationships/slide" Target="slides/slide49.xml"/><Relationship Id="rId56" Type="http://schemas.openxmlformats.org/officeDocument/2006/relationships/slide" Target="slides/slide50.xml"/><Relationship Id="rId57" Type="http://schemas.openxmlformats.org/officeDocument/2006/relationships/slide" Target="slides/slide51.xml"/><Relationship Id="rId58" Type="http://schemas.openxmlformats.org/officeDocument/2006/relationships/slide" Target="slides/slide52.xml"/><Relationship Id="rId59" Type="http://schemas.openxmlformats.org/officeDocument/2006/relationships/slide" Target="slides/slide53.xml"/><Relationship Id="rId60" Type="http://schemas.openxmlformats.org/officeDocument/2006/relationships/slide" Target="slides/slide54.xml"/><Relationship Id="rId61" Type="http://schemas.openxmlformats.org/officeDocument/2006/relationships/slide" Target="slides/slide55.xml"/><Relationship Id="rId62" Type="http://schemas.openxmlformats.org/officeDocument/2006/relationships/slide" Target="slides/slide56.xml"/><Relationship Id="rId63" Type="http://schemas.openxmlformats.org/officeDocument/2006/relationships/slide" Target="slides/slide57.xml"/><Relationship Id="rId64" Type="http://schemas.openxmlformats.org/officeDocument/2006/relationships/slide" Target="slides/slide58.xml"/><Relationship Id="rId65" Type="http://schemas.openxmlformats.org/officeDocument/2006/relationships/slide" Target="slides/slide59.xml"/><Relationship Id="rId66" Type="http://schemas.openxmlformats.org/officeDocument/2006/relationships/slide" Target="slides/slide60.xml"/><Relationship Id="rId67" Type="http://schemas.openxmlformats.org/officeDocument/2006/relationships/slide" Target="slides/slide61.xml"/><Relationship Id="rId68" Type="http://schemas.openxmlformats.org/officeDocument/2006/relationships/slide" Target="slides/slide62.xml"/><Relationship Id="rId69" Type="http://schemas.openxmlformats.org/officeDocument/2006/relationships/slide" Target="slides/slide63.xml"/><Relationship Id="rId70" Type="http://schemas.openxmlformats.org/officeDocument/2006/relationships/slide" Target="slides/slide64.xml"/><Relationship Id="rId71" Type="http://schemas.openxmlformats.org/officeDocument/2006/relationships/slide" Target="slides/slide65.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 Id="rId632" Type="http://schemas.openxmlformats.org/officeDocument/2006/relationships/slide" Target="slides/slide620.xml"/><Relationship Id="rId633" Type="http://schemas.openxmlformats.org/officeDocument/2006/relationships/slide" Target="slides/slide621.xml"/><Relationship Id="rId634" Type="http://schemas.openxmlformats.org/officeDocument/2006/relationships/slide" Target="slides/slide62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0.xml.rels><?xml version='1.0' encoding='UTF-8' standalone='yes'?><Relationships xmlns="http://schemas.openxmlformats.org/package/2006/relationships"><Relationship Id="rId1" Type="http://schemas.openxmlformats.org/officeDocument/2006/relationships/notesMaster" Target="../notesMasters/notesMaster1.xml"/></Relationships>
</file>

<file path=ppt/notesSlides/_rels/notesSlide621.xml.rels><?xml version='1.0' encoding='UTF-8' standalone='yes'?><Relationships xmlns="http://schemas.openxmlformats.org/package/2006/relationships"><Relationship Id="rId1" Type="http://schemas.openxmlformats.org/officeDocument/2006/relationships/notesMaster" Target="../notesMasters/notesMaster1.xml"/></Relationships>
</file>

<file path=ppt/notesSlides/_rels/notesSlide622.xml.rels><?xml version='1.0' encoding='UTF-8' standalone='yes'?><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 name="Shape 878"/>
        <p:cNvGrpSpPr/>
        <p:nvPr/>
      </p:nvGrpSpPr>
      <p:grpSpPr>
        <a:xfrm>
          <a:off x="0" y="0"/>
          <a:ext cx="0" cy="0"/>
          <a:chOff x="0" y="0"/>
          <a:chExt cx="0" cy="0"/>
        </a:xfrm>
      </p:grpSpPr>
      <p:sp>
        <p:nvSpPr>
          <p:cNvPr id="879" name="Google Shape;879;p3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GLOBAL: Customer information management is the foundation of every data-driven banking strategy. Gartner estimates 78% of global systemically important banks have implemented some form of single customer view. The global customer analytics market reached $10.5B in 2024.</a:t>
            </a:r>
            <a:endParaRPr/>
          </a:p>
          <a:p>
            <a:pPr indent="0" lvl="0" marL="0" rtl="0" algn="l">
              <a:spcBef>
                <a:spcPts val="400"/>
              </a:spcBef>
              <a:spcAft>
                <a:spcPts val="0"/>
              </a:spcAft>
              <a:buNone/>
            </a:pPr>
            <a:r>
              <a:rPr lang="en-GB" sz="1200"/>
              <a:t>REGIONAL: In South Asia and the Middle East, national ID systems (India's Aadhaar, Pakistan's CNIC, UAE's Emirates ID, Saudi's NID) provide unique identifiers that simplify customer matching. However, most banks in the region still operate 3-7 core systems with inconsistent customer identifiers.</a:t>
            </a:r>
            <a:endParaRPr/>
          </a:p>
          <a:p>
            <a:pPr indent="0" lvl="0" marL="0" rtl="0" algn="l">
              <a:spcBef>
                <a:spcPts val="400"/>
              </a:spcBef>
              <a:spcAft>
                <a:spcPts val="0"/>
              </a:spcAft>
              <a:buNone/>
            </a:pPr>
            <a:r>
              <a:rPr lang="en-GB" sz="1200"/>
              <a:t>PAKISTAN: Pakistan's 33 scheduled banks operate an average of 4-5 core banking systems each (CTL, Temenos, Oracle, Finacle, Symbols). Customer data is fragmented across credit cards, deposits, lending, trade finance, and treasury. The CNIC (13-digit unique national ID, 98% adult coverage) provides an extraordinary opportunity for deduplication, but fewer than 25% of banks have implemented CNIC-based single customer view across all product lines.</a:t>
            </a:r>
            <a:endParaRPr/>
          </a:p>
          <a:p>
            <a:pPr indent="0" lvl="0" marL="0" rtl="0" algn="l">
              <a:spcBef>
                <a:spcPts val="400"/>
              </a:spcBef>
              <a:spcAft>
                <a:spcPts val="0"/>
              </a:spcAft>
              <a:buNone/>
            </a:pPr>
            <a:r>
              <a:rPr lang="en-GB" sz="1200"/>
              <a:t>FSDM Entities: INDVDL (Individual), ORGN (Organization), PRTY (Party), IP_RLTNP (Inter-Party Relationship), PRTY_IDNTFR (Party Identifier mapped to CNIC), PRTY_ADDR (Party Address), PRTY_CNTCT (Party Contact).</a:t>
            </a:r>
            <a:endParaRPr/>
          </a:p>
        </p:txBody>
      </p:sp>
      <p:sp>
        <p:nvSpPr>
          <p:cNvPr id="880" name="Google Shape;880;p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SINGLE VIEW OF CUSTOMER: The foundational capability for all customer analytics. Without a single, deduplicated customer record, all downstream analytics (segmentation, profitability, journey analysis) produce unreliable results.</a:t>
            </a:r>
            <a:endParaRPr/>
          </a:p>
          <a:p>
            <a:pPr indent="0" lvl="0" marL="0" rtl="0" algn="l">
              <a:spcBef>
                <a:spcPts val="400"/>
              </a:spcBef>
              <a:spcAft>
                <a:spcPts val="0"/>
              </a:spcAft>
              <a:buNone/>
            </a:pPr>
            <a:r>
              <a:rPr lang="en-GB" sz="1200"/>
              <a:t>PAKISTAN CHALLENGE: Typical Pakistan bank has 20-30% duplicate customer records across core systems. CNIC exists in each system but enterprise-level deduplication is rare. Key blockers: multiple core banking systems with incompatible customer keys, batch-only ETL (nightly/weekly), Islamic banking subsidiaries on separate cores, branchless banking data outside bank EDW.</a:t>
            </a:r>
            <a:endParaRPr/>
          </a:p>
          <a:p>
            <a:pPr indent="0" lvl="0" marL="0" rtl="0" algn="l">
              <a:spcBef>
                <a:spcPts val="400"/>
              </a:spcBef>
              <a:spcAft>
                <a:spcPts val="0"/>
              </a:spcAft>
              <a:buNone/>
            </a:pPr>
            <a:r>
              <a:rPr lang="en-GB" sz="1200"/>
              <a:t>IMPLEMENTATION: Phase 1: CNIC-based customer master integrating top 3 core systems. Phase 2: Extend to Islamic banking, cards, trade finance. Phase 3: Real-time integration with RAAST, branchless banking, digital channels.</a:t>
            </a:r>
            <a:endParaRPr/>
          </a:p>
          <a:p>
            <a:pPr indent="0" lvl="0" marL="0" rtl="0" algn="l">
              <a:spcBef>
                <a:spcPts val="400"/>
              </a:spcBef>
              <a:spcAft>
                <a:spcPts val="0"/>
              </a:spcAft>
              <a:buNone/>
            </a:pPr>
            <a:r>
              <a:rPr lang="en-GB" sz="1200"/>
              <a:t>FSDM: INDVDL, ORGN, PRTY, PRTY_IDNTFR (maps CNIC, passport, NTN), IP_RLTNP (household/business relationships), PRTY_ADDR, PRTY_CNTCT, PRTY_PREF, PRTY_ACCT_RLTNP (party-account linkage across products).</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p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06" name="Google Shape;906;p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07" name="Google Shape;907;p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Single View of Customer: Most Pakistan banks are at Developing level where customer IDs exist per system but no enterprise master. CNIC is captured but not used for cross-system matching. Approximately 40% of banks are at this level.</a:t>
            </a:r>
            <a:endParaRPr/>
          </a:p>
          <a:p>
            <a:pPr indent="0" lvl="0" marL="0" rtl="0" algn="l">
              <a:spcBef>
                <a:spcPts val="400"/>
              </a:spcBef>
              <a:spcAft>
                <a:spcPts val="0"/>
              </a:spcAft>
              <a:buNone/>
            </a:pPr>
            <a:r>
              <a:rPr lang="en-GB" sz="1200"/>
              <a:t>GLOBAL BENCHMARK: Mature banks (JP Morgan, HSBC, DBS) achieved single customer view 10+ years ago using MDM platforms (Informatica, IBM InfoSphere). Current frontier is real-time identity resolution across digital channels including social media and non-authenticated sessions.</a:t>
            </a:r>
            <a:endParaRPr/>
          </a:p>
          <a:p>
            <a:pPr indent="0" lvl="0" marL="0" rtl="0" algn="l">
              <a:spcBef>
                <a:spcPts val="400"/>
              </a:spcBef>
              <a:spcAft>
                <a:spcPts val="0"/>
              </a:spcAft>
              <a:buNone/>
            </a:pPr>
            <a:r>
              <a:rPr lang="en-GB" sz="1200"/>
              <a:t>PAKISTAN TARGET: Move from Developing to Innovating (enterprise customer master with CNIC, NADRA integration, near-real-time) within 18-24 months. Priority areas: CNIC-based deduplication across 4-5 core systems, NADRA biometric integration for e-KYC, branchless banking identity linkage, Islamic subsidiary customer integration.</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MULTI-DIMENSIONAL CUSTOMER VIEW: Extends single customer view by adding behavioral, interaction, and event data across all channels to create a true 360-degree customer profile.</a:t>
            </a:r>
            <a:endParaRPr/>
          </a:p>
          <a:p>
            <a:pPr indent="0" lvl="0" marL="0" rtl="0" algn="l">
              <a:spcBef>
                <a:spcPts val="400"/>
              </a:spcBef>
              <a:spcAft>
                <a:spcPts val="0"/>
              </a:spcAft>
              <a:buNone/>
            </a:pPr>
            <a:r>
              <a:rPr lang="en-GB" sz="1200"/>
              <a:t>PAKISTAN OPPORTUNITY: Rich transaction data but poor integration. RAAST generates 50M+ monthly transactions underutilized for analytics. IBFT/1Link provides cross-bank transaction visibility. Mobile banking growing 40% YoY but app event data not captured in EDW. JazzCash (40M+) and Easypaisa (30M+) represent largest untapped data sources.</a:t>
            </a:r>
            <a:endParaRPr/>
          </a:p>
          <a:p>
            <a:pPr indent="0" lvl="0" marL="0" rtl="0" algn="l">
              <a:spcBef>
                <a:spcPts val="400"/>
              </a:spcBef>
              <a:spcAft>
                <a:spcPts val="0"/>
              </a:spcAft>
              <a:buNone/>
            </a:pPr>
            <a:r>
              <a:rPr lang="en-GB" sz="1200"/>
              <a:t>KEY INSIGHT: Pakistan's CNIC + mobile number can serve as a universal customer key linking bank accounts, mobile wallets, utility bills, and government payments into a single 360 view -- technically feasible but operationally unimplemented.</a:t>
            </a:r>
            <a:endParaRPr/>
          </a:p>
          <a:p>
            <a:pPr indent="0" lvl="0" marL="0" rtl="0" algn="l">
              <a:spcBef>
                <a:spcPts val="400"/>
              </a:spcBef>
              <a:spcAft>
                <a:spcPts val="0"/>
              </a:spcAft>
              <a:buNone/>
            </a:pPr>
            <a:r>
              <a:rPr lang="en-GB" sz="1200"/>
              <a:t>FSDM: EVNT (Event), EVNT_TYP (Event Type), INTN (Interaction), CHNL (Channel), TXN (Transaction), ACCT_TXN (Account Transaction), CSTMR_INTN (Customer Interaction), PRTY_EVNT (Party Event), DGTL_INTN (Digital Interaction).</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p4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 name="Google Shape;938;p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9" name="Google Shape;939;p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Multi-Dimensional Customer View: Most banks at Developing -- core product/transaction data loaded daily, but clickstream, mobile app events, and interaction data remain siloed. Very few banks integrate branchless banking data.</a:t>
            </a:r>
            <a:endParaRPr/>
          </a:p>
          <a:p>
            <a:pPr indent="0" lvl="0" marL="0" rtl="0" algn="l">
              <a:spcBef>
                <a:spcPts val="400"/>
              </a:spcBef>
              <a:spcAft>
                <a:spcPts val="0"/>
              </a:spcAft>
              <a:buNone/>
            </a:pPr>
            <a:r>
              <a:rPr lang="en-GB" sz="1200"/>
              <a:t>REGIONAL COMPARISON: India's UPI provides massive transaction data for customer views. Saudi's Open Banking framework enables third-party data enrichment. UAE's strong digital adoption (95%+) means rich clickstream data. Pakistan lags on integration but has unique advantage with CNIC universal identifier.</a:t>
            </a:r>
            <a:endParaRPr/>
          </a:p>
          <a:p>
            <a:pPr indent="0" lvl="0" marL="0" rtl="0" algn="l">
              <a:spcBef>
                <a:spcPts val="400"/>
              </a:spcBef>
              <a:spcAft>
                <a:spcPts val="0"/>
              </a:spcAft>
              <a:buNone/>
            </a:pPr>
            <a:r>
              <a:rPr lang="en-GB" sz="1200"/>
              <a:t>PRIORITY: Integrate RAAST/IBFT transaction data into customer 360 view. Capture mobile banking app events (login, bill pay, fund transfer). Link branchless banking customer profiles with formal bank records.</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INSIGHT-DRIVEN CUSTOMER MANAGEMENT OVERVIEW: This section covers 10 capabilities that transform raw customer data into actionable intelligence for marketing, sales, service, and risk management.</a:t>
            </a:r>
            <a:endParaRPr/>
          </a:p>
          <a:p>
            <a:pPr indent="0" lvl="0" marL="0" rtl="0" algn="l">
              <a:spcBef>
                <a:spcPts val="400"/>
              </a:spcBef>
              <a:spcAft>
                <a:spcPts val="0"/>
              </a:spcAft>
              <a:buNone/>
            </a:pPr>
            <a:r>
              <a:rPr lang="en-GB" sz="1200"/>
              <a:t>PAKISTAN CONTEXT: Pakistan's customer analytics landscape is at an inflection point. With 100M+ mobile wallet users, 60M+ bank accounts, and only 1.8 products per customer (vs. 4-5 benchmark), the opportunity for insight-driven customer management is enormous but largely untapped.</a:t>
            </a:r>
            <a:endParaRPr/>
          </a:p>
          <a:p>
            <a:pPr indent="0" lvl="0" marL="0" rtl="0" algn="l">
              <a:spcBef>
                <a:spcPts val="400"/>
              </a:spcBef>
              <a:spcAft>
                <a:spcPts val="0"/>
              </a:spcAft>
              <a:buNone/>
            </a:pPr>
            <a:r>
              <a:rPr lang="en-GB" sz="1200"/>
              <a:t>KEY PAKISTAN DYNAMICS: 1) LOW PRODUCTS/CUSTOMER: 1.8 average -- massive cross-sell opportunity. 2) YOUTH BULGE: 60% under 30 with smartphone-first behavior. 3) FINANCIAL INCLUSION GAP: 30% inclusion. 4) DIGITAL ACCELERATION: 40% YoY growth. 5) ISLAMIC DEMAND: 85% want Shariah-compliant products but only 20% market share. 6) FINTECH COMPETITION: JazzCash, SadaPay, NayaPay offering superior UX.</a:t>
            </a:r>
            <a:endParaRPr/>
          </a:p>
          <a:p>
            <a:pPr indent="0" lvl="0" marL="0" rtl="0" algn="l">
              <a:spcBef>
                <a:spcPts val="400"/>
              </a:spcBef>
              <a:spcAft>
                <a:spcPts val="0"/>
              </a:spcAft>
              <a:buNone/>
            </a:pPr>
            <a:r>
              <a:rPr lang="en-GB" sz="1200"/>
              <a:t>FSDM: Party Management (INDVDL, ORGN, PRTY), Event and Interaction (EVNT, INTN, CHNL), Transaction (TXN, ACCT_TXN), Product (PRDCT, PRDCT_FMLY), Marketing (MKTG_CMPGN, OFFR), Channel (CHNL, CHNL_INTN).</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p4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CAPABILITY AREAS (1/2): This slide lists the first 6 of 10 insight-driven customer management capabilities. Each capability maps directly to FSDM entity domains and BVF sub-capabilities.</a:t>
            </a:r>
            <a:endParaRPr/>
          </a:p>
          <a:p>
            <a:pPr indent="0" lvl="0" marL="0" rtl="0" algn="l">
              <a:spcBef>
                <a:spcPts val="400"/>
              </a:spcBef>
              <a:spcAft>
                <a:spcPts val="0"/>
              </a:spcAft>
              <a:buNone/>
            </a:pPr>
            <a:r>
              <a:rPr lang="en-GB" sz="1200"/>
              <a:t>PAKISTAN APPLICATION: Customer Value and Profitability requires activity-based costing across multi-system environment. Customer Satisfaction Indexing is critical as fintechs raise NPS bar. Customer Experience Analytics must span branch + digital + agent channels. Transaction Classification enables RAAST/IBFT/POS/ATM categorization. Customer Journey Analysis tracks branch-to-digital migration. Event Analytics enables real-time triggers on RAAST and mobile events.</a:t>
            </a:r>
            <a:endParaRPr/>
          </a:p>
          <a:p>
            <a:pPr indent="0" lvl="0" marL="0" rtl="0" algn="l">
              <a:spcBef>
                <a:spcPts val="400"/>
              </a:spcBef>
              <a:spcAft>
                <a:spcPts val="0"/>
              </a:spcAft>
              <a:buNone/>
            </a:pPr>
            <a:r>
              <a:rPr lang="en-GB" sz="1200"/>
              <a:t>IMPLEMENTATION NOTE: Pakistan banks should prioritize capabilities based on data readiness. Customer Segmentation and Transaction Classification can be implemented earliest (data mostly available). Event Analytics and Journey Analysis require real-time data infrastructure investment.</a:t>
            </a:r>
            <a:endParaRPr/>
          </a:p>
        </p:txBody>
      </p:sp>
      <p:sp>
        <p:nvSpPr>
          <p:cNvPr id="961" name="Google Shape;961;p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 name="Shape 967"/>
        <p:cNvGrpSpPr/>
        <p:nvPr/>
      </p:nvGrpSpPr>
      <p:grpSpPr>
        <a:xfrm>
          <a:off x="0" y="0"/>
          <a:ext cx="0" cy="0"/>
          <a:chOff x="0" y="0"/>
          <a:chExt cx="0" cy="0"/>
        </a:xfrm>
      </p:grpSpPr>
      <p:sp>
        <p:nvSpPr>
          <p:cNvPr id="968" name="Google Shape;968;p4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CAPABILITY AREAS (2/2): Remaining 4 capabilities cover Segmentation, Connection Analytics, Behavioral Analytics, and Life Stage. These require more advanced analytics maturity but deliver highest ROI.</a:t>
            </a:r>
            <a:endParaRPr/>
          </a:p>
          <a:p>
            <a:pPr indent="0" lvl="0" marL="0" rtl="0" algn="l">
              <a:spcBef>
                <a:spcPts val="400"/>
              </a:spcBef>
              <a:spcAft>
                <a:spcPts val="0"/>
              </a:spcAft>
              <a:buNone/>
            </a:pPr>
            <a:r>
              <a:rPr lang="en-GB" sz="1200"/>
              <a:t>PAKISTAN SPECIFICS: Customer Segmentation must include value-based, Islamic/conventional, and urban/rural dimensions. Connection Analytics leverages CNIC-based household and IBFT/RAAST transaction flow networks. Behavioral Analytics tracks channel preference, spending behavior, and Islamic product preference. Customer Life Stage must account for youth bulge (60% under 30) and diaspora segment.</a:t>
            </a:r>
            <a:endParaRPr/>
          </a:p>
          <a:p>
            <a:pPr indent="0" lvl="0" marL="0" rtl="0" algn="l">
              <a:spcBef>
                <a:spcPts val="400"/>
              </a:spcBef>
              <a:spcAft>
                <a:spcPts val="0"/>
              </a:spcAft>
              <a:buNone/>
            </a:pPr>
            <a:r>
              <a:rPr lang="en-GB" sz="1200"/>
              <a:t>CROSS-CAPABILITY SYNERGY: These 10 capabilities are interconnected. Customer segmentation feeds into all other capabilities. Event detection triggers journey analysis. Behavioral analytics informs life stage inference. Connection analytics enhances segmentation.</a:t>
            </a:r>
            <a:endParaRPr/>
          </a:p>
        </p:txBody>
      </p:sp>
      <p:sp>
        <p:nvSpPr>
          <p:cNvPr id="969" name="Google Shape;969;p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VALUE AND PROFITABILITY: Activity-based costing at the individual customer level to understand true revenue and cost contribution.</a:t>
            </a:r>
            <a:endParaRPr/>
          </a:p>
          <a:p>
            <a:pPr indent="0" lvl="0" marL="0" rtl="0" algn="l">
              <a:spcBef>
                <a:spcPts val="400"/>
              </a:spcBef>
              <a:spcAft>
                <a:spcPts val="0"/>
              </a:spcAft>
              <a:buNone/>
            </a:pPr>
            <a:r>
              <a:rPr lang="en-GB" sz="1200"/>
              <a:t>PAKISTAN PROFITABILITY CHALLENGES: 1) CASA DEPENDENCY: 47% of deposits in current/savings -- zero/low-cost funding but volatile. 2) SPREAD COMPRESSION: SBP policy rate creates high KIBOR but fierce competition for quality assets. 3) NPL BURDEN: ~7.5% industry NPL ratio erodes customer-level profitability. 4) BRANCH COST: 16,000+ branches with high fixed costs -- branch profitability varies 10x. 5) ISLAMIC COMPLEXITY: Profit-sharing (Mudaraba, Musharaka, Diminishing Musharaka) requires different calculation methodology. 6) DIGITAL DISRUPTION: Digital transactions growing 40% YoY but banks haven't re-allocated cost-to-serve.</a:t>
            </a:r>
            <a:endParaRPr/>
          </a:p>
          <a:p>
            <a:pPr indent="0" lvl="0" marL="0" rtl="0" algn="l">
              <a:spcBef>
                <a:spcPts val="400"/>
              </a:spcBef>
              <a:spcAft>
                <a:spcPts val="0"/>
              </a:spcAft>
              <a:buNone/>
            </a:pPr>
            <a:r>
              <a:rPr lang="en-GB" sz="1200"/>
              <a:t>FSDM: CSTMR_PRFTBLTY (Customer Profitability), ACTVTY_BSS_CST (Activity Based Cost), PRDCT_PRFTBLTY (Product Profitability), CHNL_CST (Channel Cost), RVNU (Revenue), EXPNS (Expense), FND_TRFR_PRC (Funds Transfer Pricing).</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 name="Shape 1005"/>
        <p:cNvGrpSpPr/>
        <p:nvPr/>
      </p:nvGrpSpPr>
      <p:grpSpPr>
        <a:xfrm>
          <a:off x="0" y="0"/>
          <a:ext cx="0" cy="0"/>
          <a:chOff x="0" y="0"/>
          <a:chExt cx="0" cy="0"/>
        </a:xfrm>
      </p:grpSpPr>
      <p:sp>
        <p:nvSpPr>
          <p:cNvPr id="1006" name="Google Shape;1006;p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07" name="Google Shape;1007;p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8" name="Google Shape;1008;p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Customer Value and Profitability: Most Pakistan banks at Developing/Emerging level. Profitability calculated at product level using averages, not activity-based costing at customer level.</a:t>
            </a:r>
            <a:endParaRPr/>
          </a:p>
          <a:p>
            <a:pPr indent="0" lvl="0" marL="0" rtl="0" algn="l">
              <a:spcBef>
                <a:spcPts val="400"/>
              </a:spcBef>
              <a:spcAft>
                <a:spcPts val="0"/>
              </a:spcAft>
              <a:buNone/>
            </a:pPr>
            <a:r>
              <a:rPr lang="en-GB" sz="1200"/>
              <a:t>KEY IMPROVEMENT AREAS: Activity-based costing engine across multi-system environment. Customer-level P&amp;L incorporating Islamic product profit-sharing. Integration of digital channel costs (mobile banking, internet banking, RAAST). Branch-level profitability analysis across 16,000+ locations.</a:t>
            </a:r>
            <a:endParaRPr/>
          </a:p>
          <a:p>
            <a:pPr indent="0" lvl="0" marL="0" rtl="0" algn="l">
              <a:spcBef>
                <a:spcPts val="400"/>
              </a:spcBef>
              <a:spcAft>
                <a:spcPts val="0"/>
              </a:spcAft>
              <a:buNone/>
            </a:pPr>
            <a:r>
              <a:rPr lang="en-GB" sz="1200"/>
              <a:t>IMPLEMENTATION TIMELINE: H1 2025 -- H2 2026. Phase 1: Product-level profitability model. Phase 2: Customer-level cost allocation. Phase 3: Real-time profitability dashboard with branch/channel drill-down.</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SATISFACTION INDEXING: Systematic measurement and management of customer satisfaction across all channels and touchpoints.</a:t>
            </a:r>
            <a:endParaRPr/>
          </a:p>
          <a:p>
            <a:pPr indent="0" lvl="0" marL="0" rtl="0" algn="l">
              <a:spcBef>
                <a:spcPts val="400"/>
              </a:spcBef>
              <a:spcAft>
                <a:spcPts val="0"/>
              </a:spcAft>
              <a:buNone/>
            </a:pPr>
            <a:r>
              <a:rPr lang="en-GB" sz="1200"/>
              <a:t>PAKISTAN NPS CONTEXT: Traditional Pakistan banks score 20-30 NPS vs. fintechs at 60-70 (SadaPay ~70). This gap is driving customer migration to digital-only providers. SBP Consumer Protection Department receives 10,000+ complaints annually -- this data is underutilized as a satisfaction signal.</a:t>
            </a:r>
            <a:endParaRPr/>
          </a:p>
          <a:p>
            <a:pPr indent="0" lvl="0" marL="0" rtl="0" algn="l">
              <a:spcBef>
                <a:spcPts val="400"/>
              </a:spcBef>
              <a:spcAft>
                <a:spcPts val="0"/>
              </a:spcAft>
              <a:buNone/>
            </a:pPr>
            <a:r>
              <a:rPr lang="en-GB" sz="1200"/>
              <a:t>KEY OPPORTUNITY: Mobile banking app data (login frequency, feature usage, session duration, error rates) provides continuous satisfaction signals without survey fatigue. App store ratings and social media sentiment offer additional real-time feedback.</a:t>
            </a:r>
            <a:endParaRPr/>
          </a:p>
          <a:p>
            <a:pPr indent="0" lvl="0" marL="0" rtl="0" algn="l">
              <a:spcBef>
                <a:spcPts val="400"/>
              </a:spcBef>
              <a:spcAft>
                <a:spcPts val="0"/>
              </a:spcAft>
              <a:buNone/>
            </a:pPr>
            <a:r>
              <a:rPr lang="en-GB" sz="1200"/>
              <a:t>FSDM: CSTMR_STSFCTN (Customer Satisfaction), SRVY (Survey), SRVY_RSPNS (Survey Response), CMPLNT (Complaint), CSTMR_FDBCK (Customer Feedback), INTN (Interaction), NPS_SCR (Net Promoter Score).</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 name="Shape 1049"/>
        <p:cNvGrpSpPr/>
        <p:nvPr/>
      </p:nvGrpSpPr>
      <p:grpSpPr>
        <a:xfrm>
          <a:off x="0" y="0"/>
          <a:ext cx="0" cy="0"/>
          <a:chOff x="0" y="0"/>
          <a:chExt cx="0" cy="0"/>
        </a:xfrm>
      </p:grpSpPr>
      <p:sp>
        <p:nvSpPr>
          <p:cNvPr id="1050" name="Google Shape;1050;p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51" name="Google Shape;1051;p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2" name="Google Shape;1052;p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Customer Satisfaction Indexing: Current level is Developing (survey-based only). Target is Innovating (cross-channel real-time satisfaction tracking).</a:t>
            </a:r>
            <a:endParaRPr/>
          </a:p>
          <a:p>
            <a:pPr indent="0" lvl="0" marL="0" rtl="0" algn="l">
              <a:spcBef>
                <a:spcPts val="400"/>
              </a:spcBef>
              <a:spcAft>
                <a:spcPts val="0"/>
              </a:spcAft>
              <a:buNone/>
            </a:pPr>
            <a:r>
              <a:rPr lang="en-GB" sz="1200"/>
              <a:t>PAKISTAN REALITY: Satisfaction measurement is primarily survey-based. Very few banks integrate cross-channel interaction data. Emerging fintech benchmarks have highlighted the satisfaction gap significantly.</a:t>
            </a:r>
            <a:endParaRPr/>
          </a:p>
          <a:p>
            <a:pPr indent="0" lvl="0" marL="0" rtl="0" algn="l">
              <a:spcBef>
                <a:spcPts val="400"/>
              </a:spcBef>
              <a:spcAft>
                <a:spcPts val="0"/>
              </a:spcAft>
              <a:buNone/>
            </a:pPr>
            <a:r>
              <a:rPr lang="en-GB" sz="1200"/>
              <a:t>TIMELINE: H2 2025 -- H1 2026. Priority: Integrate mobile app analytics with branch feedback systems. Deploy continuous NPS tracking. Link SBP complaint data to customer satisfaction profiles.</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EXPERIENCE ANALYTICS: Measuring and predicting customer perception of service quality across all interaction channels.</a:t>
            </a:r>
            <a:endParaRPr/>
          </a:p>
          <a:p>
            <a:pPr indent="0" lvl="0" marL="0" rtl="0" algn="l">
              <a:spcBef>
                <a:spcPts val="400"/>
              </a:spcBef>
              <a:spcAft>
                <a:spcPts val="0"/>
              </a:spcAft>
              <a:buNone/>
            </a:pPr>
            <a:r>
              <a:rPr lang="en-GB" sz="1200"/>
              <a:t>PAKISTAN CX CHALLENGE: Serving a bifurcated customer base: 1) URBAN DIGITAL: 40% prefer mobile/internet banking, expect fintech-level UX. 2) RURAL/BRANCH: 60% rely on branch/agent networks, expect personal relationship banking. 3) AGENT BANKING: 500,000+ branchless agents are primary touchpoint for financial inclusion customers.</a:t>
            </a:r>
            <a:endParaRPr/>
          </a:p>
          <a:p>
            <a:pPr indent="0" lvl="0" marL="0" rtl="0" algn="l">
              <a:spcBef>
                <a:spcPts val="400"/>
              </a:spcBef>
              <a:spcAft>
                <a:spcPts val="0"/>
              </a:spcAft>
              <a:buNone/>
            </a:pPr>
            <a:r>
              <a:rPr lang="en-GB" sz="1200"/>
              <a:t>INTEGRATION CHALLENGE: Most banks measure branch satisfaction and digital satisfaction separately with no cross-channel view. WhatsApp banking is emerging as important channel in Pakistan but not yet integrated into CX analytics.</a:t>
            </a:r>
            <a:endParaRPr/>
          </a:p>
          <a:p>
            <a:pPr indent="0" lvl="0" marL="0" rtl="0" algn="l">
              <a:spcBef>
                <a:spcPts val="400"/>
              </a:spcBef>
              <a:spcAft>
                <a:spcPts val="0"/>
              </a:spcAft>
              <a:buNone/>
            </a:pPr>
            <a:r>
              <a:rPr lang="en-GB" sz="1200"/>
              <a:t>FSDM: CSTMR_EXPRNC (Customer Experience), CSTMR_JRNY (Customer Journey), TCHPNT (Touchpoint), CHNL_INTN (Channel Interaction), SVC_RQST (Service Request), CSTMR_CMPLN (Customer Complaint).</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 name="Shape 1093"/>
        <p:cNvGrpSpPr/>
        <p:nvPr/>
      </p:nvGrpSpPr>
      <p:grpSpPr>
        <a:xfrm>
          <a:off x="0" y="0"/>
          <a:ext cx="0" cy="0"/>
          <a:chOff x="0" y="0"/>
          <a:chExt cx="0" cy="0"/>
        </a:xfrm>
      </p:grpSpPr>
      <p:sp>
        <p:nvSpPr>
          <p:cNvPr id="1094" name="Google Shape;1094;p49: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5" name="Google Shape;1095;p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6" name="Google Shape;1096;p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Customer Experience Analytics: Most banks at Developing level with siloed channel satisfaction measurement. No unified cross-channel experience metric exists at most institutions.</a:t>
            </a:r>
            <a:endParaRPr/>
          </a:p>
          <a:p>
            <a:pPr indent="0" lvl="0" marL="0" rtl="0" algn="l">
              <a:spcBef>
                <a:spcPts val="400"/>
              </a:spcBef>
              <a:spcAft>
                <a:spcPts val="0"/>
              </a:spcAft>
              <a:buNone/>
            </a:pPr>
            <a:r>
              <a:rPr lang="en-GB" sz="1200"/>
              <a:t>TARGET STATE: Innovating level with unified CX platform spanning branch (16,000+), ATM (16,000+), mobile app, agent network (500,000+), and digital channels. Real-time experience scoring with automated escalation.</a:t>
            </a:r>
            <a:endParaRPr/>
          </a:p>
          <a:p>
            <a:pPr indent="0" lvl="0" marL="0" rtl="0" algn="l">
              <a:spcBef>
                <a:spcPts val="400"/>
              </a:spcBef>
              <a:spcAft>
                <a:spcPts val="0"/>
              </a:spcAft>
              <a:buNone/>
            </a:pPr>
            <a:r>
              <a:rPr lang="en-GB" sz="1200"/>
              <a:t>PRIORITY: Implement unified CX measurement framework. Integrate digital onboarding experience tracking with branch satisfaction data. Deploy e-KYC journey analytics including NADRA biometric verification steps.</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TRANSACTION CLASSIFICATION: Categorizing and enriching financial transactions to reveal customer behavior, needs, and life events.</a:t>
            </a:r>
            <a:endParaRPr/>
          </a:p>
          <a:p>
            <a:pPr indent="0" lvl="0" marL="0" rtl="0" algn="l">
              <a:spcBef>
                <a:spcPts val="400"/>
              </a:spcBef>
              <a:spcAft>
                <a:spcPts val="0"/>
              </a:spcAft>
              <a:buNone/>
            </a:pPr>
            <a:r>
              <a:rPr lang="en-GB" sz="1200"/>
              <a:t>PAKISTAN TRANSACTION CONTEXT: Particularly valuable because: 1) SALARY DETECTION: Only 30% of workforce has formal employment -- salary credit identification enables income verification for 70% who lack salary slips. 2) RAAST DATA: 50M+ monthly transactions -- classifying by purpose reveals customer intent. 3) IBFT PATTERNS: Self-transfers between own accounts at different banks reveal multi-banking behavior. 4) MOBILE WALLET: JazzCash/Easypaisa show spending for 100M+ users outside formal banking. 5) UTILITY BILLS: Bill payment amounts reveal household size, location, income level. 6) REMITTANCE: Pakistan receives $30B+ annual remittances -- classifying inflows reveals diaspora relationships.</a:t>
            </a:r>
            <a:endParaRPr/>
          </a:p>
          <a:p>
            <a:pPr indent="0" lvl="0" marL="0" rtl="0" algn="l">
              <a:spcBef>
                <a:spcPts val="400"/>
              </a:spcBef>
              <a:spcAft>
                <a:spcPts val="0"/>
              </a:spcAft>
              <a:buNone/>
            </a:pPr>
            <a:r>
              <a:rPr lang="en-GB" sz="1200"/>
              <a:t>KEY CATEGORIES: Salary/Income, Rent/Housing, Utility (K-Electric, SSGC, PTCL), Education (seasonal school fees), Healthcare, Religious (Zakat, Sadaqah, Hajj/Umrah), Remittance (Gulf, UK, US), Government (tax, passport, CNIC).</a:t>
            </a:r>
            <a:endParaRPr/>
          </a:p>
          <a:p>
            <a:pPr indent="0" lvl="0" marL="0" rtl="0" algn="l">
              <a:spcBef>
                <a:spcPts val="400"/>
              </a:spcBef>
              <a:spcAft>
                <a:spcPts val="0"/>
              </a:spcAft>
              <a:buNone/>
            </a:pPr>
            <a:r>
              <a:rPr lang="en-GB" sz="1200"/>
              <a:t>FSDM: TXN (Transaction), TXN_CLSFCTN (Transaction Classification), TXN_CTGRY (Transaction Category), ACCT_TXN (Account Transaction), PMT (Payment), MRCHNT (Merchant), MCC (Merchant Category Code).</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p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39" name="Google Shape;1139;p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 name="Google Shape;1140;p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Transaction Classification: Most banks at Emerging/Developing. Basic transaction types exist (credit/debit) but purpose-based classification is rare. No ML-based categorization deployed at scale.</a:t>
            </a:r>
            <a:endParaRPr/>
          </a:p>
          <a:p>
            <a:pPr indent="0" lvl="0" marL="0" rtl="0" algn="l">
              <a:spcBef>
                <a:spcPts val="400"/>
              </a:spcBef>
              <a:spcAft>
                <a:spcPts val="0"/>
              </a:spcAft>
              <a:buNone/>
            </a:pPr>
            <a:r>
              <a:rPr lang="en-GB" sz="1200"/>
              <a:t>QUICK WIN: Salary credit detection using pattern matching (regular credits on days 1-5 of month) can be implemented immediately and enables income verification for lending. This alone can transform the lending process for 70% of informal workforce.</a:t>
            </a:r>
            <a:endParaRPr/>
          </a:p>
          <a:p>
            <a:pPr indent="0" lvl="0" marL="0" rtl="0" algn="l">
              <a:spcBef>
                <a:spcPts val="400"/>
              </a:spcBef>
              <a:spcAft>
                <a:spcPts val="0"/>
              </a:spcAft>
              <a:buNone/>
            </a:pPr>
            <a:r>
              <a:rPr lang="en-GB" sz="1200"/>
              <a:t>PRIORITY: Build transaction classification engine for RAAST, IBFT, POS, ATM, and mobile wallet transactions. Enable salary detection, spending categorization, and remittance identification.</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JOURNEY ANALYSIS: Identifying and analyzing sequences of customer interactions across channels and over time.</a:t>
            </a:r>
            <a:endParaRPr/>
          </a:p>
          <a:p>
            <a:pPr indent="0" lvl="0" marL="0" rtl="0" algn="l">
              <a:spcBef>
                <a:spcPts val="400"/>
              </a:spcBef>
              <a:spcAft>
                <a:spcPts val="0"/>
              </a:spcAft>
              <a:buNone/>
            </a:pPr>
            <a:r>
              <a:rPr lang="en-GB" sz="1200"/>
              <a:t>CRITICAL PAKISTAN JOURNEYS: 1) DIGITAL ONBOARDING: CNIC verification to NADRA biometric to video KYC to account activation. Current: 15-30 min, target: &lt;5 min. Dropoff: 40-60% at biometric step. 2) BRANCH-TO-DIGITAL: Walk-in to ATM to mobile app to digital-primary. Currently &lt;20% adopt digital, target 50%+. 3) FINANCIAL INCLUSION: Agent account to first deposit to first IBFT to savings. SBP NFIS target: 70M unbanked by 2028. 4) CROSS-SELL: CASA-only to debit card to credit card to personal loan. Current 1.8 products, target 4-5. 5) ISLAMIC CONVERSION: Conventional to awareness to first Islamic deposit to full Islamic relationship.</a:t>
            </a:r>
            <a:endParaRPr/>
          </a:p>
          <a:p>
            <a:pPr indent="0" lvl="0" marL="0" rtl="0" algn="l">
              <a:spcBef>
                <a:spcPts val="400"/>
              </a:spcBef>
              <a:spcAft>
                <a:spcPts val="0"/>
              </a:spcAft>
              <a:buNone/>
            </a:pPr>
            <a:r>
              <a:rPr lang="en-GB" sz="1200"/>
              <a:t>FSDM: CSTMR_JRNY (Customer Journey), JRNY_STP (Journey Step), EVNT_SEQ (Event Sequence), CHNL_TRNSTN (Channel Transition), TCHPNT_SEQ (Touchpoint Sequence), PTH_ANLYS (Path Analysis).</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p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83" name="Google Shape;1183;p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84" name="Google Shape;1184;p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Customer Journey Analysis: Most banks at Emerging level. Customer journeys are not mapped or measured systematically. Digital and branch journeys are tracked separately if at all.</a:t>
            </a:r>
            <a:endParaRPr/>
          </a:p>
          <a:p>
            <a:pPr indent="0" lvl="0" marL="0" rtl="0" algn="l">
              <a:spcBef>
                <a:spcPts val="400"/>
              </a:spcBef>
              <a:spcAft>
                <a:spcPts val="0"/>
              </a:spcAft>
              <a:buNone/>
            </a:pPr>
            <a:r>
              <a:rPr lang="en-GB" sz="1200"/>
              <a:t>REGIONAL COMPARISON: India's UPI-enabled banks track payment journeys in real-time. UAE digital banks (Liv, Neo) have comprehensive digital journey analytics. Saudi banks using Open Banking API data for cross-institution journey mapping.</a:t>
            </a:r>
            <a:endParaRPr/>
          </a:p>
          <a:p>
            <a:pPr indent="0" lvl="0" marL="0" rtl="0" algn="l">
              <a:spcBef>
                <a:spcPts val="400"/>
              </a:spcBef>
              <a:spcAft>
                <a:spcPts val="0"/>
              </a:spcAft>
              <a:buNone/>
            </a:pPr>
            <a:r>
              <a:rPr lang="en-GB" sz="1200"/>
              <a:t>PRIORITY: Map top 5 customer journeys (onboarding, digital migration, cross-sell, churn, financial inclusion). Implement cross-channel journey tracking. Deploy journey analytics dashboard with real-time dropoff detection.</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EVENT ANALYTICS: Systematic approach to detect customer events and trigger relevant interactions in real-time or near-real-time.</a:t>
            </a:r>
            <a:endParaRPr/>
          </a:p>
          <a:p>
            <a:pPr indent="0" lvl="0" marL="0" rtl="0" algn="l">
              <a:spcBef>
                <a:spcPts val="400"/>
              </a:spcBef>
              <a:spcAft>
                <a:spcPts val="0"/>
              </a:spcAft>
              <a:buNone/>
            </a:pPr>
            <a:r>
              <a:rPr lang="en-GB" sz="1200"/>
              <a:t>HIGH-VALUE PAKISTAN EVENTS: INCOME EVENTS: Salary credit (days 1-5, trigger cross-sell), remittance receipt from Gulf/UK/US (trigger forex, investment, home finance). SPENDING EVENTS: Large education payment (trigger education financing), healthcare spike (trigger health insurance). LIFE EVENTS: Address change (branch reassignment), first salary (new job benefits). DIGITAL EVENTS: First RAAST transaction (digital adoption features), mobile app download without activation (nurture). RISK EVENTS: Sudden large outflows (potential churn, trigger retention), multiple failed logins (security risk).</a:t>
            </a:r>
            <a:endParaRPr/>
          </a:p>
          <a:p>
            <a:pPr indent="0" lvl="0" marL="0" rtl="0" algn="l">
              <a:spcBef>
                <a:spcPts val="400"/>
              </a:spcBef>
              <a:spcAft>
                <a:spcPts val="0"/>
              </a:spcAft>
              <a:buNone/>
            </a:pPr>
            <a:r>
              <a:rPr lang="en-GB" sz="1200"/>
              <a:t>FSDM: EVNT (Event), EVNT_DTCTN (Event Detection), EVNT_TYP (Event Type), EVNT_ACTN (Event Action), TRGR (Trigger), ALRT (Alert), CSTMR_EVNT (Customer Event).</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5" name="Shape 1225"/>
        <p:cNvGrpSpPr/>
        <p:nvPr/>
      </p:nvGrpSpPr>
      <p:grpSpPr>
        <a:xfrm>
          <a:off x="0" y="0"/>
          <a:ext cx="0" cy="0"/>
          <a:chOff x="0" y="0"/>
          <a:chExt cx="0" cy="0"/>
        </a:xfrm>
      </p:grpSpPr>
      <p:sp>
        <p:nvSpPr>
          <p:cNvPr id="1226" name="Google Shape;1226;p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27" name="Google Shape;1227;p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28" name="Google Shape;1228;p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Event Analytics: Most banks at Emerging level. No real-time event detection deployed. Basic batch-based triggers (e.g., dormancy alerts) exist at some banks.</a:t>
            </a:r>
            <a:endParaRPr/>
          </a:p>
          <a:p>
            <a:pPr indent="0" lvl="0" marL="0" rtl="0" algn="l">
              <a:spcBef>
                <a:spcPts val="400"/>
              </a:spcBef>
              <a:spcAft>
                <a:spcPts val="0"/>
              </a:spcAft>
              <a:buNone/>
            </a:pPr>
            <a:r>
              <a:rPr lang="en-GB" sz="1200"/>
              <a:t>INFRASTRUCTURE GAP: Real-time event detection requires streaming data infrastructure (Kafka, Flink, Spark Streaming) which fewer than 5% of Pakistan banks have deployed. Most operate on batch ETL with nightly/weekly data loads.</a:t>
            </a:r>
            <a:endParaRPr/>
          </a:p>
          <a:p>
            <a:pPr indent="0" lvl="0" marL="0" rtl="0" algn="l">
              <a:spcBef>
                <a:spcPts val="400"/>
              </a:spcBef>
              <a:spcAft>
                <a:spcPts val="0"/>
              </a:spcAft>
              <a:buNone/>
            </a:pPr>
            <a:r>
              <a:rPr lang="en-GB" sz="1200"/>
              <a:t>PRIORITY: Start with batch-based event detection (salary credits, large balance changes, dormancy signals). Then build real-time capabilities for RAAST/IBFT events. Target: event-triggered marketing for top 10 customer events within 18 months.</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SEGMENTATION: Defining and subdividing the customer base into clearly identifiable segments with similar needs, behaviors, or characteristics.</a:t>
            </a:r>
            <a:endParaRPr/>
          </a:p>
          <a:p>
            <a:pPr indent="0" lvl="0" marL="0" rtl="0" algn="l">
              <a:spcBef>
                <a:spcPts val="400"/>
              </a:spcBef>
              <a:spcAft>
                <a:spcPts val="0"/>
              </a:spcAft>
              <a:buNone/>
            </a:pPr>
            <a:r>
              <a:rPr lang="en-GB" sz="1200"/>
              <a:t>PAKISTAN MULTI-DIMENSIONAL MODEL: DIMENSION 1 -- VALUE: Mass (&lt;PKR 500K, 70% customers, 15% revenue), Emerging Affluent (500K-5M, 20%, 35%), Priority (5M-50M, 8%, 30%), HNW/UHNW (50M+, 2%, 20%). DIMENSION 2 -- BEHAVIORAL: Digital First (&lt;25, mobile-primary), Hybrid (25-45), Branch Dependent (45+), Agent Banking (rural). DIMENSION 3 -- PRODUCT NEED: Savings, Borrowing, Investment, Trade, Islamic. DIMENSION 4 -- GEOGRAPHIC: Tier 1 Urban (Karachi, Lahore, Islamabad), Tier 2, Tier 3, Rural.</a:t>
            </a:r>
            <a:endParaRPr/>
          </a:p>
          <a:p>
            <a:pPr indent="0" lvl="0" marL="0" rtl="0" algn="l">
              <a:spcBef>
                <a:spcPts val="400"/>
              </a:spcBef>
              <a:spcAft>
                <a:spcPts val="0"/>
              </a:spcAft>
              <a:buNone/>
            </a:pPr>
            <a:r>
              <a:rPr lang="en-GB" sz="1200"/>
              <a:t>KEY INSIGHT: 85% of Pakistanis want Shariah-compliant products but only 20% market share -- Islamic preference segmentation is critical for Pakistan banking strategy.</a:t>
            </a:r>
            <a:endParaRPr/>
          </a:p>
          <a:p>
            <a:pPr indent="0" lvl="0" marL="0" rtl="0" algn="l">
              <a:spcBef>
                <a:spcPts val="400"/>
              </a:spcBef>
              <a:spcAft>
                <a:spcPts val="0"/>
              </a:spcAft>
              <a:buNone/>
            </a:pPr>
            <a:r>
              <a:rPr lang="en-GB" sz="1200"/>
              <a:t>FSDM: SGMNT (Segment), CSTMR_SGMNT (Customer Segment), SGMNT_CRTRA (Segment Criteria), CLSTR (Cluster), CSTMR_CLSFCTN (Customer Classification).</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9" name="Shape 1269"/>
        <p:cNvGrpSpPr/>
        <p:nvPr/>
      </p:nvGrpSpPr>
      <p:grpSpPr>
        <a:xfrm>
          <a:off x="0" y="0"/>
          <a:ext cx="0" cy="0"/>
          <a:chOff x="0" y="0"/>
          <a:chExt cx="0" cy="0"/>
        </a:xfrm>
      </p:grpSpPr>
      <p:sp>
        <p:nvSpPr>
          <p:cNvPr id="1270" name="Google Shape;1270;p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71" name="Google Shape;1271;p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72" name="Google Shape;1272;p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Customer Segmentation: Most banks at Developing level. Basic segments exist (retail, corporate, SME) but no multi-dimensional value-based segmentation. Islamic preference not systematically identified.</a:t>
            </a:r>
            <a:endParaRPr/>
          </a:p>
          <a:p>
            <a:pPr indent="0" lvl="0" marL="0" rtl="0" algn="l">
              <a:spcBef>
                <a:spcPts val="400"/>
              </a:spcBef>
              <a:spcAft>
                <a:spcPts val="0"/>
              </a:spcAft>
              <a:buNone/>
            </a:pPr>
            <a:r>
              <a:rPr lang="en-GB" sz="1200"/>
              <a:t>QUICK WIN: Build value-based segmentation using existing balance and transaction data. Add geographic dimension using CNIC area code (first 5 digits). Layer Islamic preference detection from product holdings.</a:t>
            </a:r>
            <a:endParaRPr/>
          </a:p>
          <a:p>
            <a:pPr indent="0" lvl="0" marL="0" rtl="0" algn="l">
              <a:spcBef>
                <a:spcPts val="400"/>
              </a:spcBef>
              <a:spcAft>
                <a:spcPts val="0"/>
              </a:spcAft>
              <a:buNone/>
            </a:pPr>
            <a:r>
              <a:rPr lang="en-GB" sz="1200"/>
              <a:t>TARGET: Multi-dimensional segmentation model covering value, behavior, geography, product need, Islamic preference, and life stage. Refresh frequency: weekly for behavioral, monthly for value, quarterly for strategic.</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CONNECTION ANALYTICS: Understanding the networks, relationships, and social connections between customers to gain deeper insight.</a:t>
            </a:r>
            <a:endParaRPr/>
          </a:p>
          <a:p>
            <a:pPr indent="0" lvl="0" marL="0" rtl="0" algn="l">
              <a:spcBef>
                <a:spcPts val="400"/>
              </a:spcBef>
              <a:spcAft>
                <a:spcPts val="0"/>
              </a:spcAft>
              <a:buNone/>
            </a:pPr>
            <a:r>
              <a:rPr lang="en-GB" sz="1200"/>
              <a:t>PAKISTAN UNIQUE OPPORTUNITIES: 1) CNIC LINKAGE: First 5 digits encode geographic area -- family members in same household share similar CNIC prefix and address, enabling automated household identification. 2) IBFT/RAAST NETWORKS: Transaction flow analysis reveals who transfers money to whom, building social graphs without social media data. 3) JOINT ACCOUNTS: Multiple signatories on business accounts reveal corporate networks. 4) AGENT BANKING: Agent-to-customer patterns reveal rural community structures. 5) REMITTANCE CORRIDORS: Inbound patterns from Gulf/UK/US reveal diaspora family networks.</a:t>
            </a:r>
            <a:endParaRPr/>
          </a:p>
          <a:p>
            <a:pPr indent="0" lvl="0" marL="0" rtl="0" algn="l">
              <a:spcBef>
                <a:spcPts val="400"/>
              </a:spcBef>
              <a:spcAft>
                <a:spcPts val="0"/>
              </a:spcAft>
              <a:buNone/>
            </a:pPr>
            <a:r>
              <a:rPr lang="en-GB" sz="1200"/>
              <a:t>AML/CFT APPLICATION: Connection analytics is critical for detecting hawala networks, structuring (smurfing), and beneficial ownership chains -- directly supporting SBP's FATF compliance requirements.</a:t>
            </a:r>
            <a:endParaRPr/>
          </a:p>
          <a:p>
            <a:pPr indent="0" lvl="0" marL="0" rtl="0" algn="l">
              <a:spcBef>
                <a:spcPts val="400"/>
              </a:spcBef>
              <a:spcAft>
                <a:spcPts val="0"/>
              </a:spcAft>
              <a:buNone/>
            </a:pPr>
            <a:r>
              <a:rPr lang="en-GB" sz="1200"/>
              <a:t>FSDM: IP_RLTNP (Inter-Party Relationship), RLTNP_TYP (Relationship Type), NTWRK (Network), CNCTN (Connection), INFLNCR (Influencer), GRP (Group), HHLD (Household).</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3" name="Shape 1313"/>
        <p:cNvGrpSpPr/>
        <p:nvPr/>
      </p:nvGrpSpPr>
      <p:grpSpPr>
        <a:xfrm>
          <a:off x="0" y="0"/>
          <a:ext cx="0" cy="0"/>
          <a:chOff x="0" y="0"/>
          <a:chExt cx="0" cy="0"/>
        </a:xfrm>
      </p:grpSpPr>
      <p:sp>
        <p:nvSpPr>
          <p:cNvPr id="1314" name="Google Shape;1314;p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15" name="Google Shape;1315;p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16" name="Google Shape;1316;p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Customer Connection Analytics: Most banks at Emerging level. Household relationships captured manually during onboarding but not systematically analyzed. No automated network detection.</a:t>
            </a:r>
            <a:endParaRPr/>
          </a:p>
          <a:p>
            <a:pPr indent="0" lvl="0" marL="0" rtl="0" algn="l">
              <a:spcBef>
                <a:spcPts val="400"/>
              </a:spcBef>
              <a:spcAft>
                <a:spcPts val="0"/>
              </a:spcAft>
              <a:buNone/>
            </a:pPr>
            <a:r>
              <a:rPr lang="en-GB" sz="1200"/>
              <a:t>QUICK WIN: CNIC-based household mapping using address and name matching algorithms. Can identify 80%+ of family relationships without additional data collection.</a:t>
            </a:r>
            <a:endParaRPr/>
          </a:p>
          <a:p>
            <a:pPr indent="0" lvl="0" marL="0" rtl="0" algn="l">
              <a:spcBef>
                <a:spcPts val="400"/>
              </a:spcBef>
              <a:spcAft>
                <a:spcPts val="0"/>
              </a:spcAft>
              <a:buNone/>
            </a:pPr>
            <a:r>
              <a:rPr lang="en-GB" sz="1200"/>
              <a:t>ADVANCED: Build transaction-based social graphs from IBFT/RAAST flows. Detect business networks from corporate account signatories. Identify community influencers in agent banking networks for financial inclusion referral programs.</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BEHAVIORAL/PREFERENCE ANALYTICS: Translating observable customer interactions into insights about overall behavior and preferences.</a:t>
            </a:r>
            <a:endParaRPr/>
          </a:p>
          <a:p>
            <a:pPr indent="0" lvl="0" marL="0" rtl="0" algn="l">
              <a:spcBef>
                <a:spcPts val="400"/>
              </a:spcBef>
              <a:spcAft>
                <a:spcPts val="0"/>
              </a:spcAft>
              <a:buNone/>
            </a:pPr>
            <a:r>
              <a:rPr lang="en-GB" sz="1200"/>
              <a:t>PAKISTAN BEHAVIORAL PATTERNS: 1) SEASONAL SPENDING: Marked spikes during Ramadan, Eid-ul-Fitr, Eid-ul-Adha, wedding season (Nov-Feb), back-to-school (August). 2) ISLAMIC PREFERENCE SIGNAL: Customers avoiding interest-based FDs, using Qard-e-Hasna accounts, or making Zakat payments signal Islamic preference. 3) REMITTANCE BEHAVIOR: Regular inbound recipients show distinct spending -- lump-sum post-receipt, property savings, children's education. 4) DIGITAL MIGRATION: Track branch-only to first ATM to first mobile login to first RAAST to first QR payment. 5) CASH vs. DIGITAL: High ATM withdrawals indicate cash preference -- opportunity for POS/QR nudges.</a:t>
            </a:r>
            <a:endParaRPr/>
          </a:p>
          <a:p>
            <a:pPr indent="0" lvl="0" marL="0" rtl="0" algn="l">
              <a:spcBef>
                <a:spcPts val="400"/>
              </a:spcBef>
              <a:spcAft>
                <a:spcPts val="0"/>
              </a:spcAft>
              <a:buNone/>
            </a:pPr>
            <a:r>
              <a:rPr lang="en-GB" sz="1200"/>
              <a:t>FSDM: BHVR (Behavior), PREF (Preference), CSTMR_BHVR (Customer Behavior), BHVR_SCRD (Behavior Scorecard), BHVR_CHNG (Behavior Change), CHNL_PREF (Channel Preference).</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p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59" name="Google Shape;1359;p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60" name="Google Shape;1360;p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Behavioral/Preference Analytics: Most banks at Developing level. Basic channel usage tracked but no behavioral scoring or preference inference models deployed.</a:t>
            </a:r>
            <a:endParaRPr/>
          </a:p>
          <a:p>
            <a:pPr indent="0" lvl="0" marL="0" rtl="0" algn="l">
              <a:spcBef>
                <a:spcPts val="400"/>
              </a:spcBef>
              <a:spcAft>
                <a:spcPts val="0"/>
              </a:spcAft>
              <a:buNone/>
            </a:pPr>
            <a:r>
              <a:rPr lang="en-GB" sz="1200"/>
              <a:t>KEY OPPORTUNITY: Seasonal behavior analytics (Ramadan, Eid, wedding season) enables timing-optimized offers. Islamic preference detection enables conversion of 85% want-Shariah customers to full Islamic banking. Digital adoption tracking enables targeted digital migration campaigns.</a:t>
            </a:r>
            <a:endParaRPr/>
          </a:p>
          <a:p>
            <a:pPr indent="0" lvl="0" marL="0" rtl="0" algn="l">
              <a:spcBef>
                <a:spcPts val="400"/>
              </a:spcBef>
              <a:spcAft>
                <a:spcPts val="0"/>
              </a:spcAft>
              <a:buNone/>
            </a:pPr>
            <a:r>
              <a:rPr lang="en-GB" sz="1200"/>
              <a:t>PRIORITY: Build behavioral scoring models for channel preference, spending persona, and Islamic preference. Deploy seasonal campaign optimization. Implement digital adoption curve tracking for branch-to-digital migration.</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LIFE STAGE: Understanding where customers are in their life journey to provide relevant, timely products and services.</a:t>
            </a:r>
            <a:endParaRPr/>
          </a:p>
          <a:p>
            <a:pPr indent="0" lvl="0" marL="0" rtl="0" algn="l">
              <a:spcBef>
                <a:spcPts val="400"/>
              </a:spcBef>
              <a:spcAft>
                <a:spcPts val="0"/>
              </a:spcAft>
              <a:buNone/>
            </a:pPr>
            <a:r>
              <a:rPr lang="en-GB" sz="1200"/>
              <a:t>PAKISTAN LIFE STAGES: 1) YOUTH BULGE: 60% of 220M population under 30 -- Student and Young Professional segments are enormous. 2) EARLY MARRIAGE: Median age 22 (women)/26 (men) -- Family Formation starts earlier than Western markets. 3) LARGE FAMILIES: Average household 6.7 -- multi-generational households with complex financial relationships. 4) DIASPORA: 9M+ overseas Pakistanis sending $30B+ annually -- distinct life stage with unique needs (Roshan Digital Account). 5) INFORMAL ECONOMY: 70% workforce informal -- life stage inference from transaction patterns more valuable than self-reported data. 6) ISLAMIC LIFECYCLE: Hajj, Umrah, Zakat, Qurbani create additional life-stage markers.</a:t>
            </a:r>
            <a:endParaRPr/>
          </a:p>
          <a:p>
            <a:pPr indent="0" lvl="0" marL="0" rtl="0" algn="l">
              <a:spcBef>
                <a:spcPts val="400"/>
              </a:spcBef>
              <a:spcAft>
                <a:spcPts val="0"/>
              </a:spcAft>
              <a:buNone/>
            </a:pPr>
            <a:r>
              <a:rPr lang="en-GB" sz="1200"/>
              <a:t>DETECTION SIGNALS: First salary = Young Professional. Joint account + large gift inflows = Marriage. School fee payments = Growing Family. Hajj savings account = Established. Pension credits = Retirement. RDA opening = Diaspora.</a:t>
            </a:r>
            <a:endParaRPr/>
          </a:p>
          <a:p>
            <a:pPr indent="0" lvl="0" marL="0" rtl="0" algn="l">
              <a:spcBef>
                <a:spcPts val="400"/>
              </a:spcBef>
              <a:spcAft>
                <a:spcPts val="0"/>
              </a:spcAft>
              <a:buNone/>
            </a:pPr>
            <a:r>
              <a:rPr lang="en-GB" sz="1200"/>
              <a:t>FSDM: LF_STG (Life Stage), CSTMR_LF_STG (Customer Life Stage), LF_EVNT (Life Event), DMGRPHC (Demographic), AGE_GRP (Age Group), INCM_BRKT (Income Bracket).</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 name="Shape 1401"/>
        <p:cNvGrpSpPr/>
        <p:nvPr/>
      </p:nvGrpSpPr>
      <p:grpSpPr>
        <a:xfrm>
          <a:off x="0" y="0"/>
          <a:ext cx="0" cy="0"/>
          <a:chOff x="0" y="0"/>
          <a:chExt cx="0" cy="0"/>
        </a:xfrm>
      </p:grpSpPr>
      <p:sp>
        <p:nvSpPr>
          <p:cNvPr id="1402" name="Google Shape;1402;p6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03" name="Google Shape;1403;p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04" name="Google Shape;1404;p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spcBef>
                <a:spcPts val="400"/>
              </a:spcBef>
              <a:spcAft>
                <a:spcPts val="0"/>
              </a:spcAft>
              <a:buNone/>
            </a:pPr>
            <a:r>
              <a:rPr lang="en-GB" sz="1200"/>
              <a:t>MATURITY ASSESSMENT - Customer Life Stage: Most banks at Emerging level. Age groups used as proxy for life stage but no event-based life stage detection. Transaction pattern analysis for life event detection is not deployed.</a:t>
            </a:r>
            <a:endParaRPr/>
          </a:p>
          <a:p>
            <a:pPr indent="0" lvl="0" marL="0" rtl="0" algn="l">
              <a:spcBef>
                <a:spcPts val="400"/>
              </a:spcBef>
              <a:spcAft>
                <a:spcPts val="0"/>
              </a:spcAft>
              <a:buNone/>
            </a:pPr>
            <a:r>
              <a:rPr lang="en-GB" sz="1200"/>
              <a:t>QUICK WIN: Define 8 Pakistan-specific life stages (Student, Young Professional, Family Formation, Growing Family, Established, Pre-Retirement, Retirement, Diaspora). Build detection rules using transaction patterns (salary credits, school fees, marriage spending, Hajj savings, pension credits, RDA activity).</a:t>
            </a:r>
            <a:endParaRPr/>
          </a:p>
          <a:p>
            <a:pPr indent="0" lvl="0" marL="0" rtl="0" algn="l">
              <a:spcBef>
                <a:spcPts val="400"/>
              </a:spcBef>
              <a:spcAft>
                <a:spcPts val="0"/>
              </a:spcAft>
              <a:buNone/>
            </a:pPr>
            <a:r>
              <a:rPr lang="en-GB" sz="1200"/>
              <a:t>TARGET: Automated life stage detection and progression tracking. Life stage-based product recommendation engine. Life event-triggered marketing campaigns.</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CUSTOMER LIFECYCLE MANAGEMENT OVERVIEW: Managing the complete customer journey from acquisition through onboarding, growth, retention, and potential re-engagement. This section introduces 7 CLM capabilities -- detailed slides are in File 04.</a:t>
            </a:r>
            <a:endParaRPr/>
          </a:p>
          <a:p>
            <a:pPr indent="0" lvl="0" marL="0" rtl="0" algn="l">
              <a:spcBef>
                <a:spcPts val="400"/>
              </a:spcBef>
              <a:spcAft>
                <a:spcPts val="0"/>
              </a:spcAft>
              <a:buNone/>
            </a:pPr>
            <a:r>
              <a:rPr lang="en-GB" sz="1200"/>
              <a:t>PAKISTAN CLM CRITICAL FACTORS: 1) ACQUISITION COST: Branch-based costs PKR 3,000-5,000 per customer vs. digital PKR 500-1,000 -- 5x difference. 2) DORMANCY CRISIS: ~15M dormant accounts across the industry. 3) FINTECH THREAT: SadaPay acquired 2M+ customers in 2 years with zero branches. 4) CROSS-SELL GAP: 1.8 products/customer vs. 4-5 benchmark = 2-3x revenue opportunity. 5) RETENTION ECONOMICS: New customer acquisition costs 5-7x more than retention.</a:t>
            </a:r>
            <a:endParaRPr/>
          </a:p>
          <a:p>
            <a:pPr indent="0" lvl="0" marL="0" rtl="0" algn="l">
              <a:spcBef>
                <a:spcPts val="400"/>
              </a:spcBef>
              <a:spcAft>
                <a:spcPts val="0"/>
              </a:spcAft>
              <a:buNone/>
            </a:pPr>
            <a:r>
              <a:rPr lang="en-GB" sz="1200"/>
              <a:t>FSDM: CSTMR_LFCYCL (Customer Lifecycle), ACQSTN (Acquisition), ONBRDNG (Onboarding), RTNTN (Retention), CHRN (Churn), LYLTY (Loyalty), XSL (Cross-Sell).</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4" name="Shape 1424"/>
        <p:cNvGrpSpPr/>
        <p:nvPr/>
      </p:nvGrpSpPr>
      <p:grpSpPr>
        <a:xfrm>
          <a:off x="0" y="0"/>
          <a:ext cx="0" cy="0"/>
          <a:chOff x="0" y="0"/>
          <a:chExt cx="0" cy="0"/>
        </a:xfrm>
      </p:grpSpPr>
      <p:sp>
        <p:nvSpPr>
          <p:cNvPr id="1425" name="Google Shape;1425;p6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rPr lang="en-GB" sz="1200"/>
              <a:t>CLM CAPABILITY AREAS: 7 capabilities covering the full customer lifecycle. Each capability has detailed slides in File 04.</a:t>
            </a:r>
            <a:endParaRPr/>
          </a:p>
          <a:p>
            <a:pPr indent="0" lvl="0" marL="0" rtl="0" algn="l">
              <a:spcBef>
                <a:spcPts val="400"/>
              </a:spcBef>
              <a:spcAft>
                <a:spcPts val="0"/>
              </a:spcAft>
              <a:buNone/>
            </a:pPr>
            <a:r>
              <a:rPr lang="en-GB" sz="1200"/>
              <a:t>PAKISTAN PRIORITIES: Customer Acquisition should focus on digital onboarding (e-KYC via NADRA) and agent-led financial inclusion. On-Boarding must enable CNIC-based instant account opening with biometric verification. Retention requires salary account lock-in and relationship pricing. Churn detection must compete with fintech migration. Re-engagement targets 15M+ dormant accounts. Loyalty programs (HBL Konnect, UBL Rewards) need Islamic alternatives. Cross-sell must build CASA to Cards to Loans to Insurance to Investment pipeline.</a:t>
            </a:r>
            <a:endParaRPr/>
          </a:p>
          <a:p>
            <a:pPr indent="0" lvl="0" marL="0" rtl="0" algn="l">
              <a:spcBef>
                <a:spcPts val="400"/>
              </a:spcBef>
              <a:spcAft>
                <a:spcPts val="0"/>
              </a:spcAft>
              <a:buNone/>
            </a:pPr>
            <a:r>
              <a:rPr lang="en-GB" sz="1200"/>
              <a:t>NOTE: Detailed implementation content for each CLM capability is provided in File 04 (Customer Lifecycle Management). This file provides the strategic context and overview only.</a:t>
            </a:r>
            <a:endParaRPr/>
          </a:p>
        </p:txBody>
      </p:sp>
      <p:sp>
        <p:nvSpPr>
          <p:cNvPr id="1426" name="Google Shape;1426;p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cNvSpPr>
            <a:spLocks noGrp="1" noRot="1" noChangeAspect="1"/>
          </p:cNvSpPr>
          <p:nvPr>
            <p:ph type="sldImg"/>
          </p:nvPr>
        </p:nvSpPr>
        <p:spPr/>
      </p:sp>
      <p:sp>
        <p:nvSpPr>
          <p:cNvPr id="3" name="Notes"/>
          <p:cNvSpPr txBox="1"/>
          <p:nvPr>
            <p:ph idx="1" type="body"/>
          </p:nvPr>
        </p:nvSpPr>
        <p:spPr/>
        <p:txBody>
          <a:bodyPr/>
          <a:lstStyle/>
          <a:p>
            <a:pPr indent="0" lvl="0" marL="0" rtl="0" algn="l">
              <a:spcBef>
                <a:spcPts val="400"/>
              </a:spcBef>
              <a:spcAft>
                <a:spcPts val="0"/>
              </a:spcAft>
              <a:buNone/>
            </a:pPr>
            <a:r>
              <a:rPr lang="en-GB" sz="1200"/>
              <a:t>DASHBOARD SLIDE: This at-a-glance comparison shows the significant gap between Pakistan and global/regional benchmarks in customer analytics maturity. The data highlights both the challenge (low adoption) and the opportunity (massive room for growth).</a:t>
            </a:r>
            <a:endParaRPr/>
          </a:p>
          <a:p>
            <a:pPr indent="0" lvl="0" marL="0" rtl="0" algn="l">
              <a:spcBef>
                <a:spcPts val="400"/>
              </a:spcBef>
              <a:spcAft>
                <a:spcPts val="0"/>
              </a:spcAft>
              <a:buNone/>
            </a:pPr>
            <a:r>
              <a:rPr lang="en-GB" sz="1200"/>
              <a:t>KEY INSIGHT: Pakistan's unique advantages - CNIC universal ID (98% coverage), RAAST instant payments, and massive youth population (60% under 30) - provide a foundation for leapfrogging traditional analytics approaches if properly leveraged.</a:t>
            </a:r>
            <a:endParaRPr/>
          </a:p>
          <a:p>
            <a:pPr indent="0" lvl="0" marL="0" rtl="0" algn="l">
              <a:spcBef>
                <a:spcPts val="400"/>
              </a:spcBef>
              <a:spcAft>
                <a:spcPts val="0"/>
              </a:spcAft>
              <a:buNone/>
            </a:pPr>
            <a:r>
              <a:rPr lang="en-GB" sz="1200"/>
              <a:t>DATA SOURCES: Global figures from Gartner, McKinsey, and MarketsandMarkets reports (2024-2025). Pakistan data from SBP Annual Report, PBA statistics, and industry surveys. Regional data from respective central bank publications.</a:t>
            </a:r>
            <a:endParaRPr/>
          </a:p>
          <a:p>
            <a:pPr indent="0" lvl="0" marL="0" rtl="0" algn="l">
              <a:spcBef>
                <a:spcPts val="400"/>
              </a:spcBef>
              <a:spcAft>
                <a:spcPts val="0"/>
              </a:spcAft>
              <a:buNone/>
            </a:pPr>
            <a:r>
              <a:rPr lang="en-GB" sz="1200"/>
              <a:t>FSDM COVERAGE: This domain spans Party Management (INDVDL, ORGN, PRTY), Event and Interaction (EVNT, INTN, CHNL), Transaction (TXN, ACCT_TXN), Product (PRDCT), Marketing (MKTG_CMPGN), and Channel (CHNL) domains - approximately 200+ entities from the 3,917 total in FSDM v16.</a:t>
            </a:r>
            <a:endParaRPr/>
          </a:p>
        </p:txBody>
      </p:sp>
    </p:spTree>
  </p:cSld>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cNvSpPr>
            <a:spLocks noGrp="1" noRot="1" noChangeAspect="1"/>
          </p:cNvSpPr>
          <p:nvPr>
            <p:ph type="sldImg"/>
          </p:nvPr>
        </p:nvSpPr>
        <p:spPr/>
      </p:sp>
      <p:sp>
        <p:nvSpPr>
          <p:cNvPr id="3" name="Notes"/>
          <p:cNvSpPr txBox="1"/>
          <p:nvPr>
            <p:ph idx="1" type="body"/>
          </p:nvPr>
        </p:nvSpPr>
        <p:spPr/>
        <p:txBody>
          <a:bodyPr/>
          <a:lstStyle/>
          <a:p>
            <a:pPr indent="0" lvl="0" marL="0" rtl="0" algn="l">
              <a:spcBef>
                <a:spcPts val="400"/>
              </a:spcBef>
              <a:spcAft>
                <a:spcPts val="0"/>
              </a:spcAft>
              <a:buNone/>
            </a:pPr>
            <a:r>
              <a:rPr lang="en-GB" sz="1200"/>
              <a:t>PAKISTAN MARKET CONTEXT: This slide provides essential background for understanding why customer analytics capabilities need to be specifically tailored for Pakistan's unique banking environment. The combination of low financial inclusion, high mobile wallet adoption, and universal CNIC coverage creates an analytics environment unlike any other market.</a:t>
            </a:r>
            <a:endParaRPr/>
          </a:p>
          <a:p>
            <a:pPr indent="0" lvl="0" marL="0" rtl="0" algn="l">
              <a:spcBef>
                <a:spcPts val="400"/>
              </a:spcBef>
              <a:spcAft>
                <a:spcPts val="0"/>
              </a:spcAft>
              <a:buNone/>
            </a:pPr>
            <a:r>
              <a:rPr lang="en-GB" sz="1200"/>
              <a:t>REGULATORY CONTEXT: SBP's Digital Banking Framework (2022), NFIS (National Financial Inclusion Strategy) targets, and FATF compliance requirements are all driving investment in customer analytics. Banks that invest in customer data infrastructure now will have competitive advantage as regulations increasingly mandate data-driven risk assessment and customer understanding.</a:t>
            </a:r>
            <a:endParaRPr/>
          </a:p>
          <a:p>
            <a:pPr indent="0" lvl="0" marL="0" rtl="0" algn="l">
              <a:spcBef>
                <a:spcPts val="400"/>
              </a:spcBef>
              <a:spcAft>
                <a:spcPts val="0"/>
              </a:spcAft>
              <a:buNone/>
            </a:pPr>
            <a:r>
              <a:rPr lang="en-GB" sz="1200"/>
              <a:t>COMPETITIVE DYNAMICS: The entry of 5 digital bank licensees (2022), combined with aggressive expansion by JazzCash, SadaPay, and NayaPay, is creating urgency for traditional banks to improve their customer analytics capabilities. Fintechs are acquiring customers at 5-10x lower cost and achieving 3-5x better NPS scores.</a:t>
            </a:r>
            <a:endParaRPr/>
          </a:p>
          <a:p>
            <a:pPr indent="0" lvl="0" marL="0" rtl="0" algn="l">
              <a:spcBef>
                <a:spcPts val="400"/>
              </a:spcBef>
              <a:spcAft>
                <a:spcPts val="0"/>
              </a:spcAft>
              <a:buNone/>
            </a:pPr>
            <a:r>
              <a:rPr lang="en-GB" sz="1200"/>
              <a:t>PRESENTATION TIP: Use this slide to set context before diving into individual capability details. Emphasize the gap between Pakistan's current state and the benchmark to motivate investment in the capabilities covered in the following slides.</a:t>
            </a:r>
            <a:endParaRPr/>
          </a:p>
        </p:txBody>
      </p:sp>
    </p:spTree>
  </p:cSld>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cNvSpPr>
            <a:spLocks noGrp="1" noRot="1" noChangeAspect="1"/>
          </p:cNvSpPr>
          <p:nvPr>
            <p:ph type="sldImg"/>
          </p:nvPr>
        </p:nvSpPr>
        <p:spPr/>
      </p:sp>
      <p:sp>
        <p:nvSpPr>
          <p:cNvPr id="3" name="Notes"/>
          <p:cNvSpPr txBox="1"/>
          <p:nvPr>
            <p:ph idx="1" type="body"/>
          </p:nvPr>
        </p:nvSpPr>
        <p:spPr/>
        <p:txBody>
          <a:bodyPr/>
          <a:lstStyle/>
          <a:p>
            <a:pPr indent="0" lvl="0" marL="0" rtl="0" algn="l">
              <a:spcBef>
                <a:spcPts val="400"/>
              </a:spcBef>
              <a:spcAft>
                <a:spcPts val="0"/>
              </a:spcAft>
              <a:buNone/>
            </a:pPr>
            <a:r>
              <a:rPr lang="en-GB" sz="1200"/>
              <a:t>IMPLEMENTATION ROADMAP: This phased approach balances quick wins with long-term strategic capability building. Phase 1 focuses on data foundation (CNIC-based customer master), Phase 2 builds core analytics (profitability, journey, classification), and Phase 3 delivers advanced intelligence (real-time events, ML models, network analytics).</a:t>
            </a:r>
            <a:endParaRPr/>
          </a:p>
          <a:p>
            <a:pPr indent="0" lvl="0" marL="0" rtl="0" algn="l">
              <a:spcBef>
                <a:spcPts val="400"/>
              </a:spcBef>
              <a:spcAft>
                <a:spcPts val="0"/>
              </a:spcAft>
              <a:buNone/>
            </a:pPr>
            <a:r>
              <a:rPr lang="en-GB" sz="1200"/>
              <a:t>INVESTMENT CONTEXT: Total PKR 300-580M over 36 months is comparable to a single core banking system upgrade but delivers cross-system analytics value. ROI is driven primarily by cross-sell improvement (1.8 to 3.0+ products per customer = potential 60-70% revenue uplift from existing customers).</a:t>
            </a:r>
            <a:endParaRPr/>
          </a:p>
          <a:p>
            <a:pPr indent="0" lvl="0" marL="0" rtl="0" algn="l">
              <a:spcBef>
                <a:spcPts val="400"/>
              </a:spcBef>
              <a:spcAft>
                <a:spcPts val="0"/>
              </a:spcAft>
              <a:buNone/>
            </a:pPr>
            <a:r>
              <a:rPr lang="en-GB" sz="1200"/>
              <a:t>DEPENDENCIES: Phase 1 is critical foundation -- without CNIC-based customer deduplication, all downstream analytics produce unreliable results. Phase 2 requires Phase 1 data foundation. Phase 3 requires streaming data infrastructure (Kafka/Flink) and data science team (3-5 senior data scientists).</a:t>
            </a:r>
            <a:endParaRPr/>
          </a:p>
          <a:p>
            <a:pPr indent="0" lvl="0" marL="0" rtl="0" algn="l">
              <a:spcBef>
                <a:spcPts val="400"/>
              </a:spcBef>
              <a:spcAft>
                <a:spcPts val="0"/>
              </a:spcAft>
              <a:buNone/>
            </a:pPr>
            <a:r>
              <a:rPr lang="en-GB" sz="1200"/>
              <a:t>RISK FACTORS: Key risks include core banking vendor cooperation (4-5 different vendors), data quality (historical CNIC data gaps), organizational change management (analytics-driven vs. relationship-driven banking culture), and talent availability (limited data engineering and data science talent pool in Pakistan).</a:t>
            </a:r>
            <a:endParaRPr/>
          </a:p>
        </p:txBody>
      </p:sp>
    </p:spTree>
  </p:cSld>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6.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8.xml"/><Relationship Id="rId3" Type="http://schemas.openxmlformats.org/officeDocument/2006/relationships/slide" Target="slide1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xml"/><Relationship Id="rId3" Type="http://schemas.openxmlformats.org/officeDocument/2006/relationships/slide" Target="slide1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2.xml"/><Relationship Id="rId3" Type="http://schemas.openxmlformats.org/officeDocument/2006/relationships/image" Target="../media/image21.jpg"/><Relationship Id="rId4" Type="http://schemas.openxmlformats.org/officeDocument/2006/relationships/slide" Target="slide1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3.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5.xml"/><Relationship Id="rId3" Type="http://schemas.openxmlformats.org/officeDocument/2006/relationships/slide" Target="slide1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7.xml"/><Relationship Id="rId3" Type="http://schemas.openxmlformats.org/officeDocument/2006/relationships/slide" Target="slide1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xml"/><Relationship Id="rId3" Type="http://schemas.openxmlformats.org/officeDocument/2006/relationships/slide" Target="slide1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1.xml"/><Relationship Id="rId3" Type="http://schemas.openxmlformats.org/officeDocument/2006/relationships/slide" Target="slide1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3.xml"/><Relationship Id="rId3" Type="http://schemas.openxmlformats.org/officeDocument/2006/relationships/slide" Target="slide1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5.xml"/><Relationship Id="rId3" Type="http://schemas.openxmlformats.org/officeDocument/2006/relationships/slide" Target="slide1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7.xml"/><Relationship Id="rId3" Type="http://schemas.openxmlformats.org/officeDocument/2006/relationships/slide" Target="slide1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xml"/><Relationship Id="rId3" Type="http://schemas.openxmlformats.org/officeDocument/2006/relationships/slide" Target="slide1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1.xml"/><Relationship Id="rId3" Type="http://schemas.openxmlformats.org/officeDocument/2006/relationships/slide" Target="slide1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3.xml"/><Relationship Id="rId3" Type="http://schemas.openxmlformats.org/officeDocument/2006/relationships/slide" Target="slide1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5.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_rels/slide620.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20.xml"/></Relationships>
</file>

<file path=ppt/slides/_rels/slide621.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21.xml"/></Relationships>
</file>

<file path=ppt/slides/_rels/slide622.xml.rels><?xml version='1.0' encoding='UTF-8' standalone='yes'?><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22.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 name="Shape 881"/>
        <p:cNvGrpSpPr/>
        <p:nvPr/>
      </p:nvGrpSpPr>
      <p:grpSpPr>
        <a:xfrm>
          <a:off x="0" y="0"/>
          <a:ext cx="0" cy="0"/>
          <a:chOff x="0" y="0"/>
          <a:chExt cx="0" cy="0"/>
        </a:xfrm>
      </p:grpSpPr>
      <p:sp>
        <p:nvSpPr>
          <p:cNvPr id="882" name="Google Shape;882;p66"/>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169863" lvl="0" marL="169863" rtl="0" algn="l">
              <a:lnSpc>
                <a:spcPct val="110000"/>
              </a:lnSpc>
              <a:spcBef>
                <a:spcPts val="800"/>
              </a:spcBef>
              <a:spcAft>
                <a:spcPts val="0"/>
              </a:spcAft>
              <a:buClr>
                <a:schemeClr val="dk1"/>
              </a:buClr>
              <a:buSzPts val="1400"/>
              <a:buChar char="•"/>
            </a:pPr>
            <a:r>
              <a:rPr lang="en-GB" sz="1400"/>
              <a:t>Single View Of Customer</a:t>
            </a:r>
            <a:endParaRPr/>
          </a:p>
          <a:p>
            <a:pPr indent="-230187" lvl="1" marL="515938" rtl="0" algn="l">
              <a:lnSpc>
                <a:spcPct val="110000"/>
              </a:lnSpc>
              <a:spcBef>
                <a:spcPts val="400"/>
              </a:spcBef>
              <a:spcAft>
                <a:spcPts val="0"/>
              </a:spcAft>
              <a:buClr>
                <a:schemeClr val="dk1"/>
              </a:buClr>
              <a:buSzPts val="1200"/>
              <a:buChar char="–"/>
            </a:pPr>
            <a:r>
              <a:rPr lang="en-GB" sz="1200"/>
              <a:t>Leverage CNIC as universal customer key to build single customer view across 4-5 core systems, conventional and Islamic banking divisions, and digital channels (RAAST, IBFT, mobile wallets)</a:t>
            </a:r>
            <a:endParaRPr/>
          </a:p>
          <a:p>
            <a:pPr indent="-169863" lvl="0" marL="169863" rtl="0" algn="l">
              <a:lnSpc>
                <a:spcPct val="110000"/>
              </a:lnSpc>
              <a:spcBef>
                <a:spcPts val="800"/>
              </a:spcBef>
              <a:spcAft>
                <a:spcPts val="0"/>
              </a:spcAft>
              <a:buClr>
                <a:schemeClr val="dk1"/>
              </a:buClr>
              <a:buSzPts val="1400"/>
              <a:buChar char="•"/>
            </a:pPr>
            <a:r>
              <a:rPr lang="en-GB" sz="1400"/>
              <a:t>Multi-Dimensional Customer View</a:t>
            </a:r>
            <a:endParaRPr/>
          </a:p>
          <a:p>
            <a:pPr indent="-230187" lvl="1" marL="515938" rtl="0" algn="l">
              <a:lnSpc>
                <a:spcPct val="110000"/>
              </a:lnSpc>
              <a:spcBef>
                <a:spcPts val="400"/>
              </a:spcBef>
              <a:spcAft>
                <a:spcPts val="0"/>
              </a:spcAft>
              <a:buClr>
                <a:schemeClr val="dk1"/>
              </a:buClr>
              <a:buSzPts val="1200"/>
              <a:buChar char="–"/>
            </a:pPr>
            <a:r>
              <a:rPr lang="en-GB" sz="1200"/>
              <a:t>Build 360-degree customer view integrating branch, ATM, POS, mobile banking, RAAST, IBFT, and branchless agent networks — linking 60M+ bank accounts with 100M+ mobile wallet users</a:t>
            </a:r>
            <a:endParaRPr/>
          </a:p>
          <a:p>
            <a:pPr indent="-153987" lvl="1" marL="515938" rtl="0" algn="l">
              <a:lnSpc>
                <a:spcPct val="110000"/>
              </a:lnSpc>
              <a:spcBef>
                <a:spcPts val="400"/>
              </a:spcBef>
              <a:spcAft>
                <a:spcPts val="0"/>
              </a:spcAft>
              <a:buClr>
                <a:schemeClr val="dk1"/>
              </a:buClr>
              <a:buSzPts val="1200"/>
              <a:buNone/>
            </a:pPr>
            <a:r>
              <a:t/>
            </a:r>
            <a:endParaRPr sz="1200"/>
          </a:p>
        </p:txBody>
      </p:sp>
      <p:sp>
        <p:nvSpPr>
          <p:cNvPr id="883" name="Google Shape;883;p66"/>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pic>
        <p:nvPicPr>
          <p:cNvPr descr="COM-1013-L.jpg" id="884" name="Google Shape;884;p66"/>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85" name="Google Shape;885;p6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Leverage CNIC as universal customer key across all product lines, channels, and banking divisions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Map household relationships using CNIC linkage and shared address matching</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Enable consistent treatment across conventional and Islamic banking divisions and digital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CNIC (13-digit), NADRA biometric verification, mobile number linkage, RAAST ID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duplicate customer records (typical Pakistan bank has 20-30% duplication across 4-5 core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Enable SBP regulatory reporting with consistent customer counts and unified view across Islamic/conventional</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 name="Shape 908"/>
        <p:cNvGrpSpPr/>
        <p:nvPr/>
      </p:nvGrpSpPr>
      <p:grpSpPr>
        <a:xfrm>
          <a:off x="0" y="0"/>
          <a:ext cx="0" cy="0"/>
          <a:chOff x="0" y="0"/>
          <a:chExt cx="0" cy="0"/>
        </a:xfrm>
      </p:grpSpPr>
      <p:graphicFrame>
        <p:nvGraphicFramePr>
          <p:cNvPr id="909" name="Google Shape;909;p6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One definition of a customer (and its associated hierarchies) across the enterprise, regardless of functional application. A large percentage of customers are identified and the channel experience is coordinated across all channels. Able to determine the customers value and depth of relationship across the company and by business unit.  Interactions of unknown customer is captured and leveraged for personalization. Ability to resolve known and unknown customers and merge customer records using a variety of core customer data attributes and matching techniques.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One company wide definition of customer and organisation. Customer is identified and addressed the same across the company. A significant percentage of customers can be identified by recent transaction, interactions and segment and treated consistently across channels. Near real time updating of customer identity following changes to core customer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One company wide definition of customer and organisation. Customer is identified and addressed the same across the company. Interactions are captured for both known (identified) customers and unknown  (cookie or device ID). Includes additional data such as demographics. Customers are identified individually and by household. Batch updates of changes leads to data latency in the single customer view.</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One company wide definition of customer widely accepted, but still with some non-associated functions having differing definitions. All transactions are identified by customer id. Batch updates of changes leads to data latency in the single customer view.</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No clean source of integrated customer information. View of the customer is not well defined and is inconsistent across business units. Many definitions of organisation and associated subject areas such as channel. Interactions are not captured across all channels.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NADRA biometric integration for e-KYC verification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Branchless banking identity linkage (JazzCash, Easypaisa)</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20-30% duplicate customer records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SBP regulatory reporting with consistent customer counts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Unified view across conventional and Islamic product holdings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10" name="Google Shape;910;p68"/>
          <p:cNvGrpSpPr/>
          <p:nvPr/>
        </p:nvGrpSpPr>
        <p:grpSpPr>
          <a:xfrm>
            <a:off x="469900" y="3839136"/>
            <a:ext cx="8455025" cy="732866"/>
            <a:chOff x="211138" y="3972860"/>
            <a:chExt cx="8713787" cy="642437"/>
          </a:xfrm>
        </p:grpSpPr>
        <p:sp>
          <p:nvSpPr>
            <p:cNvPr id="911" name="Google Shape;911;p6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2" name="Google Shape;912;p6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913" name="Google Shape;913;p68"/>
          <p:cNvGrpSpPr/>
          <p:nvPr/>
        </p:nvGrpSpPr>
        <p:grpSpPr>
          <a:xfrm>
            <a:off x="7971865" y="980278"/>
            <a:ext cx="949325" cy="2867825"/>
            <a:chOff x="7941888" y="1062037"/>
            <a:chExt cx="983037" cy="2695575"/>
          </a:xfrm>
        </p:grpSpPr>
        <p:sp>
          <p:nvSpPr>
            <p:cNvPr id="914" name="Google Shape;914;p6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5" name="Google Shape;915;p6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916" name="Google Shape;916;p6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solidFill>
                <a:schemeClr val="accent6"/>
              </a:solidFill>
            </a:endParaRPr>
          </a:p>
        </p:txBody>
      </p:sp>
      <p:sp>
        <p:nvSpPr>
          <p:cNvPr id="917" name="Google Shape;917;p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customer 360 across branch, ATM, mobile, IBFT/RAAST, POS, and internet banking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 mobile wallet data (JazzCash, Easypaisa) for thin-file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 events across digital channels (app usage, USSD, QR payments)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RAAST instant payments, IBFT transfers, 1Link ATM/POS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Mobile banking app events (login, bill pay, fund transfer, biometric auth)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credit bureau (ECIB) inquiry data; utility payments (K-Electric, SSGC, PTCL)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True 360 view for 60M+ bank accounts linked with 100M+ mobile wallet users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Cross-sell from conventional to Islamic products and vice versa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salary-to-lending-to-investment lifecycle opportunities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0" name="Shape 940"/>
        <p:cNvGrpSpPr/>
        <p:nvPr/>
      </p:nvGrpSpPr>
      <p:grpSpPr>
        <a:xfrm>
          <a:off x="0" y="0"/>
          <a:ext cx="0" cy="0"/>
          <a:chOff x="0" y="0"/>
          <a:chExt cx="0" cy="0"/>
        </a:xfrm>
      </p:grpSpPr>
      <p:graphicFrame>
        <p:nvGraphicFramePr>
          <p:cNvPr id="941" name="Google Shape;941;p7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Full transactional data is loaded. Detailed clickstream data is loaded in near real time. A wide variety of events and interactions are captured and made available for analytics. Additional text sources such as social media, click to chat and reviews are loaded.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Detail level clickstream data is loaded intraday. Event table is defined and automated feeds of some types of interactions and events are loaded daily.  Capture and load limited text data sources such as call center transcripts and customer emails and surveys. Additional derived customer attributes such as lifetime value and satisfactions are added.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6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Some transactional and product data feeds move to intra-day. Click stream data from core sites is loaded at the detail level daily. Advanced analytics are leveraged to calculate and store derived attributes such as customer revenue and propensity to purchase products. Begin to identify key events and interactions to be integrated into the multi-dimensional view.</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Core feeds of product and transactional data on a daily basis. Daily loading of click stream data from core sites including tagging and ability to identify user sessions. Data is aggregated to allow summary and dashboard reporting. Interaction data continues to be stored separately</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core feeds of product and transactional data  on weekly basis. Summary online channel data available for both authenticated and non-authenticated sites also loaded on a weekly basis. Detailed click stream not collected or loaded. Interaction data, such as marketing, often stored separately. All data loaded by traditional batch methods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Mobile banking app event capture in enterprise data warehouse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Cross-channel interaction consolidation (branch, ATM, digital, agent)</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True 360 view linking 60M bank accounts with 100M+ mobile wallets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Real-time customer insight vs. current batch-based (daily/weekly)</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Cross-sell from conventional to Islamic products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42" name="Google Shape;942;p70"/>
          <p:cNvGrpSpPr/>
          <p:nvPr/>
        </p:nvGrpSpPr>
        <p:grpSpPr>
          <a:xfrm>
            <a:off x="469900" y="3839136"/>
            <a:ext cx="8455025" cy="732866"/>
            <a:chOff x="211138" y="3972860"/>
            <a:chExt cx="8713787" cy="642437"/>
          </a:xfrm>
        </p:grpSpPr>
        <p:sp>
          <p:nvSpPr>
            <p:cNvPr id="943" name="Google Shape;943;p7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4" name="Google Shape;944;p7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945" name="Google Shape;945;p70"/>
          <p:cNvGrpSpPr/>
          <p:nvPr/>
        </p:nvGrpSpPr>
        <p:grpSpPr>
          <a:xfrm>
            <a:off x="7971865" y="980278"/>
            <a:ext cx="949325" cy="2867825"/>
            <a:chOff x="7941888" y="1062037"/>
            <a:chExt cx="983037" cy="2695575"/>
          </a:xfrm>
        </p:grpSpPr>
        <p:sp>
          <p:nvSpPr>
            <p:cNvPr id="946" name="Google Shape;946;p7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7" name="Google Shape;947;p7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948" name="Google Shape;948;p7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solidFill>
                <a:schemeClr val="accent6"/>
              </a:solidFill>
            </a:endParaRPr>
          </a:p>
        </p:txBody>
      </p:sp>
      <p:sp>
        <p:nvSpPr>
          <p:cNvPr id="949" name="Google Shape;949;p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through unique customer insights — critical as Pakistan's 33 banks compete for 60M account holders with average 1.8 products per customer</a:t>
            </a:r>
            <a:endParaRPr sz="1200"/>
          </a:p>
          <a:p>
            <a:pPr indent="-169863" lvl="0" marL="169863" rtl="0" algn="l">
              <a:lnSpc>
                <a:spcPct val="95000"/>
              </a:lnSpc>
              <a:spcBef>
                <a:spcPts val="600"/>
              </a:spcBef>
              <a:spcAft>
                <a:spcPts val="0"/>
              </a:spcAft>
              <a:buClr>
                <a:schemeClr val="dk1"/>
              </a:buClr>
              <a:buSzPts val="1200"/>
              <a:buChar char="•"/>
            </a:pPr>
            <a:r>
              <a:rPr lang="en-GB" sz="1200"/>
              <a:t>Enables personalization for 60% under-30 population who expect digital-first, relevant experiences</a:t>
            </a:r>
            <a:endParaRPr/>
          </a:p>
          <a:p>
            <a:pPr indent="-169863" lvl="0" marL="169863" rtl="0" algn="l">
              <a:lnSpc>
                <a:spcPct val="95000"/>
              </a:lnSpc>
              <a:spcBef>
                <a:spcPts val="600"/>
              </a:spcBef>
              <a:spcAft>
                <a:spcPts val="0"/>
              </a:spcAft>
              <a:buClr>
                <a:schemeClr val="dk1"/>
              </a:buClr>
              <a:buSzPts val="1200"/>
              <a:buChar char="•"/>
            </a:pPr>
            <a:r>
              <a:rPr lang="en-GB" sz="1200"/>
              <a:t>Provides insights to improve both customer interactions and compliance — SBP requires customer understanding for risk-based KYC and AML/CFT</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across branch (16,000+), ATM (16,000+), mobile app, and digital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to compete with fintech challengers (SadaPay, NayaPay) who have 10x better NPS scores</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Leverage advanced analytics across Pakistan's unique channel mix — 16,000+ branches, 500,000+ branchless agents, and rapidly growing digital channels — to transform customer data into actionable insights that drive 3x cross-sell improvement</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 name="Shape 962"/>
        <p:cNvGrpSpPr/>
        <p:nvPr/>
      </p:nvGrpSpPr>
      <p:grpSpPr>
        <a:xfrm>
          <a:off x="0" y="0"/>
          <a:ext cx="0" cy="0"/>
          <a:chOff x="0" y="0"/>
          <a:chExt cx="0" cy="0"/>
        </a:xfrm>
      </p:grpSpPr>
      <p:sp>
        <p:nvSpPr>
          <p:cNvPr id="963" name="Google Shape;963;p72"/>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110000"/>
              </a:lnSpc>
              <a:spcBef>
                <a:spcPts val="800"/>
              </a:spcBef>
              <a:spcAft>
                <a:spcPts val="0"/>
              </a:spcAft>
              <a:buClr>
                <a:schemeClr val="dk1"/>
              </a:buClr>
              <a:buSzPts val="1200"/>
              <a:buNone/>
            </a:pPr>
            <a:r>
              <a:rPr b="1" lang="en-GB" sz="1200"/>
              <a:t>Customer Value &amp; Profitability </a:t>
            </a:r>
            <a:r>
              <a:rPr lang="en-GB" sz="1100"/>
              <a:t>targeting new prospects and manage customers based on value — activity-based costing across multi-system environmentential</a:t>
            </a:r>
            <a:endParaRPr/>
          </a:p>
          <a:p>
            <a:pPr indent="0" lvl="0" marL="0" rtl="0" algn="l">
              <a:lnSpc>
                <a:spcPct val="110000"/>
              </a:lnSpc>
              <a:spcBef>
                <a:spcPts val="800"/>
              </a:spcBef>
              <a:spcAft>
                <a:spcPts val="0"/>
              </a:spcAft>
              <a:buClr>
                <a:schemeClr val="dk1"/>
              </a:buClr>
              <a:buSzPts val="1200"/>
              <a:buNone/>
            </a:pPr>
            <a:r>
              <a:rPr b="1" lang="en-GB" sz="1200"/>
              <a:t>Customer Satisfaction Indexing </a:t>
            </a:r>
            <a:r>
              <a:rPr lang="en-GB" sz="1100"/>
              <a:t>measuring NPS/CSAT — critical as fintechs raise the bar (SadaPay NPS ~70 vs. traditional banks ~20-30)</a:t>
            </a:r>
            <a:endParaRPr/>
          </a:p>
          <a:p>
            <a:pPr indent="0" lvl="0" marL="0" rtl="0" algn="l">
              <a:lnSpc>
                <a:spcPct val="110000"/>
              </a:lnSpc>
              <a:spcBef>
                <a:spcPts val="800"/>
              </a:spcBef>
              <a:spcAft>
                <a:spcPts val="0"/>
              </a:spcAft>
              <a:buClr>
                <a:schemeClr val="dk1"/>
              </a:buClr>
              <a:buSzPts val="1200"/>
              <a:buNone/>
            </a:pPr>
            <a:r>
              <a:rPr b="1" lang="en-GB" sz="1200"/>
              <a:t>Customer Experience Analytics </a:t>
            </a:r>
            <a:r>
              <a:rPr lang="en-GB" sz="1100"/>
              <a:t>measuring CX across branch + digital — including e-KYC via NADRA biometric verification´s perception of a service or product </a:t>
            </a:r>
            <a:endParaRPr sz="1100"/>
          </a:p>
          <a:p>
            <a:pPr indent="0" lvl="0" marL="0" rtl="0" algn="l">
              <a:lnSpc>
                <a:spcPct val="110000"/>
              </a:lnSpc>
              <a:spcBef>
                <a:spcPts val="800"/>
              </a:spcBef>
              <a:spcAft>
                <a:spcPts val="0"/>
              </a:spcAft>
              <a:buClr>
                <a:schemeClr val="dk1"/>
              </a:buClr>
              <a:buSzPts val="1200"/>
              <a:buNone/>
            </a:pPr>
            <a:r>
              <a:rPr b="1" lang="en-GB" sz="1200"/>
              <a:t>Transactional Classification </a:t>
            </a:r>
            <a:r>
              <a:rPr lang="en-GB" sz="1100"/>
              <a:t>classifying RAAST/IBFT/POS/ATM transactions — salary detection enables income verification for lendingetter understand customer behaviour, life stage, channel usage and preferences</a:t>
            </a:r>
            <a:endParaRPr/>
          </a:p>
          <a:p>
            <a:pPr indent="0" lvl="0" marL="0" rtl="0" algn="l">
              <a:lnSpc>
                <a:spcPct val="110000"/>
              </a:lnSpc>
              <a:spcBef>
                <a:spcPts val="800"/>
              </a:spcBef>
              <a:spcAft>
                <a:spcPts val="0"/>
              </a:spcAft>
              <a:buClr>
                <a:schemeClr val="dk1"/>
              </a:buClr>
              <a:buSzPts val="1200"/>
              <a:buNone/>
            </a:pPr>
            <a:r>
              <a:rPr b="1" lang="en-GB" sz="1200"/>
              <a:t>Customer Journey Analysis </a:t>
            </a:r>
            <a:r>
              <a:rPr lang="en-GB" sz="1100"/>
              <a:t>tracking branch-to-digital migration journeys and CNIC-based onboarding funnelss  </a:t>
            </a:r>
            <a:endParaRPr sz="1100"/>
          </a:p>
          <a:p>
            <a:pPr indent="0" lvl="0" marL="0" rtl="0" algn="l">
              <a:lnSpc>
                <a:spcPct val="110000"/>
              </a:lnSpc>
              <a:spcBef>
                <a:spcPts val="800"/>
              </a:spcBef>
              <a:spcAft>
                <a:spcPts val="0"/>
              </a:spcAft>
              <a:buClr>
                <a:schemeClr val="dk1"/>
              </a:buClr>
              <a:buSzPts val="1200"/>
              <a:buNone/>
            </a:pPr>
            <a:r>
              <a:rPr b="1" lang="en-GB" sz="1200"/>
              <a:t>Event Analytics </a:t>
            </a:r>
            <a:r>
              <a:rPr lang="en-GB" sz="1100"/>
              <a:t>real-time event detection for RAAST/mobile triggers — salary credits, remittances, balance changes</a:t>
            </a:r>
            <a:endParaRPr/>
          </a:p>
          <a:p>
            <a:pPr indent="0" lvl="0" marL="0" rtl="0" algn="l">
              <a:lnSpc>
                <a:spcPct val="110000"/>
              </a:lnSpc>
              <a:spcBef>
                <a:spcPts val="800"/>
              </a:spcBef>
              <a:spcAft>
                <a:spcPts val="0"/>
              </a:spcAft>
              <a:buClr>
                <a:schemeClr val="dk1"/>
              </a:buClr>
              <a:buSzPts val="1100"/>
              <a:buNone/>
            </a:pPr>
            <a:r>
              <a:t/>
            </a:r>
            <a:endParaRPr sz="1100"/>
          </a:p>
          <a:p>
            <a:pPr indent="-153987" lvl="1" marL="515938" rtl="0" algn="l">
              <a:lnSpc>
                <a:spcPct val="110000"/>
              </a:lnSpc>
              <a:spcBef>
                <a:spcPts val="400"/>
              </a:spcBef>
              <a:spcAft>
                <a:spcPts val="0"/>
              </a:spcAft>
              <a:buClr>
                <a:schemeClr val="dk1"/>
              </a:buClr>
              <a:buSzPts val="1200"/>
              <a:buNone/>
            </a:pPr>
            <a:r>
              <a:t/>
            </a:r>
            <a:endParaRPr sz="1200"/>
          </a:p>
          <a:p>
            <a:pPr indent="-153987" lvl="1" marL="515938" rtl="0" algn="l">
              <a:lnSpc>
                <a:spcPct val="110000"/>
              </a:lnSpc>
              <a:spcBef>
                <a:spcPts val="400"/>
              </a:spcBef>
              <a:spcAft>
                <a:spcPts val="0"/>
              </a:spcAft>
              <a:buClr>
                <a:schemeClr val="dk1"/>
              </a:buClr>
              <a:buSzPts val="1200"/>
              <a:buNone/>
            </a:pPr>
            <a:r>
              <a:t/>
            </a:r>
            <a:endParaRPr sz="1200"/>
          </a:p>
        </p:txBody>
      </p:sp>
      <p:sp>
        <p:nvSpPr>
          <p:cNvPr id="964" name="Google Shape;964;p72"/>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endParaRPr/>
          </a:p>
        </p:txBody>
      </p:sp>
      <p:pic>
        <p:nvPicPr>
          <p:cNvPr descr="COM-1010-L.jpg" id="965" name="Google Shape;965;p72"/>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66" name="Google Shape;966;p7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 name="Shape 970"/>
        <p:cNvGrpSpPr/>
        <p:nvPr/>
      </p:nvGrpSpPr>
      <p:grpSpPr>
        <a:xfrm>
          <a:off x="0" y="0"/>
          <a:ext cx="0" cy="0"/>
          <a:chOff x="0" y="0"/>
          <a:chExt cx="0" cy="0"/>
        </a:xfrm>
      </p:grpSpPr>
      <p:sp>
        <p:nvSpPr>
          <p:cNvPr id="971" name="Google Shape;971;p73"/>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110000"/>
              </a:lnSpc>
              <a:spcBef>
                <a:spcPts val="800"/>
              </a:spcBef>
              <a:spcAft>
                <a:spcPts val="0"/>
              </a:spcAft>
              <a:buClr>
                <a:schemeClr val="dk1"/>
              </a:buClr>
              <a:buSzPts val="1200"/>
              <a:buNone/>
            </a:pPr>
            <a:r>
              <a:rPr b="1" lang="en-GB" sz="1200"/>
              <a:t>Customer Segmentation </a:t>
            </a:r>
            <a:r>
              <a:rPr lang="en-GB" sz="1100"/>
              <a:t>value-based + Islamic/conventional + urban/rural segmentation across Pakistan's diverse market similar needs, behaviours, or communication characteristics</a:t>
            </a:r>
            <a:endParaRPr/>
          </a:p>
          <a:p>
            <a:pPr indent="0" lvl="1" marL="0" rtl="0" algn="l">
              <a:lnSpc>
                <a:spcPct val="110000"/>
              </a:lnSpc>
              <a:spcBef>
                <a:spcPts val="800"/>
              </a:spcBef>
              <a:spcAft>
                <a:spcPts val="0"/>
              </a:spcAft>
              <a:buClr>
                <a:schemeClr val="dk1"/>
              </a:buClr>
              <a:buSzPts val="1200"/>
              <a:buNone/>
            </a:pPr>
            <a:r>
              <a:rPr b="1" lang="en-GB" sz="1200"/>
              <a:t>Customer Connection Analytics </a:t>
            </a:r>
            <a:r>
              <a:rPr lang="en-GB" sz="1100"/>
              <a:t>CNIC-based household and business network mapping — IBFT/RAAST transaction flow analysisns of a social network</a:t>
            </a:r>
            <a:endParaRPr/>
          </a:p>
          <a:p>
            <a:pPr indent="0" lvl="1" marL="0" rtl="0" algn="l">
              <a:lnSpc>
                <a:spcPct val="110000"/>
              </a:lnSpc>
              <a:spcBef>
                <a:spcPts val="800"/>
              </a:spcBef>
              <a:spcAft>
                <a:spcPts val="0"/>
              </a:spcAft>
              <a:buClr>
                <a:schemeClr val="dk1"/>
              </a:buClr>
              <a:buSzPts val="1200"/>
              <a:buNone/>
            </a:pPr>
            <a:r>
              <a:rPr b="1" lang="en-GB" sz="1200"/>
              <a:t>Behavioral/Preference Analytics </a:t>
            </a:r>
            <a:r>
              <a:rPr lang="en-GB" sz="1100"/>
              <a:t>channel preference, spending behavior, Islamic product preference, and digital adoption tracking and product/service preferences</a:t>
            </a:r>
            <a:endParaRPr/>
          </a:p>
          <a:p>
            <a:pPr indent="0" lvl="1" marL="0" rtl="0" algn="l">
              <a:lnSpc>
                <a:spcPct val="110000"/>
              </a:lnSpc>
              <a:spcBef>
                <a:spcPts val="800"/>
              </a:spcBef>
              <a:spcAft>
                <a:spcPts val="0"/>
              </a:spcAft>
              <a:buClr>
                <a:schemeClr val="dk1"/>
              </a:buClr>
              <a:buSzPts val="1200"/>
              <a:buNone/>
            </a:pPr>
            <a:r>
              <a:rPr b="1" lang="en-GB" sz="1200"/>
              <a:t>Customer Life Stage </a:t>
            </a:r>
            <a:r>
              <a:rPr lang="en-GB" sz="1100"/>
              <a:t>youth bulge (60% under 30) creates unique life-stage patterns — student to diaspora lifecycletanding of where they are in their relevant life stages (e.g., starting out, married with small children, empty nesters, retired, etc.) </a:t>
            </a:r>
            <a:endParaRPr b="1" sz="1100"/>
          </a:p>
          <a:p>
            <a:pPr indent="0" lvl="1" marL="0" rtl="0" algn="l">
              <a:lnSpc>
                <a:spcPct val="110000"/>
              </a:lnSpc>
              <a:spcBef>
                <a:spcPts val="800"/>
              </a:spcBef>
              <a:spcAft>
                <a:spcPts val="0"/>
              </a:spcAft>
              <a:buClr>
                <a:schemeClr val="dk1"/>
              </a:buClr>
              <a:buSzPts val="1200"/>
              <a:buNone/>
            </a:pPr>
            <a:r>
              <a:t/>
            </a:r>
            <a:endParaRPr sz="1200"/>
          </a:p>
          <a:p>
            <a:pPr indent="0" lvl="0" marL="0" rtl="0" algn="l">
              <a:lnSpc>
                <a:spcPct val="110000"/>
              </a:lnSpc>
              <a:spcBef>
                <a:spcPts val="800"/>
              </a:spcBef>
              <a:spcAft>
                <a:spcPts val="0"/>
              </a:spcAft>
              <a:buClr>
                <a:schemeClr val="dk1"/>
              </a:buClr>
              <a:buSzPts val="1400"/>
              <a:buNone/>
            </a:pPr>
            <a:r>
              <a:t/>
            </a:r>
            <a:endParaRPr sz="1400"/>
          </a:p>
          <a:p>
            <a:pPr indent="-153987" lvl="1" marL="515938" rtl="0" algn="l">
              <a:lnSpc>
                <a:spcPct val="110000"/>
              </a:lnSpc>
              <a:spcBef>
                <a:spcPts val="400"/>
              </a:spcBef>
              <a:spcAft>
                <a:spcPts val="0"/>
              </a:spcAft>
              <a:buClr>
                <a:schemeClr val="dk1"/>
              </a:buClr>
              <a:buSzPts val="1200"/>
              <a:buNone/>
            </a:pPr>
            <a:r>
              <a:t/>
            </a:r>
            <a:endParaRPr sz="1200"/>
          </a:p>
        </p:txBody>
      </p:sp>
      <p:sp>
        <p:nvSpPr>
          <p:cNvPr id="972" name="Google Shape;972;p73"/>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endParaRPr/>
          </a:p>
        </p:txBody>
      </p:sp>
      <p:pic>
        <p:nvPicPr>
          <p:cNvPr descr="COM-1010-L.jpg" id="973" name="Google Shape;973;p73"/>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74" name="Google Shape;974;p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customer-level profitability across conventional AND Islamic lines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relationship pricing to compete with fintech flat-fee models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Support SBP risk-based capital allocation linking profitability to risk-adjusted returns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PKR-denominated transaction data across RAAST, IBFT, POS, ATM, branch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Activity-based costing from 4-5 core systems with different cost structures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profit-sharing data (Mudaraba, Musharaka); CASA vs. fixed deposit cost of funds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profitable vs. unprofitable segments across CASA-dependent model (47% CASA)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branch network (16,000+) based on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Tiered service: mass (PKR &lt;500K) vs. affluent (5M+) vs. HNW (50M+)</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 name="Shape 1009"/>
        <p:cNvGrpSpPr/>
        <p:nvPr/>
      </p:nvGrpSpPr>
      <p:grpSpPr>
        <a:xfrm>
          <a:off x="0" y="0"/>
          <a:ext cx="0" cy="0"/>
          <a:chOff x="0" y="0"/>
          <a:chExt cx="0" cy="0"/>
        </a:xfrm>
      </p:grpSpPr>
      <p:graphicFrame>
        <p:nvGraphicFramePr>
          <p:cNvPr id="1010" name="Google Shape;1010;p7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used extensively across the organisation to support a wide range of strategic, tactical and operational decision-making, including all of the below, plus: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Performance management and Staff incentivisation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Channel management / channel migration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Use of advanced analytics techniques (e.g.  Clustering, behavioural analysis / path to increased profit)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also used operationally to deliver information and guidance to staff on customer retention, customer experience, pricing and other operational decisions (e.g. fee refunds)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Organization develops sophistication around sunk profits vs. at-risk profits, when to fully-allocated costs and when to use marginally-allocated costs, etc.  Lifetime Value (LTV) begins to be part of decision processes, though not yet at an advanced level.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Activity-based Profitability results are used to make decisions across products and customer segments, but not yet on individual customers or activities.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Customer Profitability capabilities just starting to emerge: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Activity-based costing not available, so value is product focused– e.g., total sales, balances, #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Calculations based on “averages” used to manage at the customer and product portfolio levels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Customer-level P&amp;L incorporating Islamic profit-sharing (Mudaraba, Musharaka)</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Digital channel cost integration (mobile banking, RAAST, internet banking)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 profitable segments across CASA-dependent model (47% CASA)</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Optimize 16,000+ branch network based on customer profitability</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Tiered service models: mass vs. affluent vs. HNW</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011" name="Google Shape;1011;p75"/>
          <p:cNvGrpSpPr/>
          <p:nvPr/>
        </p:nvGrpSpPr>
        <p:grpSpPr>
          <a:xfrm>
            <a:off x="469900" y="3839136"/>
            <a:ext cx="8455025" cy="732866"/>
            <a:chOff x="211138" y="3972860"/>
            <a:chExt cx="8713787" cy="642437"/>
          </a:xfrm>
        </p:grpSpPr>
        <p:sp>
          <p:nvSpPr>
            <p:cNvPr id="1012" name="Google Shape;1012;p7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13" name="Google Shape;1013;p7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014" name="Google Shape;1014;p75"/>
          <p:cNvGrpSpPr/>
          <p:nvPr/>
        </p:nvGrpSpPr>
        <p:grpSpPr>
          <a:xfrm>
            <a:off x="7971865" y="980278"/>
            <a:ext cx="949325" cy="2867825"/>
            <a:chOff x="7941888" y="1062037"/>
            <a:chExt cx="983037" cy="2695575"/>
          </a:xfrm>
        </p:grpSpPr>
        <p:sp>
          <p:nvSpPr>
            <p:cNvPr id="1015" name="Google Shape;1015;p7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16" name="Google Shape;1016;p7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017" name="Google Shape;1017;p7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solidFill>
                <a:schemeClr val="accent6"/>
              </a:solidFill>
            </a:endParaRPr>
          </a:p>
        </p:txBody>
      </p:sp>
      <p:sp>
        <p:nvSpPr>
          <p:cNvPr id="1018" name="Google Shape;1018;p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NPS/CSAT across branch, ATM, mobile app, call center, digital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Benchmark against fintech NPS (SadaPay ~70 vs. traditional banks ~20-30)</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SBP Consumer Protection complaints as satisfaction signal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SBP Consumer Protection complaint records; app store ratings (Google Play, Apple)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Social media sentiment (Twitter/X, Facebook, Pakistan-specific forums)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Branch queue wait times and service completion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Close NPS gap between traditional banks (20-30) and fintechs (60-70)</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complaints to SBP (compliance benefit)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branch-level vs. digital-channel satisfaction drivers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3" name="Shape 1053"/>
        <p:cNvGrpSpPr/>
        <p:nvPr/>
      </p:nvGrpSpPr>
      <p:grpSpPr>
        <a:xfrm>
          <a:off x="0" y="0"/>
          <a:ext cx="0" cy="0"/>
          <a:chOff x="0" y="0"/>
          <a:chExt cx="0" cy="0"/>
        </a:xfrm>
      </p:grpSpPr>
      <p:graphicFrame>
        <p:nvGraphicFramePr>
          <p:cNvPr id="1054" name="Google Shape;1054;p7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Incorporate sentiment analysis, multi genre analytics in combination with business rules to calculate customer satisfaction. Scores are operationalized and drive actions to improve processes and customer experience. Active monitoring and alerting on increases and decreases of scores.   CSI becomes integrated with Customer Profitability/Value Management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Build robust cross channel interactions, and touch points. Analyze customer s across touch points to identify interactions that drive positive  or negative  outcomes.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Experiment  with  text analytic capabilities (may be outsourced) to understand customer comments on products, service and experience. Limited ability to react to negative comments. Call center is key to identifying customer issues. Advanced analytics deployed to identify limited set of key interactions  </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Begin to collect and integrate customer interactions across two or more channels.  Customer satisfaction measurement is still primarily survey based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satisfaction measurement is primarily survey based. Unable to connect customer events and interactions across channels. Customer experience is analysed and managed by channel (stores, online, call center, etc.)</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Fintech NPS benchmarking (SadaPay ~70 vs. traditional banks ~20-30)</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SBP Consumer Protection complaint integration as satisfaction signal</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Close NPS gap with fintechs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SBP complaints (compliance benefit)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Continuous satisfaction monitoring via app analytics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055" name="Google Shape;1055;p77"/>
          <p:cNvGrpSpPr/>
          <p:nvPr/>
        </p:nvGrpSpPr>
        <p:grpSpPr>
          <a:xfrm>
            <a:off x="469900" y="3839136"/>
            <a:ext cx="8455025" cy="732866"/>
            <a:chOff x="211138" y="3972860"/>
            <a:chExt cx="8713787" cy="642437"/>
          </a:xfrm>
        </p:grpSpPr>
        <p:sp>
          <p:nvSpPr>
            <p:cNvPr id="1056" name="Google Shape;1056;p7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57" name="Google Shape;1057;p7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058" name="Google Shape;1058;p77"/>
          <p:cNvGrpSpPr/>
          <p:nvPr/>
        </p:nvGrpSpPr>
        <p:grpSpPr>
          <a:xfrm>
            <a:off x="7971865" y="980278"/>
            <a:ext cx="949325" cy="2867825"/>
            <a:chOff x="7941888" y="1062037"/>
            <a:chExt cx="983037" cy="2695575"/>
          </a:xfrm>
        </p:grpSpPr>
        <p:sp>
          <p:nvSpPr>
            <p:cNvPr id="1059" name="Google Shape;1059;p7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60" name="Google Shape;1060;p7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061" name="Google Shape;1061;p7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a:solidFill>
                <a:schemeClr val="accent6"/>
              </a:solidFill>
            </a:endParaRPr>
          </a:p>
        </p:txBody>
      </p:sp>
      <p:sp>
        <p:nvSpPr>
          <p:cNvPr id="1062" name="Google Shape;1062;p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Map journeys across 16,000 branches + 16,000 ATMs + mobile + 500,000+ agents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digital onboarding experience (e-KYC via NADRA biometric verification)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branch service efficiency (average wait time, teller utilization)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WhatsApp banking interaction data (growing channel in Pakistan)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Agent banking transaction logs from 500,000+ branchless banking agents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Digital onboarding funnel data (CNIC scan to account activation)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Unified CX metric across urban digital (40%) and rural branch (60%)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digital onboarding dropoff (currently 40-60% at biometric step)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Compete with fintech-level UX for 60% under-30 population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 name="Shape 1097"/>
        <p:cNvGrpSpPr/>
        <p:nvPr/>
      </p:nvGrpSpPr>
      <p:grpSpPr>
        <a:xfrm>
          <a:off x="0" y="0"/>
          <a:ext cx="0" cy="0"/>
          <a:chOff x="0" y="0"/>
          <a:chExt cx="0" cy="0"/>
        </a:xfrm>
      </p:grpSpPr>
      <p:graphicFrame>
        <p:nvGraphicFramePr>
          <p:cNvPr id="1098" name="Google Shape;1098;p7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experience as perceived by the customer is predicted and acted upon on a constant basis and alarms are automatically set to  trigger both communications to the customers and remedial measures for customer problems. Companies put the real customer experience at the forefront of their strategy.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experience measures and insights are used to predict direct customer related indicators like churn, etc. Internal performance indicators are fed by customer experience indicators. Both internal data and voice of the customer data including external social media data are used to assess customer experience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experience measures and insights are used to measure direct customer related indicators like churn, etc. Internal performance indicators are fed by customer experience indicators measured from internal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Apart from internal functional area measurements of customer indicators, there are customer surveys that are carried out to understand qualitative aspects of customer experience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information is measured from functional company silos such as Customer care, Marketing, operations, fiinance, etc. And customer-related indicators are only measured in how they reflect on internal systems, e.g. Complaints, churn, etc.</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Digital onboarding experience (e-KYC via NADRA biometric)</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Agent banking CX measurement (500,000+ branchless agents)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Unified CX metric for bifurcated urban digital / rural branch base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digital onboarding dropoff (currently 40-60%)</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Compete with fintech UX for 60% under-30 population</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099" name="Google Shape;1099;p79"/>
          <p:cNvGrpSpPr/>
          <p:nvPr/>
        </p:nvGrpSpPr>
        <p:grpSpPr>
          <a:xfrm>
            <a:off x="469900" y="3839136"/>
            <a:ext cx="8455025" cy="732866"/>
            <a:chOff x="211138" y="3972860"/>
            <a:chExt cx="8713787" cy="642437"/>
          </a:xfrm>
        </p:grpSpPr>
        <p:sp>
          <p:nvSpPr>
            <p:cNvPr id="1100" name="Google Shape;1100;p7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1" name="Google Shape;1101;p7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102" name="Google Shape;1102;p79"/>
          <p:cNvGrpSpPr/>
          <p:nvPr/>
        </p:nvGrpSpPr>
        <p:grpSpPr>
          <a:xfrm>
            <a:off x="7971865" y="980278"/>
            <a:ext cx="949325" cy="2867825"/>
            <a:chOff x="7941888" y="1062037"/>
            <a:chExt cx="983037" cy="2695575"/>
          </a:xfrm>
        </p:grpSpPr>
        <p:sp>
          <p:nvSpPr>
            <p:cNvPr id="1103" name="Google Shape;1103;p7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4" name="Google Shape;1104;p7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105" name="Google Shape;1105;p7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a:solidFill>
                <a:schemeClr val="accent6"/>
              </a:solidFill>
            </a:endParaRPr>
          </a:p>
        </p:txBody>
      </p:sp>
      <p:sp>
        <p:nvSpPr>
          <p:cNvPr id="1106" name="Google Shape;1106;p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Classify RAAST payments by purpose (P2P, P2M, bill pay, salary, remittance)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Categorize IBFT transfers by type (self-transfer, family, business, rent)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Map salary credits for income verification (70% lack formal documentation)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RAAST 50M+ monthly transactions; IBFT cross-bank transfer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POS/debit card spending by merchant category (MCC codes)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Mobile wallet transactions for unbanked customer behavior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Income verification from salary patterns for 70% informal workforce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Classify $30B+ annual remittance inflows to reveal diaspora relationships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Transaction-based credit scoring for thin-file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 name="Shape 1141"/>
        <p:cNvGrpSpPr/>
        <p:nvPr/>
      </p:nvGrpSpPr>
      <p:grpSpPr>
        <a:xfrm>
          <a:off x="0" y="0"/>
          <a:ext cx="0" cy="0"/>
          <a:chOff x="0" y="0"/>
          <a:chExt cx="0" cy="0"/>
        </a:xfrm>
      </p:grpSpPr>
      <p:graphicFrame>
        <p:nvGraphicFramePr>
          <p:cNvPr id="1142" name="Google Shape;1142;p8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Significant transactions classified in near-real-time for continual use in customer understanding and decisioning.   Automatic classification of new transaction types via customer self classification.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Scheduled and automated process classifies the most significant transactions on a daily basis. Fully maintained reference library with manual process to add / update new transactions and insights.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Some transactional classification undertaken for a few transaction types and use cases. Process is manual and run monthly or on an ad-hoc basis.  Insights are added to the customer record.</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Raw transactional data collected but no systematic classification undertaken.</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Summarised transactional data collected that does not have required level of detail to enable granular classification.</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IBFT transfer relationship categorization (self, family, business)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Salary credit detection for income verification (70% informal workforce)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Transaction-based income verification for lending</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Spending pattern analytics for 100M+ wallet users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Remittance flow classification ($30B+ annual)</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143" name="Google Shape;1143;p81"/>
          <p:cNvGrpSpPr/>
          <p:nvPr/>
        </p:nvGrpSpPr>
        <p:grpSpPr>
          <a:xfrm>
            <a:off x="469900" y="3839136"/>
            <a:ext cx="8455025" cy="732866"/>
            <a:chOff x="211138" y="3972860"/>
            <a:chExt cx="8713787" cy="642437"/>
          </a:xfrm>
        </p:grpSpPr>
        <p:sp>
          <p:nvSpPr>
            <p:cNvPr id="1144" name="Google Shape;1144;p8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45" name="Google Shape;1145;p8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146" name="Google Shape;1146;p81"/>
          <p:cNvGrpSpPr/>
          <p:nvPr/>
        </p:nvGrpSpPr>
        <p:grpSpPr>
          <a:xfrm>
            <a:off x="7971865" y="980278"/>
            <a:ext cx="949325" cy="2867825"/>
            <a:chOff x="7941888" y="1062037"/>
            <a:chExt cx="983037" cy="2695575"/>
          </a:xfrm>
        </p:grpSpPr>
        <p:sp>
          <p:nvSpPr>
            <p:cNvPr id="1147" name="Google Shape;1147;p8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48" name="Google Shape;1148;p8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149" name="Google Shape;1149;p8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a:solidFill>
                <a:schemeClr val="accent6"/>
              </a:solidFill>
            </a:endParaRPr>
          </a:p>
        </p:txBody>
      </p:sp>
      <p:sp>
        <p:nvSpPr>
          <p:cNvPr id="1150" name="Google Shape;1150;p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Map onboarding: branch walk-in to CNIC verification to NADRA biometric to first transaction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digital migration: branch-only to ATM to mobile app to RAAST to fully digital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Map financial inclusion: agent account to first deposit to first IBFT to savings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Cross-channel interaction sequences (branch, ATM, mobile, agent, USSD)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Digital onboarding funnel data with NADRA biometric verification steps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Dormancy journey signals (reduced transactions to zero balance to closure)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Move branch customers to digital (currently &lt;20% adoption, target 50%+)</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onboarding time from 15-30 min to &lt;5 min (fintech benchmark)</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Support SBP NFIS target: move 70M unbanked through inclusion funnel by 2028</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5" name="Shape 1185"/>
        <p:cNvGrpSpPr/>
        <p:nvPr/>
      </p:nvGrpSpPr>
      <p:grpSpPr>
        <a:xfrm>
          <a:off x="0" y="0"/>
          <a:ext cx="0" cy="0"/>
          <a:chOff x="0" y="0"/>
          <a:chExt cx="0" cy="0"/>
        </a:xfrm>
      </p:grpSpPr>
      <p:graphicFrame>
        <p:nvGraphicFramePr>
          <p:cNvPr id="1186" name="Google Shape;1186;p8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Near real-time analysis of cross-channel customer journeys prompting automatic messaging and intercessions with specific business objectives in mind . Also providing input into propensity models. Journey analytics utilized for both driving personalized customer interactions and to identify process issues and opportunities to improve customer experience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Using path analytics to identify or discover unexpected or unusual patterns of behaviour that were not expected through usual hypotheses. Extensive event table to capture multiple types of events and interactions.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Additional events are collected and identified including cross channel interactions, marketing contacts and responses. Path analytics embedded in business units with defined actions driven by specific business rules. Linkage into more traditional contact strategy.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Core cross channel interactions (web browsing, purchasing) are collected and customers identified across channels. Begin to analyze multi-channel journeys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Relatively simplistic analysis of single channel journeys (eg journey through web)</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Cross-channel journey tracking (branch to ATM to mobile to RAAST)</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Digital onboarding funnel with NADRA biometric verification steps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Move branch customers to digital (&lt;20% adoption to 50%+ target)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onboarding from 15-30 min to &lt;5 min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Support SBP NFIS: 70M unbanked through inclusion funnel by 2028</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187" name="Google Shape;1187;p83"/>
          <p:cNvGrpSpPr/>
          <p:nvPr/>
        </p:nvGrpSpPr>
        <p:grpSpPr>
          <a:xfrm>
            <a:off x="469900" y="3839136"/>
            <a:ext cx="8455025" cy="732866"/>
            <a:chOff x="211138" y="3972860"/>
            <a:chExt cx="8713787" cy="642437"/>
          </a:xfrm>
        </p:grpSpPr>
        <p:sp>
          <p:nvSpPr>
            <p:cNvPr id="1188" name="Google Shape;1188;p8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89" name="Google Shape;1189;p8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190" name="Google Shape;1190;p83"/>
          <p:cNvGrpSpPr/>
          <p:nvPr/>
        </p:nvGrpSpPr>
        <p:grpSpPr>
          <a:xfrm>
            <a:off x="7971865" y="980278"/>
            <a:ext cx="949325" cy="2867825"/>
            <a:chOff x="7941888" y="1062037"/>
            <a:chExt cx="983037" cy="2695575"/>
          </a:xfrm>
        </p:grpSpPr>
        <p:sp>
          <p:nvSpPr>
            <p:cNvPr id="1191" name="Google Shape;1191;p8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92" name="Google Shape;1192;p8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193" name="Google Shape;1193;p8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a:solidFill>
                <a:schemeClr val="accent6"/>
              </a:solidFill>
            </a:endParaRPr>
          </a:p>
        </p:txBody>
      </p:sp>
      <p:sp>
        <p:nvSpPr>
          <p:cNvPr id="1194" name="Google Shape;1194;p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Detect salary credits to trigger cross-sell (loan, card, investment) within 24 hours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RAAST inbound remittance events for diaspora-specific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Detect first-time digital transactions to trigger digital adoption campaigns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RAAST/IBFT real-time event streams; salary credit patterns (day 1-5 of month)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 change alerts (&gt;PKR 1M for wealth management outreach)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Dormancy signals (no transactions for 30+ days for re-engagement)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Event-triggered next-best-offer across salary, remittance, and life 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churn through dormancy detection and early re-engagement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Monetize $30B+ remittance flows through timely diaspora product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9" name="Shape 1229"/>
        <p:cNvGrpSpPr/>
        <p:nvPr/>
      </p:nvGrpSpPr>
      <p:grpSpPr>
        <a:xfrm>
          <a:off x="0" y="0"/>
          <a:ext cx="0" cy="0"/>
          <a:chOff x="0" y="0"/>
          <a:chExt cx="0" cy="0"/>
        </a:xfrm>
      </p:grpSpPr>
      <p:graphicFrame>
        <p:nvGraphicFramePr>
          <p:cNvPr id="1230" name="Google Shape;1230;p8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Large portfolio of events detected on a real-time / intraday / daily basis from a rich variety of data sources including transactions, interactions and external data. Advanced event detection routines such as machine learning finds unusual patterns of behaviour and detects changes in behaviour over time. Events are combined to specialise customer treatment and increase response. Active test and  learn methodology continuously trials new event types.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Medium to large portfolio of events, mostly detected on daily basis from an expanding range of data sources including transactions and interactions. (Including online). Some intra-day event detection performed, particularly for digital channels. Established set of event detection methodologies are utilised depending on timeliness and complexity of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Medium portfolio of events covering a wider range of business objectives /  data sources incl. history and using more sophisticated transactional event detection routines. Data latency constraints have been addressed and most are now executed on a daily basis.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Expanding portfolio of events covering a limited range of business objectives /  data sources incl. history and using more sophisticated transactional event detection routines. Data latency constraints being addressed to improve performance of events – daily / weekly</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Small portfolio of events detected using static traditional data sources. e.g. Key Birthdays  Events detected on weekly / monthly basis with dependency on load of core data feeds.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RAAST inbound remittance event monitoring for diaspora products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Dormancy signal detection (30+ days no transaction for re-engagement)</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Event-triggered next-best-offer across salary and remittance events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churn through early dormancy detection</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Monetize $30B+ remittance flows via timely product offers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231" name="Google Shape;1231;p85"/>
          <p:cNvGrpSpPr/>
          <p:nvPr/>
        </p:nvGrpSpPr>
        <p:grpSpPr>
          <a:xfrm>
            <a:off x="469900" y="3839136"/>
            <a:ext cx="8455025" cy="732866"/>
            <a:chOff x="211138" y="3972860"/>
            <a:chExt cx="8713787" cy="642437"/>
          </a:xfrm>
        </p:grpSpPr>
        <p:sp>
          <p:nvSpPr>
            <p:cNvPr id="1232" name="Google Shape;1232;p8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233" name="Google Shape;1233;p8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234" name="Google Shape;1234;p85"/>
          <p:cNvGrpSpPr/>
          <p:nvPr/>
        </p:nvGrpSpPr>
        <p:grpSpPr>
          <a:xfrm>
            <a:off x="7971865" y="980278"/>
            <a:ext cx="949325" cy="2867825"/>
            <a:chOff x="7941888" y="1062037"/>
            <a:chExt cx="983037" cy="2695575"/>
          </a:xfrm>
        </p:grpSpPr>
        <p:sp>
          <p:nvSpPr>
            <p:cNvPr id="1235" name="Google Shape;1235;p8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236" name="Google Shape;1236;p8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237" name="Google Shape;1237;p8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a:solidFill>
                <a:schemeClr val="accent6"/>
              </a:solidFill>
            </a:endParaRPr>
          </a:p>
        </p:txBody>
      </p:sp>
      <p:sp>
        <p:nvSpPr>
          <p:cNvPr id="1238" name="Google Shape;1238;p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by value: Mass (&lt;PKR 500K), Affluent (500K-5M), Priority (5M-50M), HNW (50M+)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by Islamic preference: fully Islamic, Islamic-leaning, conventional, agnostic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Geographic: Tier 1 (KHI/LHR/ISB), Tier 2, Tier 3, Rural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CNIC-based demographic data (area code from first 5 digits)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Islamic product holding and transaction patterns for preference detection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Channel usage patterns: branch-only vs. digital-primary vs. hybrid vs. agent-banking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Multi-dimensional segmentation across value, behavior, geography, and Islamic preference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70% mass market (15% of revenue) vs. 2% HNW (20% of revenue)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85% who want Shariah-compliant but only 20% currently served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3" name="Shape 1273"/>
        <p:cNvGrpSpPr/>
        <p:nvPr/>
      </p:nvGrpSpPr>
      <p:grpSpPr>
        <a:xfrm>
          <a:off x="0" y="0"/>
          <a:ext cx="0" cy="0"/>
          <a:chOff x="0" y="0"/>
          <a:chExt cx="0" cy="0"/>
        </a:xfrm>
      </p:grpSpPr>
      <p:graphicFrame>
        <p:nvGraphicFramePr>
          <p:cNvPr id="1274" name="Google Shape;1274;p8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Multiple customer segmentations tightly linked to customer, product and channel strategies. Segments based on a wide range of attributes such as value, depth of relationship, behaviour and need. Segmentation used for both strategic and operational uses. Monitoring of outcomes linked to strategic direction. Primary segmentation embedded into day to day business decisions and used widely across key functional areas.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Range of clearly defined segmentations linked to business objectives. Wide range of usage including product development, campaign targeting, strategy enablement, service delivery. Automated monitoring of segment movement and business outcomes. Primary segmentation starting to be embedded into day to day business decisions and used by most some key functional areas.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Increased number of clear segmentation, with regular refresh (monthly)</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Segment  not only product focus but include customer life stage based on marketing and non marketing data (such as customer LTV)</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Segments generally included within offer targeting and refresh on a regular basis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Small number of basic statistical segmentation models based on customer demographics, product holding or business sector.. Mainly product  and revenuue focussed and within the marketing function.</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No consistent definition of segmentation objectives across business.  Very few rules based segmentation models mainly based on demographic data with limited use to support product centric activity. No periodic refresh.</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CNIC area code-based geographic segmentation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Islamic preference detection from product and transaction patterns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Optimize 70% mass market (15% revenue) vs. 2% HNW (20% revenue)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Target 85% wanting Shariah-compliant (only 20% served)</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Geographic strategy: Tier 1 urban vs. rural agent banking</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275" name="Google Shape;1275;p87"/>
          <p:cNvGrpSpPr/>
          <p:nvPr/>
        </p:nvGrpSpPr>
        <p:grpSpPr>
          <a:xfrm>
            <a:off x="689024" y="4646343"/>
            <a:ext cx="8454987" cy="732892"/>
            <a:chOff x="211138" y="3972860"/>
            <a:chExt cx="8713787" cy="642437"/>
          </a:xfrm>
        </p:grpSpPr>
        <p:sp>
          <p:nvSpPr>
            <p:cNvPr id="1276" name="Google Shape;1276;p8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277" name="Google Shape;1277;p8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278" name="Google Shape;1278;p87"/>
          <p:cNvGrpSpPr/>
          <p:nvPr/>
        </p:nvGrpSpPr>
        <p:grpSpPr>
          <a:xfrm>
            <a:off x="7971865" y="980278"/>
            <a:ext cx="949325" cy="2867825"/>
            <a:chOff x="7941888" y="1062037"/>
            <a:chExt cx="983037" cy="2695575"/>
          </a:xfrm>
        </p:grpSpPr>
        <p:sp>
          <p:nvSpPr>
            <p:cNvPr id="1279" name="Google Shape;1279;p8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280" name="Google Shape;1280;p8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281" name="Google Shape;1281;p8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a:solidFill>
                <a:schemeClr val="accent6"/>
              </a:solidFill>
            </a:endParaRPr>
          </a:p>
        </p:txBody>
      </p:sp>
      <p:sp>
        <p:nvSpPr>
          <p:cNvPr id="1282" name="Google Shape;1282;p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Leverage CNIC-based household identification — family members share CNIC prefix (first 5 digits = area code) and address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IBFT/RAAST transaction flow networks revealing who transacts with whom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Joint account signatory data for corporate network detection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Agent banking transaction patterns revealing rural community structures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Detect hawala networks through unusual transaction patterns (AML/CFT compliance)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social graphs from CNIC linkage for thin-file credit scoring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Map remittance corridors (Gulf/UK/US) to identify diaspora family networks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7" name="Shape 1317"/>
        <p:cNvGrpSpPr/>
        <p:nvPr/>
      </p:nvGrpSpPr>
      <p:grpSpPr>
        <a:xfrm>
          <a:off x="0" y="0"/>
          <a:ext cx="0" cy="0"/>
          <a:chOff x="0" y="0"/>
          <a:chExt cx="0" cy="0"/>
        </a:xfrm>
      </p:grpSpPr>
      <p:graphicFrame>
        <p:nvGraphicFramePr>
          <p:cNvPr id="1318" name="Google Shape;1318;p8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Embed knowledge of social network into forecasting analytics and create scenarios for retention, cluster build and central network expansion for multiple business use cases (marketing/promotion, product adaptation, etc.)</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Embedding the knowledge of the influencer within a social network to special treatment and personal campaigns to ensure retention.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Find similar influencers with people-like-me techniques to expand and understand the influencer as a separate segment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Find the key influencers in a micro-segment through graph and advanced clustering techniques. Calculating the strength of the relationship and how strong a role the influencer is playing</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Clusters of micro-segments with common interest and behaviour</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IBFT/RAAST transaction network analysis for social graph building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AML/CFT network detection (hawala, structuring) for FATF compliance</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Automated household identification (80%+ accuracy)</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Transaction-based social graphs without social media data</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FATF compliance support through network analytics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319" name="Google Shape;1319;p89"/>
          <p:cNvGrpSpPr/>
          <p:nvPr/>
        </p:nvGrpSpPr>
        <p:grpSpPr>
          <a:xfrm>
            <a:off x="469900" y="3818588"/>
            <a:ext cx="8455025" cy="732866"/>
            <a:chOff x="211138" y="3972860"/>
            <a:chExt cx="8713787" cy="642437"/>
          </a:xfrm>
        </p:grpSpPr>
        <p:sp>
          <p:nvSpPr>
            <p:cNvPr id="1320" name="Google Shape;1320;p8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321" name="Google Shape;1321;p8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322" name="Google Shape;1322;p89"/>
          <p:cNvGrpSpPr/>
          <p:nvPr/>
        </p:nvGrpSpPr>
        <p:grpSpPr>
          <a:xfrm>
            <a:off x="7971865" y="980278"/>
            <a:ext cx="949325" cy="2867825"/>
            <a:chOff x="7941888" y="1062037"/>
            <a:chExt cx="983037" cy="2695575"/>
          </a:xfrm>
        </p:grpSpPr>
        <p:sp>
          <p:nvSpPr>
            <p:cNvPr id="1323" name="Google Shape;1323;p8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324" name="Google Shape;1324;p8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325" name="Google Shape;1325;p8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a:t>
            </a:r>
            <a:endParaRPr>
              <a:solidFill>
                <a:schemeClr val="accent6"/>
              </a:solidFill>
            </a:endParaRPr>
          </a:p>
        </p:txBody>
      </p:sp>
      <p:sp>
        <p:nvSpPr>
          <p:cNvPr id="1326" name="Google Shape;1326;p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channel preference: branch vs. ATM vs. mobile vs. USSD vs. agent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Detect Islamic preference from transaction patterns (avoiding interest-based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Detect spending persona: conservative saver, active spender, seasonal (Eid, Ramadan)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Seasonal spending data (Ramadan, Eid, wedding season Nov-Feb, back-to-school Aug)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Digital adoption tracking: resistor to experimenter to adopter to champion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Cash vs. digital preference (high ATM withdrawal = cash preference)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Timing-optimized offers around Ramadan, Eid, wedding, and school seasons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Convert Islamic-preference customers (85% want Shariah) to full Islamic banking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income stability from transaction regularity for lending decisions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1" name="Shape 1361"/>
        <p:cNvGrpSpPr/>
        <p:nvPr/>
      </p:nvGrpSpPr>
      <p:grpSpPr>
        <a:xfrm>
          <a:off x="0" y="0"/>
          <a:ext cx="0" cy="0"/>
          <a:chOff x="0" y="0"/>
          <a:chExt cx="0" cy="0"/>
        </a:xfrm>
      </p:grpSpPr>
      <p:graphicFrame>
        <p:nvGraphicFramePr>
          <p:cNvPr id="1362" name="Google Shape;1362;p9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Enterprise-accessible repository of customer behaviours and segments, both current and predicted.  Ability to predict, test and measure likely customer preferences for new situations ((e.g. how they may react to a newly available channel or product set) based on their demographic, behavioral and customer journey attributes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Ability to customize customer communications and treatment strategies based on these insights as well as the financial implications of different treatment strategies.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Ability to assign priorities to different customer preferences, across channel and product.  Systemic ability to modify offerings and customer treatment strategies based on current set of exhibited behaviours.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rgbClr val="FF0000"/>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Ability to impute customer preferences without direct evidence on that customer, based on the observed preferences and priorities of similar customers over time.</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rgbClr val="FF0000"/>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understanding of current customer preferences regarding products, categories, and interaction channels.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Islamic preference inference from transaction avoidance patterns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Seasonal behavior modeling (Ramadan, Eid, wedding, school seasons)</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Timing-optimized seasonal campaign offers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Convert Islamic-preference customers to full Islamic banking</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Digital adoption curve tracking for branch-to-digital migration</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363" name="Google Shape;1363;p91"/>
          <p:cNvGrpSpPr/>
          <p:nvPr/>
        </p:nvGrpSpPr>
        <p:grpSpPr>
          <a:xfrm>
            <a:off x="469900" y="3818588"/>
            <a:ext cx="8455025" cy="732866"/>
            <a:chOff x="211138" y="3972860"/>
            <a:chExt cx="8713787" cy="642437"/>
          </a:xfrm>
        </p:grpSpPr>
        <p:sp>
          <p:nvSpPr>
            <p:cNvPr id="1364" name="Google Shape;1364;p9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365" name="Google Shape;1365;p9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366" name="Google Shape;1366;p91"/>
          <p:cNvGrpSpPr/>
          <p:nvPr/>
        </p:nvGrpSpPr>
        <p:grpSpPr>
          <a:xfrm>
            <a:off x="7971865" y="980278"/>
            <a:ext cx="949325" cy="2867825"/>
            <a:chOff x="7941888" y="1062037"/>
            <a:chExt cx="983037" cy="2695575"/>
          </a:xfrm>
        </p:grpSpPr>
        <p:sp>
          <p:nvSpPr>
            <p:cNvPr id="1367" name="Google Shape;1367;p9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368" name="Google Shape;1368;p9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369" name="Google Shape;1369;p9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sp>
        <p:nvSpPr>
          <p:cNvPr id="1370" name="Google Shape;1370;p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Define Pakistan life stages: Student, Young Professional, Family, Established, Diaspora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life stage from transaction patterns (60% under-30 youth bulge creates unique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Detect life events: first salary, marriage spend spike, school fees, Hajj savings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Salary credit patterns for Young Professional detection (first salary = life stage trigger)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Education payments, healthcare spend, Hajj/Umrah savings for life event detection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Roshan Digital Account opening as Diaspora life stage indicator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spcBef>
                          <a:spcPts val="200"/>
                        </a:spcBef>
                        <a:spcAft>
                          <a:spcPts val="0"/>
                        </a:spcAft>
                        <a:buNone/>
                      </a:pPr>
                      <a:r>
                        <a:rPr b="1" lang="en-GB" sz="900">
                          <a:solidFill>
                            <a:srgbClr val="0079DB"/>
                          </a:solidFill>
                        </a:rPr>
                        <a:t>Pakistan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60% under-30 population with age-appropriate financial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Life stage-based cross-sell: CASA to cards to loans to insurance to investment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 religious lifecycle banking: Zakat, Qurbani, Hajj savings, Waqf</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 name="Shape 1405"/>
        <p:cNvGrpSpPr/>
        <p:nvPr/>
      </p:nvGrpSpPr>
      <p:grpSpPr>
        <a:xfrm>
          <a:off x="0" y="0"/>
          <a:ext cx="0" cy="0"/>
          <a:chOff x="0" y="0"/>
          <a:chExt cx="0" cy="0"/>
        </a:xfrm>
      </p:grpSpPr>
      <p:graphicFrame>
        <p:nvGraphicFramePr>
          <p:cNvPr id="1406" name="Google Shape;1406;p9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Life Stage insight informs all aspects of customer analytics and individual customer treatment strategies. Longer term customer strategy can be made more relevant.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Development of innovative, non-traditional Life Stages that address specific customer needs for the industry – e.g., targeting sports cars to empty-nesters or Honeymoon Banking packages to newly engaged couples. Utilize external data such as demographic data in addition to self reported life stage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Identification and utilization of Customer Life Stage insight for targeting offers and messages to specific Life Stage-based customer segments.  Some understanding of which Life Stages are particularly relevant for the industry.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Rudimentary understanding of Customer Life Stage based on self-reported status of customer. Data captured from customer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Little or no understanding of which Customer Life Stages are relevant to the industry and limited ability to understand where customers are other than by direct conversation.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Transaction pattern-based life event detection (salary, marriage, school fees, Hajj)</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Diaspora segment identification via Roshan Digital Account</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Target 60% under-30 with age-appropriate financial products</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Life stage-based cross-sell pipeline: CASA to investment</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Capture religious lifecycle banking (Zakat, Hajj, Waqf)</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407" name="Google Shape;1407;p93"/>
          <p:cNvGrpSpPr/>
          <p:nvPr/>
        </p:nvGrpSpPr>
        <p:grpSpPr>
          <a:xfrm>
            <a:off x="469900" y="3818588"/>
            <a:ext cx="8455025" cy="732866"/>
            <a:chOff x="211138" y="3972860"/>
            <a:chExt cx="8713787" cy="642437"/>
          </a:xfrm>
        </p:grpSpPr>
        <p:sp>
          <p:nvSpPr>
            <p:cNvPr id="1408" name="Google Shape;1408;p9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409" name="Google Shape;1409;p9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grpSp>
        <p:nvGrpSpPr>
          <p:cNvPr id="1410" name="Google Shape;1410;p93"/>
          <p:cNvGrpSpPr/>
          <p:nvPr/>
        </p:nvGrpSpPr>
        <p:grpSpPr>
          <a:xfrm>
            <a:off x="7971865" y="980278"/>
            <a:ext cx="949325" cy="2867825"/>
            <a:chOff x="7941888" y="1062037"/>
            <a:chExt cx="983037" cy="2695575"/>
          </a:xfrm>
        </p:grpSpPr>
        <p:sp>
          <p:nvSpPr>
            <p:cNvPr id="1411" name="Google Shape;1411;p9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412" name="Google Shape;1412;p9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 </a:t>
              </a:r>
              <a:endParaRPr/>
            </a:p>
          </p:txBody>
        </p:sp>
      </p:grpSp>
      <p:sp>
        <p:nvSpPr>
          <p:cNvPr id="1413" name="Google Shape;1413;p9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a:solidFill>
                <a:schemeClr val="accent6"/>
              </a:solidFill>
            </a:endParaRPr>
          </a:p>
        </p:txBody>
      </p:sp>
      <p:sp>
        <p:nvSpPr>
          <p:cNvPr id="1414" name="Google Shape;1414;p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 — Top 2% generate 20% of revenue in Pakistan banking</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Migrate low-engaged customers (1.8 products/customer) toward higher value (target: 3.0+)</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to fintechs — SadaPay, NayaPay, Zindigi are actively targeting salary account holders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branch walk-in vs. digital onboarding vs. agent network vs. employer tie-up</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Manage the complete customer lifecycle from CNIC-based onboarding through wealth management to estate planning</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analytics-driven lifecycle strategies to acquire customers at PKR 500-1,000 digital cost (vs. PKR 3,000-5,000 branch), reduce 15M+ dormant accounts, and grow from 1.8 to 3.0+ products per customer</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7" name="Shape 1427"/>
        <p:cNvGrpSpPr/>
        <p:nvPr/>
      </p:nvGrpSpPr>
      <p:grpSpPr>
        <a:xfrm>
          <a:off x="0" y="0"/>
          <a:ext cx="0" cy="0"/>
          <a:chOff x="0" y="0"/>
          <a:chExt cx="0" cy="0"/>
        </a:xfrm>
      </p:grpSpPr>
      <p:sp>
        <p:nvSpPr>
          <p:cNvPr id="1428" name="Google Shape;1428;p95"/>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110000"/>
              </a:lnSpc>
              <a:spcBef>
                <a:spcPts val="800"/>
              </a:spcBef>
              <a:spcAft>
                <a:spcPts val="0"/>
              </a:spcAft>
              <a:buClr>
                <a:schemeClr val="dk1"/>
              </a:buClr>
              <a:buSzPts val="1200"/>
              <a:buNone/>
            </a:pPr>
            <a:r>
              <a:rPr b="1" lang="en-GB" sz="1200"/>
              <a:t>Customer Acquisition </a:t>
            </a:r>
            <a:r>
              <a:rPr lang="en-GB" sz="1100"/>
              <a:t>digital bank onboarding (e-KYC via NADRA) at PKR 500-1,000 vs. branch acquisition at PKR 3,000-5,000f desired new customers</a:t>
            </a:r>
            <a:endParaRPr/>
          </a:p>
          <a:p>
            <a:pPr indent="0" lvl="0" marL="0" rtl="0" algn="l">
              <a:lnSpc>
                <a:spcPct val="110000"/>
              </a:lnSpc>
              <a:spcBef>
                <a:spcPts val="800"/>
              </a:spcBef>
              <a:spcAft>
                <a:spcPts val="0"/>
              </a:spcAft>
              <a:buClr>
                <a:schemeClr val="dk1"/>
              </a:buClr>
              <a:buSzPts val="1200"/>
              <a:buNone/>
            </a:pPr>
            <a:r>
              <a:rPr b="1" lang="en-GB" sz="1200"/>
              <a:t>Customer On-Boarding and Development </a:t>
            </a:r>
            <a:r>
              <a:rPr lang="en-GB" sz="1100"/>
              <a:t>CNIC-based instant onboarding, biometric verification, first-transaction activation campaigns</a:t>
            </a:r>
            <a:endParaRPr sz="1100"/>
          </a:p>
          <a:p>
            <a:pPr indent="0" lvl="0" marL="0" rtl="0" algn="l">
              <a:lnSpc>
                <a:spcPct val="95000"/>
              </a:lnSpc>
              <a:spcBef>
                <a:spcPts val="800"/>
              </a:spcBef>
              <a:spcAft>
                <a:spcPts val="0"/>
              </a:spcAft>
              <a:buClr>
                <a:schemeClr val="dk1"/>
              </a:buClr>
              <a:buSzPts val="1200"/>
              <a:buNone/>
            </a:pPr>
            <a:r>
              <a:rPr b="1" lang="en-GB" sz="1200"/>
              <a:t>Customer Retention </a:t>
            </a:r>
            <a:r>
              <a:rPr lang="en-GB" sz="1200"/>
              <a:t>d</a:t>
            </a:r>
            <a:r>
              <a:rPr lang="en-GB" sz="1100"/>
              <a:t>salary account lock-in, relationship pricing, and loyalty programs (HBL Konnect, UBL Rewards)</a:t>
            </a:r>
            <a:endParaRPr sz="1100"/>
          </a:p>
          <a:p>
            <a:pPr indent="0" lvl="0" marL="0" rtl="0" algn="l">
              <a:lnSpc>
                <a:spcPct val="100000"/>
              </a:lnSpc>
              <a:spcBef>
                <a:spcPts val="200"/>
              </a:spcBef>
              <a:spcAft>
                <a:spcPts val="0"/>
              </a:spcAft>
              <a:buClr>
                <a:srgbClr val="3C3C3B"/>
              </a:buClr>
              <a:buSzPts val="1200"/>
              <a:buNone/>
            </a:pPr>
            <a:r>
              <a:rPr b="1" lang="en-GB" sz="1200"/>
              <a:t>Customer Churn </a:t>
            </a:r>
            <a:r>
              <a:rPr lang="en-GB" sz="1100"/>
              <a:t>detect dormancy signals and compete with fintech migration — balance attrition prevention</a:t>
            </a:r>
            <a:endParaRPr sz="1100">
              <a:solidFill>
                <a:srgbClr val="3C3C3B"/>
              </a:solidFill>
            </a:endParaRPr>
          </a:p>
          <a:p>
            <a:pPr indent="0" lvl="0" marL="0" rtl="0" algn="l">
              <a:lnSpc>
                <a:spcPct val="110000"/>
              </a:lnSpc>
              <a:spcBef>
                <a:spcPts val="900"/>
              </a:spcBef>
              <a:spcAft>
                <a:spcPts val="0"/>
              </a:spcAft>
              <a:buClr>
                <a:schemeClr val="dk1"/>
              </a:buClr>
              <a:buSzPts val="1200"/>
              <a:buNone/>
            </a:pPr>
            <a:r>
              <a:rPr b="1" lang="en-GB" sz="1200"/>
              <a:t>Customer Re-engagement </a:t>
            </a:r>
            <a:r>
              <a:rPr lang="en-GB" sz="1100"/>
              <a:t>reactivate 15M+ dormant accounts across Pakistan banking system using ML-based targetingtomer relationships </a:t>
            </a:r>
            <a:endParaRPr/>
          </a:p>
          <a:p>
            <a:pPr indent="0" lvl="0" marL="0" rtl="0" algn="l">
              <a:lnSpc>
                <a:spcPct val="100000"/>
              </a:lnSpc>
              <a:spcBef>
                <a:spcPts val="200"/>
              </a:spcBef>
              <a:spcAft>
                <a:spcPts val="0"/>
              </a:spcAft>
              <a:buClr>
                <a:schemeClr val="dk1"/>
              </a:buClr>
              <a:buSzPts val="1200"/>
              <a:buNone/>
            </a:pPr>
            <a:r>
              <a:rPr b="1" lang="en-GB" sz="1200"/>
              <a:t>Customer Loyalty </a:t>
            </a:r>
            <a:r>
              <a:rPr lang="en-GB" sz="1100"/>
              <a:t>points programs, Islamic loyalty alternatives (Shariah-compliant rewards), and tiered service models</a:t>
            </a:r>
            <a:endParaRPr/>
          </a:p>
          <a:p>
            <a:pPr indent="0" lvl="0" marL="0" rtl="0" algn="l">
              <a:lnSpc>
                <a:spcPct val="110000"/>
              </a:lnSpc>
              <a:spcBef>
                <a:spcPts val="600"/>
              </a:spcBef>
              <a:spcAft>
                <a:spcPts val="0"/>
              </a:spcAft>
              <a:buClr>
                <a:schemeClr val="dk1"/>
              </a:buClr>
              <a:buSzPts val="1200"/>
              <a:buNone/>
            </a:pPr>
            <a:r>
              <a:rPr b="1" lang="en-GB" sz="1200"/>
              <a:t>Cross Sell/Up Sell </a:t>
            </a:r>
            <a:r>
              <a:rPr lang="en-GB" sz="1100"/>
              <a:t>CASA to Cards to Loans to Insurance to Investment pipeline — targeting 3.0+ products per customerisation profit and individual customer value</a:t>
            </a:r>
            <a:endParaRPr/>
          </a:p>
          <a:p>
            <a:pPr indent="0" lvl="0" marL="0" rtl="0" algn="l">
              <a:lnSpc>
                <a:spcPct val="110000"/>
              </a:lnSpc>
              <a:spcBef>
                <a:spcPts val="800"/>
              </a:spcBef>
              <a:spcAft>
                <a:spcPts val="0"/>
              </a:spcAft>
              <a:buClr>
                <a:schemeClr val="dk1"/>
              </a:buClr>
              <a:buSzPts val="1100"/>
              <a:buNone/>
            </a:pPr>
            <a:r>
              <a:t/>
            </a:r>
            <a:endParaRPr sz="1100"/>
          </a:p>
          <a:p>
            <a:pPr indent="0" lvl="0" marL="0" rtl="0" algn="l">
              <a:lnSpc>
                <a:spcPct val="110000"/>
              </a:lnSpc>
              <a:spcBef>
                <a:spcPts val="800"/>
              </a:spcBef>
              <a:spcAft>
                <a:spcPts val="0"/>
              </a:spcAft>
              <a:buClr>
                <a:schemeClr val="dk1"/>
              </a:buClr>
              <a:buSzPts val="1100"/>
              <a:buNone/>
            </a:pPr>
            <a:r>
              <a:t/>
            </a:r>
            <a:endParaRPr sz="1100"/>
          </a:p>
          <a:p>
            <a:pPr indent="-153987" lvl="1" marL="515938" rtl="0" algn="l">
              <a:lnSpc>
                <a:spcPct val="110000"/>
              </a:lnSpc>
              <a:spcBef>
                <a:spcPts val="400"/>
              </a:spcBef>
              <a:spcAft>
                <a:spcPts val="0"/>
              </a:spcAft>
              <a:buClr>
                <a:schemeClr val="dk1"/>
              </a:buClr>
              <a:buSzPts val="1200"/>
              <a:buNone/>
            </a:pPr>
            <a:r>
              <a:t/>
            </a:r>
            <a:endParaRPr sz="1200"/>
          </a:p>
          <a:p>
            <a:pPr indent="-153987" lvl="1" marL="515938" rtl="0" algn="l">
              <a:lnSpc>
                <a:spcPct val="110000"/>
              </a:lnSpc>
              <a:spcBef>
                <a:spcPts val="400"/>
              </a:spcBef>
              <a:spcAft>
                <a:spcPts val="0"/>
              </a:spcAft>
              <a:buClr>
                <a:schemeClr val="dk1"/>
              </a:buClr>
              <a:buSzPts val="1200"/>
              <a:buNone/>
            </a:pPr>
            <a:r>
              <a:t/>
            </a:r>
            <a:endParaRPr sz="1200"/>
          </a:p>
        </p:txBody>
      </p:sp>
      <p:sp>
        <p:nvSpPr>
          <p:cNvPr id="1429" name="Google Shape;1429;p9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endParaRPr/>
          </a:p>
        </p:txBody>
      </p:sp>
      <p:pic>
        <p:nvPicPr>
          <p:cNvPr descr="COM-1008-L.jpg" id="1430" name="Google Shape;1430;p9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31" name="Google Shape;1431;p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ph type="title"/>
          </p:nvPr>
        </p:nvSpPr>
        <p:spPr>
          <a:xfrm>
            <a:off x="127987" y="80000"/>
            <a:ext cx="8000000" cy="500000"/>
          </a:xfrm>
          <a:prstGeom prst="rect">
            <a:avLst/>
          </a:prstGeom>
        </p:spPr>
        <p:txBody>
          <a:bodyPr anchorCtr="0" anchor="b" bIns="0" lIns="0" rIns="0" wrap="square" tIns="0">
            <a:noAutofit/>
          </a:bodyPr>
          <a:lstStyle/>
          <a:p>
            <a:pPr indent="0" lvl="0" marL="0" algn="l">
              <a:buNone/>
            </a:pPr>
            <a:r>
              <a:rPr lang="en-GB" sz="2200">
                <a:solidFill>
                  <a:schemeClr val="accent1"/>
                </a:solidFill>
                <a:latin typeface="Century Gothic"/>
              </a:rPr>
              <a:t>Customer Information &amp; Insight Analytics</a:t>
            </a:r>
            <a:br>
              <a:rPr lang="en-GB" sz="1400"/>
            </a:br>
            <a:r>
              <a:rPr lang="en-GB" sz="1400">
                <a:solidFill>
                  <a:schemeClr val="dk1"/>
                </a:solidFill>
                <a:latin typeface="Century Gothic"/>
              </a:rPr>
              <a:t>At a Glance - Global vs Regional vs Pakistan Comparison</a:t>
            </a:r>
            <a:endParaRPr/>
          </a:p>
        </p:txBody>
      </p:sp>
      <p:graphicFrame>
        <p:nvGraphicFramePr>
          <p:cNvPr id="5" name="Table"/>
          <p:cNvGraphicFramePr>
            <a:graphicFrameLocks noGrp="1"/>
          </p:cNvGraphicFramePr>
          <p:nvPr/>
        </p:nvGraphicFramePr>
        <p:xfrm>
          <a:off x="200000" y="680000"/>
          <a:ext cx="8800000" cy="1800000"/>
        </p:xfrm>
        <a:graphic>
          <a:graphicData uri="http://schemas.openxmlformats.org/drawingml/2006/table">
            <a:tbl>
              <a:tblPr bandRow="1" firstRow="1">
                <a:noFill/>
              </a:tblPr>
              <a:tblGrid>
                <a:gridCol w="2400000"/>
                <a:gridCol w="2100000"/>
                <a:gridCol w="2300000"/>
                <a:gridCol w="2200000"/>
              </a:tblGrid>
              <a:tr h="300000">
                <a:tc>
                  <a:txBody>
                    <a:bodyPr/>
                    <a:lstStyle/>
                    <a:p>
                      <a:pPr indent="0" lvl="0" marL="0" rtl="0" algn="ctr">
                        <a:spcBef>
                          <a:spcPts val="0"/>
                        </a:spcBef>
                        <a:spcAft>
                          <a:spcPts val="0"/>
                        </a:spcAft>
                        <a:buNone/>
                      </a:pPr>
                      <a:r>
                        <a:rPr b="1" lang="en-GB" sz="1000">
                          <a:solidFill>
                            <a:schemeClr val="lt1"/>
                          </a:solidFill>
                          <a:latin typeface="Century Gothic"/>
                        </a:rPr>
                        <a:t>Metric</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solidFill>
                      <a:srgbClr val="0079DB"/>
                    </a:solidFill>
                  </a:tcPr>
                </a:tc>
                <a:tc>
                  <a:txBody>
                    <a:bodyPr/>
                    <a:lstStyle/>
                    <a:p>
                      <a:pPr indent="0" lvl="0" marL="0" rtl="0" algn="ctr">
                        <a:spcBef>
                          <a:spcPts val="0"/>
                        </a:spcBef>
                        <a:spcAft>
                          <a:spcPts val="0"/>
                        </a:spcAft>
                        <a:buNone/>
                      </a:pPr>
                      <a:r>
                        <a:rPr b="1" lang="en-GB" sz="1000">
                          <a:solidFill>
                            <a:schemeClr val="lt1"/>
                          </a:solidFill>
                          <a:latin typeface="Century Gothic"/>
                        </a:rPr>
                        <a:t>Global</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solidFill>
                      <a:srgbClr val="0079DB"/>
                    </a:solidFill>
                  </a:tcPr>
                </a:tc>
                <a:tc>
                  <a:txBody>
                    <a:bodyPr/>
                    <a:lstStyle/>
                    <a:p>
                      <a:pPr indent="0" lvl="0" marL="0" rtl="0" algn="ctr">
                        <a:spcBef>
                          <a:spcPts val="0"/>
                        </a:spcBef>
                        <a:spcAft>
                          <a:spcPts val="0"/>
                        </a:spcAft>
                        <a:buNone/>
                      </a:pPr>
                      <a:r>
                        <a:rPr b="1" lang="en-GB" sz="1000">
                          <a:solidFill>
                            <a:schemeClr val="lt1"/>
                          </a:solidFill>
                          <a:latin typeface="Century Gothic"/>
                        </a:rPr>
                        <a:t>South Asia &amp; ME</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solidFill>
                      <a:srgbClr val="0079DB"/>
                    </a:solidFill>
                  </a:tcPr>
                </a:tc>
                <a:tc>
                  <a:txBody>
                    <a:bodyPr/>
                    <a:lstStyle/>
                    <a:p>
                      <a:pPr indent="0" lvl="0" marL="0" rtl="0" algn="ctr">
                        <a:spcBef>
                          <a:spcPts val="0"/>
                        </a:spcBef>
                        <a:spcAft>
                          <a:spcPts val="0"/>
                        </a:spcAft>
                        <a:buNone/>
                      </a:pPr>
                      <a:r>
                        <a:rPr b="1" lang="en-GB" sz="1000">
                          <a:solidFill>
                            <a:schemeClr val="lt1"/>
                          </a:solidFill>
                          <a:latin typeface="Century Gothic"/>
                        </a:rPr>
                        <a:t>Pakistan</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solidFill>
                      <a:srgbClr val="0079DB"/>
                    </a:solidFill>
                  </a:tcPr>
                </a:tc>
              </a:tr>
              <a:tr h="270000">
                <a:tc>
                  <a:txBody>
                    <a:bodyPr/>
                    <a:lstStyle/>
                    <a:p>
                      <a:pPr indent="0" lvl="0" marL="0" rtl="0" algn="l">
                        <a:spcBef>
                          <a:spcPts val="0"/>
                        </a:spcBef>
                        <a:spcAft>
                          <a:spcPts val="0"/>
                        </a:spcAft>
                        <a:buNone/>
                      </a:pPr>
                      <a:r>
                        <a:rPr b="1" lang="en-GB" sz="900">
                          <a:solidFill>
                            <a:schemeClr val="dk1"/>
                          </a:solidFill>
                          <a:latin typeface="Century Gothic"/>
                        </a:rPr>
                        <a:t>Single Customer View adoption</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78% of G-SIBs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45% of top-20 banks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b="1" lang="en-GB" sz="900">
                          <a:solidFill>
                            <a:schemeClr val="dk1"/>
                          </a:solidFill>
                          <a:latin typeface="Century Gothic"/>
                        </a:rPr>
                        <a:t>&lt;25% (fragmented systems)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r>
              <a:tr h="270000">
                <a:tc>
                  <a:txBody>
                    <a:bodyPr/>
                    <a:lstStyle/>
                    <a:p>
                      <a:pPr indent="0" lvl="0" marL="0" rtl="0" algn="l">
                        <a:spcBef>
                          <a:spcPts val="0"/>
                        </a:spcBef>
                        <a:spcAft>
                          <a:spcPts val="0"/>
                        </a:spcAft>
                        <a:buNone/>
                      </a:pPr>
                      <a:r>
                        <a:rPr b="1" lang="en-GB" sz="900">
                          <a:solidFill>
                            <a:schemeClr val="dk1"/>
                          </a:solidFill>
                          <a:latin typeface="Century Gothic"/>
                        </a:rPr>
                        <a:t>360 Customer analytics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$12B market by 2026</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Fastest-growing region</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b="1" lang="en-GB" sz="900">
                          <a:solidFill>
                            <a:schemeClr val="dk1"/>
                          </a:solidFill>
                          <a:latin typeface="Century Gothic"/>
                        </a:rPr>
                        <a:t>Nascent - &lt;10 banks active</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r>
              <a:tr h="270000">
                <a:tc>
                  <a:txBody>
                    <a:bodyPr/>
                    <a:lstStyle/>
                    <a:p>
                      <a:pPr indent="0" lvl="0" marL="0" rtl="0" algn="l">
                        <a:spcBef>
                          <a:spcPts val="0"/>
                        </a:spcBef>
                        <a:spcAft>
                          <a:spcPts val="0"/>
                        </a:spcAft>
                        <a:buNone/>
                      </a:pPr>
                      <a:r>
                        <a:rPr b="1" lang="en-GB" sz="900">
                          <a:solidFill>
                            <a:schemeClr val="dk1"/>
                          </a:solidFill>
                          <a:latin typeface="Century Gothic"/>
                        </a:rPr>
                        <a:t>Customer data integration</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85% cloud-based</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35% cloud, 65% on-prem</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b="1" lang="en-GB" sz="900">
                          <a:solidFill>
                            <a:schemeClr val="dk1"/>
                          </a:solidFill>
                          <a:latin typeface="Century Gothic"/>
                        </a:rPr>
                        <a:t>90% on-prem, batch-based</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r>
              <a:tr h="270000">
                <a:tc>
                  <a:txBody>
                    <a:bodyPr/>
                    <a:lstStyle/>
                    <a:p>
                      <a:pPr indent="0" lvl="0" marL="0" rtl="0" algn="l">
                        <a:spcBef>
                          <a:spcPts val="0"/>
                        </a:spcBef>
                        <a:spcAft>
                          <a:spcPts val="0"/>
                        </a:spcAft>
                        <a:buNone/>
                      </a:pPr>
                      <a:r>
                        <a:rPr b="1" lang="en-GB" sz="900">
                          <a:solidFill>
                            <a:schemeClr val="dk1"/>
                          </a:solidFill>
                          <a:latin typeface="Century Gothic"/>
                        </a:rPr>
                        <a:t>Real-time event detection</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60% of mature banks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20% of digital-first banks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b="1" lang="en-GB" sz="900">
                          <a:solidFill>
                            <a:schemeClr val="dk1"/>
                          </a:solidFill>
                          <a:latin typeface="Century Gothic"/>
                        </a:rPr>
                        <a:t>&lt;5% (JazzCash, SadaPay)</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r>
              <a:tr h="270000">
                <a:tc>
                  <a:txBody>
                    <a:bodyPr/>
                    <a:lstStyle/>
                    <a:p>
                      <a:pPr indent="0" lvl="0" marL="0" rtl="0" algn="l">
                        <a:spcBef>
                          <a:spcPts val="0"/>
                        </a:spcBef>
                        <a:spcAft>
                          <a:spcPts val="0"/>
                        </a:spcAft>
                        <a:buNone/>
                      </a:pPr>
                      <a:r>
                        <a:rPr b="1" lang="en-GB" sz="900">
                          <a:solidFill>
                            <a:schemeClr val="dk1"/>
                          </a:solidFill>
                          <a:latin typeface="Century Gothic"/>
                        </a:rPr>
                        <a:t>Average data latency</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Minutes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lang="en-GB" sz="900">
                          <a:solidFill>
                            <a:schemeClr val="dk1"/>
                          </a:solidFill>
                          <a:latin typeface="Century Gothic"/>
                        </a:rPr>
                        <a:t>Hours-to-Days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c>
                  <a:txBody>
                    <a:bodyPr/>
                    <a:lstStyle/>
                    <a:p>
                      <a:pPr indent="0" lvl="0" marL="0" rtl="0" algn="l">
                        <a:spcBef>
                          <a:spcPts val="0"/>
                        </a:spcBef>
                        <a:spcAft>
                          <a:spcPts val="0"/>
                        </a:spcAft>
                        <a:buNone/>
                      </a:pPr>
                      <a:r>
                        <a:rPr b="1" lang="en-GB" sz="900">
                          <a:solidFill>
                            <a:schemeClr val="dk1"/>
                          </a:solidFill>
                          <a:latin typeface="Century Gothic"/>
                        </a:rPr>
                        <a:t>Days-to-Weeks</a:t>
                      </a:r>
                      <a:endParaRPr/>
                    </a:p>
                  </a:txBody>
                  <a:tcPr marT="36000" marB="36000" marR="36000" marL="36000">
                    <a:lnL cap="flat" cmpd="sng" w="9525">
                      <a:solidFill>
                        <a:srgbClr val="BFBFBF"/>
                      </a:solidFill>
                      <a:prstDash val="solid"/>
                      <a:round/>
                    </a:lnL>
                    <a:lnR cap="flat" cmpd="sng" w="9525">
                      <a:solidFill>
                        <a:srgbClr val="BFBFBF"/>
                      </a:solidFill>
                      <a:prstDash val="solid"/>
                      <a:round/>
                    </a:lnR>
                    <a:lnT cap="flat" cmpd="sng" w="9525">
                      <a:solidFill>
                        <a:srgbClr val="BFBFBF"/>
                      </a:solidFill>
                      <a:prstDash val="solid"/>
                      <a:round/>
                    </a:lnT>
                    <a:lnB cap="flat" cmpd="sng" w="9525">
                      <a:solidFill>
                        <a:srgbClr val="BFBFBF"/>
                      </a:solidFill>
                      <a:prstDash val="solid"/>
                      <a:round/>
                    </a:lnB>
                    <a:noFill/>
                  </a:tcPr>
                </a:tc>
              </a:tr>
            </a:tbl>
          </a:graphicData>
        </a:graphic>
      </p:graphicFrame>
      <p:sp>
        <p:nvSpPr>
          <p:cNvPr id="20" name="InfoBar"/>
          <p:cNvSpPr/>
          <p:nvPr/>
        </p:nvSpPr>
        <p:spPr>
          <a:xfrm>
            <a:off x="200000" y="2600000"/>
            <a:ext cx="8700000" cy="300000"/>
          </a:xfrm>
          <a:prstGeom prst="rect">
            <a:avLst/>
          </a:prstGeom>
          <a:solidFill>
            <a:srgbClr val="333333">
              <a:alpha val="90000"/>
            </a:srgbClr>
          </a:solidFill>
          <a:ln>
            <a:noFill/>
          </a:ln>
        </p:spPr>
        <p:txBody>
          <a:bodyPr anchorCtr="0" anchor="ctr" bIns="36000" lIns="72000" rIns="72000" wrap="square" tIns="36000">
            <a:noAutofit/>
          </a:bodyPr>
          <a:lstStyle/>
          <a:p>
            <a:pPr algn="ctr">
              <a:buNone/>
            </a:pPr>
            <a:r>
              <a:rPr lang="en-GB" sz="900">
                <a:solidFill>
                  <a:schemeClr val="lt1"/>
                </a:solidFill>
                <a:latin typeface="Century Gothic"/>
              </a:rPr>
              <a:t>Products/Customer: Pakistan 1.8 vs Global 4-5  |  Digital Banking Growth: 40% YoY  |  Financial Inclusion: 30%  |  Mobile Wallets: 100M+</a:t>
            </a:r>
            <a:endParaRPr/>
          </a:p>
        </p:txBody>
      </p:sp>
      <p:sp>
        <p:nvSpPr>
          <p:cNvPr id="11" name="TextBox2"/>
          <p:cNvSpPr txBox="1"/>
          <p:nvPr/>
        </p:nvSpPr>
        <p:spPr>
          <a:xfrm>
            <a:off x="200000" y="3000000"/>
            <a:ext cx="8700000" cy="1500000"/>
          </a:xfrm>
          <a:prstGeom prst="rect">
            <a:avLst/>
          </a:prstGeom>
          <a:noFill/>
        </p:spPr>
        <p:txBody>
          <a:bodyPr anchorCtr="0" anchor="t" bIns="36000" lIns="72000" rIns="36000" wrap="square" tIns="36000">
            <a:noAutofit/>
          </a:bodyPr>
          <a:lstStyle/>
          <a:p>
            <a:pPr indent="0" lvl="0" marL="0" rtl="0" algn="l">
              <a:lnSpc>
                <a:spcPct val="120000"/>
              </a:lnSpc>
              <a:spcBef>
                <a:spcPts val="100"/>
              </a:spcBef>
              <a:spcAft>
                <a:spcPts val="0"/>
              </a:spcAft>
              <a:buNone/>
            </a:pPr>
            <a:r>
              <a:rPr b="1" lang="en-GB" sz="900">
                <a:solidFill>
                  <a:srgbClr val="333333"/>
                </a:solidFill>
                <a:latin typeface="Century Gothic"/>
              </a:rPr>
              <a:t>Key Pakistan Differentiators:</a:t>
            </a:r>
            <a:endParaRPr/>
          </a:p>
          <a:p>
            <a:pPr indent="0" lvl="0" marL="0" rtl="0" algn="l">
              <a:lnSpc>
                <a:spcPct val="120000"/>
              </a:lnSpc>
              <a:spcBef>
                <a:spcPts val="100"/>
              </a:spcBef>
              <a:spcAft>
                <a:spcPts val="0"/>
              </a:spcAft>
              <a:buNone/>
            </a:pPr>
            <a:r>
              <a:rPr lang="en-GB" sz="900">
                <a:solidFill>
                  <a:srgbClr val="333333"/>
                </a:solidFill>
                <a:latin typeface="Century Gothic"/>
              </a:rPr>
              <a:t>CNIC: 98% adult coverage - universal ID unavailable in most markets</a:t>
            </a:r>
            <a:endParaRPr/>
          </a:p>
          <a:p>
            <a:pPr indent="0" lvl="0" marL="0" rtl="0" algn="l">
              <a:lnSpc>
                <a:spcPct val="120000"/>
              </a:lnSpc>
              <a:spcBef>
                <a:spcPts val="100"/>
              </a:spcBef>
              <a:spcAft>
                <a:spcPts val="0"/>
              </a:spcAft>
              <a:buNone/>
            </a:pPr>
            <a:r>
              <a:rPr lang="en-GB" sz="900">
                <a:solidFill>
                  <a:srgbClr val="333333"/>
                </a:solidFill>
                <a:latin typeface="Century Gothic"/>
              </a:rPr>
              <a:t>RAAST: 50M+ monthly instant payments - underutilized for analytics</a:t>
            </a:r>
            <a:endParaRPr/>
          </a:p>
          <a:p>
            <a:pPr indent="0" lvl="0" marL="0" rtl="0" algn="l">
              <a:lnSpc>
                <a:spcPct val="120000"/>
              </a:lnSpc>
              <a:spcBef>
                <a:spcPts val="100"/>
              </a:spcBef>
              <a:spcAft>
                <a:spcPts val="0"/>
              </a:spcAft>
              <a:buNone/>
            </a:pPr>
            <a:r>
              <a:rPr lang="en-GB" sz="900">
                <a:solidFill>
                  <a:srgbClr val="333333"/>
                </a:solidFill>
                <a:latin typeface="Century Gothic"/>
              </a:rPr>
              <a:t>Youth: 60% under 30 - largest digital-native customer segment in South Asia</a:t>
            </a:r>
            <a:endParaRPr/>
          </a:p>
          <a:p>
            <a:pPr indent="0" lvl="0" marL="0" rtl="0" algn="l">
              <a:lnSpc>
                <a:spcPct val="120000"/>
              </a:lnSpc>
              <a:spcBef>
                <a:spcPts val="100"/>
              </a:spcBef>
              <a:spcAft>
                <a:spcPts val="0"/>
              </a:spcAft>
              <a:buNone/>
            </a:pPr>
            <a:r>
              <a:rPr lang="en-GB" sz="900">
                <a:solidFill>
                  <a:srgbClr val="333333"/>
                </a:solidFill>
                <a:latin typeface="Century Gothic"/>
              </a:rPr>
              <a:t>Islamic: 85% want Shariah-compliant products, only 20% market share</a:t>
            </a:r>
            <a:endParaRPr/>
          </a:p>
          <a:p>
            <a:pPr indent="0" lvl="0" marL="0" rtl="0" algn="l">
              <a:lnSpc>
                <a:spcPct val="120000"/>
              </a:lnSpc>
              <a:spcBef>
                <a:spcPts val="100"/>
              </a:spcBef>
              <a:spcAft>
                <a:spcPts val="0"/>
              </a:spcAft>
              <a:buNone/>
            </a:pPr>
            <a:r>
              <a:rPr lang="en-GB" sz="900">
                <a:solidFill>
                  <a:srgbClr val="333333"/>
                </a:solidFill>
                <a:latin typeface="Century Gothic"/>
              </a:rPr>
              <a:t>Branchless: 500,000+ agents serve financial inclusion frontier</a:t>
            </a:r>
            <a:endParaRPr/>
          </a:p>
        </p:txBody>
      </p:sp>
      <p:sp>
        <p:nvSpPr>
          <p:cNvPr id="20" name="InfoBar"/>
          <p:cNvSpPr/>
          <p:nvPr/>
        </p:nvSpPr>
        <p:spPr>
          <a:xfrm>
            <a:off x="200000" y="4600000"/>
            <a:ext cx="8700000" cy="350000"/>
          </a:xfrm>
          <a:prstGeom prst="rect">
            <a:avLst/>
          </a:prstGeom>
          <a:solidFill>
            <a:srgbClr val="0079DB">
              <a:alpha val="90000"/>
            </a:srgbClr>
          </a:solidFill>
          <a:ln>
            <a:noFill/>
          </a:ln>
        </p:spPr>
        <p:txBody>
          <a:bodyPr anchorCtr="0" anchor="ctr" bIns="36000" lIns="72000" rIns="72000" wrap="square" tIns="36000">
            <a:noAutofit/>
          </a:bodyPr>
          <a:lstStyle/>
          <a:p>
            <a:pPr algn="ctr">
              <a:buNone/>
            </a:pPr>
            <a:r>
              <a:rPr lang="en-GB" sz="900">
                <a:solidFill>
                  <a:schemeClr val="lt1"/>
                </a:solidFill>
                <a:latin typeface="Century Gothic"/>
              </a:rPr>
              <a:t>BVF Sub-capabilities: 12  |  FSDM Entities: ~200+ (Party, Event, Channel)  |  BACR Questions: ~95  |  Maturity Focus: Developing to Innovating</a:t>
            </a:r>
            <a:endParaRPr/>
          </a:p>
        </p:txBody>
      </p:sp>
    </p:spTree>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ph type="title"/>
          </p:nvPr>
        </p:nvSpPr>
        <p:spPr>
          <a:xfrm>
            <a:off x="127987" y="80000"/>
            <a:ext cx="8000000" cy="500000"/>
          </a:xfrm>
          <a:prstGeom prst="rect">
            <a:avLst/>
          </a:prstGeom>
        </p:spPr>
        <p:txBody>
          <a:bodyPr anchorCtr="0" anchor="b" bIns="0" lIns="0" rIns="0" wrap="square" tIns="0">
            <a:noAutofit/>
          </a:bodyPr>
          <a:lstStyle/>
          <a:p>
            <a:pPr indent="0" lvl="0" marL="0" algn="l">
              <a:buNone/>
            </a:pPr>
            <a:r>
              <a:rPr lang="en-GB" sz="2200">
                <a:solidFill>
                  <a:schemeClr val="accent1"/>
                </a:solidFill>
                <a:latin typeface="Century Gothic"/>
              </a:rPr>
              <a:t>Pakistan Banking - Customer Analytics Landscape</a:t>
            </a:r>
            <a:endParaRPr/>
          </a:p>
        </p:txBody>
      </p:sp>
      <p:sp>
        <p:nvSpPr>
          <p:cNvPr id="30" name="TextBox2"/>
          <p:cNvSpPr txBox="1"/>
          <p:nvPr/>
        </p:nvSpPr>
        <p:spPr>
          <a:xfrm>
            <a:off x="150000" y="650000"/>
            <a:ext cx="4300000" cy="2200000"/>
          </a:xfrm>
          <a:prstGeom prst="rect">
            <a:avLst/>
          </a:prstGeom>
          <a:noFill/>
        </p:spPr>
        <p:txBody>
          <a:bodyPr anchorCtr="0" anchor="t" bIns="36000" lIns="72000" rIns="36000" wrap="square" tIns="36000">
            <a:noAutofit/>
          </a:bodyPr>
          <a:lstStyle/>
          <a:p>
            <a:pPr indent="0" lvl="0" marL="0" rtl="0" algn="l">
              <a:lnSpc>
                <a:spcPct val="120000"/>
              </a:lnSpc>
              <a:spcBef>
                <a:spcPts val="100"/>
              </a:spcBef>
              <a:spcAft>
                <a:spcPts val="0"/>
              </a:spcAft>
              <a:buNone/>
            </a:pPr>
            <a:r>
              <a:rPr b="1" lang="en-GB" sz="900">
                <a:solidFill>
                  <a:srgbClr val="333333"/>
                </a:solidFill>
                <a:latin typeface="Century Gothic"/>
              </a:rPr>
              <a:t>Key Statistics</a:t>
            </a:r>
            <a:endParaRPr/>
          </a:p>
          <a:p>
            <a:pPr indent="0" lvl="0" marL="0" rtl="0" algn="l">
              <a:lnSpc>
                <a:spcPct val="120000"/>
              </a:lnSpc>
              <a:spcBef>
                <a:spcPts val="100"/>
              </a:spcBef>
              <a:spcAft>
                <a:spcPts val="0"/>
              </a:spcAft>
              <a:buNone/>
            </a:pPr>
            <a:r>
              <a:rPr lang="en-GB" sz="900">
                <a:solidFill>
                  <a:srgbClr val="333333"/>
                </a:solidFill>
                <a:latin typeface="Century Gothic"/>
              </a:rPr>
              <a:t>Bank Accounts:     60M+ (30% financial inclusion)</a:t>
            </a:r>
            <a:endParaRPr/>
          </a:p>
          <a:p>
            <a:pPr indent="0" lvl="0" marL="0" rtl="0" algn="l">
              <a:lnSpc>
                <a:spcPct val="120000"/>
              </a:lnSpc>
              <a:spcBef>
                <a:spcPts val="100"/>
              </a:spcBef>
              <a:spcAft>
                <a:spcPts val="0"/>
              </a:spcAft>
              <a:buNone/>
            </a:pPr>
            <a:r>
              <a:rPr lang="en-GB" sz="900">
                <a:solidFill>
                  <a:srgbClr val="333333"/>
                </a:solidFill>
                <a:latin typeface="Century Gothic"/>
              </a:rPr>
              <a:t>Mobile Wallets:    100M+ (JazzCash 40M+, Easypaisa 30M+)</a:t>
            </a:r>
            <a:endParaRPr/>
          </a:p>
          <a:p>
            <a:pPr indent="0" lvl="0" marL="0" rtl="0" algn="l">
              <a:lnSpc>
                <a:spcPct val="120000"/>
              </a:lnSpc>
              <a:spcBef>
                <a:spcPts val="100"/>
              </a:spcBef>
              <a:spcAft>
                <a:spcPts val="0"/>
              </a:spcAft>
              <a:buNone/>
            </a:pPr>
            <a:r>
              <a:rPr lang="en-GB" sz="900">
                <a:solidFill>
                  <a:srgbClr val="333333"/>
                </a:solidFill>
                <a:latin typeface="Century Gothic"/>
              </a:rPr>
              <a:t>CNIC Penetration:  98% adult coverage (unique national ID)</a:t>
            </a:r>
            <a:endParaRPr/>
          </a:p>
          <a:p>
            <a:pPr indent="0" lvl="0" marL="0" rtl="0" algn="l">
              <a:lnSpc>
                <a:spcPct val="120000"/>
              </a:lnSpc>
              <a:spcBef>
                <a:spcPts val="100"/>
              </a:spcBef>
              <a:spcAft>
                <a:spcPts val="0"/>
              </a:spcAft>
              <a:buNone/>
            </a:pPr>
            <a:r>
              <a:rPr lang="en-GB" sz="900">
                <a:solidFill>
                  <a:srgbClr val="333333"/>
                </a:solidFill>
                <a:latin typeface="Century Gothic"/>
              </a:rPr>
              <a:t>Avg Products/Cust: 1.8 (global benchmark: 4-5)</a:t>
            </a:r>
            <a:endParaRPr/>
          </a:p>
          <a:p>
            <a:pPr indent="0" lvl="0" marL="0" rtl="0" algn="l">
              <a:lnSpc>
                <a:spcPct val="120000"/>
              </a:lnSpc>
              <a:spcBef>
                <a:spcPts val="100"/>
              </a:spcBef>
              <a:spcAft>
                <a:spcPts val="0"/>
              </a:spcAft>
              <a:buNone/>
            </a:pPr>
            <a:r>
              <a:rPr lang="en-GB" sz="900">
                <a:solidFill>
                  <a:srgbClr val="333333"/>
                </a:solidFill>
                <a:latin typeface="Century Gothic"/>
              </a:rPr>
              <a:t>Digital Adoption:  40% YoY growth</a:t>
            </a:r>
            <a:endParaRPr/>
          </a:p>
          <a:p>
            <a:pPr indent="0" lvl="0" marL="0" rtl="0" algn="l">
              <a:lnSpc>
                <a:spcPct val="120000"/>
              </a:lnSpc>
              <a:spcBef>
                <a:spcPts val="100"/>
              </a:spcBef>
              <a:spcAft>
                <a:spcPts val="0"/>
              </a:spcAft>
              <a:buNone/>
            </a:pPr>
            <a:r>
              <a:rPr lang="en-GB" sz="900">
                <a:solidFill>
                  <a:srgbClr val="333333"/>
                </a:solidFill>
                <a:latin typeface="Century Gothic"/>
              </a:rPr>
              <a:t>Youth Population:  60% under 30</a:t>
            </a:r>
            <a:endParaRPr/>
          </a:p>
          <a:p>
            <a:pPr indent="0" lvl="0" marL="0" rtl="0" algn="l">
              <a:lnSpc>
                <a:spcPct val="120000"/>
              </a:lnSpc>
              <a:spcBef>
                <a:spcPts val="100"/>
              </a:spcBef>
              <a:spcAft>
                <a:spcPts val="0"/>
              </a:spcAft>
              <a:buNone/>
            </a:pPr>
            <a:r>
              <a:rPr lang="en-GB" sz="900">
                <a:solidFill>
                  <a:srgbClr val="333333"/>
                </a:solidFill>
                <a:latin typeface="Century Gothic"/>
              </a:rPr>
              <a:t>RAAST Txns:        PKR 1.5T+ monthly</a:t>
            </a:r>
            <a:endParaRPr/>
          </a:p>
          <a:p>
            <a:pPr indent="0" lvl="0" marL="0" rtl="0" algn="l">
              <a:lnSpc>
                <a:spcPct val="120000"/>
              </a:lnSpc>
              <a:spcBef>
                <a:spcPts val="100"/>
              </a:spcBef>
              <a:spcAft>
                <a:spcPts val="0"/>
              </a:spcAft>
              <a:buNone/>
            </a:pPr>
            <a:r>
              <a:rPr lang="en-GB" sz="900">
                <a:solidFill>
                  <a:srgbClr val="333333"/>
                </a:solidFill>
                <a:latin typeface="Century Gothic"/>
              </a:rPr>
              <a:t>Core Systems/Bank: 4-5 average (major integration challenge)</a:t>
            </a:r>
            <a:endParaRPr/>
          </a:p>
        </p:txBody>
      </p:sp>
      <p:sp>
        <p:nvSpPr>
          <p:cNvPr id="31" name="TextBox2"/>
          <p:cNvSpPr txBox="1"/>
          <p:nvPr/>
        </p:nvSpPr>
        <p:spPr>
          <a:xfrm>
            <a:off x="4700000" y="650000"/>
            <a:ext cx="4200000" cy="1600000"/>
          </a:xfrm>
          <a:prstGeom prst="rect">
            <a:avLst/>
          </a:prstGeom>
          <a:noFill/>
        </p:spPr>
        <p:txBody>
          <a:bodyPr anchorCtr="0" anchor="t" bIns="36000" lIns="72000" rIns="36000" wrap="square" tIns="36000">
            <a:noAutofit/>
          </a:bodyPr>
          <a:lstStyle/>
          <a:p>
            <a:pPr indent="0" lvl="0" marL="0" rtl="0" algn="l">
              <a:lnSpc>
                <a:spcPct val="120000"/>
              </a:lnSpc>
              <a:spcBef>
                <a:spcPts val="100"/>
              </a:spcBef>
              <a:spcAft>
                <a:spcPts val="0"/>
              </a:spcAft>
              <a:buNone/>
            </a:pPr>
            <a:r>
              <a:rPr b="1" lang="en-GB" sz="900">
                <a:solidFill>
                  <a:srgbClr val="333333"/>
                </a:solidFill>
                <a:latin typeface="Century Gothic"/>
              </a:rPr>
              <a:t>Competitive Landscape</a:t>
            </a:r>
            <a:endParaRPr/>
          </a:p>
          <a:p>
            <a:pPr indent="0" lvl="0" marL="0" rtl="0" algn="l">
              <a:lnSpc>
                <a:spcPct val="120000"/>
              </a:lnSpc>
              <a:spcBef>
                <a:spcPts val="100"/>
              </a:spcBef>
              <a:spcAft>
                <a:spcPts val="0"/>
              </a:spcAft>
              <a:buNone/>
            </a:pPr>
            <a:r>
              <a:rPr lang="en-GB" sz="900">
                <a:solidFill>
                  <a:srgbClr val="333333"/>
                </a:solidFill>
                <a:latin typeface="Century Gothic"/>
              </a:rPr>
              <a:t>Traditional: 33 scheduled banks (Big 5: HBL, UBL, MCB, ABL, NBP)</a:t>
            </a:r>
            <a:endParaRPr/>
          </a:p>
          <a:p>
            <a:pPr indent="0" lvl="0" marL="0" rtl="0" algn="l">
              <a:lnSpc>
                <a:spcPct val="120000"/>
              </a:lnSpc>
              <a:spcBef>
                <a:spcPts val="100"/>
              </a:spcBef>
              <a:spcAft>
                <a:spcPts val="0"/>
              </a:spcAft>
              <a:buNone/>
            </a:pPr>
            <a:r>
              <a:rPr lang="en-GB" sz="900">
                <a:solidFill>
                  <a:srgbClr val="333333"/>
                </a:solidFill>
                <a:latin typeface="Century Gothic"/>
              </a:rPr>
              <a:t>Islamic: 5 full Islamic banks + 17 with Islamic windows</a:t>
            </a:r>
            <a:endParaRPr/>
          </a:p>
          <a:p>
            <a:pPr indent="0" lvl="0" marL="0" rtl="0" algn="l">
              <a:lnSpc>
                <a:spcPct val="120000"/>
              </a:lnSpc>
              <a:spcBef>
                <a:spcPts val="100"/>
              </a:spcBef>
              <a:spcAft>
                <a:spcPts val="0"/>
              </a:spcAft>
              <a:buNone/>
            </a:pPr>
            <a:r>
              <a:rPr lang="en-GB" sz="900">
                <a:solidFill>
                  <a:srgbClr val="333333"/>
                </a:solidFill>
                <a:latin typeface="Century Gothic"/>
              </a:rPr>
              <a:t>Digital: 5 digital bank licenses (2022)</a:t>
            </a:r>
            <a:endParaRPr/>
          </a:p>
          <a:p>
            <a:pPr indent="0" lvl="0" marL="0" rtl="0" algn="l">
              <a:lnSpc>
                <a:spcPct val="120000"/>
              </a:lnSpc>
              <a:spcBef>
                <a:spcPts val="100"/>
              </a:spcBef>
              <a:spcAft>
                <a:spcPts val="0"/>
              </a:spcAft>
              <a:buNone/>
            </a:pPr>
            <a:r>
              <a:rPr lang="en-GB" sz="900">
                <a:solidFill>
                  <a:srgbClr val="333333"/>
                </a:solidFill>
                <a:latin typeface="Century Gothic"/>
              </a:rPr>
              <a:t>Fintech: JazzCash, SadaPay, NayaPay, Easypaisa</a:t>
            </a:r>
            <a:endParaRPr/>
          </a:p>
          <a:p>
            <a:pPr indent="0" lvl="0" marL="0" rtl="0" algn="l">
              <a:lnSpc>
                <a:spcPct val="120000"/>
              </a:lnSpc>
              <a:spcBef>
                <a:spcPts val="100"/>
              </a:spcBef>
              <a:spcAft>
                <a:spcPts val="0"/>
              </a:spcAft>
              <a:buNone/>
            </a:pPr>
            <a:r>
              <a:rPr lang="en-GB" sz="900">
                <a:solidFill>
                  <a:srgbClr val="333333"/>
                </a:solidFill>
                <a:latin typeface="Century Gothic"/>
              </a:rPr>
              <a:t>EMIs/PSOs: 60+ licensed operators</a:t>
            </a:r>
            <a:endParaRPr/>
          </a:p>
        </p:txBody>
      </p:sp>
      <p:sp>
        <p:nvSpPr>
          <p:cNvPr id="32" name="TextBox2"/>
          <p:cNvSpPr txBox="1"/>
          <p:nvPr/>
        </p:nvSpPr>
        <p:spPr>
          <a:xfrm>
            <a:off x="4700000" y="2400000"/>
            <a:ext cx="4200000" cy="1200000"/>
          </a:xfrm>
          <a:prstGeom prst="rect">
            <a:avLst/>
          </a:prstGeom>
          <a:noFill/>
        </p:spPr>
        <p:txBody>
          <a:bodyPr anchorCtr="0" anchor="t" bIns="36000" lIns="72000" rIns="36000" wrap="square" tIns="36000">
            <a:noAutofit/>
          </a:bodyPr>
          <a:lstStyle/>
          <a:p>
            <a:pPr indent="0" lvl="0" marL="0" rtl="0" algn="l">
              <a:lnSpc>
                <a:spcPct val="120000"/>
              </a:lnSpc>
              <a:spcBef>
                <a:spcPts val="100"/>
              </a:spcBef>
              <a:spcAft>
                <a:spcPts val="0"/>
              </a:spcAft>
              <a:buNone/>
            </a:pPr>
            <a:r>
              <a:rPr b="1" lang="en-GB" sz="900">
                <a:solidFill>
                  <a:srgbClr val="333333"/>
                </a:solidFill>
                <a:latin typeface="Century Gothic"/>
              </a:rPr>
              <a:t>Regulators &amp; Key Frameworks</a:t>
            </a:r>
            <a:endParaRPr/>
          </a:p>
          <a:p>
            <a:pPr indent="0" lvl="0" marL="0" rtl="0" algn="l">
              <a:lnSpc>
                <a:spcPct val="120000"/>
              </a:lnSpc>
              <a:spcBef>
                <a:spcPts val="100"/>
              </a:spcBef>
              <a:spcAft>
                <a:spcPts val="0"/>
              </a:spcAft>
              <a:buNone/>
            </a:pPr>
            <a:r>
              <a:rPr lang="en-GB" sz="900">
                <a:solidFill>
                  <a:srgbClr val="333333"/>
                </a:solidFill>
                <a:latin typeface="Century Gothic"/>
              </a:rPr>
              <a:t>SBP: Digital banking framework, branchless banking regs, e-KYC via CNIC/NADRA</a:t>
            </a:r>
            <a:endParaRPr/>
          </a:p>
          <a:p>
            <a:pPr indent="0" lvl="0" marL="0" rtl="0" algn="l">
              <a:lnSpc>
                <a:spcPct val="120000"/>
              </a:lnSpc>
              <a:spcBef>
                <a:spcPts val="100"/>
              </a:spcBef>
              <a:spcAft>
                <a:spcPts val="0"/>
              </a:spcAft>
              <a:buNone/>
            </a:pPr>
            <a:r>
              <a:rPr lang="en-GB" sz="900">
                <a:solidFill>
                  <a:srgbClr val="333333"/>
                </a:solidFill>
                <a:latin typeface="Century Gothic"/>
              </a:rPr>
              <a:t>SECP: Customer data protection, mutual fund distribution</a:t>
            </a:r>
            <a:endParaRPr/>
          </a:p>
          <a:p>
            <a:pPr indent="0" lvl="0" marL="0" rtl="0" algn="l">
              <a:lnSpc>
                <a:spcPct val="120000"/>
              </a:lnSpc>
              <a:spcBef>
                <a:spcPts val="100"/>
              </a:spcBef>
              <a:spcAft>
                <a:spcPts val="0"/>
              </a:spcAft>
              <a:buNone/>
            </a:pPr>
            <a:r>
              <a:rPr lang="en-GB" sz="900">
                <a:solidFill>
                  <a:srgbClr val="333333"/>
                </a:solidFill>
                <a:latin typeface="Century Gothic"/>
              </a:rPr>
              <a:t>PTA: Mobile financial services oversight</a:t>
            </a:r>
            <a:endParaRPr/>
          </a:p>
          <a:p>
            <a:pPr indent="0" lvl="0" marL="0" rtl="0" algn="l">
              <a:lnSpc>
                <a:spcPct val="120000"/>
              </a:lnSpc>
              <a:spcBef>
                <a:spcPts val="100"/>
              </a:spcBef>
              <a:spcAft>
                <a:spcPts val="0"/>
              </a:spcAft>
              <a:buNone/>
            </a:pPr>
            <a:r>
              <a:rPr lang="en-GB" sz="900">
                <a:solidFill>
                  <a:srgbClr val="333333"/>
                </a:solidFill>
                <a:latin typeface="Century Gothic"/>
              </a:rPr>
              <a:t>FATF: AML/CFT compliance requirements driving analytics investment</a:t>
            </a:r>
            <a:endParaRPr/>
          </a:p>
        </p:txBody>
      </p:sp>
      <p:sp>
        <p:nvSpPr>
          <p:cNvPr id="33" name="TextBox2"/>
          <p:cNvSpPr txBox="1"/>
          <p:nvPr/>
        </p:nvSpPr>
        <p:spPr>
          <a:xfrm>
            <a:off x="150000" y="2900000"/>
            <a:ext cx="4300000" cy="1600000"/>
          </a:xfrm>
          <a:prstGeom prst="rect">
            <a:avLst/>
          </a:prstGeom>
          <a:noFill/>
        </p:spPr>
        <p:txBody>
          <a:bodyPr anchorCtr="0" anchor="t" bIns="36000" lIns="72000" rIns="36000" wrap="square" tIns="36000">
            <a:noAutofit/>
          </a:bodyPr>
          <a:lstStyle/>
          <a:p>
            <a:pPr indent="0" lvl="0" marL="0" rtl="0" algn="l">
              <a:lnSpc>
                <a:spcPct val="120000"/>
              </a:lnSpc>
              <a:spcBef>
                <a:spcPts val="100"/>
              </a:spcBef>
              <a:spcAft>
                <a:spcPts val="0"/>
              </a:spcAft>
              <a:buNone/>
            </a:pPr>
            <a:r>
              <a:rPr b="1" lang="en-GB" sz="900">
                <a:solidFill>
                  <a:srgbClr val="333333"/>
                </a:solidFill>
                <a:latin typeface="Century Gothic"/>
              </a:rPr>
              <a:t>Customer Analytics Maturity (Pakistan Banking Industry)</a:t>
            </a:r>
            <a:endParaRPr/>
          </a:p>
          <a:p>
            <a:pPr indent="0" lvl="0" marL="0" rtl="0" algn="l">
              <a:lnSpc>
                <a:spcPct val="120000"/>
              </a:lnSpc>
              <a:spcBef>
                <a:spcPts val="100"/>
              </a:spcBef>
              <a:spcAft>
                <a:spcPts val="0"/>
              </a:spcAft>
              <a:buNone/>
            </a:pPr>
            <a:r>
              <a:rPr lang="en-GB" sz="900">
                <a:solidFill>
                  <a:srgbClr val="333333"/>
                </a:solidFill>
                <a:latin typeface="Century Gothic"/>
              </a:rPr>
              <a:t>Single Customer View: 25% adoption | Multi-dimensional 360: &lt;10% | Real-time analytics: &lt;5%</a:t>
            </a:r>
            <a:endParaRPr/>
          </a:p>
          <a:p>
            <a:pPr indent="0" lvl="0" marL="0" rtl="0" algn="l">
              <a:lnSpc>
                <a:spcPct val="120000"/>
              </a:lnSpc>
              <a:spcBef>
                <a:spcPts val="100"/>
              </a:spcBef>
              <a:spcAft>
                <a:spcPts val="0"/>
              </a:spcAft>
              <a:buNone/>
            </a:pPr>
            <a:r>
              <a:rPr lang="en-GB" sz="900">
                <a:solidFill>
                  <a:srgbClr val="333333"/>
                </a:solidFill>
                <a:latin typeface="Century Gothic"/>
              </a:rPr>
              <a:t>Segmentation: Basic (retail/corporate/SME) | Profitability: Product-level only</a:t>
            </a:r>
            <a:endParaRPr/>
          </a:p>
          <a:p>
            <a:pPr indent="0" lvl="0" marL="0" rtl="0" algn="l">
              <a:lnSpc>
                <a:spcPct val="120000"/>
              </a:lnSpc>
              <a:spcBef>
                <a:spcPts val="100"/>
              </a:spcBef>
              <a:spcAft>
                <a:spcPts val="0"/>
              </a:spcAft>
              <a:buNone/>
            </a:pPr>
            <a:r>
              <a:rPr lang="en-GB" sz="900">
                <a:solidFill>
                  <a:srgbClr val="333333"/>
                </a:solidFill>
                <a:latin typeface="Century Gothic"/>
              </a:rPr>
              <a:t>Journey Analytics: Not deployed | Event Detection: Batch-based only</a:t>
            </a:r>
            <a:endParaRPr/>
          </a:p>
          <a:p>
            <a:pPr indent="0" lvl="0" marL="0" rtl="0" algn="l">
              <a:lnSpc>
                <a:spcPct val="120000"/>
              </a:lnSpc>
              <a:spcBef>
                <a:spcPts val="100"/>
              </a:spcBef>
              <a:spcAft>
                <a:spcPts val="0"/>
              </a:spcAft>
              <a:buNone/>
            </a:pPr>
            <a:r>
              <a:rPr lang="en-GB" sz="900">
                <a:solidFill>
                  <a:srgbClr val="333333"/>
                </a:solidFill>
                <a:latin typeface="Century Gothic"/>
              </a:rPr>
              <a:t>Key Blocker: 4-5 core systems per bank with nightly batch ETL, no real-time integration</a:t>
            </a:r>
            <a:endParaRPr/>
          </a:p>
        </p:txBody>
      </p:sp>
      <p:sp>
        <p:nvSpPr>
          <p:cNvPr id="20" name="InfoBar"/>
          <p:cNvSpPr/>
          <p:nvPr/>
        </p:nvSpPr>
        <p:spPr>
          <a:xfrm>
            <a:off x="150000" y="4600000"/>
            <a:ext cx="8800000" cy="350000"/>
          </a:xfrm>
          <a:prstGeom prst="rect">
            <a:avLst/>
          </a:prstGeom>
          <a:solidFill>
            <a:srgbClr val="0079DB">
              <a:alpha val="90000"/>
            </a:srgbClr>
          </a:solidFill>
          <a:ln>
            <a:noFill/>
          </a:ln>
        </p:spPr>
        <p:txBody>
          <a:bodyPr anchorCtr="0" anchor="ctr" bIns="36000" lIns="72000" rIns="72000" wrap="square" tIns="36000">
            <a:noAutofit/>
          </a:bodyPr>
          <a:lstStyle/>
          <a:p>
            <a:pPr algn="ctr">
              <a:buNone/>
            </a:pPr>
            <a:r>
              <a:rPr lang="en-GB" sz="900">
                <a:solidFill>
                  <a:schemeClr val="lt1"/>
                </a:solidFill>
                <a:latin typeface="Century Gothic"/>
              </a:rPr>
              <a:t>Analytics Opportunity: 70% unbanked population + 1.8 products per existing customer = massive growth potential through data-driven customer management</a:t>
            </a:r>
            <a:endParaRPr/>
          </a:p>
        </p:txBody>
      </p:sp>
    </p:spTree>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ph type="title"/>
          </p:nvPr>
        </p:nvSpPr>
        <p:spPr>
          <a:xfrm>
            <a:off x="127987" y="80000"/>
            <a:ext cx="8000000" cy="500000"/>
          </a:xfrm>
          <a:prstGeom prst="rect">
            <a:avLst/>
          </a:prstGeom>
        </p:spPr>
        <p:txBody>
          <a:bodyPr anchorCtr="0" anchor="b" bIns="0" lIns="0" rIns="0" wrap="square" tIns="0">
            <a:noAutofit/>
          </a:bodyPr>
          <a:lstStyle/>
          <a:p>
            <a:pPr indent="0" lvl="0" marL="0" algn="l">
              <a:buNone/>
            </a:pPr>
            <a:r>
              <a:rPr lang="en-GB" sz="2200">
                <a:solidFill>
                  <a:schemeClr val="accent1"/>
                </a:solidFill>
                <a:latin typeface="Century Gothic"/>
              </a:rPr>
              <a:t>Customer Analytics - Implementation Roadmap</a:t>
            </a:r>
            <a:endParaRPr/>
          </a:p>
        </p:txBody>
      </p:sp>
      <p:sp>
        <p:nvSpPr>
          <p:cNvPr id="40" name="Phase40"/>
          <p:cNvSpPr/>
          <p:nvPr/>
        </p:nvSpPr>
        <p:spPr>
          <a:xfrm>
            <a:off x="150000" y="650000"/>
            <a:ext cx="2850000" cy="3600000"/>
          </a:xfrm>
          <a:prstGeom prst="roundRect">
            <a:avLst>
              <a:gd fmla="val 5000" name="adj"/>
            </a:avLst>
          </a:prstGeom>
          <a:solidFill>
            <a:srgbClr val="0079DB"/>
          </a:solidFill>
          <a:ln>
            <a:noFill/>
          </a:ln>
        </p:spPr>
        <p:txBody>
          <a:bodyPr anchorCtr="0" anchor="t" bIns="72000" lIns="108000" rIns="72000" wrap="square" tIns="72000">
            <a:noAutofit/>
          </a:bodyPr>
          <a:lstStyle/>
          <a:p>
            <a:pPr indent="0" lvl="0" marL="0" algn="l">
              <a:spcBef>
                <a:spcPts val="0"/>
              </a:spcBef>
              <a:spcAft>
                <a:spcPts val="200"/>
              </a:spcAft>
              <a:buNone/>
            </a:pPr>
            <a:r>
              <a:rPr b="1" lang="en-GB" sz="1200">
                <a:solidFill>
                  <a:schemeClr val="lt1"/>
                </a:solidFill>
                <a:latin typeface="Century Gothic"/>
              </a:rPr>
              <a:t>Phase 1: Foundation</a:t>
            </a:r>
            <a:endParaRPr/>
          </a:p>
          <a:p>
            <a:pPr indent="0" lvl="0" marL="0" algn="l">
              <a:spcBef>
                <a:spcPts val="0"/>
              </a:spcBef>
              <a:spcAft>
                <a:spcPts val="200"/>
              </a:spcAft>
              <a:buNone/>
            </a:pPr>
            <a:r>
              <a:rPr b="1" lang="en-GB" sz="900">
                <a:solidFill>
                  <a:srgbClr val="FFFFFF">
                    <a:alpha val="80000"/>
                  </a:srgbClr>
                </a:solidFill>
                <a:latin typeface="Century Gothic"/>
              </a:rPr>
              <a:t>0-6 months</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Consolidate customer master from 4-5 core systems</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CNIC-based customer deduplication (NADRA verification)</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Basic customer segmentation (value, product, demographic)</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SBP regulatory reporting with consistent customer counts</a:t>
            </a:r>
            <a:endParaRPr/>
          </a:p>
          <a:p>
            <a:pPr indent="0" lvl="0" marL="0" algn="l">
              <a:spcBef>
                <a:spcPts val="300"/>
              </a:spcBef>
              <a:spcAft>
                <a:spcPts val="0"/>
              </a:spcAft>
              <a:buNone/>
            </a:pPr>
            <a:r>
              <a:rPr b="1" lang="en-GB" sz="800">
                <a:solidFill>
                  <a:srgbClr val="FFFF00"/>
                </a:solidFill>
                <a:latin typeface="Century Gothic"/>
              </a:rPr>
              <a:t>Investment: PKR 50-80M</a:t>
            </a:r>
            <a:endParaRPr/>
          </a:p>
          <a:p>
            <a:pPr indent="0" lvl="0" marL="0" algn="l">
              <a:spcBef>
                <a:spcPts val="0"/>
              </a:spcBef>
              <a:buNone/>
            </a:pPr>
            <a:r>
              <a:rPr lang="en-GB" sz="800">
                <a:solidFill>
                  <a:srgbClr val="FFFF00"/>
                </a:solidFill>
                <a:latin typeface="Century Gothic"/>
              </a:rPr>
              <a:t>Quick Win: Single customer ID across all systems</a:t>
            </a:r>
            <a:endParaRPr/>
          </a:p>
        </p:txBody>
      </p:sp>
      <p:sp>
        <p:nvSpPr>
          <p:cNvPr id="41" name="Phase41"/>
          <p:cNvSpPr/>
          <p:nvPr/>
        </p:nvSpPr>
        <p:spPr>
          <a:xfrm>
            <a:off x="3150000" y="650000"/>
            <a:ext cx="2850000" cy="3600000"/>
          </a:xfrm>
          <a:prstGeom prst="roundRect">
            <a:avLst>
              <a:gd fmla="val 5000" name="adj"/>
            </a:avLst>
          </a:prstGeom>
          <a:solidFill>
            <a:srgbClr val="005A9E"/>
          </a:solidFill>
          <a:ln>
            <a:noFill/>
          </a:ln>
        </p:spPr>
        <p:txBody>
          <a:bodyPr anchorCtr="0" anchor="t" bIns="72000" lIns="108000" rIns="72000" wrap="square" tIns="72000">
            <a:noAutofit/>
          </a:bodyPr>
          <a:lstStyle/>
          <a:p>
            <a:pPr indent="0" lvl="0" marL="0" algn="l">
              <a:spcBef>
                <a:spcPts val="0"/>
              </a:spcBef>
              <a:spcAft>
                <a:spcPts val="200"/>
              </a:spcAft>
              <a:buNone/>
            </a:pPr>
            <a:r>
              <a:rPr b="1" lang="en-GB" sz="1200">
                <a:solidFill>
                  <a:schemeClr val="lt1"/>
                </a:solidFill>
                <a:latin typeface="Century Gothic"/>
              </a:rPr>
              <a:t>Phase 2: Core Analytics</a:t>
            </a:r>
            <a:endParaRPr/>
          </a:p>
          <a:p>
            <a:pPr indent="0" lvl="0" marL="0" algn="l">
              <a:spcBef>
                <a:spcPts val="0"/>
              </a:spcBef>
              <a:spcAft>
                <a:spcPts val="200"/>
              </a:spcAft>
              <a:buNone/>
            </a:pPr>
            <a:r>
              <a:rPr b="1" lang="en-GB" sz="900">
                <a:solidFill>
                  <a:srgbClr val="FFFFFF">
                    <a:alpha val="80000"/>
                  </a:srgbClr>
                </a:solidFill>
                <a:latin typeface="Century Gothic"/>
              </a:rPr>
              <a:t>6-18 months</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Customer 360 view (transactions + digital + branch)</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Profitability model (activity-based costing per customer)</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Journey analytics across branch/ATM/mobile/internet</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Transaction classification engine (RAAST, IBFT, POS)</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Customer satisfaction indexing (NPS/CSAT cross-channel)</a:t>
            </a:r>
            <a:endParaRPr/>
          </a:p>
          <a:p>
            <a:pPr indent="0" lvl="0" marL="0" algn="l">
              <a:spcBef>
                <a:spcPts val="300"/>
              </a:spcBef>
              <a:spcAft>
                <a:spcPts val="0"/>
              </a:spcAft>
              <a:buNone/>
            </a:pPr>
            <a:r>
              <a:rPr b="1" lang="en-GB" sz="800">
                <a:solidFill>
                  <a:srgbClr val="FFFF00"/>
                </a:solidFill>
                <a:latin typeface="Century Gothic"/>
              </a:rPr>
              <a:t>Investment: PKR 100-200M</a:t>
            </a:r>
            <a:endParaRPr/>
          </a:p>
          <a:p>
            <a:pPr indent="0" lvl="0" marL="0" algn="l">
              <a:spcBef>
                <a:spcPts val="0"/>
              </a:spcBef>
              <a:buNone/>
            </a:pPr>
            <a:r>
              <a:rPr lang="en-GB" sz="800">
                <a:solidFill>
                  <a:srgbClr val="FFFF00"/>
                </a:solidFill>
                <a:latin typeface="Century Gothic"/>
              </a:rPr>
              <a:t>Expected: 15-20% cross-sell uplift</a:t>
            </a:r>
            <a:endParaRPr/>
          </a:p>
        </p:txBody>
      </p:sp>
      <p:sp>
        <p:nvSpPr>
          <p:cNvPr id="42" name="Phase42"/>
          <p:cNvSpPr/>
          <p:nvPr/>
        </p:nvSpPr>
        <p:spPr>
          <a:xfrm>
            <a:off x="6150000" y="650000"/>
            <a:ext cx="2850000" cy="3600000"/>
          </a:xfrm>
          <a:prstGeom prst="roundRect">
            <a:avLst>
              <a:gd fmla="val 5000" name="adj"/>
            </a:avLst>
          </a:prstGeom>
          <a:solidFill>
            <a:srgbClr val="003366"/>
          </a:solidFill>
          <a:ln>
            <a:noFill/>
          </a:ln>
        </p:spPr>
        <p:txBody>
          <a:bodyPr anchorCtr="0" anchor="t" bIns="72000" lIns="108000" rIns="72000" wrap="square" tIns="72000">
            <a:noAutofit/>
          </a:bodyPr>
          <a:lstStyle/>
          <a:p>
            <a:pPr indent="0" lvl="0" marL="0" algn="l">
              <a:spcBef>
                <a:spcPts val="0"/>
              </a:spcBef>
              <a:spcAft>
                <a:spcPts val="200"/>
              </a:spcAft>
              <a:buNone/>
            </a:pPr>
            <a:r>
              <a:rPr b="1" lang="en-GB" sz="1200">
                <a:solidFill>
                  <a:schemeClr val="lt1"/>
                </a:solidFill>
                <a:latin typeface="Century Gothic"/>
              </a:rPr>
              <a:t>Phase 3: Advanced Intelligence</a:t>
            </a:r>
            <a:endParaRPr/>
          </a:p>
          <a:p>
            <a:pPr indent="0" lvl="0" marL="0" algn="l">
              <a:spcBef>
                <a:spcPts val="0"/>
              </a:spcBef>
              <a:spcAft>
                <a:spcPts val="200"/>
              </a:spcAft>
              <a:buNone/>
            </a:pPr>
            <a:r>
              <a:rPr b="1" lang="en-GB" sz="900">
                <a:solidFill>
                  <a:srgbClr val="FFFFFF">
                    <a:alpha val="80000"/>
                  </a:srgbClr>
                </a:solidFill>
                <a:latin typeface="Century Gothic"/>
              </a:rPr>
              <a:t>18-36 months</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Real-time event detection (RAAST, IBFT, POS patterns)</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ML-based churn prediction and NBO (Next Best Offer)</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Connection analytics (household/business via CNIC)</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Behavioral scoring and life-stage inference</a:t>
            </a:r>
            <a:endParaRPr/>
          </a:p>
          <a:p>
            <a:pPr indent="-114300" lvl="0" marL="171450" algn="l">
              <a:spcBef>
                <a:spcPts val="100"/>
              </a:spcBef>
              <a:spcAft>
                <a:spcPts val="0"/>
              </a:spcAft>
              <a:buClr>
                <a:schemeClr val="lt1"/>
              </a:buClr>
              <a:buSzPts val="800"/>
              <a:buFont typeface="Arial"/>
              <a:buChar char="•"/>
            </a:pPr>
            <a:r>
              <a:rPr lang="en-GB" sz="800">
                <a:solidFill>
                  <a:schemeClr val="lt1"/>
                </a:solidFill>
                <a:latin typeface="Century Gothic"/>
              </a:rPr>
              <a:t>Islamic preference detection and product recommendation</a:t>
            </a:r>
            <a:endParaRPr/>
          </a:p>
          <a:p>
            <a:pPr indent="0" lvl="0" marL="0" algn="l">
              <a:spcBef>
                <a:spcPts val="300"/>
              </a:spcBef>
              <a:spcAft>
                <a:spcPts val="0"/>
              </a:spcAft>
              <a:buNone/>
            </a:pPr>
            <a:r>
              <a:rPr b="1" lang="en-GB" sz="800">
                <a:solidFill>
                  <a:srgbClr val="FFFF00"/>
                </a:solidFill>
                <a:latin typeface="Century Gothic"/>
              </a:rPr>
              <a:t>Investment: PKR 150-300M</a:t>
            </a:r>
            <a:endParaRPr/>
          </a:p>
          <a:p>
            <a:pPr indent="0" lvl="0" marL="0" algn="l">
              <a:spcBef>
                <a:spcPts val="0"/>
              </a:spcBef>
              <a:buNone/>
            </a:pPr>
            <a:r>
              <a:rPr lang="en-GB" sz="800">
                <a:solidFill>
                  <a:srgbClr val="FFFF00"/>
                </a:solidFill>
                <a:latin typeface="Century Gothic"/>
              </a:rPr>
              <a:t>Expected: 2-3x customer lifetime value growth</a:t>
            </a:r>
            <a:endParaRPr/>
          </a:p>
        </p:txBody>
      </p:sp>
      <p:sp>
        <p:nvSpPr>
          <p:cNvPr id="50" name="Arrow1"/>
          <p:cNvSpPr/>
          <p:nvPr/>
        </p:nvSpPr>
        <p:spPr>
          <a:xfrm>
            <a:off x="3020000" y="2200000"/>
            <a:ext cx="150000" cy="300000"/>
          </a:xfrm>
          <a:prstGeom prst="rightArrow">
            <a:avLst/>
          </a:prstGeom>
          <a:solidFill>
            <a:srgbClr val="0079DB"/>
          </a:solidFill>
          <a:ln>
            <a:noFill/>
          </a:ln>
        </p:spPr>
        <p:txBody>
          <a:bodyPr/>
          <a:lstStyle/>
          <a:p>
            <a:endParaRPr/>
          </a:p>
        </p:txBody>
      </p:sp>
      <p:sp>
        <p:nvSpPr>
          <p:cNvPr id="51" name="Arrow1"/>
          <p:cNvSpPr/>
          <p:nvPr/>
        </p:nvSpPr>
        <p:spPr>
          <a:xfrm>
            <a:off x="6020000" y="2200000"/>
            <a:ext cx="150000" cy="300000"/>
          </a:xfrm>
          <a:prstGeom prst="rightArrow">
            <a:avLst/>
          </a:prstGeom>
          <a:solidFill>
            <a:srgbClr val="0079DB"/>
          </a:solidFill>
          <a:ln>
            <a:noFill/>
          </a:ln>
        </p:spPr>
        <p:txBody>
          <a:bodyPr/>
          <a:lstStyle/>
          <a:p>
            <a:endParaRPr/>
          </a:p>
        </p:txBody>
      </p:sp>
      <p:sp>
        <p:nvSpPr>
          <p:cNvPr id="20" name="InfoBar"/>
          <p:cNvSpPr/>
          <p:nvPr/>
        </p:nvSpPr>
        <p:spPr>
          <a:xfrm>
            <a:off x="150000" y="4400000"/>
            <a:ext cx="8800000" cy="450000"/>
          </a:xfrm>
          <a:prstGeom prst="rect">
            <a:avLst/>
          </a:prstGeom>
          <a:solidFill>
            <a:srgbClr val="333333">
              <a:alpha val="90000"/>
            </a:srgbClr>
          </a:solidFill>
          <a:ln>
            <a:noFill/>
          </a:ln>
        </p:spPr>
        <p:txBody>
          <a:bodyPr anchorCtr="0" anchor="ctr" bIns="36000" lIns="72000" rIns="72000" wrap="square" tIns="36000">
            <a:noAutofit/>
          </a:bodyPr>
          <a:lstStyle/>
          <a:p>
            <a:pPr algn="ctr">
              <a:buNone/>
            </a:pPr>
            <a:r>
              <a:rPr lang="en-GB" sz="900">
                <a:solidFill>
                  <a:schemeClr val="lt1"/>
                </a:solidFill>
                <a:latin typeface="Century Gothic"/>
              </a:rPr>
              <a:t>Total Investment: PKR 300-580M over 36 months  |  Expected ROI: 3-5x through cross-sell uplift, churn reduction, and operational efficiency  |  Target: 1.8 to 3.0+ products per customer</a:t>
            </a:r>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