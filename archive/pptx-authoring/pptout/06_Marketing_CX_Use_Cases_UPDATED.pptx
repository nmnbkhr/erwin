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2.xml" ContentType="application/vnd.openxmlformats-officedocument.presentationml.notesSlide+xml"/>
  <Override PartName="/ppt/notesSlides/notesSlide104.xml" ContentType="application/vnd.openxmlformats-officedocument.presentationml.notesSlide+xml"/>
  <Override PartName="/ppt/notesSlides/notesSlide106.xml" ContentType="application/vnd.openxmlformats-officedocument.presentationml.notesSlide+xml"/>
  <Override PartName="/ppt/notesSlides/notesSlide108.xml" ContentType="application/vnd.openxmlformats-officedocument.presentationml.notesSlide+xml"/>
  <Override PartName="/ppt/notesSlides/notesSlide110.xml" ContentType="application/vnd.openxmlformats-officedocument.presentationml.notesSlide+xml"/>
  <Override PartName="/ppt/notesSlides/notesSlide112.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9.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9.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80.xml" ContentType="application/vnd.openxmlformats-officedocument.presentationml.notesSlide+xml"/>
  <Override PartName="/ppt/notesSlides/notesSlide84.xml" ContentType="application/vnd.openxmlformats-officedocument.presentationml.notesSlide+xml"/>
  <Override PartName="/ppt/notesSlides/notesSlide86.xml" ContentType="application/vnd.openxmlformats-officedocument.presentationml.notesSlide+xml"/>
  <Override PartName="/ppt/notesSlides/notesSlide88.xml" ContentType="application/vnd.openxmlformats-officedocument.presentationml.notesSlide+xml"/>
  <Override PartName="/ppt/notesSlides/notesSlide90.xml" ContentType="application/vnd.openxmlformats-officedocument.presentationml.notesSlide+xml"/>
  <Override PartName="/ppt/notesSlides/notesSlide92.xml" ContentType="application/vnd.openxmlformats-officedocument.presentationml.notesSlide+xml"/>
  <Override PartName="/ppt/notesSlides/notesSlide94.xml" ContentType="application/vnd.openxmlformats-officedocument.presentationml.notesSlide+xml"/>
  <Override PartName="/ppt/notesSlides/notesSlide96.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2.xml" ContentType="application/vnd.openxmlformats-officedocument.presentationml.slide+xml"/>
  <Override PartName="/ppt/slides/slide104.xml" ContentType="application/vnd.openxmlformats-officedocument.presentationml.slide+xml"/>
  <Override PartName="/ppt/slides/slide106.xml" ContentType="application/vnd.openxmlformats-officedocument.presentationml.slide+xml"/>
  <Override PartName="/ppt/slides/slide108.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4.xml" ContentType="application/vnd.openxmlformats-officedocument.presentationml.slide+xml"/>
  <Override PartName="/ppt/slides/slide86.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2.xml" ContentType="application/vnd.openxmlformats-officedocument.presentationml.slide+xml"/>
  <Override PartName="/ppt/slides/slide94.xml" ContentType="application/vnd.openxmlformats-officedocument.presentationml.slide+xml"/>
  <Override PartName="/ppt/slides/slide96.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Lst>
  <p:notesMasterIdLst>
    <p:notesMasterId r:id="rId6"/>
  </p:notesMasterIdLst>
  <p:sldIdLst>
    <p:sldId id="500" r:id="rId700"/>
    <p:sldId id="501" r:id="rId701"/>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502" r:id="rId702"/>
    <p:sldId id="437" r:id="rId188"/>
  </p:sldIdLst>
  <p:sldSz cy="5143500" cx="9144000"/>
  <p:notesSz cx="6858000" cy="9945675"/>
  <p:embeddedFontLst>
    <p:embeddedFont>
      <p:font typeface="Noto Sans Symbols"/>
      <p:regular r:id="rId626"/>
      <p:bold r:id="rId627"/>
    </p:embeddedFont>
    <p:embeddedFont>
      <p:font typeface="Century Gothic"/>
      <p:regular r:id="rId628"/>
      <p:bold r:id="rId629"/>
      <p:italic r:id="rId630"/>
      <p:boldItalic r:id="rId6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776">
          <p15:clr>
            <a:srgbClr val="A4A3A4"/>
          </p15:clr>
        </p15:guide>
        <p15:guide id="4" pos="1764">
          <p15:clr>
            <a:srgbClr val="A4A3A4"/>
          </p15:clr>
        </p15:guide>
        <p15:guide id="5" orient="horz" pos="2229">
          <p15:clr>
            <a:srgbClr val="A4A3A4"/>
          </p15:clr>
        </p15:guide>
        <p15:guide id="6" orient="horz" pos="3140">
          <p15:clr>
            <a:srgbClr val="A4A3A4"/>
          </p15:clr>
        </p15:guide>
        <p15:guide id="7" orient="horz" pos="311">
          <p15:clr>
            <a:srgbClr val="A4A3A4"/>
          </p15:clr>
        </p15:guide>
        <p15:guide id="8" orient="horz" pos="1593">
          <p15:clr>
            <a:srgbClr val="A4A3A4"/>
          </p15:clr>
        </p15:guide>
        <p15:guide id="9" pos="5696">
          <p15:clr>
            <a:srgbClr val="A4A3A4"/>
          </p15:clr>
        </p15:guide>
        <p15:guide id="10" pos="706">
          <p15:clr>
            <a:srgbClr val="A4A3A4"/>
          </p15:clr>
        </p15:guide>
        <p15:guide id="11" pos="2941">
          <p15:clr>
            <a:srgbClr val="A4A3A4"/>
          </p15:clr>
        </p15:guide>
        <p15:guide id="12" pos="91">
          <p15:clr>
            <a:srgbClr val="A4A3A4"/>
          </p15:clr>
        </p15:guide>
        <p15:guide id="13" orient="horz" pos="105">
          <p15:clr>
            <a:srgbClr val="000000"/>
          </p15:clr>
        </p15:guide>
        <p15:guide id="14" orient="horz" pos="1616">
          <p15:clr>
            <a:srgbClr val="000000"/>
          </p15:clr>
        </p15:guide>
        <p15:guide id="15" orient="horz" pos="567">
          <p15:clr>
            <a:srgbClr val="000000"/>
          </p15:clr>
        </p15:guide>
        <p15:guide id="16" orient="horz" pos="3034">
          <p15:clr>
            <a:srgbClr val="000000"/>
          </p15:clr>
        </p15:guide>
        <p15:guide id="17" orient="horz" pos="332">
          <p15:clr>
            <a:srgbClr val="000000"/>
          </p15:clr>
        </p15:guide>
        <p15:guide id="18" pos="239">
          <p15:clr>
            <a:srgbClr val="000000"/>
          </p15:clr>
        </p15:guide>
        <p15:guide id="19" pos="5557">
          <p15:clr>
            <a:srgbClr val="000000"/>
          </p15:clr>
        </p15:guide>
        <p15:guide id="20" pos="2914">
          <p15:clr>
            <a:srgbClr val="000000"/>
          </p15:clr>
        </p15:guide>
      </p15:sldGuideLst>
    </p:ext>
    <p:ext uri="{2D200454-40CA-4A62-9FC3-DE9A4176ACB9}">
      <p15:notesGuideLst>
        <p15:guide id="1" orient="horz" pos="2880">
          <p15:clr>
            <a:srgbClr val="A4A3A4"/>
          </p15:clr>
        </p15:guide>
        <p15:guide id="2" pos="2160">
          <p15:clr>
            <a:srgbClr val="A4A3A4"/>
          </p15:clr>
        </p15:guide>
        <p15:guide id="3" orient="horz" pos="3133">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98BFCB-6916-41F2-A2A5-0DF0D5139B6F}">
  <a:tblStyle styleId="{D098BFCB-6916-41F2-A2A5-0DF0D5139B6F}"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BEDE7"/>
          </a:solidFill>
        </a:fill>
      </a:tcStyle>
    </a:wholeTbl>
    <a:band1H>
      <a:tcTxStyle/>
      <a:tcStyle>
        <a:fill>
          <a:solidFill>
            <a:srgbClr val="F8D9CB"/>
          </a:solidFill>
        </a:fill>
      </a:tcStyle>
    </a:band1H>
    <a:band2H>
      <a:tcTxStyle/>
    </a:band2H>
    <a:band1V>
      <a:tcTxStyle/>
      <a:tcStyle>
        <a:fill>
          <a:solidFill>
            <a:srgbClr val="F8D9CB"/>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776"/>
        <p:guide pos="1764"/>
        <p:guide pos="2229" orient="horz"/>
        <p:guide pos="3140" orient="horz"/>
        <p:guide pos="311" orient="horz"/>
        <p:guide pos="1593" orient="horz"/>
        <p:guide pos="5696"/>
        <p:guide pos="706"/>
        <p:guide pos="2941"/>
        <p:guide pos="91"/>
        <p:guide pos="105" orient="horz"/>
        <p:guide pos="1616" orient="horz"/>
        <p:guide pos="567" orient="horz"/>
        <p:guide pos="3034" orient="horz"/>
        <p:guide pos="332" orient="horz"/>
        <p:guide pos="239"/>
        <p:guide pos="5557"/>
        <p:guide pos="2914"/>
      </p:guideLst>
    </p:cSldViewPr>
  </p:slideViewPr>
  <p:notesViewPr>
    <p:cSldViewPr snapToGrid="0">
      <p:cViewPr varScale="1">
        <p:scale>
          <a:sx n="100" d="100"/>
          <a:sy n="100" d="100"/>
        </p:scale>
        <p:origin x="0" y="0"/>
      </p:cViewPr>
      <p:guideLst>
        <p:guide pos="2880" orient="horz"/>
        <p:guide pos="2160"/>
        <p:guide pos="3133" orient="horz"/>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120" Type="http://schemas.openxmlformats.org/officeDocument/2006/relationships/slide" Target="slides/slide1.xml"/><Relationship Id="rId121" Type="http://schemas.openxmlformats.org/officeDocument/2006/relationships/slide" Target="slides/slide2.xml"/><Relationship Id="rId122" Type="http://schemas.openxmlformats.org/officeDocument/2006/relationships/slide" Target="slides/slide3.xml"/><Relationship Id="rId123" Type="http://schemas.openxmlformats.org/officeDocument/2006/relationships/slide" Target="slides/slide4.xml"/><Relationship Id="rId124" Type="http://schemas.openxmlformats.org/officeDocument/2006/relationships/slide" Target="slides/slide5.xml"/><Relationship Id="rId125" Type="http://schemas.openxmlformats.org/officeDocument/2006/relationships/slide" Target="slides/slide6.xml"/><Relationship Id="rId126" Type="http://schemas.openxmlformats.org/officeDocument/2006/relationships/slide" Target="slides/slide7.xml"/><Relationship Id="rId127" Type="http://schemas.openxmlformats.org/officeDocument/2006/relationships/slide" Target="slides/slide8.xml"/><Relationship Id="rId128" Type="http://schemas.openxmlformats.org/officeDocument/2006/relationships/slide" Target="slides/slide9.xml"/><Relationship Id="rId129" Type="http://schemas.openxmlformats.org/officeDocument/2006/relationships/slide" Target="slides/slide10.xml"/><Relationship Id="rId130" Type="http://schemas.openxmlformats.org/officeDocument/2006/relationships/slide" Target="slides/slide11.xml"/><Relationship Id="rId131" Type="http://schemas.openxmlformats.org/officeDocument/2006/relationships/slide" Target="slides/slide12.xml"/><Relationship Id="rId132" Type="http://schemas.openxmlformats.org/officeDocument/2006/relationships/slide" Target="slides/slide13.xml"/><Relationship Id="rId133" Type="http://schemas.openxmlformats.org/officeDocument/2006/relationships/slide" Target="slides/slide14.xml"/><Relationship Id="rId134" Type="http://schemas.openxmlformats.org/officeDocument/2006/relationships/slide" Target="slides/slide15.xml"/><Relationship Id="rId135" Type="http://schemas.openxmlformats.org/officeDocument/2006/relationships/slide" Target="slides/slide16.xml"/><Relationship Id="rId136" Type="http://schemas.openxmlformats.org/officeDocument/2006/relationships/slide" Target="slides/slide17.xml"/><Relationship Id="rId137" Type="http://schemas.openxmlformats.org/officeDocument/2006/relationships/slide" Target="slides/slide18.xml"/><Relationship Id="rId138" Type="http://schemas.openxmlformats.org/officeDocument/2006/relationships/slide" Target="slides/slide19.xml"/><Relationship Id="rId139" Type="http://schemas.openxmlformats.org/officeDocument/2006/relationships/slide" Target="slides/slide20.xml"/><Relationship Id="rId140" Type="http://schemas.openxmlformats.org/officeDocument/2006/relationships/slide" Target="slides/slide21.xml"/><Relationship Id="rId141" Type="http://schemas.openxmlformats.org/officeDocument/2006/relationships/slide" Target="slides/slide22.xml"/><Relationship Id="rId142" Type="http://schemas.openxmlformats.org/officeDocument/2006/relationships/slide" Target="slides/slide23.xml"/><Relationship Id="rId143" Type="http://schemas.openxmlformats.org/officeDocument/2006/relationships/slide" Target="slides/slide24.xml"/><Relationship Id="rId144" Type="http://schemas.openxmlformats.org/officeDocument/2006/relationships/slide" Target="slides/slide25.xml"/><Relationship Id="rId145" Type="http://schemas.openxmlformats.org/officeDocument/2006/relationships/slide" Target="slides/slide26.xml"/><Relationship Id="rId146" Type="http://schemas.openxmlformats.org/officeDocument/2006/relationships/slide" Target="slides/slide27.xml"/><Relationship Id="rId147" Type="http://schemas.openxmlformats.org/officeDocument/2006/relationships/slide" Target="slides/slide28.xml"/><Relationship Id="rId148" Type="http://schemas.openxmlformats.org/officeDocument/2006/relationships/slide" Target="slides/slide29.xml"/><Relationship Id="rId149" Type="http://schemas.openxmlformats.org/officeDocument/2006/relationships/slide" Target="slides/slide30.xml"/><Relationship Id="rId150" Type="http://schemas.openxmlformats.org/officeDocument/2006/relationships/slide" Target="slides/slide31.xml"/><Relationship Id="rId151" Type="http://schemas.openxmlformats.org/officeDocument/2006/relationships/slide" Target="slides/slide32.xml"/><Relationship Id="rId152" Type="http://schemas.openxmlformats.org/officeDocument/2006/relationships/slide" Target="slides/slide33.xml"/><Relationship Id="rId153" Type="http://schemas.openxmlformats.org/officeDocument/2006/relationships/slide" Target="slides/slide34.xml"/><Relationship Id="rId154" Type="http://schemas.openxmlformats.org/officeDocument/2006/relationships/slide" Target="slides/slide35.xml"/><Relationship Id="rId155" Type="http://schemas.openxmlformats.org/officeDocument/2006/relationships/slide" Target="slides/slide36.xml"/><Relationship Id="rId156" Type="http://schemas.openxmlformats.org/officeDocument/2006/relationships/slide" Target="slides/slide37.xml"/><Relationship Id="rId157" Type="http://schemas.openxmlformats.org/officeDocument/2006/relationships/slide" Target="slides/slide38.xml"/><Relationship Id="rId158" Type="http://schemas.openxmlformats.org/officeDocument/2006/relationships/slide" Target="slides/slide39.xml"/><Relationship Id="rId159" Type="http://schemas.openxmlformats.org/officeDocument/2006/relationships/slide" Target="slides/slide40.xml"/><Relationship Id="rId160" Type="http://schemas.openxmlformats.org/officeDocument/2006/relationships/slide" Target="slides/slide41.xml"/><Relationship Id="rId161" Type="http://schemas.openxmlformats.org/officeDocument/2006/relationships/slide" Target="slides/slide42.xml"/><Relationship Id="rId162" Type="http://schemas.openxmlformats.org/officeDocument/2006/relationships/slide" Target="slides/slide43.xml"/><Relationship Id="rId163" Type="http://schemas.openxmlformats.org/officeDocument/2006/relationships/slide" Target="slides/slide44.xml"/><Relationship Id="rId164" Type="http://schemas.openxmlformats.org/officeDocument/2006/relationships/slide" Target="slides/slide45.xml"/><Relationship Id="rId165" Type="http://schemas.openxmlformats.org/officeDocument/2006/relationships/slide" Target="slides/slide46.xml"/><Relationship Id="rId166" Type="http://schemas.openxmlformats.org/officeDocument/2006/relationships/slide" Target="slides/slide47.xml"/><Relationship Id="rId167" Type="http://schemas.openxmlformats.org/officeDocument/2006/relationships/slide" Target="slides/slide48.xml"/><Relationship Id="rId168" Type="http://schemas.openxmlformats.org/officeDocument/2006/relationships/slide" Target="slides/slide49.xml"/><Relationship Id="rId169" Type="http://schemas.openxmlformats.org/officeDocument/2006/relationships/slide" Target="slides/slide50.xml"/><Relationship Id="rId170" Type="http://schemas.openxmlformats.org/officeDocument/2006/relationships/slide" Target="slides/slide51.xml"/><Relationship Id="rId171" Type="http://schemas.openxmlformats.org/officeDocument/2006/relationships/slide" Target="slides/slide52.xml"/><Relationship Id="rId172" Type="http://schemas.openxmlformats.org/officeDocument/2006/relationships/slide" Target="slides/slide53.xml"/><Relationship Id="rId173" Type="http://schemas.openxmlformats.org/officeDocument/2006/relationships/slide" Target="slides/slide54.xml"/><Relationship Id="rId174" Type="http://schemas.openxmlformats.org/officeDocument/2006/relationships/slide" Target="slides/slide55.xml"/><Relationship Id="rId175" Type="http://schemas.openxmlformats.org/officeDocument/2006/relationships/slide" Target="slides/slide56.xml"/><Relationship Id="rId176" Type="http://schemas.openxmlformats.org/officeDocument/2006/relationships/slide" Target="slides/slide57.xml"/><Relationship Id="rId177" Type="http://schemas.openxmlformats.org/officeDocument/2006/relationships/slide" Target="slides/slide58.xml"/><Relationship Id="rId178" Type="http://schemas.openxmlformats.org/officeDocument/2006/relationships/slide" Target="slides/slide59.xml"/><Relationship Id="rId179" Type="http://schemas.openxmlformats.org/officeDocument/2006/relationships/slide" Target="slides/slide60.xml"/><Relationship Id="rId180" Type="http://schemas.openxmlformats.org/officeDocument/2006/relationships/slide" Target="slides/slide61.xml"/><Relationship Id="rId181" Type="http://schemas.openxmlformats.org/officeDocument/2006/relationships/slide" Target="slides/slide62.xml"/><Relationship Id="rId182" Type="http://schemas.openxmlformats.org/officeDocument/2006/relationships/slide" Target="slides/slide63.xml"/><Relationship Id="rId183" Type="http://schemas.openxmlformats.org/officeDocument/2006/relationships/slide" Target="slides/slide64.xml"/><Relationship Id="rId184" Type="http://schemas.openxmlformats.org/officeDocument/2006/relationships/slide" Target="slides/slide65.xml"/><Relationship Id="rId185" Type="http://schemas.openxmlformats.org/officeDocument/2006/relationships/slide" Target="slides/slide66.xml"/><Relationship Id="rId186" Type="http://schemas.openxmlformats.org/officeDocument/2006/relationships/slide" Target="slides/slide67.xml"/><Relationship Id="rId187" Type="http://schemas.openxmlformats.org/officeDocument/2006/relationships/slide" Target="slides/slide68.xml"/><Relationship Id="rId188" Type="http://schemas.openxmlformats.org/officeDocument/2006/relationships/slide" Target="slides/slide69.xml"/><Relationship Id="rId626" Type="http://schemas.openxmlformats.org/officeDocument/2006/relationships/font" Target="fonts/NotoSansSymbols-regular.fntdata"/><Relationship Id="rId627" Type="http://schemas.openxmlformats.org/officeDocument/2006/relationships/font" Target="fonts/NotoSansSymbols-bold.fntdata"/><Relationship Id="rId628" Type="http://schemas.openxmlformats.org/officeDocument/2006/relationships/font" Target="fonts/CenturyGothic-regular.fntdata"/><Relationship Id="rId629" Type="http://schemas.openxmlformats.org/officeDocument/2006/relationships/font" Target="fonts/CenturyGothic-bold.fntdata"/><Relationship Id="rId630" Type="http://schemas.openxmlformats.org/officeDocument/2006/relationships/font" Target="fonts/CenturyGothic-italic.fntdata"/><Relationship Id="rId631" Type="http://schemas.openxmlformats.org/officeDocument/2006/relationships/font" Target="fonts/CenturyGothic-boldItalic.fntdata"/><Relationship Id="rId700" Type="http://schemas.openxmlformats.org/officeDocument/2006/relationships/slide" Target="slides/slide200.xml"/><Relationship Id="rId701" Type="http://schemas.openxmlformats.org/officeDocument/2006/relationships/slide" Target="slides/slide201.xml"/><Relationship Id="rId702" Type="http://schemas.openxmlformats.org/officeDocument/2006/relationships/slide" Target="slides/slide20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972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 name="Google Shape;4;n"/>
          <p:cNvSpPr txBox="1"/>
          <p:nvPr>
            <p:ph idx="10" type="dt"/>
          </p:nvPr>
        </p:nvSpPr>
        <p:spPr>
          <a:xfrm>
            <a:off x="3884613" y="0"/>
            <a:ext cx="2971800" cy="497284"/>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 name="Google Shape;5;n"/>
          <p:cNvSpPr/>
          <p:nvPr>
            <p:ph idx="3"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5000"/>
              </a:lnSpc>
              <a:spcBef>
                <a:spcPts val="4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1pPr>
            <a:lvl2pPr indent="-304800" lvl="1" marL="9144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2pPr>
            <a:lvl3pPr indent="-304800" lvl="2" marL="13716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3pPr>
            <a:lvl4pPr indent="-304800" lvl="3" marL="18288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4pPr>
            <a:lvl5pPr indent="-304800" lvl="4" marL="22860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5pPr>
            <a:lvl6pPr indent="-228600" lvl="5" marL="27432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6pPr>
            <a:lvl7pPr indent="-228600" lvl="6" marL="32004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7pPr>
            <a:lvl8pPr indent="-228600" lvl="7" marL="36576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8pPr>
            <a:lvl9pPr indent="-228600" lvl="8" marL="41148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9pPr>
          </a:lstStyle>
          <a:p/>
        </p:txBody>
      </p:sp>
      <p:sp>
        <p:nvSpPr>
          <p:cNvPr id="7" name="Google Shape;7;n"/>
          <p:cNvSpPr txBox="1"/>
          <p:nvPr/>
        </p:nvSpPr>
        <p:spPr>
          <a:xfrm>
            <a:off x="286468" y="9509858"/>
            <a:ext cx="109004" cy="10772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GB" sz="700" u="none" cap="none" strike="noStrike">
                <a:solidFill>
                  <a:schemeClr val="lt2"/>
                </a:solidFill>
                <a:latin typeface="Century Gothic"/>
                <a:ea typeface="Century Gothic"/>
                <a:cs typeface="Century Gothic"/>
                <a:sym typeface="Century Gothic"/>
              </a:rPr>
              <a:t>‹#›</a:t>
            </a:fld>
            <a:endParaRPr b="0" i="0" sz="700" u="none" cap="none" strike="noStrike">
              <a:solidFill>
                <a:schemeClr val="lt2"/>
              </a:solidFill>
              <a:latin typeface="Century Gothic"/>
              <a:ea typeface="Century Gothic"/>
              <a:cs typeface="Century Gothic"/>
              <a:sym typeface="Century Gothic"/>
            </a:endParaRPr>
          </a:p>
        </p:txBody>
      </p:sp>
      <p:grpSp>
        <p:nvGrpSpPr>
          <p:cNvPr id="8" name="Google Shape;8;n"/>
          <p:cNvGrpSpPr/>
          <p:nvPr/>
        </p:nvGrpSpPr>
        <p:grpSpPr>
          <a:xfrm>
            <a:off x="6010878" y="9504586"/>
            <a:ext cx="531812" cy="129502"/>
            <a:chOff x="5137" y="4139"/>
            <a:chExt cx="335" cy="75"/>
          </a:xfrm>
        </p:grpSpPr>
        <p:sp>
          <p:nvSpPr>
            <p:cNvPr id="9" name="Google Shape;9;n"/>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0" name="Google Shape;10;n"/>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11" name="Google Shape;11;n"/>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sz="700">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notesSlide18.xml><?xml version="1.0" encoding="utf-8"?>
<p:notes xmlns:a="http://schemas.openxmlformats.org/drawingml/2006/main" xmlns:p="http://schemas.openxmlformats.org/presentationml/2006/main" showMasterPhAnim="0" showMasterSp="0">
  <p:cSld>
    <p:spTree>
      <p:nvGrpSpPr>
        <p:cNvPr id="474" name="Shape 474"/>
        <p:cNvGrpSpPr/>
        <p:nvPr/>
      </p:nvGrpSpPr>
      <p:grpSpPr>
        <a:xfrm>
          <a:off x="0" y="0"/>
          <a:ext cx="0" cy="0"/>
          <a:chOff x="0" y="0"/>
          <a:chExt cx="0" cy="0"/>
        </a:xfrm>
      </p:grpSpPr>
      <p:sp>
        <p:nvSpPr>
          <p:cNvPr id="475" name="Google Shape;475;p1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1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r>
              <a:rPr lang="en-GB" sz="1200"/>
              <a:t>placeholder</a:t>
            </a:r>
          </a:p>
          <a:p>
            <a:r>
              <a:rPr lang="en-GB" sz="1200"/>
              <a:t>CUSTOMER INTERACTION MANAGEMENT — Analytical Capabilities Overview</a:t>
            </a:r>
          </a:p>
          <a:p>
            <a:r>
              <a:rPr lang="en-GB" sz="1200"/>
              <a:t>PAKISTAN: This overview shows CIM capabilities applicable to Pakistan banking. Priority capabilities: Contact Optimization (SMS fatigue), Next Best Action (Islamic-aware), Cross-Channel Experience (8+ touchpoints).</a:t>
            </a:r>
          </a:p>
          <a:p>
            <a:r>
              <a:rPr lang="en-GB" sz="1200"/>
              <a:t>FSDM Domains: Campaign, Channel, Interaction, Marketing, Contact</a:t>
            </a:r>
          </a:p>
        </p:txBody>
      </p:sp>
      <p:sp>
        <p:nvSpPr>
          <p:cNvPr id="477" name="Google Shape;477;p18: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erwin by Quest</a:t>
            </a:r>
            <a:endParaRPr/>
          </a:p>
        </p:txBody>
      </p:sp>
    </p:spTree>
  </p:cSld>
  <p:clrMapOvr>
    <a:masterClrMapping/>
  </p:clrMapOvr>
</p:notes>
</file>

<file path=ppt/notesSlides/notesSlide19.xml><?xml version="1.0" encoding="utf-8"?>
<p:notes xmlns:a="http://schemas.openxmlformats.org/drawingml/2006/main" xmlns:p="http://schemas.openxmlformats.org/presentationml/2006/main" showMasterPhAnim="0" showMasterSp="0">
  <p:cSld>
    <p:spTree>
      <p:nvGrpSpPr>
        <p:cNvPr id="510" name="Shape 510"/>
        <p:cNvGrpSpPr/>
        <p:nvPr/>
      </p:nvGrpSpPr>
      <p:grpSpPr>
        <a:xfrm>
          <a:off x="0" y="0"/>
          <a:ext cx="0" cy="0"/>
          <a:chOff x="0" y="0"/>
          <a:chExt cx="0" cy="0"/>
        </a:xfrm>
      </p:grpSpPr>
      <p:sp>
        <p:nvSpPr>
          <p:cNvPr id="511" name="Google Shape;511;p1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1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r>
              <a:rPr lang="en-GB" sz="1200"/>
              <a:t>placeholder</a:t>
            </a:r>
          </a:p>
          <a:p>
            <a:r>
              <a:rPr lang="en-GB" sz="1200"/>
              <a:t>MARKETING EFFECTIVENESS — Analytical Capabilities Overview</a:t>
            </a:r>
          </a:p>
          <a:p>
            <a:r>
              <a:rPr lang="en-GB" sz="1200"/>
              <a:t>PAKISTAN: Marketing Attribution and Brand Analytics capabilities. Pakistan marketing mix is heavily offline (TV 35%, outdoor 20%) — attribution is critical.</a:t>
            </a:r>
          </a:p>
          <a:p>
            <a:r>
              <a:rPr lang="en-GB" sz="1200"/>
              <a:t>FSDM Domains: Campaign, Attribution, Brand, Channel</a:t>
            </a:r>
          </a:p>
        </p:txBody>
      </p:sp>
      <p:sp>
        <p:nvSpPr>
          <p:cNvPr id="513" name="Google Shape;513;p19: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erwin by Quest</a:t>
            </a:r>
            <a:endParaRPr/>
          </a:p>
        </p:txBody>
      </p:sp>
    </p:spTree>
  </p:cSld>
  <p:clrMapOvr>
    <a:masterClrMapping/>
  </p:clrMapOvr>
</p:notes>
</file>

<file path=ppt/notesSlides/notesSlide23.xml><?xml version="1.0" encoding="utf-8"?>
<p:notes xmlns:a="http://schemas.openxmlformats.org/drawingml/2006/main" xmlns:p="http://schemas.openxmlformats.org/presentationml/2006/main" showMasterPhAnim="0" showMasterSp="0">
  <p:cSld>
    <p:spTree>
      <p:nvGrpSpPr>
        <p:cNvPr id="688" name="Shape 688"/>
        <p:cNvGrpSpPr/>
        <p:nvPr/>
      </p:nvGrpSpPr>
      <p:grpSpPr>
        <a:xfrm>
          <a:off x="0" y="0"/>
          <a:ext cx="0" cy="0"/>
          <a:chOff x="0" y="0"/>
          <a:chExt cx="0" cy="0"/>
        </a:xfrm>
      </p:grpSpPr>
      <p:sp>
        <p:nvSpPr>
          <p:cNvPr id="689" name="Google Shape;689;p2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2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CUSTOMER INTERACTION MANAGEMENT — Use Case Portfolio (4/5)</a:t>
            </a:r>
            <a:endParaRPr/>
          </a:p>
          <a:p>
            <a:pPr indent="-173038" lvl="0" marL="173038" rtl="0" algn="l">
              <a:lnSpc>
                <a:spcPct val="95000"/>
              </a:lnSpc>
              <a:spcBef>
                <a:spcPts val="0"/>
              </a:spcBef>
              <a:spcAft>
                <a:spcPts val="0"/>
              </a:spcAft>
              <a:buClr>
                <a:schemeClr val="dk1"/>
              </a:buClr>
              <a:buSzPts val="1200"/>
              <a:buChar char="•"/>
            </a:pPr>
            <a:r>
              <a:rPr lang="en-GB"/>
              <a:t>PAKISTAN: Key Pakistan use cases on this overview: Contact Management (SMS fatigue), Omni-Channel (8+ touchpoints), NBA (Islamic-aware), RTIM (batch to real-time).</a:t>
            </a:r>
            <a:endParaRPr/>
          </a:p>
          <a:p>
            <a:pPr indent="-173038" lvl="0" marL="173038" rtl="0" algn="l">
              <a:lnSpc>
                <a:spcPct val="95000"/>
              </a:lnSpc>
              <a:spcBef>
                <a:spcPts val="0"/>
              </a:spcBef>
              <a:spcAft>
                <a:spcPts val="0"/>
              </a:spcAft>
              <a:buClr>
                <a:schemeClr val="dk1"/>
              </a:buClr>
              <a:buSzPts val="1200"/>
              <a:buChar char="•"/>
            </a:pPr>
            <a:r>
              <a:rPr lang="en-GB"/>
              <a:t>FSDM Domains: Campaign, Channel, Interaction, Contact</a:t>
            </a:r>
            <a:endParaRPr/>
          </a:p>
        </p:txBody>
      </p:sp>
      <p:sp>
        <p:nvSpPr>
          <p:cNvPr id="691" name="Google Shape;691;p23: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erwin by Quest</a:t>
            </a:r>
            <a:endParaRPr/>
          </a:p>
        </p:txBody>
      </p:sp>
    </p:spTree>
  </p:cSld>
  <p:clrMapOvr>
    <a:masterClrMapping/>
  </p:clrMapOvr>
</p:notes>
</file>

<file path=ppt/notesSlides/notesSlide24.xml><?xml version="1.0" encoding="utf-8"?>
<p:notes xmlns:a="http://schemas.openxmlformats.org/drawingml/2006/main" xmlns:p="http://schemas.openxmlformats.org/presentationml/2006/main" showMasterPhAnim="0" showMasterSp="0">
  <p:cSld>
    <p:spTree>
      <p:nvGrpSpPr>
        <p:cNvPr id="742" name="Shape 742"/>
        <p:cNvGrpSpPr/>
        <p:nvPr/>
      </p:nvGrpSpPr>
      <p:grpSpPr>
        <a:xfrm>
          <a:off x="0" y="0"/>
          <a:ext cx="0" cy="0"/>
          <a:chOff x="0" y="0"/>
          <a:chExt cx="0" cy="0"/>
        </a:xfrm>
      </p:grpSpPr>
      <p:sp>
        <p:nvSpPr>
          <p:cNvPr id="743" name="Google Shape;743;p2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2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CUSTOMER INTERACTION MANAGEMENT — Use Case Portfolio (5/5)</a:t>
            </a:r>
            <a:endParaRPr/>
          </a:p>
          <a:p>
            <a:pPr indent="-173038" lvl="0" marL="173038" rtl="0" algn="l">
              <a:lnSpc>
                <a:spcPct val="95000"/>
              </a:lnSpc>
              <a:spcBef>
                <a:spcPts val="0"/>
              </a:spcBef>
              <a:spcAft>
                <a:spcPts val="0"/>
              </a:spcAft>
              <a:buClr>
                <a:schemeClr val="dk1"/>
              </a:buClr>
              <a:buSzPts val="1200"/>
              <a:buChar char="•"/>
            </a:pPr>
            <a:r>
              <a:rPr lang="en-GB"/>
              <a:t>PAKISTAN: Competitor Analysis, Marketing Attribution — critical for understanding Pakistan competitive dynamics (Big 5 + fintechs + digital banks).</a:t>
            </a:r>
            <a:endParaRPr/>
          </a:p>
          <a:p>
            <a:pPr indent="-173038" lvl="0" marL="173038" rtl="0" algn="l">
              <a:lnSpc>
                <a:spcPct val="95000"/>
              </a:lnSpc>
              <a:spcBef>
                <a:spcPts val="0"/>
              </a:spcBef>
              <a:spcAft>
                <a:spcPts val="0"/>
              </a:spcAft>
              <a:buClr>
                <a:schemeClr val="dk1"/>
              </a:buClr>
              <a:buSzPts val="1200"/>
              <a:buChar char="•"/>
            </a:pPr>
            <a:r>
              <a:rPr lang="en-GB"/>
              <a:t>FSDM Domains: Campaign, Attribution, Competitive Intelligence</a:t>
            </a:r>
            <a:endParaRPr/>
          </a:p>
        </p:txBody>
      </p:sp>
      <p:sp>
        <p:nvSpPr>
          <p:cNvPr id="745" name="Google Shape;745;p24: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erwin by Quest</a:t>
            </a:r>
            <a:endParaRPr/>
          </a:p>
        </p:txBody>
      </p:sp>
    </p:spTree>
  </p:cSld>
  <p:clrMapOvr>
    <a:masterClrMapping/>
  </p:clrMapOvr>
</p:notes>
</file>

<file path=ppt/notesSlides/notesSlide25.xml><?xml version="1.0" encoding="utf-8"?>
<p:notes xmlns:a="http://schemas.openxmlformats.org/drawingml/2006/main" xmlns:p="http://schemas.openxmlformats.org/presentationml/2006/main" showMasterPhAnim="0" showMasterSp="0">
  <p:cSld>
    <p:spTree>
      <p:nvGrpSpPr>
        <p:cNvPr id="766" name="Shape 766"/>
        <p:cNvGrpSpPr/>
        <p:nvPr/>
      </p:nvGrpSpPr>
      <p:grpSpPr>
        <a:xfrm>
          <a:off x="0" y="0"/>
          <a:ext cx="0" cy="0"/>
          <a:chOff x="0" y="0"/>
          <a:chExt cx="0" cy="0"/>
        </a:xfrm>
      </p:grpSpPr>
      <p:sp>
        <p:nvSpPr>
          <p:cNvPr id="767" name="Google Shape;767;p2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2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marR="0" rtl="0" algn="l">
              <a:lnSpc>
                <a:spcPct val="95000"/>
              </a:lnSpc>
              <a:spcBef>
                <a:spcPts val="0"/>
              </a:spcBef>
              <a:spcAft>
                <a:spcPts val="0"/>
              </a:spcAft>
              <a:buClr>
                <a:schemeClr val="dk1"/>
              </a:buClr>
              <a:buSzPts val="1200"/>
              <a:buFont typeface="Arial"/>
              <a:buChar char="•"/>
            </a:pPr>
            <a:r>
              <a:rPr lang="en-GB" sz="1200"/>
              <a:t>CUSTOMER INTERACTION MANAGEMENT — Strategic Importance</a:t>
            </a:r>
            <a:br>
              <a:rPr lang="en-GB" sz="1200"/>
            </a:br>
            <a:endParaRPr sz="1200"/>
          </a:p>
          <a:p>
            <a:pPr indent="-173038" lvl="0" marL="173038" marR="0" rtl="0" algn="l">
              <a:lnSpc>
                <a:spcPct val="95000"/>
              </a:lnSpc>
              <a:spcBef>
                <a:spcPts val="0"/>
              </a:spcBef>
              <a:spcAft>
                <a:spcPts val="0"/>
              </a:spcAft>
              <a:buClr>
                <a:schemeClr val="dk1"/>
              </a:buClr>
              <a:buSzPts val="1200"/>
              <a:buFont typeface="Arial"/>
              <a:buChar char="•"/>
            </a:pPr>
            <a:r>
              <a:rPr lang="en-GB" sz="1200"/>
              <a:t>PAKISTAN: Managing customer interactions across 8+ touchpoints (16K branches, mobile, USSD, WhatsApp, 500K agents, call centers) is critical for differentiation.</a:t>
            </a:r>
            <a:br>
              <a:rPr lang="en-GB" sz="1200"/>
            </a:br>
            <a:endParaRPr sz="1200"/>
          </a:p>
          <a:p>
            <a:pPr indent="-173038" lvl="0" marL="173038" marR="0" rtl="0" algn="l">
              <a:lnSpc>
                <a:spcPct val="95000"/>
              </a:lnSpc>
              <a:spcBef>
                <a:spcPts val="0"/>
              </a:spcBef>
              <a:spcAft>
                <a:spcPts val="0"/>
              </a:spcAft>
              <a:buClr>
                <a:schemeClr val="dk1"/>
              </a:buClr>
              <a:buSzPts val="1200"/>
              <a:buFont typeface="Arial"/>
              <a:buChar char="•"/>
            </a:pPr>
            <a:r>
              <a:rPr lang="en-GB" sz="1200"/>
              <a:t>FSDM Domains: Channel, Interaction, Campaign, Contact</a:t>
            </a:r>
            <a:br>
              <a:rPr lang="en-GB" sz="1200"/>
            </a:br>
            <a:endParaRPr sz="1200"/>
          </a:p>
        </p:txBody>
      </p:sp>
      <p:sp>
        <p:nvSpPr>
          <p:cNvPr id="769" name="Google Shape;769;p25: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erwin by Quest</a:t>
            </a:r>
            <a:endParaRPr/>
          </a:p>
        </p:txBody>
      </p:sp>
    </p:spTree>
  </p:cSld>
  <p:clrMapOvr>
    <a:masterClrMapping/>
  </p:clrMapOvr>
</p:notes>
</file>

<file path=ppt/notesSlides/notesSlide35.xml><?xml version="1.0" encoding="utf-8"?>
<p:notes xmlns:a="http://schemas.openxmlformats.org/drawingml/2006/main" xmlns:p="http://schemas.openxmlformats.org/presentationml/2006/main" showMasterPhAnim="0" showMasterSp="0">
  <p:cSld>
    <p:spTree>
      <p:nvGrpSpPr>
        <p:cNvPr id="869" name="Shape 869"/>
        <p:cNvGrpSpPr/>
        <p:nvPr/>
      </p:nvGrpSpPr>
      <p:grpSpPr>
        <a:xfrm>
          <a:off x="0" y="0"/>
          <a:ext cx="0" cy="0"/>
          <a:chOff x="0" y="0"/>
          <a:chExt cx="0" cy="0"/>
        </a:xfrm>
      </p:grpSpPr>
      <p:sp>
        <p:nvSpPr>
          <p:cNvPr id="870" name="Google Shape;870;p35: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r>
              <a:rPr lang="en-GB" sz="1200"/>
              <a:t>placeholder</a:t>
            </a:r>
          </a:p>
          <a:p>
            <a:r>
              <a:rPr lang="en-GB" sz="1200"/>
              <a:t>CUSTOMER INFORMATION MANAGEMENT — Strategic Importance</a:t>
            </a:r>
          </a:p>
          <a:p>
            <a:r>
              <a:rPr lang="en-GB" sz="1200"/>
              <a:t>PAKISTAN: 360 customer view is the foundation for all downstream analytics. CNIC as universal key enables unique Pakistan advantage for data integration.</a:t>
            </a:r>
          </a:p>
          <a:p>
            <a:r>
              <a:rPr lang="en-GB" sz="1200"/>
              <a:t>FSDM Domains: Party, Event, Channel, Transaction</a:t>
            </a:r>
          </a:p>
        </p:txBody>
      </p:sp>
      <p:sp>
        <p:nvSpPr>
          <p:cNvPr id="871" name="Google Shape;871;p3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p="http://schemas.openxmlformats.org/presentationml/2006/main" showMasterPhAnim="0" showMasterSp="0">
  <p:cSld>
    <p:spTree>
      <p:nvGrpSpPr>
        <p:cNvPr id="886" name="Shape 886"/>
        <p:cNvGrpSpPr/>
        <p:nvPr/>
      </p:nvGrpSpPr>
      <p:grpSpPr>
        <a:xfrm>
          <a:off x="0" y="0"/>
          <a:ext cx="0" cy="0"/>
          <a:chOff x="0" y="0"/>
          <a:chExt cx="0" cy="0"/>
        </a:xfrm>
      </p:grpSpPr>
      <p:sp>
        <p:nvSpPr>
          <p:cNvPr id="887" name="Google Shape;887;p37: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888" name="Google Shape;888;p3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9" name="Google Shape;889;p3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SINGLE VIEW OF CUSTOMER — Overview</a:t>
            </a:r>
            <a:endParaRPr/>
          </a:p>
          <a:p>
            <a:pPr indent="-173038" lvl="0" marL="173038" rtl="0" algn="l">
              <a:lnSpc>
                <a:spcPct val="95000"/>
              </a:lnSpc>
              <a:spcBef>
                <a:spcPts val="0"/>
              </a:spcBef>
              <a:spcAft>
                <a:spcPts val="0"/>
              </a:spcAft>
              <a:buClr>
                <a:schemeClr val="dk1"/>
              </a:buClr>
              <a:buSzPts val="1200"/>
              <a:buChar char="•"/>
            </a:pPr>
            <a:r>
              <a:rPr lang="en-GB"/>
              <a:t>PAKISTAN: Integrating 4-5 core banking systems using CNIC as primary key. FSDM provides the canonical data model for unified customer view.</a:t>
            </a:r>
            <a:endParaRPr/>
          </a:p>
          <a:p>
            <a:pPr indent="-173038" lvl="0" marL="173038" rtl="0" algn="l">
              <a:lnSpc>
                <a:spcPct val="95000"/>
              </a:lnSpc>
              <a:spcBef>
                <a:spcPts val="0"/>
              </a:spcBef>
              <a:spcAft>
                <a:spcPts val="0"/>
              </a:spcAft>
              <a:buClr>
                <a:schemeClr val="dk1"/>
              </a:buClr>
              <a:buSzPts val="1200"/>
              <a:buChar char="•"/>
            </a:pPr>
            <a:r>
              <a:rPr lang="en-GB"/>
              <a:t>FSDM: PRTY, PRTY_IDNTFR (CNIC), ACCT, PRDCT, TXN</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0" name="Shape 1740"/>
        <p:cNvGrpSpPr/>
        <p:nvPr/>
      </p:nvGrpSpPr>
      <p:grpSpPr>
        <a:xfrm>
          <a:off x="0" y="0"/>
          <a:ext cx="0" cy="0"/>
          <a:chOff x="0" y="0"/>
          <a:chExt cx="0" cy="0"/>
        </a:xfrm>
      </p:grpSpPr>
      <p:sp>
        <p:nvSpPr>
          <p:cNvPr id="1741" name="Google Shape;1741;p80: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
            </a:r>
            <a:endParaRPr/>
          </a:p>
        </p:txBody>
      </p:sp>
      <p:sp>
        <p:nvSpPr>
          <p:cNvPr id="1742" name="Google Shape;1742;p8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p84: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775" name="Google Shape;1775;p8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6" name="Google Shape;1776;p8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9" name="Shape 1829"/>
        <p:cNvGrpSpPr/>
        <p:nvPr/>
      </p:nvGrpSpPr>
      <p:grpSpPr>
        <a:xfrm>
          <a:off x="0" y="0"/>
          <a:ext cx="0" cy="0"/>
          <a:chOff x="0" y="0"/>
          <a:chExt cx="0" cy="0"/>
        </a:xfrm>
      </p:grpSpPr>
      <p:sp>
        <p:nvSpPr>
          <p:cNvPr id="1830" name="Google Shape;1830;p86: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831" name="Google Shape;1831;p8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2" name="Google Shape;1832;p8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5" name="Shape 1885"/>
        <p:cNvGrpSpPr/>
        <p:nvPr/>
      </p:nvGrpSpPr>
      <p:grpSpPr>
        <a:xfrm>
          <a:off x="0" y="0"/>
          <a:ext cx="0" cy="0"/>
          <a:chOff x="0" y="0"/>
          <a:chExt cx="0" cy="0"/>
        </a:xfrm>
      </p:grpSpPr>
      <p:sp>
        <p:nvSpPr>
          <p:cNvPr id="1886" name="Google Shape;1886;p88: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887" name="Google Shape;1887;p8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8" name="Google Shape;1888;p8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p90: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943" name="Google Shape;1943;p9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4" name="Google Shape;1944;p9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p92: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999" name="Google Shape;1999;p9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0" name="Google Shape;2000;p9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3" name="Shape 2053"/>
        <p:cNvGrpSpPr/>
        <p:nvPr/>
      </p:nvGrpSpPr>
      <p:grpSpPr>
        <a:xfrm>
          <a:off x="0" y="0"/>
          <a:ext cx="0" cy="0"/>
          <a:chOff x="0" y="0"/>
          <a:chExt cx="0" cy="0"/>
        </a:xfrm>
      </p:grpSpPr>
      <p:sp>
        <p:nvSpPr>
          <p:cNvPr id="2054" name="Google Shape;2054;p94: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055" name="Google Shape;2055;p9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6" name="Google Shape;2056;p9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p96: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111" name="Google Shape;2111;p9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2" name="Google Shape;2112;p9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5" name="Shape 2165"/>
        <p:cNvGrpSpPr/>
        <p:nvPr/>
      </p:nvGrpSpPr>
      <p:grpSpPr>
        <a:xfrm>
          <a:off x="0" y="0"/>
          <a:ext cx="0" cy="0"/>
          <a:chOff x="0" y="0"/>
          <a:chExt cx="0" cy="0"/>
        </a:xfrm>
      </p:grpSpPr>
      <p:sp>
        <p:nvSpPr>
          <p:cNvPr id="2166" name="Google Shape;2166;p98: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167" name="Google Shape;2167;p9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8" name="Google Shape;2168;p9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1" name="Shape 2221"/>
        <p:cNvGrpSpPr/>
        <p:nvPr/>
      </p:nvGrpSpPr>
      <p:grpSpPr>
        <a:xfrm>
          <a:off x="0" y="0"/>
          <a:ext cx="0" cy="0"/>
          <a:chOff x="0" y="0"/>
          <a:chExt cx="0" cy="0"/>
        </a:xfrm>
      </p:grpSpPr>
      <p:sp>
        <p:nvSpPr>
          <p:cNvPr id="2222" name="Google Shape;2222;p100: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223" name="Google Shape;2223;p10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4" name="Google Shape;2224;p10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7" name="Shape 2277"/>
        <p:cNvGrpSpPr/>
        <p:nvPr/>
      </p:nvGrpSpPr>
      <p:grpSpPr>
        <a:xfrm>
          <a:off x="0" y="0"/>
          <a:ext cx="0" cy="0"/>
          <a:chOff x="0" y="0"/>
          <a:chExt cx="0" cy="0"/>
        </a:xfrm>
      </p:grpSpPr>
      <p:sp>
        <p:nvSpPr>
          <p:cNvPr id="2278" name="Google Shape;2278;p102: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279" name="Google Shape;2279;p10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0" name="Google Shape;2280;p10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3" name="Shape 2333"/>
        <p:cNvGrpSpPr/>
        <p:nvPr/>
      </p:nvGrpSpPr>
      <p:grpSpPr>
        <a:xfrm>
          <a:off x="0" y="0"/>
          <a:ext cx="0" cy="0"/>
          <a:chOff x="0" y="0"/>
          <a:chExt cx="0" cy="0"/>
        </a:xfrm>
      </p:grpSpPr>
      <p:sp>
        <p:nvSpPr>
          <p:cNvPr id="2334" name="Google Shape;2334;p104: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335" name="Google Shape;2335;p10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6" name="Google Shape;2336;p10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9" name="Shape 2389"/>
        <p:cNvGrpSpPr/>
        <p:nvPr/>
      </p:nvGrpSpPr>
      <p:grpSpPr>
        <a:xfrm>
          <a:off x="0" y="0"/>
          <a:ext cx="0" cy="0"/>
          <a:chOff x="0" y="0"/>
          <a:chExt cx="0" cy="0"/>
        </a:xfrm>
      </p:grpSpPr>
      <p:sp>
        <p:nvSpPr>
          <p:cNvPr id="2390" name="Google Shape;2390;p106: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391" name="Google Shape;2391;p10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2" name="Google Shape;2392;p10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5" name="Shape 2445"/>
        <p:cNvGrpSpPr/>
        <p:nvPr/>
      </p:nvGrpSpPr>
      <p:grpSpPr>
        <a:xfrm>
          <a:off x="0" y="0"/>
          <a:ext cx="0" cy="0"/>
          <a:chOff x="0" y="0"/>
          <a:chExt cx="0" cy="0"/>
        </a:xfrm>
      </p:grpSpPr>
      <p:sp>
        <p:nvSpPr>
          <p:cNvPr id="2446" name="Google Shape;2446;p108: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447" name="Google Shape;2447;p10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8" name="Google Shape;2448;p10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1" name="Shape 2501"/>
        <p:cNvGrpSpPr/>
        <p:nvPr/>
      </p:nvGrpSpPr>
      <p:grpSpPr>
        <a:xfrm>
          <a:off x="0" y="0"/>
          <a:ext cx="0" cy="0"/>
          <a:chOff x="0" y="0"/>
          <a:chExt cx="0" cy="0"/>
        </a:xfrm>
      </p:grpSpPr>
      <p:sp>
        <p:nvSpPr>
          <p:cNvPr id="2502" name="Google Shape;2502;p110: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503" name="Google Shape;2503;p11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4" name="Google Shape;2504;p11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7" name="Shape 2557"/>
        <p:cNvGrpSpPr/>
        <p:nvPr/>
      </p:nvGrpSpPr>
      <p:grpSpPr>
        <a:xfrm>
          <a:off x="0" y="0"/>
          <a:ext cx="0" cy="0"/>
          <a:chOff x="0" y="0"/>
          <a:chExt cx="0" cy="0"/>
        </a:xfrm>
      </p:grpSpPr>
      <p:sp>
        <p:nvSpPr>
          <p:cNvPr id="2558" name="Google Shape;2558;p112: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559" name="Google Shape;2559;p11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0" name="Google Shape;2560;p11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Photos can be any photo from the Marcom Central.</a:t>
            </a:r>
            <a:endParaRPr/>
          </a:p>
        </p:txBody>
      </p:sp>
    </p:spTree>
  </p:cSld>
  <p:clrMapOvr>
    <a:masterClrMapping/>
  </p:clrMapOvr>
</p:notes>
</file>

<file path=ppt/notesSlides/notesSlide114.xml><?xml version="1.0" encoding="utf-8"?>
<p:notes xmlns:a="http://schemas.openxmlformats.org/drawingml/2006/main" xmlns:p="http://schemas.openxmlformats.org/presentationml/2006/main" showMasterPhAnim="0" showMasterSp="0">
  <p:cSld>
    <p:spTree>
      <p:nvGrpSpPr>
        <p:cNvPr id="2613" name="Shape 2613"/>
        <p:cNvGrpSpPr/>
        <p:nvPr/>
      </p:nvGrpSpPr>
      <p:grpSpPr>
        <a:xfrm>
          <a:off x="0" y="0"/>
          <a:ext cx="0" cy="0"/>
          <a:chOff x="0" y="0"/>
          <a:chExt cx="0" cy="0"/>
        </a:xfrm>
      </p:grpSpPr>
      <p:sp>
        <p:nvSpPr>
          <p:cNvPr id="2614" name="Google Shape;2614;p114: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r>
              <a:rPr lang="en-GB" sz="1200"/>
              <a:t>placeholder</a:t>
            </a:r>
          </a:p>
          <a:p>
            <a:r>
              <a:rPr lang="en-GB" sz="1200"/>
              <a:t>SECTION: Customer Information Management</a:t>
            </a:r>
          </a:p>
          <a:p>
            <a:r>
              <a:rPr lang="en-GB" sz="1200"/>
              <a:t>This section covers the foundational use case for all banking analytics — creating a unified customer view.</a:t>
            </a:r>
          </a:p>
          <a:p>
            <a:r>
              <a:rPr lang="en-GB" sz="1200"/>
              <a:t>Pakistan context: 33 scheduled banks, 4-5 core systems each, 60M+ accounts, 100M+ mobile wallets.</a:t>
            </a:r>
          </a:p>
          <a:p>
            <a:r>
              <a:rPr lang="en-GB" sz="1200"/>
              <a:t>FSDM Domains: Party (INDVDL, ORGN, PRTY, PRTY_IDNTFR), Event, Channel, Transaction</a:t>
            </a:r>
          </a:p>
        </p:txBody>
      </p:sp>
      <p:sp>
        <p:nvSpPr>
          <p:cNvPr id="2615" name="Google Shape;2615;p11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p="http://schemas.openxmlformats.org/presentationml/2006/main" showMasterPhAnim="0" showMasterSp="0">
  <p:cSld>
    <p:spTree>
      <p:nvGrpSpPr>
        <p:cNvPr id="2619" name="Shape 2619"/>
        <p:cNvGrpSpPr/>
        <p:nvPr/>
      </p:nvGrpSpPr>
      <p:grpSpPr>
        <a:xfrm>
          <a:off x="0" y="0"/>
          <a:ext cx="0" cy="0"/>
          <a:chOff x="0" y="0"/>
          <a:chExt cx="0" cy="0"/>
        </a:xfrm>
      </p:grpSpPr>
      <p:sp>
        <p:nvSpPr>
          <p:cNvPr id="2620" name="Google Shape;2620;p115: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621" name="Google Shape;2621;p11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2" name="Google Shape;2622;p11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MULTI-DIMENSIONAL CUSTOMER VIEW</a:t>
            </a:r>
            <a:endParaRPr/>
          </a:p>
          <a:p>
            <a:pPr indent="-173038" lvl="0" marL="173038" rtl="0" algn="l">
              <a:lnSpc>
                <a:spcPct val="95000"/>
              </a:lnSpc>
              <a:spcBef>
                <a:spcPts val="0"/>
              </a:spcBef>
              <a:spcAft>
                <a:spcPts val="0"/>
              </a:spcAft>
              <a:buClr>
                <a:schemeClr val="dk1"/>
              </a:buClr>
              <a:buSzPts val="1200"/>
              <a:buChar char="•"/>
            </a:pPr>
            <a:r>
              <a:rPr lang="en-GB"/>
              <a:t>PAKISTAN: This is the foundational use case for all Pakistan banking analytics. Without a single customer view across multiple core systems, no downstream analytics is possible.</a:t>
            </a:r>
            <a:endParaRPr/>
          </a:p>
          <a:p>
            <a:pPr indent="-173038" lvl="0" marL="173038" rtl="0" algn="l">
              <a:lnSpc>
                <a:spcPct val="95000"/>
              </a:lnSpc>
              <a:spcBef>
                <a:spcPts val="0"/>
              </a:spcBef>
              <a:spcAft>
                <a:spcPts val="0"/>
              </a:spcAft>
              <a:buClr>
                <a:schemeClr val="dk1"/>
              </a:buClr>
              <a:buSzPts val="1200"/>
              <a:buChar char="•"/>
            </a:pPr>
            <a:r>
              <a:rPr lang="en-GB"/>
              <a:t>Challenge: Pakistan banks operate CTL, Temenos, Oracle, Finacle — the FSDM-based platform integrates these into a unified customer master using CNIC as primary key.</a:t>
            </a:r>
            <a:endParaRPr/>
          </a:p>
          <a:p>
            <a:pPr indent="-173038" lvl="0" marL="173038" rtl="0" algn="l">
              <a:lnSpc>
                <a:spcPct val="95000"/>
              </a:lnSpc>
              <a:spcBef>
                <a:spcPts val="0"/>
              </a:spcBef>
              <a:spcAft>
                <a:spcPts val="0"/>
              </a:spcAft>
              <a:buClr>
                <a:schemeClr val="dk1"/>
              </a:buClr>
              <a:buSzPts val="1200"/>
              <a:buChar char="•"/>
            </a:pPr>
            <a:r>
              <a:rPr lang="en-GB"/>
              <a:t>Target: Unified view of 60M+ bank customers, linked to 100M+ mobile wallet users via CNIC/mobile number.</a:t>
            </a:r>
            <a:endParaRPr/>
          </a:p>
          <a:p>
            <a:pPr indent="-173038" lvl="0" marL="173038" rtl="0" algn="l">
              <a:lnSpc>
                <a:spcPct val="95000"/>
              </a:lnSpc>
              <a:spcBef>
                <a:spcPts val="0"/>
              </a:spcBef>
              <a:spcAft>
                <a:spcPts val="0"/>
              </a:spcAft>
              <a:buClr>
                <a:schemeClr val="dk1"/>
              </a:buClr>
              <a:buSzPts val="1200"/>
              <a:buChar char="•"/>
            </a:pPr>
            <a:r>
              <a:rPr lang="en-GB"/>
              <a:t>FSDM: INDVDL, ORGN, PRTY, PRTY_IDNTFR (CNIC), IP_RLTNP, PRTY_ADDR, EVNT, INTN, CHNL, TXN, ACCT_TXN</a:t>
            </a:r>
            <a:endParaRPr/>
          </a:p>
          <a:p>
            <a:pPr indent="-173038" lvl="0" marL="173038" rtl="0" algn="l">
              <a:lnSpc>
                <a:spcPct val="95000"/>
              </a:lnSpc>
              <a:spcBef>
                <a:spcPts val="0"/>
              </a:spcBef>
              <a:spcAft>
                <a:spcPts val="0"/>
              </a:spcAft>
              <a:buClr>
                <a:schemeClr val="dk1"/>
              </a:buClr>
              <a:buSzPts val="1200"/>
              <a:buChar char="•"/>
            </a:pPr>
            <a:r>
              <a:rPr lang="en-GB"/>
              <a:t>BVF Capability: Customer Information Management &gt; Multi-Dimensional Customer View</a:t>
            </a:r>
            <a:endParaRPr/>
          </a:p>
        </p:txBody>
      </p:sp>
    </p:spTree>
  </p:cSld>
  <p:clrMapOvr>
    <a:masterClrMapping/>
  </p:clrMapOvr>
</p:notes>
</file>

<file path=ppt/notesSlides/notesSlide116.xml><?xml version="1.0" encoding="utf-8"?>
<p:notes xmlns:a="http://schemas.openxmlformats.org/drawingml/2006/main" xmlns:p="http://schemas.openxmlformats.org/presentationml/2006/main" showMasterPhAnim="0" showMasterSp="0">
  <p:cSld>
    <p:spTree>
      <p:nvGrpSpPr>
        <p:cNvPr id="2639" name="Shape 2639"/>
        <p:cNvGrpSpPr/>
        <p:nvPr/>
      </p:nvGrpSpPr>
      <p:grpSpPr>
        <a:xfrm>
          <a:off x="0" y="0"/>
          <a:ext cx="0" cy="0"/>
          <a:chOff x="0" y="0"/>
          <a:chExt cx="0" cy="0"/>
        </a:xfrm>
      </p:grpSpPr>
      <p:sp>
        <p:nvSpPr>
          <p:cNvPr id="2640" name="Google Shape;2640;p116: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r>
              <a:rPr lang="en-GB" sz="1200"/>
              <a:t>placeholder</a:t>
            </a:r>
          </a:p>
          <a:p>
            <a:r>
              <a:rPr lang="en-GB" sz="1200"/>
              <a:t>SECTION: Insight-Driven Customer Management</a:t>
            </a:r>
          </a:p>
          <a:p>
            <a:r>
              <a:rPr lang="en-GB" sz="1200"/>
              <a:t>35 use cases covering profitability, segmentation, journey analytics, and event-based marketing.</a:t>
            </a:r>
          </a:p>
          <a:p>
            <a:r>
              <a:rPr lang="en-GB" sz="1200"/>
              <a:t>Pakistan priority: Transaction Classification (salary detection), Customer Satisfaction (fintech benchmarking), and Event-Based Marketing (Ramadan/Eid campaigns).</a:t>
            </a:r>
          </a:p>
          <a:p>
            <a:r>
              <a:rPr lang="en-GB" sz="1200"/>
              <a:t>FSDM Domains: Party, Transaction, Event, Product, Channel, Marketing</a:t>
            </a:r>
          </a:p>
        </p:txBody>
      </p:sp>
      <p:sp>
        <p:nvSpPr>
          <p:cNvPr id="2641" name="Google Shape;2641;p11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p="http://schemas.openxmlformats.org/presentationml/2006/main" showMasterPhAnim="0" showMasterSp="0">
  <p:cSld>
    <p:spTree>
      <p:nvGrpSpPr>
        <p:cNvPr id="2645" name="Shape 2645"/>
        <p:cNvGrpSpPr/>
        <p:nvPr/>
      </p:nvGrpSpPr>
      <p:grpSpPr>
        <a:xfrm>
          <a:off x="0" y="0"/>
          <a:ext cx="0" cy="0"/>
          <a:chOff x="0" y="0"/>
          <a:chExt cx="0" cy="0"/>
        </a:xfrm>
      </p:grpSpPr>
      <p:sp>
        <p:nvSpPr>
          <p:cNvPr id="2646" name="Google Shape;2646;p117: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647" name="Google Shape;2647;p11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8" name="Google Shape;2648;p11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PATH TO PROFITABLE/UNPROFITABLE CUSTOMERS</a:t>
            </a:r>
            <a:endParaRPr/>
          </a:p>
          <a:p>
            <a:pPr indent="-173038" lvl="0" marL="173038" rtl="0" algn="l">
              <a:lnSpc>
                <a:spcPct val="95000"/>
              </a:lnSpc>
              <a:spcBef>
                <a:spcPts val="0"/>
              </a:spcBef>
              <a:spcAft>
                <a:spcPts val="0"/>
              </a:spcAft>
              <a:buClr>
                <a:schemeClr val="dk1"/>
              </a:buClr>
              <a:buSzPts val="1200"/>
              <a:buChar char="•"/>
            </a:pPr>
            <a:r>
              <a:rPr lang="en-GB"/>
              <a:t>PAKISTAN: PKR 3-5K acquisition cost per customer, only 1.8 products/customer. Most banks cannot calculate true customer profitability due to lack of activity-based costing.</a:t>
            </a:r>
            <a:endParaRPr/>
          </a:p>
          <a:p>
            <a:pPr indent="-173038" lvl="0" marL="173038" rtl="0" algn="l">
              <a:lnSpc>
                <a:spcPct val="95000"/>
              </a:lnSpc>
              <a:spcBef>
                <a:spcPts val="0"/>
              </a:spcBef>
              <a:spcAft>
                <a:spcPts val="0"/>
              </a:spcAft>
              <a:buClr>
                <a:schemeClr val="dk1"/>
              </a:buClr>
              <a:buSzPts val="1200"/>
              <a:buChar char="•"/>
            </a:pPr>
            <a:r>
              <a:rPr lang="en-GB"/>
              <a:t>Key insight: Digital acquisition cost PKR 500-1K vs branch PKR 3-5K — 5x difference drives the business case for digital transformation.</a:t>
            </a:r>
            <a:endParaRPr/>
          </a:p>
          <a:p>
            <a:pPr indent="-173038" lvl="0" marL="173038" rtl="0" algn="l">
              <a:lnSpc>
                <a:spcPct val="95000"/>
              </a:lnSpc>
              <a:spcBef>
                <a:spcPts val="0"/>
              </a:spcBef>
              <a:spcAft>
                <a:spcPts val="0"/>
              </a:spcAft>
              <a:buClr>
                <a:schemeClr val="dk1"/>
              </a:buClr>
              <a:buSzPts val="1200"/>
              <a:buChar char="•"/>
            </a:pPr>
            <a:r>
              <a:rPr lang="en-GB"/>
              <a:t>FSDM: PRTY, ACCT, TXN, PRDCT, CHNL_INTN, COST_ALLCTN</a:t>
            </a:r>
            <a:endParaRPr/>
          </a:p>
          <a:p>
            <a:pPr indent="-173038" lvl="0" marL="173038" rtl="0" algn="l">
              <a:lnSpc>
                <a:spcPct val="95000"/>
              </a:lnSpc>
              <a:spcBef>
                <a:spcPts val="0"/>
              </a:spcBef>
              <a:spcAft>
                <a:spcPts val="0"/>
              </a:spcAft>
              <a:buClr>
                <a:schemeClr val="dk1"/>
              </a:buClr>
              <a:buSzPts val="1200"/>
              <a:buChar char="•"/>
            </a:pPr>
            <a:r>
              <a:rPr lang="en-GB"/>
              <a:t>BVF Capability: Insight-Driven Customer Management &gt; Customer Profitability</a:t>
            </a:r>
            <a:endParaRPr/>
          </a:p>
          <a:p>
            <a:pPr indent="-173038" lvl="0" marL="173038" rtl="0" algn="l">
              <a:lnSpc>
                <a:spcPct val="95000"/>
              </a:lnSpc>
              <a:spcBef>
                <a:spcPts val="0"/>
              </a:spcBef>
              <a:spcAft>
                <a:spcPts val="0"/>
              </a:spcAft>
              <a:buClr>
                <a:schemeClr val="dk1"/>
              </a:buClr>
              <a:buSzPts val="1200"/>
              <a:buChar char="•"/>
            </a:pPr>
            <a:r>
              <a:rPr lang="en-GB"/>
              <a:t>BACR: Revenue attribution, cost allocation, product-level P&amp;L questions</a:t>
            </a:r>
            <a:endParaRPr/>
          </a:p>
        </p:txBody>
      </p:sp>
    </p:spTree>
  </p:cSld>
  <p:clrMapOvr>
    <a:masterClrMapping/>
  </p:clrMapOvr>
</p:notes>
</file>

<file path=ppt/notesSlides/notesSlide118.xml><?xml version="1.0" encoding="utf-8"?>
<p:notes xmlns:a="http://schemas.openxmlformats.org/drawingml/2006/main" xmlns:p="http://schemas.openxmlformats.org/presentationml/2006/main" showMasterPhAnim="0" showMasterSp="0">
  <p:cSld>
    <p:spTree>
      <p:nvGrpSpPr>
        <p:cNvPr id="2665" name="Shape 2665"/>
        <p:cNvGrpSpPr/>
        <p:nvPr/>
      </p:nvGrpSpPr>
      <p:grpSpPr>
        <a:xfrm>
          <a:off x="0" y="0"/>
          <a:ext cx="0" cy="0"/>
          <a:chOff x="0" y="0"/>
          <a:chExt cx="0" cy="0"/>
        </a:xfrm>
      </p:grpSpPr>
      <p:sp>
        <p:nvSpPr>
          <p:cNvPr id="2666" name="Google Shape;2666;p118: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667" name="Google Shape;2667;p11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8" name="Google Shape;2668;p11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CUSTOMER LIFETIME VALUE</a:t>
            </a:r>
            <a:endParaRPr/>
          </a:p>
          <a:p>
            <a:pPr indent="-173038" lvl="0" marL="173038" rtl="0" algn="l">
              <a:lnSpc>
                <a:spcPct val="95000"/>
              </a:lnSpc>
              <a:spcBef>
                <a:spcPts val="0"/>
              </a:spcBef>
              <a:spcAft>
                <a:spcPts val="0"/>
              </a:spcAft>
              <a:buClr>
                <a:schemeClr val="dk1"/>
              </a:buClr>
              <a:buSzPts val="1200"/>
              <a:buChar char="•"/>
            </a:pPr>
            <a:r>
              <a:rPr lang="en-GB"/>
              <a:t>PAKISTAN: Top 2% of customers generate ~20% of revenue. CLTV must incorporate both conventional and Islamic product holdings.</a:t>
            </a:r>
            <a:endParaRPr/>
          </a:p>
          <a:p>
            <a:pPr indent="-173038" lvl="0" marL="173038" rtl="0" algn="l">
              <a:lnSpc>
                <a:spcPct val="95000"/>
              </a:lnSpc>
              <a:spcBef>
                <a:spcPts val="0"/>
              </a:spcBef>
              <a:spcAft>
                <a:spcPts val="0"/>
              </a:spcAft>
              <a:buClr>
                <a:schemeClr val="dk1"/>
              </a:buClr>
              <a:buSzPts val="1200"/>
              <a:buChar char="•"/>
            </a:pPr>
            <a:r>
              <a:rPr lang="en-GB"/>
              <a:t>Challenge: KIBOR-based funds transfer pricing varies significantly. Islamic products use profit-sharing, requiring different CLTV methodology.</a:t>
            </a:r>
            <a:endParaRPr/>
          </a:p>
          <a:p>
            <a:pPr indent="-173038" lvl="0" marL="173038" rtl="0" algn="l">
              <a:lnSpc>
                <a:spcPct val="95000"/>
              </a:lnSpc>
              <a:spcBef>
                <a:spcPts val="0"/>
              </a:spcBef>
              <a:spcAft>
                <a:spcPts val="0"/>
              </a:spcAft>
              <a:buClr>
                <a:schemeClr val="dk1"/>
              </a:buClr>
              <a:buSzPts val="1200"/>
              <a:buChar char="•"/>
            </a:pPr>
            <a:r>
              <a:rPr lang="en-GB"/>
              <a:t>FSDM: PRTY, ACCT, TXN, PRDCT, PRDCT_PRFT, LTV_SCRE</a:t>
            </a:r>
            <a:endParaRPr/>
          </a:p>
          <a:p>
            <a:pPr indent="-173038" lvl="0" marL="173038" rtl="0" algn="l">
              <a:lnSpc>
                <a:spcPct val="95000"/>
              </a:lnSpc>
              <a:spcBef>
                <a:spcPts val="0"/>
              </a:spcBef>
              <a:spcAft>
                <a:spcPts val="0"/>
              </a:spcAft>
              <a:buClr>
                <a:schemeClr val="dk1"/>
              </a:buClr>
              <a:buSzPts val="1200"/>
              <a:buChar char="•"/>
            </a:pPr>
            <a:r>
              <a:rPr lang="en-GB"/>
              <a:t>BVF Capability: Insight-Driven &gt; Customer Value Management</a:t>
            </a:r>
            <a:endParaRPr/>
          </a:p>
        </p:txBody>
      </p:sp>
    </p:spTree>
  </p:cSld>
  <p:clrMapOvr>
    <a:masterClrMapping/>
  </p:clrMapOvr>
</p:notes>
</file>

<file path=ppt/notesSlides/notesSlide119.xml><?xml version="1.0" encoding="utf-8"?>
<p:notes xmlns:a="http://schemas.openxmlformats.org/drawingml/2006/main" xmlns:p="http://schemas.openxmlformats.org/presentationml/2006/main" showMasterPhAnim="0" showMasterSp="0">
  <p:cSld>
    <p:spTree>
      <p:nvGrpSpPr>
        <p:cNvPr id="2685" name="Shape 2685"/>
        <p:cNvGrpSpPr/>
        <p:nvPr/>
      </p:nvGrpSpPr>
      <p:grpSpPr>
        <a:xfrm>
          <a:off x="0" y="0"/>
          <a:ext cx="0" cy="0"/>
          <a:chOff x="0" y="0"/>
          <a:chExt cx="0" cy="0"/>
        </a:xfrm>
      </p:grpSpPr>
      <p:sp>
        <p:nvSpPr>
          <p:cNvPr id="2686" name="Google Shape;2686;p119: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687" name="Google Shape;2687;p11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8" name="Google Shape;2688;p11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CUSTOMER SATISFACTION (NPS)</a:t>
            </a:r>
            <a:endParaRPr/>
          </a:p>
          <a:p>
            <a:pPr indent="-173038" lvl="0" marL="173038" rtl="0" algn="l">
              <a:lnSpc>
                <a:spcPct val="95000"/>
              </a:lnSpc>
              <a:spcBef>
                <a:spcPts val="0"/>
              </a:spcBef>
              <a:spcAft>
                <a:spcPts val="0"/>
              </a:spcAft>
              <a:buClr>
                <a:schemeClr val="dk1"/>
              </a:buClr>
              <a:buSzPts val="1200"/>
              <a:buChar char="•"/>
            </a:pPr>
            <a:r>
              <a:rPr lang="en-GB"/>
              <a:t>PAKISTAN: Traditional banks NPS ~20-30 vs. SadaPay ~70 vs. JazzCash ~50. Gap driven by digital experience quality.</a:t>
            </a:r>
            <a:endParaRPr/>
          </a:p>
          <a:p>
            <a:pPr indent="-173038" lvl="0" marL="173038" rtl="0" algn="l">
              <a:lnSpc>
                <a:spcPct val="95000"/>
              </a:lnSpc>
              <a:spcBef>
                <a:spcPts val="0"/>
              </a:spcBef>
              <a:spcAft>
                <a:spcPts val="0"/>
              </a:spcAft>
              <a:buClr>
                <a:schemeClr val="dk1"/>
              </a:buClr>
              <a:buSzPts val="1200"/>
              <a:buChar char="•"/>
            </a:pPr>
            <a:r>
              <a:rPr lang="en-GB"/>
              <a:t>SBP Consumer Protection data provides additional satisfaction signals. Google Play app ratings: most Pakistan banks 2-3 stars vs. fintechs 4+ stars.</a:t>
            </a:r>
            <a:endParaRPr/>
          </a:p>
          <a:p>
            <a:pPr indent="-173038" lvl="0" marL="173038" rtl="0" algn="l">
              <a:lnSpc>
                <a:spcPct val="95000"/>
              </a:lnSpc>
              <a:spcBef>
                <a:spcPts val="0"/>
              </a:spcBef>
              <a:spcAft>
                <a:spcPts val="0"/>
              </a:spcAft>
              <a:buClr>
                <a:schemeClr val="dk1"/>
              </a:buClr>
              <a:buSzPts val="1200"/>
              <a:buChar char="•"/>
            </a:pPr>
            <a:r>
              <a:rPr lang="en-GB"/>
              <a:t>FSDM: PRTY, SRVY_RSPNS, CMPLNT, CHNL_INTN, SNTMNT_SCRE</a:t>
            </a:r>
            <a:endParaRPr/>
          </a:p>
          <a:p>
            <a:pPr indent="-173038" lvl="0" marL="173038" rtl="0" algn="l">
              <a:lnSpc>
                <a:spcPct val="95000"/>
              </a:lnSpc>
              <a:spcBef>
                <a:spcPts val="0"/>
              </a:spcBef>
              <a:spcAft>
                <a:spcPts val="0"/>
              </a:spcAft>
              <a:buClr>
                <a:schemeClr val="dk1"/>
              </a:buClr>
              <a:buSzPts val="1200"/>
              <a:buChar char="•"/>
            </a:pPr>
            <a:r>
              <a:rPr lang="en-GB"/>
              <a:t>BVF Capability: Insight-Driven &gt; Customer Experience Management</a:t>
            </a:r>
            <a:endParaRPr/>
          </a:p>
        </p:txBody>
      </p:sp>
    </p:spTree>
  </p:cSld>
  <p:clrMapOvr>
    <a:masterClrMapping/>
  </p:clrMapOvr>
</p:notes>
</file>

<file path=ppt/notesSlides/notesSlide120.xml><?xml version="1.0" encoding="utf-8"?>
<p:notes xmlns:a="http://schemas.openxmlformats.org/drawingml/2006/main" xmlns:p="http://schemas.openxmlformats.org/presentationml/2006/main" showMasterPhAnim="0" showMasterSp="0">
  <p:cSld>
    <p:spTree>
      <p:nvGrpSpPr>
        <p:cNvPr id="2705" name="Shape 2705"/>
        <p:cNvGrpSpPr/>
        <p:nvPr/>
      </p:nvGrpSpPr>
      <p:grpSpPr>
        <a:xfrm>
          <a:off x="0" y="0"/>
          <a:ext cx="0" cy="0"/>
          <a:chOff x="0" y="0"/>
          <a:chExt cx="0" cy="0"/>
        </a:xfrm>
      </p:grpSpPr>
      <p:sp>
        <p:nvSpPr>
          <p:cNvPr id="2706" name="Google Shape;2706;p120: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2707" name="Google Shape;2707;p12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8" name="Google Shape;2708;p12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CUSTOMER SATISFACTION INDEX</a:t>
            </a:r>
            <a:endParaRPr/>
          </a:p>
          <a:p>
            <a:pPr indent="-173038" lvl="0" marL="173038" rtl="0" algn="l">
              <a:lnSpc>
                <a:spcPct val="95000"/>
              </a:lnSpc>
              <a:spcBef>
                <a:spcPts val="0"/>
              </a:spcBef>
              <a:spcAft>
                <a:spcPts val="0"/>
              </a:spcAft>
              <a:buClr>
                <a:schemeClr val="dk1"/>
              </a:buClr>
              <a:buSzPts val="1200"/>
              <a:buChar char="•"/>
            </a:pPr>
            <a:r>
              <a:rPr lang="en-GB"/>
              <a:t>PAKISTAN: Opportunity to build continuous satisfaction measurement from digital interaction data rather than periodic surveys.</a:t>
            </a:r>
            <a:endParaRPr/>
          </a:p>
          <a:p>
            <a:pPr indent="-173038" lvl="0" marL="173038" rtl="0" algn="l">
              <a:lnSpc>
                <a:spcPct val="95000"/>
              </a:lnSpc>
              <a:spcBef>
                <a:spcPts val="0"/>
              </a:spcBef>
              <a:spcAft>
                <a:spcPts val="0"/>
              </a:spcAft>
              <a:buClr>
                <a:schemeClr val="dk1"/>
              </a:buClr>
              <a:buSzPts val="1200"/>
              <a:buChar char="•"/>
            </a:pPr>
            <a:r>
              <a:rPr lang="en-GB"/>
              <a:t>Key dimensions: Branch wait time, digital transaction success rate, complaint resolution time, call center hold time.</a:t>
            </a:r>
            <a:endParaRPr/>
          </a:p>
          <a:p>
            <a:pPr indent="-173038" lvl="0" marL="173038" rtl="0" algn="l">
              <a:lnSpc>
                <a:spcPct val="95000"/>
              </a:lnSpc>
              <a:spcBef>
                <a:spcPts val="0"/>
              </a:spcBef>
              <a:spcAft>
                <a:spcPts val="0"/>
              </a:spcAft>
              <a:buClr>
                <a:schemeClr val="dk1"/>
              </a:buClr>
              <a:buSzPts val="1200"/>
              <a:buChar char="•"/>
            </a:pPr>
            <a:r>
              <a:rPr lang="en-GB"/>
              <a:t>FSDM: PRTY, SRVY_RSPNS, CMPLNT, SVC_RQST, CHNL_INTN</a:t>
            </a:r>
            <a:endParaRPr/>
          </a:p>
          <a:p>
            <a:pPr indent="-173038" lvl="0" marL="173038" rtl="0" algn="l">
              <a:lnSpc>
                <a:spcPct val="95000"/>
              </a:lnSpc>
              <a:spcBef>
                <a:spcPts val="0"/>
              </a:spcBef>
              <a:spcAft>
                <a:spcPts val="0"/>
              </a:spcAft>
              <a:buClr>
                <a:schemeClr val="dk1"/>
              </a:buClr>
              <a:buSzPts val="1200"/>
              <a:buChar char="•"/>
            </a:pPr>
            <a:r>
              <a:rPr lang="en-GB"/>
              <a:t>BVF Capability: Insight-Driven &gt; Customer Experience Management</a:t>
            </a:r>
            <a:endParaRPr/>
          </a:p>
        </p:txBody>
      </p:sp>
    </p:spTree>
  </p:cSld>
  <p:clrMapOvr>
    <a:masterClrMapping/>
  </p:clrMapOvr>
</p:notes>
</file>

<file path=ppt/notesSlides/notesSlide121.xml><?xml version="1.0" encoding="utf-8"?>
<p:notes xmlns:a="http://schemas.openxmlformats.org/drawingml/2006/main" xmlns:p="http://schemas.openxmlformats.org/presentationml/2006/main" showMasterPhAnim="0" showMasterSp="0">
  <p:cSld>
    <p:spTree>
      <p:nvGrpSpPr>
        <p:cNvPr id="2725" name="Shape 2725"/>
        <p:cNvGrpSpPr/>
        <p:nvPr/>
      </p:nvGrpSpPr>
      <p:grpSpPr>
        <a:xfrm>
          <a:off x="0" y="0"/>
          <a:ext cx="0" cy="0"/>
          <a:chOff x="0" y="0"/>
          <a:chExt cx="0" cy="0"/>
        </a:xfrm>
      </p:grpSpPr>
      <p:sp>
        <p:nvSpPr>
          <p:cNvPr id="2726" name="Google Shape;2726;p121: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727" name="Google Shape;2727;p12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8" name="Google Shape;2728;p12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PREDICT COMPLAINT</a:t>
            </a:r>
            <a:endParaRPr/>
          </a:p>
          <a:p>
            <a:pPr indent="-173038" lvl="0" marL="173038" rtl="0" algn="l">
              <a:lnSpc>
                <a:spcPct val="95000"/>
              </a:lnSpc>
              <a:spcBef>
                <a:spcPts val="0"/>
              </a:spcBef>
              <a:spcAft>
                <a:spcPts val="0"/>
              </a:spcAft>
              <a:buClr>
                <a:schemeClr val="dk1"/>
              </a:buClr>
              <a:buSzPts val="1200"/>
              <a:buChar char="•"/>
            </a:pPr>
            <a:r>
              <a:rPr lang="en-GB"/>
              <a:t>PAKISTAN: SBP Consumer Protection complaints carry regulatory cost and reputation risk. 30% prediction target enables proactive resolution.</a:t>
            </a:r>
            <a:endParaRPr/>
          </a:p>
          <a:p>
            <a:pPr indent="-173038" lvl="0" marL="173038" rtl="0" algn="l">
              <a:lnSpc>
                <a:spcPct val="95000"/>
              </a:lnSpc>
              <a:spcBef>
                <a:spcPts val="0"/>
              </a:spcBef>
              <a:spcAft>
                <a:spcPts val="0"/>
              </a:spcAft>
              <a:buClr>
                <a:schemeClr val="dk1"/>
              </a:buClr>
              <a:buSzPts val="1200"/>
              <a:buChar char="•"/>
            </a:pPr>
            <a:r>
              <a:rPr lang="en-GB"/>
              <a:t>Key signals: repeated failed transactions, long call center wait, branch queue abandonment, social media negative mentions.</a:t>
            </a:r>
            <a:endParaRPr/>
          </a:p>
          <a:p>
            <a:pPr indent="-173038" lvl="0" marL="173038" rtl="0" algn="l">
              <a:lnSpc>
                <a:spcPct val="95000"/>
              </a:lnSpc>
              <a:spcBef>
                <a:spcPts val="0"/>
              </a:spcBef>
              <a:spcAft>
                <a:spcPts val="0"/>
              </a:spcAft>
              <a:buClr>
                <a:schemeClr val="dk1"/>
              </a:buClr>
              <a:buSzPts val="1200"/>
              <a:buChar char="•"/>
            </a:pPr>
            <a:r>
              <a:rPr lang="en-GB"/>
              <a:t>FSDM: PRTY, CMPLNT, SVC_RQST, CHNL_INTN, TXN_FAIL, SNTMNT</a:t>
            </a:r>
            <a:endParaRPr/>
          </a:p>
          <a:p>
            <a:pPr indent="-173038" lvl="0" marL="173038" rtl="0" algn="l">
              <a:lnSpc>
                <a:spcPct val="95000"/>
              </a:lnSpc>
              <a:spcBef>
                <a:spcPts val="0"/>
              </a:spcBef>
              <a:spcAft>
                <a:spcPts val="0"/>
              </a:spcAft>
              <a:buClr>
                <a:schemeClr val="dk1"/>
              </a:buClr>
              <a:buSzPts val="1200"/>
              <a:buChar char="•"/>
            </a:pPr>
            <a:r>
              <a:rPr lang="en-GB"/>
              <a:t>BVF Capability: Insight-Driven &gt; Complaint Analytics</a:t>
            </a:r>
            <a:endParaRPr/>
          </a:p>
        </p:txBody>
      </p:sp>
    </p:spTree>
  </p:cSld>
  <p:clrMapOvr>
    <a:masterClrMapping/>
  </p:clrMapOvr>
</p:notes>
</file>

<file path=ppt/notesSlides/notesSlide122.xml><?xml version="1.0" encoding="utf-8"?>
<p:notes xmlns:a="http://schemas.openxmlformats.org/drawingml/2006/main" xmlns:p="http://schemas.openxmlformats.org/presentationml/2006/main" showMasterPhAnim="0" showMasterSp="0">
  <p:cSld>
    <p:spTree>
      <p:nvGrpSpPr>
        <p:cNvPr id="2745" name="Shape 2745"/>
        <p:cNvGrpSpPr/>
        <p:nvPr/>
      </p:nvGrpSpPr>
      <p:grpSpPr>
        <a:xfrm>
          <a:off x="0" y="0"/>
          <a:ext cx="0" cy="0"/>
          <a:chOff x="0" y="0"/>
          <a:chExt cx="0" cy="0"/>
        </a:xfrm>
      </p:grpSpPr>
      <p:sp>
        <p:nvSpPr>
          <p:cNvPr id="2746" name="Google Shape;2746;p122: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747" name="Google Shape;2747;p12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8" name="Google Shape;2748;p12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IDENTIFY BROKEN/SUB-OPTIMAL PROCESSES</a:t>
            </a:r>
            <a:endParaRPr/>
          </a:p>
          <a:p>
            <a:pPr indent="-173038" lvl="0" marL="173038" rtl="0" algn="l">
              <a:lnSpc>
                <a:spcPct val="95000"/>
              </a:lnSpc>
              <a:spcBef>
                <a:spcPts val="0"/>
              </a:spcBef>
              <a:spcAft>
                <a:spcPts val="0"/>
              </a:spcAft>
              <a:buClr>
                <a:schemeClr val="dk1"/>
              </a:buClr>
              <a:buSzPts val="1200"/>
              <a:buChar char="•"/>
            </a:pPr>
            <a:r>
              <a:rPr lang="en-GB"/>
              <a:t>PAKISTAN: Account opening requires 5 systems, NADRA verification adds latency, debit card issuance takes 7-14 days.</a:t>
            </a:r>
            <a:endParaRPr/>
          </a:p>
          <a:p>
            <a:pPr indent="-173038" lvl="0" marL="173038" rtl="0" algn="l">
              <a:lnSpc>
                <a:spcPct val="95000"/>
              </a:lnSpc>
              <a:spcBef>
                <a:spcPts val="0"/>
              </a:spcBef>
              <a:spcAft>
                <a:spcPts val="0"/>
              </a:spcAft>
              <a:buClr>
                <a:schemeClr val="dk1"/>
              </a:buClr>
              <a:buSzPts val="1200"/>
              <a:buChar char="•"/>
            </a:pPr>
            <a:r>
              <a:rPr lang="en-GB"/>
              <a:t>Key broken processes: digital onboarding (40-60% dropoff), IBFT failure handling, cheque clearing delays, loan disbursement (7-21 days).</a:t>
            </a:r>
            <a:endParaRPr/>
          </a:p>
          <a:p>
            <a:pPr indent="-173038" lvl="0" marL="173038" rtl="0" algn="l">
              <a:lnSpc>
                <a:spcPct val="95000"/>
              </a:lnSpc>
              <a:spcBef>
                <a:spcPts val="0"/>
              </a:spcBef>
              <a:spcAft>
                <a:spcPts val="0"/>
              </a:spcAft>
              <a:buClr>
                <a:schemeClr val="dk1"/>
              </a:buClr>
              <a:buSzPts val="1200"/>
              <a:buChar char="•"/>
            </a:pPr>
            <a:r>
              <a:rPr lang="en-GB"/>
              <a:t>FSDM: PRCS_STP, SVC_RQST, WAIT_TM, CHNL_INTN, TXN_FAIL</a:t>
            </a:r>
            <a:endParaRPr/>
          </a:p>
          <a:p>
            <a:pPr indent="-173038" lvl="0" marL="173038" rtl="0" algn="l">
              <a:lnSpc>
                <a:spcPct val="95000"/>
              </a:lnSpc>
              <a:spcBef>
                <a:spcPts val="0"/>
              </a:spcBef>
              <a:spcAft>
                <a:spcPts val="0"/>
              </a:spcAft>
              <a:buClr>
                <a:schemeClr val="dk1"/>
              </a:buClr>
              <a:buSzPts val="1200"/>
              <a:buChar char="•"/>
            </a:pPr>
            <a:r>
              <a:rPr lang="en-GB"/>
              <a:t>BVF Capability: Insight-Driven &gt; Process Analytics</a:t>
            </a:r>
            <a:endParaRPr/>
          </a:p>
        </p:txBody>
      </p:sp>
    </p:spTree>
  </p:cSld>
  <p:clrMapOvr>
    <a:masterClrMapping/>
  </p:clrMapOvr>
</p:notes>
</file>

<file path=ppt/notesSlides/notesSlide123.xml><?xml version="1.0" encoding="utf-8"?>
<p:notes xmlns:a="http://schemas.openxmlformats.org/drawingml/2006/main" xmlns:p="http://schemas.openxmlformats.org/presentationml/2006/main" showMasterPhAnim="0" showMasterSp="0">
  <p:cSld>
    <p:spTree>
      <p:nvGrpSpPr>
        <p:cNvPr id="2765" name="Shape 2765"/>
        <p:cNvGrpSpPr/>
        <p:nvPr/>
      </p:nvGrpSpPr>
      <p:grpSpPr>
        <a:xfrm>
          <a:off x="0" y="0"/>
          <a:ext cx="0" cy="0"/>
          <a:chOff x="0" y="0"/>
          <a:chExt cx="0" cy="0"/>
        </a:xfrm>
      </p:grpSpPr>
      <p:sp>
        <p:nvSpPr>
          <p:cNvPr id="2766" name="Google Shape;2766;p123: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767" name="Google Shape;2767;p12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8" name="Google Shape;2768;p12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CALL CENTRE SENTIMENT</a:t>
            </a:r>
            <a:endParaRPr/>
          </a:p>
          <a:p>
            <a:pPr indent="-173038" lvl="0" marL="173038" rtl="0" algn="l">
              <a:lnSpc>
                <a:spcPct val="95000"/>
              </a:lnSpc>
              <a:spcBef>
                <a:spcPts val="0"/>
              </a:spcBef>
              <a:spcAft>
                <a:spcPts val="0"/>
              </a:spcAft>
              <a:buClr>
                <a:schemeClr val="dk1"/>
              </a:buClr>
              <a:buSzPts val="1200"/>
              <a:buChar char="•"/>
            </a:pPr>
            <a:r>
              <a:rPr lang="en-GB"/>
              <a:t>PAKISTAN: Urdu NLP models less mature, requires custom training. 1M+ calls/month per large bank — massive unstructured data opportunity.</a:t>
            </a:r>
            <a:endParaRPr/>
          </a:p>
          <a:p>
            <a:pPr indent="-173038" lvl="0" marL="173038" rtl="0" algn="l">
              <a:lnSpc>
                <a:spcPct val="95000"/>
              </a:lnSpc>
              <a:spcBef>
                <a:spcPts val="0"/>
              </a:spcBef>
              <a:spcAft>
                <a:spcPts val="0"/>
              </a:spcAft>
              <a:buClr>
                <a:schemeClr val="dk1"/>
              </a:buClr>
              <a:buSzPts val="1200"/>
              <a:buChar char="•"/>
            </a:pPr>
            <a:r>
              <a:rPr lang="en-GB"/>
              <a:t>WhatsApp banking conversations also provide sentiment data. IVR interaction patterns reveal frustration signals.</a:t>
            </a:r>
            <a:endParaRPr/>
          </a:p>
          <a:p>
            <a:pPr indent="-173038" lvl="0" marL="173038" rtl="0" algn="l">
              <a:lnSpc>
                <a:spcPct val="95000"/>
              </a:lnSpc>
              <a:spcBef>
                <a:spcPts val="0"/>
              </a:spcBef>
              <a:spcAft>
                <a:spcPts val="0"/>
              </a:spcAft>
              <a:buClr>
                <a:schemeClr val="dk1"/>
              </a:buClr>
              <a:buSzPts val="1200"/>
              <a:buChar char="•"/>
            </a:pPr>
            <a:r>
              <a:rPr lang="en-GB"/>
              <a:t>FSDM: PRTY, CHNL_INTN, CALL_RCRD, SNTMNT_SCRE, IVR_INTN</a:t>
            </a:r>
            <a:endParaRPr/>
          </a:p>
          <a:p>
            <a:pPr indent="-173038" lvl="0" marL="173038" rtl="0" algn="l">
              <a:lnSpc>
                <a:spcPct val="95000"/>
              </a:lnSpc>
              <a:spcBef>
                <a:spcPts val="0"/>
              </a:spcBef>
              <a:spcAft>
                <a:spcPts val="0"/>
              </a:spcAft>
              <a:buClr>
                <a:schemeClr val="dk1"/>
              </a:buClr>
              <a:buSzPts val="1200"/>
              <a:buChar char="•"/>
            </a:pPr>
            <a:r>
              <a:rPr lang="en-GB"/>
              <a:t>BVF Capability: Insight-Driven &gt; Unstructured Data Analytics</a:t>
            </a:r>
            <a:endParaRPr/>
          </a:p>
        </p:txBody>
      </p:sp>
    </p:spTree>
  </p:cSld>
  <p:clrMapOvr>
    <a:masterClrMapping/>
  </p:clrMapOvr>
</p:notes>
</file>

<file path=ppt/notesSlides/notesSlide124.xml><?xml version="1.0" encoding="utf-8"?>
<p:notes xmlns:a="http://schemas.openxmlformats.org/drawingml/2006/main" xmlns:p="http://schemas.openxmlformats.org/presentationml/2006/main" showMasterPhAnim="0" showMasterSp="0">
  <p:cSld>
    <p:spTree>
      <p:nvGrpSpPr>
        <p:cNvPr id="2785" name="Shape 2785"/>
        <p:cNvGrpSpPr/>
        <p:nvPr/>
      </p:nvGrpSpPr>
      <p:grpSpPr>
        <a:xfrm>
          <a:off x="0" y="0"/>
          <a:ext cx="0" cy="0"/>
          <a:chOff x="0" y="0"/>
          <a:chExt cx="0" cy="0"/>
        </a:xfrm>
      </p:grpSpPr>
      <p:sp>
        <p:nvSpPr>
          <p:cNvPr id="2786" name="Google Shape;2786;p124: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2787" name="Google Shape;2787;p12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8" name="Google Shape;2788;p12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TRANSACTIONAL CLASSIFICATION (1) — HIGHEST PRIORITY USE CASE</a:t>
            </a:r>
            <a:endParaRPr/>
          </a:p>
          <a:p>
            <a:pPr indent="-173038" lvl="0" marL="173038" rtl="0" algn="l">
              <a:lnSpc>
                <a:spcPct val="95000"/>
              </a:lnSpc>
              <a:spcBef>
                <a:spcPts val="0"/>
              </a:spcBef>
              <a:spcAft>
                <a:spcPts val="0"/>
              </a:spcAft>
              <a:buClr>
                <a:schemeClr val="dk1"/>
              </a:buClr>
              <a:buSzPts val="1200"/>
              <a:buChar char="•"/>
            </a:pPr>
            <a:r>
              <a:rPr lang="en-GB"/>
              <a:t>PAKISTAN: Classifying RAAST/IBFT payments enables salary detection for 70% informal workforce — unlocking lending for undocumented income.</a:t>
            </a:r>
            <a:endParaRPr/>
          </a:p>
          <a:p>
            <a:pPr indent="-173038" lvl="0" marL="173038" rtl="0" algn="l">
              <a:lnSpc>
                <a:spcPct val="95000"/>
              </a:lnSpc>
              <a:spcBef>
                <a:spcPts val="0"/>
              </a:spcBef>
              <a:spcAft>
                <a:spcPts val="0"/>
              </a:spcAft>
              <a:buClr>
                <a:schemeClr val="dk1"/>
              </a:buClr>
              <a:buSzPts val="1200"/>
              <a:buChar char="•"/>
            </a:pPr>
            <a:r>
              <a:rPr lang="en-GB"/>
              <a:t>Categories: salary, rent, utility, education fees, healthcare, religious (Zakat/Qurbani), remittance, government payments.</a:t>
            </a:r>
            <a:endParaRPr/>
          </a:p>
          <a:p>
            <a:pPr indent="-173038" lvl="0" marL="173038" rtl="0" algn="l">
              <a:lnSpc>
                <a:spcPct val="95000"/>
              </a:lnSpc>
              <a:spcBef>
                <a:spcPts val="0"/>
              </a:spcBef>
              <a:spcAft>
                <a:spcPts val="0"/>
              </a:spcAft>
              <a:buClr>
                <a:schemeClr val="dk1"/>
              </a:buClr>
              <a:buSzPts val="1200"/>
              <a:buChar char="•"/>
            </a:pPr>
            <a:r>
              <a:rPr lang="en-GB"/>
              <a:t>100M+ JazzCash/Easypaisa transactions provide additional classification opportunity.</a:t>
            </a:r>
            <a:endParaRPr/>
          </a:p>
          <a:p>
            <a:pPr indent="-173038" lvl="0" marL="173038" rtl="0" algn="l">
              <a:lnSpc>
                <a:spcPct val="95000"/>
              </a:lnSpc>
              <a:spcBef>
                <a:spcPts val="0"/>
              </a:spcBef>
              <a:spcAft>
                <a:spcPts val="0"/>
              </a:spcAft>
              <a:buClr>
                <a:schemeClr val="dk1"/>
              </a:buClr>
              <a:buSzPts val="1200"/>
              <a:buChar char="•"/>
            </a:pPr>
            <a:r>
              <a:rPr lang="en-GB"/>
              <a:t>FSDM: TXN, TXN_CLSFCTN, PYMT_TYP, MRCHNT_CTGRY, ACCT_TXN</a:t>
            </a:r>
            <a:endParaRPr/>
          </a:p>
          <a:p>
            <a:pPr indent="-173038" lvl="0" marL="173038" rtl="0" algn="l">
              <a:lnSpc>
                <a:spcPct val="95000"/>
              </a:lnSpc>
              <a:spcBef>
                <a:spcPts val="0"/>
              </a:spcBef>
              <a:spcAft>
                <a:spcPts val="0"/>
              </a:spcAft>
              <a:buClr>
                <a:schemeClr val="dk1"/>
              </a:buClr>
              <a:buSzPts val="1200"/>
              <a:buChar char="•"/>
            </a:pPr>
            <a:r>
              <a:rPr lang="en-GB"/>
              <a:t>BVF Capability: Insight-Driven &gt; Transaction Analytics</a:t>
            </a:r>
            <a:endParaRPr/>
          </a:p>
        </p:txBody>
      </p:sp>
    </p:spTree>
  </p:cSld>
  <p:clrMapOvr>
    <a:masterClrMapping/>
  </p:clrMapOvr>
</p:notes>
</file>

<file path=ppt/notesSlides/notesSlide125.xml><?xml version="1.0" encoding="utf-8"?>
<p:notes xmlns:a="http://schemas.openxmlformats.org/drawingml/2006/main" xmlns:p="http://schemas.openxmlformats.org/presentationml/2006/main" showMasterPhAnim="0" showMasterSp="0">
  <p:cSld>
    <p:spTree>
      <p:nvGrpSpPr>
        <p:cNvPr id="2805" name="Shape 2805"/>
        <p:cNvGrpSpPr/>
        <p:nvPr/>
      </p:nvGrpSpPr>
      <p:grpSpPr>
        <a:xfrm>
          <a:off x="0" y="0"/>
          <a:ext cx="0" cy="0"/>
          <a:chOff x="0" y="0"/>
          <a:chExt cx="0" cy="0"/>
        </a:xfrm>
      </p:grpSpPr>
      <p:sp>
        <p:nvSpPr>
          <p:cNvPr id="2806" name="Google Shape;2806;p125: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2807" name="Google Shape;2807;p12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8" name="Google Shape;2808;p12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TRANSACTIONAL CLASSIFICATION (2) — Example Classification Taxonomy</a:t>
            </a:r>
            <a:endParaRPr/>
          </a:p>
          <a:p>
            <a:pPr indent="-173038" lvl="0" marL="173038" rtl="0" algn="l">
              <a:lnSpc>
                <a:spcPct val="95000"/>
              </a:lnSpc>
              <a:spcBef>
                <a:spcPts val="0"/>
              </a:spcBef>
              <a:spcAft>
                <a:spcPts val="0"/>
              </a:spcAft>
              <a:buClr>
                <a:schemeClr val="dk1"/>
              </a:buClr>
              <a:buSzPts val="1200"/>
              <a:buChar char="•"/>
            </a:pPr>
            <a:r>
              <a:rPr lang="en-GB"/>
              <a:t>PAKISTAN: This slide shows example classification categories. Adapt top-level categories for Pakistan: salary, utility, education, healthcare, religious (Zakat/Qurbani), remittance, government.</a:t>
            </a:r>
            <a:endParaRPr/>
          </a:p>
          <a:p>
            <a:pPr indent="-173038" lvl="0" marL="173038" rtl="0" algn="l">
              <a:lnSpc>
                <a:spcPct val="95000"/>
              </a:lnSpc>
              <a:spcBef>
                <a:spcPts val="0"/>
              </a:spcBef>
              <a:spcAft>
                <a:spcPts val="0"/>
              </a:spcAft>
              <a:buClr>
                <a:schemeClr val="dk1"/>
              </a:buClr>
              <a:buSzPts val="1200"/>
              <a:buChar char="•"/>
            </a:pPr>
            <a:r>
              <a:rPr lang="en-GB"/>
              <a:t>FSDM: TXN, TXN_CLSFCTN, MRCHNT_CTGRY</a:t>
            </a:r>
            <a:endParaRPr/>
          </a:p>
          <a:p>
            <a:pPr indent="-173038" lvl="0" marL="173038" rtl="0" algn="l">
              <a:lnSpc>
                <a:spcPct val="95000"/>
              </a:lnSpc>
              <a:spcBef>
                <a:spcPts val="0"/>
              </a:spcBef>
              <a:spcAft>
                <a:spcPts val="0"/>
              </a:spcAft>
              <a:buClr>
                <a:schemeClr val="dk1"/>
              </a:buClr>
              <a:buSzPts val="1200"/>
              <a:buChar char="•"/>
            </a:pPr>
            <a:r>
              <a:rPr lang="en-GB"/>
              <a:t>BVF Capability: Insight-Driven &gt; Transaction Analytics</a:t>
            </a:r>
            <a:endParaRPr/>
          </a:p>
        </p:txBody>
      </p:sp>
    </p:spTree>
  </p:cSld>
  <p:clrMapOvr>
    <a:masterClrMapping/>
  </p:clrMapOvr>
</p:notes>
</file>

<file path=ppt/notesSlides/notesSlide126.xml><?xml version="1.0" encoding="utf-8"?>
<p:notes xmlns:a="http://schemas.openxmlformats.org/drawingml/2006/main" xmlns:p="http://schemas.openxmlformats.org/presentationml/2006/main" showMasterPhAnim="0" showMasterSp="0">
  <p:cSld>
    <p:spTree>
      <p:nvGrpSpPr>
        <p:cNvPr id="2823" name="Shape 2823"/>
        <p:cNvGrpSpPr/>
        <p:nvPr/>
      </p:nvGrpSpPr>
      <p:grpSpPr>
        <a:xfrm>
          <a:off x="0" y="0"/>
          <a:ext cx="0" cy="0"/>
          <a:chOff x="0" y="0"/>
          <a:chExt cx="0" cy="0"/>
        </a:xfrm>
      </p:grpSpPr>
      <p:sp>
        <p:nvSpPr>
          <p:cNvPr id="2824" name="Google Shape;2824;p126: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825" name="Google Shape;2825;p12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6" name="Google Shape;2826;p12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SALES PROCESS IMPROVEMENT</a:t>
            </a:r>
            <a:endParaRPr/>
          </a:p>
          <a:p>
            <a:pPr indent="-173038" lvl="0" marL="173038" rtl="0" algn="l">
              <a:lnSpc>
                <a:spcPct val="95000"/>
              </a:lnSpc>
              <a:spcBef>
                <a:spcPts val="0"/>
              </a:spcBef>
              <a:spcAft>
                <a:spcPts val="0"/>
              </a:spcAft>
              <a:buClr>
                <a:schemeClr val="dk1"/>
              </a:buClr>
              <a:buSzPts val="1200"/>
              <a:buChar char="•"/>
            </a:pPr>
            <a:r>
              <a:rPr lang="en-GB"/>
              <a:t>PAKISTAN: Branch staff close &lt;5% of sales leads. Mobile app loan application takes 7-21 days vs. fintech 24-48 hours.</a:t>
            </a:r>
            <a:endParaRPr/>
          </a:p>
          <a:p>
            <a:pPr indent="-173038" lvl="0" marL="173038" rtl="0" algn="l">
              <a:lnSpc>
                <a:spcPct val="95000"/>
              </a:lnSpc>
              <a:spcBef>
                <a:spcPts val="0"/>
              </a:spcBef>
              <a:spcAft>
                <a:spcPts val="0"/>
              </a:spcAft>
              <a:buClr>
                <a:schemeClr val="dk1"/>
              </a:buClr>
              <a:buSzPts val="1200"/>
              <a:buChar char="•"/>
            </a:pPr>
            <a:r>
              <a:rPr lang="en-GB"/>
              <a:t>Opportunity: digital sales funnel optimization can increase conversion by 3-5x.</a:t>
            </a:r>
            <a:endParaRPr/>
          </a:p>
          <a:p>
            <a:pPr indent="-173038" lvl="0" marL="173038" rtl="0" algn="l">
              <a:lnSpc>
                <a:spcPct val="95000"/>
              </a:lnSpc>
              <a:spcBef>
                <a:spcPts val="0"/>
              </a:spcBef>
              <a:spcAft>
                <a:spcPts val="0"/>
              </a:spcAft>
              <a:buClr>
                <a:schemeClr val="dk1"/>
              </a:buClr>
              <a:buSzPts val="1200"/>
              <a:buChar char="•"/>
            </a:pPr>
            <a:r>
              <a:rPr lang="en-GB"/>
              <a:t>FSDM: SLS_OPPRTNTY, SLS_FNNL, CHNL_INTN, PRDCT_APPLCTN</a:t>
            </a:r>
            <a:endParaRPr/>
          </a:p>
          <a:p>
            <a:pPr indent="-173038" lvl="0" marL="173038" rtl="0" algn="l">
              <a:lnSpc>
                <a:spcPct val="95000"/>
              </a:lnSpc>
              <a:spcBef>
                <a:spcPts val="0"/>
              </a:spcBef>
              <a:spcAft>
                <a:spcPts val="0"/>
              </a:spcAft>
              <a:buClr>
                <a:schemeClr val="dk1"/>
              </a:buClr>
              <a:buSzPts val="1200"/>
              <a:buChar char="•"/>
            </a:pPr>
            <a:r>
              <a:rPr lang="en-GB"/>
              <a:t>BVF Capability: Insight-Driven &gt; Sales Analytics</a:t>
            </a:r>
            <a:endParaRPr/>
          </a:p>
        </p:txBody>
      </p:sp>
    </p:spTree>
  </p:cSld>
  <p:clrMapOvr>
    <a:masterClrMapping/>
  </p:clrMapOvr>
</p:notes>
</file>

<file path=ppt/notesSlides/notesSlide127.xml><?xml version="1.0" encoding="utf-8"?>
<p:notes xmlns:a="http://schemas.openxmlformats.org/drawingml/2006/main" xmlns:p="http://schemas.openxmlformats.org/presentationml/2006/main" showMasterPhAnim="0" showMasterSp="0">
  <p:cSld>
    <p:spTree>
      <p:nvGrpSpPr>
        <p:cNvPr id="2843" name="Shape 2843"/>
        <p:cNvGrpSpPr/>
        <p:nvPr/>
      </p:nvGrpSpPr>
      <p:grpSpPr>
        <a:xfrm>
          <a:off x="0" y="0"/>
          <a:ext cx="0" cy="0"/>
          <a:chOff x="0" y="0"/>
          <a:chExt cx="0" cy="0"/>
        </a:xfrm>
      </p:grpSpPr>
      <p:sp>
        <p:nvSpPr>
          <p:cNvPr id="2844" name="Google Shape;2844;p127: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845" name="Google Shape;2845;p12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6" name="Google Shape;2846;p12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PATH TO PURCHASE — EVENT BASED MARKETING</a:t>
            </a:r>
            <a:endParaRPr/>
          </a:p>
          <a:p>
            <a:pPr indent="-173038" lvl="0" marL="173038" rtl="0" algn="l">
              <a:lnSpc>
                <a:spcPct val="95000"/>
              </a:lnSpc>
              <a:spcBef>
                <a:spcPts val="0"/>
              </a:spcBef>
              <a:spcAft>
                <a:spcPts val="0"/>
              </a:spcAft>
              <a:buClr>
                <a:schemeClr val="dk1"/>
              </a:buClr>
              <a:buSzPts val="1200"/>
              <a:buChar char="•"/>
            </a:pPr>
            <a:r>
              <a:rPr lang="en-GB"/>
              <a:t>PAKISTAN: Events — salary credit (1st-5th), Ramadan/Eid, back-to-school (August), wedding season (Nov-Feb), Hajj season.</a:t>
            </a:r>
            <a:endParaRPr/>
          </a:p>
          <a:p>
            <a:pPr indent="-173038" lvl="0" marL="173038" rtl="0" algn="l">
              <a:lnSpc>
                <a:spcPct val="95000"/>
              </a:lnSpc>
              <a:spcBef>
                <a:spcPts val="0"/>
              </a:spcBef>
              <a:spcAft>
                <a:spcPts val="0"/>
              </a:spcAft>
              <a:buClr>
                <a:schemeClr val="dk1"/>
              </a:buClr>
              <a:buSzPts val="1200"/>
              <a:buChar char="•"/>
            </a:pPr>
            <a:r>
              <a:rPr lang="en-GB"/>
              <a:t>Real-time event triggers via RAAST enable within-24-hour campaign activation.</a:t>
            </a:r>
            <a:endParaRPr/>
          </a:p>
          <a:p>
            <a:pPr indent="-173038" lvl="0" marL="173038" rtl="0" algn="l">
              <a:lnSpc>
                <a:spcPct val="95000"/>
              </a:lnSpc>
              <a:spcBef>
                <a:spcPts val="0"/>
              </a:spcBef>
              <a:spcAft>
                <a:spcPts val="0"/>
              </a:spcAft>
              <a:buClr>
                <a:schemeClr val="dk1"/>
              </a:buClr>
              <a:buSzPts val="1200"/>
              <a:buChar char="•"/>
            </a:pPr>
            <a:r>
              <a:rPr lang="en-GB"/>
              <a:t>FSDM: EVNT, EVNT_TRGGR, CMPGN, CMPGN_RSPNS, PRTY_EVNT</a:t>
            </a:r>
            <a:endParaRPr/>
          </a:p>
          <a:p>
            <a:pPr indent="-173038" lvl="0" marL="173038" rtl="0" algn="l">
              <a:lnSpc>
                <a:spcPct val="95000"/>
              </a:lnSpc>
              <a:spcBef>
                <a:spcPts val="0"/>
              </a:spcBef>
              <a:spcAft>
                <a:spcPts val="0"/>
              </a:spcAft>
              <a:buClr>
                <a:schemeClr val="dk1"/>
              </a:buClr>
              <a:buSzPts val="1200"/>
              <a:buChar char="•"/>
            </a:pPr>
            <a:r>
              <a:rPr lang="en-GB"/>
              <a:t>BVF Capability: Insight-Driven &gt; Event-Based Marketing</a:t>
            </a:r>
            <a:endParaRPr/>
          </a:p>
        </p:txBody>
      </p:sp>
    </p:spTree>
  </p:cSld>
  <p:clrMapOvr>
    <a:masterClrMapping/>
  </p:clrMapOvr>
</p:notes>
</file>

<file path=ppt/notesSlides/notesSlide128.xml><?xml version="1.0" encoding="utf-8"?>
<p:notes xmlns:a="http://schemas.openxmlformats.org/drawingml/2006/main" xmlns:p="http://schemas.openxmlformats.org/presentationml/2006/main" showMasterPhAnim="0" showMasterSp="0">
  <p:cSld>
    <p:spTree>
      <p:nvGrpSpPr>
        <p:cNvPr id="2863" name="Shape 2863"/>
        <p:cNvGrpSpPr/>
        <p:nvPr/>
      </p:nvGrpSpPr>
      <p:grpSpPr>
        <a:xfrm>
          <a:off x="0" y="0"/>
          <a:ext cx="0" cy="0"/>
          <a:chOff x="0" y="0"/>
          <a:chExt cx="0" cy="0"/>
        </a:xfrm>
      </p:grpSpPr>
      <p:sp>
        <p:nvSpPr>
          <p:cNvPr id="2864" name="Google Shape;2864;p128: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865" name="Google Shape;2865;p12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6" name="Google Shape;2866;p12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CUSTOMER JOURNEY ANALYTICS (1)</a:t>
            </a:r>
            <a:endParaRPr/>
          </a:p>
          <a:p>
            <a:pPr indent="-173038" lvl="0" marL="173038" rtl="0" algn="l">
              <a:lnSpc>
                <a:spcPct val="95000"/>
              </a:lnSpc>
              <a:spcBef>
                <a:spcPts val="0"/>
              </a:spcBef>
              <a:spcAft>
                <a:spcPts val="0"/>
              </a:spcAft>
              <a:buClr>
                <a:schemeClr val="dk1"/>
              </a:buClr>
              <a:buSzPts val="1200"/>
              <a:buChar char="•"/>
            </a:pPr>
            <a:r>
              <a:rPr lang="en-GB"/>
              <a:t>PAKISTAN: Key journeys — onboarding (CNIC → NADRA → account → first transaction), branch-to-digital migration, financial inclusion (agent → basic account → savings → lending).</a:t>
            </a:r>
            <a:endParaRPr/>
          </a:p>
          <a:p>
            <a:pPr indent="-173038" lvl="0" marL="173038" rtl="0" algn="l">
              <a:lnSpc>
                <a:spcPct val="95000"/>
              </a:lnSpc>
              <a:spcBef>
                <a:spcPts val="0"/>
              </a:spcBef>
              <a:spcAft>
                <a:spcPts val="0"/>
              </a:spcAft>
              <a:buClr>
                <a:schemeClr val="dk1"/>
              </a:buClr>
              <a:buSzPts val="1200"/>
              <a:buChar char="•"/>
            </a:pPr>
            <a:r>
              <a:rPr lang="en-GB"/>
              <a:t>Critical question: why do 40-60% of digital onboarding applicants drop off at NADRA biometric step?</a:t>
            </a:r>
            <a:endParaRPr/>
          </a:p>
          <a:p>
            <a:pPr indent="-173038" lvl="0" marL="173038" rtl="0" algn="l">
              <a:lnSpc>
                <a:spcPct val="95000"/>
              </a:lnSpc>
              <a:spcBef>
                <a:spcPts val="0"/>
              </a:spcBef>
              <a:spcAft>
                <a:spcPts val="0"/>
              </a:spcAft>
              <a:buClr>
                <a:schemeClr val="dk1"/>
              </a:buClr>
              <a:buSzPts val="1200"/>
              <a:buChar char="•"/>
            </a:pPr>
            <a:r>
              <a:rPr lang="en-GB"/>
              <a:t>FSDM: CSTMR_JRNY, JRNY_STP, CHNL_INTN, EVNT, CNVRSN</a:t>
            </a:r>
            <a:endParaRPr/>
          </a:p>
          <a:p>
            <a:pPr indent="-173038" lvl="0" marL="173038" rtl="0" algn="l">
              <a:lnSpc>
                <a:spcPct val="95000"/>
              </a:lnSpc>
              <a:spcBef>
                <a:spcPts val="0"/>
              </a:spcBef>
              <a:spcAft>
                <a:spcPts val="0"/>
              </a:spcAft>
              <a:buClr>
                <a:schemeClr val="dk1"/>
              </a:buClr>
              <a:buSzPts val="1200"/>
              <a:buChar char="•"/>
            </a:pPr>
            <a:r>
              <a:rPr lang="en-GB"/>
              <a:t>BVF Capability: Insight-Driven &gt; Journey Analytics</a:t>
            </a:r>
            <a:endParaRPr/>
          </a:p>
        </p:txBody>
      </p:sp>
    </p:spTree>
  </p:cSld>
  <p:clrMapOvr>
    <a:masterClrMapping/>
  </p:clrMapOvr>
</p:notes>
</file>

<file path=ppt/notesSlides/notesSlide129.xml><?xml version="1.0" encoding="utf-8"?>
<p:notes xmlns:a="http://schemas.openxmlformats.org/drawingml/2006/main" xmlns:p="http://schemas.openxmlformats.org/presentationml/2006/main" showMasterPhAnim="0" showMasterSp="0">
  <p:cSld>
    <p:spTree>
      <p:nvGrpSpPr>
        <p:cNvPr id="2883" name="Shape 2883"/>
        <p:cNvGrpSpPr/>
        <p:nvPr/>
      </p:nvGrpSpPr>
      <p:grpSpPr>
        <a:xfrm>
          <a:off x="0" y="0"/>
          <a:ext cx="0" cy="0"/>
          <a:chOff x="0" y="0"/>
          <a:chExt cx="0" cy="0"/>
        </a:xfrm>
      </p:grpSpPr>
      <p:sp>
        <p:nvSpPr>
          <p:cNvPr id="2884" name="Google Shape;2884;p129: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885" name="Google Shape;2885;p12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6" name="Google Shape;2886;p12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CUSTOMER JOURNEY ANALYTICS (2)</a:t>
            </a:r>
            <a:endParaRPr/>
          </a:p>
          <a:p>
            <a:pPr indent="-173038" lvl="0" marL="173038" rtl="0" algn="l">
              <a:lnSpc>
                <a:spcPct val="95000"/>
              </a:lnSpc>
              <a:spcBef>
                <a:spcPts val="0"/>
              </a:spcBef>
              <a:spcAft>
                <a:spcPts val="0"/>
              </a:spcAft>
              <a:buClr>
                <a:schemeClr val="dk1"/>
              </a:buClr>
              <a:buSzPts val="1200"/>
              <a:buChar char="•"/>
            </a:pPr>
            <a:r>
              <a:rPr lang="en-GB"/>
              <a:t>PAKISTAN: Cross-channel journeys — customers using both traditional branch and branchless agent channels simultaneously.</a:t>
            </a:r>
            <a:endParaRPr/>
          </a:p>
          <a:p>
            <a:pPr indent="-173038" lvl="0" marL="173038" rtl="0" algn="l">
              <a:lnSpc>
                <a:spcPct val="95000"/>
              </a:lnSpc>
              <a:spcBef>
                <a:spcPts val="0"/>
              </a:spcBef>
              <a:spcAft>
                <a:spcPts val="0"/>
              </a:spcAft>
              <a:buClr>
                <a:schemeClr val="dk1"/>
              </a:buClr>
              <a:buSzPts val="1200"/>
              <a:buChar char="•"/>
            </a:pPr>
            <a:r>
              <a:rPr lang="en-GB"/>
              <a:t>FSDM: CSTMR_JRNY, JRNY_STP, CHNL_INTN, AGNT_INTN</a:t>
            </a:r>
            <a:endParaRPr/>
          </a:p>
          <a:p>
            <a:pPr indent="-173038" lvl="0" marL="173038" rtl="0" algn="l">
              <a:lnSpc>
                <a:spcPct val="95000"/>
              </a:lnSpc>
              <a:spcBef>
                <a:spcPts val="0"/>
              </a:spcBef>
              <a:spcAft>
                <a:spcPts val="0"/>
              </a:spcAft>
              <a:buClr>
                <a:schemeClr val="dk1"/>
              </a:buClr>
              <a:buSzPts val="1200"/>
              <a:buChar char="•"/>
            </a:pPr>
            <a:r>
              <a:rPr lang="en-GB"/>
              <a:t>BVF Capability: Insight-Driven &gt; Journey Analytics</a:t>
            </a:r>
            <a:endParaRPr/>
          </a:p>
        </p:txBody>
      </p:sp>
    </p:spTree>
  </p:cSld>
  <p:clrMapOvr>
    <a:masterClrMapping/>
  </p:clrMapOvr>
</p:notes>
</file>

<file path=ppt/notesSlides/notesSlide130.xml><?xml version="1.0" encoding="utf-8"?>
<p:notes xmlns:a="http://schemas.openxmlformats.org/drawingml/2006/main" xmlns:p="http://schemas.openxmlformats.org/presentationml/2006/main" showMasterPhAnim="0" showMasterSp="0">
  <p:cSld>
    <p:spTree>
      <p:nvGrpSpPr>
        <p:cNvPr id="2899" name="Shape 2899"/>
        <p:cNvGrpSpPr/>
        <p:nvPr/>
      </p:nvGrpSpPr>
      <p:grpSpPr>
        <a:xfrm>
          <a:off x="0" y="0"/>
          <a:ext cx="0" cy="0"/>
          <a:chOff x="0" y="0"/>
          <a:chExt cx="0" cy="0"/>
        </a:xfrm>
      </p:grpSpPr>
      <p:sp>
        <p:nvSpPr>
          <p:cNvPr id="2900" name="Google Shape;2900;p130: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901" name="Google Shape;2901;p13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2" name="Google Shape;2902;p13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PATH TO APPOINTMENT</a:t>
            </a:r>
            <a:endParaRPr/>
          </a:p>
          <a:p>
            <a:pPr indent="-173038" lvl="0" marL="173038" rtl="0" algn="l">
              <a:lnSpc>
                <a:spcPct val="95000"/>
              </a:lnSpc>
              <a:spcBef>
                <a:spcPts val="0"/>
              </a:spcBef>
              <a:spcAft>
                <a:spcPts val="0"/>
              </a:spcAft>
              <a:buClr>
                <a:schemeClr val="dk1"/>
              </a:buClr>
              <a:buSzPts val="1200"/>
              <a:buChar char="•"/>
            </a:pPr>
            <a:r>
              <a:rPr lang="en-GB"/>
              <a:t>PAKISTAN: Branch appointment rare for mass market. Priority/HNW customers need RM scheduling optimization via WhatsApp.</a:t>
            </a:r>
            <a:endParaRPr/>
          </a:p>
          <a:p>
            <a:pPr indent="-173038" lvl="0" marL="173038" rtl="0" algn="l">
              <a:lnSpc>
                <a:spcPct val="95000"/>
              </a:lnSpc>
              <a:spcBef>
                <a:spcPts val="0"/>
              </a:spcBef>
              <a:spcAft>
                <a:spcPts val="0"/>
              </a:spcAft>
              <a:buClr>
                <a:schemeClr val="dk1"/>
              </a:buClr>
              <a:buSzPts val="1200"/>
              <a:buChar char="•"/>
            </a:pPr>
            <a:r>
              <a:rPr lang="en-GB"/>
              <a:t>FSDM: APPTMNT, CHNL_INTN, RM_ASGNMNT, PRTY</a:t>
            </a:r>
            <a:endParaRPr/>
          </a:p>
          <a:p>
            <a:pPr indent="-173038" lvl="0" marL="173038" rtl="0" algn="l">
              <a:lnSpc>
                <a:spcPct val="95000"/>
              </a:lnSpc>
              <a:spcBef>
                <a:spcPts val="0"/>
              </a:spcBef>
              <a:spcAft>
                <a:spcPts val="0"/>
              </a:spcAft>
              <a:buClr>
                <a:schemeClr val="dk1"/>
              </a:buClr>
              <a:buSzPts val="1200"/>
              <a:buChar char="•"/>
            </a:pPr>
            <a:r>
              <a:rPr lang="en-GB"/>
              <a:t>BVF Capability: Insight-Driven &gt; Branch Analytics</a:t>
            </a:r>
            <a:endParaRPr/>
          </a:p>
        </p:txBody>
      </p:sp>
    </p:spTree>
  </p:cSld>
  <p:clrMapOvr>
    <a:masterClrMapping/>
  </p:clrMapOvr>
</p:notes>
</file>

<file path=ppt/notesSlides/notesSlide133.xml><?xml version="1.0" encoding="utf-8"?>
<p:notes xmlns:a="http://schemas.openxmlformats.org/drawingml/2006/main" xmlns:p="http://schemas.openxmlformats.org/presentationml/2006/main" showMasterPhAnim="0" showMasterSp="0">
  <p:cSld>
    <p:spTree>
      <p:nvGrpSpPr>
        <p:cNvPr id="2959" name="Shape 2959"/>
        <p:cNvGrpSpPr/>
        <p:nvPr/>
      </p:nvGrpSpPr>
      <p:grpSpPr>
        <a:xfrm>
          <a:off x="0" y="0"/>
          <a:ext cx="0" cy="0"/>
          <a:chOff x="0" y="0"/>
          <a:chExt cx="0" cy="0"/>
        </a:xfrm>
      </p:grpSpPr>
      <p:sp>
        <p:nvSpPr>
          <p:cNvPr id="2960" name="Google Shape;2960;p133: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961" name="Google Shape;2961;p13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2" name="Google Shape;2962;p13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ABANDONED ONLINE PURCHASE</a:t>
            </a:r>
            <a:endParaRPr/>
          </a:p>
          <a:p>
            <a:pPr indent="-173038" lvl="0" marL="173038" rtl="0" algn="l">
              <a:lnSpc>
                <a:spcPct val="95000"/>
              </a:lnSpc>
              <a:spcBef>
                <a:spcPts val="0"/>
              </a:spcBef>
              <a:spcAft>
                <a:spcPts val="0"/>
              </a:spcAft>
              <a:buClr>
                <a:schemeClr val="dk1"/>
              </a:buClr>
              <a:buSzPts val="1200"/>
              <a:buChar char="•"/>
            </a:pPr>
            <a:r>
              <a:rPr lang="en-GB"/>
              <a:t>PAKISTAN: Primary abandonment: digital onboarding (40-60% at NADRA step), online loan applications, card applications.</a:t>
            </a:r>
            <a:endParaRPr/>
          </a:p>
          <a:p>
            <a:pPr indent="-173038" lvl="0" marL="173038" rtl="0" algn="l">
              <a:lnSpc>
                <a:spcPct val="95000"/>
              </a:lnSpc>
              <a:spcBef>
                <a:spcPts val="0"/>
              </a:spcBef>
              <a:spcAft>
                <a:spcPts val="0"/>
              </a:spcAft>
              <a:buClr>
                <a:schemeClr val="dk1"/>
              </a:buClr>
              <a:buSzPts val="1200"/>
              <a:buChar char="•"/>
            </a:pPr>
            <a:r>
              <a:rPr lang="en-GB"/>
              <a:t>FSDM: DGTL_JRNY, ABNDNMNT_EVNT, FRML_CMPLTTN, CHNL_INTN</a:t>
            </a:r>
            <a:endParaRPr/>
          </a:p>
          <a:p>
            <a:pPr indent="-173038" lvl="0" marL="173038" rtl="0" algn="l">
              <a:lnSpc>
                <a:spcPct val="95000"/>
              </a:lnSpc>
              <a:spcBef>
                <a:spcPts val="0"/>
              </a:spcBef>
              <a:spcAft>
                <a:spcPts val="0"/>
              </a:spcAft>
              <a:buClr>
                <a:schemeClr val="dk1"/>
              </a:buClr>
              <a:buSzPts val="1200"/>
              <a:buChar char="•"/>
            </a:pPr>
            <a:r>
              <a:rPr lang="en-GB"/>
              <a:t>BVF Capability: Insight-Driven &gt; Digital Analytics</a:t>
            </a:r>
            <a:endParaRPr/>
          </a:p>
        </p:txBody>
      </p:sp>
    </p:spTree>
  </p:cSld>
  <p:clrMapOvr>
    <a:masterClrMapping/>
  </p:clrMapOvr>
</p:notes>
</file>

<file path=ppt/notesSlides/notesSlide134.xml><?xml version="1.0" encoding="utf-8"?>
<p:notes xmlns:a="http://schemas.openxmlformats.org/drawingml/2006/main" xmlns:p="http://schemas.openxmlformats.org/presentationml/2006/main" showMasterPhAnim="0" showMasterSp="0">
  <p:cSld>
    <p:spTree>
      <p:nvGrpSpPr>
        <p:cNvPr id="2979" name="Shape 2979"/>
        <p:cNvGrpSpPr/>
        <p:nvPr/>
      </p:nvGrpSpPr>
      <p:grpSpPr>
        <a:xfrm>
          <a:off x="0" y="0"/>
          <a:ext cx="0" cy="0"/>
          <a:chOff x="0" y="0"/>
          <a:chExt cx="0" cy="0"/>
        </a:xfrm>
      </p:grpSpPr>
      <p:sp>
        <p:nvSpPr>
          <p:cNvPr id="2980" name="Google Shape;2980;p134: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981" name="Google Shape;2981;p13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2" name="Google Shape;2982;p13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WEALTH MANAGEMENT — PROACTIVE ADVICE</a:t>
            </a:r>
            <a:endParaRPr/>
          </a:p>
          <a:p>
            <a:pPr indent="-173038" lvl="0" marL="173038" rtl="0" algn="l">
              <a:lnSpc>
                <a:spcPct val="95000"/>
              </a:lnSpc>
              <a:spcBef>
                <a:spcPts val="0"/>
              </a:spcBef>
              <a:spcAft>
                <a:spcPts val="0"/>
              </a:spcAft>
              <a:buClr>
                <a:schemeClr val="dk1"/>
              </a:buClr>
              <a:buSzPts val="1200"/>
              <a:buChar char="•"/>
            </a:pPr>
            <a:r>
              <a:rPr lang="en-GB"/>
              <a:t>PAKISTAN: HNW segment (PKR 50M+ deposits) reactive, not proactive. Opportunities: NSS maturity, PIB/T-Bill laddering, Islamic wealth (Sukuk, Islamic mutual funds).</a:t>
            </a:r>
            <a:endParaRPr/>
          </a:p>
          <a:p>
            <a:pPr indent="-173038" lvl="0" marL="173038" rtl="0" algn="l">
              <a:lnSpc>
                <a:spcPct val="95000"/>
              </a:lnSpc>
              <a:spcBef>
                <a:spcPts val="0"/>
              </a:spcBef>
              <a:spcAft>
                <a:spcPts val="0"/>
              </a:spcAft>
              <a:buClr>
                <a:schemeClr val="dk1"/>
              </a:buClr>
              <a:buSzPts val="1200"/>
              <a:buChar char="•"/>
            </a:pPr>
            <a:r>
              <a:rPr lang="en-GB"/>
              <a:t>FSDM: PRTFL_HLDNG, INVSTMNT_TXN, NSS_MTRY, PRTY_WLTH</a:t>
            </a:r>
            <a:endParaRPr/>
          </a:p>
          <a:p>
            <a:pPr indent="-173038" lvl="0" marL="173038" rtl="0" algn="l">
              <a:lnSpc>
                <a:spcPct val="95000"/>
              </a:lnSpc>
              <a:spcBef>
                <a:spcPts val="0"/>
              </a:spcBef>
              <a:spcAft>
                <a:spcPts val="0"/>
              </a:spcAft>
              <a:buClr>
                <a:schemeClr val="dk1"/>
              </a:buClr>
              <a:buSzPts val="1200"/>
              <a:buChar char="•"/>
            </a:pPr>
            <a:r>
              <a:rPr lang="en-GB"/>
              <a:t>BVF Capability: Insight-Driven &gt; Wealth Analytics</a:t>
            </a:r>
            <a:endParaRPr/>
          </a:p>
        </p:txBody>
      </p:sp>
    </p:spTree>
  </p:cSld>
  <p:clrMapOvr>
    <a:masterClrMapping/>
  </p:clrMapOvr>
</p:notes>
</file>

<file path=ppt/notesSlides/notesSlide135.xml><?xml version="1.0" encoding="utf-8"?>
<p:notes xmlns:a="http://schemas.openxmlformats.org/drawingml/2006/main" xmlns:p="http://schemas.openxmlformats.org/presentationml/2006/main" showMasterPhAnim="0" showMasterSp="0">
  <p:cSld>
    <p:spTree>
      <p:nvGrpSpPr>
        <p:cNvPr id="2999" name="Shape 2999"/>
        <p:cNvGrpSpPr/>
        <p:nvPr/>
      </p:nvGrpSpPr>
      <p:grpSpPr>
        <a:xfrm>
          <a:off x="0" y="0"/>
          <a:ext cx="0" cy="0"/>
          <a:chOff x="0" y="0"/>
          <a:chExt cx="0" cy="0"/>
        </a:xfrm>
      </p:grpSpPr>
      <p:sp>
        <p:nvSpPr>
          <p:cNvPr id="3000" name="Google Shape;3000;p135: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001" name="Google Shape;3001;p13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2" name="Google Shape;3002;p13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PORTFOLIO INCREASE AND NEW WIN-OVER</a:t>
            </a:r>
            <a:endParaRPr/>
          </a:p>
          <a:p>
            <a:pPr indent="-173038" lvl="0" marL="173038" rtl="0" algn="l">
              <a:lnSpc>
                <a:spcPct val="95000"/>
              </a:lnSpc>
              <a:spcBef>
                <a:spcPts val="0"/>
              </a:spcBef>
              <a:spcAft>
                <a:spcPts val="0"/>
              </a:spcAft>
              <a:buClr>
                <a:schemeClr val="dk1"/>
              </a:buClr>
              <a:buSzPts val="1200"/>
              <a:buChar char="•"/>
            </a:pPr>
            <a:r>
              <a:rPr lang="en-GB"/>
              <a:t>PAKISTAN: Detect multi-banking via IBFT outflows and ECIB inquiries. Target: 5% win-over of competitor high-value customers annually.</a:t>
            </a:r>
            <a:endParaRPr/>
          </a:p>
          <a:p>
            <a:pPr indent="-173038" lvl="0" marL="173038" rtl="0" algn="l">
              <a:lnSpc>
                <a:spcPct val="95000"/>
              </a:lnSpc>
              <a:spcBef>
                <a:spcPts val="0"/>
              </a:spcBef>
              <a:spcAft>
                <a:spcPts val="0"/>
              </a:spcAft>
              <a:buClr>
                <a:schemeClr val="dk1"/>
              </a:buClr>
              <a:buSzPts val="1200"/>
              <a:buChar char="•"/>
            </a:pPr>
            <a:r>
              <a:rPr lang="en-GB"/>
              <a:t>FSDM: PRTY, ACCT_BLNCE, IBFT_TXN, ECIB_INQRY, CMPTTV_INTL</a:t>
            </a:r>
            <a:endParaRPr/>
          </a:p>
          <a:p>
            <a:pPr indent="-173038" lvl="0" marL="173038" rtl="0" algn="l">
              <a:lnSpc>
                <a:spcPct val="95000"/>
              </a:lnSpc>
              <a:spcBef>
                <a:spcPts val="0"/>
              </a:spcBef>
              <a:spcAft>
                <a:spcPts val="0"/>
              </a:spcAft>
              <a:buClr>
                <a:schemeClr val="dk1"/>
              </a:buClr>
              <a:buSzPts val="1200"/>
              <a:buChar char="•"/>
            </a:pPr>
            <a:r>
              <a:rPr lang="en-GB"/>
              <a:t>BVF Capability: Insight-Driven &gt; Competitive Intelligence</a:t>
            </a:r>
            <a:endParaRPr/>
          </a:p>
        </p:txBody>
      </p:sp>
    </p:spTree>
  </p:cSld>
  <p:clrMapOvr>
    <a:masterClrMapping/>
  </p:clrMapOvr>
</p:notes>
</file>

<file path=ppt/notesSlides/notesSlide139.xml><?xml version="1.0" encoding="utf-8"?>
<p:notes xmlns:a="http://schemas.openxmlformats.org/drawingml/2006/main" xmlns:p="http://schemas.openxmlformats.org/presentationml/2006/main" showMasterPhAnim="0" showMasterSp="0">
  <p:cSld>
    <p:spTree>
      <p:nvGrpSpPr>
        <p:cNvPr id="3079" name="Shape 3079"/>
        <p:cNvGrpSpPr/>
        <p:nvPr/>
      </p:nvGrpSpPr>
      <p:grpSpPr>
        <a:xfrm>
          <a:off x="0" y="0"/>
          <a:ext cx="0" cy="0"/>
          <a:chOff x="0" y="0"/>
          <a:chExt cx="0" cy="0"/>
        </a:xfrm>
      </p:grpSpPr>
      <p:sp>
        <p:nvSpPr>
          <p:cNvPr id="3080" name="Google Shape;3080;p139: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081" name="Google Shape;3081;p13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2" name="Google Shape;3082;p13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IDENTIFY HIDDEN INDIVIDUAL BUSINESS OWNERS</a:t>
            </a:r>
            <a:endParaRPr/>
          </a:p>
          <a:p>
            <a:pPr indent="-173038" lvl="0" marL="173038" rtl="0" algn="l">
              <a:lnSpc>
                <a:spcPct val="95000"/>
              </a:lnSpc>
              <a:spcBef>
                <a:spcPts val="0"/>
              </a:spcBef>
              <a:spcAft>
                <a:spcPts val="0"/>
              </a:spcAft>
              <a:buClr>
                <a:schemeClr val="dk1"/>
              </a:buClr>
              <a:buSzPts val="1200"/>
              <a:buChar char="•"/>
            </a:pPr>
            <a:r>
              <a:rPr lang="en-GB"/>
              <a:t>PAKISTAN: 70% informal economy. Many business owners bank as individuals. Detect via multiple salary disbursements, high transaction volumes, supplier payments.</a:t>
            </a:r>
            <a:endParaRPr/>
          </a:p>
          <a:p>
            <a:pPr indent="-173038" lvl="0" marL="173038" rtl="0" algn="l">
              <a:lnSpc>
                <a:spcPct val="95000"/>
              </a:lnSpc>
              <a:spcBef>
                <a:spcPts val="0"/>
              </a:spcBef>
              <a:spcAft>
                <a:spcPts val="0"/>
              </a:spcAft>
              <a:buClr>
                <a:schemeClr val="dk1"/>
              </a:buClr>
              <a:buSzPts val="1200"/>
              <a:buChar char="•"/>
            </a:pPr>
            <a:r>
              <a:rPr lang="en-GB"/>
              <a:t>FSDM: PRTY, TXN, TXN_PTTRN, BSNS_INDCTR, CNIC_DATA</a:t>
            </a:r>
            <a:endParaRPr/>
          </a:p>
          <a:p>
            <a:pPr indent="-173038" lvl="0" marL="173038" rtl="0" algn="l">
              <a:lnSpc>
                <a:spcPct val="95000"/>
              </a:lnSpc>
              <a:spcBef>
                <a:spcPts val="0"/>
              </a:spcBef>
              <a:spcAft>
                <a:spcPts val="0"/>
              </a:spcAft>
              <a:buClr>
                <a:schemeClr val="dk1"/>
              </a:buClr>
              <a:buSzPts val="1200"/>
              <a:buChar char="•"/>
            </a:pPr>
            <a:r>
              <a:rPr lang="en-GB"/>
              <a:t>BVF Capability: Insight-Driven &gt; Customer Classification</a:t>
            </a:r>
            <a:endParaRPr/>
          </a:p>
        </p:txBody>
      </p:sp>
    </p:spTree>
  </p:cSld>
  <p:clrMapOvr>
    <a:masterClrMapping/>
  </p:clrMapOvr>
</p:notes>
</file>

<file path=ppt/notesSlides/notesSlide140.xml><?xml version="1.0" encoding="utf-8"?>
<p:notes xmlns:a="http://schemas.openxmlformats.org/drawingml/2006/main" xmlns:p="http://schemas.openxmlformats.org/presentationml/2006/main" showMasterPhAnim="0" showMasterSp="0">
  <p:cSld>
    <p:spTree>
      <p:nvGrpSpPr>
        <p:cNvPr id="3099" name="Shape 3099"/>
        <p:cNvGrpSpPr/>
        <p:nvPr/>
      </p:nvGrpSpPr>
      <p:grpSpPr>
        <a:xfrm>
          <a:off x="0" y="0"/>
          <a:ext cx="0" cy="0"/>
          <a:chOff x="0" y="0"/>
          <a:chExt cx="0" cy="0"/>
        </a:xfrm>
      </p:grpSpPr>
      <p:sp>
        <p:nvSpPr>
          <p:cNvPr id="3100" name="Google Shape;3100;p140:notes"/>
          <p:cNvSpPr txBox="1"/>
          <p:nvPr>
            <p:ph idx="12" type="sldNum"/>
          </p:nvPr>
        </p:nvSpPr>
        <p:spPr>
          <a:xfrm>
            <a:off x="3885010" y="9446102"/>
            <a:ext cx="2971800" cy="497284"/>
          </a:xfrm>
          <a:prstGeom prst="rect">
            <a:avLst/>
          </a:prstGeom>
          <a:noFill/>
          <a:ln>
            <a:noFill/>
          </a:ln>
        </p:spPr>
        <p:txBody>
          <a:bodyPr anchorCtr="0" anchor="t" bIns="46225" lIns="92475" spcFirstLastPara="1" rIns="92475" wrap="square" tIns="46225">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101" name="Google Shape;3101;p14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2" name="Google Shape;3102;p14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CREDIT/DEBIT CARD SPEND STIMULATION</a:t>
            </a:r>
            <a:endParaRPr/>
          </a:p>
          <a:p>
            <a:pPr indent="-173038" lvl="0" marL="173038" rtl="0" algn="l">
              <a:lnSpc>
                <a:spcPct val="95000"/>
              </a:lnSpc>
              <a:spcBef>
                <a:spcPts val="0"/>
              </a:spcBef>
              <a:spcAft>
                <a:spcPts val="0"/>
              </a:spcAft>
              <a:buClr>
                <a:schemeClr val="dk1"/>
              </a:buClr>
              <a:buSzPts val="1200"/>
              <a:buChar char="•"/>
            </a:pPr>
            <a:r>
              <a:rPr lang="en-GB"/>
              <a:t>PAKISTAN: 30M+ debit cards with &lt;5 POS transactions/month avg. Ramadan/Eid = ideal stimulation period (3-5x spending spike).</a:t>
            </a:r>
            <a:endParaRPr/>
          </a:p>
          <a:p>
            <a:pPr indent="-173038" lvl="0" marL="173038" rtl="0" algn="l">
              <a:lnSpc>
                <a:spcPct val="95000"/>
              </a:lnSpc>
              <a:spcBef>
                <a:spcPts val="0"/>
              </a:spcBef>
              <a:spcAft>
                <a:spcPts val="0"/>
              </a:spcAft>
              <a:buClr>
                <a:schemeClr val="dk1"/>
              </a:buClr>
              <a:buSzPts val="1200"/>
              <a:buChar char="•"/>
            </a:pPr>
            <a:r>
              <a:rPr lang="en-GB"/>
              <a:t>Target: convert ATM-cash customers to POS/QR users.</a:t>
            </a:r>
            <a:endParaRPr/>
          </a:p>
          <a:p>
            <a:pPr indent="-173038" lvl="0" marL="173038" rtl="0" algn="l">
              <a:lnSpc>
                <a:spcPct val="95000"/>
              </a:lnSpc>
              <a:spcBef>
                <a:spcPts val="0"/>
              </a:spcBef>
              <a:spcAft>
                <a:spcPts val="0"/>
              </a:spcAft>
              <a:buClr>
                <a:schemeClr val="dk1"/>
              </a:buClr>
              <a:buSzPts val="1200"/>
              <a:buChar char="•"/>
            </a:pPr>
            <a:r>
              <a:rPr lang="en-GB"/>
              <a:t>FSDM: CRD_TXN, POS_TXN, ATM_TXN, CMPGN, CMPGN_RSPNS</a:t>
            </a:r>
            <a:endParaRPr/>
          </a:p>
          <a:p>
            <a:pPr indent="-173038" lvl="0" marL="173038" rtl="0" algn="l">
              <a:lnSpc>
                <a:spcPct val="95000"/>
              </a:lnSpc>
              <a:spcBef>
                <a:spcPts val="0"/>
              </a:spcBef>
              <a:spcAft>
                <a:spcPts val="0"/>
              </a:spcAft>
              <a:buClr>
                <a:schemeClr val="dk1"/>
              </a:buClr>
              <a:buSzPts val="1200"/>
              <a:buChar char="•"/>
            </a:pPr>
            <a:r>
              <a:rPr lang="en-GB"/>
              <a:t>BVF Capability: Insight-Driven &gt; Card Analytics</a:t>
            </a:r>
            <a:endParaRPr/>
          </a:p>
        </p:txBody>
      </p:sp>
    </p:spTree>
  </p:cSld>
  <p:clrMapOvr>
    <a:masterClrMapping/>
  </p:clrMapOvr>
</p:notes>
</file>

<file path=ppt/notesSlides/notesSlide141.xml><?xml version="1.0" encoding="utf-8"?>
<p:notes xmlns:a="http://schemas.openxmlformats.org/drawingml/2006/main" xmlns:p="http://schemas.openxmlformats.org/presentationml/2006/main" showMasterPhAnim="0" showMasterSp="0">
  <p:cSld>
    <p:spTree>
      <p:nvGrpSpPr>
        <p:cNvPr id="3119" name="Shape 3119"/>
        <p:cNvGrpSpPr/>
        <p:nvPr/>
      </p:nvGrpSpPr>
      <p:grpSpPr>
        <a:xfrm>
          <a:off x="0" y="0"/>
          <a:ext cx="0" cy="0"/>
          <a:chOff x="0" y="0"/>
          <a:chExt cx="0" cy="0"/>
        </a:xfrm>
      </p:grpSpPr>
      <p:sp>
        <p:nvSpPr>
          <p:cNvPr id="3120" name="Google Shape;3120;p141: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121" name="Google Shape;3121;p14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2" name="Google Shape;3122;p14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PEOPLE LIKE ME</a:t>
            </a:r>
            <a:endParaRPr/>
          </a:p>
          <a:p>
            <a:pPr indent="-173038" lvl="0" marL="173038" rtl="0" algn="l">
              <a:lnSpc>
                <a:spcPct val="95000"/>
              </a:lnSpc>
              <a:spcBef>
                <a:spcPts val="0"/>
              </a:spcBef>
              <a:spcAft>
                <a:spcPts val="0"/>
              </a:spcAft>
              <a:buClr>
                <a:schemeClr val="dk1"/>
              </a:buClr>
              <a:buSzPts val="1200"/>
              <a:buChar char="•"/>
            </a:pPr>
            <a:r>
              <a:rPr lang="en-GB"/>
              <a:t>PAKISTAN: Look-alike models for segment upgrade and financial inclusion. Find unbanked individuals similar to recently banked customers.</a:t>
            </a:r>
            <a:endParaRPr/>
          </a:p>
          <a:p>
            <a:pPr indent="-173038" lvl="0" marL="173038" rtl="0" algn="l">
              <a:lnSpc>
                <a:spcPct val="95000"/>
              </a:lnSpc>
              <a:spcBef>
                <a:spcPts val="0"/>
              </a:spcBef>
              <a:spcAft>
                <a:spcPts val="0"/>
              </a:spcAft>
              <a:buClr>
                <a:schemeClr val="dk1"/>
              </a:buClr>
              <a:buSzPts val="1200"/>
              <a:buChar char="•"/>
            </a:pPr>
            <a:r>
              <a:rPr lang="en-GB"/>
              <a:t>FSDM: PRTY, SGMNT, PRFL_ATTR, BHVRL_SCRE</a:t>
            </a:r>
            <a:endParaRPr/>
          </a:p>
          <a:p>
            <a:pPr indent="-173038" lvl="0" marL="173038" rtl="0" algn="l">
              <a:lnSpc>
                <a:spcPct val="95000"/>
              </a:lnSpc>
              <a:spcBef>
                <a:spcPts val="0"/>
              </a:spcBef>
              <a:spcAft>
                <a:spcPts val="0"/>
              </a:spcAft>
              <a:buClr>
                <a:schemeClr val="dk1"/>
              </a:buClr>
              <a:buSzPts val="1200"/>
              <a:buChar char="•"/>
            </a:pPr>
            <a:r>
              <a:rPr lang="en-GB"/>
              <a:t>BVF Capability: Insight-Driven &gt; Advanced Segmentation</a:t>
            </a:r>
            <a:endParaRPr/>
          </a:p>
        </p:txBody>
      </p:sp>
    </p:spTree>
  </p:cSld>
  <p:clrMapOvr>
    <a:masterClrMapping/>
  </p:clrMapOvr>
</p:notes>
</file>

<file path=ppt/notesSlides/notesSlide142.xml><?xml version="1.0" encoding="utf-8"?>
<p:notes xmlns:a="http://schemas.openxmlformats.org/drawingml/2006/main" xmlns:p="http://schemas.openxmlformats.org/presentationml/2006/main" showMasterPhAnim="0" showMasterSp="0">
  <p:cSld>
    <p:spTree>
      <p:nvGrpSpPr>
        <p:cNvPr id="3139" name="Shape 3139"/>
        <p:cNvGrpSpPr/>
        <p:nvPr/>
      </p:nvGrpSpPr>
      <p:grpSpPr>
        <a:xfrm>
          <a:off x="0" y="0"/>
          <a:ext cx="0" cy="0"/>
          <a:chOff x="0" y="0"/>
          <a:chExt cx="0" cy="0"/>
        </a:xfrm>
      </p:grpSpPr>
      <p:sp>
        <p:nvSpPr>
          <p:cNvPr id="3140" name="Google Shape;3140;p142: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141" name="Google Shape;3141;p14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2" name="Google Shape;3142;p14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ATTITUDINAL SEGMENTATION</a:t>
            </a:r>
            <a:endParaRPr/>
          </a:p>
          <a:p>
            <a:pPr indent="-173038" lvl="0" marL="173038" rtl="0" algn="l">
              <a:lnSpc>
                <a:spcPct val="95000"/>
              </a:lnSpc>
              <a:spcBef>
                <a:spcPts val="0"/>
              </a:spcBef>
              <a:spcAft>
                <a:spcPts val="0"/>
              </a:spcAft>
              <a:buClr>
                <a:schemeClr val="dk1"/>
              </a:buClr>
              <a:buSzPts val="1200"/>
              <a:buChar char="•"/>
            </a:pPr>
            <a:r>
              <a:rPr lang="en-GB"/>
              <a:t>PAKISTAN: Key dimensions — Islamic finance preference, digital readiness, brand loyalty vs. rate shopping, savings vs. spending orientation.</a:t>
            </a:r>
            <a:endParaRPr/>
          </a:p>
          <a:p>
            <a:pPr indent="-173038" lvl="0" marL="173038" rtl="0" algn="l">
              <a:lnSpc>
                <a:spcPct val="95000"/>
              </a:lnSpc>
              <a:spcBef>
                <a:spcPts val="0"/>
              </a:spcBef>
              <a:spcAft>
                <a:spcPts val="0"/>
              </a:spcAft>
              <a:buClr>
                <a:schemeClr val="dk1"/>
              </a:buClr>
              <a:buSzPts val="1200"/>
              <a:buChar char="•"/>
            </a:pPr>
            <a:r>
              <a:rPr lang="en-GB"/>
              <a:t>Infer from behavior: Zakat payments → Islamic preference, app usage → digital readiness.</a:t>
            </a:r>
            <a:endParaRPr/>
          </a:p>
          <a:p>
            <a:pPr indent="-173038" lvl="0" marL="173038" rtl="0" algn="l">
              <a:lnSpc>
                <a:spcPct val="95000"/>
              </a:lnSpc>
              <a:spcBef>
                <a:spcPts val="0"/>
              </a:spcBef>
              <a:spcAft>
                <a:spcPts val="0"/>
              </a:spcAft>
              <a:buClr>
                <a:schemeClr val="dk1"/>
              </a:buClr>
              <a:buSzPts val="1200"/>
              <a:buChar char="•"/>
            </a:pPr>
            <a:r>
              <a:rPr lang="en-GB"/>
              <a:t>FSDM: PRTY, SGMNT, ATTTDNL_SCRE, BHVRL_INDCTR</a:t>
            </a:r>
            <a:endParaRPr/>
          </a:p>
          <a:p>
            <a:pPr indent="-173038" lvl="0" marL="173038" rtl="0" algn="l">
              <a:lnSpc>
                <a:spcPct val="95000"/>
              </a:lnSpc>
              <a:spcBef>
                <a:spcPts val="0"/>
              </a:spcBef>
              <a:spcAft>
                <a:spcPts val="0"/>
              </a:spcAft>
              <a:buClr>
                <a:schemeClr val="dk1"/>
              </a:buClr>
              <a:buSzPts val="1200"/>
              <a:buChar char="•"/>
            </a:pPr>
            <a:r>
              <a:rPr lang="en-GB"/>
              <a:t>BVF Capability: Insight-Driven &gt; Behavioral Segmentation</a:t>
            </a:r>
            <a:endParaRPr/>
          </a:p>
        </p:txBody>
      </p:sp>
    </p:spTree>
  </p:cSld>
  <p:clrMapOvr>
    <a:masterClrMapping/>
  </p:clrMapOvr>
</p:notes>
</file>

<file path=ppt/notesSlides/notesSlide143.xml><?xml version="1.0" encoding="utf-8"?>
<p:notes xmlns:a="http://schemas.openxmlformats.org/drawingml/2006/main" xmlns:p="http://schemas.openxmlformats.org/presentationml/2006/main" showMasterPhAnim="0" showMasterSp="0">
  <p:cSld>
    <p:spTree>
      <p:nvGrpSpPr>
        <p:cNvPr id="3159" name="Shape 3159"/>
        <p:cNvGrpSpPr/>
        <p:nvPr/>
      </p:nvGrpSpPr>
      <p:grpSpPr>
        <a:xfrm>
          <a:off x="0" y="0"/>
          <a:ext cx="0" cy="0"/>
          <a:chOff x="0" y="0"/>
          <a:chExt cx="0" cy="0"/>
        </a:xfrm>
      </p:grpSpPr>
      <p:sp>
        <p:nvSpPr>
          <p:cNvPr id="3160" name="Google Shape;3160;p143: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161" name="Google Shape;3161;p14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2" name="Google Shape;3162;p14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HIDDEN PREFERRED CUSTOMERS</a:t>
            </a:r>
            <a:endParaRPr/>
          </a:p>
          <a:p>
            <a:pPr indent="-173038" lvl="0" marL="173038" rtl="0" algn="l">
              <a:lnSpc>
                <a:spcPct val="95000"/>
              </a:lnSpc>
              <a:spcBef>
                <a:spcPts val="0"/>
              </a:spcBef>
              <a:spcAft>
                <a:spcPts val="0"/>
              </a:spcAft>
              <a:buClr>
                <a:schemeClr val="dk1"/>
              </a:buClr>
              <a:buSzPts val="1200"/>
              <a:buChar char="•"/>
            </a:pPr>
            <a:r>
              <a:rPr lang="en-GB"/>
              <a:t>PAKISTAN: Customers with PKR 5M+ across 2-3 bank accounts appear mass-market individually. CNIC-based total relationship view reveals hidden value.</a:t>
            </a:r>
            <a:endParaRPr/>
          </a:p>
          <a:p>
            <a:pPr indent="-173038" lvl="0" marL="173038" rtl="0" algn="l">
              <a:lnSpc>
                <a:spcPct val="95000"/>
              </a:lnSpc>
              <a:spcBef>
                <a:spcPts val="0"/>
              </a:spcBef>
              <a:spcAft>
                <a:spcPts val="0"/>
              </a:spcAft>
              <a:buClr>
                <a:schemeClr val="dk1"/>
              </a:buClr>
              <a:buSzPts val="1200"/>
              <a:buChar char="•"/>
            </a:pPr>
            <a:r>
              <a:rPr lang="en-GB"/>
              <a:t>FSDM: PRTY, ACCT_BLNCE, RLTNP_VL, SGMNT_MIGRT</a:t>
            </a:r>
            <a:endParaRPr/>
          </a:p>
          <a:p>
            <a:pPr indent="-173038" lvl="0" marL="173038" rtl="0" algn="l">
              <a:lnSpc>
                <a:spcPct val="95000"/>
              </a:lnSpc>
              <a:spcBef>
                <a:spcPts val="0"/>
              </a:spcBef>
              <a:spcAft>
                <a:spcPts val="0"/>
              </a:spcAft>
              <a:buClr>
                <a:schemeClr val="dk1"/>
              </a:buClr>
              <a:buSzPts val="1200"/>
              <a:buChar char="•"/>
            </a:pPr>
            <a:r>
              <a:rPr lang="en-GB"/>
              <a:t>BVF Capability: Insight-Driven &gt; Value-Based Segmentation</a:t>
            </a:r>
            <a:endParaRPr/>
          </a:p>
        </p:txBody>
      </p:sp>
    </p:spTree>
  </p:cSld>
  <p:clrMapOvr>
    <a:masterClrMapping/>
  </p:clrMapOvr>
</p:notes>
</file>

<file path=ppt/notesSlides/notesSlide144.xml><?xml version="1.0" encoding="utf-8"?>
<p:notes xmlns:a="http://schemas.openxmlformats.org/drawingml/2006/main" xmlns:p="http://schemas.openxmlformats.org/presentationml/2006/main" showMasterPhAnim="0" showMasterSp="0">
  <p:cSld>
    <p:spTree>
      <p:nvGrpSpPr>
        <p:cNvPr id="3179" name="Shape 3179"/>
        <p:cNvGrpSpPr/>
        <p:nvPr/>
      </p:nvGrpSpPr>
      <p:grpSpPr>
        <a:xfrm>
          <a:off x="0" y="0"/>
          <a:ext cx="0" cy="0"/>
          <a:chOff x="0" y="0"/>
          <a:chExt cx="0" cy="0"/>
        </a:xfrm>
      </p:grpSpPr>
      <p:sp>
        <p:nvSpPr>
          <p:cNvPr id="3180" name="Google Shape;3180;p144:notes"/>
          <p:cNvSpPr txBox="1"/>
          <p:nvPr>
            <p:ph idx="12" type="sldNum"/>
          </p:nvPr>
        </p:nvSpPr>
        <p:spPr>
          <a:xfrm>
            <a:off x="3885010" y="9446102"/>
            <a:ext cx="2971800" cy="497284"/>
          </a:xfrm>
          <a:prstGeom prst="rect">
            <a:avLst/>
          </a:prstGeom>
          <a:noFill/>
          <a:ln>
            <a:noFill/>
          </a:ln>
        </p:spPr>
        <p:txBody>
          <a:bodyPr anchorCtr="0" anchor="t" bIns="46225" lIns="92475" spcFirstLastPara="1" rIns="92475" wrap="square" tIns="46225">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3181" name="Google Shape;3181;p14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2" name="Google Shape;3182;p14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PROPENSITY MODELING</a:t>
            </a:r>
            <a:endParaRPr/>
          </a:p>
          <a:p>
            <a:pPr indent="-173038" lvl="0" marL="173038" rtl="0" algn="l">
              <a:lnSpc>
                <a:spcPct val="95000"/>
              </a:lnSpc>
              <a:spcBef>
                <a:spcPts val="0"/>
              </a:spcBef>
              <a:spcAft>
                <a:spcPts val="0"/>
              </a:spcAft>
              <a:buClr>
                <a:schemeClr val="dk1"/>
              </a:buClr>
              <a:buSzPts val="1200"/>
              <a:buChar char="•"/>
            </a:pPr>
            <a:r>
              <a:rPr lang="en-GB"/>
              <a:t>PAKISTAN: Models for credit card, personal loan, auto finance, home finance, mutual fund, insurance.</a:t>
            </a:r>
            <a:endParaRPr/>
          </a:p>
          <a:p>
            <a:pPr indent="-173038" lvl="0" marL="173038" rtl="0" algn="l">
              <a:lnSpc>
                <a:spcPct val="95000"/>
              </a:lnSpc>
              <a:spcBef>
                <a:spcPts val="0"/>
              </a:spcBef>
              <a:spcAft>
                <a:spcPts val="0"/>
              </a:spcAft>
              <a:buClr>
                <a:schemeClr val="dk1"/>
              </a:buClr>
              <a:buSzPts val="1200"/>
              <a:buChar char="•"/>
            </a:pPr>
            <a:r>
              <a:rPr lang="en-GB"/>
              <a:t>Features: salary regularity, ECIB score, RAAST activity, product count, branch frequency.</a:t>
            </a:r>
            <a:endParaRPr/>
          </a:p>
          <a:p>
            <a:pPr indent="-173038" lvl="0" marL="173038" rtl="0" algn="l">
              <a:lnSpc>
                <a:spcPct val="95000"/>
              </a:lnSpc>
              <a:spcBef>
                <a:spcPts val="0"/>
              </a:spcBef>
              <a:spcAft>
                <a:spcPts val="0"/>
              </a:spcAft>
              <a:buClr>
                <a:schemeClr val="dk1"/>
              </a:buClr>
              <a:buSzPts val="1200"/>
              <a:buChar char="•"/>
            </a:pPr>
            <a:r>
              <a:rPr lang="en-GB"/>
              <a:t>FSDM: PRTY, PRPNSTY_SCRE, PRDCT_HLDNG, BHVRL_FTRS</a:t>
            </a:r>
            <a:endParaRPr/>
          </a:p>
          <a:p>
            <a:pPr indent="-173038" lvl="0" marL="173038" rtl="0" algn="l">
              <a:lnSpc>
                <a:spcPct val="95000"/>
              </a:lnSpc>
              <a:spcBef>
                <a:spcPts val="0"/>
              </a:spcBef>
              <a:spcAft>
                <a:spcPts val="0"/>
              </a:spcAft>
              <a:buClr>
                <a:schemeClr val="dk1"/>
              </a:buClr>
              <a:buSzPts val="1200"/>
              <a:buChar char="•"/>
            </a:pPr>
            <a:r>
              <a:rPr lang="en-GB"/>
              <a:t>BVF Capability: Insight-Driven &gt; Predictive Analytics</a:t>
            </a:r>
            <a:endParaRPr/>
          </a:p>
        </p:txBody>
      </p:sp>
    </p:spTree>
  </p:cSld>
  <p:clrMapOvr>
    <a:masterClrMapping/>
  </p:clrMapOvr>
</p:notes>
</file>

<file path=ppt/notesSlides/notesSlide145.xml><?xml version="1.0" encoding="utf-8"?>
<p:notes xmlns:a="http://schemas.openxmlformats.org/drawingml/2006/main" xmlns:p="http://schemas.openxmlformats.org/presentationml/2006/main" showMasterPhAnim="0" showMasterSp="0">
  <p:cSld>
    <p:spTree>
      <p:nvGrpSpPr>
        <p:cNvPr id="3199" name="Shape 3199"/>
        <p:cNvGrpSpPr/>
        <p:nvPr/>
      </p:nvGrpSpPr>
      <p:grpSpPr>
        <a:xfrm>
          <a:off x="0" y="0"/>
          <a:ext cx="0" cy="0"/>
          <a:chOff x="0" y="0"/>
          <a:chExt cx="0" cy="0"/>
        </a:xfrm>
      </p:grpSpPr>
      <p:sp>
        <p:nvSpPr>
          <p:cNvPr id="3200" name="Google Shape;3200;p145: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201" name="Google Shape;3201;p14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2" name="Google Shape;3202;p14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SOCIAL NETWORK DRIVEN POTENTIAL VALUE</a:t>
            </a:r>
            <a:endParaRPr/>
          </a:p>
          <a:p>
            <a:pPr indent="-173038" lvl="0" marL="173038" rtl="0" algn="l">
              <a:lnSpc>
                <a:spcPct val="95000"/>
              </a:lnSpc>
              <a:spcBef>
                <a:spcPts val="0"/>
              </a:spcBef>
              <a:spcAft>
                <a:spcPts val="0"/>
              </a:spcAft>
              <a:buClr>
                <a:schemeClr val="dk1"/>
              </a:buClr>
              <a:buSzPts val="1200"/>
              <a:buChar char="•"/>
            </a:pPr>
            <a:r>
              <a:rPr lang="en-GB"/>
              <a:t>PAKISTAN: CNIC first 5 digits = geographic area, family members share prefix. IBFT/RAAST transfer graph reveals relationships.</a:t>
            </a:r>
            <a:endParaRPr/>
          </a:p>
          <a:p>
            <a:pPr indent="-173038" lvl="0" marL="173038" rtl="0" algn="l">
              <a:lnSpc>
                <a:spcPct val="95000"/>
              </a:lnSpc>
              <a:spcBef>
                <a:spcPts val="0"/>
              </a:spcBef>
              <a:spcAft>
                <a:spcPts val="0"/>
              </a:spcAft>
              <a:buClr>
                <a:schemeClr val="dk1"/>
              </a:buClr>
              <a:buSzPts val="1200"/>
              <a:buChar char="•"/>
            </a:pPr>
            <a:r>
              <a:rPr lang="en-GB"/>
              <a:t>FSDM: PRTY, NTWRK_GRPH, TXN_RLTNP, CNIC_PREFIX</a:t>
            </a:r>
            <a:endParaRPr/>
          </a:p>
          <a:p>
            <a:pPr indent="-173038" lvl="0" marL="173038" rtl="0" algn="l">
              <a:lnSpc>
                <a:spcPct val="95000"/>
              </a:lnSpc>
              <a:spcBef>
                <a:spcPts val="0"/>
              </a:spcBef>
              <a:spcAft>
                <a:spcPts val="0"/>
              </a:spcAft>
              <a:buClr>
                <a:schemeClr val="dk1"/>
              </a:buClr>
              <a:buSzPts val="1200"/>
              <a:buChar char="•"/>
            </a:pPr>
            <a:r>
              <a:rPr lang="en-GB"/>
              <a:t>BVF Capability: Insight-Driven &gt; Network Analytics</a:t>
            </a:r>
            <a:endParaRPr/>
          </a:p>
        </p:txBody>
      </p:sp>
    </p:spTree>
  </p:cSld>
  <p:clrMapOvr>
    <a:masterClrMapping/>
  </p:clrMapOvr>
</p:notes>
</file>

<file path=ppt/notesSlides/notesSlide146.xml><?xml version="1.0" encoding="utf-8"?>
<p:notes xmlns:a="http://schemas.openxmlformats.org/drawingml/2006/main" xmlns:p="http://schemas.openxmlformats.org/presentationml/2006/main" showMasterPhAnim="0" showMasterSp="0">
  <p:cSld>
    <p:spTree>
      <p:nvGrpSpPr>
        <p:cNvPr id="3219" name="Shape 3219"/>
        <p:cNvGrpSpPr/>
        <p:nvPr/>
      </p:nvGrpSpPr>
      <p:grpSpPr>
        <a:xfrm>
          <a:off x="0" y="0"/>
          <a:ext cx="0" cy="0"/>
          <a:chOff x="0" y="0"/>
          <a:chExt cx="0" cy="0"/>
        </a:xfrm>
      </p:grpSpPr>
      <p:sp>
        <p:nvSpPr>
          <p:cNvPr id="3220" name="Google Shape;3220;p146: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221" name="Google Shape;3221;p14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2" name="Google Shape;3222;p14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CUSTOMER NETWORK ANALYSIS</a:t>
            </a:r>
            <a:endParaRPr/>
          </a:p>
          <a:p>
            <a:pPr indent="-173038" lvl="0" marL="173038" rtl="0" algn="l">
              <a:lnSpc>
                <a:spcPct val="95000"/>
              </a:lnSpc>
              <a:spcBef>
                <a:spcPts val="0"/>
              </a:spcBef>
              <a:spcAft>
                <a:spcPts val="0"/>
              </a:spcAft>
              <a:buClr>
                <a:schemeClr val="dk1"/>
              </a:buClr>
              <a:buSzPts val="1200"/>
              <a:buChar char="•"/>
            </a:pPr>
            <a:r>
              <a:rPr lang="en-GB"/>
              <a:t>PAKISTAN: CNIC-based household mapping. IBFT/RAAST patterns reveal networks. Applications: AML/CFT (FATF compliance), household bundling, referral targeting.</a:t>
            </a:r>
            <a:endParaRPr/>
          </a:p>
          <a:p>
            <a:pPr indent="-173038" lvl="0" marL="173038" rtl="0" algn="l">
              <a:lnSpc>
                <a:spcPct val="95000"/>
              </a:lnSpc>
              <a:spcBef>
                <a:spcPts val="0"/>
              </a:spcBef>
              <a:spcAft>
                <a:spcPts val="0"/>
              </a:spcAft>
              <a:buClr>
                <a:schemeClr val="dk1"/>
              </a:buClr>
              <a:buSzPts val="1200"/>
              <a:buChar char="•"/>
            </a:pPr>
            <a:r>
              <a:rPr lang="en-GB"/>
              <a:t>FSDM: PRTY, NTWRK_GRPH, TXN_RLTNP, AML_ALRT</a:t>
            </a:r>
            <a:endParaRPr/>
          </a:p>
          <a:p>
            <a:pPr indent="-173038" lvl="0" marL="173038" rtl="0" algn="l">
              <a:lnSpc>
                <a:spcPct val="95000"/>
              </a:lnSpc>
              <a:spcBef>
                <a:spcPts val="0"/>
              </a:spcBef>
              <a:spcAft>
                <a:spcPts val="0"/>
              </a:spcAft>
              <a:buClr>
                <a:schemeClr val="dk1"/>
              </a:buClr>
              <a:buSzPts val="1200"/>
              <a:buChar char="•"/>
            </a:pPr>
            <a:r>
              <a:rPr lang="en-GB"/>
              <a:t>BVF Capability: Insight-Driven &gt; Network Analytics</a:t>
            </a:r>
            <a:endParaRPr/>
          </a:p>
        </p:txBody>
      </p:sp>
    </p:spTree>
  </p:cSld>
  <p:clrMapOvr>
    <a:masterClrMapping/>
  </p:clrMapOvr>
</p:notes>
</file>

<file path=ppt/notesSlides/notesSlide147.xml><?xml version="1.0" encoding="utf-8"?>
<p:notes xmlns:a="http://schemas.openxmlformats.org/drawingml/2006/main" xmlns:p="http://schemas.openxmlformats.org/presentationml/2006/main" showMasterPhAnim="0" showMasterSp="0">
  <p:cSld>
    <p:spTree>
      <p:nvGrpSpPr>
        <p:cNvPr id="3239" name="Shape 3239"/>
        <p:cNvGrpSpPr/>
        <p:nvPr/>
      </p:nvGrpSpPr>
      <p:grpSpPr>
        <a:xfrm>
          <a:off x="0" y="0"/>
          <a:ext cx="0" cy="0"/>
          <a:chOff x="0" y="0"/>
          <a:chExt cx="0" cy="0"/>
        </a:xfrm>
      </p:grpSpPr>
      <p:sp>
        <p:nvSpPr>
          <p:cNvPr id="3240" name="Google Shape;3240;p147: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241" name="Google Shape;3241;p14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2" name="Google Shape;3242;p14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CLIENT CONNECTIONS</a:t>
            </a:r>
            <a:endParaRPr/>
          </a:p>
          <a:p>
            <a:pPr indent="-173038" lvl="0" marL="173038" rtl="0" algn="l">
              <a:lnSpc>
                <a:spcPct val="95000"/>
              </a:lnSpc>
              <a:spcBef>
                <a:spcPts val="0"/>
              </a:spcBef>
              <a:spcAft>
                <a:spcPts val="0"/>
              </a:spcAft>
              <a:buClr>
                <a:schemeClr val="dk1"/>
              </a:buClr>
              <a:buSzPts val="1200"/>
              <a:buChar char="•"/>
            </a:pPr>
            <a:r>
              <a:rPr lang="en-GB"/>
              <a:t>PAKISTAN: RAAST/IBFT transaction graphs + CNIC family prefix = household-level banking relationships.</a:t>
            </a:r>
            <a:endParaRPr/>
          </a:p>
          <a:p>
            <a:pPr indent="-173038" lvl="0" marL="173038" rtl="0" algn="l">
              <a:lnSpc>
                <a:spcPct val="95000"/>
              </a:lnSpc>
              <a:spcBef>
                <a:spcPts val="0"/>
              </a:spcBef>
              <a:spcAft>
                <a:spcPts val="0"/>
              </a:spcAft>
              <a:buClr>
                <a:schemeClr val="dk1"/>
              </a:buClr>
              <a:buSzPts val="1200"/>
              <a:buChar char="•"/>
            </a:pPr>
            <a:r>
              <a:rPr lang="en-GB"/>
              <a:t>FSDM: PRTY, IP_RLTNP, TXN_GRPH, HSHOLD_GRPNG</a:t>
            </a:r>
            <a:endParaRPr/>
          </a:p>
          <a:p>
            <a:pPr indent="-173038" lvl="0" marL="173038" rtl="0" algn="l">
              <a:lnSpc>
                <a:spcPct val="95000"/>
              </a:lnSpc>
              <a:spcBef>
                <a:spcPts val="0"/>
              </a:spcBef>
              <a:spcAft>
                <a:spcPts val="0"/>
              </a:spcAft>
              <a:buClr>
                <a:schemeClr val="dk1"/>
              </a:buClr>
              <a:buSzPts val="1200"/>
              <a:buChar char="•"/>
            </a:pPr>
            <a:r>
              <a:rPr lang="en-GB"/>
              <a:t>BVF Capability: Insight-Driven &gt; Relationship Analytics</a:t>
            </a:r>
            <a:endParaRPr/>
          </a:p>
        </p:txBody>
      </p:sp>
    </p:spTree>
  </p:cSld>
  <p:clrMapOvr>
    <a:masterClrMapping/>
  </p:clrMapOvr>
</p:notes>
</file>

<file path=ppt/notesSlides/notesSlide149.xml><?xml version="1.0" encoding="utf-8"?>
<p:notes xmlns:a="http://schemas.openxmlformats.org/drawingml/2006/main" xmlns:p="http://schemas.openxmlformats.org/presentationml/2006/main" showMasterPhAnim="0" showMasterSp="0">
  <p:cSld>
    <p:spTree>
      <p:nvGrpSpPr>
        <p:cNvPr id="3279" name="Shape 3279"/>
        <p:cNvGrpSpPr/>
        <p:nvPr/>
      </p:nvGrpSpPr>
      <p:grpSpPr>
        <a:xfrm>
          <a:off x="0" y="0"/>
          <a:ext cx="0" cy="0"/>
          <a:chOff x="0" y="0"/>
          <a:chExt cx="0" cy="0"/>
        </a:xfrm>
      </p:grpSpPr>
      <p:sp>
        <p:nvSpPr>
          <p:cNvPr id="3280" name="Google Shape;3280;p149: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281" name="Google Shape;3281;p14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2" name="Google Shape;3282;p14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CREDIT CARD HOLDER BEHAVIOR ANALYSIS (2)</a:t>
            </a:r>
            <a:endParaRPr/>
          </a:p>
          <a:p>
            <a:pPr indent="-173038" lvl="0" marL="173038" rtl="0" algn="l">
              <a:lnSpc>
                <a:spcPct val="95000"/>
              </a:lnSpc>
              <a:spcBef>
                <a:spcPts val="0"/>
              </a:spcBef>
              <a:spcAft>
                <a:spcPts val="0"/>
              </a:spcAft>
              <a:buClr>
                <a:schemeClr val="dk1"/>
              </a:buClr>
              <a:buSzPts val="1200"/>
              <a:buChar char="•"/>
            </a:pPr>
            <a:r>
              <a:rPr lang="en-GB"/>
              <a:t>PAKISTAN: Supplementary card usage, international spending, contactless adoption, QR payment adoption rates.</a:t>
            </a:r>
            <a:endParaRPr/>
          </a:p>
          <a:p>
            <a:pPr indent="-173038" lvl="0" marL="173038" rtl="0" algn="l">
              <a:lnSpc>
                <a:spcPct val="95000"/>
              </a:lnSpc>
              <a:spcBef>
                <a:spcPts val="0"/>
              </a:spcBef>
              <a:spcAft>
                <a:spcPts val="0"/>
              </a:spcAft>
              <a:buClr>
                <a:schemeClr val="dk1"/>
              </a:buClr>
              <a:buSzPts val="1200"/>
              <a:buChar char="•"/>
            </a:pPr>
            <a:r>
              <a:rPr lang="en-GB"/>
              <a:t>FSDM: CRD_TXN, CRD_TYP, CNTCTLS_TXN, QR_TXN</a:t>
            </a:r>
            <a:endParaRPr/>
          </a:p>
          <a:p>
            <a:pPr indent="-173038" lvl="0" marL="173038" rtl="0" algn="l">
              <a:lnSpc>
                <a:spcPct val="95000"/>
              </a:lnSpc>
              <a:spcBef>
                <a:spcPts val="0"/>
              </a:spcBef>
              <a:spcAft>
                <a:spcPts val="0"/>
              </a:spcAft>
              <a:buClr>
                <a:schemeClr val="dk1"/>
              </a:buClr>
              <a:buSzPts val="1200"/>
              <a:buChar char="•"/>
            </a:pPr>
            <a:r>
              <a:rPr lang="en-GB"/>
              <a:t>BVF Capability: Insight-Driven &gt; Card Analytics</a:t>
            </a:r>
            <a:endParaRPr/>
          </a:p>
        </p:txBody>
      </p:sp>
    </p:spTree>
  </p:cSld>
  <p:clrMapOvr>
    <a:masterClrMapping/>
  </p:clrMapOvr>
</p:notes>
</file>

<file path=ppt/notesSlides/notesSlide151.xml><?xml version="1.0" encoding="utf-8"?>
<p:notes xmlns:a="http://schemas.openxmlformats.org/drawingml/2006/main" xmlns:p="http://schemas.openxmlformats.org/presentationml/2006/main" showMasterPhAnim="0" showMasterSp="0">
  <p:cSld>
    <p:spTree>
      <p:nvGrpSpPr>
        <p:cNvPr id="3315" name="Shape 3315"/>
        <p:cNvGrpSpPr/>
        <p:nvPr/>
      </p:nvGrpSpPr>
      <p:grpSpPr>
        <a:xfrm>
          <a:off x="0" y="0"/>
          <a:ext cx="0" cy="0"/>
          <a:chOff x="0" y="0"/>
          <a:chExt cx="0" cy="0"/>
        </a:xfrm>
      </p:grpSpPr>
      <p:sp>
        <p:nvSpPr>
          <p:cNvPr id="3316" name="Google Shape;3316;p151: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317" name="Google Shape;3317;p15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8" name="Google Shape;3318;p15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CUSTOMER LIFE-BASED EVENTS</a:t>
            </a:r>
            <a:endParaRPr/>
          </a:p>
          <a:p>
            <a:pPr indent="-173038" lvl="0" marL="173038" rtl="0" algn="l">
              <a:lnSpc>
                <a:spcPct val="95000"/>
              </a:lnSpc>
              <a:spcBef>
                <a:spcPts val="0"/>
              </a:spcBef>
              <a:spcAft>
                <a:spcPts val="0"/>
              </a:spcAft>
              <a:buClr>
                <a:schemeClr val="dk1"/>
              </a:buClr>
              <a:buSzPts val="1200"/>
              <a:buChar char="•"/>
            </a:pPr>
            <a:r>
              <a:rPr lang="en-GB"/>
              <a:t>PAKISTAN: First salary, marriage (gift inflows), first child (school fees), Hajj/Umrah savings, property purchase, retirement, overseas migration.</a:t>
            </a:r>
            <a:endParaRPr/>
          </a:p>
          <a:p>
            <a:pPr indent="-173038" lvl="0" marL="173038" rtl="0" algn="l">
              <a:lnSpc>
                <a:spcPct val="95000"/>
              </a:lnSpc>
              <a:spcBef>
                <a:spcPts val="0"/>
              </a:spcBef>
              <a:spcAft>
                <a:spcPts val="0"/>
              </a:spcAft>
              <a:buClr>
                <a:schemeClr val="dk1"/>
              </a:buClr>
              <a:buSzPts val="1200"/>
              <a:buChar char="•"/>
            </a:pPr>
            <a:r>
              <a:rPr lang="en-GB"/>
              <a:t>Islamic calendar: Ramadan (Zakat, charity), Eid-ul-Adha (Qurbani), Shab-e-Qadr.</a:t>
            </a:r>
            <a:endParaRPr/>
          </a:p>
          <a:p>
            <a:pPr indent="-173038" lvl="0" marL="173038" rtl="0" algn="l">
              <a:lnSpc>
                <a:spcPct val="95000"/>
              </a:lnSpc>
              <a:spcBef>
                <a:spcPts val="0"/>
              </a:spcBef>
              <a:spcAft>
                <a:spcPts val="0"/>
              </a:spcAft>
              <a:buClr>
                <a:schemeClr val="dk1"/>
              </a:buClr>
              <a:buSzPts val="1200"/>
              <a:buChar char="•"/>
            </a:pPr>
            <a:r>
              <a:rPr lang="en-GB"/>
              <a:t>FSDM: PRTY_EVNT, LF_EVNT, EVNT_TRGGR, CLNDR_EVNT</a:t>
            </a:r>
            <a:endParaRPr/>
          </a:p>
          <a:p>
            <a:pPr indent="-173038" lvl="0" marL="173038" rtl="0" algn="l">
              <a:lnSpc>
                <a:spcPct val="95000"/>
              </a:lnSpc>
              <a:spcBef>
                <a:spcPts val="0"/>
              </a:spcBef>
              <a:spcAft>
                <a:spcPts val="0"/>
              </a:spcAft>
              <a:buClr>
                <a:schemeClr val="dk1"/>
              </a:buClr>
              <a:buSzPts val="1200"/>
              <a:buChar char="•"/>
            </a:pPr>
            <a:r>
              <a:rPr lang="en-GB"/>
              <a:t>BVF Capability: Insight-Driven &gt; Event Analytics</a:t>
            </a:r>
            <a:endParaRPr/>
          </a:p>
        </p:txBody>
      </p:sp>
    </p:spTree>
  </p:cSld>
  <p:clrMapOvr>
    <a:masterClrMapping/>
  </p:clrMapOvr>
</p:notes>
</file>

<file path=ppt/notesSlides/notesSlide152.xml><?xml version="1.0" encoding="utf-8"?>
<p:notes xmlns:a="http://schemas.openxmlformats.org/drawingml/2006/main" xmlns:p="http://schemas.openxmlformats.org/presentationml/2006/main" showMasterPhAnim="0" showMasterSp="0">
  <p:cSld>
    <p:spTree>
      <p:nvGrpSpPr>
        <p:cNvPr id="3335" name="Shape 3335"/>
        <p:cNvGrpSpPr/>
        <p:nvPr/>
      </p:nvGrpSpPr>
      <p:grpSpPr>
        <a:xfrm>
          <a:off x="0" y="0"/>
          <a:ext cx="0" cy="0"/>
          <a:chOff x="0" y="0"/>
          <a:chExt cx="0" cy="0"/>
        </a:xfrm>
      </p:grpSpPr>
      <p:sp>
        <p:nvSpPr>
          <p:cNvPr id="3336" name="Google Shape;3336;p152: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r>
              <a:rPr lang="en-GB" sz="1200"/>
              <a:t>placeholder</a:t>
            </a:r>
          </a:p>
          <a:p>
            <a:r>
              <a:rPr lang="en-GB" sz="1200"/>
              <a:t>SECTION: Customer Lifecycle Management</a:t>
            </a:r>
          </a:p>
          <a:p>
            <a:r>
              <a:rPr lang="en-GB" sz="1200"/>
              <a:t>10 use cases covering acquisition, churn prediction, cross-sell, and lifecycle path optimization.</a:t>
            </a:r>
          </a:p>
          <a:p>
            <a:r>
              <a:rPr lang="en-GB" sz="1200"/>
              <a:t>Pakistan priority: CASA Silent Churn (PKR 500B+ at risk), Customer Churn Model (fintech competition), Cross-Sell Targeting (1.8 to 3+ products).</a:t>
            </a:r>
          </a:p>
          <a:p>
            <a:r>
              <a:rPr lang="en-GB" sz="1200"/>
              <a:t>FSDM Domains: Party, Account, Product, Event, Transaction</a:t>
            </a:r>
          </a:p>
        </p:txBody>
      </p:sp>
      <p:sp>
        <p:nvSpPr>
          <p:cNvPr id="3337" name="Google Shape;3337;p15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p="http://schemas.openxmlformats.org/presentationml/2006/main" showMasterPhAnim="0" showMasterSp="0">
  <p:cSld>
    <p:spTree>
      <p:nvGrpSpPr>
        <p:cNvPr id="3341" name="Shape 3341"/>
        <p:cNvGrpSpPr/>
        <p:nvPr/>
      </p:nvGrpSpPr>
      <p:grpSpPr>
        <a:xfrm>
          <a:off x="0" y="0"/>
          <a:ext cx="0" cy="0"/>
          <a:chOff x="0" y="0"/>
          <a:chExt cx="0" cy="0"/>
        </a:xfrm>
      </p:grpSpPr>
      <p:sp>
        <p:nvSpPr>
          <p:cNvPr id="3342" name="Google Shape;3342;p153: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343" name="Google Shape;3343;p15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4" name="Google Shape;3344;p15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LUNCH BUDDY ANALYSIS</a:t>
            </a:r>
            <a:endParaRPr/>
          </a:p>
          <a:p>
            <a:pPr indent="-173038" lvl="0" marL="173038" rtl="0" algn="l">
              <a:lnSpc>
                <a:spcPct val="95000"/>
              </a:lnSpc>
              <a:spcBef>
                <a:spcPts val="0"/>
              </a:spcBef>
              <a:spcAft>
                <a:spcPts val="0"/>
              </a:spcAft>
              <a:buClr>
                <a:schemeClr val="dk1"/>
              </a:buClr>
              <a:buSzPts val="1200"/>
              <a:buChar char="•"/>
            </a:pPr>
            <a:r>
              <a:rPr lang="en-GB"/>
              <a:t>PAKISTAN: Identify co-transacting customers (shared POS, merchant, timing). If one churns, retain the buddy before social influence drives their churn.</a:t>
            </a:r>
            <a:endParaRPr/>
          </a:p>
          <a:p>
            <a:pPr indent="-173038" lvl="0" marL="173038" rtl="0" algn="l">
              <a:lnSpc>
                <a:spcPct val="95000"/>
              </a:lnSpc>
              <a:spcBef>
                <a:spcPts val="0"/>
              </a:spcBef>
              <a:spcAft>
                <a:spcPts val="0"/>
              </a:spcAft>
              <a:buClr>
                <a:schemeClr val="dk1"/>
              </a:buClr>
              <a:buSzPts val="1200"/>
              <a:buChar char="•"/>
            </a:pPr>
            <a:r>
              <a:rPr lang="en-GB"/>
              <a:t>FSDM: PRTY, TXN, POS_TXN, MRCHNT, CO_TXN_PTTRN</a:t>
            </a:r>
            <a:endParaRPr/>
          </a:p>
          <a:p>
            <a:pPr indent="-173038" lvl="0" marL="173038" rtl="0" algn="l">
              <a:lnSpc>
                <a:spcPct val="95000"/>
              </a:lnSpc>
              <a:spcBef>
                <a:spcPts val="0"/>
              </a:spcBef>
              <a:spcAft>
                <a:spcPts val="0"/>
              </a:spcAft>
              <a:buClr>
                <a:schemeClr val="dk1"/>
              </a:buClr>
              <a:buSzPts val="1200"/>
              <a:buChar char="•"/>
            </a:pPr>
            <a:r>
              <a:rPr lang="en-GB"/>
              <a:t>BVF Capability: Customer Lifecycle &gt; Retention</a:t>
            </a:r>
            <a:endParaRPr/>
          </a:p>
        </p:txBody>
      </p:sp>
    </p:spTree>
  </p:cSld>
  <p:clrMapOvr>
    <a:masterClrMapping/>
  </p:clrMapOvr>
</p:notes>
</file>

<file path=ppt/notesSlides/notesSlide154.xml><?xml version="1.0" encoding="utf-8"?>
<p:notes xmlns:a="http://schemas.openxmlformats.org/drawingml/2006/main" xmlns:p="http://schemas.openxmlformats.org/presentationml/2006/main" showMasterPhAnim="0" showMasterSp="0">
  <p:cSld>
    <p:spTree>
      <p:nvGrpSpPr>
        <p:cNvPr id="3361" name="Shape 3361"/>
        <p:cNvGrpSpPr/>
        <p:nvPr/>
      </p:nvGrpSpPr>
      <p:grpSpPr>
        <a:xfrm>
          <a:off x="0" y="0"/>
          <a:ext cx="0" cy="0"/>
          <a:chOff x="0" y="0"/>
          <a:chExt cx="0" cy="0"/>
        </a:xfrm>
      </p:grpSpPr>
      <p:sp>
        <p:nvSpPr>
          <p:cNvPr id="3362" name="Google Shape;3362;p154:notes"/>
          <p:cNvSpPr txBox="1"/>
          <p:nvPr>
            <p:ph idx="12" type="sldNum"/>
          </p:nvPr>
        </p:nvSpPr>
        <p:spPr>
          <a:xfrm>
            <a:off x="3885011"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3363" name="Google Shape;3363;p15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4" name="Google Shape;3364;p15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PROSPECT SCREENER</a:t>
            </a:r>
            <a:endParaRPr/>
          </a:p>
          <a:p>
            <a:pPr indent="-173038" lvl="0" marL="173038" rtl="0" algn="l">
              <a:lnSpc>
                <a:spcPct val="95000"/>
              </a:lnSpc>
              <a:spcBef>
                <a:spcPts val="0"/>
              </a:spcBef>
              <a:spcAft>
                <a:spcPts val="0"/>
              </a:spcAft>
              <a:buClr>
                <a:schemeClr val="dk1"/>
              </a:buClr>
              <a:buSzPts val="1200"/>
              <a:buChar char="•"/>
            </a:pPr>
            <a:r>
              <a:rPr lang="en-GB"/>
              <a:t>PAKISTAN: ECIB credit bureau, CNIC/NADRA verification, PTA mobile number verification. Mobile wallet history as creditworthiness proxy.</a:t>
            </a:r>
            <a:endParaRPr/>
          </a:p>
          <a:p>
            <a:pPr indent="-173038" lvl="0" marL="173038" rtl="0" algn="l">
              <a:lnSpc>
                <a:spcPct val="95000"/>
              </a:lnSpc>
              <a:spcBef>
                <a:spcPts val="0"/>
              </a:spcBef>
              <a:spcAft>
                <a:spcPts val="0"/>
              </a:spcAft>
              <a:buClr>
                <a:schemeClr val="dk1"/>
              </a:buClr>
              <a:buSzPts val="1200"/>
              <a:buChar char="•"/>
            </a:pPr>
            <a:r>
              <a:rPr lang="en-GB"/>
              <a:t>FSDM: PRSPCT, CRDT_SCRE, IDNTTY_VRFCTN, WLLT_HSTRY</a:t>
            </a:r>
            <a:endParaRPr/>
          </a:p>
          <a:p>
            <a:pPr indent="-173038" lvl="0" marL="173038" rtl="0" algn="l">
              <a:lnSpc>
                <a:spcPct val="95000"/>
              </a:lnSpc>
              <a:spcBef>
                <a:spcPts val="0"/>
              </a:spcBef>
              <a:spcAft>
                <a:spcPts val="0"/>
              </a:spcAft>
              <a:buClr>
                <a:schemeClr val="dk1"/>
              </a:buClr>
              <a:buSzPts val="1200"/>
              <a:buChar char="•"/>
            </a:pPr>
            <a:r>
              <a:rPr lang="en-GB"/>
              <a:t>BVF Capability: Customer Lifecycle &gt; Acquisition</a:t>
            </a:r>
            <a:endParaRPr/>
          </a:p>
        </p:txBody>
      </p:sp>
    </p:spTree>
  </p:cSld>
  <p:clrMapOvr>
    <a:masterClrMapping/>
  </p:clrMapOvr>
</p:notes>
</file>

<file path=ppt/notesSlides/notesSlide155.xml><?xml version="1.0" encoding="utf-8"?>
<p:notes xmlns:a="http://schemas.openxmlformats.org/drawingml/2006/main" xmlns:p="http://schemas.openxmlformats.org/presentationml/2006/main" showMasterPhAnim="0" showMasterSp="0">
  <p:cSld>
    <p:spTree>
      <p:nvGrpSpPr>
        <p:cNvPr id="3381" name="Shape 3381"/>
        <p:cNvGrpSpPr/>
        <p:nvPr/>
      </p:nvGrpSpPr>
      <p:grpSpPr>
        <a:xfrm>
          <a:off x="0" y="0"/>
          <a:ext cx="0" cy="0"/>
          <a:chOff x="0" y="0"/>
          <a:chExt cx="0" cy="0"/>
        </a:xfrm>
      </p:grpSpPr>
      <p:sp>
        <p:nvSpPr>
          <p:cNvPr id="3382" name="Google Shape;3382;p155: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383" name="Google Shape;3383;p15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4" name="Google Shape;3384;p15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PRODUCT SEQUENCE: PATH TO VALUE (LIFECYCLE)</a:t>
            </a:r>
            <a:endParaRPr/>
          </a:p>
          <a:p>
            <a:pPr indent="-173038" lvl="0" marL="173038" rtl="0" algn="l">
              <a:lnSpc>
                <a:spcPct val="95000"/>
              </a:lnSpc>
              <a:spcBef>
                <a:spcPts val="0"/>
              </a:spcBef>
              <a:spcAft>
                <a:spcPts val="0"/>
              </a:spcAft>
              <a:buClr>
                <a:schemeClr val="dk1"/>
              </a:buClr>
              <a:buSzPts val="1200"/>
              <a:buChar char="•"/>
            </a:pPr>
            <a:r>
              <a:rPr lang="en-GB"/>
              <a:t>PAKISTAN: Track time between product adoptions. Target: CASA to second product from 24 months to 6 months.</a:t>
            </a:r>
            <a:endParaRPr/>
          </a:p>
          <a:p>
            <a:pPr indent="-173038" lvl="0" marL="173038" rtl="0" algn="l">
              <a:lnSpc>
                <a:spcPct val="95000"/>
              </a:lnSpc>
              <a:spcBef>
                <a:spcPts val="0"/>
              </a:spcBef>
              <a:spcAft>
                <a:spcPts val="0"/>
              </a:spcAft>
              <a:buClr>
                <a:schemeClr val="dk1"/>
              </a:buClr>
              <a:buSzPts val="1200"/>
              <a:buChar char="•"/>
            </a:pPr>
            <a:r>
              <a:rPr lang="en-GB"/>
              <a:t>FSDM: PRDCT_HLDNG, PRDCT_SQNCE, TM_TO_ADOPT, PRTY_PRDCT</a:t>
            </a:r>
            <a:endParaRPr/>
          </a:p>
          <a:p>
            <a:pPr indent="-173038" lvl="0" marL="173038" rtl="0" algn="l">
              <a:lnSpc>
                <a:spcPct val="95000"/>
              </a:lnSpc>
              <a:spcBef>
                <a:spcPts val="0"/>
              </a:spcBef>
              <a:spcAft>
                <a:spcPts val="0"/>
              </a:spcAft>
              <a:buClr>
                <a:schemeClr val="dk1"/>
              </a:buClr>
              <a:buSzPts val="1200"/>
              <a:buChar char="•"/>
            </a:pPr>
            <a:r>
              <a:rPr lang="en-GB"/>
              <a:t>BVF Capability: Customer Lifecycle &gt; Cross-Sell</a:t>
            </a:r>
            <a:endParaRPr/>
          </a:p>
        </p:txBody>
      </p:sp>
    </p:spTree>
  </p:cSld>
  <p:clrMapOvr>
    <a:masterClrMapping/>
  </p:clrMapOvr>
</p:notes>
</file>

<file path=ppt/notesSlides/notesSlide156.xml><?xml version="1.0" encoding="utf-8"?>
<p:notes xmlns:a="http://schemas.openxmlformats.org/drawingml/2006/main" xmlns:p="http://schemas.openxmlformats.org/presentationml/2006/main" showMasterPhAnim="0" showMasterSp="0">
  <p:cSld>
    <p:spTree>
      <p:nvGrpSpPr>
        <p:cNvPr id="3401" name="Shape 3401"/>
        <p:cNvGrpSpPr/>
        <p:nvPr/>
      </p:nvGrpSpPr>
      <p:grpSpPr>
        <a:xfrm>
          <a:off x="0" y="0"/>
          <a:ext cx="0" cy="0"/>
          <a:chOff x="0" y="0"/>
          <a:chExt cx="0" cy="0"/>
        </a:xfrm>
      </p:grpSpPr>
      <p:sp>
        <p:nvSpPr>
          <p:cNvPr id="3402" name="Google Shape;3402;p156: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403" name="Google Shape;3403;p15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4" name="Google Shape;3404;p15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PATH TO CHURN</a:t>
            </a:r>
            <a:endParaRPr/>
          </a:p>
          <a:p>
            <a:pPr indent="-173038" lvl="0" marL="173038" rtl="0" algn="l">
              <a:lnSpc>
                <a:spcPct val="95000"/>
              </a:lnSpc>
              <a:spcBef>
                <a:spcPts val="0"/>
              </a:spcBef>
              <a:spcAft>
                <a:spcPts val="0"/>
              </a:spcAft>
              <a:buClr>
                <a:schemeClr val="dk1"/>
              </a:buClr>
              <a:buSzPts val="1200"/>
              <a:buChar char="•"/>
            </a:pPr>
            <a:r>
              <a:rPr lang="en-GB"/>
              <a:t>PAKISTAN: Balance decline → reduced transactions → app login drop → salary redirect → dormancy.</a:t>
            </a:r>
            <a:endParaRPr/>
          </a:p>
          <a:p>
            <a:pPr indent="-173038" lvl="0" marL="173038" rtl="0" algn="l">
              <a:lnSpc>
                <a:spcPct val="95000"/>
              </a:lnSpc>
              <a:spcBef>
                <a:spcPts val="0"/>
              </a:spcBef>
              <a:spcAft>
                <a:spcPts val="0"/>
              </a:spcAft>
              <a:buClr>
                <a:schemeClr val="dk1"/>
              </a:buClr>
              <a:buSzPts val="1200"/>
              <a:buChar char="•"/>
            </a:pPr>
            <a:r>
              <a:rPr lang="en-GB"/>
              <a:t>Churn paths: employer switch, fintech migration, Islamic conversion, overseas migration.</a:t>
            </a:r>
            <a:endParaRPr/>
          </a:p>
          <a:p>
            <a:pPr indent="-173038" lvl="0" marL="173038" rtl="0" algn="l">
              <a:lnSpc>
                <a:spcPct val="95000"/>
              </a:lnSpc>
              <a:spcBef>
                <a:spcPts val="0"/>
              </a:spcBef>
              <a:spcAft>
                <a:spcPts val="0"/>
              </a:spcAft>
              <a:buClr>
                <a:schemeClr val="dk1"/>
              </a:buClr>
              <a:buSzPts val="1200"/>
              <a:buChar char="•"/>
            </a:pPr>
            <a:r>
              <a:rPr lang="en-GB"/>
              <a:t>FSDM: PRTY, CHRN_EVNT, CHRN_PTH, BHVRL_DCLN</a:t>
            </a:r>
            <a:endParaRPr/>
          </a:p>
          <a:p>
            <a:pPr indent="-173038" lvl="0" marL="173038" rtl="0" algn="l">
              <a:lnSpc>
                <a:spcPct val="95000"/>
              </a:lnSpc>
              <a:spcBef>
                <a:spcPts val="0"/>
              </a:spcBef>
              <a:spcAft>
                <a:spcPts val="0"/>
              </a:spcAft>
              <a:buClr>
                <a:schemeClr val="dk1"/>
              </a:buClr>
              <a:buSzPts val="1200"/>
              <a:buChar char="•"/>
            </a:pPr>
            <a:r>
              <a:rPr lang="en-GB"/>
              <a:t>BVF Capability: Customer Lifecycle &gt; Churn Prevention</a:t>
            </a:r>
            <a:endParaRPr/>
          </a:p>
        </p:txBody>
      </p:sp>
    </p:spTree>
  </p:cSld>
  <p:clrMapOvr>
    <a:masterClrMapping/>
  </p:clrMapOvr>
</p:notes>
</file>

<file path=ppt/notesSlides/notesSlide157.xml><?xml version="1.0" encoding="utf-8"?>
<p:notes xmlns:a="http://schemas.openxmlformats.org/drawingml/2006/main" xmlns:p="http://schemas.openxmlformats.org/presentationml/2006/main" showMasterPhAnim="0" showMasterSp="0">
  <p:cSld>
    <p:spTree>
      <p:nvGrpSpPr>
        <p:cNvPr id="3421" name="Shape 3421"/>
        <p:cNvGrpSpPr/>
        <p:nvPr/>
      </p:nvGrpSpPr>
      <p:grpSpPr>
        <a:xfrm>
          <a:off x="0" y="0"/>
          <a:ext cx="0" cy="0"/>
          <a:chOff x="0" y="0"/>
          <a:chExt cx="0" cy="0"/>
        </a:xfrm>
      </p:grpSpPr>
      <p:sp>
        <p:nvSpPr>
          <p:cNvPr id="3422" name="Google Shape;3422;p157: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423" name="Google Shape;3423;p15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4" name="Google Shape;3424;p15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IDENTIFY BALANCE CHURNERS</a:t>
            </a:r>
            <a:endParaRPr/>
          </a:p>
          <a:p>
            <a:pPr indent="-173038" lvl="0" marL="173038" rtl="0" algn="l">
              <a:lnSpc>
                <a:spcPct val="95000"/>
              </a:lnSpc>
              <a:spcBef>
                <a:spcPts val="0"/>
              </a:spcBef>
              <a:spcAft>
                <a:spcPts val="0"/>
              </a:spcAft>
              <a:buClr>
                <a:schemeClr val="dk1"/>
              </a:buClr>
              <a:buSzPts val="1200"/>
              <a:buChar char="•"/>
            </a:pPr>
            <a:r>
              <a:rPr lang="en-GB"/>
              <a:t>PAKISTAN: Dominant churn type — accounts open with minimum balance while customer moves to competitor. RAAST/IBFT increasing outflows signal.</a:t>
            </a:r>
            <a:endParaRPr/>
          </a:p>
          <a:p>
            <a:pPr indent="-173038" lvl="0" marL="173038" rtl="0" algn="l">
              <a:lnSpc>
                <a:spcPct val="95000"/>
              </a:lnSpc>
              <a:spcBef>
                <a:spcPts val="0"/>
              </a:spcBef>
              <a:spcAft>
                <a:spcPts val="0"/>
              </a:spcAft>
              <a:buClr>
                <a:schemeClr val="dk1"/>
              </a:buClr>
              <a:buSzPts val="1200"/>
              <a:buChar char="•"/>
            </a:pPr>
            <a:r>
              <a:rPr lang="en-GB"/>
              <a:t>FSDM: PRTY, ACCT_BLNCE, BLNCE_TRND, IBFT_OUTFLW</a:t>
            </a:r>
            <a:endParaRPr/>
          </a:p>
          <a:p>
            <a:pPr indent="-173038" lvl="0" marL="173038" rtl="0" algn="l">
              <a:lnSpc>
                <a:spcPct val="95000"/>
              </a:lnSpc>
              <a:spcBef>
                <a:spcPts val="0"/>
              </a:spcBef>
              <a:spcAft>
                <a:spcPts val="0"/>
              </a:spcAft>
              <a:buClr>
                <a:schemeClr val="dk1"/>
              </a:buClr>
              <a:buSzPts val="1200"/>
              <a:buChar char="•"/>
            </a:pPr>
            <a:r>
              <a:rPr lang="en-GB"/>
              <a:t>BVF Capability: Customer Lifecycle &gt; Churn Detection</a:t>
            </a:r>
            <a:endParaRPr/>
          </a:p>
        </p:txBody>
      </p:sp>
    </p:spTree>
  </p:cSld>
  <p:clrMapOvr>
    <a:masterClrMapping/>
  </p:clrMapOvr>
</p:notes>
</file>

<file path=ppt/notesSlides/notesSlide158.xml><?xml version="1.0" encoding="utf-8"?>
<p:notes xmlns:a="http://schemas.openxmlformats.org/drawingml/2006/main" xmlns:p="http://schemas.openxmlformats.org/presentationml/2006/main" showMasterPhAnim="0" showMasterSp="0">
  <p:cSld>
    <p:spTree>
      <p:nvGrpSpPr>
        <p:cNvPr id="3441" name="Shape 3441"/>
        <p:cNvGrpSpPr/>
        <p:nvPr/>
      </p:nvGrpSpPr>
      <p:grpSpPr>
        <a:xfrm>
          <a:off x="0" y="0"/>
          <a:ext cx="0" cy="0"/>
          <a:chOff x="0" y="0"/>
          <a:chExt cx="0" cy="0"/>
        </a:xfrm>
      </p:grpSpPr>
      <p:sp>
        <p:nvSpPr>
          <p:cNvPr id="3442" name="Google Shape;3442;p158: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443" name="Google Shape;3443;p15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4" name="Google Shape;3444;p15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CREDIT CARD BALANCE CHURN</a:t>
            </a:r>
            <a:endParaRPr/>
          </a:p>
          <a:p>
            <a:pPr indent="-173038" lvl="0" marL="173038" rtl="0" algn="l">
              <a:lnSpc>
                <a:spcPct val="95000"/>
              </a:lnSpc>
              <a:spcBef>
                <a:spcPts val="0"/>
              </a:spcBef>
              <a:spcAft>
                <a:spcPts val="0"/>
              </a:spcAft>
              <a:buClr>
                <a:schemeClr val="dk1"/>
              </a:buClr>
              <a:buSzPts val="1200"/>
              <a:buChar char="•"/>
            </a:pPr>
            <a:r>
              <a:rPr lang="en-GB"/>
              <a:t>PAKISTAN: Customer reduces spending, transfers balance to competitor. Detect via declining spend, balance transfers, zero-spend months.</a:t>
            </a:r>
            <a:endParaRPr/>
          </a:p>
          <a:p>
            <a:pPr indent="-173038" lvl="0" marL="173038" rtl="0" algn="l">
              <a:lnSpc>
                <a:spcPct val="95000"/>
              </a:lnSpc>
              <a:spcBef>
                <a:spcPts val="0"/>
              </a:spcBef>
              <a:spcAft>
                <a:spcPts val="0"/>
              </a:spcAft>
              <a:buClr>
                <a:schemeClr val="dk1"/>
              </a:buClr>
              <a:buSzPts val="1200"/>
              <a:buChar char="•"/>
            </a:pPr>
            <a:r>
              <a:rPr lang="en-GB"/>
              <a:t>FSDM: CRD_ACCT, CRD_BLNCE, BLNCE_TRNSF, SPND_DCLN</a:t>
            </a:r>
            <a:endParaRPr/>
          </a:p>
          <a:p>
            <a:pPr indent="-173038" lvl="0" marL="173038" rtl="0" algn="l">
              <a:lnSpc>
                <a:spcPct val="95000"/>
              </a:lnSpc>
              <a:spcBef>
                <a:spcPts val="0"/>
              </a:spcBef>
              <a:spcAft>
                <a:spcPts val="0"/>
              </a:spcAft>
              <a:buClr>
                <a:schemeClr val="dk1"/>
              </a:buClr>
              <a:buSzPts val="1200"/>
              <a:buChar char="•"/>
            </a:pPr>
            <a:r>
              <a:rPr lang="en-GB"/>
              <a:t>BVF Capability: Customer Lifecycle &gt; Card Retention</a:t>
            </a:r>
            <a:endParaRPr/>
          </a:p>
        </p:txBody>
      </p:sp>
    </p:spTree>
  </p:cSld>
  <p:clrMapOvr>
    <a:masterClrMapping/>
  </p:clrMapOvr>
</p:notes>
</file>

<file path=ppt/notesSlides/notesSlide159.xml><?xml version="1.0" encoding="utf-8"?>
<p:notes xmlns:a="http://schemas.openxmlformats.org/drawingml/2006/main" xmlns:p="http://schemas.openxmlformats.org/presentationml/2006/main" showMasterPhAnim="0" showMasterSp="0">
  <p:cSld>
    <p:spTree>
      <p:nvGrpSpPr>
        <p:cNvPr id="3461" name="Shape 3461"/>
        <p:cNvGrpSpPr/>
        <p:nvPr/>
      </p:nvGrpSpPr>
      <p:grpSpPr>
        <a:xfrm>
          <a:off x="0" y="0"/>
          <a:ext cx="0" cy="0"/>
          <a:chOff x="0" y="0"/>
          <a:chExt cx="0" cy="0"/>
        </a:xfrm>
      </p:grpSpPr>
      <p:sp>
        <p:nvSpPr>
          <p:cNvPr id="3462" name="Google Shape;3462;p159: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463" name="Google Shape;3463;p15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4" name="Google Shape;3464;p15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CASA SILENT CHURN — HIGHEST PRIORITY USE CASE</a:t>
            </a:r>
            <a:endParaRPr/>
          </a:p>
          <a:p>
            <a:pPr indent="-173038" lvl="0" marL="173038" rtl="0" algn="l">
              <a:lnSpc>
                <a:spcPct val="95000"/>
              </a:lnSpc>
              <a:spcBef>
                <a:spcPts val="0"/>
              </a:spcBef>
              <a:spcAft>
                <a:spcPts val="0"/>
              </a:spcAft>
              <a:buClr>
                <a:schemeClr val="dk1"/>
              </a:buClr>
              <a:buSzPts val="1200"/>
              <a:buChar char="•"/>
            </a:pPr>
            <a:r>
              <a:rPr lang="en-GB"/>
              <a:t>PAKISTAN: Biggest unaddressed revenue leak. PKR 500B+ at risk. Top-tier customers move funds without formal closure.</a:t>
            </a:r>
            <a:endParaRPr/>
          </a:p>
          <a:p>
            <a:pPr indent="-173038" lvl="0" marL="173038" rtl="0" algn="l">
              <a:lnSpc>
                <a:spcPct val="95000"/>
              </a:lnSpc>
              <a:spcBef>
                <a:spcPts val="0"/>
              </a:spcBef>
              <a:spcAft>
                <a:spcPts val="0"/>
              </a:spcAft>
              <a:buClr>
                <a:schemeClr val="dk1"/>
              </a:buClr>
              <a:buSzPts val="1200"/>
              <a:buChar char="•"/>
            </a:pPr>
            <a:r>
              <a:rPr lang="en-GB"/>
              <a:t>Signals: salary credit stops, balance below 6-month avg, RAAST outflows &gt; inflows, no branch visit 90+ days.</a:t>
            </a:r>
            <a:endParaRPr/>
          </a:p>
          <a:p>
            <a:pPr indent="-173038" lvl="0" marL="173038" rtl="0" algn="l">
              <a:lnSpc>
                <a:spcPct val="95000"/>
              </a:lnSpc>
              <a:spcBef>
                <a:spcPts val="0"/>
              </a:spcBef>
              <a:spcAft>
                <a:spcPts val="0"/>
              </a:spcAft>
              <a:buClr>
                <a:schemeClr val="dk1"/>
              </a:buClr>
              <a:buSzPts val="1200"/>
              <a:buChar char="•"/>
            </a:pPr>
            <a:r>
              <a:rPr lang="en-GB"/>
              <a:t>Target: identify 20% of silent churners 30 days before balance drops below threshold.</a:t>
            </a:r>
            <a:endParaRPr/>
          </a:p>
          <a:p>
            <a:pPr indent="-173038" lvl="0" marL="173038" rtl="0" algn="l">
              <a:lnSpc>
                <a:spcPct val="95000"/>
              </a:lnSpc>
              <a:spcBef>
                <a:spcPts val="0"/>
              </a:spcBef>
              <a:spcAft>
                <a:spcPts val="0"/>
              </a:spcAft>
              <a:buClr>
                <a:schemeClr val="dk1"/>
              </a:buClr>
              <a:buSzPts val="1200"/>
              <a:buChar char="•"/>
            </a:pPr>
            <a:r>
              <a:rPr lang="en-GB"/>
              <a:t>FSDM: PRTY, ACCT_BLNCE, SLNT_CHRN_SCRE, SLRY_CRDT, IBFT_RATIO</a:t>
            </a:r>
            <a:endParaRPr/>
          </a:p>
          <a:p>
            <a:pPr indent="-173038" lvl="0" marL="173038" rtl="0" algn="l">
              <a:lnSpc>
                <a:spcPct val="95000"/>
              </a:lnSpc>
              <a:spcBef>
                <a:spcPts val="0"/>
              </a:spcBef>
              <a:spcAft>
                <a:spcPts val="0"/>
              </a:spcAft>
              <a:buClr>
                <a:schemeClr val="dk1"/>
              </a:buClr>
              <a:buSzPts val="1200"/>
              <a:buChar char="•"/>
            </a:pPr>
            <a:r>
              <a:rPr lang="en-GB"/>
              <a:t>BVF Capability: Customer Lifecycle &gt; CASA Retention</a:t>
            </a:r>
            <a:endParaRPr/>
          </a:p>
        </p:txBody>
      </p:sp>
    </p:spTree>
  </p:cSld>
  <p:clrMapOvr>
    <a:masterClrMapping/>
  </p:clrMapOvr>
</p:notes>
</file>

<file path=ppt/notesSlides/notesSlide160.xml><?xml version="1.0" encoding="utf-8"?>
<p:notes xmlns:a="http://schemas.openxmlformats.org/drawingml/2006/main" xmlns:p="http://schemas.openxmlformats.org/presentationml/2006/main" showMasterPhAnim="0" showMasterSp="0">
  <p:cSld>
    <p:spTree>
      <p:nvGrpSpPr>
        <p:cNvPr id="3481" name="Shape 3481"/>
        <p:cNvGrpSpPr/>
        <p:nvPr/>
      </p:nvGrpSpPr>
      <p:grpSpPr>
        <a:xfrm>
          <a:off x="0" y="0"/>
          <a:ext cx="0" cy="0"/>
          <a:chOff x="0" y="0"/>
          <a:chExt cx="0" cy="0"/>
        </a:xfrm>
      </p:grpSpPr>
      <p:sp>
        <p:nvSpPr>
          <p:cNvPr id="3482" name="Google Shape;3482;p160: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483" name="Google Shape;3483;p16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4" name="Google Shape;3484;p16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CUSTOMER CHURN MODEL IN RETAIL BANKING</a:t>
            </a:r>
            <a:endParaRPr/>
          </a:p>
          <a:p>
            <a:pPr indent="-173038" lvl="0" marL="173038" rtl="0" algn="l">
              <a:lnSpc>
                <a:spcPct val="95000"/>
              </a:lnSpc>
              <a:spcBef>
                <a:spcPts val="0"/>
              </a:spcBef>
              <a:spcAft>
                <a:spcPts val="0"/>
              </a:spcAft>
              <a:buClr>
                <a:schemeClr val="dk1"/>
              </a:buClr>
              <a:buSzPts val="1200"/>
              <a:buChar char="•"/>
            </a:pPr>
            <a:r>
              <a:rPr lang="en-GB"/>
              <a:t>PAKISTAN: Features — salary continuity, RAAST/IBFT outflow ratio, app login frequency, SBP complaints, branch visit change, FD renewal rate.</a:t>
            </a:r>
            <a:endParaRPr/>
          </a:p>
          <a:p>
            <a:pPr indent="-173038" lvl="0" marL="173038" rtl="0" algn="l">
              <a:lnSpc>
                <a:spcPct val="95000"/>
              </a:lnSpc>
              <a:spcBef>
                <a:spcPts val="0"/>
              </a:spcBef>
              <a:spcAft>
                <a:spcPts val="0"/>
              </a:spcAft>
              <a:buClr>
                <a:schemeClr val="dk1"/>
              </a:buClr>
              <a:buSzPts val="1200"/>
              <a:buChar char="•"/>
            </a:pPr>
            <a:r>
              <a:rPr lang="en-GB"/>
              <a:t>Differentiate: competitive churn (fintech), rate shopping, life event (overseas), dormancy.</a:t>
            </a:r>
            <a:endParaRPr/>
          </a:p>
          <a:p>
            <a:pPr indent="-173038" lvl="0" marL="173038" rtl="0" algn="l">
              <a:lnSpc>
                <a:spcPct val="95000"/>
              </a:lnSpc>
              <a:spcBef>
                <a:spcPts val="0"/>
              </a:spcBef>
              <a:spcAft>
                <a:spcPts val="0"/>
              </a:spcAft>
              <a:buClr>
                <a:schemeClr val="dk1"/>
              </a:buClr>
              <a:buSzPts val="1200"/>
              <a:buChar char="•"/>
            </a:pPr>
            <a:r>
              <a:rPr lang="en-GB"/>
              <a:t>FSDM: PRTY, CHRN_SCRE, CHRN_DRVR, BHVRL_FTRS, CMPTTV_INDCTR</a:t>
            </a:r>
            <a:endParaRPr/>
          </a:p>
          <a:p>
            <a:pPr indent="-173038" lvl="0" marL="173038" rtl="0" algn="l">
              <a:lnSpc>
                <a:spcPct val="95000"/>
              </a:lnSpc>
              <a:spcBef>
                <a:spcPts val="0"/>
              </a:spcBef>
              <a:spcAft>
                <a:spcPts val="0"/>
              </a:spcAft>
              <a:buClr>
                <a:schemeClr val="dk1"/>
              </a:buClr>
              <a:buSzPts val="1200"/>
              <a:buChar char="•"/>
            </a:pPr>
            <a:r>
              <a:rPr lang="en-GB"/>
              <a:t>BVF Capability: Customer Lifecycle &gt; Churn Prediction</a:t>
            </a:r>
            <a:endParaRPr/>
          </a:p>
        </p:txBody>
      </p:sp>
    </p:spTree>
  </p:cSld>
  <p:clrMapOvr>
    <a:masterClrMapping/>
  </p:clrMapOvr>
</p:notes>
</file>

<file path=ppt/notesSlides/notesSlide161.xml><?xml version="1.0" encoding="utf-8"?>
<p:notes xmlns:a="http://schemas.openxmlformats.org/drawingml/2006/main" xmlns:p="http://schemas.openxmlformats.org/presentationml/2006/main" showMasterPhAnim="0" showMasterSp="0">
  <p:cSld>
    <p:spTree>
      <p:nvGrpSpPr>
        <p:cNvPr id="3501" name="Shape 3501"/>
        <p:cNvGrpSpPr/>
        <p:nvPr/>
      </p:nvGrpSpPr>
      <p:grpSpPr>
        <a:xfrm>
          <a:off x="0" y="0"/>
          <a:ext cx="0" cy="0"/>
          <a:chOff x="0" y="0"/>
          <a:chExt cx="0" cy="0"/>
        </a:xfrm>
      </p:grpSpPr>
      <p:sp>
        <p:nvSpPr>
          <p:cNvPr id="3502" name="Google Shape;3502;p161: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503" name="Google Shape;3503;p16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4" name="Google Shape;3504;p16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BROKER INTRODUCED INSURANCE — PATH TO CHURN</a:t>
            </a:r>
            <a:endParaRPr/>
          </a:p>
          <a:p>
            <a:pPr indent="-173038" lvl="0" marL="173038" rtl="0" algn="l">
              <a:lnSpc>
                <a:spcPct val="95000"/>
              </a:lnSpc>
              <a:spcBef>
                <a:spcPts val="0"/>
              </a:spcBef>
              <a:spcAft>
                <a:spcPts val="0"/>
              </a:spcAft>
              <a:buClr>
                <a:schemeClr val="dk1"/>
              </a:buClr>
              <a:buSzPts val="1200"/>
              <a:buChar char="•"/>
            </a:pPr>
            <a:r>
              <a:rPr lang="en-GB"/>
              <a:t>PAKISTAN: Bancassurance customers sold at account opening. Pakistan insurance penetration &lt;1%. High lapse rates indicate satisfaction issues.</a:t>
            </a:r>
            <a:endParaRPr/>
          </a:p>
          <a:p>
            <a:pPr indent="-173038" lvl="0" marL="173038" rtl="0" algn="l">
              <a:lnSpc>
                <a:spcPct val="95000"/>
              </a:lnSpc>
              <a:spcBef>
                <a:spcPts val="0"/>
              </a:spcBef>
              <a:spcAft>
                <a:spcPts val="0"/>
              </a:spcAft>
              <a:buClr>
                <a:schemeClr val="dk1"/>
              </a:buClr>
              <a:buSzPts val="1200"/>
              <a:buChar char="•"/>
            </a:pPr>
            <a:r>
              <a:rPr lang="en-GB"/>
              <a:t>FSDM: PLCY, PLCY_LAPSE, BNCASSRNCE, PRTY_PLCY</a:t>
            </a:r>
            <a:endParaRPr/>
          </a:p>
          <a:p>
            <a:pPr indent="-173038" lvl="0" marL="173038" rtl="0" algn="l">
              <a:lnSpc>
                <a:spcPct val="95000"/>
              </a:lnSpc>
              <a:spcBef>
                <a:spcPts val="0"/>
              </a:spcBef>
              <a:spcAft>
                <a:spcPts val="0"/>
              </a:spcAft>
              <a:buClr>
                <a:schemeClr val="dk1"/>
              </a:buClr>
              <a:buSzPts val="1200"/>
              <a:buChar char="•"/>
            </a:pPr>
            <a:r>
              <a:rPr lang="en-GB"/>
              <a:t>BVF Capability: Customer Lifecycle &gt; Insurance Retention</a:t>
            </a:r>
            <a:endParaRPr/>
          </a:p>
        </p:txBody>
      </p:sp>
    </p:spTree>
  </p:cSld>
  <p:clrMapOvr>
    <a:masterClrMapping/>
  </p:clrMapOvr>
</p:notes>
</file>

<file path=ppt/notesSlides/notesSlide162.xml><?xml version="1.0" encoding="utf-8"?>
<p:notes xmlns:a="http://schemas.openxmlformats.org/drawingml/2006/main" xmlns:p="http://schemas.openxmlformats.org/presentationml/2006/main" showMasterPhAnim="0" showMasterSp="0">
  <p:cSld>
    <p:spTree>
      <p:nvGrpSpPr>
        <p:cNvPr id="3521" name="Shape 3521"/>
        <p:cNvGrpSpPr/>
        <p:nvPr/>
      </p:nvGrpSpPr>
      <p:grpSpPr>
        <a:xfrm>
          <a:off x="0" y="0"/>
          <a:ext cx="0" cy="0"/>
          <a:chOff x="0" y="0"/>
          <a:chExt cx="0" cy="0"/>
        </a:xfrm>
      </p:grpSpPr>
      <p:sp>
        <p:nvSpPr>
          <p:cNvPr id="3522" name="Google Shape;3522;p162: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523" name="Google Shape;3523;p16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4" name="Google Shape;3524;p16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IMPROVING CROSS-SELL TARGETING</a:t>
            </a:r>
            <a:endParaRPr/>
          </a:p>
          <a:p>
            <a:pPr indent="-173038" lvl="0" marL="173038" rtl="0" algn="l">
              <a:lnSpc>
                <a:spcPct val="95000"/>
              </a:lnSpc>
              <a:spcBef>
                <a:spcPts val="0"/>
              </a:spcBef>
              <a:spcAft>
                <a:spcPts val="0"/>
              </a:spcAft>
              <a:buClr>
                <a:schemeClr val="dk1"/>
              </a:buClr>
              <a:buSzPts val="1200"/>
              <a:buChar char="•"/>
            </a:pPr>
            <a:r>
              <a:rPr lang="en-GB"/>
              <a:t>PAKISTAN: Current response rate &lt;5%. Target: 8-12%. Key: salary-event trigger (24hr), Islamic preference matching, ECIB pre-screening.</a:t>
            </a:r>
            <a:endParaRPr/>
          </a:p>
          <a:p>
            <a:pPr indent="-173038" lvl="0" marL="173038" rtl="0" algn="l">
              <a:lnSpc>
                <a:spcPct val="95000"/>
              </a:lnSpc>
              <a:spcBef>
                <a:spcPts val="0"/>
              </a:spcBef>
              <a:spcAft>
                <a:spcPts val="0"/>
              </a:spcAft>
              <a:buClr>
                <a:schemeClr val="dk1"/>
              </a:buClr>
              <a:buSzPts val="1200"/>
              <a:buChar char="•"/>
            </a:pPr>
            <a:r>
              <a:rPr lang="en-GB"/>
              <a:t>Never cross-sell conventional interest products to Islamic-preference customers.</a:t>
            </a:r>
            <a:endParaRPr/>
          </a:p>
          <a:p>
            <a:pPr indent="-173038" lvl="0" marL="173038" rtl="0" algn="l">
              <a:lnSpc>
                <a:spcPct val="95000"/>
              </a:lnSpc>
              <a:spcBef>
                <a:spcPts val="0"/>
              </a:spcBef>
              <a:spcAft>
                <a:spcPts val="0"/>
              </a:spcAft>
              <a:buClr>
                <a:schemeClr val="dk1"/>
              </a:buClr>
              <a:buSzPts val="1200"/>
              <a:buChar char="•"/>
            </a:pPr>
            <a:r>
              <a:rPr lang="en-GB"/>
              <a:t>FSDM: PRTY, XSL_SCRE, PRPNSTY, ISLMC_PRFRNCE, CMPGN_RSPNS</a:t>
            </a:r>
            <a:endParaRPr/>
          </a:p>
          <a:p>
            <a:pPr indent="-173038" lvl="0" marL="173038" rtl="0" algn="l">
              <a:lnSpc>
                <a:spcPct val="95000"/>
              </a:lnSpc>
              <a:spcBef>
                <a:spcPts val="0"/>
              </a:spcBef>
              <a:spcAft>
                <a:spcPts val="0"/>
              </a:spcAft>
              <a:buClr>
                <a:schemeClr val="dk1"/>
              </a:buClr>
              <a:buSzPts val="1200"/>
              <a:buChar char="•"/>
            </a:pPr>
            <a:r>
              <a:rPr lang="en-GB"/>
              <a:t>BVF Capability: Customer Lifecycle &gt; Cross-Sell Optimization</a:t>
            </a:r>
            <a:endParaRPr/>
          </a:p>
        </p:txBody>
      </p:sp>
    </p:spTree>
  </p:cSld>
  <p:clrMapOvr>
    <a:masterClrMapping/>
  </p:clrMapOvr>
</p:notes>
</file>

<file path=ppt/notesSlides/notesSlide163.xml><?xml version="1.0" encoding="utf-8"?>
<p:notes xmlns:a="http://schemas.openxmlformats.org/drawingml/2006/main" xmlns:p="http://schemas.openxmlformats.org/presentationml/2006/main" showMasterPhAnim="0" showMasterSp="0">
  <p:cSld>
    <p:spTree>
      <p:nvGrpSpPr>
        <p:cNvPr id="3541" name="Shape 3541"/>
        <p:cNvGrpSpPr/>
        <p:nvPr/>
      </p:nvGrpSpPr>
      <p:grpSpPr>
        <a:xfrm>
          <a:off x="0" y="0"/>
          <a:ext cx="0" cy="0"/>
          <a:chOff x="0" y="0"/>
          <a:chExt cx="0" cy="0"/>
        </a:xfrm>
      </p:grpSpPr>
      <p:sp>
        <p:nvSpPr>
          <p:cNvPr id="3542" name="Google Shape;3542;p163: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r>
              <a:rPr lang="en-GB" sz="1200"/>
              <a:t>placeholder</a:t>
            </a:r>
          </a:p>
          <a:p>
            <a:r>
              <a:rPr lang="en-GB" sz="1200"/>
              <a:t>SECTION: Customer Interaction Management</a:t>
            </a:r>
          </a:p>
          <a:p>
            <a:r>
              <a:rPr lang="en-GB" sz="1200"/>
              <a:t>19 use cases covering contact management, omnichannel optimization, NBA, real-time interaction, and personalization.</a:t>
            </a:r>
          </a:p>
          <a:p>
            <a:r>
              <a:rPr lang="en-GB" sz="1200"/>
              <a:t>Pakistan priority: Contact Management (SMS fatigue fix), NBA (Islamic-aware), Omnichannel (8+ touchpoints).</a:t>
            </a:r>
          </a:p>
          <a:p>
            <a:r>
              <a:rPr lang="en-GB" sz="1200"/>
              <a:t>FSDM Domains: Campaign, Channel, Interaction, Marketing, Contact</a:t>
            </a:r>
          </a:p>
        </p:txBody>
      </p:sp>
      <p:sp>
        <p:nvSpPr>
          <p:cNvPr id="3543" name="Google Shape;3543;p16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p="http://schemas.openxmlformats.org/presentationml/2006/main" showMasterPhAnim="0" showMasterSp="0">
  <p:cSld>
    <p:spTree>
      <p:nvGrpSpPr>
        <p:cNvPr id="3547" name="Shape 3547"/>
        <p:cNvGrpSpPr/>
        <p:nvPr/>
      </p:nvGrpSpPr>
      <p:grpSpPr>
        <a:xfrm>
          <a:off x="0" y="0"/>
          <a:ext cx="0" cy="0"/>
          <a:chOff x="0" y="0"/>
          <a:chExt cx="0" cy="0"/>
        </a:xfrm>
      </p:grpSpPr>
      <p:sp>
        <p:nvSpPr>
          <p:cNvPr id="3548" name="Google Shape;3548;p164: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549" name="Google Shape;3549;p16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0" name="Google Shape;3550;p16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SOCIAL NETWORKS DATA FOR MARKETING CAMPAIGNS</a:t>
            </a:r>
            <a:endParaRPr/>
          </a:p>
          <a:p>
            <a:pPr indent="-173038" lvl="0" marL="173038" rtl="0" algn="l">
              <a:lnSpc>
                <a:spcPct val="95000"/>
              </a:lnSpc>
              <a:spcBef>
                <a:spcPts val="0"/>
              </a:spcBef>
              <a:spcAft>
                <a:spcPts val="0"/>
              </a:spcAft>
              <a:buClr>
                <a:schemeClr val="dk1"/>
              </a:buClr>
              <a:buSzPts val="1200"/>
              <a:buChar char="•"/>
            </a:pPr>
            <a:r>
              <a:rPr lang="en-GB"/>
              <a:t>PAKISTAN: Facebook 45M+, TikTok 30M+, YouTube 70M+. No formal data privacy law but SBP restricts social data for credit decisions.</a:t>
            </a:r>
            <a:endParaRPr/>
          </a:p>
          <a:p>
            <a:pPr indent="-173038" lvl="0" marL="173038" rtl="0" algn="l">
              <a:lnSpc>
                <a:spcPct val="95000"/>
              </a:lnSpc>
              <a:spcBef>
                <a:spcPts val="0"/>
              </a:spcBef>
              <a:spcAft>
                <a:spcPts val="0"/>
              </a:spcAft>
              <a:buClr>
                <a:schemeClr val="dk1"/>
              </a:buClr>
              <a:buSzPts val="1200"/>
              <a:buChar char="•"/>
            </a:pPr>
            <a:r>
              <a:rPr lang="en-GB"/>
              <a:t>FSDM: SCLA_MDA_PRFL, SCLA_SNTMNT, CMPGN, CMPGN_CHNL</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Social Analytics</a:t>
            </a:r>
            <a:endParaRPr/>
          </a:p>
        </p:txBody>
      </p:sp>
    </p:spTree>
  </p:cSld>
  <p:clrMapOvr>
    <a:masterClrMapping/>
  </p:clrMapOvr>
</p:notes>
</file>

<file path=ppt/notesSlides/notesSlide165.xml><?xml version="1.0" encoding="utf-8"?>
<p:notes xmlns:a="http://schemas.openxmlformats.org/drawingml/2006/main" xmlns:p="http://schemas.openxmlformats.org/presentationml/2006/main" showMasterPhAnim="0" showMasterSp="0">
  <p:cSld>
    <p:spTree>
      <p:nvGrpSpPr>
        <p:cNvPr id="3567" name="Shape 3567"/>
        <p:cNvGrpSpPr/>
        <p:nvPr/>
      </p:nvGrpSpPr>
      <p:grpSpPr>
        <a:xfrm>
          <a:off x="0" y="0"/>
          <a:ext cx="0" cy="0"/>
          <a:chOff x="0" y="0"/>
          <a:chExt cx="0" cy="0"/>
        </a:xfrm>
      </p:grpSpPr>
      <p:sp>
        <p:nvSpPr>
          <p:cNvPr id="3568" name="Google Shape;3568;p165: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3569" name="Google Shape;3569;p16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0" name="Google Shape;3570;p16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CONTACT MANAGEMENT</a:t>
            </a:r>
            <a:endParaRPr/>
          </a:p>
          <a:p>
            <a:pPr indent="-173038" lvl="0" marL="173038" rtl="0" algn="l">
              <a:lnSpc>
                <a:spcPct val="95000"/>
              </a:lnSpc>
              <a:spcBef>
                <a:spcPts val="0"/>
              </a:spcBef>
              <a:spcAft>
                <a:spcPts val="0"/>
              </a:spcAft>
              <a:buClr>
                <a:schemeClr val="dk1"/>
              </a:buClr>
              <a:buSzPts val="1200"/>
              <a:buChar char="•"/>
            </a:pPr>
            <a:r>
              <a:rPr lang="en-GB"/>
              <a:t>PAKISTAN: SMS fatigue crisis — 10-15 promotional messages/day. Coordinate SBP-mandated notifications with marketing messages.</a:t>
            </a:r>
            <a:endParaRPr/>
          </a:p>
          <a:p>
            <a:pPr indent="-173038" lvl="0" marL="173038" rtl="0" algn="l">
              <a:lnSpc>
                <a:spcPct val="95000"/>
              </a:lnSpc>
              <a:spcBef>
                <a:spcPts val="0"/>
              </a:spcBef>
              <a:spcAft>
                <a:spcPts val="0"/>
              </a:spcAft>
              <a:buClr>
                <a:schemeClr val="dk1"/>
              </a:buClr>
              <a:buSzPts val="1200"/>
              <a:buChar char="•"/>
            </a:pPr>
            <a:r>
              <a:rPr lang="en-GB"/>
              <a:t>Target: reduce opt-out rate by 40% through intelligent frequency management.</a:t>
            </a:r>
            <a:endParaRPr/>
          </a:p>
          <a:p>
            <a:pPr indent="-173038" lvl="0" marL="173038" rtl="0" algn="l">
              <a:lnSpc>
                <a:spcPct val="95000"/>
              </a:lnSpc>
              <a:spcBef>
                <a:spcPts val="0"/>
              </a:spcBef>
              <a:spcAft>
                <a:spcPts val="0"/>
              </a:spcAft>
              <a:buClr>
                <a:schemeClr val="dk1"/>
              </a:buClr>
              <a:buSzPts val="1200"/>
              <a:buChar char="•"/>
            </a:pPr>
            <a:r>
              <a:rPr lang="en-GB"/>
              <a:t>FSDM: CNTCT_HSTRY, CNTCT_PRFRNCE, CMPGN, MSG_DLVRY, OPT_OUT</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Contact Optimization</a:t>
            </a:r>
            <a:endParaRPr/>
          </a:p>
        </p:txBody>
      </p:sp>
    </p:spTree>
  </p:cSld>
  <p:clrMapOvr>
    <a:masterClrMapping/>
  </p:clrMapOvr>
</p:notes>
</file>

<file path=ppt/notesSlides/notesSlide166.xml><?xml version="1.0" encoding="utf-8"?>
<p:notes xmlns:a="http://schemas.openxmlformats.org/drawingml/2006/main" xmlns:p="http://schemas.openxmlformats.org/presentationml/2006/main" showMasterPhAnim="0" showMasterSp="0">
  <p:cSld>
    <p:spTree>
      <p:nvGrpSpPr>
        <p:cNvPr id="3587" name="Shape 3587"/>
        <p:cNvGrpSpPr/>
        <p:nvPr/>
      </p:nvGrpSpPr>
      <p:grpSpPr>
        <a:xfrm>
          <a:off x="0" y="0"/>
          <a:ext cx="0" cy="0"/>
          <a:chOff x="0" y="0"/>
          <a:chExt cx="0" cy="0"/>
        </a:xfrm>
      </p:grpSpPr>
      <p:sp>
        <p:nvSpPr>
          <p:cNvPr id="3588" name="Google Shape;3588;p166: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589" name="Google Shape;3589;p16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0" name="Google Shape;3590;p16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OMNI-CHANNEL CUSTOMER EXPERIENCE OPTIMIZATION</a:t>
            </a:r>
            <a:endParaRPr/>
          </a:p>
          <a:p>
            <a:pPr indent="-173038" lvl="0" marL="173038" rtl="0" algn="l">
              <a:lnSpc>
                <a:spcPct val="95000"/>
              </a:lnSpc>
              <a:spcBef>
                <a:spcPts val="0"/>
              </a:spcBef>
              <a:spcAft>
                <a:spcPts val="0"/>
              </a:spcAft>
              <a:buClr>
                <a:schemeClr val="dk1"/>
              </a:buClr>
              <a:buSzPts val="1200"/>
              <a:buChar char="•"/>
            </a:pPr>
            <a:r>
              <a:rPr lang="en-GB"/>
              <a:t>PAKISTAN: Branch + ATM + mobile + internet + call center + USSD + agent + RAAST = 8+ touchpoints.</a:t>
            </a:r>
            <a:endParaRPr/>
          </a:p>
          <a:p>
            <a:pPr indent="-173038" lvl="0" marL="173038" rtl="0" algn="l">
              <a:lnSpc>
                <a:spcPct val="95000"/>
              </a:lnSpc>
              <a:spcBef>
                <a:spcPts val="0"/>
              </a:spcBef>
              <a:spcAft>
                <a:spcPts val="0"/>
              </a:spcAft>
              <a:buClr>
                <a:schemeClr val="dk1"/>
              </a:buClr>
              <a:buSzPts val="1200"/>
              <a:buChar char="•"/>
            </a:pPr>
            <a:r>
              <a:rPr lang="en-GB"/>
              <a:t>Enable seamless handoff: start on mobile, continue at branch, approve via SMS.</a:t>
            </a:r>
            <a:endParaRPr/>
          </a:p>
          <a:p>
            <a:pPr indent="-173038" lvl="0" marL="173038" rtl="0" algn="l">
              <a:lnSpc>
                <a:spcPct val="95000"/>
              </a:lnSpc>
              <a:spcBef>
                <a:spcPts val="0"/>
              </a:spcBef>
              <a:spcAft>
                <a:spcPts val="0"/>
              </a:spcAft>
              <a:buClr>
                <a:schemeClr val="dk1"/>
              </a:buClr>
              <a:buSzPts val="1200"/>
              <a:buChar char="•"/>
            </a:pPr>
            <a:r>
              <a:rPr lang="en-GB"/>
              <a:t>FSDM: CHNL_INTN, CHNL_SSSN, OMNI_JRNY, SVC_RQST</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Omnichannel</a:t>
            </a:r>
            <a:endParaRPr/>
          </a:p>
        </p:txBody>
      </p:sp>
    </p:spTree>
  </p:cSld>
  <p:clrMapOvr>
    <a:masterClrMapping/>
  </p:clrMapOvr>
</p:notes>
</file>

<file path=ppt/notesSlides/notesSlide167.xml><?xml version="1.0" encoding="utf-8"?>
<p:notes xmlns:a="http://schemas.openxmlformats.org/drawingml/2006/main" xmlns:p="http://schemas.openxmlformats.org/presentationml/2006/main" showMasterPhAnim="0" showMasterSp="0">
  <p:cSld>
    <p:spTree>
      <p:nvGrpSpPr>
        <p:cNvPr id="3607" name="Shape 3607"/>
        <p:cNvGrpSpPr/>
        <p:nvPr/>
      </p:nvGrpSpPr>
      <p:grpSpPr>
        <a:xfrm>
          <a:off x="0" y="0"/>
          <a:ext cx="0" cy="0"/>
          <a:chOff x="0" y="0"/>
          <a:chExt cx="0" cy="0"/>
        </a:xfrm>
      </p:grpSpPr>
      <p:sp>
        <p:nvSpPr>
          <p:cNvPr id="3608" name="Google Shape;3608;p167: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609" name="Google Shape;3609;p16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0" name="Google Shape;3610;p16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OMNI-CHANNEL CUSTOMER ENGAGEMENT</a:t>
            </a:r>
            <a:endParaRPr/>
          </a:p>
          <a:p>
            <a:pPr indent="-173038" lvl="0" marL="173038" rtl="0" algn="l">
              <a:lnSpc>
                <a:spcPct val="95000"/>
              </a:lnSpc>
              <a:spcBef>
                <a:spcPts val="0"/>
              </a:spcBef>
              <a:spcAft>
                <a:spcPts val="0"/>
              </a:spcAft>
              <a:buClr>
                <a:schemeClr val="dk1"/>
              </a:buClr>
              <a:buSzPts val="1200"/>
              <a:buChar char="•"/>
            </a:pPr>
            <a:r>
              <a:rPr lang="en-GB"/>
              <a:t>PAKISTAN: 16K+ branches, 16K+ ATMs, mobile apps, USSD, WhatsApp, 500K+ agents, call centers, internet banking.</a:t>
            </a:r>
            <a:endParaRPr/>
          </a:p>
          <a:p>
            <a:pPr indent="-173038" lvl="0" marL="173038" rtl="0" algn="l">
              <a:lnSpc>
                <a:spcPct val="95000"/>
              </a:lnSpc>
              <a:spcBef>
                <a:spcPts val="0"/>
              </a:spcBef>
              <a:spcAft>
                <a:spcPts val="0"/>
              </a:spcAft>
              <a:buClr>
                <a:schemeClr val="dk1"/>
              </a:buClr>
              <a:buSzPts val="1200"/>
              <a:buChar char="•"/>
            </a:pPr>
            <a:r>
              <a:rPr lang="en-GB"/>
              <a:t>FSDM: CHNL_INTN, ENGMNT_SCRE, CHNL_PRFRNCE, PRSNLZTN</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Engagement</a:t>
            </a:r>
            <a:endParaRPr/>
          </a:p>
        </p:txBody>
      </p:sp>
    </p:spTree>
  </p:cSld>
  <p:clrMapOvr>
    <a:masterClrMapping/>
  </p:clrMapOvr>
</p:notes>
</file>

<file path=ppt/notesSlides/notesSlide168.xml><?xml version="1.0" encoding="utf-8"?>
<p:notes xmlns:a="http://schemas.openxmlformats.org/drawingml/2006/main" xmlns:p="http://schemas.openxmlformats.org/presentationml/2006/main" showMasterPhAnim="0" showMasterSp="0">
  <p:cSld>
    <p:spTree>
      <p:nvGrpSpPr>
        <p:cNvPr id="3627" name="Shape 3627"/>
        <p:cNvGrpSpPr/>
        <p:nvPr/>
      </p:nvGrpSpPr>
      <p:grpSpPr>
        <a:xfrm>
          <a:off x="0" y="0"/>
          <a:ext cx="0" cy="0"/>
          <a:chOff x="0" y="0"/>
          <a:chExt cx="0" cy="0"/>
        </a:xfrm>
      </p:grpSpPr>
      <p:sp>
        <p:nvSpPr>
          <p:cNvPr id="3628" name="Google Shape;3628;p168: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629" name="Google Shape;3629;p16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0" name="Google Shape;3630;p16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LOCATION BASED OFFERS</a:t>
            </a:r>
            <a:endParaRPr/>
          </a:p>
          <a:p>
            <a:pPr indent="-173038" lvl="0" marL="173038" rtl="0" algn="l">
              <a:lnSpc>
                <a:spcPct val="95000"/>
              </a:lnSpc>
              <a:spcBef>
                <a:spcPts val="0"/>
              </a:spcBef>
              <a:spcAft>
                <a:spcPts val="0"/>
              </a:spcAft>
              <a:buClr>
                <a:schemeClr val="dk1"/>
              </a:buClr>
              <a:buSzPts val="1200"/>
              <a:buChar char="•"/>
            </a:pPr>
            <a:r>
              <a:rPr lang="en-GB"/>
              <a:t>PAKISTAN: Telco partnerships (Jazz, Telenor, Zong, Ufone) for anonymized location data.</a:t>
            </a:r>
            <a:endParaRPr/>
          </a:p>
          <a:p>
            <a:pPr indent="-173038" lvl="0" marL="173038" rtl="0" algn="l">
              <a:lnSpc>
                <a:spcPct val="95000"/>
              </a:lnSpc>
              <a:spcBef>
                <a:spcPts val="0"/>
              </a:spcBef>
              <a:spcAft>
                <a:spcPts val="0"/>
              </a:spcAft>
              <a:buClr>
                <a:schemeClr val="dk1"/>
              </a:buClr>
              <a:buSzPts val="1200"/>
              <a:buChar char="•"/>
            </a:pPr>
            <a:r>
              <a:rPr lang="en-GB"/>
              <a:t>Use cases: branch proximity, mall cashback, airport travel card, petrol station fuel card.</a:t>
            </a:r>
            <a:endParaRPr/>
          </a:p>
          <a:p>
            <a:pPr indent="-173038" lvl="0" marL="173038" rtl="0" algn="l">
              <a:lnSpc>
                <a:spcPct val="95000"/>
              </a:lnSpc>
              <a:spcBef>
                <a:spcPts val="0"/>
              </a:spcBef>
              <a:spcAft>
                <a:spcPts val="0"/>
              </a:spcAft>
              <a:buClr>
                <a:schemeClr val="dk1"/>
              </a:buClr>
              <a:buSzPts val="1200"/>
              <a:buChar char="•"/>
            </a:pPr>
            <a:r>
              <a:rPr lang="en-GB"/>
              <a:t>FSDM: LCTN_DATA, MRCHNT_PRXMTY, OFFR, GEO_TRGGR</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Location Marketing</a:t>
            </a:r>
            <a:endParaRPr/>
          </a:p>
        </p:txBody>
      </p:sp>
    </p:spTree>
  </p:cSld>
  <p:clrMapOvr>
    <a:masterClrMapping/>
  </p:clrMapOvr>
</p:notes>
</file>

<file path=ppt/notesSlides/notesSlide169.xml><?xml version="1.0" encoding="utf-8"?>
<p:notes xmlns:a="http://schemas.openxmlformats.org/drawingml/2006/main" xmlns:p="http://schemas.openxmlformats.org/presentationml/2006/main" showMasterPhAnim="0" showMasterSp="0">
  <p:cSld>
    <p:spTree>
      <p:nvGrpSpPr>
        <p:cNvPr id="3648" name="Shape 3648"/>
        <p:cNvGrpSpPr/>
        <p:nvPr/>
      </p:nvGrpSpPr>
      <p:grpSpPr>
        <a:xfrm>
          <a:off x="0" y="0"/>
          <a:ext cx="0" cy="0"/>
          <a:chOff x="0" y="0"/>
          <a:chExt cx="0" cy="0"/>
        </a:xfrm>
      </p:grpSpPr>
      <p:sp>
        <p:nvSpPr>
          <p:cNvPr id="3649" name="Google Shape;3649;p169: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650" name="Google Shape;3650;p16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1" name="Google Shape;3651;p16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REAL-TIME CUSTOMER GIS LOCATION WITH TELCOS</a:t>
            </a:r>
            <a:endParaRPr/>
          </a:p>
          <a:p>
            <a:pPr indent="-173038" lvl="0" marL="173038" rtl="0" algn="l">
              <a:lnSpc>
                <a:spcPct val="95000"/>
              </a:lnSpc>
              <a:spcBef>
                <a:spcPts val="0"/>
              </a:spcBef>
              <a:spcAft>
                <a:spcPts val="0"/>
              </a:spcAft>
              <a:buClr>
                <a:schemeClr val="dk1"/>
              </a:buClr>
              <a:buSzPts val="1200"/>
              <a:buChar char="•"/>
            </a:pPr>
            <a:r>
              <a:rPr lang="en-GB"/>
              <a:t>PAKISTAN: Telco-bank collaboration for GIS offers. SBP and PTA privacy guidelines on location data.</a:t>
            </a:r>
            <a:endParaRPr/>
          </a:p>
          <a:p>
            <a:pPr indent="-173038" lvl="0" marL="173038" rtl="0" algn="l">
              <a:lnSpc>
                <a:spcPct val="95000"/>
              </a:lnSpc>
              <a:spcBef>
                <a:spcPts val="0"/>
              </a:spcBef>
              <a:spcAft>
                <a:spcPts val="0"/>
              </a:spcAft>
              <a:buClr>
                <a:schemeClr val="dk1"/>
              </a:buClr>
              <a:buSzPts val="1200"/>
              <a:buChar char="•"/>
            </a:pPr>
            <a:r>
              <a:rPr lang="en-GB"/>
              <a:t>FSDM: GIS_DATA, TELCO_LCTN, PRXMTY_ALRT, PRSNLZD_OFFR</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GIS Analytics</a:t>
            </a:r>
            <a:endParaRPr/>
          </a:p>
        </p:txBody>
      </p:sp>
    </p:spTree>
  </p:cSld>
  <p:clrMapOvr>
    <a:masterClrMapping/>
  </p:clrMapOvr>
</p:notes>
</file>

<file path=ppt/notesSlides/notesSlide170.xml><?xml version="1.0" encoding="utf-8"?>
<p:notes xmlns:a="http://schemas.openxmlformats.org/drawingml/2006/main" xmlns:p="http://schemas.openxmlformats.org/presentationml/2006/main" showMasterPhAnim="0" showMasterSp="0">
  <p:cSld>
    <p:spTree>
      <p:nvGrpSpPr>
        <p:cNvPr id="3668" name="Shape 3668"/>
        <p:cNvGrpSpPr/>
        <p:nvPr/>
      </p:nvGrpSpPr>
      <p:grpSpPr>
        <a:xfrm>
          <a:off x="0" y="0"/>
          <a:ext cx="0" cy="0"/>
          <a:chOff x="0" y="0"/>
          <a:chExt cx="0" cy="0"/>
        </a:xfrm>
      </p:grpSpPr>
      <p:sp>
        <p:nvSpPr>
          <p:cNvPr id="3669" name="Google Shape;3669;p170:notes"/>
          <p:cNvSpPr txBox="1"/>
          <p:nvPr>
            <p:ph idx="12" type="sldNum"/>
          </p:nvPr>
        </p:nvSpPr>
        <p:spPr>
          <a:xfrm>
            <a:off x="3885010" y="9446102"/>
            <a:ext cx="2971800" cy="497284"/>
          </a:xfrm>
          <a:prstGeom prst="rect">
            <a:avLst/>
          </a:prstGeom>
          <a:noFill/>
          <a:ln>
            <a:noFill/>
          </a:ln>
        </p:spPr>
        <p:txBody>
          <a:bodyPr anchorCtr="0" anchor="t" bIns="46225" lIns="92475" spcFirstLastPara="1" rIns="92475" wrap="square" tIns="46225">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3670" name="Google Shape;3670;p17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1" name="Google Shape;3671;p17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RTIM AND REAL-TIME</a:t>
            </a:r>
            <a:endParaRPr/>
          </a:p>
          <a:p>
            <a:pPr indent="-173038" lvl="0" marL="173038" rtl="0" algn="l">
              <a:lnSpc>
                <a:spcPct val="95000"/>
              </a:lnSpc>
              <a:spcBef>
                <a:spcPts val="0"/>
              </a:spcBef>
              <a:spcAft>
                <a:spcPts val="0"/>
              </a:spcAft>
              <a:buClr>
                <a:schemeClr val="dk1"/>
              </a:buClr>
              <a:buSzPts val="1200"/>
              <a:buChar char="•"/>
            </a:pPr>
            <a:r>
              <a:rPr lang="en-GB"/>
              <a:t>PAKISTAN: Currently batch-only. First steps: real-time RAAST event triggers, mobile app in-session offers, ATM screen personalization.</a:t>
            </a:r>
            <a:endParaRPr/>
          </a:p>
          <a:p>
            <a:pPr indent="-173038" lvl="0" marL="173038" rtl="0" algn="l">
              <a:lnSpc>
                <a:spcPct val="95000"/>
              </a:lnSpc>
              <a:spcBef>
                <a:spcPts val="0"/>
              </a:spcBef>
              <a:spcAft>
                <a:spcPts val="0"/>
              </a:spcAft>
              <a:buClr>
                <a:schemeClr val="dk1"/>
              </a:buClr>
              <a:buSzPts val="1200"/>
              <a:buChar char="•"/>
            </a:pPr>
            <a:r>
              <a:rPr lang="en-GB"/>
              <a:t>FSDM: RT_EVNT, RT_DCSNNG, CHNL_INTN, OFFR_DLVRY</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Real-Time Marketing</a:t>
            </a:r>
            <a:endParaRPr/>
          </a:p>
        </p:txBody>
      </p:sp>
    </p:spTree>
  </p:cSld>
  <p:clrMapOvr>
    <a:masterClrMapping/>
  </p:clrMapOvr>
</p:notes>
</file>

<file path=ppt/notesSlides/notesSlide171.xml><?xml version="1.0" encoding="utf-8"?>
<p:notes xmlns:a="http://schemas.openxmlformats.org/drawingml/2006/main" xmlns:p="http://schemas.openxmlformats.org/presentationml/2006/main" showMasterPhAnim="0" showMasterSp="0">
  <p:cSld>
    <p:spTree>
      <p:nvGrpSpPr>
        <p:cNvPr id="3688" name="Shape 3688"/>
        <p:cNvGrpSpPr/>
        <p:nvPr/>
      </p:nvGrpSpPr>
      <p:grpSpPr>
        <a:xfrm>
          <a:off x="0" y="0"/>
          <a:ext cx="0" cy="0"/>
          <a:chOff x="0" y="0"/>
          <a:chExt cx="0" cy="0"/>
        </a:xfrm>
      </p:grpSpPr>
      <p:sp>
        <p:nvSpPr>
          <p:cNvPr id="3689" name="Google Shape;3689;p171: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690" name="Google Shape;3690;p17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1" name="Google Shape;3691;p17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WEB/IVR BREAKOUT</a:t>
            </a:r>
            <a:endParaRPr/>
          </a:p>
          <a:p>
            <a:pPr indent="-173038" lvl="0" marL="173038" rtl="0" algn="l">
              <a:lnSpc>
                <a:spcPct val="95000"/>
              </a:lnSpc>
              <a:spcBef>
                <a:spcPts val="0"/>
              </a:spcBef>
              <a:spcAft>
                <a:spcPts val="0"/>
              </a:spcAft>
              <a:buClr>
                <a:schemeClr val="dk1"/>
              </a:buClr>
              <a:buSzPts val="1200"/>
              <a:buChar char="•"/>
            </a:pPr>
            <a:r>
              <a:rPr lang="en-GB"/>
              <a:t>PAKISTAN: IVR breakout analysis — why do customers press 0? Urdu IVR optimization needed.</a:t>
            </a:r>
            <a:endParaRPr/>
          </a:p>
          <a:p>
            <a:pPr indent="-173038" lvl="0" marL="173038" rtl="0" algn="l">
              <a:lnSpc>
                <a:spcPct val="95000"/>
              </a:lnSpc>
              <a:spcBef>
                <a:spcPts val="0"/>
              </a:spcBef>
              <a:spcAft>
                <a:spcPts val="0"/>
              </a:spcAft>
              <a:buClr>
                <a:schemeClr val="dk1"/>
              </a:buClr>
              <a:buSzPts val="1200"/>
              <a:buChar char="•"/>
            </a:pPr>
            <a:r>
              <a:rPr lang="en-GB"/>
              <a:t>FSDM: IVR_INTN, BRKOUT_EVNT, CHNL_INTN, CALL_RSLT</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IVR Analytics</a:t>
            </a:r>
            <a:endParaRPr/>
          </a:p>
        </p:txBody>
      </p:sp>
    </p:spTree>
  </p:cSld>
  <p:clrMapOvr>
    <a:masterClrMapping/>
  </p:clrMapOvr>
</p:notes>
</file>

<file path=ppt/notesSlides/notesSlide172.xml><?xml version="1.0" encoding="utf-8"?>
<p:notes xmlns:a="http://schemas.openxmlformats.org/drawingml/2006/main" xmlns:p="http://schemas.openxmlformats.org/presentationml/2006/main" showMasterPhAnim="0" showMasterSp="0">
  <p:cSld>
    <p:spTree>
      <p:nvGrpSpPr>
        <p:cNvPr id="3708" name="Shape 3708"/>
        <p:cNvGrpSpPr/>
        <p:nvPr/>
      </p:nvGrpSpPr>
      <p:grpSpPr>
        <a:xfrm>
          <a:off x="0" y="0"/>
          <a:ext cx="0" cy="0"/>
          <a:chOff x="0" y="0"/>
          <a:chExt cx="0" cy="0"/>
        </a:xfrm>
      </p:grpSpPr>
      <p:sp>
        <p:nvSpPr>
          <p:cNvPr id="3709" name="Google Shape;3709;p172: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710" name="Google Shape;3710;p17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1" name="Google Shape;3711;p17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COMPLAINTS PROCESS OPTIMISATION</a:t>
            </a:r>
            <a:endParaRPr/>
          </a:p>
          <a:p>
            <a:pPr indent="-173038" lvl="0" marL="173038" rtl="0" algn="l">
              <a:lnSpc>
                <a:spcPct val="95000"/>
              </a:lnSpc>
              <a:spcBef>
                <a:spcPts val="0"/>
              </a:spcBef>
              <a:spcAft>
                <a:spcPts val="0"/>
              </a:spcAft>
              <a:buClr>
                <a:schemeClr val="dk1"/>
              </a:buClr>
              <a:buSzPts val="1200"/>
              <a:buChar char="•"/>
            </a:pPr>
            <a:r>
              <a:rPr lang="en-GB"/>
              <a:t>PAKISTAN: SBP mandates resolution SLAs. Categories: unauthorized transactions, service charges, digital failures, ATM issues, staff behavior.</a:t>
            </a:r>
            <a:endParaRPr/>
          </a:p>
          <a:p>
            <a:pPr indent="-173038" lvl="0" marL="173038" rtl="0" algn="l">
              <a:lnSpc>
                <a:spcPct val="95000"/>
              </a:lnSpc>
              <a:spcBef>
                <a:spcPts val="0"/>
              </a:spcBef>
              <a:spcAft>
                <a:spcPts val="0"/>
              </a:spcAft>
              <a:buClr>
                <a:schemeClr val="dk1"/>
              </a:buClr>
              <a:buSzPts val="1200"/>
              <a:buChar char="•"/>
            </a:pPr>
            <a:r>
              <a:rPr lang="en-GB"/>
              <a:t>FSDM: CMPLNT, CMPLNT_CTGRY, SLA_TRCKNG, RSLUTN_PRCS</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Complaint Management</a:t>
            </a:r>
            <a:endParaRPr/>
          </a:p>
        </p:txBody>
      </p:sp>
    </p:spTree>
  </p:cSld>
  <p:clrMapOvr>
    <a:masterClrMapping/>
  </p:clrMapOvr>
</p:notes>
</file>

<file path=ppt/notesSlides/notesSlide173.xml><?xml version="1.0" encoding="utf-8"?>
<p:notes xmlns:a="http://schemas.openxmlformats.org/drawingml/2006/main" xmlns:p="http://schemas.openxmlformats.org/presentationml/2006/main" showMasterPhAnim="0" showMasterSp="0">
  <p:cSld>
    <p:spTree>
      <p:nvGrpSpPr>
        <p:cNvPr id="3728" name="Shape 3728"/>
        <p:cNvGrpSpPr/>
        <p:nvPr/>
      </p:nvGrpSpPr>
      <p:grpSpPr>
        <a:xfrm>
          <a:off x="0" y="0"/>
          <a:ext cx="0" cy="0"/>
          <a:chOff x="0" y="0"/>
          <a:chExt cx="0" cy="0"/>
        </a:xfrm>
      </p:grpSpPr>
      <p:sp>
        <p:nvSpPr>
          <p:cNvPr id="3729" name="Google Shape;3729;p173:notes"/>
          <p:cNvSpPr txBox="1"/>
          <p:nvPr>
            <p:ph idx="12" type="sldNum"/>
          </p:nvPr>
        </p:nvSpPr>
        <p:spPr>
          <a:xfrm>
            <a:off x="3885010" y="9446102"/>
            <a:ext cx="2971800" cy="497284"/>
          </a:xfrm>
          <a:prstGeom prst="rect">
            <a:avLst/>
          </a:prstGeom>
          <a:noFill/>
          <a:ln>
            <a:noFill/>
          </a:ln>
        </p:spPr>
        <p:txBody>
          <a:bodyPr anchorCtr="0" anchor="t" bIns="46225" lIns="92475" spcFirstLastPara="1" rIns="92475" wrap="square" tIns="46225">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3730" name="Google Shape;3730;p17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1" name="Google Shape;3731;p17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ONSITE SEARCH ENGINE OPTIMIZATION</a:t>
            </a:r>
            <a:endParaRPr/>
          </a:p>
          <a:p>
            <a:pPr indent="-173038" lvl="0" marL="173038" rtl="0" algn="l">
              <a:lnSpc>
                <a:spcPct val="95000"/>
              </a:lnSpc>
              <a:spcBef>
                <a:spcPts val="0"/>
              </a:spcBef>
              <a:spcAft>
                <a:spcPts val="0"/>
              </a:spcAft>
              <a:buClr>
                <a:schemeClr val="dk1"/>
              </a:buClr>
              <a:buSzPts val="1200"/>
              <a:buChar char="•"/>
            </a:pPr>
            <a:r>
              <a:rPr lang="en-GB"/>
              <a:t>PAKISTAN: Optimize internal search for Urdu and Roman Urdu. Most bank websites return zero results for Urdu product searches.</a:t>
            </a:r>
            <a:endParaRPr/>
          </a:p>
          <a:p>
            <a:pPr indent="-173038" lvl="0" marL="173038" rtl="0" algn="l">
              <a:lnSpc>
                <a:spcPct val="95000"/>
              </a:lnSpc>
              <a:spcBef>
                <a:spcPts val="0"/>
              </a:spcBef>
              <a:spcAft>
                <a:spcPts val="0"/>
              </a:spcAft>
              <a:buClr>
                <a:schemeClr val="dk1"/>
              </a:buClr>
              <a:buSzPts val="1200"/>
              <a:buChar char="•"/>
            </a:pPr>
            <a:r>
              <a:rPr lang="en-GB"/>
              <a:t>FSDM: WEB_SRCH, SRCH_RSLT, CNTNT_MTCH, LNG_PRCSNG</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Digital Experience</a:t>
            </a:r>
            <a:endParaRPr/>
          </a:p>
        </p:txBody>
      </p:sp>
    </p:spTree>
  </p:cSld>
  <p:clrMapOvr>
    <a:masterClrMapping/>
  </p:clrMapOvr>
</p:notes>
</file>

<file path=ppt/notesSlides/notesSlide174.xml><?xml version="1.0" encoding="utf-8"?>
<p:notes xmlns:a="http://schemas.openxmlformats.org/drawingml/2006/main" xmlns:p="http://schemas.openxmlformats.org/presentationml/2006/main" showMasterPhAnim="0" showMasterSp="0">
  <p:cSld>
    <p:spTree>
      <p:nvGrpSpPr>
        <p:cNvPr id="3748" name="Shape 3748"/>
        <p:cNvGrpSpPr/>
        <p:nvPr/>
      </p:nvGrpSpPr>
      <p:grpSpPr>
        <a:xfrm>
          <a:off x="0" y="0"/>
          <a:ext cx="0" cy="0"/>
          <a:chOff x="0" y="0"/>
          <a:chExt cx="0" cy="0"/>
        </a:xfrm>
      </p:grpSpPr>
      <p:sp>
        <p:nvSpPr>
          <p:cNvPr id="3749" name="Google Shape;3749;p174: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750" name="Google Shape;3750;p17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1" name="Google Shape;3751;p17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CUSTOMIZED AMOUNT BUTTON</a:t>
            </a:r>
            <a:endParaRPr/>
          </a:p>
          <a:p>
            <a:pPr indent="-173038" lvl="0" marL="173038" rtl="0" algn="l">
              <a:lnSpc>
                <a:spcPct val="95000"/>
              </a:lnSpc>
              <a:spcBef>
                <a:spcPts val="0"/>
              </a:spcBef>
              <a:spcAft>
                <a:spcPts val="0"/>
              </a:spcAft>
              <a:buClr>
                <a:schemeClr val="dk1"/>
              </a:buClr>
              <a:buSzPts val="1200"/>
              <a:buChar char="•"/>
            </a:pPr>
            <a:r>
              <a:rPr lang="en-GB"/>
              <a:t>PAKISTAN: Personalize quick-transfer amounts based on frequent amounts. Utility bills, school fees, regular RAAST transfers.</a:t>
            </a:r>
            <a:endParaRPr/>
          </a:p>
          <a:p>
            <a:pPr indent="-173038" lvl="0" marL="173038" rtl="0" algn="l">
              <a:lnSpc>
                <a:spcPct val="95000"/>
              </a:lnSpc>
              <a:spcBef>
                <a:spcPts val="0"/>
              </a:spcBef>
              <a:spcAft>
                <a:spcPts val="0"/>
              </a:spcAft>
              <a:buClr>
                <a:schemeClr val="dk1"/>
              </a:buClr>
              <a:buSzPts val="1200"/>
              <a:buChar char="•"/>
            </a:pPr>
            <a:r>
              <a:rPr lang="en-GB"/>
              <a:t>FSDM: TXN_PTTRN, FRQNT_AMNT, PRSNLZTN, MBL_UX</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Digital Personalization</a:t>
            </a:r>
            <a:endParaRPr/>
          </a:p>
        </p:txBody>
      </p:sp>
    </p:spTree>
  </p:cSld>
  <p:clrMapOvr>
    <a:masterClrMapping/>
  </p:clrMapOvr>
</p:notes>
</file>

<file path=ppt/notesSlides/notesSlide175.xml><?xml version="1.0" encoding="utf-8"?>
<p:notes xmlns:a="http://schemas.openxmlformats.org/drawingml/2006/main" xmlns:p="http://schemas.openxmlformats.org/presentationml/2006/main" showMasterPhAnim="0" showMasterSp="0">
  <p:cSld>
    <p:spTree>
      <p:nvGrpSpPr>
        <p:cNvPr id="3768" name="Shape 3768"/>
        <p:cNvGrpSpPr/>
        <p:nvPr/>
      </p:nvGrpSpPr>
      <p:grpSpPr>
        <a:xfrm>
          <a:off x="0" y="0"/>
          <a:ext cx="0" cy="0"/>
          <a:chOff x="0" y="0"/>
          <a:chExt cx="0" cy="0"/>
        </a:xfrm>
      </p:grpSpPr>
      <p:sp>
        <p:nvSpPr>
          <p:cNvPr id="3769" name="Google Shape;3769;p175: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770" name="Google Shape;3770;p17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1" name="Google Shape;3771;p17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ENHANCED NBA CONTACT STRATEGY</a:t>
            </a:r>
            <a:endParaRPr/>
          </a:p>
          <a:p>
            <a:pPr indent="-173038" lvl="0" marL="173038" rtl="0" algn="l">
              <a:lnSpc>
                <a:spcPct val="95000"/>
              </a:lnSpc>
              <a:spcBef>
                <a:spcPts val="0"/>
              </a:spcBef>
              <a:spcAft>
                <a:spcPts val="0"/>
              </a:spcAft>
              <a:buClr>
                <a:schemeClr val="dk1"/>
              </a:buClr>
              <a:buSzPts val="1200"/>
              <a:buChar char="•"/>
            </a:pPr>
            <a:r>
              <a:rPr lang="en-GB"/>
              <a:t>PAKISTAN: Islamic-aware NBA (never conventional to Islamic customers). Salary-day NBA (cross-sell within 24hr). Ramadan NBA (Zakat, charity).</a:t>
            </a:r>
            <a:endParaRPr/>
          </a:p>
          <a:p>
            <a:pPr indent="-173038" lvl="0" marL="173038" rtl="0" algn="l">
              <a:lnSpc>
                <a:spcPct val="95000"/>
              </a:lnSpc>
              <a:spcBef>
                <a:spcPts val="0"/>
              </a:spcBef>
              <a:spcAft>
                <a:spcPts val="0"/>
              </a:spcAft>
              <a:buClr>
                <a:schemeClr val="dk1"/>
              </a:buClr>
              <a:buSzPts val="1200"/>
              <a:buChar char="•"/>
            </a:pPr>
            <a:r>
              <a:rPr lang="en-GB"/>
              <a:t>FSDM: NBA_SCRE, CNTCT_STRTGY, ISLMC_PRFRNCE, EVNT_TRGGR</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Next Best Action</a:t>
            </a:r>
            <a:endParaRPr/>
          </a:p>
        </p:txBody>
      </p:sp>
    </p:spTree>
  </p:cSld>
  <p:clrMapOvr>
    <a:masterClrMapping/>
  </p:clrMapOvr>
</p:notes>
</file>

<file path=ppt/notesSlides/notesSlide176.xml><?xml version="1.0" encoding="utf-8"?>
<p:notes xmlns:a="http://schemas.openxmlformats.org/drawingml/2006/main" xmlns:p="http://schemas.openxmlformats.org/presentationml/2006/main" showMasterPhAnim="0" showMasterSp="0">
  <p:cSld>
    <p:spTree>
      <p:nvGrpSpPr>
        <p:cNvPr id="3788" name="Shape 3788"/>
        <p:cNvGrpSpPr/>
        <p:nvPr/>
      </p:nvGrpSpPr>
      <p:grpSpPr>
        <a:xfrm>
          <a:off x="0" y="0"/>
          <a:ext cx="0" cy="0"/>
          <a:chOff x="0" y="0"/>
          <a:chExt cx="0" cy="0"/>
        </a:xfrm>
      </p:grpSpPr>
      <p:sp>
        <p:nvSpPr>
          <p:cNvPr id="3789" name="Google Shape;3789;p176: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790" name="Google Shape;3790;p17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1" name="Google Shape;3791;p17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NEXT BEST PRODUCT OFFER</a:t>
            </a:r>
            <a:endParaRPr/>
          </a:p>
          <a:p>
            <a:pPr indent="-173038" lvl="0" marL="173038" rtl="0" algn="l">
              <a:lnSpc>
                <a:spcPct val="95000"/>
              </a:lnSpc>
              <a:spcBef>
                <a:spcPts val="0"/>
              </a:spcBef>
              <a:spcAft>
                <a:spcPts val="0"/>
              </a:spcAft>
              <a:buClr>
                <a:schemeClr val="dk1"/>
              </a:buClr>
              <a:buSzPts val="1200"/>
              <a:buChar char="•"/>
            </a:pPr>
            <a:r>
              <a:rPr lang="en-GB"/>
              <a:t>PAKISTAN: Salary Package (CASA + credit card + personal loan), Home Package, Islamic Package, Diaspora Bundle (RDA + NPC + remittance).</a:t>
            </a:r>
            <a:endParaRPr/>
          </a:p>
          <a:p>
            <a:pPr indent="-173038" lvl="0" marL="173038" rtl="0" algn="l">
              <a:lnSpc>
                <a:spcPct val="95000"/>
              </a:lnSpc>
              <a:spcBef>
                <a:spcPts val="0"/>
              </a:spcBef>
              <a:spcAft>
                <a:spcPts val="0"/>
              </a:spcAft>
              <a:buClr>
                <a:schemeClr val="dk1"/>
              </a:buClr>
              <a:buSzPts val="1200"/>
              <a:buChar char="•"/>
            </a:pPr>
            <a:r>
              <a:rPr lang="en-GB"/>
              <a:t>FSDM: NBP_SCRE, PRDCT_BNDL, PRPNSTY, OFFR_OPTMZTN</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Product Recommendation</a:t>
            </a:r>
            <a:endParaRPr/>
          </a:p>
        </p:txBody>
      </p:sp>
    </p:spTree>
  </p:cSld>
  <p:clrMapOvr>
    <a:masterClrMapping/>
  </p:clrMapOvr>
</p:notes>
</file>

<file path=ppt/notesSlides/notesSlide177.xml><?xml version="1.0" encoding="utf-8"?>
<p:notes xmlns:a="http://schemas.openxmlformats.org/drawingml/2006/main" xmlns:p="http://schemas.openxmlformats.org/presentationml/2006/main" showMasterPhAnim="0" showMasterSp="0">
  <p:cSld>
    <p:spTree>
      <p:nvGrpSpPr>
        <p:cNvPr id="3808" name="Shape 3808"/>
        <p:cNvGrpSpPr/>
        <p:nvPr/>
      </p:nvGrpSpPr>
      <p:grpSpPr>
        <a:xfrm>
          <a:off x="0" y="0"/>
          <a:ext cx="0" cy="0"/>
          <a:chOff x="0" y="0"/>
          <a:chExt cx="0" cy="0"/>
        </a:xfrm>
      </p:grpSpPr>
      <p:sp>
        <p:nvSpPr>
          <p:cNvPr id="3809" name="Google Shape;3809;p177: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810" name="Google Shape;3810;p17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1" name="Google Shape;3811;p17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PRODUCT BUNDLING</a:t>
            </a:r>
            <a:endParaRPr/>
          </a:p>
          <a:p>
            <a:pPr indent="-173038" lvl="0" marL="173038" rtl="0" algn="l">
              <a:lnSpc>
                <a:spcPct val="95000"/>
              </a:lnSpc>
              <a:spcBef>
                <a:spcPts val="0"/>
              </a:spcBef>
              <a:spcAft>
                <a:spcPts val="0"/>
              </a:spcAft>
              <a:buClr>
                <a:schemeClr val="dk1"/>
              </a:buClr>
              <a:buSzPts val="1200"/>
              <a:buChar char="•"/>
            </a:pPr>
            <a:r>
              <a:rPr lang="en-GB"/>
              <a:t>PAKISTAN: Life-stage bundles — Student, Young Professional, Family, HNW, Retiree, Diaspora.</a:t>
            </a:r>
            <a:endParaRPr/>
          </a:p>
          <a:p>
            <a:pPr indent="-173038" lvl="0" marL="173038" rtl="0" algn="l">
              <a:lnSpc>
                <a:spcPct val="95000"/>
              </a:lnSpc>
              <a:spcBef>
                <a:spcPts val="0"/>
              </a:spcBef>
              <a:spcAft>
                <a:spcPts val="0"/>
              </a:spcAft>
              <a:buClr>
                <a:schemeClr val="dk1"/>
              </a:buClr>
              <a:buSzPts val="1200"/>
              <a:buChar char="•"/>
            </a:pPr>
            <a:r>
              <a:rPr lang="en-GB"/>
              <a:t>FSDM: PRDCT_BNDL, LF_STG, BNDL_PRFMNCE, PRTY_SGMNT</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Bundle Optimization</a:t>
            </a:r>
            <a:endParaRPr/>
          </a:p>
        </p:txBody>
      </p:sp>
    </p:spTree>
  </p:cSld>
  <p:clrMapOvr>
    <a:masterClrMapping/>
  </p:clrMapOvr>
</p:notes>
</file>

<file path=ppt/notesSlides/notesSlide178.xml><?xml version="1.0" encoding="utf-8"?>
<p:notes xmlns:a="http://schemas.openxmlformats.org/drawingml/2006/main" xmlns:p="http://schemas.openxmlformats.org/presentationml/2006/main" showMasterPhAnim="0" showMasterSp="0">
  <p:cSld>
    <p:spTree>
      <p:nvGrpSpPr>
        <p:cNvPr id="3828" name="Shape 3828"/>
        <p:cNvGrpSpPr/>
        <p:nvPr/>
      </p:nvGrpSpPr>
      <p:grpSpPr>
        <a:xfrm>
          <a:off x="0" y="0"/>
          <a:ext cx="0" cy="0"/>
          <a:chOff x="0" y="0"/>
          <a:chExt cx="0" cy="0"/>
        </a:xfrm>
      </p:grpSpPr>
      <p:sp>
        <p:nvSpPr>
          <p:cNvPr id="3829" name="Google Shape;3829;p178: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830" name="Google Shape;3830;p17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1" name="Google Shape;3831;p17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INDIVIDUALIZED MERCHANTS RECOMMENDATION</a:t>
            </a:r>
            <a:endParaRPr/>
          </a:p>
          <a:p>
            <a:pPr indent="-173038" lvl="0" marL="173038" rtl="0" algn="l">
              <a:lnSpc>
                <a:spcPct val="95000"/>
              </a:lnSpc>
              <a:spcBef>
                <a:spcPts val="0"/>
              </a:spcBef>
              <a:spcAft>
                <a:spcPts val="0"/>
              </a:spcAft>
              <a:buClr>
                <a:schemeClr val="dk1"/>
              </a:buClr>
              <a:buSzPts val="1200"/>
              <a:buChar char="•"/>
            </a:pPr>
            <a:r>
              <a:rPr lang="en-GB"/>
              <a:t>PAKISTAN: Categories — Imtiaz/Chase Up (grocery), PSO/Shell (fuel), dining chains, mobile recharge. Partner for cashback offers.</a:t>
            </a:r>
            <a:endParaRPr/>
          </a:p>
          <a:p>
            <a:pPr indent="-173038" lvl="0" marL="173038" rtl="0" algn="l">
              <a:lnSpc>
                <a:spcPct val="95000"/>
              </a:lnSpc>
              <a:spcBef>
                <a:spcPts val="0"/>
              </a:spcBef>
              <a:spcAft>
                <a:spcPts val="0"/>
              </a:spcAft>
              <a:buClr>
                <a:schemeClr val="dk1"/>
              </a:buClr>
              <a:buSzPts val="1200"/>
              <a:buChar char="•"/>
            </a:pPr>
            <a:r>
              <a:rPr lang="en-GB"/>
              <a:t>FSDM: MRCHNT, MRCHNT_CTGRY, RCMNDTN, CRD_TXN</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Merchant Analytics</a:t>
            </a:r>
            <a:endParaRPr/>
          </a:p>
        </p:txBody>
      </p:sp>
    </p:spTree>
  </p:cSld>
  <p:clrMapOvr>
    <a:masterClrMapping/>
  </p:clrMapOvr>
</p:notes>
</file>

<file path=ppt/notesSlides/notesSlide179.xml><?xml version="1.0" encoding="utf-8"?>
<p:notes xmlns:a="http://schemas.openxmlformats.org/drawingml/2006/main" xmlns:p="http://schemas.openxmlformats.org/presentationml/2006/main" showMasterPhAnim="0" showMasterSp="0">
  <p:cSld>
    <p:spTree>
      <p:nvGrpSpPr>
        <p:cNvPr id="3848" name="Shape 3848"/>
        <p:cNvGrpSpPr/>
        <p:nvPr/>
      </p:nvGrpSpPr>
      <p:grpSpPr>
        <a:xfrm>
          <a:off x="0" y="0"/>
          <a:ext cx="0" cy="0"/>
          <a:chOff x="0" y="0"/>
          <a:chExt cx="0" cy="0"/>
        </a:xfrm>
      </p:grpSpPr>
      <p:sp>
        <p:nvSpPr>
          <p:cNvPr id="3849" name="Google Shape;3849;p179:notes"/>
          <p:cNvSpPr txBox="1"/>
          <p:nvPr>
            <p:ph idx="12" type="sldNum"/>
          </p:nvPr>
        </p:nvSpPr>
        <p:spPr>
          <a:xfrm>
            <a:off x="3885010" y="9446102"/>
            <a:ext cx="2971800" cy="497284"/>
          </a:xfrm>
          <a:prstGeom prst="rect">
            <a:avLst/>
          </a:prstGeom>
          <a:noFill/>
          <a:ln>
            <a:noFill/>
          </a:ln>
        </p:spPr>
        <p:txBody>
          <a:bodyPr anchorCtr="0" anchor="t" bIns="46225" lIns="92475" spcFirstLastPara="1" rIns="92475" wrap="square" tIns="46225">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3850" name="Google Shape;3850;p17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1" name="Google Shape;3851;p17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ADVERTISING CREATIVE OPTIMIZATION</a:t>
            </a:r>
            <a:endParaRPr/>
          </a:p>
          <a:p>
            <a:pPr indent="-173038" lvl="0" marL="173038" rtl="0" algn="l">
              <a:lnSpc>
                <a:spcPct val="95000"/>
              </a:lnSpc>
              <a:spcBef>
                <a:spcPts val="0"/>
              </a:spcBef>
              <a:spcAft>
                <a:spcPts val="0"/>
              </a:spcAft>
              <a:buClr>
                <a:schemeClr val="dk1"/>
              </a:buClr>
              <a:buSzPts val="1200"/>
              <a:buChar char="•"/>
            </a:pPr>
            <a:r>
              <a:rPr lang="en-GB"/>
              <a:t>PAKISTAN: Test Urdu vs English vs bilingual. Mobile-first: vertical video, short-form, WhatsApp-compatible.</a:t>
            </a:r>
            <a:endParaRPr/>
          </a:p>
          <a:p>
            <a:pPr indent="-173038" lvl="0" marL="173038" rtl="0" algn="l">
              <a:lnSpc>
                <a:spcPct val="95000"/>
              </a:lnSpc>
              <a:spcBef>
                <a:spcPts val="0"/>
              </a:spcBef>
              <a:spcAft>
                <a:spcPts val="0"/>
              </a:spcAft>
              <a:buClr>
                <a:schemeClr val="dk1"/>
              </a:buClr>
              <a:buSzPts val="1200"/>
              <a:buChar char="•"/>
            </a:pPr>
            <a:r>
              <a:rPr lang="en-GB"/>
              <a:t>FSDM: CMPGN_CREATV, AB_TST, CHNL_PRFMNCE, CREATV_ATTR</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Creative Optimization</a:t>
            </a:r>
            <a:endParaRPr/>
          </a:p>
        </p:txBody>
      </p:sp>
    </p:spTree>
  </p:cSld>
  <p:clrMapOvr>
    <a:masterClrMapping/>
  </p:clrMapOvr>
</p:notes>
</file>

<file path=ppt/notesSlides/notesSlide180.xml><?xml version="1.0" encoding="utf-8"?>
<p:notes xmlns:a="http://schemas.openxmlformats.org/drawingml/2006/main" xmlns:p="http://schemas.openxmlformats.org/presentationml/2006/main" showMasterPhAnim="0" showMasterSp="0">
  <p:cSld>
    <p:spTree>
      <p:nvGrpSpPr>
        <p:cNvPr id="3868" name="Shape 3868"/>
        <p:cNvGrpSpPr/>
        <p:nvPr/>
      </p:nvGrpSpPr>
      <p:grpSpPr>
        <a:xfrm>
          <a:off x="0" y="0"/>
          <a:ext cx="0" cy="0"/>
          <a:chOff x="0" y="0"/>
          <a:chExt cx="0" cy="0"/>
        </a:xfrm>
      </p:grpSpPr>
      <p:sp>
        <p:nvSpPr>
          <p:cNvPr id="3869" name="Google Shape;3869;p180:notes"/>
          <p:cNvSpPr txBox="1"/>
          <p:nvPr>
            <p:ph idx="12" type="sldNum"/>
          </p:nvPr>
        </p:nvSpPr>
        <p:spPr>
          <a:xfrm>
            <a:off x="3885011"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870" name="Google Shape;3870;p18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1" name="Google Shape;3871;p18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COMPETITOR ANALYSIS</a:t>
            </a:r>
            <a:endParaRPr/>
          </a:p>
          <a:p>
            <a:pPr indent="-173038" lvl="0" marL="173038" rtl="0" algn="l">
              <a:lnSpc>
                <a:spcPct val="95000"/>
              </a:lnSpc>
              <a:spcBef>
                <a:spcPts val="0"/>
              </a:spcBef>
              <a:spcAft>
                <a:spcPts val="0"/>
              </a:spcAft>
              <a:buClr>
                <a:schemeClr val="dk1"/>
              </a:buClr>
              <a:buSzPts val="1200"/>
              <a:buChar char="•"/>
            </a:pPr>
            <a:r>
              <a:rPr lang="en-GB"/>
              <a:t>PAKISTAN: Big 5 banks, Meezan Bank (Islamic leader), SadaPay/NayaPay (fintech), digital bank licensees.</a:t>
            </a:r>
            <a:endParaRPr/>
          </a:p>
          <a:p>
            <a:pPr indent="-173038" lvl="0" marL="173038" rtl="0" algn="l">
              <a:lnSpc>
                <a:spcPct val="95000"/>
              </a:lnSpc>
              <a:spcBef>
                <a:spcPts val="0"/>
              </a:spcBef>
              <a:spcAft>
                <a:spcPts val="0"/>
              </a:spcAft>
              <a:buClr>
                <a:schemeClr val="dk1"/>
              </a:buClr>
              <a:buSzPts val="1200"/>
              <a:buChar char="•"/>
            </a:pPr>
            <a:r>
              <a:rPr lang="en-GB"/>
              <a:t>FSDM: CMPTTV_DATA, MKT_SHRE, PRDCT_BNCHMRK, PRCE_CMPRN</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Competitive Intelligence</a:t>
            </a:r>
            <a:endParaRPr/>
          </a:p>
        </p:txBody>
      </p:sp>
    </p:spTree>
  </p:cSld>
  <p:clrMapOvr>
    <a:masterClrMapping/>
  </p:clrMapOvr>
</p:notes>
</file>

<file path=ppt/notesSlides/notesSlide181.xml><?xml version="1.0" encoding="utf-8"?>
<p:notes xmlns:a="http://schemas.openxmlformats.org/drawingml/2006/main" xmlns:p="http://schemas.openxmlformats.org/presentationml/2006/main" showMasterPhAnim="0" showMasterSp="0">
  <p:cSld>
    <p:spTree>
      <p:nvGrpSpPr>
        <p:cNvPr id="3888" name="Shape 3888"/>
        <p:cNvGrpSpPr/>
        <p:nvPr/>
      </p:nvGrpSpPr>
      <p:grpSpPr>
        <a:xfrm>
          <a:off x="0" y="0"/>
          <a:ext cx="0" cy="0"/>
          <a:chOff x="0" y="0"/>
          <a:chExt cx="0" cy="0"/>
        </a:xfrm>
      </p:grpSpPr>
      <p:sp>
        <p:nvSpPr>
          <p:cNvPr id="3889" name="Google Shape;3889;p181: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3890" name="Google Shape;3890;p18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1" name="Google Shape;3891;p18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MARKETING ATTRIBUTION</a:t>
            </a:r>
            <a:endParaRPr/>
          </a:p>
          <a:p>
            <a:pPr indent="-173038" lvl="0" marL="173038" rtl="0" algn="l">
              <a:lnSpc>
                <a:spcPct val="95000"/>
              </a:lnSpc>
              <a:spcBef>
                <a:spcPts val="0"/>
              </a:spcBef>
              <a:spcAft>
                <a:spcPts val="0"/>
              </a:spcAft>
              <a:buClr>
                <a:schemeClr val="dk1"/>
              </a:buClr>
              <a:buSzPts val="1200"/>
              <a:buChar char="•"/>
            </a:pPr>
            <a:r>
              <a:rPr lang="en-GB"/>
              <a:t>PAKISTAN: Offline-heavy mix: TV 35%, outdoor 20%, print 15%, digital 15%, direct 10%, agent 5%. Start with digital UTM tracking.</a:t>
            </a:r>
            <a:endParaRPr/>
          </a:p>
          <a:p>
            <a:pPr indent="-173038" lvl="0" marL="173038" rtl="0" algn="l">
              <a:lnSpc>
                <a:spcPct val="95000"/>
              </a:lnSpc>
              <a:spcBef>
                <a:spcPts val="0"/>
              </a:spcBef>
              <a:spcAft>
                <a:spcPts val="0"/>
              </a:spcAft>
              <a:buClr>
                <a:schemeClr val="dk1"/>
              </a:buClr>
              <a:buSzPts val="1200"/>
              <a:buChar char="•"/>
            </a:pPr>
            <a:r>
              <a:rPr lang="en-GB"/>
              <a:t>FSDM: CMPGN, CHNL_ATTR, CNVRSN, CMPGN_ROI</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Marketing Attribution</a:t>
            </a:r>
            <a:endParaRPr/>
          </a:p>
        </p:txBody>
      </p:sp>
    </p:spTree>
  </p:cSld>
  <p:clrMapOvr>
    <a:masterClrMapping/>
  </p:clrMapOvr>
</p:notes>
</file>

<file path=ppt/notesSlides/notesSlide182.xml><?xml version="1.0" encoding="utf-8"?>
<p:notes xmlns:a="http://schemas.openxmlformats.org/drawingml/2006/main" xmlns:p="http://schemas.openxmlformats.org/presentationml/2006/main" showMasterPhAnim="0" showMasterSp="0">
  <p:cSld>
    <p:spTree>
      <p:nvGrpSpPr>
        <p:cNvPr id="3908" name="Shape 3908"/>
        <p:cNvGrpSpPr/>
        <p:nvPr/>
      </p:nvGrpSpPr>
      <p:grpSpPr>
        <a:xfrm>
          <a:off x="0" y="0"/>
          <a:ext cx="0" cy="0"/>
          <a:chOff x="0" y="0"/>
          <a:chExt cx="0" cy="0"/>
        </a:xfrm>
      </p:grpSpPr>
      <p:sp>
        <p:nvSpPr>
          <p:cNvPr id="3909" name="Google Shape;3909;p182:notes"/>
          <p:cNvSpPr txBox="1"/>
          <p:nvPr>
            <p:ph idx="12" type="sldNum"/>
          </p:nvPr>
        </p:nvSpPr>
        <p:spPr>
          <a:xfrm>
            <a:off x="3885010" y="9446102"/>
            <a:ext cx="2971800" cy="497284"/>
          </a:xfrm>
          <a:prstGeom prst="rect">
            <a:avLst/>
          </a:prstGeom>
          <a:noFill/>
          <a:ln>
            <a:noFill/>
          </a:ln>
        </p:spPr>
        <p:txBody>
          <a:bodyPr anchorCtr="0" anchor="t" bIns="46225" lIns="92475" spcFirstLastPara="1" rIns="92475" wrap="square" tIns="46225">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3910" name="Google Shape;3910;p18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1" name="Google Shape;3911;p18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ATTRIBUTION</a:t>
            </a:r>
            <a:endParaRPr/>
          </a:p>
          <a:p>
            <a:pPr indent="-173038" lvl="0" marL="173038" rtl="0" algn="l">
              <a:lnSpc>
                <a:spcPct val="95000"/>
              </a:lnSpc>
              <a:spcBef>
                <a:spcPts val="0"/>
              </a:spcBef>
              <a:spcAft>
                <a:spcPts val="0"/>
              </a:spcAft>
              <a:buClr>
                <a:schemeClr val="dk1"/>
              </a:buClr>
              <a:buSzPts val="1200"/>
              <a:buChar char="•"/>
            </a:pPr>
            <a:r>
              <a:rPr lang="en-GB"/>
              <a:t>PAKISTAN: Digital journey tracking: app install → first login → first transaction → product adoption, across paid and organic channels.</a:t>
            </a:r>
            <a:endParaRPr/>
          </a:p>
          <a:p>
            <a:pPr indent="-173038" lvl="0" marL="173038" rtl="0" algn="l">
              <a:lnSpc>
                <a:spcPct val="95000"/>
              </a:lnSpc>
              <a:spcBef>
                <a:spcPts val="0"/>
              </a:spcBef>
              <a:spcAft>
                <a:spcPts val="0"/>
              </a:spcAft>
              <a:buClr>
                <a:schemeClr val="dk1"/>
              </a:buClr>
              <a:buSzPts val="1200"/>
              <a:buChar char="•"/>
            </a:pPr>
            <a:r>
              <a:rPr lang="en-GB"/>
              <a:t>FSDM: ATTR_MDL, DGTL_JRNY, CNVRSN_PTH, CHNL_CNTRBTN</a:t>
            </a:r>
            <a:endParaRPr/>
          </a:p>
          <a:p>
            <a:pPr indent="-173038" lvl="0" marL="173038" rtl="0" algn="l">
              <a:lnSpc>
                <a:spcPct val="95000"/>
              </a:lnSpc>
              <a:spcBef>
                <a:spcPts val="0"/>
              </a:spcBef>
              <a:spcAft>
                <a:spcPts val="0"/>
              </a:spcAft>
              <a:buClr>
                <a:schemeClr val="dk1"/>
              </a:buClr>
              <a:buSzPts val="1200"/>
              <a:buChar char="•"/>
            </a:pPr>
            <a:r>
              <a:rPr lang="en-GB"/>
              <a:t>BVF Capability: Customer Interaction &gt; Multi-Touch Attribution</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6000" name="Shape 6000"/>
        <p:cNvGrpSpPr/>
        <p:nvPr/>
      </p:nvGrpSpPr>
      <p:grpSpPr>
        <a:xfrm>
          <a:off x="0" y="0"/>
          <a:ext cx="0" cy="0"/>
          <a:chOff x="0" y="0"/>
          <a:chExt cx="0" cy="0"/>
        </a:xfrm>
      </p:grpSpPr>
      <p:sp>
        <p:nvSpPr>
          <p:cNvPr id="6001" name="Notes Placeholder"/>
          <p:cNvSpPr>
            <a:spLocks noGrp="1"/>
          </p:cNvSpPr>
          <p:nvPr>
            <p:ph type="body" idx="1"/>
          </p:nvPr>
        </p:nvSpPr>
        <p:spPr/>
        <p:txBody>
          <a:bodyPr/>
          <a:lstStyle/>
          <a:p>
            <a:r>
              <a:rPr lang="en-GB" sz="1200"/>
              <a:t>USE CASE PORTFOLIO DASHBOARD</a:t>
            </a:r>
          </a:p>
          <a:p>
            <a:r>
              <a:rPr lang="en-GB" sz="1200"/>
              <a:t>65 use cases across 4 Marketing &amp; CX domains, all enriched with Pakistan banking context.</a:t>
            </a:r>
          </a:p>
          <a:p>
            <a:r>
              <a:rPr lang="en-GB" sz="1200"/>
              <a:t>IMMEDIATE PRIORITY (0-6 months): Transaction Classification and CASA Silent Churn are the two highest-impact use cases for Pakistan banks.</a:t>
            </a:r>
          </a:p>
          <a:p>
            <a:r>
              <a:rPr lang="en-GB" sz="1200"/>
              <a:t>Transaction Classification: enables salary detection for 70% informal workforce, unlocking lending.</a:t>
            </a:r>
          </a:p>
          <a:p>
            <a:r>
              <a:rPr lang="en-GB" sz="1200"/>
              <a:t>CASA Silent Churn: PKR 500B+ at risk industry-wide in silent balance rundown.</a:t>
            </a:r>
          </a:p>
          <a:p>
            <a:r>
              <a:rPr lang="en-GB" sz="1200"/>
              <a:t>FSDM: Full Party, Transaction, Event, Product, Channel, Campaign entity domains required.</a:t>
            </a:r>
          </a:p>
          <a:p>
            <a:r>
              <a:rPr lang="en-GB" sz="1200"/>
              <a:t>BACR: ~110 maturity assessment questions across all 4 domains.</a:t>
            </a:r>
          </a:p>
        </p:txBody>
      </p:sp>
    </p:spTree>
  </p:cSld>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6000" name="Shape 6000"/>
        <p:cNvGrpSpPr/>
        <p:nvPr/>
      </p:nvGrpSpPr>
      <p:grpSpPr>
        <a:xfrm>
          <a:off x="0" y="0"/>
          <a:ext cx="0" cy="0"/>
          <a:chOff x="0" y="0"/>
          <a:chExt cx="0" cy="0"/>
        </a:xfrm>
      </p:grpSpPr>
      <p:sp>
        <p:nvSpPr>
          <p:cNvPr id="6001" name="Notes Placeholder"/>
          <p:cNvSpPr>
            <a:spLocks noGrp="1"/>
          </p:cNvSpPr>
          <p:nvPr>
            <p:ph type="body" idx="1"/>
          </p:nvPr>
        </p:nvSpPr>
        <p:spPr/>
        <p:txBody>
          <a:bodyPr/>
          <a:lstStyle/>
          <a:p>
            <a:r>
              <a:rPr lang="en-GB" sz="1200"/>
              <a:t>PAKISTAN USE CASE LANDSCAPE</a:t>
            </a:r>
          </a:p>
          <a:p>
            <a:r>
              <a:rPr lang="en-GB" sz="1200"/>
              <a:t>The 6 highest-impact use cases for Pakistan banking:</a:t>
            </a:r>
          </a:p>
          <a:p>
            <a:r>
              <a:rPr lang="en-GB" sz="1200"/>
              <a:t>1. CASA Silent Churn — biggest unaddressed revenue leak, PKR 500B+ at risk</a:t>
            </a:r>
          </a:p>
          <a:p>
            <a:r>
              <a:rPr lang="en-GB" sz="1200"/>
              <a:t>2. Transaction Classification — salary detection for informal workforce lending</a:t>
            </a:r>
          </a:p>
          <a:p>
            <a:r>
              <a:rPr lang="en-GB" sz="1200"/>
              <a:t>3. Customer Churn Model — fintech competition (SadaPay, NayaPay) accelerating</a:t>
            </a:r>
          </a:p>
          <a:p>
            <a:r>
              <a:rPr lang="en-GB" sz="1200"/>
              <a:t>4. Cross-Sell Targeting — 1.8 vs 4-5 products/customer = massive gap</a:t>
            </a:r>
          </a:p>
          <a:p>
            <a:r>
              <a:rPr lang="en-GB" sz="1200"/>
              <a:t>5. Contact Management — SMS fatigue destroying response rates</a:t>
            </a:r>
          </a:p>
          <a:p>
            <a:r>
              <a:rPr lang="en-GB" sz="1200"/>
              <a:t>6. Customer Network Analysis — CNIC enables unique household mapping</a:t>
            </a:r>
          </a:p>
          <a:p>
            <a:r>
              <a:rPr lang="en-GB" sz="1200"/>
              <a:t>Pakistan-specific data sources: CNIC, RAAST, IBFT, 1Link, ECIB, NADRA, mobile wallets.</a:t>
            </a:r>
          </a:p>
          <a:p>
            <a:r>
              <a:rPr lang="en-GB" sz="1200"/>
              <a:t>FSDM provides the canonical data model enabling all 65 use cases.</a:t>
            </a:r>
          </a:p>
        </p:txBody>
      </p:sp>
    </p:spTree>
  </p:cSld>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6000" name="Shape 6000"/>
        <p:cNvGrpSpPr/>
        <p:nvPr/>
      </p:nvGrpSpPr>
      <p:grpSpPr>
        <a:xfrm>
          <a:off x="0" y="0"/>
          <a:ext cx="0" cy="0"/>
          <a:chOff x="0" y="0"/>
          <a:chExt cx="0" cy="0"/>
        </a:xfrm>
      </p:grpSpPr>
      <p:sp>
        <p:nvSpPr>
          <p:cNvPr id="6001" name="Notes Placeholder"/>
          <p:cNvSpPr>
            <a:spLocks noGrp="1"/>
          </p:cNvSpPr>
          <p:nvPr>
            <p:ph type="body" idx="1"/>
          </p:nvPr>
        </p:nvSpPr>
        <p:spPr/>
        <p:txBody>
          <a:bodyPr/>
          <a:lstStyle/>
          <a:p>
            <a:r>
              <a:rPr lang="en-GB" sz="1200"/>
              <a:t>IMPLEMENTATION ROADMAP</a:t>
            </a:r>
          </a:p>
          <a:p>
            <a:r>
              <a:rPr lang="en-GB" sz="1200"/>
              <a:t>Phase 1 (0-6 months): 8 foundation use cases using existing EDW + RAAST/IBFT feeds. PKR 40-80M investment.</a:t>
            </a:r>
          </a:p>
          <a:p>
            <a:r>
              <a:rPr lang="en-GB" sz="1200"/>
              <a:t>Quick wins: salary detection from transaction classification, 20% dormant reactivation, 30% complaint prediction.</a:t>
            </a:r>
          </a:p>
          <a:p>
            <a:r>
              <a:rPr lang="en-GB" sz="1200"/>
              <a:t>Phase 2 (6-18 months): 15 intelligence use cases adding mobile app and call center data. PKR 100-200M.</a:t>
            </a:r>
          </a:p>
          <a:p>
            <a:r>
              <a:rPr lang="en-GB" sz="1200"/>
              <a:t>Key outcome: cross-sell response rate from &lt;5% to 8-12%, products/customer from 1.8 to 2.5.</a:t>
            </a:r>
          </a:p>
          <a:p>
            <a:r>
              <a:rPr lang="en-GB" sz="1200"/>
              <a:t>Phase 3 (18-36 months): 12 advanced use cases with real-time and external data. PKR 150-300M.</a:t>
            </a:r>
          </a:p>
          <a:p>
            <a:r>
              <a:rPr lang="en-GB" sz="1200"/>
              <a:t>Target: real-time NBA, ML churn prediction, location-based offers, social network analysis.</a:t>
            </a:r>
          </a:p>
          <a:p>
            <a:r>
              <a:rPr lang="en-GB" sz="1200"/>
              <a:t>Total 36-month investment: PKR 290-580M for 35 priority use cases.</a:t>
            </a:r>
          </a:p>
          <a:p>
            <a:r>
              <a:rPr lang="en-GB" sz="1200"/>
              <a:t>FSDM: All phases built on erwin Financial Services Data Model — 180+ entities.</a:t>
            </a: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lternate Title Slide" showMasterSp="0">
  <p:cSld name="1_Alternate Title Slide">
    <p:spTree>
      <p:nvGrpSpPr>
        <p:cNvPr id="20" name="Shape 20"/>
        <p:cNvGrpSpPr/>
        <p:nvPr/>
      </p:nvGrpSpPr>
      <p:grpSpPr>
        <a:xfrm>
          <a:off x="0" y="0"/>
          <a:ext cx="0" cy="0"/>
          <a:chOff x="0" y="0"/>
          <a:chExt cx="0" cy="0"/>
        </a:xfrm>
      </p:grpSpPr>
      <p:pic>
        <p:nvPicPr>
          <p:cNvPr id="21" name="Google Shape;21;p2"/>
          <p:cNvPicPr preferRelativeResize="0"/>
          <p:nvPr/>
        </p:nvPicPr>
        <p:blipFill rotWithShape="1">
          <a:blip r:embed="rId2">
            <a:alphaModFix/>
          </a:blip>
          <a:srcRect b="-80" l="5141" r="6732" t="25561"/>
          <a:stretch/>
        </p:blipFill>
        <p:spPr>
          <a:xfrm>
            <a:off x="0" y="-5583"/>
            <a:ext cx="9144000" cy="5154666"/>
          </a:xfrm>
          <a:prstGeom prst="rect">
            <a:avLst/>
          </a:prstGeom>
          <a:noFill/>
          <a:ln>
            <a:noFill/>
          </a:ln>
        </p:spPr>
      </p:pic>
      <p:sp>
        <p:nvSpPr>
          <p:cNvPr id="22" name="Google Shape;22;p2"/>
          <p:cNvSpPr/>
          <p:nvPr/>
        </p:nvSpPr>
        <p:spPr>
          <a:xfrm>
            <a:off x="457200" y="-9525"/>
            <a:ext cx="24384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23" name="Google Shape;23;p2"/>
          <p:cNvGrpSpPr/>
          <p:nvPr/>
        </p:nvGrpSpPr>
        <p:grpSpPr>
          <a:xfrm>
            <a:off x="994118" y="305466"/>
            <a:ext cx="1362335" cy="305001"/>
            <a:chOff x="5137" y="4139"/>
            <a:chExt cx="335" cy="75"/>
          </a:xfrm>
        </p:grpSpPr>
        <p:sp>
          <p:nvSpPr>
            <p:cNvPr id="24" name="Google Shape;24;p2"/>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 name="Google Shape;25;p2"/>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26" name="Google Shape;26;p2"/>
          <p:cNvSpPr txBox="1"/>
          <p:nvPr>
            <p:ph idx="1" type="body"/>
          </p:nvPr>
        </p:nvSpPr>
        <p:spPr>
          <a:xfrm>
            <a:off x="0" y="2915344"/>
            <a:ext cx="9144000" cy="1065420"/>
          </a:xfrm>
          <a:prstGeom prst="rect">
            <a:avLst/>
          </a:prstGeom>
          <a:solidFill>
            <a:schemeClr val="accent1">
              <a:alpha val="89803"/>
            </a:schemeClr>
          </a:solidFill>
          <a:ln>
            <a:noFill/>
          </a:ln>
        </p:spPr>
        <p:txBody>
          <a:bodyPr anchorCtr="1" anchor="ctr" bIns="137150" lIns="457200" spcFirstLastPara="1" rIns="457200" wrap="square" tIns="137150">
            <a:noAutofit/>
          </a:bodyPr>
          <a:lstStyle>
            <a:lvl1pPr indent="-355600" lvl="0" marL="457200" algn="ctr">
              <a:lnSpc>
                <a:spcPct val="85000"/>
              </a:lnSpc>
              <a:spcBef>
                <a:spcPts val="200"/>
              </a:spcBef>
              <a:spcAft>
                <a:spcPts val="0"/>
              </a:spcAft>
              <a:buClr>
                <a:schemeClr val="lt1"/>
              </a:buClr>
              <a:buSzPts val="2000"/>
              <a:buFont typeface="Arial"/>
              <a:buChar char="​"/>
              <a:defRPr b="0" sz="2000">
                <a:solidFill>
                  <a:schemeClr val="lt1"/>
                </a:solidFill>
              </a:defRPr>
            </a:lvl1pPr>
            <a:lvl2pPr indent="-317500" lvl="1" marL="914400" algn="ctr">
              <a:lnSpc>
                <a:spcPct val="85000"/>
              </a:lnSpc>
              <a:spcBef>
                <a:spcPts val="200"/>
              </a:spcBef>
              <a:spcAft>
                <a:spcPts val="0"/>
              </a:spcAft>
              <a:buClr>
                <a:schemeClr val="lt1"/>
              </a:buClr>
              <a:buSzPts val="1400"/>
              <a:buFont typeface="Arial"/>
              <a:buChar char="​"/>
              <a:defRPr b="0" sz="1400">
                <a:solidFill>
                  <a:schemeClr val="lt1"/>
                </a:solidFill>
              </a:defRPr>
            </a:lvl2pPr>
            <a:lvl3pPr indent="-330200" lvl="2" marL="1371600" algn="ctr">
              <a:lnSpc>
                <a:spcPct val="85000"/>
              </a:lnSpc>
              <a:spcBef>
                <a:spcPts val="600"/>
              </a:spcBef>
              <a:spcAft>
                <a:spcPts val="0"/>
              </a:spcAft>
              <a:buClr>
                <a:schemeClr val="lt1"/>
              </a:buClr>
              <a:buSzPts val="1600"/>
              <a:buFont typeface="Arial"/>
              <a:buChar char="​"/>
              <a:defRPr b="1" sz="1600">
                <a:solidFill>
                  <a:schemeClr val="lt1"/>
                </a:solidFill>
              </a:defRPr>
            </a:lvl3pPr>
            <a:lvl4pPr indent="-317500" lvl="3" marL="1828800" algn="ctr">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ctr">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7" name="Shape 27"/>
        <p:cNvGrpSpPr/>
        <p:nvPr/>
      </p:nvGrpSpPr>
      <p:grpSpPr>
        <a:xfrm>
          <a:off x="0" y="0"/>
          <a:ext cx="0" cy="0"/>
          <a:chOff x="0" y="0"/>
          <a:chExt cx="0" cy="0"/>
        </a:xfrm>
      </p:grpSpPr>
      <p:sp>
        <p:nvSpPr>
          <p:cNvPr id="28" name="Google Shape;28;p3"/>
          <p:cNvSpPr txBox="1"/>
          <p:nvPr>
            <p:ph idx="1" type="body"/>
          </p:nvPr>
        </p:nvSpPr>
        <p:spPr>
          <a:xfrm>
            <a:off x="457200" y="1115806"/>
            <a:ext cx="8229600" cy="3507581"/>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29" name="Google Shape;29;p3"/>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0" name="Google Shape;30;p3"/>
          <p:cNvSpPr txBox="1"/>
          <p:nvPr>
            <p:ph type="title"/>
          </p:nvPr>
        </p:nvSpPr>
        <p:spPr>
          <a:xfrm>
            <a:off x="457200" y="128588"/>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
          <p:cNvSpPr txBox="1"/>
          <p:nvPr>
            <p:ph idx="3"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32" name="Shape 32"/>
        <p:cNvGrpSpPr/>
        <p:nvPr/>
      </p:nvGrpSpPr>
      <p:grpSpPr>
        <a:xfrm>
          <a:off x="0" y="0"/>
          <a:ext cx="0" cy="0"/>
          <a:chOff x="0" y="0"/>
          <a:chExt cx="0" cy="0"/>
        </a:xfrm>
      </p:grpSpPr>
      <p:sp>
        <p:nvSpPr>
          <p:cNvPr id="33" name="Google Shape;33;p4"/>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a:lvl1pPr>
            <a:lvl2pPr indent="-342900" lvl="1" marL="914400" algn="l">
              <a:lnSpc>
                <a:spcPct val="85000"/>
              </a:lnSpc>
              <a:spcBef>
                <a:spcPts val="200"/>
              </a:spcBef>
              <a:spcAft>
                <a:spcPts val="0"/>
              </a:spcAft>
              <a:buClr>
                <a:schemeClr val="dk1"/>
              </a:buClr>
              <a:buSzPts val="1800"/>
              <a:buChar char="–"/>
              <a:defRPr/>
            </a:lvl2pPr>
            <a:lvl3pPr indent="-342900" lvl="2" marL="1371600" algn="l">
              <a:lnSpc>
                <a:spcPct val="85000"/>
              </a:lnSpc>
              <a:spcBef>
                <a:spcPts val="2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4" name="Google Shape;34;p4"/>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Subtitle Only">
  <p:cSld name="1_Title and Subtitle Only">
    <p:spTree>
      <p:nvGrpSpPr>
        <p:cNvPr id="35" name="Shape 35"/>
        <p:cNvGrpSpPr/>
        <p:nvPr/>
      </p:nvGrpSpPr>
      <p:grpSpPr>
        <a:xfrm>
          <a:off x="0" y="0"/>
          <a:ext cx="0" cy="0"/>
          <a:chOff x="0" y="0"/>
          <a:chExt cx="0" cy="0"/>
        </a:xfrm>
      </p:grpSpPr>
      <p:sp>
        <p:nvSpPr>
          <p:cNvPr id="36" name="Google Shape;36;p5"/>
          <p:cNvSpPr txBox="1"/>
          <p:nvPr>
            <p:ph idx="1"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7" name="Google Shape;37;p5"/>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8" name="Google Shape;38;p5"/>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39" name="Shape 39"/>
        <p:cNvGrpSpPr/>
        <p:nvPr/>
      </p:nvGrpSpPr>
      <p:grpSpPr>
        <a:xfrm>
          <a:off x="0" y="0"/>
          <a:ext cx="0" cy="0"/>
          <a:chOff x="0" y="0"/>
          <a:chExt cx="0" cy="0"/>
        </a:xfrm>
      </p:grpSpPr>
      <p:sp>
        <p:nvSpPr>
          <p:cNvPr id="40" name="Google Shape;40;p6"/>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42" name="Google Shape;42;p6"/>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43" name="Shape 43"/>
        <p:cNvGrpSpPr/>
        <p:nvPr/>
      </p:nvGrpSpPr>
      <p:grpSpPr>
        <a:xfrm>
          <a:off x="0" y="0"/>
          <a:ext cx="0" cy="0"/>
          <a:chOff x="0" y="0"/>
          <a:chExt cx="0" cy="0"/>
        </a:xfrm>
      </p:grpSpPr>
      <p:sp>
        <p:nvSpPr>
          <p:cNvPr id="44" name="Google Shape;44;p7"/>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46" name="Google Shape;46;p7"/>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7" name="Shape 47"/>
        <p:cNvGrpSpPr/>
        <p:nvPr/>
      </p:nvGrpSpPr>
      <p:grpSpPr>
        <a:xfrm>
          <a:off x="0" y="0"/>
          <a:ext cx="0" cy="0"/>
          <a:chOff x="0" y="0"/>
          <a:chExt cx="0" cy="0"/>
        </a:xfrm>
      </p:grpSpPr>
      <p:sp>
        <p:nvSpPr>
          <p:cNvPr id="48" name="Google Shape;48;p8"/>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
          <p:cNvSpPr txBox="1"/>
          <p:nvPr>
            <p:ph idx="1" type="body"/>
          </p:nvPr>
        </p:nvSpPr>
        <p:spPr>
          <a:xfrm>
            <a:off x="457200" y="865188"/>
            <a:ext cx="8229600" cy="3694997"/>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0" name="Google Shape;50;p8"/>
          <p:cNvSpPr txBox="1"/>
          <p:nvPr>
            <p:ph idx="2" type="body"/>
          </p:nvPr>
        </p:nvSpPr>
        <p:spPr>
          <a:xfrm>
            <a:off x="3297994" y="492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51" name="Shape 51"/>
        <p:cNvGrpSpPr/>
        <p:nvPr/>
      </p:nvGrpSpPr>
      <p:grpSpPr>
        <a:xfrm>
          <a:off x="0" y="0"/>
          <a:ext cx="0" cy="0"/>
          <a:chOff x="0" y="0"/>
          <a:chExt cx="0" cy="0"/>
        </a:xfrm>
      </p:grpSpPr>
      <p:sp>
        <p:nvSpPr>
          <p:cNvPr id="52" name="Google Shape;52;p9"/>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4" name="Google Shape;54;p9"/>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showMasterSp="0">
  <p:cSld name="Segue">
    <p:bg>
      <p:bgPr>
        <a:solidFill>
          <a:schemeClr val="accent1"/>
        </a:solidFill>
      </p:bgPr>
    </p:bg>
    <p:spTree>
      <p:nvGrpSpPr>
        <p:cNvPr id="55" name="Shape 55"/>
        <p:cNvGrpSpPr/>
        <p:nvPr/>
      </p:nvGrpSpPr>
      <p:grpSpPr>
        <a:xfrm>
          <a:off x="0" y="0"/>
          <a:ext cx="0" cy="0"/>
          <a:chOff x="0" y="0"/>
          <a:chExt cx="0" cy="0"/>
        </a:xfrm>
      </p:grpSpPr>
      <p:sp>
        <p:nvSpPr>
          <p:cNvPr id="56" name="Google Shape;56;p10"/>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7" name="Google Shape;57;p10"/>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D8D8D8"/>
                </a:solidFill>
                <a:latin typeface="Century Gothic"/>
                <a:ea typeface="Century Gothic"/>
                <a:cs typeface="Century Gothic"/>
                <a:sym typeface="Century Gothic"/>
              </a:rPr>
              <a:t>‹#›</a:t>
            </a:fld>
            <a:endParaRPr sz="850">
              <a:solidFill>
                <a:srgbClr val="D8D8D8"/>
              </a:solidFill>
              <a:latin typeface="Century Gothic"/>
              <a:ea typeface="Century Gothic"/>
              <a:cs typeface="Century Gothic"/>
              <a:sym typeface="Century Gothic"/>
            </a:endParaRPr>
          </a:p>
        </p:txBody>
      </p:sp>
      <p:sp>
        <p:nvSpPr>
          <p:cNvPr id="58" name="Google Shape;58;p10"/>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chemeClr val="lt1"/>
              </a:buClr>
              <a:buSzPts val="700"/>
              <a:buFont typeface="Century Gothic"/>
              <a:buNone/>
              <a:defRPr b="1" sz="700">
                <a:solidFill>
                  <a:schemeClr val="lt1"/>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Subtitle Only">
  <p:cSld name="2_Title and Subtitle Only">
    <p:spTree>
      <p:nvGrpSpPr>
        <p:cNvPr id="59" name="Shape 59"/>
        <p:cNvGrpSpPr/>
        <p:nvPr/>
      </p:nvGrpSpPr>
      <p:grpSpPr>
        <a:xfrm>
          <a:off x="0" y="0"/>
          <a:ext cx="0" cy="0"/>
          <a:chOff x="0" y="0"/>
          <a:chExt cx="0" cy="0"/>
        </a:xfrm>
      </p:grpSpPr>
      <p:sp>
        <p:nvSpPr>
          <p:cNvPr id="60" name="Google Shape;60;p11"/>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Subtitle Only">
  <p:cSld name="4_Title and Subtitle Only">
    <p:spTree>
      <p:nvGrpSpPr>
        <p:cNvPr id="61" name="Shape 61"/>
        <p:cNvGrpSpPr/>
        <p:nvPr/>
      </p:nvGrpSpPr>
      <p:grpSpPr>
        <a:xfrm>
          <a:off x="0" y="0"/>
          <a:ext cx="0" cy="0"/>
          <a:chOff x="0" y="0"/>
          <a:chExt cx="0" cy="0"/>
        </a:xfrm>
      </p:grpSpPr>
      <p:sp>
        <p:nvSpPr>
          <p:cNvPr id="62" name="Google Shape;62;p12"/>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Image">
  <p:cSld name="Content Image">
    <p:spTree>
      <p:nvGrpSpPr>
        <p:cNvPr id="63" name="Shape 63"/>
        <p:cNvGrpSpPr/>
        <p:nvPr/>
      </p:nvGrpSpPr>
      <p:grpSpPr>
        <a:xfrm>
          <a:off x="0" y="0"/>
          <a:ext cx="0" cy="0"/>
          <a:chOff x="0" y="0"/>
          <a:chExt cx="0" cy="0"/>
        </a:xfrm>
      </p:grpSpPr>
      <p:sp>
        <p:nvSpPr>
          <p:cNvPr id="64" name="Google Shape;64;p13"/>
          <p:cNvSpPr/>
          <p:nvPr>
            <p:ph idx="2" type="pic"/>
          </p:nvPr>
        </p:nvSpPr>
        <p:spPr>
          <a:xfrm>
            <a:off x="4800600" y="1216152"/>
            <a:ext cx="3886200" cy="3069714"/>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65" name="Google Shape;65;p13"/>
          <p:cNvSpPr txBox="1"/>
          <p:nvPr>
            <p:ph idx="1" type="body"/>
          </p:nvPr>
        </p:nvSpPr>
        <p:spPr>
          <a:xfrm>
            <a:off x="457200" y="1216152"/>
            <a:ext cx="3886200" cy="3350596"/>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66" name="Google Shape;66;p13"/>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67" name="Google Shape;67;p13"/>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68" name="Shape 68"/>
        <p:cNvGrpSpPr/>
        <p:nvPr/>
      </p:nvGrpSpPr>
      <p:grpSpPr>
        <a:xfrm>
          <a:off x="0" y="0"/>
          <a:ext cx="0" cy="0"/>
          <a:chOff x="0" y="0"/>
          <a:chExt cx="0" cy="0"/>
        </a:xfrm>
      </p:grpSpPr>
      <p:sp>
        <p:nvSpPr>
          <p:cNvPr id="69" name="Google Shape;69;p14"/>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a:lvl1pPr>
            <a:lvl2pPr indent="-342900" lvl="1" marL="914400" algn="l">
              <a:lnSpc>
                <a:spcPct val="85000"/>
              </a:lnSpc>
              <a:spcBef>
                <a:spcPts val="200"/>
              </a:spcBef>
              <a:spcAft>
                <a:spcPts val="0"/>
              </a:spcAft>
              <a:buClr>
                <a:schemeClr val="dk1"/>
              </a:buClr>
              <a:buSzPts val="1800"/>
              <a:buChar char="–"/>
              <a:defRPr/>
            </a:lvl2pPr>
            <a:lvl3pPr indent="-342900" lvl="2" marL="1371600" algn="l">
              <a:lnSpc>
                <a:spcPct val="85000"/>
              </a:lnSpc>
              <a:spcBef>
                <a:spcPts val="2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0" name="Google Shape;70;p14"/>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accent1"/>
        </a:solidFill>
      </p:bgPr>
    </p:bg>
    <p:spTree>
      <p:nvGrpSpPr>
        <p:cNvPr id="71" name="Shape 71"/>
        <p:cNvGrpSpPr/>
        <p:nvPr/>
      </p:nvGrpSpPr>
      <p:grpSpPr>
        <a:xfrm>
          <a:off x="0" y="0"/>
          <a:ext cx="0" cy="0"/>
          <a:chOff x="0" y="0"/>
          <a:chExt cx="0" cy="0"/>
        </a:xfrm>
      </p:grpSpPr>
      <p:sp>
        <p:nvSpPr>
          <p:cNvPr id="72" name="Google Shape;72;p15"/>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3" name="Google Shape;73;p15"/>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gue" showMasterSp="0">
  <p:cSld name="2_Segue">
    <p:bg>
      <p:bgPr>
        <a:solidFill>
          <a:schemeClr val="accent1"/>
        </a:solidFill>
      </p:bgPr>
    </p:bg>
    <p:spTree>
      <p:nvGrpSpPr>
        <p:cNvPr id="74" name="Shape 74"/>
        <p:cNvGrpSpPr/>
        <p:nvPr/>
      </p:nvGrpSpPr>
      <p:grpSpPr>
        <a:xfrm>
          <a:off x="0" y="0"/>
          <a:ext cx="0" cy="0"/>
          <a:chOff x="0" y="0"/>
          <a:chExt cx="0" cy="0"/>
        </a:xfrm>
      </p:grpSpPr>
      <p:sp>
        <p:nvSpPr>
          <p:cNvPr id="75" name="Google Shape;75;p16"/>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6" name="Google Shape;76;p16"/>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Text, and 2 Content">
  <p:cSld name="1_Title, Text, and 2 Content">
    <p:spTree>
      <p:nvGrpSpPr>
        <p:cNvPr id="77" name="Shape 77"/>
        <p:cNvGrpSpPr/>
        <p:nvPr/>
      </p:nvGrpSpPr>
      <p:grpSpPr>
        <a:xfrm>
          <a:off x="0" y="0"/>
          <a:ext cx="0" cy="0"/>
          <a:chOff x="0" y="0"/>
          <a:chExt cx="0" cy="0"/>
        </a:xfrm>
      </p:grpSpPr>
      <p:sp>
        <p:nvSpPr>
          <p:cNvPr id="78" name="Google Shape;78;p17"/>
          <p:cNvSpPr txBox="1"/>
          <p:nvPr>
            <p:ph type="title"/>
          </p:nvPr>
        </p:nvSpPr>
        <p:spPr>
          <a:xfrm>
            <a:off x="466725" y="3747"/>
            <a:ext cx="5087938" cy="61760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7"/>
          <p:cNvSpPr/>
          <p:nvPr/>
        </p:nvSpPr>
        <p:spPr>
          <a:xfrm>
            <a:off x="0" y="777875"/>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t/>
            </a:r>
            <a:endParaRPr b="0" i="0" sz="1400" u="none" cap="none" strike="noStrike">
              <a:solidFill>
                <a:schemeClr val="lt1"/>
              </a:solidFill>
              <a:latin typeface="Century Gothic"/>
              <a:ea typeface="Century Gothic"/>
              <a:cs typeface="Century Gothic"/>
              <a:sym typeface="Century Gothic"/>
            </a:endParaRPr>
          </a:p>
        </p:txBody>
      </p:sp>
      <p:sp>
        <p:nvSpPr>
          <p:cNvPr id="80" name="Google Shape;80;p17"/>
          <p:cNvSpPr txBox="1"/>
          <p:nvPr>
            <p:ph idx="1" type="body"/>
          </p:nvPr>
        </p:nvSpPr>
        <p:spPr>
          <a:xfrm>
            <a:off x="449263" y="2201863"/>
            <a:ext cx="4866449" cy="2652712"/>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600"/>
              </a:spcBef>
              <a:spcAft>
                <a:spcPts val="0"/>
              </a:spcAft>
              <a:buClr>
                <a:schemeClr val="dk2"/>
              </a:buClr>
              <a:buSzPts val="1800"/>
              <a:buNone/>
              <a:defRPr sz="1800">
                <a:solidFill>
                  <a:schemeClr val="dk2"/>
                </a:solidFill>
              </a:defRPr>
            </a:lvl1pPr>
            <a:lvl2pPr indent="-317500" lvl="1" marL="914400" algn="l">
              <a:lnSpc>
                <a:spcPct val="100000"/>
              </a:lnSpc>
              <a:spcBef>
                <a:spcPts val="200"/>
              </a:spcBef>
              <a:spcAft>
                <a:spcPts val="0"/>
              </a:spcAft>
              <a:buClr>
                <a:schemeClr val="dk1"/>
              </a:buClr>
              <a:buSzPts val="1400"/>
              <a:buFont typeface="Arial"/>
              <a:buChar char="•"/>
              <a:defRPr sz="1400"/>
            </a:lvl2pPr>
            <a:lvl3pPr indent="-342900" lvl="2" marL="1371600" algn="l">
              <a:lnSpc>
                <a:spcPct val="85000"/>
              </a:lnSpc>
              <a:spcBef>
                <a:spcPts val="6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81" name="Google Shape;81;p17"/>
          <p:cNvSpPr txBox="1"/>
          <p:nvPr>
            <p:ph idx="2" type="body"/>
          </p:nvPr>
        </p:nvSpPr>
        <p:spPr>
          <a:xfrm>
            <a:off x="449262" y="904312"/>
            <a:ext cx="6622097" cy="1029264"/>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600"/>
              </a:spcBef>
              <a:spcAft>
                <a:spcPts val="0"/>
              </a:spcAft>
              <a:buClr>
                <a:schemeClr val="lt1"/>
              </a:buClr>
              <a:buSzPts val="1800"/>
              <a:buNone/>
              <a:defRPr sz="1800">
                <a:solidFill>
                  <a:schemeClr val="lt1"/>
                </a:solidFill>
              </a:defRPr>
            </a:lvl1pPr>
            <a:lvl2pPr indent="-342900" lvl="1" marL="914400" algn="l">
              <a:lnSpc>
                <a:spcPct val="85000"/>
              </a:lnSpc>
              <a:spcBef>
                <a:spcPts val="200"/>
              </a:spcBef>
              <a:spcAft>
                <a:spcPts val="0"/>
              </a:spcAft>
              <a:buClr>
                <a:schemeClr val="dk1"/>
              </a:buClr>
              <a:buSzPts val="1800"/>
              <a:buChar char="–"/>
              <a:defRPr sz="1800"/>
            </a:lvl2pPr>
            <a:lvl3pPr indent="-342900" lvl="2" marL="1371600" algn="l">
              <a:lnSpc>
                <a:spcPct val="85000"/>
              </a:lnSpc>
              <a:spcBef>
                <a:spcPts val="200"/>
              </a:spcBef>
              <a:spcAft>
                <a:spcPts val="0"/>
              </a:spcAft>
              <a:buClr>
                <a:schemeClr val="dk1"/>
              </a:buClr>
              <a:buSzPts val="1800"/>
              <a:buChar char="-"/>
              <a:defRPr sz="18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ase Study_Option2">
  <p:cSld name="2_Case Study_Option2">
    <p:spTree>
      <p:nvGrpSpPr>
        <p:cNvPr id="82" name="Shape 82"/>
        <p:cNvGrpSpPr/>
        <p:nvPr/>
      </p:nvGrpSpPr>
      <p:grpSpPr>
        <a:xfrm>
          <a:off x="0" y="0"/>
          <a:ext cx="0" cy="0"/>
          <a:chOff x="0" y="0"/>
          <a:chExt cx="0" cy="0"/>
        </a:xfrm>
      </p:grpSpPr>
      <p:sp>
        <p:nvSpPr>
          <p:cNvPr id="83" name="Google Shape;83;p18"/>
          <p:cNvSpPr txBox="1"/>
          <p:nvPr>
            <p:ph idx="1" type="body"/>
          </p:nvPr>
        </p:nvSpPr>
        <p:spPr>
          <a:xfrm>
            <a:off x="3495437" y="128016"/>
            <a:ext cx="5648693" cy="914400"/>
          </a:xfrm>
          <a:prstGeom prst="rect">
            <a:avLst/>
          </a:prstGeom>
          <a:solidFill>
            <a:srgbClr val="0079DB"/>
          </a:solidFill>
          <a:ln>
            <a:noFill/>
          </a:ln>
        </p:spPr>
        <p:txBody>
          <a:bodyPr anchorCtr="0" anchor="b" bIns="227825" lIns="227825" spcFirstLastPara="1" rIns="455800" wrap="square" tIns="136775">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84" name="Google Shape;84;p18"/>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85" name="Google Shape;85;p18"/>
          <p:cNvSpPr txBox="1"/>
          <p:nvPr>
            <p:ph idx="3" type="body"/>
          </p:nvPr>
        </p:nvSpPr>
        <p:spPr>
          <a:xfrm>
            <a:off x="3511296" y="1152143"/>
            <a:ext cx="5164694" cy="3511296"/>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400"/>
              </a:spcBef>
              <a:spcAft>
                <a:spcPts val="0"/>
              </a:spcAft>
              <a:buClr>
                <a:schemeClr val="dk1"/>
              </a:buClr>
              <a:buSzPts val="2000"/>
              <a:buChar char="•"/>
              <a:defRPr sz="2000"/>
            </a:lvl1pPr>
            <a:lvl2pPr indent="-342900" lvl="1" marL="914400" algn="l">
              <a:lnSpc>
                <a:spcPct val="85000"/>
              </a:lnSpc>
              <a:spcBef>
                <a:spcPts val="200"/>
              </a:spcBef>
              <a:spcAft>
                <a:spcPts val="0"/>
              </a:spcAft>
              <a:buClr>
                <a:schemeClr val="dk1"/>
              </a:buClr>
              <a:buSzPts val="1800"/>
              <a:buChar char="–"/>
              <a:defRPr sz="1800"/>
            </a:lvl2pPr>
            <a:lvl3pPr indent="-330200" lvl="2" marL="1371600" algn="l">
              <a:lnSpc>
                <a:spcPct val="85000"/>
              </a:lnSpc>
              <a:spcBef>
                <a:spcPts val="200"/>
              </a:spcBef>
              <a:spcAft>
                <a:spcPts val="0"/>
              </a:spcAft>
              <a:buClr>
                <a:schemeClr val="dk1"/>
              </a:buClr>
              <a:buSzPts val="1600"/>
              <a:buChar char="-"/>
              <a:defRPr sz="16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Slide" showMasterSp="0">
  <p:cSld name="Alternate Title Slide">
    <p:spTree>
      <p:nvGrpSpPr>
        <p:cNvPr id="86" name="Shape 86"/>
        <p:cNvGrpSpPr/>
        <p:nvPr/>
      </p:nvGrpSpPr>
      <p:grpSpPr>
        <a:xfrm>
          <a:off x="0" y="0"/>
          <a:ext cx="0" cy="0"/>
          <a:chOff x="0" y="0"/>
          <a:chExt cx="0" cy="0"/>
        </a:xfrm>
      </p:grpSpPr>
      <p:sp>
        <p:nvSpPr>
          <p:cNvPr id="87" name="Google Shape;87;p19"/>
          <p:cNvSpPr txBox="1"/>
          <p:nvPr>
            <p:ph idx="1" type="body"/>
          </p:nvPr>
        </p:nvSpPr>
        <p:spPr>
          <a:xfrm>
            <a:off x="0" y="1765763"/>
            <a:ext cx="9144000" cy="1611980"/>
          </a:xfrm>
          <a:prstGeom prst="rect">
            <a:avLst/>
          </a:prstGeom>
          <a:solidFill>
            <a:schemeClr val="accent1">
              <a:alpha val="89803"/>
            </a:schemeClr>
          </a:solidFill>
          <a:ln>
            <a:noFill/>
          </a:ln>
        </p:spPr>
        <p:txBody>
          <a:bodyPr anchorCtr="1" anchor="ctr" bIns="137150" lIns="457200" spcFirstLastPara="1" rIns="457200" wrap="square" tIns="137150">
            <a:noAutofit/>
          </a:bodyPr>
          <a:lstStyle>
            <a:lvl1pPr indent="-381000" lvl="0" marL="457200" algn="ctr">
              <a:lnSpc>
                <a:spcPct val="85000"/>
              </a:lnSpc>
              <a:spcBef>
                <a:spcPts val="200"/>
              </a:spcBef>
              <a:spcAft>
                <a:spcPts val="0"/>
              </a:spcAft>
              <a:buClr>
                <a:schemeClr val="lt1"/>
              </a:buClr>
              <a:buSzPts val="2400"/>
              <a:buFont typeface="Arial"/>
              <a:buChar char="​"/>
              <a:defRPr b="1" sz="2400">
                <a:solidFill>
                  <a:schemeClr val="lt1"/>
                </a:solidFill>
              </a:defRPr>
            </a:lvl1pPr>
            <a:lvl2pPr indent="-342900" lvl="1" marL="914400" algn="ctr">
              <a:lnSpc>
                <a:spcPct val="85000"/>
              </a:lnSpc>
              <a:spcBef>
                <a:spcPts val="200"/>
              </a:spcBef>
              <a:spcAft>
                <a:spcPts val="0"/>
              </a:spcAft>
              <a:buClr>
                <a:schemeClr val="lt1"/>
              </a:buClr>
              <a:buSzPts val="1800"/>
              <a:buFont typeface="Arial"/>
              <a:buChar char="​"/>
              <a:defRPr b="1" sz="1800">
                <a:solidFill>
                  <a:schemeClr val="lt1"/>
                </a:solidFill>
              </a:defRPr>
            </a:lvl2pPr>
            <a:lvl3pPr indent="-317500" lvl="2" marL="1371600" algn="ctr">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ctr">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ctr">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88" name="Google Shape;88;p19"/>
          <p:cNvSpPr/>
          <p:nvPr/>
        </p:nvSpPr>
        <p:spPr>
          <a:xfrm>
            <a:off x="457200" y="0"/>
            <a:ext cx="24384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nvGrpSpPr>
          <p:cNvPr id="89" name="Google Shape;89;p19"/>
          <p:cNvGrpSpPr/>
          <p:nvPr/>
        </p:nvGrpSpPr>
        <p:grpSpPr>
          <a:xfrm>
            <a:off x="994117" y="305466"/>
            <a:ext cx="1362335" cy="305001"/>
            <a:chOff x="5137" y="4139"/>
            <a:chExt cx="335" cy="75"/>
          </a:xfrm>
        </p:grpSpPr>
        <p:sp>
          <p:nvSpPr>
            <p:cNvPr id="90" name="Google Shape;90;p19"/>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91" name="Google Shape;91;p19"/>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able Contents">
  <p:cSld name="Agenda/Table Contents">
    <p:spTree>
      <p:nvGrpSpPr>
        <p:cNvPr id="92" name="Shape 92"/>
        <p:cNvGrpSpPr/>
        <p:nvPr/>
      </p:nvGrpSpPr>
      <p:grpSpPr>
        <a:xfrm>
          <a:off x="0" y="0"/>
          <a:ext cx="0" cy="0"/>
          <a:chOff x="0" y="0"/>
          <a:chExt cx="0" cy="0"/>
        </a:xfrm>
      </p:grpSpPr>
      <p:sp>
        <p:nvSpPr>
          <p:cNvPr id="93" name="Google Shape;93;p20"/>
          <p:cNvSpPr txBox="1"/>
          <p:nvPr>
            <p:ph idx="1" type="body"/>
          </p:nvPr>
        </p:nvSpPr>
        <p:spPr>
          <a:xfrm>
            <a:off x="4800600" y="1216152"/>
            <a:ext cx="3886200" cy="3349777"/>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94" name="Google Shape;94;p20"/>
          <p:cNvSpPr txBox="1"/>
          <p:nvPr>
            <p:ph type="title"/>
          </p:nvPr>
        </p:nvSpPr>
        <p:spPr>
          <a:xfrm>
            <a:off x="4800600" y="263385"/>
            <a:ext cx="3886200" cy="704088"/>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0"/>
          <p:cNvSpPr/>
          <p:nvPr/>
        </p:nvSpPr>
        <p:spPr>
          <a:xfrm>
            <a:off x="99060" y="4858087"/>
            <a:ext cx="236220" cy="177165"/>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96" name="Google Shape;96;p20"/>
          <p:cNvSpPr/>
          <p:nvPr>
            <p:ph idx="2" type="pic"/>
          </p:nvPr>
        </p:nvSpPr>
        <p:spPr>
          <a:xfrm>
            <a:off x="0" y="0"/>
            <a:ext cx="43434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200"/>
              <a:buFont typeface="Arial"/>
              <a:buNone/>
              <a:defRPr b="0" i="0" sz="12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97" name="Shape 97"/>
        <p:cNvGrpSpPr/>
        <p:nvPr/>
      </p:nvGrpSpPr>
      <p:grpSpPr>
        <a:xfrm>
          <a:off x="0" y="0"/>
          <a:ext cx="0" cy="0"/>
          <a:chOff x="0" y="0"/>
          <a:chExt cx="0" cy="0"/>
        </a:xfrm>
      </p:grpSpPr>
      <p:sp>
        <p:nvSpPr>
          <p:cNvPr id="98" name="Google Shape;98;p21"/>
          <p:cNvSpPr txBox="1"/>
          <p:nvPr>
            <p:ph idx="1" type="body"/>
          </p:nvPr>
        </p:nvSpPr>
        <p:spPr>
          <a:xfrm>
            <a:off x="4800600" y="1216188"/>
            <a:ext cx="3886200" cy="3343998"/>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99" name="Google Shape;99;p21"/>
          <p:cNvSpPr txBox="1"/>
          <p:nvPr>
            <p:ph idx="2" type="body"/>
          </p:nvPr>
        </p:nvSpPr>
        <p:spPr>
          <a:xfrm>
            <a:off x="457200" y="1216152"/>
            <a:ext cx="3886200" cy="3344436"/>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0" name="Google Shape;100;p21"/>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1" name="Google Shape;101;p21"/>
          <p:cNvSpPr txBox="1"/>
          <p:nvPr>
            <p:ph type="title"/>
          </p:nvPr>
        </p:nvSpPr>
        <p:spPr>
          <a:xfrm>
            <a:off x="457200" y="173735"/>
            <a:ext cx="8229600" cy="70003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102" name="Shape 102"/>
        <p:cNvGrpSpPr/>
        <p:nvPr/>
      </p:nvGrpSpPr>
      <p:grpSpPr>
        <a:xfrm>
          <a:off x="0" y="0"/>
          <a:ext cx="0" cy="0"/>
          <a:chOff x="0" y="0"/>
          <a:chExt cx="0" cy="0"/>
        </a:xfrm>
      </p:grpSpPr>
      <p:sp>
        <p:nvSpPr>
          <p:cNvPr id="103" name="Google Shape;103;p22"/>
          <p:cNvSpPr txBox="1"/>
          <p:nvPr>
            <p:ph idx="1" type="body"/>
          </p:nvPr>
        </p:nvSpPr>
        <p:spPr>
          <a:xfrm>
            <a:off x="4572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4" name="Google Shape;104;p22"/>
          <p:cNvSpPr txBox="1"/>
          <p:nvPr>
            <p:ph idx="2" type="body"/>
          </p:nvPr>
        </p:nvSpPr>
        <p:spPr>
          <a:xfrm>
            <a:off x="33528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5" name="Google Shape;105;p22"/>
          <p:cNvSpPr txBox="1"/>
          <p:nvPr>
            <p:ph idx="3" type="body"/>
          </p:nvPr>
        </p:nvSpPr>
        <p:spPr>
          <a:xfrm>
            <a:off x="62484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6" name="Google Shape;106;p22"/>
          <p:cNvSpPr txBox="1"/>
          <p:nvPr>
            <p:ph idx="4"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7" name="Google Shape;107;p22"/>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Left Weighted">
  <p:cSld name="Title and Two Left Weighted">
    <p:spTree>
      <p:nvGrpSpPr>
        <p:cNvPr id="108" name="Shape 108"/>
        <p:cNvGrpSpPr/>
        <p:nvPr/>
      </p:nvGrpSpPr>
      <p:grpSpPr>
        <a:xfrm>
          <a:off x="0" y="0"/>
          <a:ext cx="0" cy="0"/>
          <a:chOff x="0" y="0"/>
          <a:chExt cx="0" cy="0"/>
        </a:xfrm>
      </p:grpSpPr>
      <p:sp>
        <p:nvSpPr>
          <p:cNvPr id="109" name="Google Shape;109;p23"/>
          <p:cNvSpPr/>
          <p:nvPr>
            <p:ph idx="2" type="pic"/>
          </p:nvPr>
        </p:nvSpPr>
        <p:spPr>
          <a:xfrm>
            <a:off x="6258796" y="1216152"/>
            <a:ext cx="2438400" cy="3068356"/>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10" name="Google Shape;110;p23"/>
          <p:cNvSpPr txBox="1"/>
          <p:nvPr>
            <p:ph idx="1" type="body"/>
          </p:nvPr>
        </p:nvSpPr>
        <p:spPr>
          <a:xfrm>
            <a:off x="457200" y="1216152"/>
            <a:ext cx="5334000" cy="3344035"/>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1" name="Google Shape;111;p23"/>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2" name="Google Shape;112;p23"/>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Right Weighted">
  <p:cSld name="Title and Two Right Weighted">
    <p:spTree>
      <p:nvGrpSpPr>
        <p:cNvPr id="113" name="Shape 113"/>
        <p:cNvGrpSpPr/>
        <p:nvPr/>
      </p:nvGrpSpPr>
      <p:grpSpPr>
        <a:xfrm>
          <a:off x="0" y="0"/>
          <a:ext cx="0" cy="0"/>
          <a:chOff x="0" y="0"/>
          <a:chExt cx="0" cy="0"/>
        </a:xfrm>
      </p:grpSpPr>
      <p:sp>
        <p:nvSpPr>
          <p:cNvPr id="114" name="Google Shape;114;p24"/>
          <p:cNvSpPr/>
          <p:nvPr>
            <p:ph idx="2" type="pic"/>
          </p:nvPr>
        </p:nvSpPr>
        <p:spPr>
          <a:xfrm>
            <a:off x="457200" y="1216152"/>
            <a:ext cx="2438400" cy="3070129"/>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15" name="Google Shape;115;p24"/>
          <p:cNvSpPr txBox="1"/>
          <p:nvPr>
            <p:ph idx="1" type="body"/>
          </p:nvPr>
        </p:nvSpPr>
        <p:spPr>
          <a:xfrm>
            <a:off x="3352800" y="1216152"/>
            <a:ext cx="53340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6" name="Google Shape;116;p24"/>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7" name="Google Shape;117;p24"/>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118" name="Shape 118"/>
        <p:cNvGrpSpPr/>
        <p:nvPr/>
      </p:nvGrpSpPr>
      <p:grpSpPr>
        <a:xfrm>
          <a:off x="0" y="0"/>
          <a:ext cx="0" cy="0"/>
          <a:chOff x="0" y="0"/>
          <a:chExt cx="0" cy="0"/>
        </a:xfrm>
      </p:grpSpPr>
      <p:sp>
        <p:nvSpPr>
          <p:cNvPr id="119" name="Google Shape;119;p25"/>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20" name="Google Shape;120;p25"/>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1" name="Shape 121"/>
        <p:cNvGrpSpPr/>
        <p:nvPr/>
      </p:nvGrpSpPr>
      <p:grpSpPr>
        <a:xfrm>
          <a:off x="0" y="0"/>
          <a:ext cx="0" cy="0"/>
          <a:chOff x="0" y="0"/>
          <a:chExt cx="0" cy="0"/>
        </a:xfrm>
      </p:grpSpPr>
      <p:sp>
        <p:nvSpPr>
          <p:cNvPr id="122" name="Google Shape;122;p26"/>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123" name="Shape 123"/>
        <p:cNvGrpSpPr/>
        <p:nvPr/>
      </p:nvGrpSpPr>
      <p:grpSpPr>
        <a:xfrm>
          <a:off x="0" y="0"/>
          <a:ext cx="0" cy="0"/>
          <a:chOff x="0" y="0"/>
          <a:chExt cx="0" cy="0"/>
        </a:xfrm>
      </p:grpSpPr>
      <p:sp>
        <p:nvSpPr>
          <p:cNvPr id="124" name="Google Shape;124;p27"/>
          <p:cNvSpPr txBox="1"/>
          <p:nvPr>
            <p:ph idx="1" type="body"/>
          </p:nvPr>
        </p:nvSpPr>
        <p:spPr>
          <a:xfrm>
            <a:off x="3514722" y="777240"/>
            <a:ext cx="5629278" cy="914400"/>
          </a:xfrm>
          <a:prstGeom prst="rect">
            <a:avLst/>
          </a:prstGeom>
          <a:solidFill>
            <a:srgbClr val="0079DB"/>
          </a:solidFill>
          <a:ln>
            <a:noFill/>
          </a:ln>
        </p:spPr>
        <p:txBody>
          <a:bodyPr anchorCtr="0" anchor="b" bIns="228600" lIns="228600" spcFirstLastPara="1" rIns="457200" wrap="square" tIns="137150">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125" name="Google Shape;125;p27"/>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26" name="Google Shape;126;p27"/>
          <p:cNvSpPr txBox="1"/>
          <p:nvPr>
            <p:ph idx="3" type="body"/>
          </p:nvPr>
        </p:nvSpPr>
        <p:spPr>
          <a:xfrm>
            <a:off x="3511296" y="1878314"/>
            <a:ext cx="5146943" cy="2783250"/>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4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27" name="Google Shape;127;p27"/>
          <p:cNvSpPr/>
          <p:nvPr>
            <p:ph idx="4" type="pic"/>
          </p:nvPr>
        </p:nvSpPr>
        <p:spPr>
          <a:xfrm>
            <a:off x="3505200" y="73152"/>
            <a:ext cx="1371600" cy="621792"/>
          </a:xfrm>
          <a:prstGeom prst="rect">
            <a:avLst/>
          </a:prstGeom>
          <a:noFill/>
          <a:ln>
            <a:noFill/>
          </a:ln>
        </p:spPr>
        <p:txBody>
          <a:bodyPr anchorCtr="0" anchor="ctr" bIns="0" lIns="0" spcFirstLastPara="1" rIns="0" wrap="square" tIns="0">
            <a:noAutofit/>
          </a:bodyPr>
          <a:lstStyle>
            <a:lvl1pPr lvl="0" marR="0" rtl="0" algn="ctr">
              <a:lnSpc>
                <a:spcPct val="95000"/>
              </a:lnSpc>
              <a:spcBef>
                <a:spcPts val="600"/>
              </a:spcBef>
              <a:spcAft>
                <a:spcPts val="0"/>
              </a:spcAft>
              <a:buClr>
                <a:schemeClr val="dk1"/>
              </a:buClr>
              <a:buSzPts val="900"/>
              <a:buFont typeface="Arial"/>
              <a:buNone/>
              <a:defRPr b="0" i="0" sz="9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ase Study_Option2">
  <p:cSld name="1_Case Study_Option2">
    <p:spTree>
      <p:nvGrpSpPr>
        <p:cNvPr id="128" name="Shape 128"/>
        <p:cNvGrpSpPr/>
        <p:nvPr/>
      </p:nvGrpSpPr>
      <p:grpSpPr>
        <a:xfrm>
          <a:off x="0" y="0"/>
          <a:ext cx="0" cy="0"/>
          <a:chOff x="0" y="0"/>
          <a:chExt cx="0" cy="0"/>
        </a:xfrm>
      </p:grpSpPr>
      <p:sp>
        <p:nvSpPr>
          <p:cNvPr id="129" name="Google Shape;129;p28"/>
          <p:cNvSpPr txBox="1"/>
          <p:nvPr>
            <p:ph idx="1" type="body"/>
          </p:nvPr>
        </p:nvSpPr>
        <p:spPr>
          <a:xfrm>
            <a:off x="3495307" y="128016"/>
            <a:ext cx="5648693" cy="914400"/>
          </a:xfrm>
          <a:prstGeom prst="rect">
            <a:avLst/>
          </a:prstGeom>
          <a:solidFill>
            <a:srgbClr val="0079DB"/>
          </a:solidFill>
          <a:ln>
            <a:noFill/>
          </a:ln>
        </p:spPr>
        <p:txBody>
          <a:bodyPr anchorCtr="0" anchor="b" bIns="228600" lIns="228600" spcFirstLastPara="1" rIns="457200" wrap="square" tIns="137150">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130" name="Google Shape;130;p28"/>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31" name="Google Shape;131;p28"/>
          <p:cNvSpPr txBox="1"/>
          <p:nvPr>
            <p:ph idx="3" type="body"/>
          </p:nvPr>
        </p:nvSpPr>
        <p:spPr>
          <a:xfrm>
            <a:off x="3511296" y="1152143"/>
            <a:ext cx="5164694" cy="3511296"/>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400"/>
              </a:spcBef>
              <a:spcAft>
                <a:spcPts val="0"/>
              </a:spcAft>
              <a:buClr>
                <a:schemeClr val="dk1"/>
              </a:buClr>
              <a:buSzPts val="2000"/>
              <a:buChar char="•"/>
              <a:defRPr sz="2000"/>
            </a:lvl1pPr>
            <a:lvl2pPr indent="-342900" lvl="1" marL="914400" algn="l">
              <a:lnSpc>
                <a:spcPct val="85000"/>
              </a:lnSpc>
              <a:spcBef>
                <a:spcPts val="200"/>
              </a:spcBef>
              <a:spcAft>
                <a:spcPts val="0"/>
              </a:spcAft>
              <a:buClr>
                <a:schemeClr val="dk1"/>
              </a:buClr>
              <a:buSzPts val="1800"/>
              <a:buChar char="–"/>
              <a:defRPr sz="1800"/>
            </a:lvl2pPr>
            <a:lvl3pPr indent="-330200" lvl="2" marL="1371600" algn="l">
              <a:lnSpc>
                <a:spcPct val="85000"/>
              </a:lnSpc>
              <a:spcBef>
                <a:spcPts val="200"/>
              </a:spcBef>
              <a:spcAft>
                <a:spcPts val="0"/>
              </a:spcAft>
              <a:buClr>
                <a:schemeClr val="dk1"/>
              </a:buClr>
              <a:buSzPts val="1600"/>
              <a:buChar char="-"/>
              <a:defRPr sz="16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spTree>
      <p:nvGrpSpPr>
        <p:cNvPr id="132" name="Shape 132"/>
        <p:cNvGrpSpPr/>
        <p:nvPr/>
      </p:nvGrpSpPr>
      <p:grpSpPr>
        <a:xfrm>
          <a:off x="0" y="0"/>
          <a:ext cx="0" cy="0"/>
          <a:chOff x="0" y="0"/>
          <a:chExt cx="0" cy="0"/>
        </a:xfrm>
      </p:grpSpPr>
      <p:sp>
        <p:nvSpPr>
          <p:cNvPr id="133" name="Google Shape;133;p29"/>
          <p:cNvSpPr txBox="1"/>
          <p:nvPr/>
        </p:nvSpPr>
        <p:spPr>
          <a:xfrm>
            <a:off x="171052" y="4837176"/>
            <a:ext cx="115416" cy="10772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700">
                <a:solidFill>
                  <a:srgbClr val="A2A2A2"/>
                </a:solidFill>
                <a:latin typeface="Century Gothic"/>
                <a:ea typeface="Century Gothic"/>
                <a:cs typeface="Century Gothic"/>
                <a:sym typeface="Century Gothic"/>
              </a:rPr>
              <a:t>‹#›</a:t>
            </a:fld>
            <a:endParaRPr sz="700">
              <a:solidFill>
                <a:srgbClr val="A2A2A2"/>
              </a:solidFill>
              <a:latin typeface="Century Gothic"/>
              <a:ea typeface="Century Gothic"/>
              <a:cs typeface="Century Gothic"/>
              <a:sym typeface="Century Gothic"/>
            </a:endParaRPr>
          </a:p>
        </p:txBody>
      </p:sp>
      <p:sp>
        <p:nvSpPr>
          <p:cNvPr id="134" name="Google Shape;134;p29"/>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35" name="Google Shape;135;p29"/>
          <p:cNvSpPr txBox="1"/>
          <p:nvPr/>
        </p:nvSpPr>
        <p:spPr>
          <a:xfrm>
            <a:off x="153254" y="4837176"/>
            <a:ext cx="133221" cy="130805"/>
          </a:xfrm>
          <a:prstGeom prst="rect">
            <a:avLst/>
          </a:prstGeom>
          <a:solidFill>
            <a:schemeClr val="lt1"/>
          </a:solid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grpSp>
        <p:nvGrpSpPr>
          <p:cNvPr id="136" name="Google Shape;136;p29"/>
          <p:cNvGrpSpPr/>
          <p:nvPr/>
        </p:nvGrpSpPr>
        <p:grpSpPr>
          <a:xfrm>
            <a:off x="2742406" y="2158207"/>
            <a:ext cx="3659188" cy="827087"/>
            <a:chOff x="1728" y="1805"/>
            <a:chExt cx="2305" cy="521"/>
          </a:xfrm>
        </p:grpSpPr>
        <p:sp>
          <p:nvSpPr>
            <p:cNvPr id="137" name="Google Shape;137;p29"/>
            <p:cNvSpPr/>
            <p:nvPr/>
          </p:nvSpPr>
          <p:spPr>
            <a:xfrm>
              <a:off x="1728" y="1805"/>
              <a:ext cx="2231" cy="521"/>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138" name="Google Shape;138;p29"/>
            <p:cNvSpPr/>
            <p:nvPr/>
          </p:nvSpPr>
          <p:spPr>
            <a:xfrm>
              <a:off x="3974" y="2210"/>
              <a:ext cx="59" cy="5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139" name="Shape 139"/>
        <p:cNvGrpSpPr/>
        <p:nvPr/>
      </p:nvGrpSpPr>
      <p:grpSpPr>
        <a:xfrm>
          <a:off x="0" y="0"/>
          <a:ext cx="0" cy="0"/>
          <a:chOff x="0" y="0"/>
          <a:chExt cx="0" cy="0"/>
        </a:xfrm>
      </p:grpSpPr>
      <p:sp>
        <p:nvSpPr>
          <p:cNvPr id="140" name="Google Shape;140;p30"/>
          <p:cNvSpPr txBox="1"/>
          <p:nvPr>
            <p:ph idx="1" type="body"/>
          </p:nvPr>
        </p:nvSpPr>
        <p:spPr>
          <a:xfrm>
            <a:off x="457200" y="1115840"/>
            <a:ext cx="8229600" cy="3507581"/>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41" name="Google Shape;141;p30"/>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42" name="Google Shape;142;p30"/>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30"/>
          <p:cNvSpPr txBox="1"/>
          <p:nvPr>
            <p:ph idx="3"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 name="Shape 12"/>
        <p:cNvGrpSpPr/>
        <p:nvPr/>
      </p:nvGrpSpPr>
      <p:grpSpPr>
        <a:xfrm>
          <a:off x="0" y="0"/>
          <a:ext cx="0" cy="0"/>
          <a:chOff x="0" y="0"/>
          <a:chExt cx="0" cy="0"/>
        </a:xfrm>
      </p:grpSpPr>
      <p:sp>
        <p:nvSpPr>
          <p:cNvPr id="13" name="Google Shape;13;p1"/>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indent="-330200" lvl="1" marL="914400"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indent="-317500" lvl="2" marL="1371600"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indent="-342900" lvl="3" marL="182880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indent="-342900" lvl="4" marL="2286000"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indent="-342900" lvl="5" marL="2743200"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indent="-342900" lvl="6" marL="3200400"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indent="-342900" lvl="7" marL="3657600"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indent="-285750" lvl="8" marL="4114800"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4" name="Google Shape;14;p1"/>
          <p:cNvSpPr txBox="1"/>
          <p:nvPr/>
        </p:nvSpPr>
        <p:spPr>
          <a:xfrm>
            <a:off x="153254" y="4896022"/>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sp>
        <p:nvSpPr>
          <p:cNvPr id="15" name="Google Shape;15;p1"/>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marR="0" rtl="0" algn="l">
              <a:lnSpc>
                <a:spcPct val="95000"/>
              </a:lnSpc>
              <a:spcBef>
                <a:spcPts val="0"/>
              </a:spcBef>
              <a:spcAft>
                <a:spcPts val="0"/>
              </a:spcAft>
              <a:buClr>
                <a:schemeClr val="accent1"/>
              </a:buClr>
              <a:buSzPts val="2200"/>
              <a:buFont typeface="Century Gothic"/>
              <a:buNone/>
              <a:defRPr b="1" i="0" sz="2200" u="none" cap="none" strike="noStrike">
                <a:solidFill>
                  <a:schemeClr val="accen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16" name="Google Shape;16;p1"/>
          <p:cNvGrpSpPr/>
          <p:nvPr/>
        </p:nvGrpSpPr>
        <p:grpSpPr>
          <a:xfrm>
            <a:off x="7772401" y="4853350"/>
            <a:ext cx="914400" cy="204717"/>
            <a:chOff x="5137" y="4139"/>
            <a:chExt cx="335" cy="75"/>
          </a:xfrm>
        </p:grpSpPr>
        <p:sp>
          <p:nvSpPr>
            <p:cNvPr id="17" name="Google Shape;17;p1"/>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18" name="Google Shape;18;p1"/>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
        <p:nvSpPr>
          <p:cNvPr id="19" name="Google Shape;19;p1"/>
          <p:cNvSpPr txBox="1"/>
          <p:nvPr/>
        </p:nvSpPr>
        <p:spPr>
          <a:xfrm>
            <a:off x="457200" y="4867275"/>
            <a:ext cx="3214489" cy="232042"/>
          </a:xfrm>
          <a:prstGeom prst="rect">
            <a:avLst/>
          </a:prstGeom>
          <a:noFill/>
          <a:ln>
            <a:noFill/>
          </a:ln>
        </p:spPr>
        <p:txBody>
          <a:bodyPr anchorCtr="0" anchor="ctr" bIns="45700" lIns="46800" spcFirstLastPara="1" rIns="91425" wrap="square" tIns="45700">
            <a:noAutofit/>
          </a:bodyPr>
          <a:lstStyle/>
          <a:p>
            <a:pPr indent="0" lvl="0" marL="0" marR="0" rtl="0" algn="l">
              <a:lnSpc>
                <a:spcPct val="100000"/>
              </a:lnSpc>
              <a:spcBef>
                <a:spcPts val="0"/>
              </a:spcBef>
              <a:spcAft>
                <a:spcPts val="0"/>
              </a:spcAft>
              <a:buClr>
                <a:schemeClr val="dk1"/>
              </a:buClr>
              <a:buSzPts val="800"/>
              <a:buFont typeface="Century Gothic"/>
              <a:buNone/>
            </a:pPr>
            <a:r>
              <a:rPr b="0" baseline="30000" lang="en-GB" sz="800">
                <a:solidFill>
                  <a:schemeClr val="dk1"/>
                </a:solidFill>
                <a:latin typeface="Century Gothic"/>
                <a:ea typeface="Century Gothic"/>
                <a:cs typeface="Century Gothic"/>
                <a:sym typeface="Century Gothic"/>
              </a:rPr>
              <a:t>© </a:t>
            </a:r>
            <a:r>
              <a:rPr b="0" lang="en-GB" sz="800">
                <a:solidFill>
                  <a:schemeClr val="dk1"/>
                </a:solidFill>
                <a:latin typeface="Century Gothic"/>
                <a:ea typeface="Century Gothic"/>
                <a:cs typeface="Century Gothic"/>
                <a:sym typeface="Century Gothic"/>
              </a:rPr>
              <a:t>2017 Teradata Confidential Information</a:t>
            </a:r>
            <a:endParaRPr/>
          </a:p>
          <a:p>
            <a:pPr indent="0" lvl="0" marL="0" marR="0" rtl="0" algn="l">
              <a:spcBef>
                <a:spcPts val="0"/>
              </a:spcBef>
              <a:spcAft>
                <a:spcPts val="0"/>
              </a:spcAft>
              <a:buNone/>
            </a:pPr>
            <a:r>
              <a:t/>
            </a:r>
            <a:endParaRPr b="0" sz="100">
              <a:solidFill>
                <a:srgbClr val="A2A2A2"/>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5.xml"/><Relationship Id="rId3" Type="http://schemas.openxmlformats.org/officeDocument/2006/relationships/slide" Target="slide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7.xml"/><Relationship Id="rId3" Type="http://schemas.openxmlformats.org/officeDocument/2006/relationships/slide" Target="slide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8.xml"/><Relationship Id="rId3"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9.xml"/><Relationship Id="rId3" Type="http://schemas.openxmlformats.org/officeDocument/2006/relationships/slide" Target="slide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0.xml"/><Relationship Id="rId3" Type="http://schemas.openxmlformats.org/officeDocument/2006/relationships/slide" Target="slide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1.xml"/><Relationship Id="rId3" Type="http://schemas.openxmlformats.org/officeDocument/2006/relationships/slide" Target="slide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2.xml"/><Relationship Id="rId3" Type="http://schemas.openxmlformats.org/officeDocument/2006/relationships/slide" Target="slide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3.xml"/><Relationship Id="rId3" Type="http://schemas.openxmlformats.org/officeDocument/2006/relationships/slide" Target="slide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4.xml"/><Relationship Id="rId3" Type="http://schemas.openxmlformats.org/officeDocument/2006/relationships/slide" Target="slide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5.xml"/><Relationship Id="rId3" Type="http://schemas.openxmlformats.org/officeDocument/2006/relationships/image" Target="../media/image24.jpg"/><Relationship Id="rId4" Type="http://schemas.openxmlformats.org/officeDocument/2006/relationships/image" Target="../media/image27.jpg"/><Relationship Id="rId5" Type="http://schemas.openxmlformats.org/officeDocument/2006/relationships/image" Target="../media/image23.png"/><Relationship Id="rId6" Type="http://schemas.openxmlformats.org/officeDocument/2006/relationships/image" Target="../media/image26.png"/><Relationship Id="rId7" Type="http://schemas.openxmlformats.org/officeDocument/2006/relationships/slide" Target="slide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6.xml"/><Relationship Id="rId3" Type="http://schemas.openxmlformats.org/officeDocument/2006/relationships/slide" Target="slide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7.xml"/><Relationship Id="rId3" Type="http://schemas.openxmlformats.org/officeDocument/2006/relationships/slide" Target="slide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8.xml"/><Relationship Id="rId3" Type="http://schemas.openxmlformats.org/officeDocument/2006/relationships/slide" Target="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9.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slide" Target="slide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0.xml"/><Relationship Id="rId3" Type="http://schemas.openxmlformats.org/officeDocument/2006/relationships/slide" Target="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slide" Target="slide14.xml"/><Relationship Id="rId4" Type="http://schemas.openxmlformats.org/officeDocument/2006/relationships/slide" Target="slide80.xml"/><Relationship Id="rId5" Type="http://schemas.openxmlformats.org/officeDocument/2006/relationships/slide" Target="slide84.xml"/><Relationship Id="rId6" Type="http://schemas.openxmlformats.org/officeDocument/2006/relationships/slide" Target="slide92.xml"/><Relationship Id="rId7" Type="http://schemas.openxmlformats.org/officeDocument/2006/relationships/slide" Target="slide100.xml"/><Relationship Id="rId8" Type="http://schemas.openxmlformats.org/officeDocument/2006/relationships/slide" Target="slide86.xml"/><Relationship Id="rId9" Type="http://schemas.openxmlformats.org/officeDocument/2006/relationships/slide" Target="slide90.xml"/><Relationship Id="rId10" Type="http://schemas.openxmlformats.org/officeDocument/2006/relationships/slide" Target="slide102.xml"/><Relationship Id="rId11" Type="http://schemas.openxmlformats.org/officeDocument/2006/relationships/slide" Target="slide88.xml"/><Relationship Id="rId12" Type="http://schemas.openxmlformats.org/officeDocument/2006/relationships/slide" Target="slide96.xml"/><Relationship Id="rId13" Type="http://schemas.openxmlformats.org/officeDocument/2006/relationships/slide" Target="slide106.xml"/><Relationship Id="rId14" Type="http://schemas.openxmlformats.org/officeDocument/2006/relationships/slide" Target="slide98.xml"/><Relationship Id="rId15" Type="http://schemas.openxmlformats.org/officeDocument/2006/relationships/slide" Target="slide104.xml"/><Relationship Id="rId16" Type="http://schemas.openxmlformats.org/officeDocument/2006/relationships/slide" Target="slide23.xml"/><Relationship Id="rId17" Type="http://schemas.openxmlformats.org/officeDocument/2006/relationships/slide" Target="slide94.xml"/><Relationship Id="rId18" Type="http://schemas.openxmlformats.org/officeDocument/2006/relationships/slide" Target="slide19.xml"/><Relationship Id="rId19" Type="http://schemas.openxmlformats.org/officeDocument/2006/relationships/slide" Target="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slide" Target="slide14.xml"/><Relationship Id="rId4" Type="http://schemas.openxmlformats.org/officeDocument/2006/relationships/slide" Target="slide110.xml"/><Relationship Id="rId5" Type="http://schemas.openxmlformats.org/officeDocument/2006/relationships/slide" Target="slide112.xml"/><Relationship Id="rId6" Type="http://schemas.openxmlformats.org/officeDocument/2006/relationships/slide" Target="slide23.xml"/><Relationship Id="rId7" Type="http://schemas.openxmlformats.org/officeDocument/2006/relationships/slide" Target="slide108.xml"/><Relationship Id="rId8" Type="http://schemas.openxmlformats.org/officeDocument/2006/relationships/slide" Target="slide18.xml"/><Relationship Id="rId9" Type="http://schemas.openxmlformats.org/officeDocument/2006/relationships/slide" Target="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3.xml"/><Relationship Id="rId3" Type="http://schemas.openxmlformats.org/officeDocument/2006/relationships/slide" Target="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4.xml"/><Relationship Id="rId3" Type="http://schemas.openxmlformats.org/officeDocument/2006/relationships/slide" Target="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5.xml"/><Relationship Id="rId3" Type="http://schemas.openxmlformats.org/officeDocument/2006/relationships/slide" Target="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slide" Target="slide54.xml"/><Relationship Id="rId4" Type="http://schemas.openxmlformats.org/officeDocument/2006/relationships/slide" Target="slide53.xml"/><Relationship Id="rId5" Type="http://schemas.openxmlformats.org/officeDocument/2006/relationships/slide" Target="slide52.xml"/><Relationship Id="rId6" Type="http://schemas.openxmlformats.org/officeDocument/2006/relationships/slide" Target="slide51.xml"/><Relationship Id="rId7" Type="http://schemas.openxmlformats.org/officeDocument/2006/relationships/slide" Target="slide22.xml"/><Relationship Id="rId8" Type="http://schemas.openxmlformats.org/officeDocument/2006/relationships/slide" Target="slide18.xml"/><Relationship Id="rId9" Type="http://schemas.openxmlformats.org/officeDocument/2006/relationships/slide" Target="slide57.xml"/><Relationship Id="rId10" Type="http://schemas.openxmlformats.org/officeDocument/2006/relationships/slide" Target="slide59.xml"/><Relationship Id="rId11" Type="http://schemas.openxmlformats.org/officeDocument/2006/relationships/slide" Target="slide58.xml"/><Relationship Id="rId12" Type="http://schemas.openxmlformats.org/officeDocument/2006/relationships/slide" Target="slide60.xml"/><Relationship Id="rId13" Type="http://schemas.openxmlformats.org/officeDocument/2006/relationships/slide" Target="slide61.xml"/><Relationship Id="rId14" Type="http://schemas.openxmlformats.org/officeDocument/2006/relationships/slide" Target="slide62.xml"/><Relationship Id="rId15" Type="http://schemas.openxmlformats.org/officeDocument/2006/relationships/slide" Target="slide63.xml"/><Relationship Id="rId16" Type="http://schemas.openxmlformats.org/officeDocument/2006/relationships/slide" Target="slide64.xml"/><Relationship Id="rId17" Type="http://schemas.openxmlformats.org/officeDocument/2006/relationships/slide" Target="slide65.xml"/><Relationship Id="rId18" Type="http://schemas.openxmlformats.org/officeDocument/2006/relationships/slide" Target="slide66.xml"/><Relationship Id="rId19" Type="http://schemas.openxmlformats.org/officeDocument/2006/relationships/slide" Target="slide24.xml"/><Relationship Id="rId20" Type="http://schemas.openxmlformats.org/officeDocument/2006/relationships/slide" Target="slide55.xml"/><Relationship Id="rId21" Type="http://schemas.openxmlformats.org/officeDocument/2006/relationships/slide" Target="slide56.xml"/><Relationship Id="rId22" Type="http://schemas.openxmlformats.org/officeDocument/2006/relationships/slide" Target="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slide" Target="slide23.xml"/><Relationship Id="rId4" Type="http://schemas.openxmlformats.org/officeDocument/2006/relationships/slide" Target="slide18.xml"/><Relationship Id="rId5" Type="http://schemas.openxmlformats.org/officeDocument/2006/relationships/slide" Target="slide67.xml"/><Relationship Id="rId6" Type="http://schemas.openxmlformats.org/officeDocument/2006/relationships/slide" Target="slide68.xml"/><Relationship Id="rId7" Type="http://schemas.openxmlformats.org/officeDocument/2006/relationships/slide" Target="slide69.xml"/><Relationship Id="rId8" Type="http://schemas.openxmlformats.org/officeDocument/2006/relationships/slide" Target="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8.jpg"/><Relationship Id="rId4" Type="http://schemas.openxmlformats.org/officeDocument/2006/relationships/slide" Target="slide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9.xml"/><Relationship Id="rId3" Type="http://schemas.openxmlformats.org/officeDocument/2006/relationships/slide" Target="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0.xml"/><Relationship Id="rId3" Type="http://schemas.openxmlformats.org/officeDocument/2006/relationships/slide" Target="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1.xml"/><Relationship Id="rId3" Type="http://schemas.openxmlformats.org/officeDocument/2006/relationships/slide" Target="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2.xml"/><Relationship Id="rId3" Type="http://schemas.openxmlformats.org/officeDocument/2006/relationships/slide" Target="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3.xml"/><Relationship Id="rId3" Type="http://schemas.openxmlformats.org/officeDocument/2006/relationships/slide" Target="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4.xml"/><Relationship Id="rId3" Type="http://schemas.openxmlformats.org/officeDocument/2006/relationships/slide" Target="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5.xml"/><Relationship Id="rId3" Type="http://schemas.openxmlformats.org/officeDocument/2006/relationships/slide" Target="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6.xml"/><Relationship Id="rId3" Type="http://schemas.openxmlformats.org/officeDocument/2006/relationships/slide" Target="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7.xml"/><Relationship Id="rId3" Type="http://schemas.openxmlformats.org/officeDocument/2006/relationships/slide" Target="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18.jpg"/><Relationship Id="rId4" Type="http://schemas.openxmlformats.org/officeDocument/2006/relationships/slide" Target="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9.xml"/><Relationship Id="rId3" Type="http://schemas.openxmlformats.org/officeDocument/2006/relationships/image" Target="../media/image30.png"/><Relationship Id="rId4" Type="http://schemas.openxmlformats.org/officeDocument/2006/relationships/image" Target="../media/image29.png"/><Relationship Id="rId5" Type="http://schemas.openxmlformats.org/officeDocument/2006/relationships/slide" Target="slide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 Id="rId3" Type="http://schemas.openxmlformats.org/officeDocument/2006/relationships/slide" Target="slide20.xml"/><Relationship Id="rId4" Type="http://schemas.openxmlformats.org/officeDocument/2006/relationships/slide" Target="slide15.xml"/><Relationship Id="rId5"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1.xml"/><Relationship Id="rId3" Type="http://schemas.openxmlformats.org/officeDocument/2006/relationships/slide" Target="slide2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3.xml"/><Relationship Id="rId3" Type="http://schemas.openxmlformats.org/officeDocument/2006/relationships/slide" Target="slide2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4.xml"/><Relationship Id="rId3" Type="http://schemas.openxmlformats.org/officeDocument/2006/relationships/slide" Target="slide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5.xml"/><Relationship Id="rId3" Type="http://schemas.openxmlformats.org/officeDocument/2006/relationships/slide" Target="slide2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6.xml"/><Relationship Id="rId3" Type="http://schemas.openxmlformats.org/officeDocument/2006/relationships/slide" Target="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7.xml"/><Relationship Id="rId3" Type="http://schemas.openxmlformats.org/officeDocument/2006/relationships/slide" Target="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8.xml"/><Relationship Id="rId3" Type="http://schemas.openxmlformats.org/officeDocument/2006/relationships/slide" Target="slide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9.xml"/><Relationship Id="rId3" Type="http://schemas.openxmlformats.org/officeDocument/2006/relationships/slide" Target="slide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0.xml"/><Relationship Id="rId3" Type="http://schemas.openxmlformats.org/officeDocument/2006/relationships/slide" Target="slide2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1.xml"/><Relationship Id="rId3" Type="http://schemas.openxmlformats.org/officeDocument/2006/relationships/slide" Target="slide2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2.xml"/><Relationship Id="rId3" Type="http://schemas.openxmlformats.org/officeDocument/2006/relationships/slide" Target="slide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4.xml"/><Relationship Id="rId3" Type="http://schemas.openxmlformats.org/officeDocument/2006/relationships/slide" Target="slide2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5.xml"/><Relationship Id="rId3" Type="http://schemas.openxmlformats.org/officeDocument/2006/relationships/slide" Target="slide2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6.xml"/><Relationship Id="rId3" Type="http://schemas.openxmlformats.org/officeDocument/2006/relationships/slide" Target="slide2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7.xml"/><Relationship Id="rId3" Type="http://schemas.openxmlformats.org/officeDocument/2006/relationships/slide" Target="slide2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8.xml"/><Relationship Id="rId3" Type="http://schemas.openxmlformats.org/officeDocument/2006/relationships/slide" Target="slide2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9.xml"/><Relationship Id="rId3" Type="http://schemas.openxmlformats.org/officeDocument/2006/relationships/slide" Target="slide2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0.xml"/><Relationship Id="rId3" Type="http://schemas.openxmlformats.org/officeDocument/2006/relationships/slide" Target="slide2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1.xml"/><Relationship Id="rId3" Type="http://schemas.openxmlformats.org/officeDocument/2006/relationships/slide" Target="slide2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2.xml"/><Relationship Id="rId3" Type="http://schemas.openxmlformats.org/officeDocument/2006/relationships/slide" Target="slide2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3.xml"/><Relationship Id="rId3" Type="http://schemas.openxmlformats.org/officeDocument/2006/relationships/slide" Target="slide2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4.xml"/><Relationship Id="rId3" Type="http://schemas.openxmlformats.org/officeDocument/2006/relationships/slide" Target="slide2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5.xml"/><Relationship Id="rId3" Type="http://schemas.openxmlformats.org/officeDocument/2006/relationships/slide" Target="slide2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6.xml"/><Relationship Id="rId3" Type="http://schemas.openxmlformats.org/officeDocument/2006/relationships/slide" Target="slide2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7.xml"/><Relationship Id="rId3" Type="http://schemas.openxmlformats.org/officeDocument/2006/relationships/slide" Target="slide2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8.xml"/><Relationship Id="rId3" Type="http://schemas.openxmlformats.org/officeDocument/2006/relationships/slide" Target="slide2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9.xml"/><Relationship Id="rId3" Type="http://schemas.openxmlformats.org/officeDocument/2006/relationships/slide" Target="slide2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0.xml"/><Relationship Id="rId3" Type="http://schemas.openxmlformats.org/officeDocument/2006/relationships/slide" Target="slide2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1.xml"/><Relationship Id="rId3" Type="http://schemas.openxmlformats.org/officeDocument/2006/relationships/slide" Target="slide2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2.xml"/><Relationship Id="rId3" Type="http://schemas.openxmlformats.org/officeDocument/2006/relationships/slide" Target="slide2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 Id="rId3" Type="http://schemas.openxmlformats.org/officeDocument/2006/relationships/image" Target="../media/image22.jpg"/><Relationship Id="rId4" Type="http://schemas.openxmlformats.org/officeDocument/2006/relationships/slide" Target="slide1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4.xml"/><Relationship Id="rId3" Type="http://schemas.openxmlformats.org/officeDocument/2006/relationships/slide" Target="slide18.xml"/><Relationship Id="rId4" Type="http://schemas.openxmlformats.org/officeDocument/2006/relationships/slide" Target="slide2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6.xml"/><Relationship Id="rId3" Type="http://schemas.openxmlformats.org/officeDocument/2006/relationships/slide" Target="slide18.xml"/><Relationship Id="rId4" Type="http://schemas.openxmlformats.org/officeDocument/2006/relationships/slide" Target="slide2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8.xml"/><Relationship Id="rId3" Type="http://schemas.openxmlformats.org/officeDocument/2006/relationships/slide" Target="slide18.xml"/><Relationship Id="rId4" Type="http://schemas.openxmlformats.org/officeDocument/2006/relationships/slide" Target="slide2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0.xml"/><Relationship Id="rId3" Type="http://schemas.openxmlformats.org/officeDocument/2006/relationships/slide" Target="slide18.xml"/><Relationship Id="rId4" Type="http://schemas.openxmlformats.org/officeDocument/2006/relationships/slide" Target="slide2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2.xml"/><Relationship Id="rId3" Type="http://schemas.openxmlformats.org/officeDocument/2006/relationships/slide" Target="slide18.xml"/><Relationship Id="rId4" Type="http://schemas.openxmlformats.org/officeDocument/2006/relationships/slide" Target="slide2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4.xml"/><Relationship Id="rId3" Type="http://schemas.openxmlformats.org/officeDocument/2006/relationships/slide" Target="slide18.xml"/><Relationship Id="rId4" Type="http://schemas.openxmlformats.org/officeDocument/2006/relationships/slide" Target="slide2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6.xml"/><Relationship Id="rId3" Type="http://schemas.openxmlformats.org/officeDocument/2006/relationships/slide" Target="slide18.xml"/><Relationship Id="rId4" Type="http://schemas.openxmlformats.org/officeDocument/2006/relationships/slide" Target="slide2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8.xml"/><Relationship Id="rId3" Type="http://schemas.openxmlformats.org/officeDocument/2006/relationships/slide" Target="slide18.xml"/><Relationship Id="rId4" Type="http://schemas.openxmlformats.org/officeDocument/2006/relationships/slide" Target="slide2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0.xml"/><Relationship Id="rId3" Type="http://schemas.openxmlformats.org/officeDocument/2006/relationships/slide" Target="slide18.xml"/><Relationship Id="rId4" Type="http://schemas.openxmlformats.org/officeDocument/2006/relationships/slide" Target="slide2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2.xml"/><Relationship Id="rId3" Type="http://schemas.openxmlformats.org/officeDocument/2006/relationships/slide" Target="slide18.xml"/><Relationship Id="rId4" Type="http://schemas.openxmlformats.org/officeDocument/2006/relationships/slide" Target="slide2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4.xml"/><Relationship Id="rId3" Type="http://schemas.openxmlformats.org/officeDocument/2006/relationships/slide" Target="slide18.xml"/><Relationship Id="rId4" Type="http://schemas.openxmlformats.org/officeDocument/2006/relationships/slide" Target="slide2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6.xml"/><Relationship Id="rId3" Type="http://schemas.openxmlformats.org/officeDocument/2006/relationships/slide" Target="slide18.xml"/><Relationship Id="rId4" Type="http://schemas.openxmlformats.org/officeDocument/2006/relationships/slide" Target="slide2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8.xml"/><Relationship Id="rId3" Type="http://schemas.openxmlformats.org/officeDocument/2006/relationships/slide" Target="slide19.xml"/><Relationship Id="rId4" Type="http://schemas.openxmlformats.org/officeDocument/2006/relationships/slide" Target="slide2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0.xml"/><Relationship Id="rId3" Type="http://schemas.openxmlformats.org/officeDocument/2006/relationships/slide" Target="slide19.xml"/><Relationship Id="rId4" Type="http://schemas.openxmlformats.org/officeDocument/2006/relationships/slide" Target="slide2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2.xml"/><Relationship Id="rId3" Type="http://schemas.openxmlformats.org/officeDocument/2006/relationships/slide" Target="slide19.xml"/><Relationship Id="rId4" Type="http://schemas.openxmlformats.org/officeDocument/2006/relationships/slide" Target="slide24.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0.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6" name="Shape 2616"/>
        <p:cNvGrpSpPr/>
        <p:nvPr/>
      </p:nvGrpSpPr>
      <p:grpSpPr>
        <a:xfrm>
          <a:off x="0" y="0"/>
          <a:ext cx="0" cy="0"/>
          <a:chOff x="0" y="0"/>
          <a:chExt cx="0" cy="0"/>
        </a:xfrm>
      </p:grpSpPr>
      <p:sp>
        <p:nvSpPr>
          <p:cNvPr id="2617" name="Google Shape;2617;p144"/>
          <p:cNvSpPr txBox="1"/>
          <p:nvPr>
            <p:ph idx="1" type="body"/>
          </p:nvPr>
        </p:nvSpPr>
        <p:spPr>
          <a:xfrm>
            <a:off x="0" y="1941338"/>
            <a:ext cx="9144000" cy="1260858"/>
          </a:xfrm>
          <a:prstGeom prst="rect">
            <a:avLst/>
          </a:prstGeom>
          <a:solidFill>
            <a:schemeClr val="lt1"/>
          </a:solidFill>
          <a:ln>
            <a:noFill/>
          </a:ln>
        </p:spPr>
        <p:txBody>
          <a:bodyPr anchorCtr="1" anchor="ctr" bIns="45700" lIns="457200" spcFirstLastPara="1" rIns="457200" wrap="square" tIns="45700">
            <a:noAutofit/>
          </a:bodyPr>
          <a:lstStyle/>
          <a:p>
            <a:pPr indent="0" lvl="0" marL="0" rtl="0" algn="ctr">
              <a:lnSpc>
                <a:spcPct val="110000"/>
              </a:lnSpc>
              <a:spcBef>
                <a:spcPts val="0"/>
              </a:spcBef>
              <a:spcAft>
                <a:spcPts val="0"/>
              </a:spcAft>
              <a:buClr>
                <a:schemeClr val="accent1"/>
              </a:buClr>
              <a:buSzPts val="2200"/>
              <a:buFont typeface="Century Gothic"/>
              <a:buNone/>
            </a:pPr>
            <a:r>
              <a:rPr lang="en-GB"/>
              <a:t>Marketing and Customer Experience</a:t>
            </a:r>
            <a:br>
              <a:rPr lang="en-GB"/>
            </a:br>
            <a:r>
              <a:rPr lang="en-GB"/>
              <a:t>Use Cases</a:t>
            </a:r>
            <a:endParaRPr/>
          </a:p>
          <a:p>
            <a:pPr indent="0" lvl="0" marL="0" rtl="0" algn="ctr">
              <a:lnSpc>
                <a:spcPct val="110000"/>
              </a:lnSpc>
              <a:spcBef>
                <a:spcPts val="400"/>
              </a:spcBef>
              <a:spcAft>
                <a:spcPts val="0"/>
              </a:spcAft>
              <a:buClr>
                <a:schemeClr val="accent1"/>
              </a:buClr>
              <a:buSzPts val="2200"/>
              <a:buFont typeface="Century Gothic"/>
              <a:buNone/>
            </a:pPr>
            <a:r>
              <a:rPr lang="en-GB"/>
              <a:t>Customer Information Management</a:t>
            </a:r>
            <a:endParaRPr/>
          </a:p>
        </p:txBody>
      </p:sp>
      <p:sp>
        <p:nvSpPr>
          <p:cNvPr id="2618" name="Google Shape;2618;p144"/>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chemeClr val="lt1"/>
              </a:buClr>
              <a:buSzPts val="700"/>
              <a:buFont typeface="Century Gothic"/>
              <a:buNone/>
            </a:pPr>
            <a:r>
              <a:t/>
            </a:r>
            <a:endParaRP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2623" name="Shape 2623"/>
        <p:cNvGrpSpPr/>
        <p:nvPr/>
      </p:nvGrpSpPr>
      <p:grpSpPr>
        <a:xfrm>
          <a:off x="0" y="0"/>
          <a:ext cx="0" cy="0"/>
          <a:chOff x="0" y="0"/>
          <a:chExt cx="0" cy="0"/>
        </a:xfrm>
      </p:grpSpPr>
      <p:cxnSp>
        <p:nvCxnSpPr>
          <p:cNvPr id="2624" name="Google Shape;2624;p145"/>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625" name="Google Shape;2625;p145"/>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626" name="Google Shape;2626;p145"/>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627" name="Google Shape;2627;p145"/>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628" name="Google Shape;2628;p145"/>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sales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retention</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satisfaction</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629" name="Google Shape;2629;p145"/>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Expanded customer data set showing online and offline behaviour allowing Improved identification of cross-sell &amp; up-sell opportunities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Better informed &amp; prepared relationship managers.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Re-use for audit, risk &amp; fraud (e.g. who has got access to money moving applications, do we have protections in place?)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Unified view of 60M+ bank customers by linking with 100M+ mobile wallet users via CNIC/mobile number</a:t>
            </a:r>
            <a:endParaRPr/>
          </a:p>
        </p:txBody>
      </p:sp>
      <p:sp>
        <p:nvSpPr>
          <p:cNvPr id="2630" name="Google Shape;2630;p145"/>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Exploratory analysis into value of potential value of integrating new data sources – through pilot activity or desktop analysis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Expanded customer data delivers uplift in performance of key analytical processes such as event detection, customer targeting, contact strategy, predictive models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631" name="Google Shape;2631;p145"/>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Path analytics, Customer Journey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Advanced segmentation analytics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Interactive self service dashboard</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Real-time event streaming (Kafka), sessionized digital journey capture, NLP on Urdu/English call transcripts, social sentiment from Pakistani social platforms</a:t>
            </a:r>
          </a:p>
        </p:txBody>
      </p:sp>
      <p:sp>
        <p:nvSpPr>
          <p:cNvPr id="2632" name="Google Shape;2632;p145"/>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 particularly external and social</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Pakistan: 4-5 incompatible core banking systems, 20-30% duplicate records, batch-only ETL processes</a:t>
            </a:r>
            <a:endParaRPr/>
          </a:p>
        </p:txBody>
      </p:sp>
      <p:sp>
        <p:nvSpPr>
          <p:cNvPr id="2633" name="Google Shape;2633;p145"/>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product, account, transactions,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interaction: Sessionized access channel data for all channels including web, mobile, tablet</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conversations: Voice and text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feedback, etc.</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a:p>
            <a:r>
              <a:rPr sz="800" i="1">
                <a:solidFill>
                  <a:srgbClr val="006699"/>
                </a:solidFill>
              </a:rPr>
              <a:t>Pakistan: CNIC-verified customer records, RAAST transaction data, mobile banking app events, 1Link ATM/POS data, JazzCash/Easypaisa wallet data, NADRA biometric verification</a:t>
            </a:r>
          </a:p>
        </p:txBody>
      </p:sp>
      <p:sp>
        <p:nvSpPr>
          <p:cNvPr id="2634" name="Google Shape;2634;p145"/>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Financial products and services are becoming increasingly commoditised, and banks needs to provide value-added services to differentiate and retain customers.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 interactions occur in a large number of both digital and offline channels, in different countries, for multiple products &amp; services. Increasingly banks are not only interested in understanding what customers buy, all events and interactions across channels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Existing 360° customer views need to be extended by new data types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Pakistan banks operate 4-5 core systems per bank. Building a 360 view requires integrating CTL, Temenos, Oracle, and Finacle customer data using CNIC as universal key.</a:t>
            </a:r>
            <a:endParaRPr/>
          </a:p>
        </p:txBody>
      </p:sp>
      <p:sp>
        <p:nvSpPr>
          <p:cNvPr id="2635" name="Google Shape;2635;p145"/>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636" name="Google Shape;2636;p14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Information Management</a:t>
            </a:r>
            <a:endParaRPr sz="750">
              <a:solidFill>
                <a:srgbClr val="FFFFFF"/>
              </a:solidFill>
              <a:latin typeface="Century Gothic"/>
              <a:ea typeface="Century Gothic"/>
              <a:cs typeface="Century Gothic"/>
              <a:sym typeface="Century Gothic"/>
            </a:endParaRPr>
          </a:p>
        </p:txBody>
      </p:sp>
      <p:sp>
        <p:nvSpPr>
          <p:cNvPr id="2637" name="Google Shape;2637;p145"/>
          <p:cNvSpPr txBox="1"/>
          <p:nvPr>
            <p:ph type="title"/>
          </p:nvPr>
        </p:nvSpPr>
        <p:spPr>
          <a:xfrm>
            <a:off x="423864" y="164592"/>
            <a:ext cx="6900861"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Multi-Dimensional Customer View</a:t>
            </a:r>
            <a:endParaRPr/>
          </a:p>
        </p:txBody>
      </p:sp>
      <p:sp>
        <p:nvSpPr>
          <p:cNvPr id="2638" name="Google Shape;2638;p145"/>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2" name="Shape 2642"/>
        <p:cNvGrpSpPr/>
        <p:nvPr/>
      </p:nvGrpSpPr>
      <p:grpSpPr>
        <a:xfrm>
          <a:off x="0" y="0"/>
          <a:ext cx="0" cy="0"/>
          <a:chOff x="0" y="0"/>
          <a:chExt cx="0" cy="0"/>
        </a:xfrm>
      </p:grpSpPr>
      <p:sp>
        <p:nvSpPr>
          <p:cNvPr id="2643" name="Google Shape;2643;p146"/>
          <p:cNvSpPr txBox="1"/>
          <p:nvPr>
            <p:ph idx="1" type="body"/>
          </p:nvPr>
        </p:nvSpPr>
        <p:spPr>
          <a:xfrm>
            <a:off x="0" y="1941338"/>
            <a:ext cx="9144000" cy="1260858"/>
          </a:xfrm>
          <a:prstGeom prst="rect">
            <a:avLst/>
          </a:prstGeom>
          <a:solidFill>
            <a:schemeClr val="lt1"/>
          </a:solidFill>
          <a:ln>
            <a:noFill/>
          </a:ln>
        </p:spPr>
        <p:txBody>
          <a:bodyPr anchorCtr="1" anchor="ctr" bIns="45700" lIns="457200" spcFirstLastPara="1" rIns="457200" wrap="square" tIns="45700">
            <a:noAutofit/>
          </a:bodyPr>
          <a:lstStyle/>
          <a:p>
            <a:pPr indent="0" lvl="0" marL="0" rtl="0" algn="ctr">
              <a:lnSpc>
                <a:spcPct val="110000"/>
              </a:lnSpc>
              <a:spcBef>
                <a:spcPts val="0"/>
              </a:spcBef>
              <a:spcAft>
                <a:spcPts val="0"/>
              </a:spcAft>
              <a:buClr>
                <a:schemeClr val="accent1"/>
              </a:buClr>
              <a:buSzPts val="2200"/>
              <a:buFont typeface="Century Gothic"/>
              <a:buNone/>
            </a:pPr>
            <a:r>
              <a:rPr lang="en-GB"/>
              <a:t>Marketing and Customer Experience</a:t>
            </a:r>
            <a:br>
              <a:rPr lang="en-GB"/>
            </a:br>
            <a:r>
              <a:rPr lang="en-GB"/>
              <a:t>Use Cases</a:t>
            </a:r>
            <a:endParaRPr/>
          </a:p>
          <a:p>
            <a:pPr indent="0" lvl="0" marL="0" rtl="0" algn="ctr">
              <a:lnSpc>
                <a:spcPct val="110000"/>
              </a:lnSpc>
              <a:spcBef>
                <a:spcPts val="400"/>
              </a:spcBef>
              <a:spcAft>
                <a:spcPts val="0"/>
              </a:spcAft>
              <a:buClr>
                <a:schemeClr val="accent1"/>
              </a:buClr>
              <a:buSzPts val="2200"/>
              <a:buFont typeface="Century Gothic"/>
              <a:buNone/>
            </a:pPr>
            <a:r>
              <a:rPr lang="en-GB"/>
              <a:t>Insight Driven Customer Management</a:t>
            </a:r>
            <a:endParaRPr/>
          </a:p>
        </p:txBody>
      </p:sp>
      <p:sp>
        <p:nvSpPr>
          <p:cNvPr id="2644" name="Google Shape;2644;p146"/>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chemeClr val="lt1"/>
              </a:buClr>
              <a:buSzPts val="700"/>
              <a:buFont typeface="Century Gothic"/>
              <a:buNone/>
            </a:pPr>
            <a:r>
              <a:t/>
            </a:r>
            <a:endParaRP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2649" name="Shape 2649"/>
        <p:cNvGrpSpPr/>
        <p:nvPr/>
      </p:nvGrpSpPr>
      <p:grpSpPr>
        <a:xfrm>
          <a:off x="0" y="0"/>
          <a:ext cx="0" cy="0"/>
          <a:chOff x="0" y="0"/>
          <a:chExt cx="0" cy="0"/>
        </a:xfrm>
      </p:grpSpPr>
      <p:cxnSp>
        <p:nvCxnSpPr>
          <p:cNvPr id="2650" name="Google Shape;2650;p147"/>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651" name="Google Shape;2651;p147"/>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652" name="Google Shape;2652;p147"/>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653" name="Google Shape;2653;p147"/>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654" name="Google Shape;2654;p147"/>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Accelerated path to profitability</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Encourage customers to adopt profitable behaviour</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655" name="Google Shape;2655;p147"/>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Understand and modify bad ( unprofitable ) customer’s behaviour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good customers’ process when, where, who and how to  market customers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Establish new customers standard service plan, outcomes are lower more revenue from future sales and recover customer acquisition costs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onboarding interventions that accelerate path to profitability — target: reduce time-to-profit from 18 months to 9 months</a:t>
            </a:r>
            <a:endParaRPr/>
          </a:p>
        </p:txBody>
      </p:sp>
      <p:sp>
        <p:nvSpPr>
          <p:cNvPr id="2656" name="Google Shape;2656;p147"/>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Identification of events that can be incorporated into an on boarding programme to accelerate the path to profitability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Identification of events that can be used as intervention points to prevent unprofitable behaviour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Understand profit drivers to enable optimisation of product and service propositions</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657" name="Google Shape;2657;p147"/>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 Path to identify most journeys that lead to bad/good customers (including most common journeys)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Digital acquisition funnel analytics, real-time application scoring, look-alike modeling, social media lead generation, referral program optimization</a:t>
            </a:r>
          </a:p>
        </p:txBody>
      </p:sp>
      <p:sp>
        <p:nvSpPr>
          <p:cNvPr id="2658" name="Google Shape;2658;p147"/>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Many paths to profitability and some may not be able to be directly influenced</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Pakistan: Activity-based costing data not available at most banks; cost-to-serve varies 10x between branch and digital</a:t>
            </a:r>
            <a:endParaRPr/>
          </a:p>
        </p:txBody>
      </p:sp>
      <p:sp>
        <p:nvSpPr>
          <p:cNvPr id="2659" name="Google Shape;2659;p147"/>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Motivation data that shows the reason why the customers come into the bank</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Transactional data that identifies normal v abnormal behaviour suggesting customers towards bad or good</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Other data including customer basic data, channel data,  product hold data, customer value data </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FACT_CUSTOMER_PROFITABILITY, Agreement_Balance, Financial_Transaction, FTP_Rate, Activity_Cost | Pakistan: KIBOR-based FTP, PKR profitability, branch-level analysis, Islamic vs conventional paths</a:t>
            </a:r>
          </a:p>
          <a:p>
            <a:r>
              <a:rPr sz="800" i="1">
                <a:solidFill>
                  <a:srgbClr val="006699"/>
                </a:solidFill>
              </a:rPr>
              <a:t>Pakistan: CNIC-verified customer data, salary credit patterns, RAAST/IBFT transaction history, branch visit frequency, mobile app engagement</a:t>
            </a:r>
          </a:p>
        </p:txBody>
      </p:sp>
      <p:sp>
        <p:nvSpPr>
          <p:cNvPr id="2660" name="Google Shape;2660;p147"/>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Being able to understand which new customers are likely to bring low/high value to the bank means the bank can proactively make standard service plans for all new customers and re-pricing/growth plans for low value new customers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 Pakistan, understanding the path from new account to profitability is critical given PKR 3-5K acquisition cost and only 1.8 products/customer.</a:t>
            </a:r>
            <a:endParaRPr/>
          </a:p>
        </p:txBody>
      </p:sp>
      <p:sp>
        <p:nvSpPr>
          <p:cNvPr id="2661" name="Google Shape;2661;p147"/>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662" name="Google Shape;2662;p14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
        <p:nvSpPr>
          <p:cNvPr id="2663" name="Google Shape;2663;p147"/>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Path to Profitable/Unprofitable Customers </a:t>
            </a:r>
            <a:endParaRPr sz="2000"/>
          </a:p>
        </p:txBody>
      </p:sp>
      <p:sp>
        <p:nvSpPr>
          <p:cNvPr id="2664" name="Google Shape;2664;p147"/>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2669" name="Shape 2669"/>
        <p:cNvGrpSpPr/>
        <p:nvPr/>
      </p:nvGrpSpPr>
      <p:grpSpPr>
        <a:xfrm>
          <a:off x="0" y="0"/>
          <a:ext cx="0" cy="0"/>
          <a:chOff x="0" y="0"/>
          <a:chExt cx="0" cy="0"/>
        </a:xfrm>
      </p:grpSpPr>
      <p:cxnSp>
        <p:nvCxnSpPr>
          <p:cNvPr id="2670" name="Google Shape;2670;p148"/>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671" name="Google Shape;2671;p148"/>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672" name="Google Shape;2672;p148"/>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673" name="Google Shape;2673;p148"/>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674" name="Google Shape;2674;p148"/>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customer insight</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customer management</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sales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675" name="Google Shape;2675;p148"/>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and make product recommendations quickly and easily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 the profit per customer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Outcomes are more revenue from sales, at a lower cost per sale because re-work is reduced</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 the customer satisfaction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Enable value-based customer management — top 2% of Pakistan bank customers generate ~20% of revenue</a:t>
            </a:r>
            <a:endParaRPr/>
          </a:p>
        </p:txBody>
      </p:sp>
      <p:sp>
        <p:nvSpPr>
          <p:cNvPr id="2676" name="Google Shape;2676;p148"/>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Increased customer profitability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targeting of potentially profitable customer</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677" name="Google Shape;2677;p148"/>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NPV models for cash flow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Propensity to buy model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People like me affinity approach, segmentation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Dynamic micro-segmentation, ML clustering (K-means, DBSCAN), RFM + behavioral hybrid, needs-based segmentation, real-time segment migration tracking</a:t>
            </a:r>
          </a:p>
        </p:txBody>
      </p:sp>
      <p:sp>
        <p:nvSpPr>
          <p:cNvPr id="2678" name="Google Shape;2678;p148"/>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Model development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Model maintenance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Pakistan: No activity-based costing in most banks; Islamic product profit-sharing requires different CLTV methodology</a:t>
            </a:r>
            <a:endParaRPr/>
          </a:p>
        </p:txBody>
      </p:sp>
      <p:sp>
        <p:nvSpPr>
          <p:cNvPr id="2679" name="Google Shape;2679;p148"/>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From the data warehouse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Products and transaction data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Cash flows, operating costs, income, fees, etc</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Social Media data</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CLV_Score, NPV_Calculation, Propensity_Model, Product_Holding, Attrition_Model | Pakistan: KIBOR discount rates, multi-product CLV, Asaan Account conversion potential</a:t>
            </a:r>
          </a:p>
          <a:p>
            <a:r>
              <a:rPr sz="800" i="1">
                <a:solidFill>
                  <a:srgbClr val="006699"/>
                </a:solidFill>
              </a:rPr>
              <a:t>Pakistan: Product holdings across all core systems, KIBOR-based funds transfer pricing, activity-based costing, ECIB credit bureau data</a:t>
            </a:r>
          </a:p>
        </p:txBody>
      </p:sp>
      <p:sp>
        <p:nvSpPr>
          <p:cNvPr id="2680" name="Google Shape;2680;p148"/>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 Lifetime Value (CLTV) as the sum of 3 components: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 profitability - historic profitability of the customer</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Residual Value – value remaining in existing product holdings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Future Value – value of expected future purchases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goal is to increase CLTV by Identification potential products to reach the maximum value of expected future purchases </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Pakistan banks must calculate CLTV incorporating both conventional and Islamic product holdings, CASA deposits, lending, cards, and fee income.</a:t>
            </a:r>
            <a:endParaRPr/>
          </a:p>
        </p:txBody>
      </p:sp>
      <p:sp>
        <p:nvSpPr>
          <p:cNvPr id="2681" name="Google Shape;2681;p148"/>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682" name="Google Shape;2682;p148"/>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Customer Life Time Value</a:t>
            </a:r>
            <a:endParaRPr sz="2400"/>
          </a:p>
        </p:txBody>
      </p:sp>
      <p:sp>
        <p:nvSpPr>
          <p:cNvPr id="2683" name="Google Shape;2683;p148"/>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2684" name="Google Shape;2684;p14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2689" name="Shape 2689"/>
        <p:cNvGrpSpPr/>
        <p:nvPr/>
      </p:nvGrpSpPr>
      <p:grpSpPr>
        <a:xfrm>
          <a:off x="0" y="0"/>
          <a:ext cx="0" cy="0"/>
          <a:chOff x="0" y="0"/>
          <a:chExt cx="0" cy="0"/>
        </a:xfrm>
      </p:grpSpPr>
      <p:cxnSp>
        <p:nvCxnSpPr>
          <p:cNvPr id="2690" name="Google Shape;2690;p149"/>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691" name="Google Shape;2691;p149"/>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692" name="Google Shape;2692;p149"/>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693" name="Google Shape;2693;p149"/>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694" name="Google Shape;2694;p149"/>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focus (investment and oversight) on most important processes impacting customer satisfaction (E.g. On boarding)</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satisfaction from reengineering processes with low existing satisfaction scores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695" name="Google Shape;2695;p149"/>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Able to prioritise the services issues to resolve, that will improve NPS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Define process improvements to drive up NPS score (+16 for one banking client)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Reduced churn and improved cross sales from customers that are more willing to do more business with the bank</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Real-time NPS tracking across branch, digital, and agent channels with fintech benchmarking</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p:txBody>
      </p:sp>
      <p:sp>
        <p:nvSpPr>
          <p:cNvPr id="2696" name="Google Shape;2696;p149"/>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Identification of key processes negatively impacting customer satisfaction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Identification of potential root causes within sub optimal processes that require improvement</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697" name="Google Shape;2697;p149"/>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analysis (Text Tagging, TextChunking+nPath)to understand classify key issues &amp; sentiment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to identify critical interactions &amp; transactions leading to a positive or negative NPS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Analysis (TFIDF &amp; LDA) to identify topics that are trending in terms of frequency, or sentiment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Deep learning churn prediction, multi-product churn modeling, real-time churn scoring, root cause decomposition, economic value of retention</a:t>
            </a:r>
          </a:p>
        </p:txBody>
      </p:sp>
      <p:sp>
        <p:nvSpPr>
          <p:cNvPr id="2698" name="Google Shape;2698;p149"/>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Desirable if can link individual customer satisfaction data (E.g. NPS survey results and driver questions) with customer data</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699" name="Google Shape;2699;p149"/>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Online Interactions from all online browsing &amp; areas Offline Interactions with branches and call centres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Satisfaction/NPS survey data including scores given and verbatim comments relating to scores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a:p>
            <a:r>
              <a:rPr sz="800" i="1">
                <a:solidFill>
                  <a:srgbClr val="006699"/>
                </a:solidFill>
              </a:rPr>
              <a:t>Pakistan: SBP Consumer Protection complaint data, Google Play app ratings, social media sentiment (Twitter/X, Facebook)</a:t>
            </a:r>
          </a:p>
        </p:txBody>
      </p:sp>
      <p:sp>
        <p:nvSpPr>
          <p:cNvPr id="2700" name="Google Shape;2700;p149"/>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How to identify the root cause of low customer satisfaction</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From survey data, understand</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What the experiences/issues create drive down satisfaction</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How strongly customers feel about these issues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Highest priority services issues to resolve (i.e., those that have the biggest impact)</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What new/emerging trending issues exist</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Benchmark NPS against fintech competitors: traditional banks NPS ~20-30 vs. SadaPay ~70. Build continuous measurement from digital interaction data.</a:t>
            </a:r>
            <a:endParaRPr/>
          </a:p>
        </p:txBody>
      </p:sp>
      <p:sp>
        <p:nvSpPr>
          <p:cNvPr id="2701" name="Google Shape;2701;p149"/>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702" name="Google Shape;2702;p149"/>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Customer Satisfaction/(NPS) </a:t>
            </a:r>
            <a:endParaRPr sz="2000"/>
          </a:p>
        </p:txBody>
      </p:sp>
      <p:sp>
        <p:nvSpPr>
          <p:cNvPr id="2703" name="Google Shape;2703;p149"/>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2704" name="Google Shape;2704;p14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2709" name="Shape 2709"/>
        <p:cNvGrpSpPr/>
        <p:nvPr/>
      </p:nvGrpSpPr>
      <p:grpSpPr>
        <a:xfrm>
          <a:off x="0" y="0"/>
          <a:ext cx="0" cy="0"/>
          <a:chOff x="0" y="0"/>
          <a:chExt cx="0" cy="0"/>
        </a:xfrm>
      </p:grpSpPr>
      <p:cxnSp>
        <p:nvCxnSpPr>
          <p:cNvPr id="2710" name="Google Shape;2710;p150"/>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711" name="Google Shape;2711;p150"/>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712" name="Google Shape;2712;p150"/>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713" name="Google Shape;2713;p150"/>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714" name="Google Shape;2714;p150"/>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Operational view of customer experience</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of customer effort</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incorporate multiple customer contacts and journeys </a:t>
            </a:r>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715" name="Google Shape;2715;p150"/>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Reduced customer churn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customer satisfaction and loyalty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“Companion” program of trigger programs for customer contact</a:t>
            </a:r>
            <a:endParaRPr sz="800">
              <a:solidFill>
                <a:srgbClr val="3C3C3B"/>
              </a:solidFill>
              <a:latin typeface="Century Gothic"/>
              <a:ea typeface="Century Gothic"/>
              <a:cs typeface="Century Gothic"/>
              <a:sym typeface="Century Gothic"/>
            </a:endParaRPr>
          </a:p>
        </p:txBody>
      </p:sp>
      <p:sp>
        <p:nvSpPr>
          <p:cNvPr id="2716" name="Google Shape;2716;p150"/>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POV 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Create operational improvements  which are outlined by various events within CSI</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 overall CSI metrics – driving into various events and customer contacts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 other customer satisfaction metrics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717" name="Google Shape;2717;p150"/>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science approach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Correlation matrix of contacts and events to current customer sat metric</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Employ PCA to reduce co-linear metrics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Predictive modelling</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nPath analysis on granular event sequences, Markov chain journey modeling, abandonment prediction, real-time journey intervention, cross-channel attribution</a:t>
            </a:r>
          </a:p>
        </p:txBody>
      </p:sp>
      <p:sp>
        <p:nvSpPr>
          <p:cNvPr id="2718" name="Google Shape;2718;p150"/>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Current NPS is usually tracked to either a product, an event, or a representative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It is one moment of time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Supplemental analysis must be conducted  to define the drivers </a:t>
            </a:r>
            <a:endParaRPr/>
          </a:p>
        </p:txBody>
      </p:sp>
      <p:sp>
        <p:nvSpPr>
          <p:cNvPr id="2719" name="Google Shape;2719;p150"/>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Transactional customer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Profile / segmentation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Web click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Retail visits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CARE notes, text, issue resolution</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Financial metrics / Network metrics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a:p>
            <a:r>
              <a:rPr sz="800" i="1">
                <a:solidFill>
                  <a:srgbClr val="006699"/>
                </a:solidFill>
              </a:rPr>
              <a:t>Pakistan: SBP Consumer Protection complaint data, Google Play ratings, branch queue times, call center wait times</a:t>
            </a:r>
          </a:p>
        </p:txBody>
      </p:sp>
      <p:sp>
        <p:nvSpPr>
          <p:cNvPr id="2720" name="Google Shape;2720;p150"/>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Provide a more dynamic measure of customer experience, which goes beyond traditional survey data for customer satisfaction</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Comprehensive view of customer journey, including multiple customer contacts and channels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Reduce customer effort by creating a measure for customer operational improvements</a:t>
            </a:r>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In Pakistan, satisfaction measurement is primarily survey-based — opportunity to build continuous measurement from digital interaction data.</a:t>
            </a:r>
            <a:endParaRPr/>
          </a:p>
        </p:txBody>
      </p:sp>
      <p:sp>
        <p:nvSpPr>
          <p:cNvPr id="2721" name="Google Shape;2721;p150"/>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Banking Industry Best Practice</a:t>
            </a:r>
            <a:endParaRPr sz="900">
              <a:solidFill>
                <a:schemeClr val="accent6"/>
              </a:solidFill>
              <a:latin typeface="Century Gothic"/>
              <a:ea typeface="Century Gothic"/>
              <a:cs typeface="Century Gothic"/>
              <a:sym typeface="Century Gothic"/>
            </a:endParaRPr>
          </a:p>
        </p:txBody>
      </p:sp>
      <p:sp>
        <p:nvSpPr>
          <p:cNvPr id="2722" name="Google Shape;2722;p150"/>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Customer Satisfaction Index</a:t>
            </a:r>
            <a:endParaRPr sz="2400"/>
          </a:p>
        </p:txBody>
      </p:sp>
      <p:sp>
        <p:nvSpPr>
          <p:cNvPr id="2723" name="Google Shape;2723;p150"/>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2724" name="Google Shape;2724;p15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2729" name="Shape 2729"/>
        <p:cNvGrpSpPr/>
        <p:nvPr/>
      </p:nvGrpSpPr>
      <p:grpSpPr>
        <a:xfrm>
          <a:off x="0" y="0"/>
          <a:ext cx="0" cy="0"/>
          <a:chOff x="0" y="0"/>
          <a:chExt cx="0" cy="0"/>
        </a:xfrm>
      </p:grpSpPr>
      <p:cxnSp>
        <p:nvCxnSpPr>
          <p:cNvPr id="2730" name="Google Shape;2730;p151"/>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731" name="Google Shape;2731;p151"/>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732" name="Google Shape;2732;p151"/>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733" name="Google Shape;2733;p151"/>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734" name="Google Shape;2734;p151"/>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Actively reduce the complaint rate among the customer base or key customer segments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 the cost of processing and rectifying complaints by proactively addressing customer service issues early</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 customer satisfaction / NPS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735" name="Google Shape;2735;p151"/>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Tactically reduce the number of complaints actually made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Training to address the common issues leading to a complaint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Complaint levels reduced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Sales compliance…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Identifying Process &amp; Service Failures, quantify the impact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Target: predict 30% of complaints 7 days before filing, enabling proactive resolution</a:t>
            </a:r>
            <a:endParaRPr/>
          </a:p>
        </p:txBody>
      </p:sp>
      <p:sp>
        <p:nvSpPr>
          <p:cNvPr id="2736" name="Google Shape;2736;p151"/>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predict a complaint (with a success rate &gt; x %) and create an event trigger before a complaint is made by the customer</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737" name="Google Shape;2737;p151"/>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Sessionize interaction data identify unique complaint event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analysis, nGram, Naïve Bayes Text Classifier to identify the nature of the conversation, sentiment and risk of complaint being made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N-Path/Graph to identify interactions &amp; transactions leading to a complaint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Deep learning churn prediction, multi-product churn modeling, real-time churn scoring, root cause decomposition, economic value of retention</a:t>
            </a:r>
          </a:p>
        </p:txBody>
      </p:sp>
      <p:sp>
        <p:nvSpPr>
          <p:cNvPr id="2738" name="Google Shape;2738;p151"/>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Maintaining and updating models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739" name="Google Shape;2739;p151"/>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All Complaint Commentary between the bank and customer, regardless of channel (to validate)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Complaint Status and Update information, complainant, times, agents handling complaint (Cust First, Excel, Complaints System etc)</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Online Interactions, including page refresh speed, online abandonment</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a:p>
            <a:r>
              <a:rPr sz="800" i="1">
                <a:solidFill>
                  <a:srgbClr val="006699"/>
                </a:solidFill>
              </a:rPr>
              <a:t>Pakistan: SBP complaint history, call center sentiment data, social media mentions, branch queue wait times</a:t>
            </a:r>
          </a:p>
        </p:txBody>
      </p:sp>
      <p:sp>
        <p:nvSpPr>
          <p:cNvPr id="2740" name="Google Shape;2740;p151"/>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Identify the root cause of complaints?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Identify customers at risk of complaining</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How to proactively avoid customers reaching the point where they complain</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Minimise the impact of complaints such as cost of resolution or complaint driven churn</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 customer satisfaction and NPS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Predict SBP Consumer Protection complaints before filing — each formal complaint carries regulatory cost and reputation risk.</a:t>
            </a:r>
            <a:endParaRPr/>
          </a:p>
        </p:txBody>
      </p:sp>
      <p:sp>
        <p:nvSpPr>
          <p:cNvPr id="2741" name="Google Shape;2741;p151"/>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742" name="Google Shape;2742;p151"/>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2743" name="Google Shape;2743;p151"/>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Predict Complaint </a:t>
            </a:r>
            <a:endParaRPr sz="2400"/>
          </a:p>
        </p:txBody>
      </p:sp>
      <p:sp>
        <p:nvSpPr>
          <p:cNvPr id="2744" name="Google Shape;2744;p15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2749" name="Shape 2749"/>
        <p:cNvGrpSpPr/>
        <p:nvPr/>
      </p:nvGrpSpPr>
      <p:grpSpPr>
        <a:xfrm>
          <a:off x="0" y="0"/>
          <a:ext cx="0" cy="0"/>
          <a:chOff x="0" y="0"/>
          <a:chExt cx="0" cy="0"/>
        </a:xfrm>
      </p:grpSpPr>
      <p:cxnSp>
        <p:nvCxnSpPr>
          <p:cNvPr id="2750" name="Google Shape;2750;p152"/>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751" name="Google Shape;2751;p152"/>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752" name="Google Shape;2752;p152"/>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753" name="Google Shape;2753;p152"/>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754" name="Google Shape;2754;p152"/>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cost of enacting processes – greater automation, less manual intervention, errors and rework </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customer satisfaction from slicker processes with less errors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755" name="Google Shape;2755;p152"/>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Quickly visualise and identify opportunities to improve complex or costly processes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Allocate costs to each step of a process to identify potential business value, improved speed &amp; efficiency &amp; better client outcomes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Key broken processes: digital onboarding (40-60% dropoff), IBFT failure handling, cheque clearing delays, loan disbursement (7-21 days)</a:t>
            </a:r>
            <a:endParaRPr/>
          </a:p>
        </p:txBody>
      </p:sp>
      <p:sp>
        <p:nvSpPr>
          <p:cNvPr id="2756" name="Google Shape;2756;p152"/>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highlight most inefficient processes or customer impacting processes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identify and reengineer sub optimal processes and process steps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757" name="Google Shape;2757;p152"/>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Using npath and graphing identify the actual steps for all customers passing through the process &amp; the outcomes, including key delays and rework</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Allocate costs to each step of the process to identifying potential value in improving or eliminating a particular step</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Time-driven ABC, automated driver collection from core systems, real-time unit cost calculation, what-if scenario modeling, channel cost comparison</a:t>
            </a:r>
          </a:p>
        </p:txBody>
      </p:sp>
      <p:sp>
        <p:nvSpPr>
          <p:cNvPr id="2758" name="Google Shape;2758;p152"/>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Can be challenging to understand processes from system log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Manual steps in the process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759" name="Google Shape;2759;p152"/>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Client and workflow data associated with each process / case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Outcome data as a result of each activity – complaint, rework, attrition/dormancy</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Cost data for each step of the process (E.g. from Activity Based Costing)</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p:txBody>
      </p:sp>
      <p:sp>
        <p:nvSpPr>
          <p:cNvPr id="2760" name="Google Shape;2760;p152"/>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Broken or inefficient processes create significant inefficiencies, additional costs &amp; typically take longer to achieve the desired outcome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Inefficient processes often create rework driven from client complaints around how long a process takes or the quality of outcome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Quickly identifying areas of process failure or opportunities to enhance important processes can deliver significant operational improvement</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Identify broken processes in Pakistan multi-system environment: account opening requires 5 systems, NADRA verification adds latency, debit card issuance takes 7-14 days.</a:t>
            </a:r>
            <a:endParaRPr/>
          </a:p>
        </p:txBody>
      </p:sp>
      <p:sp>
        <p:nvSpPr>
          <p:cNvPr id="2761" name="Google Shape;2761;p152"/>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Large European Bank</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762" name="Google Shape;2762;p152"/>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2763" name="Google Shape;2763;p152"/>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Identify Broken/Sub Optimal Processes </a:t>
            </a:r>
            <a:endParaRPr sz="2400"/>
          </a:p>
        </p:txBody>
      </p:sp>
      <p:sp>
        <p:nvSpPr>
          <p:cNvPr id="2764" name="Google Shape;2764;p15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2769" name="Shape 2769"/>
        <p:cNvGrpSpPr/>
        <p:nvPr/>
      </p:nvGrpSpPr>
      <p:grpSpPr>
        <a:xfrm>
          <a:off x="0" y="0"/>
          <a:ext cx="0" cy="0"/>
          <a:chOff x="0" y="0"/>
          <a:chExt cx="0" cy="0"/>
        </a:xfrm>
      </p:grpSpPr>
      <p:cxnSp>
        <p:nvCxnSpPr>
          <p:cNvPr id="2770" name="Google Shape;2770;p153"/>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771" name="Google Shape;2771;p153"/>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772" name="Google Shape;2772;p153"/>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773" name="Google Shape;2773;p153"/>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774" name="Google Shape;2774;p153"/>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Ability to proactively follow up certain calls that may be a marketing opportunity, customer service issue or churn risk</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Coaching aid to improve skills of call centre agents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775" name="Google Shape;2775;p153"/>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Fact based data to enhance the organisations understanding of the clients attitude or opportunities to deepen or protect the relationship:</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Marketing opportunities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Retention opportunities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Agent training opportunities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776" name="Google Shape;2776;p153"/>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identify overall sentiment of conversation and extract keywords indicating possible root causes </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777" name="Google Shape;2777;p153"/>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Sessionise data to identify the total conversation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Natural language text analysis of transcribed contact centre calls to classify the purpose of call &amp; call sentiment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of data within decisioning processes to drive appropriate actions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Survival analysis, gradient-boosted churn models, retention offer optimization, value-at-risk by customer, proactive intervention triggering</a:t>
            </a:r>
          </a:p>
        </p:txBody>
      </p:sp>
      <p:sp>
        <p:nvSpPr>
          <p:cNvPr id="2778" name="Google Shape;2778;p153"/>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779" name="Google Shape;2779;p153"/>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Call centre voice records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loaded into the Operational CRM and product systems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Churn_Score, Balance_Withdrawal_Pattern, Account_Closure, Dormancy_Flag | Pakistan: CASA silent churn, FD non-renewal, card dormancy, salary account migration</a:t>
            </a:r>
          </a:p>
          <a:p>
            <a:r>
              <a:rPr sz="800" i="1">
                <a:solidFill>
                  <a:srgbClr val="006699"/>
                </a:solidFill>
              </a:rPr>
              <a:t>Pakistan: Urdu/English call recordings, IVR interaction logs, WhatsApp chat transcripts. 1M+ calls/month per large bank.</a:t>
            </a:r>
          </a:p>
        </p:txBody>
      </p:sp>
      <p:sp>
        <p:nvSpPr>
          <p:cNvPr id="2780" name="Google Shape;2780;p153"/>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When a client is talking to a call centre agent a lot of information is provided during the conversation. This could be their overall sentiment (happy/unhappy) or other information including marketing opportunities, service issues, creditworthiness  etc.</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It is not possible or feasible to ask agents to manually record this so this data is lost to the organisation – finding a way to capture this can deliver a range of positive outcomes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Analyze sentiment in Urdu and English call recordings — Urdu NLP models less mature, requires custom training.</a:t>
            </a:r>
            <a:endParaRPr/>
          </a:p>
        </p:txBody>
      </p:sp>
      <p:sp>
        <p:nvSpPr>
          <p:cNvPr id="2781" name="Google Shape;2781;p153"/>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782" name="Google Shape;2782;p153"/>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2783" name="Google Shape;2783;p153"/>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Call Centre Sentiment </a:t>
            </a:r>
            <a:endParaRPr sz="2400"/>
          </a:p>
        </p:txBody>
      </p:sp>
      <p:sp>
        <p:nvSpPr>
          <p:cNvPr id="2784" name="Google Shape;2784;p15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2789" name="Shape 2789"/>
        <p:cNvGrpSpPr/>
        <p:nvPr/>
      </p:nvGrpSpPr>
      <p:grpSpPr>
        <a:xfrm>
          <a:off x="0" y="0"/>
          <a:ext cx="0" cy="0"/>
          <a:chOff x="0" y="0"/>
          <a:chExt cx="0" cy="0"/>
        </a:xfrm>
      </p:grpSpPr>
      <p:cxnSp>
        <p:nvCxnSpPr>
          <p:cNvPr id="2790" name="Google Shape;2790;p154"/>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791" name="Google Shape;2791;p154"/>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792" name="Google Shape;2792;p154"/>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793" name="Google Shape;2793;p154"/>
          <p:cNvSpPr/>
          <p:nvPr/>
        </p:nvSpPr>
        <p:spPr>
          <a:xfrm rot="5400000">
            <a:off x="-86832" y="2518301"/>
            <a:ext cx="299641" cy="130284"/>
          </a:xfrm>
          <a:prstGeom prst="triangle">
            <a:avLst>
              <a:gd fmla="val 50000" name="adj"/>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794" name="Google Shape;2794;p154"/>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71450" lvl="0" marL="171450" marR="0" rtl="0" algn="l">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response from personalisation of offers – reflecting customers interests</a:t>
            </a:r>
            <a:endParaRPr/>
          </a:p>
          <a:p>
            <a:pPr indent="-171450" lvl="0" marL="171450" marR="0" rtl="0" algn="l">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market share / average product holdings by targeting customers who have expensive products with competitors</a:t>
            </a:r>
            <a:endParaRPr/>
          </a:p>
          <a:p>
            <a:pPr indent="-171450" lvl="0" marL="171450" marR="0" rtl="0" algn="l">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Offer additional value to customers by offering discounted 3rd party offers</a:t>
            </a:r>
            <a:endParaRPr sz="900">
              <a:solidFill>
                <a:schemeClr val="dk1"/>
              </a:solidFill>
              <a:latin typeface="Century Gothic"/>
              <a:ea typeface="Century Gothic"/>
              <a:cs typeface="Century Gothic"/>
              <a:sym typeface="Century Gothic"/>
            </a:endParaRPr>
          </a:p>
          <a:p>
            <a:pPr indent="-171450" lvl="0" marL="171450" marR="0" rtl="0" algn="l">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loyalty from customers using online budgeting tools – transact with one provider to provide complete picture of spend</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795" name="Google Shape;2795;p154"/>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classify most financial transactions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Creation</a:t>
            </a:r>
            <a:r>
              <a:rPr lang="en-GB" sz="800">
                <a:solidFill>
                  <a:schemeClr val="dk1"/>
                </a:solidFill>
                <a:latin typeface="Century Gothic"/>
                <a:ea typeface="Century Gothic"/>
                <a:cs typeface="Century Gothic"/>
                <a:sym typeface="Century Gothic"/>
              </a:rPr>
              <a:t> of transaction reference library </a:t>
            </a:r>
            <a:endParaRPr sz="800">
              <a:solidFill>
                <a:schemeClr val="dk1"/>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New derived data source to create new customer insights and feed into campaign activity</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Pakistan-specific categories: salary, rent, utility, education fees, healthcare, religious (Zakat/Qurbani), remittance, government payments</a:t>
            </a:r>
            <a:endParaRPr/>
          </a:p>
        </p:txBody>
      </p:sp>
      <p:sp>
        <p:nvSpPr>
          <p:cNvPr id="2796" name="Google Shape;2796;p154"/>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Comprehensive categorisation of financial transactions -  both spending (debits) and income (credits)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Transactional classification used by many downstream analytical applications such as Personal Finance Management (PFM) tools</a:t>
            </a:r>
            <a:endParaRPr/>
          </a:p>
          <a:p>
            <a:pPr indent="-130175" lvl="0" marL="180975"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30175" lvl="0" marL="180975" marR="0" rtl="0" algn="l">
              <a:lnSpc>
                <a:spcPct val="90000"/>
              </a:lnSpc>
              <a:spcBef>
                <a:spcPts val="4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4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797" name="Google Shape;2797;p154"/>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Analytics to create and maintain transactional classification library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level spending summaries by category or merchants</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Event detection routines based on changes to  spending patterns</a:t>
            </a:r>
            <a:endParaRPr/>
          </a:p>
          <a:p>
            <a:r>
              <a:rPr sz="800" i="1">
                <a:solidFill>
                  <a:srgbClr val="800080"/>
                </a:solidFill>
              </a:rPr>
              <a:t>Enhanced: ML-based transaction categorization, merchant code enrichment, salary/income detection, lifestyle spending patterns, automated tax certificate generation</a:t>
            </a:r>
          </a:p>
        </p:txBody>
      </p:sp>
      <p:sp>
        <p:nvSpPr>
          <p:cNvPr id="2798" name="Google Shape;2798;p154"/>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quality and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Maintenance of reference library when new merchants and beneficiaries are created</a:t>
            </a:r>
            <a:endParaRPr/>
          </a:p>
        </p:txBody>
      </p:sp>
      <p:sp>
        <p:nvSpPr>
          <p:cNvPr id="2799" name="Google Shape;2799;p154"/>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All detailed payment records including payment type, beneficiary account details, beneficiary names, payment reference details, merchant codes, location, currency, Date, Time</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Full debit and credit transactional history </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Comprehensive transaction reference library with business focused taxonomy and automated monitoring of coverage</a:t>
            </a:r>
            <a:endParaRPr/>
          </a:p>
          <a:p>
            <a:r>
              <a:rPr sz="800" i="1">
                <a:solidFill>
                  <a:srgbClr val="006699"/>
                </a:solidFill>
              </a:rPr>
              <a:t>FSDM Sources: CLV_Score, NPV_Calculation, Propensity_Model, Product_Holding, Attrition_Model | Pakistan: KIBOR discount rates, multi-product CLV, Asaan Account conversion potential</a:t>
            </a:r>
          </a:p>
          <a:p>
            <a:r>
              <a:rPr sz="800" i="1">
                <a:solidFill>
                  <a:srgbClr val="006699"/>
                </a:solidFill>
              </a:rPr>
              <a:t>Pakistan: RAAST transaction data, IBFT transfers, POS/debit card spending (MCC codes), mobile wallet data, utility bill payments</a:t>
            </a:r>
          </a:p>
        </p:txBody>
      </p:sp>
      <p:sp>
        <p:nvSpPr>
          <p:cNvPr id="2800" name="Google Shape;2800;p154"/>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71450" lvl="0" marL="171450" marR="0" rtl="0" algn="l">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Classify account transactions to understand customer behaviour Provide spending summaries to help customers  budget more effectively</a:t>
            </a:r>
            <a:endParaRPr/>
          </a:p>
          <a:p>
            <a:pPr indent="-171450" lvl="0" marL="171450" marR="0" rtl="0" algn="l">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Identify life events that indicate a customer need</a:t>
            </a:r>
            <a:endParaRPr/>
          </a:p>
          <a:p>
            <a:pPr indent="-171450" lvl="0" marL="171450" marR="0" rtl="0" algn="l">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Understand the customer better through the creation attitudinal and behavioural segmentations based on their spending behaviour (Loyalty, ethics, Brand Cachet)</a:t>
            </a:r>
            <a:endParaRPr/>
          </a:p>
          <a:p>
            <a:pPr indent="-171450" lvl="0" marL="171450" marR="0" rtl="0" algn="l">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Offer value to customer through creation of relevant 3rd party offers</a:t>
            </a:r>
            <a:endParaRPr/>
          </a:p>
          <a:p>
            <a:pPr indent="-123825" lvl="0" marL="180975" marR="0" rtl="0" algn="l">
              <a:lnSpc>
                <a:spcPct val="90000"/>
              </a:lnSpc>
              <a:spcBef>
                <a:spcPts val="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71450" lvl="0" marL="171450" marR="0" rtl="0" algn="l">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Classify RAAST instant payments by purpose: P2P, P2M, bill payment, salary, remittance, Zakat. Detect salary credits in accounts without employer tags — enables lending for 70% informal workforce.</a:t>
            </a:r>
            <a:endParaRPr/>
          </a:p>
        </p:txBody>
      </p:sp>
      <p:sp>
        <p:nvSpPr>
          <p:cNvPr id="2801" name="Google Shape;2801;p154"/>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2802" name="Google Shape;2802;p154"/>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2803" name="Google Shape;2803;p154"/>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Transactional Classification</a:t>
            </a:r>
            <a:endParaRPr sz="2400"/>
          </a:p>
        </p:txBody>
      </p:sp>
      <p:sp>
        <p:nvSpPr>
          <p:cNvPr id="2804" name="Google Shape;2804;p15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9" name="Shape 2809"/>
        <p:cNvGrpSpPr/>
        <p:nvPr/>
      </p:nvGrpSpPr>
      <p:grpSpPr>
        <a:xfrm>
          <a:off x="0" y="0"/>
          <a:ext cx="0" cy="0"/>
          <a:chOff x="0" y="0"/>
          <a:chExt cx="0" cy="0"/>
        </a:xfrm>
      </p:grpSpPr>
      <p:cxnSp>
        <p:nvCxnSpPr>
          <p:cNvPr id="2810" name="Google Shape;2810;p155"/>
          <p:cNvCxnSpPr/>
          <p:nvPr/>
        </p:nvCxnSpPr>
        <p:spPr>
          <a:xfrm>
            <a:off x="4576599" y="810596"/>
            <a:ext cx="0" cy="3893399"/>
          </a:xfrm>
          <a:prstGeom prst="straightConnector1">
            <a:avLst/>
          </a:prstGeom>
          <a:noFill/>
          <a:ln cap="flat" cmpd="sng" w="12700">
            <a:solidFill>
              <a:schemeClr val="lt2"/>
            </a:solidFill>
            <a:prstDash val="solid"/>
            <a:round/>
            <a:headEnd len="sm" w="sm" type="none"/>
            <a:tailEnd len="sm" w="sm" type="none"/>
          </a:ln>
        </p:spPr>
      </p:cxnSp>
      <p:sp>
        <p:nvSpPr>
          <p:cNvPr id="2811" name="Google Shape;2811;p155"/>
          <p:cNvSpPr/>
          <p:nvPr/>
        </p:nvSpPr>
        <p:spPr>
          <a:xfrm rot="5400000">
            <a:off x="-86832" y="2518301"/>
            <a:ext cx="299641" cy="130284"/>
          </a:xfrm>
          <a:prstGeom prst="triangle">
            <a:avLst>
              <a:gd fmla="val 50000" name="adj"/>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812" name="Google Shape;2812;p155"/>
          <p:cNvSpPr txBox="1"/>
          <p:nvPr>
            <p:ph type="title"/>
          </p:nvPr>
        </p:nvSpPr>
        <p:spPr>
          <a:xfrm>
            <a:off x="423864" y="164592"/>
            <a:ext cx="6121238"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Transactional Classification</a:t>
            </a:r>
            <a:endParaRPr sz="2400"/>
          </a:p>
        </p:txBody>
      </p:sp>
      <p:sp>
        <p:nvSpPr>
          <p:cNvPr id="2813" name="Google Shape;2813;p155"/>
          <p:cNvSpPr/>
          <p:nvPr/>
        </p:nvSpPr>
        <p:spPr>
          <a:xfrm>
            <a:off x="4795837" y="806399"/>
            <a:ext cx="3949200" cy="3897595"/>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Use Case Results</a:t>
            </a:r>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Example Analytical Applications</a:t>
            </a:r>
            <a:endParaRPr sz="900">
              <a:solidFill>
                <a:schemeClr val="dk1"/>
              </a:solidFill>
              <a:latin typeface="Century Gothic"/>
              <a:ea typeface="Century Gothic"/>
              <a:cs typeface="Century Gothic"/>
              <a:sym typeface="Century Gothic"/>
            </a:endParaRPr>
          </a:p>
        </p:txBody>
      </p:sp>
      <p:sp>
        <p:nvSpPr>
          <p:cNvPr id="2814" name="Google Shape;2814;p155"/>
          <p:cNvSpPr/>
          <p:nvPr/>
        </p:nvSpPr>
        <p:spPr>
          <a:xfrm>
            <a:off x="423863" y="807897"/>
            <a:ext cx="4048125" cy="3896098"/>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Use Case Detail</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Example Classification Taxonomy – Highest Level</a:t>
            </a:r>
            <a:endParaRPr/>
          </a:p>
          <a:p>
            <a:pPr indent="-58737" lvl="0" marL="119063"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p:txBody>
      </p:sp>
      <p:sp>
        <p:nvSpPr>
          <p:cNvPr id="2815" name="Google Shape;2815;p155"/>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pic>
        <p:nvPicPr>
          <p:cNvPr id="2816" name="Google Shape;2816;p155"/>
          <p:cNvPicPr preferRelativeResize="0"/>
          <p:nvPr/>
        </p:nvPicPr>
        <p:blipFill rotWithShape="1">
          <a:blip r:embed="rId3">
            <a:alphaModFix/>
          </a:blip>
          <a:srcRect b="0" l="0" r="0" t="0"/>
          <a:stretch/>
        </p:blipFill>
        <p:spPr>
          <a:xfrm>
            <a:off x="4963592" y="2631409"/>
            <a:ext cx="2186156" cy="1165950"/>
          </a:xfrm>
          <a:prstGeom prst="rect">
            <a:avLst/>
          </a:prstGeom>
          <a:noFill/>
          <a:ln>
            <a:noFill/>
          </a:ln>
        </p:spPr>
      </p:pic>
      <p:pic>
        <p:nvPicPr>
          <p:cNvPr id="2817" name="Google Shape;2817;p155"/>
          <p:cNvPicPr preferRelativeResize="0"/>
          <p:nvPr/>
        </p:nvPicPr>
        <p:blipFill rotWithShape="1">
          <a:blip r:embed="rId4">
            <a:alphaModFix/>
          </a:blip>
          <a:srcRect b="0" l="0" r="0" t="0"/>
          <a:stretch/>
        </p:blipFill>
        <p:spPr>
          <a:xfrm>
            <a:off x="7515892" y="2631409"/>
            <a:ext cx="1267695" cy="1165950"/>
          </a:xfrm>
          <a:prstGeom prst="rect">
            <a:avLst/>
          </a:prstGeom>
          <a:noFill/>
          <a:ln>
            <a:noFill/>
          </a:ln>
        </p:spPr>
      </p:pic>
      <p:pic>
        <p:nvPicPr>
          <p:cNvPr id="2818" name="Google Shape;2818;p155"/>
          <p:cNvPicPr preferRelativeResize="0"/>
          <p:nvPr/>
        </p:nvPicPr>
        <p:blipFill rotWithShape="1">
          <a:blip r:embed="rId5">
            <a:alphaModFix/>
          </a:blip>
          <a:srcRect b="0" l="0" r="0" t="0"/>
          <a:stretch/>
        </p:blipFill>
        <p:spPr>
          <a:xfrm>
            <a:off x="5193316" y="3831926"/>
            <a:ext cx="3590271" cy="692907"/>
          </a:xfrm>
          <a:prstGeom prst="rect">
            <a:avLst/>
          </a:prstGeom>
          <a:noFill/>
          <a:ln>
            <a:noFill/>
          </a:ln>
        </p:spPr>
      </p:pic>
      <p:pic>
        <p:nvPicPr>
          <p:cNvPr id="2819" name="Google Shape;2819;p155"/>
          <p:cNvPicPr preferRelativeResize="0"/>
          <p:nvPr/>
        </p:nvPicPr>
        <p:blipFill rotWithShape="1">
          <a:blip r:embed="rId6">
            <a:alphaModFix/>
          </a:blip>
          <a:srcRect b="0" l="0" r="0" t="0"/>
          <a:stretch/>
        </p:blipFill>
        <p:spPr>
          <a:xfrm>
            <a:off x="4963592" y="1325822"/>
            <a:ext cx="3819995" cy="1207012"/>
          </a:xfrm>
          <a:prstGeom prst="rect">
            <a:avLst/>
          </a:prstGeom>
          <a:noFill/>
          <a:ln>
            <a:noFill/>
          </a:ln>
        </p:spPr>
      </p:pic>
      <p:sp>
        <p:nvSpPr>
          <p:cNvPr id="2820" name="Google Shape;2820;p155"/>
          <p:cNvSpPr txBox="1"/>
          <p:nvPr/>
        </p:nvSpPr>
        <p:spPr>
          <a:xfrm>
            <a:off x="437209" y="1536471"/>
            <a:ext cx="3894138" cy="292494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lang="en-GB" sz="1400">
                <a:solidFill>
                  <a:schemeClr val="dk2"/>
                </a:solidFill>
                <a:latin typeface="Arial"/>
                <a:ea typeface="Arial"/>
                <a:cs typeface="Arial"/>
                <a:sym typeface="Arial"/>
              </a:rPr>
              <a:t>Example Top Level Classification:</a:t>
            </a:r>
            <a:endParaRPr sz="1400">
              <a:solidFill>
                <a:schemeClr val="dk2"/>
              </a:solidFill>
              <a:latin typeface="Arial"/>
              <a:ea typeface="Arial"/>
              <a:cs typeface="Arial"/>
              <a:sym typeface="Arial"/>
            </a:endParaRPr>
          </a:p>
          <a:p>
            <a:pPr indent="-190800" lvl="0" marL="190800" marR="0" rtl="0" algn="l">
              <a:lnSpc>
                <a:spcPct val="90000"/>
              </a:lnSpc>
              <a:spcBef>
                <a:spcPts val="0"/>
              </a:spcBef>
              <a:spcAft>
                <a:spcPts val="0"/>
              </a:spcAft>
              <a:buClr>
                <a:srgbClr val="006600"/>
              </a:buClr>
              <a:buSzPts val="1400"/>
              <a:buFont typeface="Noto Sans Symbols"/>
              <a:buNone/>
            </a:pPr>
            <a:r>
              <a:t/>
            </a:r>
            <a:endParaRPr b="1" sz="1400" u="sng">
              <a:solidFill>
                <a:schemeClr val="dk2"/>
              </a:solidFill>
              <a:latin typeface="Arial"/>
              <a:ea typeface="Arial"/>
              <a:cs typeface="Arial"/>
              <a:sym typeface="Arial"/>
            </a:endParaRPr>
          </a:p>
          <a:p>
            <a:pPr indent="-190800" lvl="0" marL="190800" marR="0" rtl="0" algn="l">
              <a:lnSpc>
                <a:spcPct val="90000"/>
              </a:lnSpc>
              <a:spcBef>
                <a:spcPts val="0"/>
              </a:spcBef>
              <a:spcAft>
                <a:spcPts val="0"/>
              </a:spcAft>
              <a:buClr>
                <a:srgbClr val="006600"/>
              </a:buClr>
              <a:buSzPts val="1400"/>
              <a:buFont typeface="Noto Sans Symbols"/>
              <a:buNone/>
            </a:pPr>
            <a:r>
              <a:rPr b="1" lang="en-GB" sz="1400" u="sng">
                <a:solidFill>
                  <a:schemeClr val="dk2"/>
                </a:solidFill>
                <a:latin typeface="Arial"/>
                <a:ea typeface="Arial"/>
                <a:cs typeface="Arial"/>
                <a:sym typeface="Arial"/>
              </a:rPr>
              <a:t>Debits</a:t>
            </a:r>
            <a:endParaRPr/>
          </a:p>
          <a:p>
            <a:pPr indent="-101900" lvl="0" marL="190800" marR="0" rtl="0" algn="l">
              <a:lnSpc>
                <a:spcPct val="90000"/>
              </a:lnSpc>
              <a:spcBef>
                <a:spcPts val="0"/>
              </a:spcBef>
              <a:spcAft>
                <a:spcPts val="0"/>
              </a:spcAft>
              <a:buClr>
                <a:srgbClr val="006600"/>
              </a:buClr>
              <a:buSzPts val="1400"/>
              <a:buFont typeface="Noto Sans Symbols"/>
              <a:buNone/>
            </a:pPr>
            <a:r>
              <a:t/>
            </a:r>
            <a:endParaRPr b="1" sz="1400">
              <a:solidFill>
                <a:schemeClr val="dk2"/>
              </a:solidFill>
              <a:latin typeface="Arial"/>
              <a:ea typeface="Arial"/>
              <a:cs typeface="Arial"/>
              <a:sym typeface="Arial"/>
            </a:endParaRPr>
          </a:p>
          <a:p>
            <a:pPr indent="-190800" lvl="0" marL="1908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Retail</a:t>
            </a:r>
            <a:endParaRPr/>
          </a:p>
          <a:p>
            <a:pPr indent="-190800" lvl="0" marL="1908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Household Bills</a:t>
            </a:r>
            <a:endParaRPr/>
          </a:p>
          <a:p>
            <a:pPr indent="-190800" lvl="0" marL="1908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Communication</a:t>
            </a:r>
            <a:endParaRPr/>
          </a:p>
          <a:p>
            <a:pPr indent="-190800" lvl="0" marL="1908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Hobbies &amp; Interests</a:t>
            </a:r>
            <a:endParaRPr/>
          </a:p>
          <a:p>
            <a:pPr indent="-190800" lvl="0" marL="1908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Travel</a:t>
            </a:r>
            <a:endParaRPr/>
          </a:p>
          <a:p>
            <a:pPr indent="-190800" lvl="0" marL="1908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Services</a:t>
            </a:r>
            <a:endParaRPr/>
          </a:p>
          <a:p>
            <a:pPr indent="-190800" lvl="0" marL="1908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Financial Services</a:t>
            </a:r>
            <a:endParaRPr/>
          </a:p>
          <a:p>
            <a:pPr indent="-190800" lvl="0" marL="1908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Motor</a:t>
            </a:r>
            <a:endParaRPr/>
          </a:p>
          <a:p>
            <a:pPr indent="-190800" lvl="0" marL="1908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Other</a:t>
            </a:r>
            <a:endParaRPr sz="1400">
              <a:solidFill>
                <a:schemeClr val="dk2"/>
              </a:solidFill>
              <a:latin typeface="Arial"/>
              <a:ea typeface="Arial"/>
              <a:cs typeface="Arial"/>
              <a:sym typeface="Arial"/>
            </a:endParaRPr>
          </a:p>
          <a:p>
            <a:pPr indent="-190800" lvl="0" marL="190800" marR="0" rtl="0" algn="l">
              <a:lnSpc>
                <a:spcPct val="90000"/>
              </a:lnSpc>
              <a:spcBef>
                <a:spcPts val="0"/>
              </a:spcBef>
              <a:spcAft>
                <a:spcPts val="0"/>
              </a:spcAft>
              <a:buClr>
                <a:srgbClr val="006600"/>
              </a:buClr>
              <a:buSzPts val="1400"/>
              <a:buFont typeface="Noto Sans Symbols"/>
              <a:buNone/>
            </a:pPr>
            <a:r>
              <a:t/>
            </a:r>
            <a:endParaRPr b="1" sz="1400">
              <a:solidFill>
                <a:schemeClr val="dk1"/>
              </a:solidFill>
              <a:latin typeface="Arial"/>
              <a:ea typeface="Arial"/>
              <a:cs typeface="Arial"/>
              <a:sym typeface="Arial"/>
            </a:endParaRPr>
          </a:p>
        </p:txBody>
      </p:sp>
      <p:sp>
        <p:nvSpPr>
          <p:cNvPr id="2821" name="Google Shape;2821;p155"/>
          <p:cNvSpPr txBox="1"/>
          <p:nvPr/>
        </p:nvSpPr>
        <p:spPr>
          <a:xfrm>
            <a:off x="2542234" y="1940624"/>
            <a:ext cx="1943100" cy="1511300"/>
          </a:xfrm>
          <a:prstGeom prst="rect">
            <a:avLst/>
          </a:prstGeom>
          <a:noFill/>
          <a:ln>
            <a:noFill/>
          </a:ln>
        </p:spPr>
        <p:txBody>
          <a:bodyPr anchorCtr="0" anchor="t" bIns="45700" lIns="91425" spcFirstLastPara="1" rIns="91425" wrap="square" tIns="45700">
            <a:noAutofit/>
          </a:bodyPr>
          <a:lstStyle/>
          <a:p>
            <a:pPr indent="-190500" lvl="0" marL="190500" marR="0" rtl="0" algn="l">
              <a:lnSpc>
                <a:spcPct val="90000"/>
              </a:lnSpc>
              <a:spcBef>
                <a:spcPts val="0"/>
              </a:spcBef>
              <a:spcAft>
                <a:spcPts val="0"/>
              </a:spcAft>
              <a:buClr>
                <a:srgbClr val="006600"/>
              </a:buClr>
              <a:buSzPts val="900"/>
              <a:buFont typeface="Noto Sans Symbols"/>
              <a:buNone/>
            </a:pPr>
            <a:r>
              <a:t/>
            </a:r>
            <a:endParaRPr b="1" sz="900">
              <a:solidFill>
                <a:schemeClr val="dk1"/>
              </a:solidFill>
              <a:latin typeface="Century Gothic"/>
              <a:ea typeface="Century Gothic"/>
              <a:cs typeface="Century Gothic"/>
              <a:sym typeface="Century Gothic"/>
            </a:endParaRPr>
          </a:p>
          <a:p>
            <a:pPr indent="-190500" lvl="0" marL="190500" marR="0" rtl="0" algn="l">
              <a:lnSpc>
                <a:spcPct val="90000"/>
              </a:lnSpc>
              <a:spcBef>
                <a:spcPts val="0"/>
              </a:spcBef>
              <a:spcAft>
                <a:spcPts val="0"/>
              </a:spcAft>
              <a:buClr>
                <a:srgbClr val="006600"/>
              </a:buClr>
              <a:buSzPts val="1400"/>
              <a:buFont typeface="Noto Sans Symbols"/>
              <a:buNone/>
            </a:pPr>
            <a:r>
              <a:rPr b="1" lang="en-GB" sz="1400" u="sng">
                <a:solidFill>
                  <a:schemeClr val="dk2"/>
                </a:solidFill>
                <a:latin typeface="Century Gothic"/>
                <a:ea typeface="Century Gothic"/>
                <a:cs typeface="Century Gothic"/>
                <a:sym typeface="Century Gothic"/>
              </a:rPr>
              <a:t>Credits</a:t>
            </a:r>
            <a:endParaRPr/>
          </a:p>
          <a:p>
            <a:pPr indent="-101600" lvl="0" marL="190500" marR="0" rtl="0" algn="l">
              <a:lnSpc>
                <a:spcPct val="90000"/>
              </a:lnSpc>
              <a:spcBef>
                <a:spcPts val="0"/>
              </a:spcBef>
              <a:spcAft>
                <a:spcPts val="0"/>
              </a:spcAft>
              <a:buClr>
                <a:srgbClr val="006600"/>
              </a:buClr>
              <a:buSzPts val="1400"/>
              <a:buFont typeface="Noto Sans Symbols"/>
              <a:buNone/>
            </a:pPr>
            <a:r>
              <a:t/>
            </a:r>
            <a:endParaRPr b="1" sz="1400">
              <a:solidFill>
                <a:schemeClr val="dk2"/>
              </a:solidFill>
              <a:latin typeface="Century Gothic"/>
              <a:ea typeface="Century Gothic"/>
              <a:cs typeface="Century Gothic"/>
              <a:sym typeface="Century Gothic"/>
            </a:endParaRPr>
          </a:p>
          <a:p>
            <a:pPr indent="-190500" lvl="0" marL="1905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Salary</a:t>
            </a:r>
            <a:endParaRPr sz="1400">
              <a:solidFill>
                <a:schemeClr val="dk2"/>
              </a:solidFill>
              <a:latin typeface="Arial"/>
              <a:ea typeface="Arial"/>
              <a:cs typeface="Arial"/>
              <a:sym typeface="Arial"/>
            </a:endParaRPr>
          </a:p>
          <a:p>
            <a:pPr indent="-190500" lvl="0" marL="1905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Pension</a:t>
            </a:r>
            <a:endParaRPr/>
          </a:p>
          <a:p>
            <a:pPr indent="-190500" lvl="0" marL="1905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State Benefits</a:t>
            </a:r>
            <a:endParaRPr sz="1400">
              <a:solidFill>
                <a:schemeClr val="dk2"/>
              </a:solidFill>
              <a:latin typeface="Arial"/>
              <a:ea typeface="Arial"/>
              <a:cs typeface="Arial"/>
              <a:sym typeface="Arial"/>
            </a:endParaRPr>
          </a:p>
          <a:p>
            <a:pPr indent="-190500" lvl="0" marL="190500" marR="0" rtl="0" algn="l">
              <a:lnSpc>
                <a:spcPct val="90000"/>
              </a:lnSpc>
              <a:spcBef>
                <a:spcPts val="0"/>
              </a:spcBef>
              <a:spcAft>
                <a:spcPts val="0"/>
              </a:spcAft>
              <a:buClr>
                <a:schemeClr val="dk2"/>
              </a:buClr>
              <a:buSzPts val="1400"/>
              <a:buFont typeface="Noto Sans Symbols"/>
              <a:buChar char="▪"/>
            </a:pPr>
            <a:r>
              <a:rPr lang="en-GB" sz="1400">
                <a:solidFill>
                  <a:schemeClr val="dk2"/>
                </a:solidFill>
                <a:latin typeface="Arial"/>
                <a:ea typeface="Arial"/>
                <a:cs typeface="Arial"/>
                <a:sym typeface="Arial"/>
              </a:rPr>
              <a:t>Income</a:t>
            </a:r>
            <a:endParaRPr/>
          </a:p>
        </p:txBody>
      </p:sp>
      <p:sp>
        <p:nvSpPr>
          <p:cNvPr id="2822" name="Google Shape;2822;p155">
            <a:hlinkClick action="ppaction://hlinksldjump" r:id="rId7"/>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2827" name="Shape 2827"/>
        <p:cNvGrpSpPr/>
        <p:nvPr/>
      </p:nvGrpSpPr>
      <p:grpSpPr>
        <a:xfrm>
          <a:off x="0" y="0"/>
          <a:ext cx="0" cy="0"/>
          <a:chOff x="0" y="0"/>
          <a:chExt cx="0" cy="0"/>
        </a:xfrm>
      </p:grpSpPr>
      <p:cxnSp>
        <p:nvCxnSpPr>
          <p:cNvPr id="2828" name="Google Shape;2828;p156"/>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829" name="Google Shape;2829;p156"/>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830" name="Google Shape;2830;p156"/>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831" name="Google Shape;2831;p156"/>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832" name="Google Shape;2832;p156"/>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sales abandonment leading to higher conversion rates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cost of manual intervention and rework</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customer satisfaction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833" name="Google Shape;2833;p156"/>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broken processes where customers exit, get stuck or cycle back</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Understand and fix broken processes by analysing individual customer experiences and identifying root cause for failures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Outcomes are increased revenue from completes sales and at a lower cost per sale because re-work is reduced</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834" name="Google Shape;2834;p156"/>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Generation of actionable insight to proactively improve the sales process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Increased sales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835" name="Google Shape;2835;p156"/>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Sessionise data to identify the unique sales events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&amp; Graph analysis to understand how each customer progresses to sale, or not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nPath analysis on granular event sequences, Markov chain journey modeling, abandonment prediction, real-time journey intervention, cross-channel attribution</a:t>
            </a:r>
          </a:p>
        </p:txBody>
      </p:sp>
      <p:sp>
        <p:nvSpPr>
          <p:cNvPr id="2836" name="Google Shape;2836;p156"/>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Integrating and standardising data from different channels and systems to create an end to end  multi-channel sales process journey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Identifying manual interventions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837" name="Google Shape;2837;p156"/>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Application data from online and offline sales processes (weblogs, sales application logs)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Contact history (leads generated and responses)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decisioning (e.g., accept, decline or referral )</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p:txBody>
      </p:sp>
      <p:sp>
        <p:nvSpPr>
          <p:cNvPr id="2838" name="Google Shape;2838;p156"/>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Sales processes for each product and channel contain a number of steps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Customers experience problems when individual steps are broken, they find it difficult to answer certain questions, or where they have to go back through the process and repeat steps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goal is to understand in detail how customers progress through the sales process, then identity opportunities improve success and conversion and efficiency at each step</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Optimize branch sales process — Pakistan branch staff close &lt;5% of sales leads due to manual processes. Improve digital sales funnel — mobile app loan application to disbursement takes 7-21 days vs. fintech 24-48 hours.</a:t>
            </a:r>
            <a:endParaRPr/>
          </a:p>
        </p:txBody>
      </p:sp>
      <p:sp>
        <p:nvSpPr>
          <p:cNvPr id="2839" name="Google Shape;2839;p156"/>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sz="900">
              <a:solidFill>
                <a:srgbClr val="5F6062"/>
              </a:solidFill>
              <a:latin typeface="Century Gothic"/>
              <a:ea typeface="Century Gothic"/>
              <a:cs typeface="Century Gothic"/>
              <a:sym typeface="Century Gothic"/>
            </a:endParaRPr>
          </a:p>
        </p:txBody>
      </p:sp>
      <p:sp>
        <p:nvSpPr>
          <p:cNvPr id="2840" name="Google Shape;2840;p156"/>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2841" name="Google Shape;2841;p156"/>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Sales Process Improvement </a:t>
            </a:r>
            <a:endParaRPr sz="2400"/>
          </a:p>
        </p:txBody>
      </p:sp>
      <p:sp>
        <p:nvSpPr>
          <p:cNvPr id="2842" name="Google Shape;2842;p15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2847" name="Shape 2847"/>
        <p:cNvGrpSpPr/>
        <p:nvPr/>
      </p:nvGrpSpPr>
      <p:grpSpPr>
        <a:xfrm>
          <a:off x="0" y="0"/>
          <a:ext cx="0" cy="0"/>
          <a:chOff x="0" y="0"/>
          <a:chExt cx="0" cy="0"/>
        </a:xfrm>
      </p:grpSpPr>
      <p:cxnSp>
        <p:nvCxnSpPr>
          <p:cNvPr id="2848" name="Google Shape;2848;p157"/>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849" name="Google Shape;2849;p157"/>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850" name="Google Shape;2850;p157"/>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851" name="Google Shape;2851;p157"/>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852" name="Google Shape;2852;p157"/>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cross sales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relevance of content, contacts and offers through orchestration of customer journeys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853" name="Google Shape;2853;p157"/>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Build sales leads that are triggered by the most powerful sequences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Build scripts that reflect the sequence: ‘We saw you did x then y and wondered if we could help…’</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Create fewer, more sophisticated leads – fewer outbound calls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 response rates – better sales and service performance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854" name="Google Shape;2854;p157"/>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Identification of new events and sequence of events to use for multi-step lead approaches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855" name="Google Shape;2855;p157"/>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Sessionise data identify unique customer journeys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to identify all interactions and transactions leading to a product purchase (or not)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Analysis to understand which paths are more likely to lead to a sale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nPath analysis on granular event sequences, Markov chain journey modeling, abandonment prediction, real-time journey intervention, cross-channel attribution</a:t>
            </a:r>
          </a:p>
        </p:txBody>
      </p:sp>
      <p:sp>
        <p:nvSpPr>
          <p:cNvPr id="2856" name="Google Shape;2856;p157"/>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Client/ Bank  maturity</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857" name="Google Shape;2857;p157"/>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already held in the Data Platform</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 data including history for all customers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Interaction Data cross channel (Branch, ATM, Call Centre, Online etc.)</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Sales data</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Customer_Journey, Journey_Stage, Channel_Touchpoint, Conversion_Event | Pakistan: Account opening (branch vs Asaan Digital), loan disbursement, card activation paths</a:t>
            </a:r>
          </a:p>
          <a:p>
            <a:r>
              <a:rPr sz="800" i="1">
                <a:solidFill>
                  <a:srgbClr val="006699"/>
                </a:solidFill>
              </a:rPr>
              <a:t>Pakistan: RAAST salary credit events, IBFT large transfer events, POS spending spikes, mobile app product page views</a:t>
            </a:r>
          </a:p>
        </p:txBody>
      </p:sp>
      <p:sp>
        <p:nvSpPr>
          <p:cNvPr id="2858" name="Google Shape;2858;p157"/>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Event Based Marketing is proven to generate superior response and sales conversion rates.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But banks running Event Based Marketing typically use single events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Hypothesis: There exist patterns or sequences of events that are even more predictive of customer need, that will deliver higher response rates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Challenge: How to systematically identify the most powerful sequences of events to use in EBM?</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Design event-triggered campaigns around Pakistan-specific events: salary credit (1st-5th), Ramadan/Eid, back-to-school (August), wedding season (Nov-Feb), Hajj season.</a:t>
            </a:r>
            <a:endParaRPr/>
          </a:p>
        </p:txBody>
      </p:sp>
      <p:sp>
        <p:nvSpPr>
          <p:cNvPr id="2859" name="Google Shape;2859;p157"/>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860" name="Google Shape;2860;p157"/>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2861" name="Google Shape;2861;p157"/>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1800"/>
              <a:buFont typeface="Century Gothic"/>
              <a:buNone/>
            </a:pPr>
            <a:r>
              <a:rPr lang="en-GB" sz="1800"/>
              <a:t>Path to Purchase – Event Based Marketing </a:t>
            </a:r>
            <a:endParaRPr sz="1800"/>
          </a:p>
        </p:txBody>
      </p:sp>
      <p:sp>
        <p:nvSpPr>
          <p:cNvPr id="2862" name="Google Shape;2862;p15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2867" name="Shape 2867"/>
        <p:cNvGrpSpPr/>
        <p:nvPr/>
      </p:nvGrpSpPr>
      <p:grpSpPr>
        <a:xfrm>
          <a:off x="0" y="0"/>
          <a:ext cx="0" cy="0"/>
          <a:chOff x="0" y="0"/>
          <a:chExt cx="0" cy="0"/>
        </a:xfrm>
      </p:grpSpPr>
      <p:cxnSp>
        <p:nvCxnSpPr>
          <p:cNvPr id="2868" name="Google Shape;2868;p158"/>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869" name="Google Shape;2869;p158"/>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870" name="Google Shape;2870;p158"/>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871" name="Google Shape;2871;p158"/>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872" name="Google Shape;2872;p158"/>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Better see appropriate product mix to improve product recommendation strategy</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Verify business assumption for better marketing strategy e.g. identify opportunity to boost more international spending through appropriate triggers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873" name="Google Shape;2873;p158"/>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To provide a visualization of the customer journey and product adoption’s sequence by utilize Path Analytics (Time Sequential ) technique and Collaborative Filter technique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What is the commonly followed patterns of behaviour which happened before and after customer’s trip overseas?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What potential products should bank offers to those customers to satisfy personal financial need at the right timing?</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Map why 40-60% of digital onboarding applicants drop off at NADRA biometric step</a:t>
            </a:r>
            <a:endParaRPr/>
          </a:p>
        </p:txBody>
      </p:sp>
      <p:sp>
        <p:nvSpPr>
          <p:cNvPr id="2874" name="Google Shape;2874;p158"/>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customer insight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acceptance of new offers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875" name="Google Shape;2875;p158"/>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Path analytics to understand customer journey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Collaborative filtering to understand consumer behavior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Aster</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Collaborative filtering, content-based recommendations, hybrid recommender systems, contextual recommendations, explainable AI for product suggestions</a:t>
            </a:r>
          </a:p>
        </p:txBody>
      </p:sp>
      <p:sp>
        <p:nvSpPr>
          <p:cNvPr id="2876" name="Google Shape;2876;p158"/>
          <p:cNvSpPr/>
          <p:nvPr/>
        </p:nvSpPr>
        <p:spPr>
          <a:xfrm>
            <a:off x="423863" y="3854765"/>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Merchant details</a:t>
            </a:r>
            <a:endParaRPr/>
          </a:p>
        </p:txBody>
      </p:sp>
      <p:sp>
        <p:nvSpPr>
          <p:cNvPr id="2877" name="Google Shape;2877;p158"/>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Currently have limited visibility of the customer journey and sequence of activities, e.g. Credit card spending journey</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To determine the right timing of product adoption in order to increase effectiveness of campaign and product offering</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To provide new insight to banking with ability to handle new types of data and generate business value </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Map key Pakistan banking journeys: onboarding (CNIC → NADRA → account → first transaction), branch-to-digital migration, financial inclusion (agent → basic account → savings → lending).</a:t>
            </a:r>
            <a:endParaRPr/>
          </a:p>
        </p:txBody>
      </p:sp>
      <p:sp>
        <p:nvSpPr>
          <p:cNvPr id="2878" name="Google Shape;2878;p158"/>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 </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879" name="Google Shape;2879;p158"/>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2880" name="Google Shape;2880;p158"/>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Customer Journey Analytics </a:t>
            </a:r>
            <a:endParaRPr sz="2400"/>
          </a:p>
        </p:txBody>
      </p:sp>
      <p:sp>
        <p:nvSpPr>
          <p:cNvPr id="2881" name="Google Shape;2881;p158"/>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card transaction (e.g. customer ID, spending category code, merchant code, etc.)</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Insurance account information (Product name, customer ID, account status, account balance, etc.)</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Loan account information (e.g. product type, customer ID, account balance, opened data, etc.)</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card account information (e.g. credit line, last billing amount, payment date, cycle cut, etc.)</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Customer_Journey, Journey_Stage, Channel_Touchpoint, Conversion_Event | Pakistan: Account opening (branch vs Asaan Digital), loan disbursement, card activation paths</a:t>
            </a:r>
          </a:p>
          <a:p>
            <a:r>
              <a:rPr sz="800" i="1">
                <a:solidFill>
                  <a:srgbClr val="006699"/>
                </a:solidFill>
              </a:rPr>
              <a:t>Pakistan: Branch visit data, ATM usage, mobile app sessions, RAAST/IBFT, agent network interactions</a:t>
            </a:r>
          </a:p>
        </p:txBody>
      </p:sp>
      <p:sp>
        <p:nvSpPr>
          <p:cNvPr id="2882" name="Google Shape;2882;p15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2887" name="Shape 2887"/>
        <p:cNvGrpSpPr/>
        <p:nvPr/>
      </p:nvGrpSpPr>
      <p:grpSpPr>
        <a:xfrm>
          <a:off x="0" y="0"/>
          <a:ext cx="0" cy="0"/>
          <a:chOff x="0" y="0"/>
          <a:chExt cx="0" cy="0"/>
        </a:xfrm>
      </p:grpSpPr>
      <p:cxnSp>
        <p:nvCxnSpPr>
          <p:cNvPr id="2888" name="Google Shape;2888;p159"/>
          <p:cNvCxnSpPr/>
          <p:nvPr/>
        </p:nvCxnSpPr>
        <p:spPr>
          <a:xfrm>
            <a:off x="4576599" y="810596"/>
            <a:ext cx="0" cy="3893399"/>
          </a:xfrm>
          <a:prstGeom prst="straightConnector1">
            <a:avLst/>
          </a:prstGeom>
          <a:noFill/>
          <a:ln cap="flat" cmpd="sng" w="12700">
            <a:solidFill>
              <a:schemeClr val="lt2"/>
            </a:solidFill>
            <a:prstDash val="solid"/>
            <a:round/>
            <a:headEnd len="sm" w="sm" type="none"/>
            <a:tailEnd len="sm" w="sm" type="none"/>
          </a:ln>
        </p:spPr>
      </p:cxnSp>
      <p:sp>
        <p:nvSpPr>
          <p:cNvPr id="2889" name="Google Shape;2889;p159"/>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890" name="Google Shape;2890;p159"/>
          <p:cNvSpPr txBox="1"/>
          <p:nvPr>
            <p:ph type="title"/>
          </p:nvPr>
        </p:nvSpPr>
        <p:spPr>
          <a:xfrm>
            <a:off x="423864" y="164592"/>
            <a:ext cx="6121238"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Customer Journey Analytics </a:t>
            </a:r>
            <a:endParaRPr sz="2400"/>
          </a:p>
        </p:txBody>
      </p:sp>
      <p:sp>
        <p:nvSpPr>
          <p:cNvPr id="2891" name="Google Shape;2891;p159"/>
          <p:cNvSpPr/>
          <p:nvPr/>
        </p:nvSpPr>
        <p:spPr>
          <a:xfrm>
            <a:off x="4795837" y="2376546"/>
            <a:ext cx="3949200" cy="2327448"/>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Example Analytic: N Path</a:t>
            </a:r>
            <a:endParaRPr sz="900">
              <a:solidFill>
                <a:srgbClr val="3C3C3B"/>
              </a:solidFill>
              <a:latin typeface="Century Gothic"/>
              <a:ea typeface="Century Gothic"/>
              <a:cs typeface="Century Gothic"/>
              <a:sym typeface="Century Gothic"/>
            </a:endParaRPr>
          </a:p>
        </p:txBody>
      </p:sp>
      <p:sp>
        <p:nvSpPr>
          <p:cNvPr id="2892" name="Google Shape;2892;p159"/>
          <p:cNvSpPr/>
          <p:nvPr/>
        </p:nvSpPr>
        <p:spPr>
          <a:xfrm>
            <a:off x="423863" y="2377440"/>
            <a:ext cx="4048125" cy="2326554"/>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Example Analytic: Customer‘s product association</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5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p:txBody>
      </p:sp>
      <p:sp>
        <p:nvSpPr>
          <p:cNvPr id="2893" name="Google Shape;2893;p159"/>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894" name="Google Shape;2894;p159"/>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To provide a visualization of the customer journey and product adoption’s sequence by utilize Path Analytics (Time Sequential ) technique and Collaborative Filter technique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895" name="Google Shape;2895;p159"/>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Currently have limited visibility of the customer journey and sequence of activities, e.g. Credit card spending journey</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To determine the right timing of product adoption in order to increase effectiveness of campaign and product offering</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To provide new insight to banking with ability to handle new types of data and generate business value </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Analyze cross-channel journey patterns unique to Pakistan: customers using both traditional branch and branchless agent channels simultaneously.</a:t>
            </a:r>
            <a:endParaRPr/>
          </a:p>
        </p:txBody>
      </p:sp>
      <p:pic>
        <p:nvPicPr>
          <p:cNvPr descr="Screen Shot 2016-01-28 at 3.19.43 PM.png" id="2896" name="Google Shape;2896;p159"/>
          <p:cNvPicPr preferRelativeResize="0"/>
          <p:nvPr/>
        </p:nvPicPr>
        <p:blipFill rotWithShape="1">
          <a:blip r:embed="rId3">
            <a:alphaModFix/>
          </a:blip>
          <a:srcRect b="0" l="0" r="0" t="0"/>
          <a:stretch/>
        </p:blipFill>
        <p:spPr>
          <a:xfrm>
            <a:off x="795867" y="2629420"/>
            <a:ext cx="3132666" cy="1984915"/>
          </a:xfrm>
          <a:prstGeom prst="rect">
            <a:avLst/>
          </a:prstGeom>
          <a:noFill/>
          <a:ln>
            <a:noFill/>
          </a:ln>
        </p:spPr>
      </p:pic>
      <p:pic>
        <p:nvPicPr>
          <p:cNvPr descr="Screen Shot 2016-01-28 at 3.18.44 PM.png" id="2897" name="Google Shape;2897;p159"/>
          <p:cNvPicPr preferRelativeResize="0"/>
          <p:nvPr/>
        </p:nvPicPr>
        <p:blipFill rotWithShape="1">
          <a:blip r:embed="rId4">
            <a:alphaModFix/>
          </a:blip>
          <a:srcRect b="0" l="0" r="0" t="2227"/>
          <a:stretch/>
        </p:blipFill>
        <p:spPr>
          <a:xfrm>
            <a:off x="4841523" y="2692401"/>
            <a:ext cx="4030702" cy="1858432"/>
          </a:xfrm>
          <a:prstGeom prst="rect">
            <a:avLst/>
          </a:prstGeom>
          <a:noFill/>
          <a:ln>
            <a:noFill/>
          </a:ln>
        </p:spPr>
      </p:pic>
      <p:sp>
        <p:nvSpPr>
          <p:cNvPr id="2898" name="Google Shape;2898;p159">
            <a:hlinkClick action="ppaction://hlinksldjump" r:id="rId5"/>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2903" name="Shape 2903"/>
        <p:cNvGrpSpPr/>
        <p:nvPr/>
      </p:nvGrpSpPr>
      <p:grpSpPr>
        <a:xfrm>
          <a:off x="0" y="0"/>
          <a:ext cx="0" cy="0"/>
          <a:chOff x="0" y="0"/>
          <a:chExt cx="0" cy="0"/>
        </a:xfrm>
      </p:grpSpPr>
      <p:cxnSp>
        <p:nvCxnSpPr>
          <p:cNvPr id="2904" name="Google Shape;2904;p160"/>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905" name="Google Shape;2905;p160"/>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906" name="Google Shape;2906;p160"/>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907" name="Google Shape;2907;p160"/>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908" name="Google Shape;2908;p160"/>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conversion and show rates form better targeted activities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over solicitation to certain segments of customers (E.g. regular visitors, located close to branch etc.)</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909" name="Google Shape;2909;p160"/>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Build sales leads to accept appointment that are triggered by the most powerful sequences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Build scripts that reflect the sequence: ‘We saw you did x then y and wondered if we could help…’</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Avoid useless invitations to customers – fewer mailing, contact cost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 response rates – better sales and service performance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910" name="Google Shape;2910;p160"/>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New insight generated feeds into creation of optimised contact strategy for proactive branch appointment activity – includes predictive models for selection and contact rules to control frequency of interactions</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911" name="Google Shape;2911;p160"/>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Sessionise data identify unique customer journeys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to identify all interactions and transactions leading to a product purchase (or not)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Analysis to understand which paths are more likely to lead to a sale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Predictive Model for propensity to accept appointment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nPath analysis on granular event sequences, Markov chain journey modeling, abandonment prediction, real-time journey intervention, cross-channel attribution</a:t>
            </a:r>
          </a:p>
        </p:txBody>
      </p:sp>
      <p:sp>
        <p:nvSpPr>
          <p:cNvPr id="2912" name="Google Shape;2912;p160"/>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913" name="Google Shape;2913;p160"/>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 data including history for all customers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Interaction Data cross channel (Branch, ATM, Call Centre, Online etc)  Customer Journey</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Clickstream data  - tbd</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Contact data (e.g. appointment behavior including no shows)</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Customer_Journey, Journey_Stage, Channel_Touchpoint, Conversion_Event | Pakistan: Account opening (branch vs Asaan Digital), loan disbursement, card activation paths</a:t>
            </a:r>
          </a:p>
        </p:txBody>
      </p:sp>
      <p:sp>
        <p:nvSpPr>
          <p:cNvPr id="2914" name="Google Shape;2914;p160"/>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Understanding the reason and effectiveness of steps why customer accepts an appointment with bank advisor</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Allow more efficient selection of customers based on events to stimulate customer to accept appointment</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Analyse patterns or sequences of events that are even more predictive of customer to meet with bank or vice verse reduces likelihood to accept</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 Pakistan, branch appointment is rare — most are walk-ins. However, RM-managed priority/HNW customers need appointment optimization. Digital alternative: WhatsApp-based RM scheduling.</a:t>
            </a:r>
            <a:endParaRPr/>
          </a:p>
        </p:txBody>
      </p:sp>
      <p:sp>
        <p:nvSpPr>
          <p:cNvPr id="2915" name="Google Shape;2915;p160"/>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916" name="Google Shape;2916;p160"/>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2917" name="Google Shape;2917;p160"/>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Path to Appointment </a:t>
            </a:r>
            <a:endParaRPr sz="2400"/>
          </a:p>
        </p:txBody>
      </p:sp>
      <p:sp>
        <p:nvSpPr>
          <p:cNvPr id="2918" name="Google Shape;2918;p16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8"/>
          <p:cNvSpPr/>
          <p:nvPr/>
        </p:nvSpPr>
        <p:spPr>
          <a:xfrm>
            <a:off x="459949" y="1238294"/>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80" name="Google Shape;480;p48">
            <a:hlinkClick action="ppaction://hlinksldjump" r:id="rId3"/>
          </p:cNvPr>
          <p:cNvSpPr/>
          <p:nvPr/>
        </p:nvSpPr>
        <p:spPr>
          <a:xfrm>
            <a:off x="565902" y="1303866"/>
            <a:ext cx="1395519" cy="2861734"/>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Customer Interaction Management</a:t>
            </a:r>
            <a:endParaRPr sz="1100">
              <a:solidFill>
                <a:srgbClr val="FFFFFF"/>
              </a:solidFill>
              <a:latin typeface="Century Gothic"/>
              <a:ea typeface="Century Gothic"/>
              <a:cs typeface="Century Gothic"/>
              <a:sym typeface="Century Gothic"/>
            </a:endParaRPr>
          </a:p>
        </p:txBody>
      </p:sp>
      <p:sp>
        <p:nvSpPr>
          <p:cNvPr id="481" name="Google Shape;481;p48"/>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Analytical Capabilities</a:t>
            </a:r>
            <a:endParaRPr sz="1400">
              <a:solidFill>
                <a:srgbClr val="3C3C3B"/>
              </a:solidFill>
              <a:latin typeface="Century Gothic"/>
              <a:ea typeface="Century Gothic"/>
              <a:cs typeface="Century Gothic"/>
              <a:sym typeface="Century Gothic"/>
            </a:endParaRPr>
          </a:p>
        </p:txBody>
      </p:sp>
      <p:sp>
        <p:nvSpPr>
          <p:cNvPr id="482" name="Google Shape;482;p48">
            <a:hlinkClick action="ppaction://hlinksldjump" r:id="rId4"/>
          </p:cNvPr>
          <p:cNvSpPr/>
          <p:nvPr/>
        </p:nvSpPr>
        <p:spPr>
          <a:xfrm>
            <a:off x="567549" y="39467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483" name="Google Shape;483;p48">
            <a:hlinkClick action="ppaction://hlinksldjump" r:id="rId5"/>
          </p:cNvPr>
          <p:cNvSpPr/>
          <p:nvPr/>
        </p:nvSpPr>
        <p:spPr>
          <a:xfrm>
            <a:off x="2099732"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Communication Targeting</a:t>
            </a:r>
            <a:endParaRPr sz="1100">
              <a:solidFill>
                <a:schemeClr val="dk1"/>
              </a:solidFill>
              <a:latin typeface="Century Gothic"/>
              <a:ea typeface="Century Gothic"/>
              <a:cs typeface="Century Gothic"/>
              <a:sym typeface="Century Gothic"/>
            </a:endParaRPr>
          </a:p>
        </p:txBody>
      </p:sp>
      <p:sp>
        <p:nvSpPr>
          <p:cNvPr id="484" name="Google Shape;484;p48">
            <a:hlinkClick action="ppaction://hlinksldjump" r:id="rId6"/>
          </p:cNvPr>
          <p:cNvSpPr/>
          <p:nvPr/>
        </p:nvSpPr>
        <p:spPr>
          <a:xfrm>
            <a:off x="4290976"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Contextual Decisioning</a:t>
            </a:r>
            <a:endParaRPr sz="1100">
              <a:solidFill>
                <a:schemeClr val="dk1"/>
              </a:solidFill>
              <a:latin typeface="Century Gothic"/>
              <a:ea typeface="Century Gothic"/>
              <a:cs typeface="Century Gothic"/>
              <a:sym typeface="Century Gothic"/>
            </a:endParaRPr>
          </a:p>
        </p:txBody>
      </p:sp>
      <p:sp>
        <p:nvSpPr>
          <p:cNvPr id="485" name="Google Shape;485;p48">
            <a:hlinkClick action="ppaction://hlinksldjump" r:id="rId7"/>
          </p:cNvPr>
          <p:cNvSpPr/>
          <p:nvPr/>
        </p:nvSpPr>
        <p:spPr>
          <a:xfrm>
            <a:off x="6475528"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Personalization</a:t>
            </a:r>
            <a:endParaRPr sz="1100">
              <a:solidFill>
                <a:schemeClr val="dk1"/>
              </a:solidFill>
              <a:latin typeface="Century Gothic"/>
              <a:ea typeface="Century Gothic"/>
              <a:cs typeface="Century Gothic"/>
              <a:sym typeface="Century Gothic"/>
            </a:endParaRPr>
          </a:p>
        </p:txBody>
      </p:sp>
      <p:sp>
        <p:nvSpPr>
          <p:cNvPr id="486" name="Google Shape;486;p48">
            <a:hlinkClick action="ppaction://hlinksldjump" r:id="rId8"/>
          </p:cNvPr>
          <p:cNvSpPr/>
          <p:nvPr/>
        </p:nvSpPr>
        <p:spPr>
          <a:xfrm>
            <a:off x="4290975"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Contact Optimization</a:t>
            </a:r>
            <a:endParaRPr sz="1100">
              <a:solidFill>
                <a:schemeClr val="dk1"/>
              </a:solidFill>
              <a:latin typeface="Century Gothic"/>
              <a:ea typeface="Century Gothic"/>
              <a:cs typeface="Century Gothic"/>
              <a:sym typeface="Century Gothic"/>
            </a:endParaRPr>
          </a:p>
        </p:txBody>
      </p:sp>
      <p:sp>
        <p:nvSpPr>
          <p:cNvPr id="487" name="Google Shape;487;p48">
            <a:hlinkClick action="ppaction://hlinksldjump" r:id="rId9"/>
          </p:cNvPr>
          <p:cNvSpPr/>
          <p:nvPr/>
        </p:nvSpPr>
        <p:spPr>
          <a:xfrm>
            <a:off x="2099732"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Cross-Channel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Customer Experience</a:t>
            </a:r>
            <a:endParaRPr sz="1100">
              <a:solidFill>
                <a:schemeClr val="dk1"/>
              </a:solidFill>
              <a:latin typeface="Century Gothic"/>
              <a:ea typeface="Century Gothic"/>
              <a:cs typeface="Century Gothic"/>
              <a:sym typeface="Century Gothic"/>
            </a:endParaRPr>
          </a:p>
        </p:txBody>
      </p:sp>
      <p:sp>
        <p:nvSpPr>
          <p:cNvPr id="488" name="Google Shape;488;p48">
            <a:hlinkClick action="ppaction://hlinksldjump" r:id="rId10"/>
          </p:cNvPr>
          <p:cNvSpPr/>
          <p:nvPr/>
        </p:nvSpPr>
        <p:spPr>
          <a:xfrm>
            <a:off x="2099731" y="3643200"/>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Next Best Action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Arbitration</a:t>
            </a:r>
            <a:endParaRPr sz="1100">
              <a:solidFill>
                <a:schemeClr val="dk1"/>
              </a:solidFill>
              <a:latin typeface="Century Gothic"/>
              <a:ea typeface="Century Gothic"/>
              <a:cs typeface="Century Gothic"/>
              <a:sym typeface="Century Gothic"/>
            </a:endParaRPr>
          </a:p>
        </p:txBody>
      </p:sp>
      <p:sp>
        <p:nvSpPr>
          <p:cNvPr id="489" name="Google Shape;489;p48">
            <a:hlinkClick action="ppaction://hlinksldjump" r:id="rId11"/>
          </p:cNvPr>
          <p:cNvSpPr/>
          <p:nvPr/>
        </p:nvSpPr>
        <p:spPr>
          <a:xfrm>
            <a:off x="6457548"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Response Optimization</a:t>
            </a:r>
            <a:endParaRPr sz="1100">
              <a:solidFill>
                <a:schemeClr val="dk1"/>
              </a:solidFill>
              <a:latin typeface="Century Gothic"/>
              <a:ea typeface="Century Gothic"/>
              <a:cs typeface="Century Gothic"/>
              <a:sym typeface="Century Gothic"/>
            </a:endParaRPr>
          </a:p>
        </p:txBody>
      </p:sp>
      <p:sp>
        <p:nvSpPr>
          <p:cNvPr id="490" name="Google Shape;490;p48">
            <a:hlinkClick action="ppaction://hlinksldjump" r:id="rId12"/>
          </p:cNvPr>
          <p:cNvSpPr/>
          <p:nvPr/>
        </p:nvSpPr>
        <p:spPr>
          <a:xfrm>
            <a:off x="2099732"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Digital Optimization</a:t>
            </a:r>
            <a:endParaRPr sz="1100">
              <a:solidFill>
                <a:schemeClr val="dk1"/>
              </a:solidFill>
              <a:latin typeface="Century Gothic"/>
              <a:ea typeface="Century Gothic"/>
              <a:cs typeface="Century Gothic"/>
              <a:sym typeface="Century Gothic"/>
            </a:endParaRPr>
          </a:p>
        </p:txBody>
      </p:sp>
      <p:sp>
        <p:nvSpPr>
          <p:cNvPr id="491" name="Google Shape;491;p48">
            <a:hlinkClick action="ppaction://hlinksldjump" r:id="rId13"/>
          </p:cNvPr>
          <p:cNvSpPr/>
          <p:nvPr/>
        </p:nvSpPr>
        <p:spPr>
          <a:xfrm>
            <a:off x="6475527" y="3643200"/>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Multi-Step Campaigns</a:t>
            </a:r>
            <a:endParaRPr sz="1100">
              <a:solidFill>
                <a:schemeClr val="dk1"/>
              </a:solidFill>
              <a:latin typeface="Century Gothic"/>
              <a:ea typeface="Century Gothic"/>
              <a:cs typeface="Century Gothic"/>
              <a:sym typeface="Century Gothic"/>
            </a:endParaRPr>
          </a:p>
        </p:txBody>
      </p:sp>
      <p:sp>
        <p:nvSpPr>
          <p:cNvPr id="492" name="Google Shape;492;p48">
            <a:hlinkClick action="ppaction://hlinksldjump" r:id="rId14"/>
          </p:cNvPr>
          <p:cNvSpPr/>
          <p:nvPr/>
        </p:nvSpPr>
        <p:spPr>
          <a:xfrm>
            <a:off x="4290976"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Search Engine Optimization</a:t>
            </a:r>
            <a:endParaRPr sz="1100">
              <a:solidFill>
                <a:schemeClr val="dk1"/>
              </a:solidFill>
              <a:latin typeface="Century Gothic"/>
              <a:ea typeface="Century Gothic"/>
              <a:cs typeface="Century Gothic"/>
              <a:sym typeface="Century Gothic"/>
            </a:endParaRPr>
          </a:p>
        </p:txBody>
      </p:sp>
      <p:sp>
        <p:nvSpPr>
          <p:cNvPr id="493" name="Google Shape;493;p48">
            <a:hlinkClick action="ppaction://hlinksldjump" r:id="rId15"/>
          </p:cNvPr>
          <p:cNvSpPr/>
          <p:nvPr/>
        </p:nvSpPr>
        <p:spPr>
          <a:xfrm>
            <a:off x="4290974" y="3643200"/>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Product Recommendations</a:t>
            </a:r>
            <a:endParaRPr sz="1100">
              <a:solidFill>
                <a:schemeClr val="dk1"/>
              </a:solidFill>
              <a:latin typeface="Century Gothic"/>
              <a:ea typeface="Century Gothic"/>
              <a:cs typeface="Century Gothic"/>
              <a:sym typeface="Century Gothic"/>
            </a:endParaRPr>
          </a:p>
        </p:txBody>
      </p:sp>
      <p:sp>
        <p:nvSpPr>
          <p:cNvPr id="494" name="Google Shape;494;p48"/>
          <p:cNvSpPr txBox="1"/>
          <p:nvPr>
            <p:ph idx="2" type="body"/>
          </p:nvPr>
        </p:nvSpPr>
        <p:spPr>
          <a:xfrm>
            <a:off x="438098" y="585291"/>
            <a:ext cx="7753402"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Develop a deep understanding of the customer to drive informed decisions and communications</a:t>
            </a:r>
            <a:endParaRPr sz="1600"/>
          </a:p>
        </p:txBody>
      </p:sp>
      <p:sp>
        <p:nvSpPr>
          <p:cNvPr id="495" name="Google Shape;495;p48"/>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Marketing and Customer Experience</a:t>
            </a:r>
            <a:endParaRPr sz="2400"/>
          </a:p>
        </p:txBody>
      </p:sp>
      <p:sp>
        <p:nvSpPr>
          <p:cNvPr id="496" name="Google Shape;496;p48"/>
          <p:cNvSpPr/>
          <p:nvPr/>
        </p:nvSpPr>
        <p:spPr>
          <a:xfrm>
            <a:off x="7381759" y="-183102"/>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497" name="Google Shape;497;p48"/>
          <p:cNvSpPr/>
          <p:nvPr/>
        </p:nvSpPr>
        <p:spPr>
          <a:xfrm rot="5400000">
            <a:off x="8364087" y="824956"/>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grpSp>
        <p:nvGrpSpPr>
          <p:cNvPr id="498" name="Google Shape;498;p48"/>
          <p:cNvGrpSpPr/>
          <p:nvPr/>
        </p:nvGrpSpPr>
        <p:grpSpPr>
          <a:xfrm>
            <a:off x="7717533" y="4360377"/>
            <a:ext cx="1058348" cy="347375"/>
            <a:chOff x="7651698" y="4287227"/>
            <a:chExt cx="1058348" cy="347375"/>
          </a:xfrm>
        </p:grpSpPr>
        <p:grpSp>
          <p:nvGrpSpPr>
            <p:cNvPr id="499" name="Google Shape;499;p48"/>
            <p:cNvGrpSpPr/>
            <p:nvPr/>
          </p:nvGrpSpPr>
          <p:grpSpPr>
            <a:xfrm>
              <a:off x="7714163" y="4337598"/>
              <a:ext cx="995883" cy="297004"/>
              <a:chOff x="7711013" y="3986494"/>
              <a:chExt cx="995883" cy="297004"/>
            </a:xfrm>
          </p:grpSpPr>
          <p:sp>
            <p:nvSpPr>
              <p:cNvPr id="500" name="Google Shape;500;p4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501" name="Google Shape;501;p48"/>
              <p:cNvGrpSpPr/>
              <p:nvPr/>
            </p:nvGrpSpPr>
            <p:grpSpPr>
              <a:xfrm>
                <a:off x="7711013" y="4002615"/>
                <a:ext cx="281520" cy="241973"/>
                <a:chOff x="5652748" y="4066000"/>
                <a:chExt cx="906498" cy="747974"/>
              </a:xfrm>
            </p:grpSpPr>
            <p:sp>
              <p:nvSpPr>
                <p:cNvPr id="502" name="Google Shape;502;p4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03" name="Google Shape;503;p4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04" name="Google Shape;504;p4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05" name="Google Shape;505;p48">
              <a:hlinkClick action="ppaction://hlinksldjump" r:id="rId16"/>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506" name="Google Shape;506;p48">
            <a:hlinkClick action="ppaction://hlinksldjump" r:id="rId17"/>
          </p:cNvPr>
          <p:cNvSpPr/>
          <p:nvPr/>
        </p:nvSpPr>
        <p:spPr>
          <a:xfrm>
            <a:off x="6475528"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Call / Contact Centre Optimization</a:t>
            </a:r>
            <a:endParaRPr sz="1100">
              <a:solidFill>
                <a:schemeClr val="dk1"/>
              </a:solidFill>
              <a:latin typeface="Century Gothic"/>
              <a:ea typeface="Century Gothic"/>
              <a:cs typeface="Century Gothic"/>
              <a:sym typeface="Century Gothic"/>
            </a:endParaRPr>
          </a:p>
        </p:txBody>
      </p:sp>
      <p:sp>
        <p:nvSpPr>
          <p:cNvPr id="507" name="Google Shape;507;p48">
            <a:hlinkClick action="ppaction://hlinksldjump" r:id="rId18"/>
          </p:cNvPr>
          <p:cNvSpPr/>
          <p:nvPr/>
        </p:nvSpPr>
        <p:spPr>
          <a:xfrm rot="5400000">
            <a:off x="5064095" y="4164719"/>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8"/>
          <p:cNvSpPr txBox="1"/>
          <p:nvPr/>
        </p:nvSpPr>
        <p:spPr>
          <a:xfrm>
            <a:off x="4868417" y="4360358"/>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More</a:t>
            </a:r>
            <a:endParaRPr/>
          </a:p>
        </p:txBody>
      </p:sp>
      <p:sp>
        <p:nvSpPr>
          <p:cNvPr id="509" name="Google Shape;509;p48">
            <a:hlinkClick action="ppaction://hlinksldjump" r:id="rId19"/>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Marketing and Customer Experience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9"/>
          <p:cNvSpPr/>
          <p:nvPr/>
        </p:nvSpPr>
        <p:spPr>
          <a:xfrm>
            <a:off x="423019" y="1238294"/>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16" name="Google Shape;516;p49">
            <a:hlinkClick action="ppaction://hlinksldjump" r:id="rId3"/>
          </p:cNvPr>
          <p:cNvSpPr/>
          <p:nvPr/>
        </p:nvSpPr>
        <p:spPr>
          <a:xfrm>
            <a:off x="565902" y="1303866"/>
            <a:ext cx="1395519" cy="2861734"/>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Customer Interaction Management</a:t>
            </a:r>
            <a:endParaRPr sz="1100">
              <a:solidFill>
                <a:srgbClr val="FFFFFF"/>
              </a:solidFill>
              <a:latin typeface="Century Gothic"/>
              <a:ea typeface="Century Gothic"/>
              <a:cs typeface="Century Gothic"/>
              <a:sym typeface="Century Gothic"/>
            </a:endParaRPr>
          </a:p>
        </p:txBody>
      </p:sp>
      <p:sp>
        <p:nvSpPr>
          <p:cNvPr id="517" name="Google Shape;517;p49"/>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Analytical Capabilities</a:t>
            </a:r>
            <a:endParaRPr sz="1400">
              <a:solidFill>
                <a:srgbClr val="3C3C3B"/>
              </a:solidFill>
              <a:latin typeface="Century Gothic"/>
              <a:ea typeface="Century Gothic"/>
              <a:cs typeface="Century Gothic"/>
              <a:sym typeface="Century Gothic"/>
            </a:endParaRPr>
          </a:p>
        </p:txBody>
      </p:sp>
      <p:sp>
        <p:nvSpPr>
          <p:cNvPr id="518" name="Google Shape;518;p49"/>
          <p:cNvSpPr/>
          <p:nvPr/>
        </p:nvSpPr>
        <p:spPr>
          <a:xfrm>
            <a:off x="567549" y="39467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519" name="Google Shape;519;p49">
            <a:hlinkClick action="ppaction://hlinksldjump" r:id="rId4"/>
          </p:cNvPr>
          <p:cNvSpPr/>
          <p:nvPr/>
        </p:nvSpPr>
        <p:spPr>
          <a:xfrm>
            <a:off x="4277281"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Marketing Attribution</a:t>
            </a:r>
            <a:endParaRPr sz="1100">
              <a:solidFill>
                <a:schemeClr val="dk1"/>
              </a:solidFill>
              <a:latin typeface="Century Gothic"/>
              <a:ea typeface="Century Gothic"/>
              <a:cs typeface="Century Gothic"/>
              <a:sym typeface="Century Gothic"/>
            </a:endParaRPr>
          </a:p>
        </p:txBody>
      </p:sp>
      <p:sp>
        <p:nvSpPr>
          <p:cNvPr id="520" name="Google Shape;520;p49">
            <a:hlinkClick action="ppaction://hlinksldjump" r:id="rId5"/>
          </p:cNvPr>
          <p:cNvSpPr/>
          <p:nvPr/>
        </p:nvSpPr>
        <p:spPr>
          <a:xfrm>
            <a:off x="6460207"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Brand Analytics</a:t>
            </a:r>
            <a:endParaRPr sz="1100">
              <a:solidFill>
                <a:schemeClr val="dk1"/>
              </a:solidFill>
              <a:latin typeface="Century Gothic"/>
              <a:ea typeface="Century Gothic"/>
              <a:cs typeface="Century Gothic"/>
              <a:sym typeface="Century Gothic"/>
            </a:endParaRPr>
          </a:p>
        </p:txBody>
      </p:sp>
      <p:sp>
        <p:nvSpPr>
          <p:cNvPr id="521" name="Google Shape;521;p49"/>
          <p:cNvSpPr txBox="1"/>
          <p:nvPr>
            <p:ph idx="2" type="body"/>
          </p:nvPr>
        </p:nvSpPr>
        <p:spPr>
          <a:xfrm>
            <a:off x="438098" y="585291"/>
            <a:ext cx="7753402"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Develop a deep understanding of the customer to drive informed decisions and communications</a:t>
            </a:r>
            <a:endParaRPr sz="1600"/>
          </a:p>
        </p:txBody>
      </p:sp>
      <p:sp>
        <p:nvSpPr>
          <p:cNvPr id="522" name="Google Shape;522;p49"/>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Marketing and Customer Experience</a:t>
            </a:r>
            <a:endParaRPr sz="2400"/>
          </a:p>
        </p:txBody>
      </p:sp>
      <p:sp>
        <p:nvSpPr>
          <p:cNvPr id="523" name="Google Shape;523;p49"/>
          <p:cNvSpPr/>
          <p:nvPr/>
        </p:nvSpPr>
        <p:spPr>
          <a:xfrm>
            <a:off x="7381759" y="-183102"/>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524" name="Google Shape;524;p49"/>
          <p:cNvSpPr/>
          <p:nvPr/>
        </p:nvSpPr>
        <p:spPr>
          <a:xfrm rot="5400000">
            <a:off x="5522922" y="-1120387"/>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grpSp>
        <p:nvGrpSpPr>
          <p:cNvPr id="525" name="Google Shape;525;p49"/>
          <p:cNvGrpSpPr/>
          <p:nvPr/>
        </p:nvGrpSpPr>
        <p:grpSpPr>
          <a:xfrm>
            <a:off x="7717533" y="4360377"/>
            <a:ext cx="1058348" cy="347375"/>
            <a:chOff x="7651698" y="4287227"/>
            <a:chExt cx="1058348" cy="347375"/>
          </a:xfrm>
        </p:grpSpPr>
        <p:grpSp>
          <p:nvGrpSpPr>
            <p:cNvPr id="526" name="Google Shape;526;p49"/>
            <p:cNvGrpSpPr/>
            <p:nvPr/>
          </p:nvGrpSpPr>
          <p:grpSpPr>
            <a:xfrm>
              <a:off x="7714163" y="4337598"/>
              <a:ext cx="995883" cy="297004"/>
              <a:chOff x="7711013" y="3986494"/>
              <a:chExt cx="995883" cy="297004"/>
            </a:xfrm>
          </p:grpSpPr>
          <p:sp>
            <p:nvSpPr>
              <p:cNvPr id="527" name="Google Shape;527;p49"/>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528" name="Google Shape;528;p49"/>
              <p:cNvGrpSpPr/>
              <p:nvPr/>
            </p:nvGrpSpPr>
            <p:grpSpPr>
              <a:xfrm>
                <a:off x="7711013" y="4002615"/>
                <a:ext cx="281520" cy="241973"/>
                <a:chOff x="5652748" y="4066000"/>
                <a:chExt cx="906498" cy="747974"/>
              </a:xfrm>
            </p:grpSpPr>
            <p:sp>
              <p:nvSpPr>
                <p:cNvPr id="529" name="Google Shape;529;p49"/>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30" name="Google Shape;530;p49"/>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31" name="Google Shape;531;p49"/>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32" name="Google Shape;532;p49">
              <a:hlinkClick action="ppaction://hlinksldjump" r:id="rId6"/>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533" name="Google Shape;533;p49">
            <a:hlinkClick action="ppaction://hlinksldjump" r:id="rId7"/>
          </p:cNvPr>
          <p:cNvSpPr/>
          <p:nvPr/>
        </p:nvSpPr>
        <p:spPr>
          <a:xfrm>
            <a:off x="2099732" y="1742585"/>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Marketing Effectiveness</a:t>
            </a:r>
            <a:endParaRPr sz="1100">
              <a:solidFill>
                <a:schemeClr val="dk1"/>
              </a:solidFill>
              <a:latin typeface="Century Gothic"/>
              <a:ea typeface="Century Gothic"/>
              <a:cs typeface="Century Gothic"/>
              <a:sym typeface="Century Gothic"/>
            </a:endParaRPr>
          </a:p>
        </p:txBody>
      </p:sp>
      <p:sp>
        <p:nvSpPr>
          <p:cNvPr id="534" name="Google Shape;534;p49">
            <a:hlinkClick action="ppaction://hlinksldjump" r:id="rId8"/>
          </p:cNvPr>
          <p:cNvSpPr/>
          <p:nvPr/>
        </p:nvSpPr>
        <p:spPr>
          <a:xfrm flipH="1" rot="5400000">
            <a:off x="5064095" y="84107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9"/>
          <p:cNvSpPr txBox="1"/>
          <p:nvPr/>
        </p:nvSpPr>
        <p:spPr>
          <a:xfrm flipH="1">
            <a:off x="4868417" y="108746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More</a:t>
            </a:r>
            <a:endParaRPr/>
          </a:p>
        </p:txBody>
      </p:sp>
      <p:sp>
        <p:nvSpPr>
          <p:cNvPr id="536" name="Google Shape;536;p49">
            <a:hlinkClick action="ppaction://hlinksldjump" r:id="rId9"/>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Marketing and Customer Experience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2963" name="Shape 2963"/>
        <p:cNvGrpSpPr/>
        <p:nvPr/>
      </p:nvGrpSpPr>
      <p:grpSpPr>
        <a:xfrm>
          <a:off x="0" y="0"/>
          <a:ext cx="0" cy="0"/>
          <a:chOff x="0" y="0"/>
          <a:chExt cx="0" cy="0"/>
        </a:xfrm>
      </p:grpSpPr>
      <p:cxnSp>
        <p:nvCxnSpPr>
          <p:cNvPr id="2964" name="Google Shape;2964;p163"/>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965" name="Google Shape;2965;p163"/>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966" name="Google Shape;2966;p163"/>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967" name="Google Shape;2967;p163"/>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968" name="Google Shape;2968;p163"/>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conversion through more customers successfully completing the online process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Understanding of key reasons for dropout from the subsequent manual fulfilment process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969" name="Google Shape;2969;p163"/>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 visualisation of the customer journey and events throughout the online application process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 visualisation of the elapse times from the point of application to account  opening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Identification of key points of dropout during the application process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Understanding of reject ratios and reasons for application rejection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 set of potential intervention points for making proactive contact with the customer to successfully complete the application process.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970" name="Google Shape;2970;p163"/>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RACE Relevant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Establish a set of actionable recommendations to improve the current application process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Prioritisation of developments to automate the application process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971" name="Google Shape;2971;p163"/>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Attribution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nPath analysis on granular event sequences, Markov chain journey modeling, abandonment prediction, real-time journey intervention, cross-channel attribution</a:t>
            </a:r>
          </a:p>
        </p:txBody>
      </p:sp>
      <p:sp>
        <p:nvSpPr>
          <p:cNvPr id="2972" name="Google Shape;2972;p163"/>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Detailed web click stream data is not available but it is believed that sufficient detail can be extracted from internet banking transaction logs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2973" name="Google Shape;2973;p163"/>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Internet Banking transaction logs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Activity Based Costing transaction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Cash Loan application logs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Risk Data - shadow limits / risk score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Risk decisions – Accept / Decline Reasons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Product Holdings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Loan product detail</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Customer_Journey, Journey_Stage, Channel_Touchpoint, Conversion_Event | Pakistan: Account opening (branch vs Asaan Digital), loan disbursement, card activation paths</a:t>
            </a:r>
          </a:p>
        </p:txBody>
      </p:sp>
      <p:sp>
        <p:nvSpPr>
          <p:cNvPr id="2974" name="Google Shape;2974;p163"/>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Approximately 500,000 customers per annum apply online for cash loans from the Bank. This accounts for less than 20% of cash loan sales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percentage of customers that successfully complete this process online is relatively low by best practice benchmarks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process is currently being improved with further automated which increases the importance of the online application experience</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 Pakistan banking: abandoned loan applications (started online, not completed), abandoned account opening (dropped at NADRA step), abandoned card applications. 40-60% abandonment rate at digital onboarding.</a:t>
            </a:r>
            <a:endParaRPr/>
          </a:p>
        </p:txBody>
      </p:sp>
      <p:sp>
        <p:nvSpPr>
          <p:cNvPr id="2975" name="Google Shape;2975;p163"/>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John O‘Donoghue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976" name="Google Shape;2976;p163"/>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2977" name="Google Shape;2977;p163"/>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Abandoned Online Purchase </a:t>
            </a:r>
            <a:endParaRPr sz="2400"/>
          </a:p>
        </p:txBody>
      </p:sp>
      <p:sp>
        <p:nvSpPr>
          <p:cNvPr id="2978" name="Google Shape;2978;p16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2983" name="Shape 2983"/>
        <p:cNvGrpSpPr/>
        <p:nvPr/>
      </p:nvGrpSpPr>
      <p:grpSpPr>
        <a:xfrm>
          <a:off x="0" y="0"/>
          <a:ext cx="0" cy="0"/>
          <a:chOff x="0" y="0"/>
          <a:chExt cx="0" cy="0"/>
        </a:xfrm>
      </p:grpSpPr>
      <p:cxnSp>
        <p:nvCxnSpPr>
          <p:cNvPr id="2984" name="Google Shape;2984;p164"/>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985" name="Google Shape;2985;p164"/>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2986" name="Google Shape;2986;p164"/>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2987" name="Google Shape;2987;p164"/>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988" name="Google Shape;2988;p164"/>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Focus advisor time on best opportunities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 relevance of customer contact – around specific events and triggers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investor activity</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customer churn</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2989" name="Google Shape;2989;p164"/>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customers who are investing in underperforming funds, or holding funds whose performance has declined</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Proactively offer alternatives based on customer risk appetite and market expectations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fund performance, customer satisfaction, commission through advice and AUM</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Opportunity: NSS certificates maturing, PIB/T-Bill laddering, Islamic wealth management (Sukuk, Islamic mutual funds)</a:t>
            </a:r>
            <a:endParaRPr/>
          </a:p>
        </p:txBody>
      </p:sp>
      <p:sp>
        <p:nvSpPr>
          <p:cNvPr id="2990" name="Google Shape;2990;p164"/>
          <p:cNvSpPr/>
          <p:nvPr/>
        </p:nvSpPr>
        <p:spPr>
          <a:xfrm>
            <a:off x="3271845" y="3853165"/>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Create new events to trigger proactive contact advice based on existing portfolio composition, peer audience behavior and investment goals </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2991" name="Google Shape;2991;p164"/>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Analysis of investors to identify those with most effective strategies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Analytics/Ngram for key trigger phrases from text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Basket analysis/CFilter to make ‘people like me’ recommendations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Sentiment Analysis using market data to provide alerts when mark sentiment changes towards certain investments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Complex event processing (CEP), real-time event detection, ML-driven event scoring, contextual event-offer matching, event cascade analysis</a:t>
            </a:r>
          </a:p>
        </p:txBody>
      </p:sp>
      <p:sp>
        <p:nvSpPr>
          <p:cNvPr id="2992" name="Google Shape;2992;p164"/>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Real time 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Challenging to infer some attributes such as attitudinal preferences (risk etc.)</a:t>
            </a:r>
            <a:endParaRPr sz="800">
              <a:solidFill>
                <a:srgbClr val="3C3C3B"/>
              </a:solidFill>
              <a:latin typeface="Century Gothic"/>
              <a:ea typeface="Century Gothic"/>
              <a:cs typeface="Century Gothic"/>
              <a:sym typeface="Century Gothic"/>
            </a:endParaRPr>
          </a:p>
        </p:txBody>
      </p:sp>
      <p:sp>
        <p:nvSpPr>
          <p:cNvPr id="2993" name="Google Shape;2993;p164"/>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already held on the data warehouse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Portfolio data showing investments and holdings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Trading data buy and sell transactions for each customer</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Market data: Research and analysis of different equities, funds, bonds etc.</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a:p>
            <a:r>
              <a:rPr sz="800" i="1">
                <a:solidFill>
                  <a:srgbClr val="006699"/>
                </a:solidFill>
              </a:rPr>
              <a:t>Pakistan: Portfolio holdings (FDs, NSS, PIBs, mutual funds, stocks), RAAST large value transfers, property transaction signals</a:t>
            </a:r>
          </a:p>
        </p:txBody>
      </p:sp>
      <p:sp>
        <p:nvSpPr>
          <p:cNvPr id="2994" name="Google Shape;2994;p164"/>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pressure is on for Wealth Advisors to do more with less, bigger portfolios mean less time with each customer and higher targets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Customers expect proactive advice and value add, and are only willing to pay for high quality insight</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challenge is how to focus on the right customers at the right time with the right advice, but spend less time researching and preparing advice</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Pakistan HNW segment (PKR 50M+ deposits) is relationship-managed but reactive. Proactive advice based on portfolio analytics is rare.</a:t>
            </a:r>
            <a:endParaRPr/>
          </a:p>
        </p:txBody>
      </p:sp>
      <p:sp>
        <p:nvSpPr>
          <p:cNvPr id="2995" name="Google Shape;2995;p164"/>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2996" name="Google Shape;2996;p164"/>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2997" name="Google Shape;2997;p164"/>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Wealth Management – Proactive Advice </a:t>
            </a:r>
            <a:endParaRPr sz="2400"/>
          </a:p>
        </p:txBody>
      </p:sp>
      <p:sp>
        <p:nvSpPr>
          <p:cNvPr id="2998" name="Google Shape;2998;p16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3003" name="Shape 3003"/>
        <p:cNvGrpSpPr/>
        <p:nvPr/>
      </p:nvGrpSpPr>
      <p:grpSpPr>
        <a:xfrm>
          <a:off x="0" y="0"/>
          <a:ext cx="0" cy="0"/>
          <a:chOff x="0" y="0"/>
          <a:chExt cx="0" cy="0"/>
        </a:xfrm>
      </p:grpSpPr>
      <p:cxnSp>
        <p:nvCxnSpPr>
          <p:cNvPr id="3004" name="Google Shape;3004;p165"/>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005" name="Google Shape;3005;p165"/>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006" name="Google Shape;3006;p165"/>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007" name="Google Shape;3007;p165"/>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008" name="Google Shape;3008;p165"/>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focus of relationship manager time on highest potential clients – using timely and relevant events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targeting and conversion of potential wealth clients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009" name="Google Shape;3009;p165"/>
          <p:cNvSpPr/>
          <p:nvPr/>
        </p:nvSpPr>
        <p:spPr>
          <a:xfrm>
            <a:off x="6148806" y="2515129"/>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sequence of events leading to increased on-us AUM to improve the timing of the contact or offer to win-over or increase wallet share.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estimation of the “off-us” wealth / AUM of customers leading to improved targeting of potential HNW customers.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RM empowered with better customer insights to plan and strategize customer engagements and offers.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Target: win-over 5% of competitor high-value customers annually through superior analytics-driven service</a:t>
            </a:r>
            <a:endParaRPr/>
          </a:p>
        </p:txBody>
      </p:sp>
      <p:sp>
        <p:nvSpPr>
          <p:cNvPr id="3010" name="Google Shape;3010;p165"/>
          <p:cNvSpPr/>
          <p:nvPr/>
        </p:nvSpPr>
        <p:spPr>
          <a:xfrm>
            <a:off x="3271845" y="3757915"/>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Creation of a candidate set of events and triggers (or sequence of events) to prompt customer contact from a relationship manager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Identification of potential customers that have are likely to have significant wealth elsewhere</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011" name="Google Shape;3011;p165"/>
          <p:cNvSpPr/>
          <p:nvPr/>
        </p:nvSpPr>
        <p:spPr>
          <a:xfrm>
            <a:off x="3271845" y="2515129"/>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all paths and sequences of product acquisitions and activities that leads to increased AUM for targeting potential customers to win-over.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Using association analysis to estimate the total wealth / AUM of a customer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Overlay with existing traditional model / business rule for potential uplift.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Complex event processing (CEP), real-time event detection, ML-driven event scoring, contextual event-offer matching, event cascade analysis</a:t>
            </a:r>
          </a:p>
        </p:txBody>
      </p:sp>
      <p:sp>
        <p:nvSpPr>
          <p:cNvPr id="3012" name="Google Shape;3012;p165"/>
          <p:cNvSpPr/>
          <p:nvPr/>
        </p:nvSpPr>
        <p:spPr>
          <a:xfrm>
            <a:off x="423863" y="4281790"/>
            <a:ext cx="2714400" cy="661685"/>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 particularly external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p:txBody>
      </p:sp>
      <p:sp>
        <p:nvSpPr>
          <p:cNvPr id="3013" name="Google Shape;3013;p165"/>
          <p:cNvSpPr/>
          <p:nvPr/>
        </p:nvSpPr>
        <p:spPr>
          <a:xfrm>
            <a:off x="423863" y="2515129"/>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Weblog data from public and customer website, including if possible real-time interactions as well as associations with other known HNW individuals.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Mobile banking data from customers’ usage of mobile apps particularly mobile ibanking and mobile payment.</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Call centre / traditional channels interaction data to identify events in customer service conversations, emails, phone banking, ATMs and branches leading to increased “on-us” AUM.</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Banking transaction data for e.g. significant money flow, large ticket credit card purchases, dividend/stock income etc.</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800">
              <a:solidFill>
                <a:srgbClr val="3C3C3B"/>
              </a:solidFill>
              <a:latin typeface="Century Gothic"/>
              <a:ea typeface="Century Gothic"/>
              <a:cs typeface="Century Gothic"/>
              <a:sym typeface="Century Gothic"/>
            </a:endParaRPr>
          </a:p>
        </p:txBody>
      </p:sp>
      <p:sp>
        <p:nvSpPr>
          <p:cNvPr id="3014" name="Google Shape;3014;p165"/>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Customer’s wealth, deposits and investments (AUM) in other banks are not readily understandable unlike their liabilities which are readily available via credit bureaus.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Traditional analytics / business rules are limited to customer’s “on-us” transactions in their product holdings and the conversion rate is very low (e.g. less than 0.5%), as a result relationship managers (RM) are reluctant to work on leads (hunt) as their time is better spent farming existing customers.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Bank loses out in competing for new high net worth customers, critical to expanding their HNW banking segment.</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Win-over high-value customers from competitors by detecting multi-banking signals: IBFT outflows to competitor, ECIB inquiries by other banks.</a:t>
            </a:r>
            <a:endParaRPr/>
          </a:p>
        </p:txBody>
      </p:sp>
      <p:sp>
        <p:nvSpPr>
          <p:cNvPr id="3015" name="Google Shape;3015;p165"/>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016" name="Google Shape;3016;p165"/>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017" name="Google Shape;3017;p165"/>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Portfolio Increase and New “Win-Over” </a:t>
            </a:r>
            <a:endParaRPr sz="2000"/>
          </a:p>
        </p:txBody>
      </p:sp>
      <p:sp>
        <p:nvSpPr>
          <p:cNvPr id="3018" name="Google Shape;3018;p16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53"/>
          <p:cNvSpPr/>
          <p:nvPr/>
        </p:nvSpPr>
        <p:spPr>
          <a:xfrm>
            <a:off x="459950" y="1187449"/>
            <a:ext cx="8223249" cy="3511551"/>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94" name="Google Shape;694;p53">
            <a:hlinkClick action="ppaction://hlinksldjump" r:id="rId3"/>
          </p:cNvPr>
          <p:cNvSpPr/>
          <p:nvPr/>
        </p:nvSpPr>
        <p:spPr>
          <a:xfrm>
            <a:off x="7014892" y="1692117"/>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Omni Channel Customer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Engagement</a:t>
            </a:r>
            <a:endParaRPr sz="1000">
              <a:solidFill>
                <a:schemeClr val="dk1"/>
              </a:solidFill>
              <a:latin typeface="Century Gothic"/>
              <a:ea typeface="Century Gothic"/>
              <a:cs typeface="Century Gothic"/>
              <a:sym typeface="Century Gothic"/>
            </a:endParaRPr>
          </a:p>
        </p:txBody>
      </p:sp>
      <p:sp>
        <p:nvSpPr>
          <p:cNvPr id="695" name="Google Shape;695;p53">
            <a:hlinkClick action="ppaction://hlinksldjump" r:id="rId4"/>
          </p:cNvPr>
          <p:cNvSpPr/>
          <p:nvPr/>
        </p:nvSpPr>
        <p:spPr>
          <a:xfrm>
            <a:off x="5374899" y="1692117"/>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Omni Channel Customer Experience Optimization</a:t>
            </a:r>
            <a:endParaRPr sz="1000">
              <a:solidFill>
                <a:schemeClr val="dk1"/>
              </a:solidFill>
              <a:latin typeface="Century Gothic"/>
              <a:ea typeface="Century Gothic"/>
              <a:cs typeface="Century Gothic"/>
              <a:sym typeface="Century Gothic"/>
            </a:endParaRPr>
          </a:p>
        </p:txBody>
      </p:sp>
      <p:sp>
        <p:nvSpPr>
          <p:cNvPr id="696" name="Google Shape;696;p53"/>
          <p:cNvSpPr/>
          <p:nvPr/>
        </p:nvSpPr>
        <p:spPr>
          <a:xfrm rot="5400000">
            <a:off x="5355973" y="1960304"/>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97" name="Google Shape;697;p53">
            <a:hlinkClick action="ppaction://hlinksldjump" r:id="rId5"/>
          </p:cNvPr>
          <p:cNvSpPr/>
          <p:nvPr/>
        </p:nvSpPr>
        <p:spPr>
          <a:xfrm>
            <a:off x="3728563"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Contact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Management</a:t>
            </a:r>
            <a:endParaRPr sz="1000">
              <a:solidFill>
                <a:schemeClr val="dk1"/>
              </a:solidFill>
              <a:latin typeface="Century Gothic"/>
              <a:ea typeface="Century Gothic"/>
              <a:cs typeface="Century Gothic"/>
              <a:sym typeface="Century Gothic"/>
            </a:endParaRPr>
          </a:p>
        </p:txBody>
      </p:sp>
      <p:sp>
        <p:nvSpPr>
          <p:cNvPr id="698" name="Google Shape;698;p53"/>
          <p:cNvSpPr/>
          <p:nvPr/>
        </p:nvSpPr>
        <p:spPr>
          <a:xfrm rot="5400000">
            <a:off x="3712178" y="195791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99" name="Google Shape;699;p53">
            <a:hlinkClick action="ppaction://hlinksldjump" r:id="rId6"/>
          </p:cNvPr>
          <p:cNvSpPr/>
          <p:nvPr/>
        </p:nvSpPr>
        <p:spPr>
          <a:xfrm>
            <a:off x="2094914"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Social Networks Data For Marketing Campaigns</a:t>
            </a:r>
            <a:endParaRPr sz="700">
              <a:solidFill>
                <a:schemeClr val="dk1"/>
              </a:solidFill>
              <a:latin typeface="Century Gothic"/>
              <a:ea typeface="Century Gothic"/>
              <a:cs typeface="Century Gothic"/>
              <a:sym typeface="Century Gothic"/>
            </a:endParaRPr>
          </a:p>
        </p:txBody>
      </p:sp>
      <p:sp>
        <p:nvSpPr>
          <p:cNvPr id="700" name="Google Shape;700;p53"/>
          <p:cNvSpPr/>
          <p:nvPr/>
        </p:nvSpPr>
        <p:spPr>
          <a:xfrm rot="5400000">
            <a:off x="2079372" y="195791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01" name="Google Shape;701;p53"/>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 Use Cases</a:t>
            </a:r>
            <a:endParaRPr sz="1400">
              <a:solidFill>
                <a:srgbClr val="3C3C3B"/>
              </a:solidFill>
              <a:latin typeface="Century Gothic"/>
              <a:ea typeface="Century Gothic"/>
              <a:cs typeface="Century Gothic"/>
              <a:sym typeface="Century Gothic"/>
            </a:endParaRPr>
          </a:p>
        </p:txBody>
      </p:sp>
      <p:sp>
        <p:nvSpPr>
          <p:cNvPr id="702" name="Google Shape;702;p53"/>
          <p:cNvSpPr/>
          <p:nvPr/>
        </p:nvSpPr>
        <p:spPr>
          <a:xfrm>
            <a:off x="7381759" y="-183102"/>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grpSp>
        <p:nvGrpSpPr>
          <p:cNvPr id="703" name="Google Shape;703;p53"/>
          <p:cNvGrpSpPr/>
          <p:nvPr/>
        </p:nvGrpSpPr>
        <p:grpSpPr>
          <a:xfrm>
            <a:off x="2100364" y="1348315"/>
            <a:ext cx="281520" cy="241973"/>
            <a:chOff x="5652748" y="4066000"/>
            <a:chExt cx="906498" cy="747974"/>
          </a:xfrm>
        </p:grpSpPr>
        <p:sp>
          <p:nvSpPr>
            <p:cNvPr id="704" name="Google Shape;704;p53"/>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705" name="Google Shape;705;p53"/>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06" name="Google Shape;706;p53"/>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707" name="Google Shape;707;p53"/>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Marketing and Customer Experience</a:t>
            </a:r>
            <a:endParaRPr sz="2400"/>
          </a:p>
        </p:txBody>
      </p:sp>
      <p:sp>
        <p:nvSpPr>
          <p:cNvPr id="708" name="Google Shape;708;p53"/>
          <p:cNvSpPr txBox="1"/>
          <p:nvPr>
            <p:ph idx="2" type="body"/>
          </p:nvPr>
        </p:nvSpPr>
        <p:spPr>
          <a:xfrm>
            <a:off x="438098" y="585291"/>
            <a:ext cx="8229600"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Use case examples delivering Customer Interaction Management business value</a:t>
            </a:r>
            <a:endParaRPr sz="1600"/>
          </a:p>
        </p:txBody>
      </p:sp>
      <p:sp>
        <p:nvSpPr>
          <p:cNvPr id="709" name="Google Shape;709;p53">
            <a:hlinkClick action="ppaction://hlinksldjump" r:id="rId7"/>
          </p:cNvPr>
          <p:cNvSpPr/>
          <p:nvPr/>
        </p:nvSpPr>
        <p:spPr>
          <a:xfrm flipH="1" rot="5400000">
            <a:off x="5064095" y="79357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53"/>
          <p:cNvSpPr txBox="1"/>
          <p:nvPr/>
        </p:nvSpPr>
        <p:spPr>
          <a:xfrm flipH="1">
            <a:off x="4868417" y="103996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4 of 5</a:t>
            </a:r>
            <a:endParaRPr/>
          </a:p>
        </p:txBody>
      </p:sp>
      <p:sp>
        <p:nvSpPr>
          <p:cNvPr id="711" name="Google Shape;711;p53">
            <a:hlinkClick action="ppaction://hlinksldjump" r:id="rId8"/>
          </p:cNvPr>
          <p:cNvSpPr/>
          <p:nvPr/>
        </p:nvSpPr>
        <p:spPr>
          <a:xfrm>
            <a:off x="565902" y="1683866"/>
            <a:ext cx="1395519" cy="2861734"/>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Customer Interaction Management</a:t>
            </a:r>
            <a:endParaRPr sz="1100">
              <a:solidFill>
                <a:srgbClr val="FFFFFF"/>
              </a:solidFill>
              <a:latin typeface="Century Gothic"/>
              <a:ea typeface="Century Gothic"/>
              <a:cs typeface="Century Gothic"/>
              <a:sym typeface="Century Gothic"/>
            </a:endParaRPr>
          </a:p>
        </p:txBody>
      </p:sp>
      <p:sp>
        <p:nvSpPr>
          <p:cNvPr id="712" name="Google Shape;712;p53"/>
          <p:cNvSpPr/>
          <p:nvPr/>
        </p:nvSpPr>
        <p:spPr>
          <a:xfrm rot="5400000">
            <a:off x="6998507" y="1960304"/>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13" name="Google Shape;713;p53"/>
          <p:cNvSpPr/>
          <p:nvPr/>
        </p:nvSpPr>
        <p:spPr>
          <a:xfrm>
            <a:off x="2100364" y="-1058898"/>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714" name="Google Shape;714;p53"/>
          <p:cNvSpPr/>
          <p:nvPr/>
        </p:nvSpPr>
        <p:spPr>
          <a:xfrm rot="5400000">
            <a:off x="4437614" y="-1071241"/>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715" name="Google Shape;715;p53">
            <a:hlinkClick action="ppaction://hlinksldjump" r:id="rId9"/>
          </p:cNvPr>
          <p:cNvSpPr/>
          <p:nvPr/>
        </p:nvSpPr>
        <p:spPr>
          <a:xfrm>
            <a:off x="5372102" y="2434445"/>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RTIM And Real-Time</a:t>
            </a:r>
            <a:endParaRPr sz="1000">
              <a:solidFill>
                <a:schemeClr val="dk1"/>
              </a:solidFill>
              <a:latin typeface="Century Gothic"/>
              <a:ea typeface="Century Gothic"/>
              <a:cs typeface="Century Gothic"/>
              <a:sym typeface="Century Gothic"/>
            </a:endParaRPr>
          </a:p>
        </p:txBody>
      </p:sp>
      <p:sp>
        <p:nvSpPr>
          <p:cNvPr id="716" name="Google Shape;716;p53"/>
          <p:cNvSpPr/>
          <p:nvPr/>
        </p:nvSpPr>
        <p:spPr>
          <a:xfrm rot="5400000">
            <a:off x="5355717" y="2700247"/>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17" name="Google Shape;717;p53">
            <a:hlinkClick action="ppaction://hlinksldjump" r:id="rId10"/>
          </p:cNvPr>
          <p:cNvSpPr/>
          <p:nvPr/>
        </p:nvSpPr>
        <p:spPr>
          <a:xfrm>
            <a:off x="2097711"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Complaints Process Optimisation</a:t>
            </a:r>
            <a:endParaRPr sz="1000">
              <a:solidFill>
                <a:schemeClr val="dk1"/>
              </a:solidFill>
              <a:latin typeface="Century Gothic"/>
              <a:ea typeface="Century Gothic"/>
              <a:cs typeface="Century Gothic"/>
              <a:sym typeface="Century Gothic"/>
            </a:endParaRPr>
          </a:p>
        </p:txBody>
      </p:sp>
      <p:sp>
        <p:nvSpPr>
          <p:cNvPr id="718" name="Google Shape;718;p53"/>
          <p:cNvSpPr/>
          <p:nvPr/>
        </p:nvSpPr>
        <p:spPr>
          <a:xfrm rot="5400000">
            <a:off x="2078785" y="3453779"/>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19" name="Google Shape;719;p53">
            <a:hlinkClick action="ppaction://hlinksldjump" r:id="rId11"/>
          </p:cNvPr>
          <p:cNvSpPr/>
          <p:nvPr/>
        </p:nvSpPr>
        <p:spPr>
          <a:xfrm>
            <a:off x="7033261"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Web/IVR Breakout</a:t>
            </a:r>
            <a:endParaRPr sz="1000">
              <a:solidFill>
                <a:schemeClr val="dk1"/>
              </a:solidFill>
              <a:latin typeface="Century Gothic"/>
              <a:ea typeface="Century Gothic"/>
              <a:cs typeface="Century Gothic"/>
              <a:sym typeface="Century Gothic"/>
            </a:endParaRPr>
          </a:p>
        </p:txBody>
      </p:sp>
      <p:sp>
        <p:nvSpPr>
          <p:cNvPr id="720" name="Google Shape;720;p53"/>
          <p:cNvSpPr/>
          <p:nvPr/>
        </p:nvSpPr>
        <p:spPr>
          <a:xfrm rot="5400000">
            <a:off x="7020260" y="2711451"/>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21" name="Google Shape;721;p53">
            <a:hlinkClick action="ppaction://hlinksldjump" r:id="rId12"/>
          </p:cNvPr>
          <p:cNvSpPr/>
          <p:nvPr/>
        </p:nvSpPr>
        <p:spPr>
          <a:xfrm>
            <a:off x="3737704"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Onsite Search</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 Engine Optimization</a:t>
            </a:r>
            <a:endParaRPr sz="700">
              <a:solidFill>
                <a:schemeClr val="dk1"/>
              </a:solidFill>
              <a:latin typeface="Century Gothic"/>
              <a:ea typeface="Century Gothic"/>
              <a:cs typeface="Century Gothic"/>
              <a:sym typeface="Century Gothic"/>
            </a:endParaRPr>
          </a:p>
        </p:txBody>
      </p:sp>
      <p:sp>
        <p:nvSpPr>
          <p:cNvPr id="722" name="Google Shape;722;p53"/>
          <p:cNvSpPr/>
          <p:nvPr/>
        </p:nvSpPr>
        <p:spPr>
          <a:xfrm rot="5400000">
            <a:off x="3725263" y="344880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23" name="Google Shape;723;p53">
            <a:hlinkClick action="ppaction://hlinksldjump" r:id="rId13"/>
          </p:cNvPr>
          <p:cNvSpPr/>
          <p:nvPr/>
        </p:nvSpPr>
        <p:spPr>
          <a:xfrm>
            <a:off x="5374898"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Customized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“Amount” Button</a:t>
            </a:r>
            <a:endParaRPr sz="700">
              <a:solidFill>
                <a:schemeClr val="dk1"/>
              </a:solidFill>
              <a:latin typeface="Century Gothic"/>
              <a:ea typeface="Century Gothic"/>
              <a:cs typeface="Century Gothic"/>
              <a:sym typeface="Century Gothic"/>
            </a:endParaRPr>
          </a:p>
        </p:txBody>
      </p:sp>
      <p:sp>
        <p:nvSpPr>
          <p:cNvPr id="724" name="Google Shape;724;p53"/>
          <p:cNvSpPr/>
          <p:nvPr/>
        </p:nvSpPr>
        <p:spPr>
          <a:xfrm rot="5400000">
            <a:off x="5359356" y="3451394"/>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25" name="Google Shape;725;p53">
            <a:hlinkClick action="ppaction://hlinksldjump" r:id="rId14"/>
          </p:cNvPr>
          <p:cNvSpPr/>
          <p:nvPr/>
        </p:nvSpPr>
        <p:spPr>
          <a:xfrm>
            <a:off x="7029713"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Enhanced NBA Contact Strategy</a:t>
            </a:r>
            <a:endParaRPr sz="1000">
              <a:solidFill>
                <a:schemeClr val="dk1"/>
              </a:solidFill>
              <a:latin typeface="Century Gothic"/>
              <a:ea typeface="Century Gothic"/>
              <a:cs typeface="Century Gothic"/>
              <a:sym typeface="Century Gothic"/>
            </a:endParaRPr>
          </a:p>
        </p:txBody>
      </p:sp>
      <p:sp>
        <p:nvSpPr>
          <p:cNvPr id="726" name="Google Shape;726;p53"/>
          <p:cNvSpPr/>
          <p:nvPr/>
        </p:nvSpPr>
        <p:spPr>
          <a:xfrm rot="5400000">
            <a:off x="7010787" y="3451394"/>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27" name="Google Shape;727;p53">
            <a:hlinkClick action="ppaction://hlinksldjump" r:id="rId15"/>
          </p:cNvPr>
          <p:cNvSpPr/>
          <p:nvPr/>
        </p:nvSpPr>
        <p:spPr>
          <a:xfrm>
            <a:off x="2076289" y="3915600"/>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Next Best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Product Offer</a:t>
            </a:r>
            <a:endParaRPr sz="1000">
              <a:solidFill>
                <a:schemeClr val="dk1"/>
              </a:solidFill>
              <a:latin typeface="Century Gothic"/>
              <a:ea typeface="Century Gothic"/>
              <a:cs typeface="Century Gothic"/>
              <a:sym typeface="Century Gothic"/>
            </a:endParaRPr>
          </a:p>
        </p:txBody>
      </p:sp>
      <p:sp>
        <p:nvSpPr>
          <p:cNvPr id="728" name="Google Shape;728;p53"/>
          <p:cNvSpPr/>
          <p:nvPr/>
        </p:nvSpPr>
        <p:spPr>
          <a:xfrm rot="5400000">
            <a:off x="2057363" y="4183787"/>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29" name="Google Shape;729;p53">
            <a:hlinkClick action="ppaction://hlinksldjump" r:id="rId16"/>
          </p:cNvPr>
          <p:cNvSpPr/>
          <p:nvPr/>
        </p:nvSpPr>
        <p:spPr>
          <a:xfrm>
            <a:off x="3717173" y="3915600"/>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Product Bundling</a:t>
            </a:r>
            <a:endParaRPr sz="700">
              <a:solidFill>
                <a:schemeClr val="dk1"/>
              </a:solidFill>
              <a:latin typeface="Century Gothic"/>
              <a:ea typeface="Century Gothic"/>
              <a:cs typeface="Century Gothic"/>
              <a:sym typeface="Century Gothic"/>
            </a:endParaRPr>
          </a:p>
        </p:txBody>
      </p:sp>
      <p:sp>
        <p:nvSpPr>
          <p:cNvPr id="730" name="Google Shape;730;p53"/>
          <p:cNvSpPr/>
          <p:nvPr/>
        </p:nvSpPr>
        <p:spPr>
          <a:xfrm rot="5400000">
            <a:off x="3698247" y="4178060"/>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31" name="Google Shape;731;p53">
            <a:hlinkClick action="ppaction://hlinksldjump" r:id="rId17"/>
          </p:cNvPr>
          <p:cNvSpPr/>
          <p:nvPr/>
        </p:nvSpPr>
        <p:spPr>
          <a:xfrm>
            <a:off x="5374899" y="3915600"/>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Individualized Merchants Recommendations</a:t>
            </a:r>
            <a:endParaRPr sz="700">
              <a:solidFill>
                <a:schemeClr val="dk1"/>
              </a:solidFill>
              <a:latin typeface="Century Gothic"/>
              <a:ea typeface="Century Gothic"/>
              <a:cs typeface="Century Gothic"/>
              <a:sym typeface="Century Gothic"/>
            </a:endParaRPr>
          </a:p>
        </p:txBody>
      </p:sp>
      <p:sp>
        <p:nvSpPr>
          <p:cNvPr id="732" name="Google Shape;732;p53"/>
          <p:cNvSpPr/>
          <p:nvPr/>
        </p:nvSpPr>
        <p:spPr>
          <a:xfrm rot="5400000">
            <a:off x="5363802" y="4154872"/>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33" name="Google Shape;733;p53">
            <a:hlinkClick action="ppaction://hlinksldjump" r:id="rId18"/>
          </p:cNvPr>
          <p:cNvSpPr/>
          <p:nvPr/>
        </p:nvSpPr>
        <p:spPr>
          <a:xfrm>
            <a:off x="7029714" y="3915600"/>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Advertising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Creative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Optimization</a:t>
            </a:r>
            <a:endParaRPr sz="700">
              <a:solidFill>
                <a:schemeClr val="dk1"/>
              </a:solidFill>
              <a:latin typeface="Century Gothic"/>
              <a:ea typeface="Century Gothic"/>
              <a:cs typeface="Century Gothic"/>
              <a:sym typeface="Century Gothic"/>
            </a:endParaRPr>
          </a:p>
        </p:txBody>
      </p:sp>
      <p:sp>
        <p:nvSpPr>
          <p:cNvPr id="734" name="Google Shape;734;p53"/>
          <p:cNvSpPr/>
          <p:nvPr/>
        </p:nvSpPr>
        <p:spPr>
          <a:xfrm rot="5400000">
            <a:off x="7017273" y="4178816"/>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35" name="Google Shape;735;p53">
            <a:hlinkClick action="ppaction://hlinksldjump" r:id="rId19"/>
          </p:cNvPr>
          <p:cNvSpPr/>
          <p:nvPr/>
        </p:nvSpPr>
        <p:spPr>
          <a:xfrm rot="5400000">
            <a:off x="5064095" y="449727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53"/>
          <p:cNvSpPr txBox="1"/>
          <p:nvPr/>
        </p:nvSpPr>
        <p:spPr>
          <a:xfrm>
            <a:off x="4868417" y="469293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4 of 5</a:t>
            </a:r>
            <a:endParaRPr sz="800">
              <a:solidFill>
                <a:srgbClr val="FFFFFF"/>
              </a:solidFill>
              <a:latin typeface="Century Gothic"/>
              <a:ea typeface="Century Gothic"/>
              <a:cs typeface="Century Gothic"/>
              <a:sym typeface="Century Gothic"/>
            </a:endParaRPr>
          </a:p>
        </p:txBody>
      </p:sp>
      <p:sp>
        <p:nvSpPr>
          <p:cNvPr id="737" name="Google Shape;737;p53">
            <a:hlinkClick action="ppaction://hlinksldjump" r:id="rId20"/>
          </p:cNvPr>
          <p:cNvSpPr/>
          <p:nvPr/>
        </p:nvSpPr>
        <p:spPr>
          <a:xfrm>
            <a:off x="2073492" y="2434445"/>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Location Based</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Offers</a:t>
            </a:r>
            <a:endParaRPr sz="1000">
              <a:solidFill>
                <a:schemeClr val="dk1"/>
              </a:solidFill>
              <a:latin typeface="Century Gothic"/>
              <a:ea typeface="Century Gothic"/>
              <a:cs typeface="Century Gothic"/>
              <a:sym typeface="Century Gothic"/>
            </a:endParaRPr>
          </a:p>
        </p:txBody>
      </p:sp>
      <p:sp>
        <p:nvSpPr>
          <p:cNvPr id="738" name="Google Shape;738;p53"/>
          <p:cNvSpPr/>
          <p:nvPr/>
        </p:nvSpPr>
        <p:spPr>
          <a:xfrm rot="5400000">
            <a:off x="2057107" y="2700247"/>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39" name="Google Shape;739;p53">
            <a:hlinkClick action="ppaction://hlinksldjump" r:id="rId21"/>
          </p:cNvPr>
          <p:cNvSpPr/>
          <p:nvPr/>
        </p:nvSpPr>
        <p:spPr>
          <a:xfrm>
            <a:off x="3734651"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Real-time Customer GIS location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in Collaboration with Telcos </a:t>
            </a:r>
            <a:endParaRPr sz="1000">
              <a:solidFill>
                <a:schemeClr val="dk1"/>
              </a:solidFill>
              <a:latin typeface="Century Gothic"/>
              <a:ea typeface="Century Gothic"/>
              <a:cs typeface="Century Gothic"/>
              <a:sym typeface="Century Gothic"/>
            </a:endParaRPr>
          </a:p>
        </p:txBody>
      </p:sp>
      <p:sp>
        <p:nvSpPr>
          <p:cNvPr id="740" name="Google Shape;740;p53"/>
          <p:cNvSpPr/>
          <p:nvPr/>
        </p:nvSpPr>
        <p:spPr>
          <a:xfrm rot="5400000">
            <a:off x="3721650" y="2711451"/>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41" name="Google Shape;741;p53">
            <a:hlinkClick action="ppaction://hlinksldjump" r:id="rId22"/>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Marketing and Customer Experience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54"/>
          <p:cNvSpPr/>
          <p:nvPr/>
        </p:nvSpPr>
        <p:spPr>
          <a:xfrm>
            <a:off x="459950" y="1187449"/>
            <a:ext cx="8223249" cy="3511551"/>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48" name="Google Shape;748;p54"/>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 Use Cases</a:t>
            </a:r>
            <a:endParaRPr sz="1400">
              <a:solidFill>
                <a:srgbClr val="3C3C3B"/>
              </a:solidFill>
              <a:latin typeface="Century Gothic"/>
              <a:ea typeface="Century Gothic"/>
              <a:cs typeface="Century Gothic"/>
              <a:sym typeface="Century Gothic"/>
            </a:endParaRPr>
          </a:p>
        </p:txBody>
      </p:sp>
      <p:sp>
        <p:nvSpPr>
          <p:cNvPr id="749" name="Google Shape;749;p54"/>
          <p:cNvSpPr/>
          <p:nvPr/>
        </p:nvSpPr>
        <p:spPr>
          <a:xfrm>
            <a:off x="7381759" y="-183102"/>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grpSp>
        <p:nvGrpSpPr>
          <p:cNvPr id="750" name="Google Shape;750;p54"/>
          <p:cNvGrpSpPr/>
          <p:nvPr/>
        </p:nvGrpSpPr>
        <p:grpSpPr>
          <a:xfrm>
            <a:off x="2100364" y="1348315"/>
            <a:ext cx="281520" cy="241973"/>
            <a:chOff x="5652748" y="4066000"/>
            <a:chExt cx="906498" cy="747974"/>
          </a:xfrm>
        </p:grpSpPr>
        <p:sp>
          <p:nvSpPr>
            <p:cNvPr id="751" name="Google Shape;751;p5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752" name="Google Shape;752;p5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53" name="Google Shape;753;p5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754" name="Google Shape;754;p54"/>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Marketing and Customer Experience</a:t>
            </a:r>
            <a:endParaRPr sz="2400"/>
          </a:p>
        </p:txBody>
      </p:sp>
      <p:sp>
        <p:nvSpPr>
          <p:cNvPr id="755" name="Google Shape;755;p54"/>
          <p:cNvSpPr txBox="1"/>
          <p:nvPr>
            <p:ph idx="2" type="body"/>
          </p:nvPr>
        </p:nvSpPr>
        <p:spPr>
          <a:xfrm>
            <a:off x="438098" y="585291"/>
            <a:ext cx="8229600"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Use case examples delivering Customer Interaction Management business value</a:t>
            </a:r>
            <a:endParaRPr sz="1600"/>
          </a:p>
        </p:txBody>
      </p:sp>
      <p:sp>
        <p:nvSpPr>
          <p:cNvPr id="756" name="Google Shape;756;p54">
            <a:hlinkClick action="ppaction://hlinksldjump" r:id="rId3"/>
          </p:cNvPr>
          <p:cNvSpPr/>
          <p:nvPr/>
        </p:nvSpPr>
        <p:spPr>
          <a:xfrm flipH="1" rot="5400000">
            <a:off x="5064095" y="76982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54"/>
          <p:cNvSpPr txBox="1"/>
          <p:nvPr/>
        </p:nvSpPr>
        <p:spPr>
          <a:xfrm flipH="1">
            <a:off x="4868417" y="101621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5 of 5</a:t>
            </a:r>
            <a:endParaRPr/>
          </a:p>
        </p:txBody>
      </p:sp>
      <p:sp>
        <p:nvSpPr>
          <p:cNvPr id="758" name="Google Shape;758;p54">
            <a:hlinkClick action="ppaction://hlinksldjump" r:id="rId4"/>
          </p:cNvPr>
          <p:cNvSpPr/>
          <p:nvPr/>
        </p:nvSpPr>
        <p:spPr>
          <a:xfrm>
            <a:off x="565902" y="1683866"/>
            <a:ext cx="1395519" cy="630000"/>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Customer Interaction Management</a:t>
            </a:r>
            <a:endParaRPr sz="1100">
              <a:solidFill>
                <a:srgbClr val="FFFFFF"/>
              </a:solidFill>
              <a:latin typeface="Century Gothic"/>
              <a:ea typeface="Century Gothic"/>
              <a:cs typeface="Century Gothic"/>
              <a:sym typeface="Century Gothic"/>
            </a:endParaRPr>
          </a:p>
        </p:txBody>
      </p:sp>
      <p:sp>
        <p:nvSpPr>
          <p:cNvPr id="759" name="Google Shape;759;p54">
            <a:hlinkClick action="ppaction://hlinksldjump" r:id="rId5"/>
          </p:cNvPr>
          <p:cNvSpPr/>
          <p:nvPr/>
        </p:nvSpPr>
        <p:spPr>
          <a:xfrm>
            <a:off x="2094914"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Competitor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Analysis</a:t>
            </a:r>
            <a:endParaRPr sz="1000">
              <a:solidFill>
                <a:schemeClr val="dk1"/>
              </a:solidFill>
              <a:latin typeface="Century Gothic"/>
              <a:ea typeface="Century Gothic"/>
              <a:cs typeface="Century Gothic"/>
              <a:sym typeface="Century Gothic"/>
            </a:endParaRPr>
          </a:p>
        </p:txBody>
      </p:sp>
      <p:sp>
        <p:nvSpPr>
          <p:cNvPr id="760" name="Google Shape;760;p54"/>
          <p:cNvSpPr/>
          <p:nvPr/>
        </p:nvSpPr>
        <p:spPr>
          <a:xfrm rot="5400000">
            <a:off x="2079372" y="195791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61" name="Google Shape;761;p54">
            <a:hlinkClick action="ppaction://hlinksldjump" r:id="rId6"/>
          </p:cNvPr>
          <p:cNvSpPr/>
          <p:nvPr/>
        </p:nvSpPr>
        <p:spPr>
          <a:xfrm>
            <a:off x="3728563"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Marketing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Attribution</a:t>
            </a:r>
            <a:endParaRPr sz="1000">
              <a:solidFill>
                <a:schemeClr val="dk1"/>
              </a:solidFill>
              <a:latin typeface="Century Gothic"/>
              <a:ea typeface="Century Gothic"/>
              <a:cs typeface="Century Gothic"/>
              <a:sym typeface="Century Gothic"/>
            </a:endParaRPr>
          </a:p>
        </p:txBody>
      </p:sp>
      <p:sp>
        <p:nvSpPr>
          <p:cNvPr id="762" name="Google Shape;762;p54"/>
          <p:cNvSpPr/>
          <p:nvPr/>
        </p:nvSpPr>
        <p:spPr>
          <a:xfrm rot="5400000">
            <a:off x="3712178" y="195791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63" name="Google Shape;763;p54">
            <a:hlinkClick action="ppaction://hlinksldjump" r:id="rId7"/>
          </p:cNvPr>
          <p:cNvSpPr/>
          <p:nvPr/>
        </p:nvSpPr>
        <p:spPr>
          <a:xfrm>
            <a:off x="5374899" y="1692117"/>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Attribution</a:t>
            </a:r>
            <a:endParaRPr sz="1000">
              <a:solidFill>
                <a:schemeClr val="dk1"/>
              </a:solidFill>
              <a:latin typeface="Century Gothic"/>
              <a:ea typeface="Century Gothic"/>
              <a:cs typeface="Century Gothic"/>
              <a:sym typeface="Century Gothic"/>
            </a:endParaRPr>
          </a:p>
        </p:txBody>
      </p:sp>
      <p:sp>
        <p:nvSpPr>
          <p:cNvPr id="764" name="Google Shape;764;p54"/>
          <p:cNvSpPr/>
          <p:nvPr/>
        </p:nvSpPr>
        <p:spPr>
          <a:xfrm rot="5400000">
            <a:off x="5355973" y="1960304"/>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65" name="Google Shape;765;p54">
            <a:hlinkClick action="ppaction://hlinksldjump" r:id="rId8"/>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Marketing and Customer Experience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pic>
        <p:nvPicPr>
          <p:cNvPr descr="COM-1008-L.jpg" id="771" name="Google Shape;771;p55"/>
          <p:cNvPicPr preferRelativeResize="0"/>
          <p:nvPr/>
        </p:nvPicPr>
        <p:blipFill rotWithShape="1">
          <a:blip r:embed="rId3">
            <a:alphaModFix/>
          </a:blip>
          <a:srcRect b="11622" l="57468" r="7520" t="12931"/>
          <a:stretch/>
        </p:blipFill>
        <p:spPr>
          <a:xfrm>
            <a:off x="5178010" y="670721"/>
            <a:ext cx="3600450" cy="4168233"/>
          </a:xfrm>
          <a:prstGeom prst="rect">
            <a:avLst/>
          </a:prstGeom>
          <a:noFill/>
          <a:ln>
            <a:noFill/>
          </a:ln>
        </p:spPr>
      </p:pic>
      <p:sp>
        <p:nvSpPr>
          <p:cNvPr id="772" name="Google Shape;772;p55"/>
          <p:cNvSpPr txBox="1"/>
          <p:nvPr>
            <p:ph idx="1" type="body"/>
          </p:nvPr>
        </p:nvSpPr>
        <p:spPr>
          <a:xfrm>
            <a:off x="455485" y="2133600"/>
            <a:ext cx="4662784" cy="2454576"/>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169863" lvl="0" marL="169863" rtl="0" algn="l">
              <a:lnSpc>
                <a:spcPct val="110000"/>
              </a:lnSpc>
              <a:spcBef>
                <a:spcPts val="800"/>
              </a:spcBef>
              <a:spcAft>
                <a:spcPts val="0"/>
              </a:spcAft>
              <a:buClr>
                <a:schemeClr val="dk1"/>
              </a:buClr>
              <a:buSzPts val="1200"/>
              <a:buChar char="•"/>
            </a:pPr>
            <a:r>
              <a:rPr lang="en-GB" sz="1200"/>
              <a:t>Companies today are under increasing competitive pressure impacting their sales and margins as  Customers seek better price, quality and service</a:t>
            </a:r>
            <a:endParaRPr sz="1200"/>
          </a:p>
          <a:p>
            <a:pPr indent="-169863" lvl="0" marL="169863" rtl="0" algn="l">
              <a:lnSpc>
                <a:spcPct val="95000"/>
              </a:lnSpc>
              <a:spcBef>
                <a:spcPts val="200"/>
              </a:spcBef>
              <a:spcAft>
                <a:spcPts val="0"/>
              </a:spcAft>
              <a:buClr>
                <a:schemeClr val="dk1"/>
              </a:buClr>
              <a:buSzPts val="1200"/>
              <a:buChar char="•"/>
            </a:pPr>
            <a:r>
              <a:rPr lang="en-GB" sz="1200"/>
              <a:t>Companies are recognizing that to achieve sustained growth , they must  not only acquire customers but also understand their customers’ needs and wants to optimize customer experience and develop long term relationships</a:t>
            </a:r>
            <a:endParaRPr/>
          </a:p>
          <a:p>
            <a:pPr indent="-169863" lvl="0" marL="169863" rtl="0" algn="l">
              <a:lnSpc>
                <a:spcPct val="95000"/>
              </a:lnSpc>
              <a:spcBef>
                <a:spcPts val="600"/>
              </a:spcBef>
              <a:spcAft>
                <a:spcPts val="0"/>
              </a:spcAft>
              <a:buClr>
                <a:schemeClr val="dk1"/>
              </a:buClr>
              <a:buSzPts val="1200"/>
              <a:buChar char="•"/>
            </a:pPr>
            <a:r>
              <a:rPr lang="en-GB" sz="1200"/>
              <a:t>Customers expect companies to know them, make interactions relevant, and provide an easy, consistent, seamless experience across touch points</a:t>
            </a:r>
            <a:endParaRPr/>
          </a:p>
          <a:p>
            <a:pPr indent="-93663" lvl="0" marL="169863" rtl="0" algn="l">
              <a:lnSpc>
                <a:spcPct val="95000"/>
              </a:lnSpc>
              <a:spcBef>
                <a:spcPts val="600"/>
              </a:spcBef>
              <a:spcAft>
                <a:spcPts val="0"/>
              </a:spcAft>
              <a:buClr>
                <a:schemeClr val="dk1"/>
              </a:buClr>
              <a:buSzPts val="1200"/>
              <a:buNone/>
            </a:pPr>
            <a:r>
              <a:t/>
            </a:r>
            <a:endParaRPr sz="1200"/>
          </a:p>
          <a:p>
            <a:pPr indent="-93663" lvl="0" marL="169863" rtl="0" algn="l">
              <a:lnSpc>
                <a:spcPct val="95000"/>
              </a:lnSpc>
              <a:spcBef>
                <a:spcPts val="600"/>
              </a:spcBef>
              <a:spcAft>
                <a:spcPts val="0"/>
              </a:spcAft>
              <a:buClr>
                <a:schemeClr val="dk1"/>
              </a:buClr>
              <a:buSzPts val="1200"/>
              <a:buNone/>
            </a:pPr>
            <a:r>
              <a:t/>
            </a:r>
            <a:endParaRPr sz="1200"/>
          </a:p>
        </p:txBody>
      </p:sp>
      <p:sp>
        <p:nvSpPr>
          <p:cNvPr id="773" name="Google Shape;773;p55"/>
          <p:cNvSpPr txBox="1"/>
          <p:nvPr>
            <p:ph type="title"/>
          </p:nvPr>
        </p:nvSpPr>
        <p:spPr>
          <a:xfrm>
            <a:off x="477880" y="174273"/>
            <a:ext cx="5435240" cy="704088"/>
          </a:xfrm>
          <a:prstGeom prst="rect">
            <a:avLst/>
          </a:prstGeom>
          <a:noFill/>
          <a:ln>
            <a:noFill/>
          </a:ln>
        </p:spPr>
        <p:txBody>
          <a:bodyPr anchorCtr="0" anchor="ctr"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Marketing and Customer Experience</a:t>
            </a:r>
            <a:endParaRPr/>
          </a:p>
        </p:txBody>
      </p:sp>
      <p:sp>
        <p:nvSpPr>
          <p:cNvPr id="774" name="Google Shape;774;p55"/>
          <p:cNvSpPr/>
          <p:nvPr/>
        </p:nvSpPr>
        <p:spPr>
          <a:xfrm>
            <a:off x="1" y="914400"/>
            <a:ext cx="7205662" cy="1016000"/>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rPr b="0" i="0" lang="en-GB" sz="1400" u="none" cap="none" strike="noStrike">
                <a:solidFill>
                  <a:schemeClr val="lt1"/>
                </a:solidFill>
                <a:latin typeface="Century Gothic"/>
                <a:ea typeface="Century Gothic"/>
                <a:cs typeface="Century Gothic"/>
                <a:sym typeface="Century Gothic"/>
              </a:rPr>
              <a:t>The strategic process of designing and managing Customer interactions  across all touch points to deliver a relevant, seamless experience that increases Customer satisfaction while driving revenue and marketing effectiveness </a:t>
            </a:r>
            <a:endParaRPr b="0" i="0" sz="1400" u="none" cap="none" strike="noStrike">
              <a:solidFill>
                <a:schemeClr val="lt1"/>
              </a:solidFill>
              <a:latin typeface="Century Gothic"/>
              <a:ea typeface="Century Gothic"/>
              <a:cs typeface="Century Gothic"/>
              <a:sym typeface="Century Gothic"/>
            </a:endParaRPr>
          </a:p>
        </p:txBody>
      </p:sp>
      <p:sp>
        <p:nvSpPr>
          <p:cNvPr id="775" name="Google Shape;775;p55">
            <a:hlinkClick action="ppaction://hlinksldjump" r:id="rId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 Marketing and Customer Experience</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3083" name="Shape 3083"/>
        <p:cNvGrpSpPr/>
        <p:nvPr/>
      </p:nvGrpSpPr>
      <p:grpSpPr>
        <a:xfrm>
          <a:off x="0" y="0"/>
          <a:ext cx="0" cy="0"/>
          <a:chOff x="0" y="0"/>
          <a:chExt cx="0" cy="0"/>
        </a:xfrm>
      </p:grpSpPr>
      <p:cxnSp>
        <p:nvCxnSpPr>
          <p:cNvPr id="3084" name="Google Shape;3084;p169"/>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085" name="Google Shape;3085;p169"/>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086" name="Google Shape;3086;p169"/>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087" name="Google Shape;3087;p169"/>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088" name="Google Shape;3088;p169"/>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sales of business related products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Higher cross sales rates for business products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Ensure customer pays appropriate fees for business services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089" name="Google Shape;3089;p169"/>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Expected Discovery: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Identified business owners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Increased potential business value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 product penetration by providing relevant products to business owners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090" name="Google Shape;3090;p169"/>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suitable triggers and behaviour to indicate a customer is  running small businesses from personal accounts</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091" name="Google Shape;3091;p169"/>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Graphs to map transactions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analysis to identify transaction purpose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Statistical analysis &amp; Predictive model to further predict which customers are not the same as known regular customers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Collaborative filtering, association rules, deep learning recommenders, real-time NBA at point of interaction, product bundle optimization</a:t>
            </a:r>
          </a:p>
        </p:txBody>
      </p:sp>
      <p:sp>
        <p:nvSpPr>
          <p:cNvPr id="3092" name="Google Shape;3092;p169"/>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093" name="Google Shape;3093;p169"/>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 data (including transfer news) to identify whom, when, frequency and purpose of transactions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demography to identify known salaried customers/regular individual customer and others </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Product_Recommendation, Cross_Sell_Score, Product_Affinity, Propensity_Model | Pakistan: CASA→FD, personal→home finance, debit→credit card, conventional→Islamic</a:t>
            </a:r>
          </a:p>
          <a:p>
            <a:r>
              <a:rPr sz="800" i="1">
                <a:solidFill>
                  <a:srgbClr val="006699"/>
                </a:solidFill>
              </a:rPr>
              <a:t>Pakistan: CNIC data (individual vs. NTN business), transaction patterns, RAAST payment frequency to multiple recipients</a:t>
            </a:r>
          </a:p>
        </p:txBody>
      </p:sp>
      <p:sp>
        <p:nvSpPr>
          <p:cNvPr id="3094" name="Google Shape;3094;p169"/>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Many individual customers are also running small business. However, most of them are not known by the bank.</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They are potential customers that banks can cross sell or upsell more business related products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Challenge is how to identify these individual customers without information stated to the bank on their profile?</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Pakistan's 70% informal economy means many business owners bank as individuals. Detecting business patterns (multiple salary disbursements, high transaction volumes, supplier payments) enables SME product offers.</a:t>
            </a:r>
            <a:endParaRPr/>
          </a:p>
        </p:txBody>
      </p:sp>
      <p:sp>
        <p:nvSpPr>
          <p:cNvPr id="3095" name="Google Shape;3095;p169"/>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096" name="Google Shape;3096;p169"/>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097" name="Google Shape;3097;p169"/>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Identify ‘Hidden’ Individual Business Owners </a:t>
            </a:r>
            <a:endParaRPr sz="2000"/>
          </a:p>
        </p:txBody>
      </p:sp>
      <p:sp>
        <p:nvSpPr>
          <p:cNvPr id="3098" name="Google Shape;3098;p16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3103" name="Shape 3103"/>
        <p:cNvGrpSpPr/>
        <p:nvPr/>
      </p:nvGrpSpPr>
      <p:grpSpPr>
        <a:xfrm>
          <a:off x="0" y="0"/>
          <a:ext cx="0" cy="0"/>
          <a:chOff x="0" y="0"/>
          <a:chExt cx="0" cy="0"/>
        </a:xfrm>
      </p:grpSpPr>
      <p:cxnSp>
        <p:nvCxnSpPr>
          <p:cNvPr id="3104" name="Google Shape;3104;p170"/>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105" name="Google Shape;3105;p170"/>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106" name="Google Shape;3106;p170"/>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107" name="Google Shape;3107;p170"/>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108" name="Google Shape;3108;p170"/>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interchange income from increased card usage</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share of card spend as more customers use as primary card</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dormancy and churn</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109" name="Google Shape;3109;p170"/>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Identified likely cardholders to drive higher usage of Credit Cards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Identification of card holders with spending potential through analysis of previous/current CC activity, as well as customer demographics and product holdings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Merchant offer and customer matching based upon activity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Both Small and Large purchase prediction through specific Merchant Codes/Categories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Convert ATM-cash-withdrawal-heavy customers to POS/QR payment users. Target 30-50% increase in card usage.</a:t>
            </a:r>
            <a:endParaRPr/>
          </a:p>
        </p:txBody>
      </p:sp>
      <p:sp>
        <p:nvSpPr>
          <p:cNvPr id="3110" name="Google Shape;3110;p170"/>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identify a segment of customers who are likely to be receptive to card spend based offers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suitable merchant offers relevant to their profile and segment characteristics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111" name="Google Shape;3111;p170"/>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Collaborative filtering analysis for spend pattern detection to drive usage among targeted customer segments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Classification model to determine which customers have a propensity to activate and spend, to drive usage among targeted customer segments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ML-based transaction categorization, merchant code enrichment, salary/income detection, lifestyle spending patterns, automated tax certificate generation</a:t>
            </a:r>
          </a:p>
        </p:txBody>
      </p:sp>
      <p:sp>
        <p:nvSpPr>
          <p:cNvPr id="3112" name="Google Shape;3112;p170"/>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May require extended history of card transactional data to execute use case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113" name="Google Shape;3113;p170"/>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Cards Account and Transaction</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Transacting Account and transactions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Previous Merchant Offer effectiveness (for validation)</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Financial_Transaction, Transaction_Type, Merchant_Category_Code | Pakistan: IBFT/RAAST, salary credits, utility payments, remittances, FBR flagging</a:t>
            </a:r>
          </a:p>
        </p:txBody>
      </p:sp>
      <p:sp>
        <p:nvSpPr>
          <p:cNvPr id="3114" name="Google Shape;3114;p170"/>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Target cardholders with higher spending potential who are not utilising banks card as their primary card</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 in utilisation, spend on credit/debit cards increasing interchange, interest and fee income. </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30M+ debit cards issued but average monthly POS usage &lt;5 transactions. Ramadan/Eid spending spike = ideal period for card stimulation campaigns.</a:t>
            </a:r>
            <a:endParaRPr/>
          </a:p>
        </p:txBody>
      </p:sp>
      <p:sp>
        <p:nvSpPr>
          <p:cNvPr id="3115" name="Google Shape;3115;p170"/>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116" name="Google Shape;3116;p170"/>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117" name="Google Shape;3117;p170"/>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Credit/Debit Card Spend Stimulation </a:t>
            </a:r>
            <a:endParaRPr sz="2400"/>
          </a:p>
        </p:txBody>
      </p:sp>
      <p:sp>
        <p:nvSpPr>
          <p:cNvPr id="3118" name="Google Shape;3118;p17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3123" name="Shape 3123"/>
        <p:cNvGrpSpPr/>
        <p:nvPr/>
      </p:nvGrpSpPr>
      <p:grpSpPr>
        <a:xfrm>
          <a:off x="0" y="0"/>
          <a:ext cx="0" cy="0"/>
          <a:chOff x="0" y="0"/>
          <a:chExt cx="0" cy="0"/>
        </a:xfrm>
      </p:grpSpPr>
      <p:cxnSp>
        <p:nvCxnSpPr>
          <p:cNvPr id="3124" name="Google Shape;3124;p171"/>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125" name="Google Shape;3125;p171"/>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126" name="Google Shape;3126;p171"/>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127" name="Google Shape;3127;p171"/>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128" name="Google Shape;3128;p171"/>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 usage of internet and mobile banking sites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loyalty from differentiated online proposition</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Capture needs and future purchase intentions through customer goals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129" name="Google Shape;3129;p171"/>
          <p:cNvSpPr/>
          <p:nvPr/>
        </p:nvSpPr>
        <p:spPr>
          <a:xfrm>
            <a:off x="6148806" y="20674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Using collaborative filtering to create common peer groups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Visualisation of peer groups to show common characteristics grouping customers together and the differences between different groups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To recommend a set of candidate variables to be basis for creating peer groups in the the Bank customer base to drive Personal Finance Management (PFM)aggregated profiles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customer insight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130" name="Google Shape;3130;p171"/>
          <p:cNvSpPr/>
          <p:nvPr/>
        </p:nvSpPr>
        <p:spPr>
          <a:xfrm>
            <a:off x="3271845" y="3853165"/>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Creation of representative peer audiences to be used by personal finance management (PFM) tools for comparison purposes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131" name="Google Shape;3131;p171"/>
          <p:cNvSpPr/>
          <p:nvPr/>
        </p:nvSpPr>
        <p:spPr>
          <a:xfrm>
            <a:off x="3271845" y="20674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Collaborative Filtering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Clustering (optional)</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CLV-driven loyalty tiering, behavioral loyalty scoring, gamification analytics, reward optimization, partner ecosystem analytics</a:t>
            </a:r>
          </a:p>
        </p:txBody>
      </p:sp>
      <p:sp>
        <p:nvSpPr>
          <p:cNvPr id="3132" name="Google Shape;3132;p171"/>
          <p:cNvSpPr/>
          <p:nvPr/>
        </p:nvSpPr>
        <p:spPr>
          <a:xfrm>
            <a:off x="423863" y="3853165"/>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is readily available to create this type of functionality. The dimensions used to create peer groups will particularly important. Peer group identification may be more difficult in some countries due to diverse nature of the population.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133" name="Google Shape;3133;p171"/>
          <p:cNvSpPr/>
          <p:nvPr/>
        </p:nvSpPr>
        <p:spPr>
          <a:xfrm>
            <a:off x="423863" y="20674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Demographics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residential address and geo-demographics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lifestyle indicators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Derived income from credit turnover / salary credits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Segments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Derived customer spend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Channel Usage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Product Holdings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134" name="Google Shape;3134;p171"/>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Engage with customers banking online, to improve the experience.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Help customers using insight that they ‘just get’ - don’t blind with science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Leverage the familiarity that people have with retailers like Amazon</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Customers will would rather take advice from their peers than the bank.</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Build look-alike models for Pakistan segments: find customers similar to high-value customers for upgrade. Special application: find unbanked individuals similar to recently banked customers for financial inclusion targeting.</a:t>
            </a:r>
            <a:endParaRPr/>
          </a:p>
        </p:txBody>
      </p:sp>
      <p:sp>
        <p:nvSpPr>
          <p:cNvPr id="3135" name="Google Shape;3135;p171"/>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John O‘Donoghue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136" name="Google Shape;3136;p171"/>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137" name="Google Shape;3137;p171"/>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People Like Me </a:t>
            </a:r>
            <a:endParaRPr sz="2400"/>
          </a:p>
        </p:txBody>
      </p:sp>
      <p:sp>
        <p:nvSpPr>
          <p:cNvPr id="3138" name="Google Shape;3138;p17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3143" name="Shape 3143"/>
        <p:cNvGrpSpPr/>
        <p:nvPr/>
      </p:nvGrpSpPr>
      <p:grpSpPr>
        <a:xfrm>
          <a:off x="0" y="0"/>
          <a:ext cx="0" cy="0"/>
          <a:chOff x="0" y="0"/>
          <a:chExt cx="0" cy="0"/>
        </a:xfrm>
      </p:grpSpPr>
      <p:cxnSp>
        <p:nvCxnSpPr>
          <p:cNvPr id="3144" name="Google Shape;3144;p172"/>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145" name="Google Shape;3145;p172"/>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146" name="Google Shape;3146;p172"/>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147" name="Google Shape;3147;p172"/>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148" name="Google Shape;3148;p172"/>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response to marketing offers that have been personalised using the attitudinal segmentation</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149" name="Google Shape;3149;p172"/>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Each customer will be assigned one of the attitudinal group</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This outcome can be used together with other attributes to enhance the channel, product and offer we assigned to the target customer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Expect to increase the response rate of the campaign and enhance the customer satisfaction score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150" name="Google Shape;3150;p172"/>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Creation and validation of new attitudinal customer segmentation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Validation of segmentation accuracy  – using third    party sources such customer research - accuracy of prediction &gt; x%</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151" name="Google Shape;3151;p172"/>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the key variables using all available data and build the model using either multiple logistic regression, clustering or classification tree from structured/semi structured data</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ML-based transaction categorization, merchant code enrichment, salary/income detection, lifestyle spending patterns, automated tax certificate generation</a:t>
            </a:r>
          </a:p>
        </p:txBody>
      </p:sp>
      <p:sp>
        <p:nvSpPr>
          <p:cNvPr id="3152" name="Google Shape;3152;p172"/>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Accurately modelling customer attitudes using behavioural data can be difficult</a:t>
            </a:r>
            <a:endParaRPr sz="800">
              <a:solidFill>
                <a:srgbClr val="3C3C3B"/>
              </a:solidFill>
              <a:latin typeface="Century Gothic"/>
              <a:ea typeface="Century Gothic"/>
              <a:cs typeface="Century Gothic"/>
              <a:sym typeface="Century Gothic"/>
            </a:endParaRPr>
          </a:p>
        </p:txBody>
      </p:sp>
      <p:sp>
        <p:nvSpPr>
          <p:cNvPr id="3153" name="Google Shape;3153;p172"/>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360 Single View (Segmentation, customer demographic, product usage and transaction behavior)</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Social Response (Like, Dislike, Hobby, Interest, Political view, Personal preference etc.) from facebook etc</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Research Data (Attitudinal type questions – text &amp; structured data)</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p:txBody>
      </p:sp>
      <p:sp>
        <p:nvSpPr>
          <p:cNvPr id="3154" name="Google Shape;3154;p172"/>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To enable the identification of customer’s attitudes.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To enhance the targeting capability and effectiveness of marketing with targeted propositions, offers, incentives, and communications the right tone &amp; manner should be used, empathising with the needs and expectations of different Attitudinal segments.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Potential Attitudinal segments are : (Basic Traditionalists, Confident Achievers, Optimists, Anonymous Controllers, Vulnerable Poser)</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Key attitudinal dimensions for Pakistan: Islamic finance preference, digital readiness, brand loyalty vs. rate shopping, savings vs. spending orientation. Infer attitudes from behavior — Islamic preference from Zakat payments, digital readiness from app usage.</a:t>
            </a:r>
            <a:endParaRPr/>
          </a:p>
        </p:txBody>
      </p:sp>
      <p:sp>
        <p:nvSpPr>
          <p:cNvPr id="3155" name="Google Shape;3155;p172"/>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156" name="Google Shape;3156;p172"/>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157" name="Google Shape;3157;p172"/>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Attitudinal Segmentation</a:t>
            </a:r>
            <a:endParaRPr sz="2400"/>
          </a:p>
        </p:txBody>
      </p:sp>
      <p:sp>
        <p:nvSpPr>
          <p:cNvPr id="3158" name="Google Shape;3158;p17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3163" name="Shape 3163"/>
        <p:cNvGrpSpPr/>
        <p:nvPr/>
      </p:nvGrpSpPr>
      <p:grpSpPr>
        <a:xfrm>
          <a:off x="0" y="0"/>
          <a:ext cx="0" cy="0"/>
          <a:chOff x="0" y="0"/>
          <a:chExt cx="0" cy="0"/>
        </a:xfrm>
      </p:grpSpPr>
      <p:cxnSp>
        <p:nvCxnSpPr>
          <p:cNvPr id="3164" name="Google Shape;3164;p173"/>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165" name="Google Shape;3165;p173"/>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166" name="Google Shape;3166;p173"/>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167" name="Google Shape;3167;p173"/>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168" name="Google Shape;3168;p173"/>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focus and investment on customers with a higher potential value </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sales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retention</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satisfaction</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169" name="Google Shape;3169;p173"/>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Increased product penetration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Increased customer ‘stickiness’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 in product revenue from interest and fee based sources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170" name="Google Shape;3170;p173"/>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identify a segment of customers who behave or have similar profiles to a preferred group (E.g. High Value, High Net Worth) of customers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171" name="Google Shape;3171;p173"/>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Cluster analysis or Profiling to identify other customers with similar profiles (e.g. age, education, location, employment, income)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Social network analysis from known preferred customers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Survival analysis, gradient-boosted churn models, retention offer optimization, value-at-risk by customer, proactive intervention triggering</a:t>
            </a:r>
          </a:p>
        </p:txBody>
      </p:sp>
      <p:sp>
        <p:nvSpPr>
          <p:cNvPr id="3172" name="Google Shape;3172;p173"/>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 particularly social</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173" name="Google Shape;3173;p173"/>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Card spending behavior</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Transacting account and debit card spending behavior</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p:txBody>
      </p:sp>
      <p:sp>
        <p:nvSpPr>
          <p:cNvPr id="3174" name="Google Shape;3174;p173"/>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This use case sought to identify customers not classified as ‘Preferred’ segment customers, who exhibited behavioral patterns and profile similar to that of known ‘Preferred’ customers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Provide proactive marketing offers to increase product penetration and ‘stickiness’ of these customers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Identify mass-market customers who actually qualify for priority/preferred banking. In Pakistan: customers with PKR 5M+ spread across 2-3 bank accounts appear mass-market individually. CNIC-based total relationship view reveals hidden value.</a:t>
            </a:r>
            <a:endParaRPr/>
          </a:p>
        </p:txBody>
      </p:sp>
      <p:sp>
        <p:nvSpPr>
          <p:cNvPr id="3175" name="Google Shape;3175;p173"/>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sz="900">
              <a:solidFill>
                <a:srgbClr val="5F6062"/>
              </a:solidFill>
              <a:latin typeface="Century Gothic"/>
              <a:ea typeface="Century Gothic"/>
              <a:cs typeface="Century Gothic"/>
              <a:sym typeface="Century Gothic"/>
            </a:endParaRPr>
          </a:p>
        </p:txBody>
      </p:sp>
      <p:sp>
        <p:nvSpPr>
          <p:cNvPr id="3176" name="Google Shape;3176;p173"/>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177" name="Google Shape;3177;p173"/>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Hidden ‘Preferred’ Customers </a:t>
            </a:r>
            <a:endParaRPr sz="2400"/>
          </a:p>
        </p:txBody>
      </p:sp>
      <p:sp>
        <p:nvSpPr>
          <p:cNvPr id="3178" name="Google Shape;3178;p17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3183" name="Shape 3183"/>
        <p:cNvGrpSpPr/>
        <p:nvPr/>
      </p:nvGrpSpPr>
      <p:grpSpPr>
        <a:xfrm>
          <a:off x="0" y="0"/>
          <a:ext cx="0" cy="0"/>
          <a:chOff x="0" y="0"/>
          <a:chExt cx="0" cy="0"/>
        </a:xfrm>
      </p:grpSpPr>
      <p:cxnSp>
        <p:nvCxnSpPr>
          <p:cNvPr id="3184" name="Google Shape;3184;p174"/>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185" name="Google Shape;3185;p174"/>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186" name="Google Shape;3186;p174"/>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187" name="Google Shape;3187;p174"/>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188" name="Google Shape;3188;p174"/>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customer engagement.</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customer churn</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upsell / cross sell capabilities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Marketing ROI and spend decisions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Customer satisfaction</a:t>
            </a:r>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189" name="Google Shape;3189;p174"/>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Defined scoring capabilities to be utilized in marketing, sales, or product experience.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segmentation and core attribute identification.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integrate scoring into automated communication solutions.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190" name="Google Shape;3190;p174"/>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POV 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RACE Relevant</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Customer Propensity Model delivery and capabilities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Improved understanding of customer drivers and actions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Reduced efforts to analyse marketing spend</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191" name="Google Shape;3191;p174"/>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Propensity scoring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Product Affinity scoring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Graph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Linear and Logistic regression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Dynamic micro-segmentation, ML clustering (K-means, DBSCAN), RFM + behavioral hybrid, needs-based segmentation, real-time segment migration tracking</a:t>
            </a:r>
          </a:p>
        </p:txBody>
      </p:sp>
      <p:sp>
        <p:nvSpPr>
          <p:cNvPr id="3192" name="Google Shape;3192;p174"/>
          <p:cNvSpPr/>
          <p:nvPr/>
        </p:nvSpPr>
        <p:spPr>
          <a:xfrm>
            <a:off x="423863" y="3690622"/>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freshness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Situational awareness of event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Merchant details</a:t>
            </a:r>
            <a:endParaRPr sz="800">
              <a:solidFill>
                <a:srgbClr val="3C3C3B"/>
              </a:solidFill>
              <a:latin typeface="Century Gothic"/>
              <a:ea typeface="Century Gothic"/>
              <a:cs typeface="Century Gothic"/>
              <a:sym typeface="Century Gothic"/>
            </a:endParaRPr>
          </a:p>
        </p:txBody>
      </p:sp>
      <p:sp>
        <p:nvSpPr>
          <p:cNvPr id="3193" name="Google Shape;3193;p174"/>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Event / Clickstream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User / customer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Financial and Marketing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Campaign and contentment management system</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Calendar of events / External events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Voice of customer / feedback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3</a:t>
            </a:r>
            <a:r>
              <a:rPr baseline="30000" lang="en-GB" sz="800">
                <a:solidFill>
                  <a:schemeClr val="dk1"/>
                </a:solidFill>
                <a:latin typeface="Century Gothic"/>
                <a:ea typeface="Century Gothic"/>
                <a:cs typeface="Century Gothic"/>
                <a:sym typeface="Century Gothic"/>
              </a:rPr>
              <a:t>rd</a:t>
            </a:r>
            <a:r>
              <a:rPr lang="en-GB" sz="800">
                <a:solidFill>
                  <a:schemeClr val="dk1"/>
                </a:solidFill>
                <a:latin typeface="Century Gothic"/>
                <a:ea typeface="Century Gothic"/>
                <a:cs typeface="Century Gothic"/>
                <a:sym typeface="Century Gothic"/>
              </a:rPr>
              <a:t> Party audience / demographic overlay</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a:p>
            <a:r>
              <a:rPr sz="800" i="1">
                <a:solidFill>
                  <a:srgbClr val="006699"/>
                </a:solidFill>
              </a:rPr>
              <a:t>Pakistan-specific features: salary regularity score, ECIB credit bureau score, RAAST activity level, product holding count, branch visit frequency</a:t>
            </a:r>
          </a:p>
        </p:txBody>
      </p:sp>
      <p:sp>
        <p:nvSpPr>
          <p:cNvPr id="3194" name="Google Shape;3194;p174"/>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Create a predictive score and model of a customer’s likelihood to perform an action such as purchase a product, respond to a marketing message, or utilize an incentive offer.</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Drive customer experience and personalization based on attribution and scoring.</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Execute messaging and follow up touch points based on likelihood to perform action.</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Build propensity models for Pakistan banking products: credit card, personal loan, auto finance, home finance, mutual fund, insurance.</a:t>
            </a:r>
            <a:endParaRPr sz="950">
              <a:solidFill>
                <a:srgbClr val="3C3C3B"/>
              </a:solidFill>
              <a:latin typeface="Century Gothic"/>
              <a:ea typeface="Century Gothic"/>
              <a:cs typeface="Century Gothic"/>
              <a:sym typeface="Century Gothic"/>
            </a:endParaRPr>
          </a:p>
        </p:txBody>
      </p:sp>
      <p:sp>
        <p:nvSpPr>
          <p:cNvPr id="3195" name="Google Shape;3195;p174"/>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Banking Industry Best Practice</a:t>
            </a:r>
            <a:endParaRPr/>
          </a:p>
        </p:txBody>
      </p:sp>
      <p:sp>
        <p:nvSpPr>
          <p:cNvPr id="3196" name="Google Shape;3196;p174"/>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3197" name="Google Shape;3197;p174"/>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Propensity Modeling </a:t>
            </a:r>
            <a:endParaRPr sz="2400"/>
          </a:p>
        </p:txBody>
      </p:sp>
      <p:sp>
        <p:nvSpPr>
          <p:cNvPr id="3198" name="Google Shape;3198;p17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3203" name="Shape 3203"/>
        <p:cNvGrpSpPr/>
        <p:nvPr/>
      </p:nvGrpSpPr>
      <p:grpSpPr>
        <a:xfrm>
          <a:off x="0" y="0"/>
          <a:ext cx="0" cy="0"/>
          <a:chOff x="0" y="0"/>
          <a:chExt cx="0" cy="0"/>
        </a:xfrm>
      </p:grpSpPr>
      <p:cxnSp>
        <p:nvCxnSpPr>
          <p:cNvPr id="3204" name="Google Shape;3204;p175"/>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205" name="Google Shape;3205;p175"/>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206" name="Google Shape;3206;p175"/>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207" name="Google Shape;3207;p175"/>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208" name="Google Shape;3208;p175"/>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response rates to promotions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More effective digital media spend</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new customer acquisition costs from targeted member get member promotions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209" name="Google Shape;3209;p175"/>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social media to improve your understanding of customer value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 product holdings and revenue by focusing on customers that have highest ‘potential wallet’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Target customers with highest value networks for ‘member get member’ acquisition program</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210" name="Google Shape;3210;p175"/>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better understand customer needs from integrating social media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targeting of content and offers based on augmented customer profile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More accurate prediction of potential value – using data such as education and career history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identify and target influencers – with large network of contacts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211" name="Google Shape;3211;p175"/>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Fuzzy matching to link social network data to existing customers (via email address or other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Graph Analysis identifies the  social network of customers for whom you only have the partial banking relationship</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Basket Analysis to compare the product holdings of known associates and identify ‘potential wallet’ for the customer.</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Digital acquisition funnel analytics, real-time application scoring, look-alike modeling, social media lead generation, referral program optimization</a:t>
            </a:r>
          </a:p>
        </p:txBody>
      </p:sp>
      <p:sp>
        <p:nvSpPr>
          <p:cNvPr id="3212" name="Google Shape;3212;p175"/>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Securing sufficient customer opt in to rates to share data in order to justify data integration costs</a:t>
            </a:r>
            <a:endParaRPr sz="800">
              <a:solidFill>
                <a:srgbClr val="3C3C3B"/>
              </a:solidFill>
              <a:latin typeface="Century Gothic"/>
              <a:ea typeface="Century Gothic"/>
              <a:cs typeface="Century Gothic"/>
              <a:sym typeface="Century Gothic"/>
            </a:endParaRPr>
          </a:p>
        </p:txBody>
      </p:sp>
      <p:sp>
        <p:nvSpPr>
          <p:cNvPr id="3213" name="Google Shape;3213;p175"/>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including profitability or product holdings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Social data from networking sites such as Facebook, Linked-In, Twitter</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214" name="Google Shape;3214;p175"/>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Typically many customers only have part of their banking relationship with you.</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How do you identify those that are of high potential value, so you can decide whether to invest in them.</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Build out your understanding of the customer based on Social media data to understand those that are higher potential</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CNIC-based network analysis: CNIC first 5 digits encode geographic area — family members share prefix. IBFT/RAAST transfer graph reveals customer relationships.</a:t>
            </a:r>
            <a:endParaRPr/>
          </a:p>
        </p:txBody>
      </p:sp>
      <p:sp>
        <p:nvSpPr>
          <p:cNvPr id="3215" name="Google Shape;3215;p175"/>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216" name="Google Shape;3216;p175"/>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217" name="Google Shape;3217;p175"/>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Social Network Driven Potential Value </a:t>
            </a:r>
            <a:endParaRPr sz="2400"/>
          </a:p>
        </p:txBody>
      </p:sp>
      <p:sp>
        <p:nvSpPr>
          <p:cNvPr id="3218" name="Google Shape;3218;p17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3223" name="Shape 3223"/>
        <p:cNvGrpSpPr/>
        <p:nvPr/>
      </p:nvGrpSpPr>
      <p:grpSpPr>
        <a:xfrm>
          <a:off x="0" y="0"/>
          <a:ext cx="0" cy="0"/>
          <a:chOff x="0" y="0"/>
          <a:chExt cx="0" cy="0"/>
        </a:xfrm>
      </p:grpSpPr>
      <p:cxnSp>
        <p:nvCxnSpPr>
          <p:cNvPr id="3224" name="Google Shape;3224;p176"/>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225" name="Google Shape;3225;p176"/>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226" name="Google Shape;3226;p176"/>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227" name="Google Shape;3227;p176"/>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228" name="Google Shape;3228;p176"/>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Segment customers based affinity to other customer segments / groups to provide targeted or differentiated service</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new customer acquisition costs from targeted member get member promotions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229" name="Google Shape;3229;p176"/>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Expect an improvement in Product Offering and Cross-sell activities based on network information by uncovering “New” potential within existing customers i.e. a customer who used to be identified as Mass Segment is actually closely related to another customer in Affluent Segment within the bank. Therefore, bank can utilize this new insight to improve their relevancy in product offering to match with customer’s real potential.</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Application: AML/CFT network detection (SBP FATF compliance), household product bundling, referral program targeting</a:t>
            </a:r>
            <a:endParaRPr/>
          </a:p>
        </p:txBody>
      </p:sp>
      <p:sp>
        <p:nvSpPr>
          <p:cNvPr id="3230" name="Google Shape;3230;p176"/>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identify influencers from expanded network analysis and compare profiles by customers in the network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231" name="Google Shape;3231;p176"/>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the close relationship using Graph Analytics from Fund Transfer data i.e. Triangle Finder, Degree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Analytics to create scoring in similarity of customer information using Identity Matching Fuzzy Algorithm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Type of Relationship such as family, friends or business by using Naïve Bayes Classifier</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Digital acquisition funnel analytics, real-time application scoring, look-alike modeling, social media lead generation, referral program optimization</a:t>
            </a:r>
          </a:p>
        </p:txBody>
      </p:sp>
      <p:sp>
        <p:nvSpPr>
          <p:cNvPr id="3232" name="Google Shape;3232;p176"/>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sz="800">
              <a:solidFill>
                <a:srgbClr val="3C3C3B"/>
              </a:solidFill>
              <a:latin typeface="Century Gothic"/>
              <a:ea typeface="Century Gothic"/>
              <a:cs typeface="Century Gothic"/>
              <a:sym typeface="Century Gothic"/>
            </a:endParaRPr>
          </a:p>
        </p:txBody>
      </p:sp>
      <p:sp>
        <p:nvSpPr>
          <p:cNvPr id="3233" name="Google Shape;3233;p176"/>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Fund Transfer data from ATM and Online channel to identify the relationship of customers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to identify similarity in last names, address, home phone number and company names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Account Information utilized information i.e. Credit Card’s Primary-Supplementary relationship and Joint Accounts to identify relationship</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Product_Recommendation, Cross_Sell_Score, Product_Affinity, Propensity_Model | Pakistan: CASA→FD, personal→home finance, debit→credit card, conventional→Islamic</a:t>
            </a:r>
          </a:p>
          <a:p>
            <a:r>
              <a:rPr sz="800" i="1">
                <a:solidFill>
                  <a:srgbClr val="006699"/>
                </a:solidFill>
              </a:rPr>
              <a:t>Pakistan: CNIC prefix linkage, IBFT transfer patterns, joint account data</a:t>
            </a:r>
          </a:p>
        </p:txBody>
      </p:sp>
      <p:sp>
        <p:nvSpPr>
          <p:cNvPr id="3234" name="Google Shape;3234;p176"/>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Customers are among your most-valued assets. To understand the single customer individually is no longer enough, as banks want to understand their network to gain insight of who they are, who they interact with, what culture they are in, how influenced they are compared to others, who their friends are or members of the family that they transact with.</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challenges for banks is to identify customer networks that can lead to a improved sales activity</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CNIC enables household mapping unavailable in most markets. IBFT/RAAST transfer patterns reveal relationship networks.</a:t>
            </a:r>
            <a:endParaRPr/>
          </a:p>
        </p:txBody>
      </p:sp>
      <p:sp>
        <p:nvSpPr>
          <p:cNvPr id="3235" name="Google Shape;3235;p176"/>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236" name="Google Shape;3236;p176"/>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237" name="Google Shape;3237;p176"/>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Customer Network Analysis </a:t>
            </a:r>
            <a:endParaRPr sz="2400"/>
          </a:p>
        </p:txBody>
      </p:sp>
      <p:sp>
        <p:nvSpPr>
          <p:cNvPr id="3238" name="Google Shape;3238;p17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3243" name="Shape 3243"/>
        <p:cNvGrpSpPr/>
        <p:nvPr/>
      </p:nvGrpSpPr>
      <p:grpSpPr>
        <a:xfrm>
          <a:off x="0" y="0"/>
          <a:ext cx="0" cy="0"/>
          <a:chOff x="0" y="0"/>
          <a:chExt cx="0" cy="0"/>
        </a:xfrm>
      </p:grpSpPr>
      <p:cxnSp>
        <p:nvCxnSpPr>
          <p:cNvPr id="3244" name="Google Shape;3244;p177"/>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245" name="Google Shape;3245;p177"/>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246" name="Google Shape;3246;p177"/>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247" name="Google Shape;3247;p177"/>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248" name="Google Shape;3248;p177"/>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Differentiates business account offering from competition</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Potential new income stream from charging referral fees for successful recommendations </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Potential to discount costs of ‘business customer provided services’ to existing personal customers – offering added value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249" name="Google Shape;3249;p177"/>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Value-added service which improves customer satisfaction and retention.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Potential for fee revenue.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Drives greater business to commercial customers of the bank, improving business performance and reducing risk.</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250" name="Google Shape;3250;p177"/>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Creation of customer networks to allow targeted offering of products / services based on a number of derived data attributes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251" name="Google Shape;3251;p177"/>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B2B / C2B Web-based application which enables customers to search for business services or contacts which are also customers of their bank.</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Affinity Analysis to identify connections based on Txn linkage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Graph Analysis to link networks &amp; determine strength of relationships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Survival analysis, gradient-boosted churn models, retention offer optimization, value-at-risk by customer, proactive intervention triggering</a:t>
            </a:r>
          </a:p>
        </p:txBody>
      </p:sp>
      <p:sp>
        <p:nvSpPr>
          <p:cNvPr id="3252" name="Google Shape;3252;p177"/>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Initiative could be costly to set-up and manage on an ongoing basis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253" name="Google Shape;3253;p177"/>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related to commercial customers, their line of business, and previous introduced transactions.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Recommendation data collected within web-based application (or sourced from web ?)</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p:txBody>
      </p:sp>
      <p:sp>
        <p:nvSpPr>
          <p:cNvPr id="3254" name="Google Shape;3254;p177"/>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Financial products and services are becoming increasingly commoditised, and banks needs to provide value-added services to differentiate and retain customers.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 large bank could use its customer base to deliver recommendations for business services on a B2B or C2B basis.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Map client connections using RAAST/IBFT transaction graphs and CNIC family prefix linkage for household-level banking relationships.</a:t>
            </a:r>
            <a:endParaRPr/>
          </a:p>
        </p:txBody>
      </p:sp>
      <p:sp>
        <p:nvSpPr>
          <p:cNvPr id="3255" name="Google Shape;3255;p177"/>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256" name="Google Shape;3256;p177"/>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257" name="Google Shape;3257;p177"/>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Client Connections </a:t>
            </a:r>
            <a:endParaRPr sz="2400"/>
          </a:p>
        </p:txBody>
      </p:sp>
      <p:sp>
        <p:nvSpPr>
          <p:cNvPr id="3258" name="Google Shape;3258;p17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pic>
        <p:nvPicPr>
          <p:cNvPr descr="COM-1013-L.jpg" id="873" name="Google Shape;873;p65"/>
          <p:cNvPicPr preferRelativeResize="0"/>
          <p:nvPr/>
        </p:nvPicPr>
        <p:blipFill rotWithShape="1">
          <a:blip r:embed="rId3">
            <a:alphaModFix/>
          </a:blip>
          <a:srcRect b="0" l="11654" r="38595" t="5646"/>
          <a:stretch/>
        </p:blipFill>
        <p:spPr>
          <a:xfrm>
            <a:off x="5380061" y="670720"/>
            <a:ext cx="3365230" cy="4037771"/>
          </a:xfrm>
          <a:prstGeom prst="rect">
            <a:avLst/>
          </a:prstGeom>
          <a:noFill/>
          <a:ln>
            <a:noFill/>
          </a:ln>
          <a:effectLst>
            <a:outerShdw blurRad="292100" rotWithShape="0" algn="tl" dir="2700000" dist="139700">
              <a:srgbClr val="333333">
                <a:alpha val="64705"/>
              </a:srgbClr>
            </a:outerShdw>
          </a:effectLst>
        </p:spPr>
      </p:pic>
      <p:sp>
        <p:nvSpPr>
          <p:cNvPr id="874" name="Google Shape;874;p65"/>
          <p:cNvSpPr txBox="1"/>
          <p:nvPr>
            <p:ph idx="1" type="body"/>
          </p:nvPr>
        </p:nvSpPr>
        <p:spPr>
          <a:xfrm>
            <a:off x="455485" y="2211360"/>
            <a:ext cx="4494748" cy="2454576"/>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169863" lvl="0" marL="169863" rtl="0" algn="l">
              <a:lnSpc>
                <a:spcPct val="95000"/>
              </a:lnSpc>
              <a:spcBef>
                <a:spcPts val="200"/>
              </a:spcBef>
              <a:spcAft>
                <a:spcPts val="0"/>
              </a:spcAft>
              <a:buClr>
                <a:schemeClr val="dk1"/>
              </a:buClr>
              <a:buSzPts val="1200"/>
              <a:buChar char="•"/>
            </a:pPr>
            <a:r>
              <a:rPr lang="en-GB" sz="1200"/>
              <a:t>Customers expect that companies know them across touch points. Companies need to capture and reconcile multiple customer identifiers such as cell phone, email, address, to one single customer ID.</a:t>
            </a:r>
            <a:endParaRPr/>
          </a:p>
          <a:p>
            <a:pPr indent="-169863" lvl="0" marL="169863" rtl="0" algn="l">
              <a:lnSpc>
                <a:spcPct val="95000"/>
              </a:lnSpc>
              <a:spcBef>
                <a:spcPts val="600"/>
              </a:spcBef>
              <a:spcAft>
                <a:spcPts val="0"/>
              </a:spcAft>
              <a:buClr>
                <a:schemeClr val="dk1"/>
              </a:buClr>
              <a:buSzPts val="1200"/>
              <a:buChar char="•"/>
            </a:pPr>
            <a:r>
              <a:rPr lang="en-GB" sz="1200"/>
              <a:t>Customers are increasingly using multiple channels in their interactions with companies and both traditional and digital data sources must be brought together to understand customers’ behaviors and needs</a:t>
            </a:r>
            <a:endParaRPr/>
          </a:p>
          <a:p>
            <a:pPr indent="-169863" lvl="0" marL="169863" rtl="0" algn="l">
              <a:lnSpc>
                <a:spcPct val="95000"/>
              </a:lnSpc>
              <a:spcBef>
                <a:spcPts val="600"/>
              </a:spcBef>
              <a:spcAft>
                <a:spcPts val="0"/>
              </a:spcAft>
              <a:buClr>
                <a:schemeClr val="dk1"/>
              </a:buClr>
              <a:buSzPts val="1200"/>
              <a:buChar char="•"/>
            </a:pPr>
            <a:r>
              <a:rPr lang="en-GB" sz="1200"/>
              <a:t>Customers expect and companies need to deliver real-time, contextually relevant experiences</a:t>
            </a:r>
            <a:endParaRPr sz="1200"/>
          </a:p>
        </p:txBody>
      </p:sp>
      <p:sp>
        <p:nvSpPr>
          <p:cNvPr id="875" name="Google Shape;875;p65"/>
          <p:cNvSpPr txBox="1"/>
          <p:nvPr>
            <p:ph type="title"/>
          </p:nvPr>
        </p:nvSpPr>
        <p:spPr>
          <a:xfrm>
            <a:off x="127987" y="174273"/>
            <a:ext cx="5435240" cy="443244"/>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Customer Information Management</a:t>
            </a:r>
            <a:endParaRPr/>
          </a:p>
        </p:txBody>
      </p:sp>
      <p:sp>
        <p:nvSpPr>
          <p:cNvPr id="876" name="Google Shape;876;p65"/>
          <p:cNvSpPr/>
          <p:nvPr/>
        </p:nvSpPr>
        <p:spPr>
          <a:xfrm>
            <a:off x="1" y="751681"/>
            <a:ext cx="7205662" cy="1101599"/>
          </a:xfrm>
          <a:prstGeom prst="rect">
            <a:avLst/>
          </a:prstGeom>
          <a:solidFill>
            <a:schemeClr val="dk2">
              <a:alpha val="80000"/>
            </a:schemeClr>
          </a:solidFill>
          <a:ln>
            <a:noFill/>
          </a:ln>
        </p:spPr>
        <p:txBody>
          <a:bodyPr anchorCtr="0" anchor="ctr" bIns="91425" lIns="91425" spcFirstLastPara="1" rIns="91425" wrap="square" tIns="91425">
            <a:noAutofit/>
          </a:bodyPr>
          <a:lstStyle/>
          <a:p>
            <a:pPr indent="0" lvl="1" marL="406400" marR="0" rtl="0" algn="l">
              <a:spcBef>
                <a:spcPts val="0"/>
              </a:spcBef>
              <a:spcAft>
                <a:spcPts val="0"/>
              </a:spcAft>
              <a:buNone/>
            </a:pPr>
            <a:r>
              <a:rPr b="0" i="0" lang="en-GB" sz="1600" u="none" cap="none" strike="noStrike">
                <a:solidFill>
                  <a:schemeClr val="lt1"/>
                </a:solidFill>
                <a:latin typeface="Century Gothic"/>
                <a:ea typeface="Century Gothic"/>
                <a:cs typeface="Century Gothic"/>
                <a:sym typeface="Century Gothic"/>
              </a:rPr>
              <a:t>The process of capturing all available data sources across channels to create a detailed 360 view of Customers in order to gain insights into individual Customers preferences and behaviors</a:t>
            </a:r>
            <a:endParaRPr b="0" i="0" sz="1600" u="none" cap="none" strike="noStrike">
              <a:solidFill>
                <a:schemeClr val="lt1"/>
              </a:solidFill>
              <a:latin typeface="Century Gothic"/>
              <a:ea typeface="Century Gothic"/>
              <a:cs typeface="Century Gothic"/>
              <a:sym typeface="Century Gothic"/>
            </a:endParaRPr>
          </a:p>
        </p:txBody>
      </p:sp>
      <p:sp>
        <p:nvSpPr>
          <p:cNvPr id="877" name="Google Shape;877;p65">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Information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3283" name="Shape 3283"/>
        <p:cNvGrpSpPr/>
        <p:nvPr/>
      </p:nvGrpSpPr>
      <p:grpSpPr>
        <a:xfrm>
          <a:off x="0" y="0"/>
          <a:ext cx="0" cy="0"/>
          <a:chOff x="0" y="0"/>
          <a:chExt cx="0" cy="0"/>
        </a:xfrm>
      </p:grpSpPr>
      <p:cxnSp>
        <p:nvCxnSpPr>
          <p:cNvPr id="3284" name="Google Shape;3284;p179"/>
          <p:cNvCxnSpPr/>
          <p:nvPr/>
        </p:nvCxnSpPr>
        <p:spPr>
          <a:xfrm>
            <a:off x="4576599" y="810596"/>
            <a:ext cx="0" cy="3893399"/>
          </a:xfrm>
          <a:prstGeom prst="straightConnector1">
            <a:avLst/>
          </a:prstGeom>
          <a:noFill/>
          <a:ln cap="flat" cmpd="sng" w="12700">
            <a:solidFill>
              <a:schemeClr val="lt2"/>
            </a:solidFill>
            <a:prstDash val="solid"/>
            <a:round/>
            <a:headEnd len="sm" w="sm" type="none"/>
            <a:tailEnd len="sm" w="sm" type="none"/>
          </a:ln>
        </p:spPr>
      </p:cxnSp>
      <p:sp>
        <p:nvSpPr>
          <p:cNvPr id="3285" name="Google Shape;3285;p179"/>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286" name="Google Shape;3286;p179"/>
          <p:cNvSpPr txBox="1"/>
          <p:nvPr>
            <p:ph type="title"/>
          </p:nvPr>
        </p:nvSpPr>
        <p:spPr>
          <a:xfrm>
            <a:off x="423864" y="164592"/>
            <a:ext cx="6121238"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Credit Card Holder Behavior Analysis</a:t>
            </a:r>
            <a:endParaRPr sz="2400"/>
          </a:p>
        </p:txBody>
      </p:sp>
      <p:sp>
        <p:nvSpPr>
          <p:cNvPr id="3287" name="Google Shape;3287;p179"/>
          <p:cNvSpPr/>
          <p:nvPr/>
        </p:nvSpPr>
        <p:spPr>
          <a:xfrm>
            <a:off x="4795837" y="2376546"/>
            <a:ext cx="3949200" cy="2327448"/>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Example Analytic: Path between activation to first revolving </a:t>
            </a:r>
            <a:endParaRPr sz="900">
              <a:solidFill>
                <a:srgbClr val="3C3C3B"/>
              </a:solidFill>
              <a:latin typeface="Century Gothic"/>
              <a:ea typeface="Century Gothic"/>
              <a:cs typeface="Century Gothic"/>
              <a:sym typeface="Century Gothic"/>
            </a:endParaRPr>
          </a:p>
        </p:txBody>
      </p:sp>
      <p:sp>
        <p:nvSpPr>
          <p:cNvPr id="3288" name="Google Shape;3288;p179"/>
          <p:cNvSpPr/>
          <p:nvPr/>
        </p:nvSpPr>
        <p:spPr>
          <a:xfrm>
            <a:off x="423863" y="2377440"/>
            <a:ext cx="4048125" cy="2326554"/>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Example Analytic: Path to Revolving</a:t>
            </a:r>
            <a:endParaRPr/>
          </a:p>
          <a:p>
            <a:pPr indent="-58737" lvl="0" marL="119063" marR="0" rtl="0" algn="l">
              <a:spcBef>
                <a:spcPts val="5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p:txBody>
      </p:sp>
      <p:sp>
        <p:nvSpPr>
          <p:cNvPr id="3289" name="Google Shape;3289;p179"/>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Major state-owned bank in China</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290" name="Google Shape;3290;p179"/>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Visualization shows the risk building up in the banking relationships between car manufacturers, car dealers and Chinese banks.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291" name="Google Shape;3291;p179"/>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At times the personal details on an application can be limited and the use of guarantees to help obtain a loan, that may otherwise be unaffordable, is common.</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Deep-dive into Pakistan credit card usage patterns: supplementary card usage, international spending, contactless adoption, QR payment adoption rates.</a:t>
            </a:r>
            <a:endParaRPr/>
          </a:p>
        </p:txBody>
      </p:sp>
      <p:pic>
        <p:nvPicPr>
          <p:cNvPr id="3292" name="Google Shape;3292;p179"/>
          <p:cNvPicPr preferRelativeResize="0"/>
          <p:nvPr/>
        </p:nvPicPr>
        <p:blipFill rotWithShape="1">
          <a:blip r:embed="rId3">
            <a:alphaModFix/>
          </a:blip>
          <a:srcRect b="0" l="0" r="0" t="0"/>
          <a:stretch/>
        </p:blipFill>
        <p:spPr>
          <a:xfrm>
            <a:off x="685800" y="2665406"/>
            <a:ext cx="3544542" cy="1948929"/>
          </a:xfrm>
          <a:prstGeom prst="rect">
            <a:avLst/>
          </a:prstGeom>
          <a:noFill/>
          <a:ln>
            <a:noFill/>
          </a:ln>
        </p:spPr>
      </p:pic>
      <p:pic>
        <p:nvPicPr>
          <p:cNvPr id="3293" name="Google Shape;3293;p179"/>
          <p:cNvPicPr preferRelativeResize="0"/>
          <p:nvPr/>
        </p:nvPicPr>
        <p:blipFill rotWithShape="1">
          <a:blip r:embed="rId4">
            <a:alphaModFix/>
          </a:blip>
          <a:srcRect b="24889" l="30250" r="20124" t="22222"/>
          <a:stretch/>
        </p:blipFill>
        <p:spPr>
          <a:xfrm>
            <a:off x="5022779" y="2629419"/>
            <a:ext cx="3578295" cy="1984916"/>
          </a:xfrm>
          <a:prstGeom prst="rect">
            <a:avLst/>
          </a:prstGeom>
          <a:noFill/>
          <a:ln>
            <a:noFill/>
          </a:ln>
        </p:spPr>
      </p:pic>
      <p:sp>
        <p:nvSpPr>
          <p:cNvPr id="3294" name="Google Shape;3294;p179">
            <a:hlinkClick action="ppaction://hlinksldjump" r:id="rId5"/>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graphicFrame>
        <p:nvGraphicFramePr>
          <p:cNvPr id="891" name="Google Shape;891;p67"/>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u="none" cap="none" strike="noStrike">
                          <a:solidFill>
                            <a:schemeClr val="dk2"/>
                          </a:solidFill>
                        </a:rPr>
                        <a:t>Business Objectives</a:t>
                      </a:r>
                      <a:endParaRPr b="1" sz="1400" u="none" cap="none" strike="noStrike">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u="none" cap="none" strike="noStrike">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u="none" cap="none" strike="noStrike">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u="none" cap="none" strike="noStrike">
                          <a:solidFill>
                            <a:schemeClr val="dk1"/>
                          </a:solidFill>
                        </a:rPr>
                        <a:t>Create a single view of the customer across the organisation</a:t>
                      </a:r>
                      <a:endParaRPr/>
                    </a:p>
                    <a:p>
                      <a:pPr indent="-171450" lvl="0" marL="171450" marR="0" rtl="0" algn="l">
                        <a:spcBef>
                          <a:spcPts val="0"/>
                        </a:spcBef>
                        <a:spcAft>
                          <a:spcPts val="0"/>
                        </a:spcAft>
                        <a:buClr>
                          <a:schemeClr val="dk1"/>
                        </a:buClr>
                        <a:buSzPts val="900"/>
                        <a:buFont typeface="Arial"/>
                        <a:buChar char="•"/>
                      </a:pPr>
                      <a:r>
                        <a:rPr b="0" lang="en-GB" sz="900" u="none" cap="none" strike="noStrike">
                          <a:solidFill>
                            <a:schemeClr val="dk1"/>
                          </a:solidFill>
                        </a:rPr>
                        <a:t>Effectively manage customer relationships through a single customer view across business units, brands, channels and third party relationships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rPr>
                        <a:t>Extend the single customer view to include identifiers across digital channels such as social media or non-authenticated websites</a:t>
                      </a:r>
                      <a:endParaRPr/>
                    </a:p>
                    <a:p>
                      <a:pPr indent="-171450" lvl="0" marL="171450" marR="0" rtl="0" algn="l">
                        <a:spcBef>
                          <a:spcPts val="0"/>
                        </a:spcBef>
                        <a:spcAft>
                          <a:spcPts val="0"/>
                        </a:spcAft>
                        <a:buClr>
                          <a:schemeClr val="dk1"/>
                        </a:buClr>
                        <a:buSzPts val="900"/>
                        <a:buFont typeface="Arial"/>
                        <a:buChar char="•"/>
                      </a:pPr>
                      <a:r>
                        <a:rPr b="0" lang="en-GB" sz="900" u="none" cap="none" strike="noStrike">
                          <a:solidFill>
                            <a:schemeClr val="dk1"/>
                          </a:solidFill>
                        </a:rPr>
                        <a:t>Measure the depth and value of the entire customer relationship </a:t>
                      </a:r>
                      <a:endParaRPr/>
                    </a:p>
                    <a:p>
                      <a:pPr indent="-171450" lvl="0" marL="171450" marR="0" rtl="0" algn="l">
                        <a:spcBef>
                          <a:spcPts val="0"/>
                        </a:spcBef>
                        <a:spcAft>
                          <a:spcPts val="0"/>
                        </a:spcAft>
                        <a:buClr>
                          <a:schemeClr val="dk1"/>
                        </a:buClr>
                        <a:buSzPts val="900"/>
                        <a:buFont typeface="Arial"/>
                        <a:buChar char="•"/>
                      </a:pPr>
                      <a:r>
                        <a:rPr b="0" lang="en-GB" sz="900" u="none" cap="none" strike="noStrike">
                          <a:solidFill>
                            <a:schemeClr val="dk1"/>
                          </a:solidFill>
                        </a:rPr>
                        <a:t>Understand household customer relationships</a:t>
                      </a:r>
                      <a:endParaRPr/>
                    </a:p>
                    <a:p>
                      <a:pPr indent="-171450" lvl="0" marL="171450" marR="0" rtl="0" algn="l">
                        <a:spcBef>
                          <a:spcPts val="0"/>
                        </a:spcBef>
                        <a:spcAft>
                          <a:spcPts val="0"/>
                        </a:spcAft>
                        <a:buClr>
                          <a:schemeClr val="dk1"/>
                        </a:buClr>
                        <a:buSzPts val="900"/>
                        <a:buFont typeface="Arial"/>
                        <a:buChar char="•"/>
                      </a:pPr>
                      <a:r>
                        <a:rPr b="0" lang="en-GB" sz="900" u="none" cap="none" strike="noStrike">
                          <a:solidFill>
                            <a:schemeClr val="dk1"/>
                          </a:solidFill>
                        </a:rPr>
                        <a:t>Treat customers consistently across  brands and channels</a:t>
                      </a:r>
                      <a:endParaRPr b="0" sz="900" u="none" cap="none" strike="noStrike">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u="none" cap="none" strike="noStrike">
                          <a:solidFill>
                            <a:schemeClr val="dk2"/>
                          </a:solidFill>
                          <a:latin typeface="Century Gothic"/>
                          <a:ea typeface="Century Gothic"/>
                          <a:cs typeface="Century Gothic"/>
                          <a:sym typeface="Century Gothic"/>
                        </a:rPr>
                        <a:t>Data &amp; Solution</a:t>
                      </a:r>
                      <a:endParaRPr b="1" sz="1400" u="none" cap="none" strike="noStrike">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u="none" cap="none" strike="noStrike">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u="none" cap="none" strike="noStrike">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u="none" cap="none" strike="noStrike">
                          <a:solidFill>
                            <a:schemeClr val="dk1"/>
                          </a:solidFill>
                        </a:rPr>
                        <a:t>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Detailed customer, product, channel,</a:t>
                      </a:r>
                      <a:r>
                        <a:rPr b="0" lang="en-GB" sz="900">
                          <a:solidFill>
                            <a:schemeClr val="dk1"/>
                          </a:solidFill>
                        </a:rPr>
                        <a:t> transactional</a:t>
                      </a:r>
                      <a:r>
                        <a:rPr b="0" lang="en-GB" sz="900">
                          <a:solidFill>
                            <a:schemeClr val="dk1"/>
                          </a:solidFill>
                        </a:rPr>
                        <a:t> data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Master customer record</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Inter party relationships between personal and business parties / individuals and households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Non-personal online identity data such as cookie / device 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Enterprise data model with well defined subject areas to allow consistent storage of integrated data</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Data quality monitoring of core customer data items to ensure accuracy of cross-match process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Extended matching process to link identity of customer in Non PII channels such social media and non authenticated web sites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Increased pool of customers for personalized interactions across channels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targeting of cross sell / up-sell offers through a more complete view of the customer</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Better understanding of brand preference and affinity</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Reduced cannibalisation and churn of existing product holdings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Ability to leverage an extended set of 1:1 targeted distribution channels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Pre-requisite building block to create single view of customer interactions across the organisation and touch points</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cxnSp>
        <p:nvCxnSpPr>
          <p:cNvPr id="892" name="Google Shape;892;p67"/>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893" name="Google Shape;893;p67"/>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Single View Of Customer</a:t>
            </a:r>
            <a:endParaRPr/>
          </a:p>
        </p:txBody>
      </p:sp>
      <p:grpSp>
        <p:nvGrpSpPr>
          <p:cNvPr id="894" name="Google Shape;894;p67"/>
          <p:cNvGrpSpPr/>
          <p:nvPr/>
        </p:nvGrpSpPr>
        <p:grpSpPr>
          <a:xfrm>
            <a:off x="7717533" y="4360377"/>
            <a:ext cx="1058348" cy="347375"/>
            <a:chOff x="7651698" y="4287227"/>
            <a:chExt cx="1058348" cy="347375"/>
          </a:xfrm>
        </p:grpSpPr>
        <p:grpSp>
          <p:nvGrpSpPr>
            <p:cNvPr id="895" name="Google Shape;895;p67"/>
            <p:cNvGrpSpPr/>
            <p:nvPr/>
          </p:nvGrpSpPr>
          <p:grpSpPr>
            <a:xfrm>
              <a:off x="7714163" y="4337598"/>
              <a:ext cx="995883" cy="297004"/>
              <a:chOff x="7711013" y="3986494"/>
              <a:chExt cx="995883" cy="297004"/>
            </a:xfrm>
          </p:grpSpPr>
          <p:sp>
            <p:nvSpPr>
              <p:cNvPr id="896" name="Google Shape;896;p67"/>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897" name="Google Shape;897;p67"/>
              <p:cNvGrpSpPr/>
              <p:nvPr/>
            </p:nvGrpSpPr>
            <p:grpSpPr>
              <a:xfrm>
                <a:off x="7711013" y="4002615"/>
                <a:ext cx="281520" cy="241973"/>
                <a:chOff x="5652748" y="4066000"/>
                <a:chExt cx="906498" cy="747974"/>
              </a:xfrm>
            </p:grpSpPr>
            <p:sp>
              <p:nvSpPr>
                <p:cNvPr id="898" name="Google Shape;898;p67"/>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899" name="Google Shape;899;p67"/>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900" name="Google Shape;900;p67"/>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901" name="Google Shape;901;p67">
              <a:hlinkClick action="ppaction://hlinksldjump" r:id="rId3"/>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902" name="Google Shape;902;p67">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Information Management</a:t>
            </a:r>
            <a:endParaRPr sz="750">
              <a:solidFill>
                <a:schemeClr val="lt1"/>
              </a:solidFill>
              <a:latin typeface="Century Gothic"/>
              <a:ea typeface="Century Gothic"/>
              <a:cs typeface="Century Gothic"/>
              <a:sym typeface="Century Gothic"/>
            </a:endParaRPr>
          </a:p>
        </p:txBody>
      </p:sp>
      <p:pic>
        <p:nvPicPr>
          <p:cNvPr id="903" name="Google Shape;903;p67"/>
          <p:cNvPicPr preferRelativeResize="0"/>
          <p:nvPr/>
        </p:nvPicPr>
        <p:blipFill rotWithShape="1">
          <a:blip r:embed="rId5">
            <a:alphaModFix/>
          </a:blip>
          <a:srcRect b="0" l="0" r="0" t="0"/>
          <a:stretch/>
        </p:blipFill>
        <p:spPr>
          <a:xfrm>
            <a:off x="6666624" y="205782"/>
            <a:ext cx="2457450" cy="1536700"/>
          </a:xfrm>
          <a:prstGeom prst="rect">
            <a:avLst/>
          </a:prstGeom>
          <a:noFill/>
          <a:ln>
            <a:noFill/>
          </a:ln>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3319" name="Shape 3319"/>
        <p:cNvGrpSpPr/>
        <p:nvPr/>
      </p:nvGrpSpPr>
      <p:grpSpPr>
        <a:xfrm>
          <a:off x="0" y="0"/>
          <a:ext cx="0" cy="0"/>
          <a:chOff x="0" y="0"/>
          <a:chExt cx="0" cy="0"/>
        </a:xfrm>
      </p:grpSpPr>
      <p:cxnSp>
        <p:nvCxnSpPr>
          <p:cNvPr id="3320" name="Google Shape;3320;p181"/>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321" name="Google Shape;3321;p181"/>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322" name="Google Shape;3322;p181"/>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323" name="Google Shape;3323;p181"/>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324" name="Google Shape;3324;p181"/>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response from more relevant contacts made around customer needs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products holding – as multiple financial purchases more likely to occur as a result of customer life events</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325" name="Google Shape;3325;p181"/>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Better insights on customer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 targeting of customer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 offers to customer</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326" name="Google Shape;3326;p181"/>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 set of new candidate life events that can be productionised and added to campaign and lead systems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327" name="Google Shape;3327;p181"/>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Graph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Affinity analysis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ML life-stage inference from transactions, predictive life-event detection, needs-anticipation models, automated product lifecycle matching</a:t>
            </a:r>
          </a:p>
        </p:txBody>
      </p:sp>
      <p:sp>
        <p:nvSpPr>
          <p:cNvPr id="3328" name="Google Shape;3328;p181"/>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Some life events can be challenging to accurately identify from underlying data sources such as transactional. Events may need to be qualified by person to person contact.</a:t>
            </a:r>
            <a:endParaRPr sz="800">
              <a:solidFill>
                <a:srgbClr val="3C3C3B"/>
              </a:solidFill>
              <a:latin typeface="Century Gothic"/>
              <a:ea typeface="Century Gothic"/>
              <a:cs typeface="Century Gothic"/>
              <a:sym typeface="Century Gothic"/>
            </a:endParaRPr>
          </a:p>
        </p:txBody>
      </p:sp>
      <p:sp>
        <p:nvSpPr>
          <p:cNvPr id="3329" name="Google Shape;3329;p181"/>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Historical transaction data from all channels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interaction data (call center, email etc.)</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360 Single view data</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330" name="Google Shape;3330;p181"/>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Personal customers purchases of financial services are strongly linked to life stage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Identify significant life-events of customers, e.g. graduation, home purchase, getting married and job change etc’s.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Pakistan-specific life events: first salary credit, marriage (gift inflows), first child (school fee pattern), Hajj/Umrah savings, property purchase, retirement, overseas migration. Islamic calendar: Ramadan (Zakat, charity), Eid-ul-Adha (Qurbani).</a:t>
            </a:r>
            <a:endParaRPr/>
          </a:p>
        </p:txBody>
      </p:sp>
      <p:sp>
        <p:nvSpPr>
          <p:cNvPr id="3331" name="Google Shape;3331;p181"/>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332" name="Google Shape;3332;p181"/>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333" name="Google Shape;3333;p181"/>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Customer Life-Based Events </a:t>
            </a:r>
            <a:endParaRPr sz="2400"/>
          </a:p>
        </p:txBody>
      </p:sp>
      <p:sp>
        <p:nvSpPr>
          <p:cNvPr id="3334" name="Google Shape;3334;p18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Insight Driven Customer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8" name="Shape 3338"/>
        <p:cNvGrpSpPr/>
        <p:nvPr/>
      </p:nvGrpSpPr>
      <p:grpSpPr>
        <a:xfrm>
          <a:off x="0" y="0"/>
          <a:ext cx="0" cy="0"/>
          <a:chOff x="0" y="0"/>
          <a:chExt cx="0" cy="0"/>
        </a:xfrm>
      </p:grpSpPr>
      <p:sp>
        <p:nvSpPr>
          <p:cNvPr id="3339" name="Google Shape;3339;p182"/>
          <p:cNvSpPr txBox="1"/>
          <p:nvPr>
            <p:ph idx="1" type="body"/>
          </p:nvPr>
        </p:nvSpPr>
        <p:spPr>
          <a:xfrm>
            <a:off x="0" y="1941338"/>
            <a:ext cx="9144000" cy="1260858"/>
          </a:xfrm>
          <a:prstGeom prst="rect">
            <a:avLst/>
          </a:prstGeom>
          <a:solidFill>
            <a:schemeClr val="lt1"/>
          </a:solidFill>
          <a:ln>
            <a:noFill/>
          </a:ln>
        </p:spPr>
        <p:txBody>
          <a:bodyPr anchorCtr="1" anchor="ctr" bIns="45700" lIns="457200" spcFirstLastPara="1" rIns="457200" wrap="square" tIns="45700">
            <a:noAutofit/>
          </a:bodyPr>
          <a:lstStyle/>
          <a:p>
            <a:pPr indent="0" lvl="0" marL="0" rtl="0" algn="ctr">
              <a:lnSpc>
                <a:spcPct val="110000"/>
              </a:lnSpc>
              <a:spcBef>
                <a:spcPts val="0"/>
              </a:spcBef>
              <a:spcAft>
                <a:spcPts val="0"/>
              </a:spcAft>
              <a:buClr>
                <a:schemeClr val="accent1"/>
              </a:buClr>
              <a:buSzPts val="2200"/>
              <a:buFont typeface="Century Gothic"/>
              <a:buNone/>
            </a:pPr>
            <a:r>
              <a:rPr lang="en-GB"/>
              <a:t>Marketing and Customer Experience</a:t>
            </a:r>
            <a:br>
              <a:rPr lang="en-GB"/>
            </a:br>
            <a:r>
              <a:rPr lang="en-GB"/>
              <a:t>Use Cases</a:t>
            </a:r>
            <a:endParaRPr/>
          </a:p>
          <a:p>
            <a:pPr indent="0" lvl="0" marL="0" rtl="0" algn="ctr">
              <a:lnSpc>
                <a:spcPct val="110000"/>
              </a:lnSpc>
              <a:spcBef>
                <a:spcPts val="400"/>
              </a:spcBef>
              <a:spcAft>
                <a:spcPts val="0"/>
              </a:spcAft>
              <a:buClr>
                <a:schemeClr val="accent1"/>
              </a:buClr>
              <a:buSzPts val="2200"/>
              <a:buFont typeface="Century Gothic"/>
              <a:buNone/>
            </a:pPr>
            <a:r>
              <a:rPr lang="en-GB"/>
              <a:t>Customer Lifecycle</a:t>
            </a:r>
            <a:endParaRPr/>
          </a:p>
        </p:txBody>
      </p:sp>
      <p:sp>
        <p:nvSpPr>
          <p:cNvPr id="3340" name="Google Shape;3340;p182"/>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chemeClr val="lt1"/>
              </a:buClr>
              <a:buSzPts val="700"/>
              <a:buFont typeface="Century Gothic"/>
              <a:buNone/>
            </a:pPr>
            <a:r>
              <a:t/>
            </a:r>
            <a:endParaRP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3345" name="Shape 3345"/>
        <p:cNvGrpSpPr/>
        <p:nvPr/>
      </p:nvGrpSpPr>
      <p:grpSpPr>
        <a:xfrm>
          <a:off x="0" y="0"/>
          <a:ext cx="0" cy="0"/>
          <a:chOff x="0" y="0"/>
          <a:chExt cx="0" cy="0"/>
        </a:xfrm>
      </p:grpSpPr>
      <p:cxnSp>
        <p:nvCxnSpPr>
          <p:cNvPr id="3346" name="Google Shape;3346;p183"/>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347" name="Google Shape;3347;p183"/>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348" name="Google Shape;3348;p183"/>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349" name="Google Shape;3349;p183"/>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350" name="Google Shape;3350;p183"/>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customer acquisition from targeting lunch network influencers for member get member customer acquisition campaigns </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Target card spend offers at selected merchants to encourage card usage</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351" name="Google Shape;3351;p183"/>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Increased customer acquisition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Increased customer profitability</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352" name="Google Shape;3352;p183"/>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create a network of customers / prospects based on lunch transaction spending activity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identify and target network influencers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potential merchants to take part in card based spend offers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353" name="Google Shape;3353;p183"/>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Value-Based Segmentation to identify customers value. Analysis on merchants transactions data to identify connected lunch buddies by identifying split bill. Graphing analysis to link individuals often transacting in similar places, at similar times for similar amounts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Dynamic micro-segmentation, ML clustering (K-means, DBSCAN), RFM + behavioral hybrid, needs-based segmentation, real-time segment migration tracking</a:t>
            </a:r>
          </a:p>
        </p:txBody>
      </p:sp>
      <p:sp>
        <p:nvSpPr>
          <p:cNvPr id="3354" name="Google Shape;3354;p183"/>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Requires high proportion of lunch payments to be made using cards rather than cash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355" name="Google Shape;3355;p183"/>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 at merchants  (restaurants/cafes)to identify connected people when having lunch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to identify target segment and their behavior</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CLV_Score, NPV_Calculation, Propensity_Model, Product_Holding, Attrition_Model | Pakistan: KIBOR discount rates, multi-product CLV, Asaan Account conversion potential</a:t>
            </a:r>
          </a:p>
        </p:txBody>
      </p:sp>
      <p:sp>
        <p:nvSpPr>
          <p:cNvPr id="3356" name="Google Shape;3356;p183"/>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Many working people tend to have lunch together, either with friends, business contacts or relatives.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By being able to identify lunch buddies, we could identify prospect customers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Adapt for Pakistan: identify customers who regularly transact together (shared POS location, same merchant, same timing). If one churns, proactively retain the lunch buddy before social influence drives their churn.</a:t>
            </a:r>
            <a:endParaRPr/>
          </a:p>
        </p:txBody>
      </p:sp>
      <p:sp>
        <p:nvSpPr>
          <p:cNvPr id="3357" name="Google Shape;3357;p183"/>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358" name="Google Shape;3358;p183"/>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359" name="Google Shape;3359;p183"/>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Lunch Buddy Analysis </a:t>
            </a:r>
            <a:endParaRPr sz="2400"/>
          </a:p>
        </p:txBody>
      </p:sp>
      <p:sp>
        <p:nvSpPr>
          <p:cNvPr id="3360" name="Google Shape;3360;p18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3365" name="Shape 3365"/>
        <p:cNvGrpSpPr/>
        <p:nvPr/>
      </p:nvGrpSpPr>
      <p:grpSpPr>
        <a:xfrm>
          <a:off x="0" y="0"/>
          <a:ext cx="0" cy="0"/>
          <a:chOff x="0" y="0"/>
          <a:chExt cx="0" cy="0"/>
        </a:xfrm>
      </p:grpSpPr>
      <p:cxnSp>
        <p:nvCxnSpPr>
          <p:cNvPr id="3366" name="Google Shape;3366;p184"/>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3367" name="Google Shape;3367;p184"/>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3368" name="Google Shape;3368;p184"/>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369" name="Google Shape;3369;p184"/>
          <p:cNvSpPr/>
          <p:nvPr/>
        </p:nvSpPr>
        <p:spPr>
          <a:xfrm rot="5400000">
            <a:off x="-86832" y="2518302"/>
            <a:ext cx="299641" cy="130284"/>
          </a:xfrm>
          <a:prstGeom prst="triangle">
            <a:avLst>
              <a:gd fmla="val 50000" name="adj"/>
            </a:avLst>
          </a:prstGeom>
          <a:solidFill>
            <a:srgbClr val="FF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370" name="Google Shape;3370;p184"/>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cost-of-sales for investment banking resulting from faster identification of qualified target prospects.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sales cycle –time through faster prospect qualification.</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Established a centralized research repository</a:t>
            </a:r>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371" name="Google Shape;3371;p184"/>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80975" lvl="0" marL="180975"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Reverse the “80/20 rule”  so that investment bankers and research analysts now spend 80% of their time doing analytics and only 20% manually screening potential portfolio securities.</a:t>
            </a:r>
            <a:endParaRPr/>
          </a:p>
          <a:p>
            <a:pPr indent="-180975" lvl="0" marL="180975"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Faster identification of prospect companies, prioritized by match to qualification criteria.</a:t>
            </a:r>
            <a:endParaRPr/>
          </a:p>
          <a:p>
            <a:pPr indent="-180975" lvl="0" marL="180975"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Repository of reusable research on previously qualified prospects, eliminating re-work.</a:t>
            </a:r>
            <a:endParaRPr/>
          </a:p>
        </p:txBody>
      </p:sp>
      <p:sp>
        <p:nvSpPr>
          <p:cNvPr id="3372" name="Google Shape;3372;p184"/>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Acceleration of the identification of candidate securities at the required level of accuracy</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Re-usable analytic tool, e.g. the model which was deployed</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Acceptance of new methodology and tool by und-users</a:t>
            </a:r>
            <a:endParaRPr/>
          </a:p>
        </p:txBody>
      </p:sp>
      <p:sp>
        <p:nvSpPr>
          <p:cNvPr id="3373" name="Google Shape;3373;p184"/>
          <p:cNvSpPr/>
          <p:nvPr/>
        </p:nvSpPr>
        <p:spPr>
          <a:xfrm>
            <a:off x="3271845" y="2334154"/>
            <a:ext cx="2714400" cy="1223736"/>
          </a:xfrm>
          <a:prstGeom prst="rect">
            <a:avLst/>
          </a:prstGeom>
          <a:noFill/>
          <a:ln>
            <a:noFill/>
          </a:ln>
        </p:spPr>
        <p:txBody>
          <a:bodyPr anchorCtr="0" anchor="t" bIns="46800" lIns="46800" spcFirstLastPara="1" rIns="46800" wrap="square" tIns="46800">
            <a:noAutofit/>
          </a:bodyPr>
          <a:lstStyle/>
          <a:p>
            <a:pPr indent="-180000" lvl="0" marL="180000" marR="0" rtl="0" algn="l">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11125" lvl="0" marL="11112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Baseline current productivity measures</a:t>
            </a:r>
            <a:endParaRPr/>
          </a:p>
          <a:p>
            <a:pPr indent="-111125" lvl="0" marL="111125" marR="0" rtl="0" algn="l">
              <a:spcBef>
                <a:spcPts val="1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Identify target data sources</a:t>
            </a:r>
            <a:endParaRPr/>
          </a:p>
          <a:p>
            <a:pPr indent="-111125" lvl="0" marL="111125" marR="0" rtl="0" algn="l">
              <a:spcBef>
                <a:spcPts val="1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Prepare ‘ground truth’ from previous manual screenings</a:t>
            </a:r>
            <a:endParaRPr/>
          </a:p>
          <a:p>
            <a:pPr indent="-111125" lvl="0" marL="111125" marR="0" rtl="0" algn="l">
              <a:spcBef>
                <a:spcPts val="1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Prepare analytic and training data sets  </a:t>
            </a:r>
            <a:endParaRPr/>
          </a:p>
          <a:p>
            <a:pPr indent="-111125" lvl="0" marL="111125" marR="0" rtl="0" algn="l">
              <a:spcBef>
                <a:spcPts val="1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Text analytics and clustering</a:t>
            </a:r>
            <a:endParaRPr/>
          </a:p>
          <a:p>
            <a:pPr indent="-111125" lvl="0" marL="111125" marR="0" rtl="0" algn="l">
              <a:spcBef>
                <a:spcPts val="1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Evaluate accuracy versus ground-truth</a:t>
            </a:r>
            <a:endParaRPr/>
          </a:p>
          <a:p>
            <a:r>
              <a:rPr sz="800" i="1">
                <a:solidFill>
                  <a:srgbClr val="800080"/>
                </a:solidFill>
              </a:rPr>
              <a:t>Enhanced: Journey orchestration platforms, process mining on banking workflows, real-time experience scoring, predictive friction detection, A/B testing on digital channels</a:t>
            </a:r>
          </a:p>
        </p:txBody>
      </p:sp>
      <p:sp>
        <p:nvSpPr>
          <p:cNvPr id="3374" name="Google Shape;3374;p184"/>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Subject-matter experts (portfolio analysts) time in preparation of the ‘ground-truth’</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Multiple external sources of unstructured data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User sensitivity to ‘productivity measurement’</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quality and availability (sourcing)</a:t>
            </a:r>
            <a:endParaRPr/>
          </a:p>
        </p:txBody>
      </p:sp>
      <p:sp>
        <p:nvSpPr>
          <p:cNvPr id="3375" name="Google Shape;3375;p184"/>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Vendor data (e.g. FACTSET, D&amp;B, Hoovers, Thomson/Reuters, Bloomberg et al)</a:t>
            </a:r>
            <a:endParaRPr/>
          </a:p>
          <a:p>
            <a:pPr indent="-171450" lvl="0" marL="171450" marR="0" rtl="0" algn="l">
              <a:spcBef>
                <a:spcPts val="3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Industry/Trade publications</a:t>
            </a:r>
            <a:endParaRPr/>
          </a:p>
          <a:p>
            <a:pPr indent="-171450" lvl="0" marL="171450" marR="0" rtl="0" algn="l">
              <a:spcBef>
                <a:spcPts val="3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Regulatory filings</a:t>
            </a:r>
            <a:endParaRPr/>
          </a:p>
          <a:p>
            <a:pPr indent="-171450" lvl="0" marL="171450" marR="0" rtl="0" algn="l">
              <a:spcBef>
                <a:spcPts val="3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Web Searches</a:t>
            </a:r>
            <a:endParaRPr/>
          </a:p>
          <a:p>
            <a:r>
              <a:rPr sz="800" i="1">
                <a:solidFill>
                  <a:srgbClr val="006699"/>
                </a:solidFill>
              </a:rPr>
              <a:t>FSDM Sources: Purchase_Order, Vendor, Payment_Instruction, Invoice_Match | Pakistan: FBR WHT compliance, SBP procurement guidelines, multi-branch vendor management</a:t>
            </a:r>
          </a:p>
          <a:p>
            <a:r>
              <a:rPr sz="800" i="1">
                <a:solidFill>
                  <a:srgbClr val="006699"/>
                </a:solidFill>
              </a:rPr>
              <a:t>Pakistan: ECIB credit bureau, CNIC/NADRA verification, mobile wallet transaction history (JazzCash, Easypaisa) as proxy for creditworthiness</a:t>
            </a:r>
          </a:p>
        </p:txBody>
      </p:sp>
      <p:sp>
        <p:nvSpPr>
          <p:cNvPr id="3376" name="Google Shape;3376;p184"/>
          <p:cNvSpPr/>
          <p:nvPr/>
        </p:nvSpPr>
        <p:spPr>
          <a:xfrm>
            <a:off x="423876"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a:p>
          <a:p>
            <a:pPr indent="0" lvl="0" marL="0" marR="0" rtl="0" algn="l">
              <a:spcBef>
                <a:spcPts val="500"/>
              </a:spcBef>
              <a:spcAft>
                <a:spcPts val="0"/>
              </a:spcAft>
              <a:buNone/>
            </a:pPr>
            <a:r>
              <a:rPr lang="en-GB" sz="900">
                <a:solidFill>
                  <a:srgbClr val="3C3C3B"/>
                </a:solidFill>
                <a:latin typeface="Century Gothic"/>
                <a:ea typeface="Century Gothic"/>
                <a:cs typeface="Century Gothic"/>
                <a:sym typeface="Century Gothic"/>
              </a:rPr>
              <a:t>Reduce effort (cost of sales) for Investment Bankers pitching to mid-cap non-public companies resulting from:</a:t>
            </a:r>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Information on target companies (typically non-listed companies of $50million to $1 billion)  unstructured/text based and not conducive to traditional search tools.</a:t>
            </a:r>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Current research practices are often not centralized resulting in significant redundancy and rework when a target company is to be re-visited</a:t>
            </a:r>
            <a:endParaRPr sz="900">
              <a:solidFill>
                <a:srgbClr val="3C3C3B"/>
              </a:solidFill>
              <a:latin typeface="Century Gothic"/>
              <a:ea typeface="Century Gothic"/>
              <a:cs typeface="Century Gothic"/>
              <a:sym typeface="Century Gothic"/>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Screen prospects using ECIB credit bureau data, CNIC verification, NADRA biometric, PTA mobile number verification.</a:t>
            </a:r>
            <a:endParaRPr sz="900">
              <a:solidFill>
                <a:srgbClr val="3C3C3B"/>
              </a:solidFill>
              <a:latin typeface="Century Gothic"/>
              <a:ea typeface="Century Gothic"/>
              <a:cs typeface="Century Gothic"/>
              <a:sym typeface="Century Gothic"/>
            </a:endParaRPr>
          </a:p>
        </p:txBody>
      </p:sp>
      <p:sp>
        <p:nvSpPr>
          <p:cNvPr id="3377" name="Google Shape;3377;p184"/>
          <p:cNvSpPr/>
          <p:nvPr/>
        </p:nvSpPr>
        <p:spPr>
          <a:xfrm>
            <a:off x="6545103" y="290514"/>
            <a:ext cx="2598899" cy="524226"/>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378" name="Google Shape;3378;p184"/>
          <p:cNvSpPr/>
          <p:nvPr/>
        </p:nvSpPr>
        <p:spPr>
          <a:xfrm>
            <a:off x="355609" y="594287"/>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 Capital Markets, Investing &amp; Trading</a:t>
            </a:r>
            <a:endParaRPr/>
          </a:p>
        </p:txBody>
      </p:sp>
      <p:sp>
        <p:nvSpPr>
          <p:cNvPr id="3379" name="Google Shape;3379;p184"/>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Prospect Screener</a:t>
            </a:r>
            <a:endParaRPr sz="2400"/>
          </a:p>
        </p:txBody>
      </p:sp>
      <p:sp>
        <p:nvSpPr>
          <p:cNvPr id="3380" name="Google Shape;3380;p18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3385" name="Shape 3385"/>
        <p:cNvGrpSpPr/>
        <p:nvPr/>
      </p:nvGrpSpPr>
      <p:grpSpPr>
        <a:xfrm>
          <a:off x="0" y="0"/>
          <a:ext cx="0" cy="0"/>
          <a:chOff x="0" y="0"/>
          <a:chExt cx="0" cy="0"/>
        </a:xfrm>
      </p:grpSpPr>
      <p:cxnSp>
        <p:nvCxnSpPr>
          <p:cNvPr id="3386" name="Google Shape;3386;p185"/>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387" name="Google Shape;3387;p185"/>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388" name="Google Shape;3388;p185"/>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389" name="Google Shape;3389;p185"/>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390" name="Google Shape;3390;p185"/>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Accelerated path to profitability</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Encourage customers to adopt profitable behaviour</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391" name="Google Shape;3391;p185"/>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the path to value, e.g., what needs to happen with the customer in year 1 to grow profitability)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Re-engineer customer onboarding processes to ensure customers activate the right services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 the average profit per customer</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392" name="Google Shape;3392;p185"/>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RACE Relevant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Identification of events that can be incorporated into a onboarding program to accelerate the path to value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Optimization of existing onboarding program with regard to timing and sequence of activity</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393" name="Google Shape;3393;p185"/>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Sessionise data to identify unique customer journeys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to identify all sales and service events in the first year of joining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the sequences that lead to a minimum level of income at month 12, and those that don’t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CFilter to look for affinities with products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Rate scenario modeling, NII sensitivity analysis, EVE impact assessment, behavioral rate assumptions, hedge effectiveness monitoring, basis risk quantification</a:t>
            </a:r>
          </a:p>
        </p:txBody>
      </p:sp>
      <p:sp>
        <p:nvSpPr>
          <p:cNvPr id="3394" name="Google Shape;3394;p185"/>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Many paths to customer value and some may not be able to be directly influenced</a:t>
            </a:r>
            <a:endParaRPr sz="800">
              <a:solidFill>
                <a:srgbClr val="3C3C3B"/>
              </a:solidFill>
              <a:latin typeface="Century Gothic"/>
              <a:ea typeface="Century Gothic"/>
              <a:cs typeface="Century Gothic"/>
              <a:sym typeface="Century Gothic"/>
            </a:endParaRPr>
          </a:p>
        </p:txBody>
      </p:sp>
      <p:sp>
        <p:nvSpPr>
          <p:cNvPr id="3395" name="Google Shape;3395;p185"/>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already held on the data warehouse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Sales and Service event data describing when products features an services are activated</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Profitability data or at least revenue data (net interest margin plus fee incomes)</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Customer_Journey, Journey_Stage, Channel_Touchpoint, Conversion_Event | Pakistan: Account opening (branch vs Asaan Digital), loan disbursement, card activation paths</a:t>
            </a:r>
          </a:p>
        </p:txBody>
      </p:sp>
      <p:sp>
        <p:nvSpPr>
          <p:cNvPr id="3396" name="Google Shape;3396;p185"/>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 financial services, acquiring a new customer or making a sale does not always generate profit</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For current accounts, deposit accounts and credit cards profitability is only delivered is the account is activated and/or cross sales are delivered</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challenge is how to identify the path to value, and proactively manage this on a customer by customer basis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Track time between product adoptions and identify accelerators. Pakistan target: reduce average time from CASA to second product from 24 months to 6 months.</a:t>
            </a:r>
            <a:endParaRPr/>
          </a:p>
        </p:txBody>
      </p:sp>
      <p:sp>
        <p:nvSpPr>
          <p:cNvPr id="3397" name="Google Shape;3397;p185"/>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398" name="Google Shape;3398;p185"/>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399" name="Google Shape;3399;p185"/>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Product Sequence: Path to Value </a:t>
            </a:r>
            <a:endParaRPr sz="2400"/>
          </a:p>
        </p:txBody>
      </p:sp>
      <p:sp>
        <p:nvSpPr>
          <p:cNvPr id="3400" name="Google Shape;3400;p18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3405" name="Shape 3405"/>
        <p:cNvGrpSpPr/>
        <p:nvPr/>
      </p:nvGrpSpPr>
      <p:grpSpPr>
        <a:xfrm>
          <a:off x="0" y="0"/>
          <a:ext cx="0" cy="0"/>
          <a:chOff x="0" y="0"/>
          <a:chExt cx="0" cy="0"/>
        </a:xfrm>
      </p:grpSpPr>
      <p:cxnSp>
        <p:nvCxnSpPr>
          <p:cNvPr id="3406" name="Google Shape;3406;p186"/>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407" name="Google Shape;3407;p186"/>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408" name="Google Shape;3408;p186"/>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409" name="Google Shape;3409;p186"/>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410" name="Google Shape;3410;p186"/>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customer attrition</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customer dormancy</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insight on key drivers contributing to customer churn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411" name="Google Shape;3411;p186"/>
          <p:cNvSpPr/>
          <p:nvPr/>
        </p:nvSpPr>
        <p:spPr>
          <a:xfrm>
            <a:off x="6148806" y="2142760"/>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broken processes where customers exit, get stuck or cycle back</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Understand and fix broken processes, service failures by analysing individual customer experiences and identifying root cause for failures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Outcomes are lower attrition (up to 10%) more revenue from future sales, and avoided customer acquisition costs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Pakistan-specific churn paths: employer salary account switch, fintech migration, Islamic conversion, overseas migration path</a:t>
            </a:r>
            <a:endParaRPr/>
          </a:p>
        </p:txBody>
      </p:sp>
      <p:sp>
        <p:nvSpPr>
          <p:cNvPr id="3412" name="Google Shape;3412;p186"/>
          <p:cNvSpPr/>
          <p:nvPr/>
        </p:nvSpPr>
        <p:spPr>
          <a:xfrm>
            <a:off x="3271845" y="3813082"/>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and quantify root cause events or combinations of events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Uplift in performance of existing models or rules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leading rather than lagging churn events to create more timely interventions earlier in the path to churn</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413" name="Google Shape;3413;p186"/>
          <p:cNvSpPr/>
          <p:nvPr/>
        </p:nvSpPr>
        <p:spPr>
          <a:xfrm>
            <a:off x="3271845" y="214276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Clustering (optional)</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Analytics (optional)</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Journey orchestration platforms, process mining on banking workflows, real-time experience scoring, predictive friction detection, A/B testing on digital channels</a:t>
            </a:r>
          </a:p>
        </p:txBody>
      </p:sp>
      <p:sp>
        <p:nvSpPr>
          <p:cNvPr id="3414" name="Google Shape;3414;p186"/>
          <p:cNvSpPr/>
          <p:nvPr/>
        </p:nvSpPr>
        <p:spPr>
          <a:xfrm>
            <a:off x="423863" y="3813082"/>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Success of this technique is dependent on the predictively of candidate churn events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Candidate churn events  need to be coded from many different data sources which can lead to extended data preparation time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415" name="Google Shape;3415;p186"/>
          <p:cNvSpPr/>
          <p:nvPr/>
        </p:nvSpPr>
        <p:spPr>
          <a:xfrm>
            <a:off x="423863" y="2142760"/>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Standardised list of candidate churn events such as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Complaints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Charges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Balance / Credit Turnover Trend</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Account Behaviour</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Interactions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Change of Address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Cancellation of Salary Mandate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browsing history</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Churn_Score, Balance_Withdrawal_Pattern, Account_Closure, Dormancy_Flag | Pakistan: CASA silent churn, FD non-renewal, card dormancy, salary account migration</a:t>
            </a:r>
          </a:p>
        </p:txBody>
      </p:sp>
      <p:sp>
        <p:nvSpPr>
          <p:cNvPr id="3416" name="Google Shape;3416;p186"/>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Being able to understand which customers are likely to close their account means the Bank can proactively try and avoid this (if client profitable)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There may be no current systematic way of identifying why attrition occurs, or how to prevent it through removing the causes of attrition</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To maintain market share its necessary to replace lost customers - average costs approximately $100/account</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Map event sequences leading to churn in Pakistan: balance decline → reduced transactions → app login drop → salary redirect → account dormancy.</a:t>
            </a:r>
            <a:endParaRPr/>
          </a:p>
        </p:txBody>
      </p:sp>
      <p:sp>
        <p:nvSpPr>
          <p:cNvPr id="3417" name="Google Shape;3417;p186"/>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John O‘Donoghue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418" name="Google Shape;3418;p186"/>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419" name="Google Shape;3419;p186"/>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Path to Churn </a:t>
            </a:r>
            <a:endParaRPr sz="2400"/>
          </a:p>
        </p:txBody>
      </p:sp>
      <p:sp>
        <p:nvSpPr>
          <p:cNvPr id="3420" name="Google Shape;3420;p18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3425" name="Shape 3425"/>
        <p:cNvGrpSpPr/>
        <p:nvPr/>
      </p:nvGrpSpPr>
      <p:grpSpPr>
        <a:xfrm>
          <a:off x="0" y="0"/>
          <a:ext cx="0" cy="0"/>
          <a:chOff x="0" y="0"/>
          <a:chExt cx="0" cy="0"/>
        </a:xfrm>
      </p:grpSpPr>
      <p:cxnSp>
        <p:nvCxnSpPr>
          <p:cNvPr id="3426" name="Google Shape;3426;p187"/>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427" name="Google Shape;3427;p187"/>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428" name="Google Shape;3428;p187"/>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429" name="Google Shape;3429;p187"/>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430" name="Google Shape;3430;p187"/>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balance attrition</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customer dormancy</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431" name="Google Shape;3431;p187"/>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and make product recommendations quickly and easily for a wider range of customers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Re-engineer customer onboarding processes to ensure customers activate the right services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 the average profit per customer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Outcomes are more revenue from sales, at a lower cost per sale because re-work is reduced</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432" name="Google Shape;3432;p187"/>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Generate new insights to identify and understand the behaviour / reasons for regular balance churn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the insight generated to recommend more appropriate product propositions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433" name="Google Shape;3433;p187"/>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Path Analysis prior to churn event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People like me approach</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Deep learning churn prediction, multi-product churn modeling, real-time churn scoring, root cause decomposition, economic value of retention</a:t>
            </a:r>
          </a:p>
        </p:txBody>
      </p:sp>
      <p:sp>
        <p:nvSpPr>
          <p:cNvPr id="3434" name="Google Shape;3434;p187"/>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Can be challenging to identify reasons for balance churn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435" name="Google Shape;3435;p187"/>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From the data warehouse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Current account  transaction data with descriptions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Contact history (leads generated and responses)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decisioning (e.q., accept, decline or refer etc.)</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Churn_Score, Balance_Withdrawal_Pattern, Account_Closure, Dormancy_Flag | Pakistan: CASA silent churn, FD non-renewal, card dormancy, salary account migration</a:t>
            </a:r>
          </a:p>
          <a:p>
            <a:r>
              <a:rPr sz="800" i="1">
                <a:solidFill>
                  <a:srgbClr val="006699"/>
                </a:solidFill>
              </a:rPr>
              <a:t>Pakistan: Detect via RAAST/IBFT — customer transferring increasing amounts to another bank monthly</a:t>
            </a:r>
          </a:p>
        </p:txBody>
      </p:sp>
      <p:sp>
        <p:nvSpPr>
          <p:cNvPr id="3436" name="Google Shape;3436;p187"/>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 has incoming transfer for fixed amount each month and  after a few days withdraws all the funds and balance is around zero for the rest of the period. (Cash loving customer).</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Such situation has negative impact on the revenue and liquidity ratio of the banks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goal is to understand customer behavior resulting in a product proposal tailored to their needs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Balance churn (gradual withdrawal without closing account) is the dominant churn type in Pakistan — accounts remain open with minimum balance while customer moves to competitor.</a:t>
            </a:r>
            <a:endParaRPr/>
          </a:p>
        </p:txBody>
      </p:sp>
      <p:sp>
        <p:nvSpPr>
          <p:cNvPr id="3437" name="Google Shape;3437;p187"/>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438" name="Google Shape;3438;p187"/>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439" name="Google Shape;3439;p187"/>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Identify ‘Balance’ Churners </a:t>
            </a:r>
            <a:endParaRPr sz="2400"/>
          </a:p>
        </p:txBody>
      </p:sp>
      <p:sp>
        <p:nvSpPr>
          <p:cNvPr id="3440" name="Google Shape;3440;p18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3445" name="Shape 3445"/>
        <p:cNvGrpSpPr/>
        <p:nvPr/>
      </p:nvGrpSpPr>
      <p:grpSpPr>
        <a:xfrm>
          <a:off x="0" y="0"/>
          <a:ext cx="0" cy="0"/>
          <a:chOff x="0" y="0"/>
          <a:chExt cx="0" cy="0"/>
        </a:xfrm>
      </p:grpSpPr>
      <p:cxnSp>
        <p:nvCxnSpPr>
          <p:cNvPr id="3446" name="Google Shape;3446;p188"/>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447" name="Google Shape;3447;p188"/>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448" name="Google Shape;3448;p188"/>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449" name="Google Shape;3449;p188"/>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450" name="Google Shape;3450;p188"/>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card balance attrition</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customer dormancy</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451" name="Google Shape;3451;p188"/>
          <p:cNvSpPr/>
          <p:nvPr/>
        </p:nvSpPr>
        <p:spPr>
          <a:xfrm>
            <a:off x="6148806" y="2078962"/>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Graphically represent the events leading to silent balance churn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customers at risk of silent churn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various triggers that lead to customers silently churning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Target for PoC: identify events that trigger up to 20% of the silent churn in balance.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Detect via: declining monthly spend, balance transfer transactions, zero-spend months</a:t>
            </a:r>
            <a:endParaRPr/>
          </a:p>
        </p:txBody>
      </p:sp>
      <p:sp>
        <p:nvSpPr>
          <p:cNvPr id="3452" name="Google Shape;3452;p188"/>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insight on key drivers contributing to balance churn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Uplift in performance of existing models or rules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leading rather than lagging churn events to create more timely interventions earlier in the path to churn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453" name="Google Shape;3453;p188"/>
          <p:cNvSpPr/>
          <p:nvPr/>
        </p:nvSpPr>
        <p:spPr>
          <a:xfrm>
            <a:off x="3271845" y="2078962"/>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to identify all journeys that lead to silent churn(including most common journeys)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Deep learning churn prediction, multi-product churn modeling, real-time churn scoring, root cause decomposition, economic value of retention</a:t>
            </a:r>
          </a:p>
        </p:txBody>
      </p:sp>
      <p:sp>
        <p:nvSpPr>
          <p:cNvPr id="3454" name="Google Shape;3454;p188"/>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Success of this technique is dependent on the predictivity of candidate churn events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Candidate churn events  need to be coded from many different data sources which can lead to extended data preparation time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455" name="Google Shape;3455;p188"/>
          <p:cNvSpPr/>
          <p:nvPr/>
        </p:nvSpPr>
        <p:spPr>
          <a:xfrm>
            <a:off x="423863" y="2078962"/>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Transactional data that identifies normal v abnormal behavior suggesting a move towards silent churn</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Channel/Interaction data that shows abnormal customer experience or potential triggers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Complaints data from available text captured</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Balances, AUM and Liabilities data to identify leading trends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Personal data to identify any status changes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Customer_Journey, Journey_Stage, Channel_Touchpoint, Conversion_Event | Pakistan: Account opening (branch vs Asaan Digital), loan disbursement, card activation paths</a:t>
            </a:r>
          </a:p>
        </p:txBody>
      </p:sp>
      <p:sp>
        <p:nvSpPr>
          <p:cNvPr id="3456" name="Google Shape;3456;p188"/>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Minimize credit card balance churn of top tier clients when they spend less on their credit card with the bank.</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Identify potential churners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Credit card balance churn in Pakistan: customer reduces spending, transfers balance to competitor card offering lower rate/better rewards.</a:t>
            </a:r>
            <a:endParaRPr/>
          </a:p>
        </p:txBody>
      </p:sp>
      <p:sp>
        <p:nvSpPr>
          <p:cNvPr id="3457" name="Google Shape;3457;p188"/>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458" name="Google Shape;3458;p188"/>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459" name="Google Shape;3459;p188"/>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Credit Card Balance Churn </a:t>
            </a:r>
            <a:endParaRPr sz="2400"/>
          </a:p>
        </p:txBody>
      </p:sp>
      <p:sp>
        <p:nvSpPr>
          <p:cNvPr id="3460" name="Google Shape;3460;p18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3465" name="Shape 3465"/>
        <p:cNvGrpSpPr/>
        <p:nvPr/>
      </p:nvGrpSpPr>
      <p:grpSpPr>
        <a:xfrm>
          <a:off x="0" y="0"/>
          <a:ext cx="0" cy="0"/>
          <a:chOff x="0" y="0"/>
          <a:chExt cx="0" cy="0"/>
        </a:xfrm>
      </p:grpSpPr>
      <p:cxnSp>
        <p:nvCxnSpPr>
          <p:cNvPr id="3466" name="Google Shape;3466;p189"/>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467" name="Google Shape;3467;p189"/>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468" name="Google Shape;3468;p189"/>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469" name="Google Shape;3469;p189"/>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470" name="Google Shape;3470;p189"/>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Qualitative-increased customer AUM retention as well as fee income from cross-selling of fund management products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471" name="Google Shape;3471;p189"/>
          <p:cNvSpPr/>
          <p:nvPr/>
        </p:nvSpPr>
        <p:spPr>
          <a:xfrm>
            <a:off x="6148806" y="2004531"/>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Graphically represent the events leading to silent CASA churn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customers at risk of silent churn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various triggers that lead to customers silently churning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Target for PoC: identify events that trigger up to 20% of the silent Churn in CASA.</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Target: identify 20% of silent churners 30 days before balance drops below retention threshold</a:t>
            </a:r>
            <a:endParaRPr/>
          </a:p>
        </p:txBody>
      </p:sp>
      <p:sp>
        <p:nvSpPr>
          <p:cNvPr id="3472" name="Google Shape;3472;p189"/>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Analytics is able to identify up to 20% of CASA silent churn customers</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473" name="Google Shape;3473;p189"/>
          <p:cNvSpPr/>
          <p:nvPr/>
        </p:nvSpPr>
        <p:spPr>
          <a:xfrm>
            <a:off x="3271845" y="2004531"/>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to identify all journeys that lead to silent churn(including most common journeys)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Journey orchestration platforms, process mining on banking workflows, real-time experience scoring, predictive friction detection, A/B testing on digital channels</a:t>
            </a:r>
          </a:p>
        </p:txBody>
      </p:sp>
      <p:sp>
        <p:nvSpPr>
          <p:cNvPr id="3474" name="Google Shape;3474;p189"/>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Getting customer/business to agree to the definition of silent churn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475" name="Google Shape;3475;p189"/>
          <p:cNvSpPr/>
          <p:nvPr/>
        </p:nvSpPr>
        <p:spPr>
          <a:xfrm>
            <a:off x="423863" y="2004531"/>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Transactional data that identifies normal v abnormal behaviour suggesting a move towards silent churn</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Channel/Interaction data that shows abnormal customer experience or potential triggers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Complaints data from available text captured</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Balances, AUM and Liabilities data to identify leading trends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Personal data to identify any status changes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Customer_Journey, Journey_Stage, Channel_Touchpoint, Conversion_Event | Pakistan: Account opening (branch vs Asaan Digital), loan disbursement, card activation paths</a:t>
            </a:r>
          </a:p>
          <a:p>
            <a:r>
              <a:rPr sz="800" i="1">
                <a:solidFill>
                  <a:srgbClr val="006699"/>
                </a:solidFill>
              </a:rPr>
              <a:t>Pakistan: Salary credit stops, balance below 6-month average, RAAST outflows exceed inflows, no branch visit 90+ days</a:t>
            </a:r>
          </a:p>
        </p:txBody>
      </p:sp>
      <p:sp>
        <p:nvSpPr>
          <p:cNvPr id="3476" name="Google Shape;3476;p189"/>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Minimize CASA silent churn of top tier clients when they move funds out of the bank without replacing them in a timely manner.</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Identify potential churners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CASA silent churn is Pakistan banking's biggest unaddressed revenue leak. PKR 500B+ estimated at risk across industry.</a:t>
            </a:r>
            <a:endParaRPr/>
          </a:p>
        </p:txBody>
      </p:sp>
      <p:sp>
        <p:nvSpPr>
          <p:cNvPr id="3477" name="Google Shape;3477;p189"/>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478" name="Google Shape;3478;p189"/>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479" name="Google Shape;3479;p189"/>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CASA Silent Churn </a:t>
            </a:r>
            <a:endParaRPr sz="2400"/>
          </a:p>
        </p:txBody>
      </p:sp>
      <p:sp>
        <p:nvSpPr>
          <p:cNvPr id="3480" name="Google Shape;3480;p18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3485" name="Shape 3485"/>
        <p:cNvGrpSpPr/>
        <p:nvPr/>
      </p:nvGrpSpPr>
      <p:grpSpPr>
        <a:xfrm>
          <a:off x="0" y="0"/>
          <a:ext cx="0" cy="0"/>
          <a:chOff x="0" y="0"/>
          <a:chExt cx="0" cy="0"/>
        </a:xfrm>
      </p:grpSpPr>
      <p:cxnSp>
        <p:nvCxnSpPr>
          <p:cNvPr id="3486" name="Google Shape;3486;p190"/>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487" name="Google Shape;3487;p190"/>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488" name="Google Shape;3488;p190"/>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489" name="Google Shape;3489;p190"/>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490" name="Google Shape;3490;p190"/>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MUSD$727 in additional income from customers retained.</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MUSD$795 in savings from customer acquisition costs.</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491" name="Google Shape;3491;p190"/>
          <p:cNvSpPr/>
          <p:nvPr/>
        </p:nvSpPr>
        <p:spPr>
          <a:xfrm>
            <a:off x="6148806" y="2068329"/>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To develop a model to predict customer churn with a window of one month based on his transactions and multi-channel behavior.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customer behavior multi-channel patterns and root causes that lead to checking account churn.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Model must differentiate: competitive churn (to fintech), rate shopping, life event churn (overseas migration), dormancy slide</a:t>
            </a:r>
            <a:endParaRPr sz="800">
              <a:solidFill>
                <a:srgbClr val="3C3C3B"/>
              </a:solidFill>
              <a:latin typeface="Century Gothic"/>
              <a:ea typeface="Century Gothic"/>
              <a:cs typeface="Century Gothic"/>
              <a:sym typeface="Century Gothic"/>
            </a:endParaRPr>
          </a:p>
        </p:txBody>
      </p:sp>
      <p:sp>
        <p:nvSpPr>
          <p:cNvPr id="3492" name="Google Shape;3492;p190"/>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Develop an analytical model to correctly identify and predict potential checking account churns with a time window frame of 1 month.</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493" name="Google Shape;3493;p190"/>
          <p:cNvSpPr/>
          <p:nvPr/>
        </p:nvSpPr>
        <p:spPr>
          <a:xfrm>
            <a:off x="3271845" y="2068329"/>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Creation of a single table using SQL including all customer events - +3 Billions.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Behavior pattern visualization using ‘nPath’ for exploratory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‘Naive-Bayes’ to develop model and assign a probability score to each step.</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Sessionize, Sample, SVM, PCA, Naïve Bayes, Kmeans. GraphGen, Confusion Matrix, Collaborative Filter, Machine Learning</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nPath analysis on granular event sequences, Markov chain journey modeling, abandonment prediction, real-time journey intervention, cross-channel attribution</a:t>
            </a:r>
          </a:p>
        </p:txBody>
      </p:sp>
      <p:sp>
        <p:nvSpPr>
          <p:cNvPr id="3494" name="Google Shape;3494;p190"/>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in silos.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Multi-structured data integration.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Capability to analyze billions of events simultaneously.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Valuable data sources previously identified were not available (e.g. weblogs, call center logs).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495" name="Google Shape;3495;p190"/>
          <p:cNvSpPr/>
          <p:nvPr/>
        </p:nvSpPr>
        <p:spPr>
          <a:xfrm>
            <a:off x="423863" y="2068329"/>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and product data from DW.</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experience surveys, NPS metrics.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Branch geo codes.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complaints database.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Emails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Events &amp; Transactions (Journal).</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Branch &amp; ATM transactions.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Call Center and  IVR calls.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CLV_Score, NPV_Calculation, Propensity_Model, Product_Holding, Attrition_Model | Pakistan: KIBOR discount rates, multi-product CLV, Asaan Account conversion potential</a:t>
            </a:r>
          </a:p>
        </p:txBody>
      </p:sp>
      <p:sp>
        <p:nvSpPr>
          <p:cNvPr id="3496" name="Google Shape;3496;p190"/>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Bank has an strategic and corporate goal to have a better understanding of their actual customer multi-channel behavior.</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Understand process and steps behind ‘customer experience journey’ that lead to a customer complaint and potential churn, and the valued loss related to these actions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Build Pakistan-specific churn model features: salary credit continuity, RAAST/IBFT outflow ratio, mobile app login frequency, SBP complaint filing, branch visit frequency change, FD maturity renewal rate.</a:t>
            </a:r>
            <a:endParaRPr/>
          </a:p>
        </p:txBody>
      </p:sp>
      <p:sp>
        <p:nvSpPr>
          <p:cNvPr id="3497" name="Google Shape;3497;p190"/>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SA: Guilherme Fernandes, </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498" name="Google Shape;3498;p190"/>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499" name="Google Shape;3499;p190"/>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Customer Churn Model in Retail Banking</a:t>
            </a:r>
            <a:endParaRPr sz="2400"/>
          </a:p>
        </p:txBody>
      </p:sp>
      <p:sp>
        <p:nvSpPr>
          <p:cNvPr id="3500" name="Google Shape;3500;p19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3505" name="Shape 3505"/>
        <p:cNvGrpSpPr/>
        <p:nvPr/>
      </p:nvGrpSpPr>
      <p:grpSpPr>
        <a:xfrm>
          <a:off x="0" y="0"/>
          <a:ext cx="0" cy="0"/>
          <a:chOff x="0" y="0"/>
          <a:chExt cx="0" cy="0"/>
        </a:xfrm>
      </p:grpSpPr>
      <p:cxnSp>
        <p:nvCxnSpPr>
          <p:cNvPr id="3506" name="Google Shape;3506;p191"/>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507" name="Google Shape;3507;p191"/>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508" name="Google Shape;3508;p191"/>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509" name="Google Shape;3509;p191"/>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510" name="Google Shape;3510;p191"/>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 broker business written</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 quality of broker written business  (E.g. claims / lapse rates etc.)</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Encourage and incentivize retention of broker written business at maturity</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511" name="Google Shape;3511;p191"/>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Understanding broker behavior can improve the way in which business deals with brokers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product offerings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Provision of appropriate knowledge and training for brokers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As the business moves to diversify from the broker-customer relationship to engaging customers directly, this analysis may provide insight on how to create and develop successful customer relationships.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512" name="Google Shape;3512;p191"/>
          <p:cNvSpPr/>
          <p:nvPr/>
        </p:nvSpPr>
        <p:spPr>
          <a:xfrm>
            <a:off x="3271845" y="3802449"/>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Better understand and influence broker behavior from analysis of key measures of broker written business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segment brokers based on number of performance dimensions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segments to drive contact strategy, offers and content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513" name="Google Shape;3513;p191"/>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Broker performance – link behavior to churn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behaviors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Survival analysis, gradient-boosted churn models, retention offer optimization, value-at-risk by customer, proactive intervention triggering</a:t>
            </a:r>
          </a:p>
        </p:txBody>
      </p:sp>
      <p:sp>
        <p:nvSpPr>
          <p:cNvPr id="3514" name="Google Shape;3514;p191"/>
          <p:cNvSpPr/>
          <p:nvPr/>
        </p:nvSpPr>
        <p:spPr>
          <a:xfrm>
            <a:off x="423863" y="4025742"/>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 particularly external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515" name="Google Shape;3515;p191"/>
          <p:cNvSpPr/>
          <p:nvPr/>
        </p:nvSpPr>
        <p:spPr>
          <a:xfrm>
            <a:off x="423863" y="2387319"/>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Business log of Broker Interactions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Dataset capturing all broker interactions, including Transactions, Quotes and Management of Contracts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Additional Sources to Integrate with the Broker interactions: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Transactions performed on contracts taken from the DWH</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Call Centre Logs &amp; supporting data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Quote Information</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Website data</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Churn_Score, Balance_Withdrawal_Pattern, Account_Closure, Dormancy_Flag | Pakistan: CASA silent churn, FD non-renewal, card dormancy, salary account migration</a:t>
            </a:r>
          </a:p>
        </p:txBody>
      </p:sp>
      <p:sp>
        <p:nvSpPr>
          <p:cNvPr id="3516" name="Google Shape;3516;p191"/>
          <p:cNvSpPr/>
          <p:nvPr/>
        </p:nvSpPr>
        <p:spPr>
          <a:xfrm>
            <a:off x="423863" y="807897"/>
            <a:ext cx="4052444"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Insurance business – External Broker led</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Challenge to understand Broker Interactions as the business does not own the relationship with the policy holder</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How do brokers interact using business systems?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How do brokers make decisions on products and offerings?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What offers/advice do brokers provide customers and what is the influence on customers?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Identify most successful brokers and the differences in how they interact with customers?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Adapt for Pakistan bancassurance: customers sold insurance at account opening (often without full understanding). Pakistan insurance penetration &lt;1% — every policy retention matters.</a:t>
            </a:r>
            <a:endParaRPr/>
          </a:p>
        </p:txBody>
      </p:sp>
      <p:sp>
        <p:nvSpPr>
          <p:cNvPr id="3517" name="Google Shape;3517;p191"/>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518" name="Google Shape;3518;p191"/>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519" name="Google Shape;3519;p191"/>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Broker Introduced Insurance – Path to Churn </a:t>
            </a:r>
            <a:endParaRPr sz="2000"/>
          </a:p>
        </p:txBody>
      </p:sp>
      <p:sp>
        <p:nvSpPr>
          <p:cNvPr id="3520" name="Google Shape;3520;p19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3525" name="Shape 3525"/>
        <p:cNvGrpSpPr/>
        <p:nvPr/>
      </p:nvGrpSpPr>
      <p:grpSpPr>
        <a:xfrm>
          <a:off x="0" y="0"/>
          <a:ext cx="0" cy="0"/>
          <a:chOff x="0" y="0"/>
          <a:chExt cx="0" cy="0"/>
        </a:xfrm>
      </p:grpSpPr>
      <p:cxnSp>
        <p:nvCxnSpPr>
          <p:cNvPr id="3526" name="Google Shape;3526;p192"/>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527" name="Google Shape;3527;p192"/>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528" name="Google Shape;3528;p192"/>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529" name="Google Shape;3529;p192"/>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530" name="Google Shape;3530;p192"/>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product cross sales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More profitable customers with higher average product holdings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More loyal customers with lower dormancy and churn rates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531" name="Google Shape;3531;p192"/>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Higher model lift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Better target and response rate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More product cross-sold</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More revenue as well as customer loyalty</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Improvement target: 8-12% response rate. Never cross-sell conventional interest products to Islamic-preference customers.</a:t>
            </a:r>
            <a:endParaRPr/>
          </a:p>
        </p:txBody>
      </p:sp>
      <p:sp>
        <p:nvSpPr>
          <p:cNvPr id="3532" name="Google Shape;3532;p192"/>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increase cross sales rates to existing customers through</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Additional leads from new triggers and events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More sophisticated lead types with higher response rates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More responsive predictive models</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533" name="Google Shape;3533;p192"/>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paths and sequences of product acquisitions and activities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Association analysis to estimate the total wallet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Overlay with existing traditional model / business rule for potential uplift.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Digital acquisition funnel analytics, real-time application scoring, look-alike modeling, social media lead generation, referral program optimization</a:t>
            </a:r>
          </a:p>
        </p:txBody>
      </p:sp>
      <p:sp>
        <p:nvSpPr>
          <p:cNvPr id="3534" name="Google Shape;3534;p192"/>
          <p:cNvSpPr/>
          <p:nvPr/>
        </p:nvSpPr>
        <p:spPr>
          <a:xfrm>
            <a:off x="423863" y="3993843"/>
            <a:ext cx="2714400" cy="663236"/>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p:txBody>
      </p:sp>
      <p:sp>
        <p:nvSpPr>
          <p:cNvPr id="3535" name="Google Shape;3535;p192"/>
          <p:cNvSpPr/>
          <p:nvPr/>
        </p:nvSpPr>
        <p:spPr>
          <a:xfrm>
            <a:off x="370698"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Weblog data from public and customer website, if possible real-time interactions.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Mobile banking data from customers’ usage of mobile apps particularly mobile ibanking and payment.</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Call centre / traditional channels interaction data to identify events in customer service conversations, emails, phone banking.</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Banking transaction data for e.g. significant money flow, large ticket credit card purchases, dividend/stock income etc.</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Churn_Score, Balance_Withdrawal_Pattern, Account_Closure, Dormancy_Flag | Pakistan: CASA silent churn, FD non-renewal, card dormancy, salary account migration</a:t>
            </a:r>
          </a:p>
        </p:txBody>
      </p:sp>
      <p:sp>
        <p:nvSpPr>
          <p:cNvPr id="3536" name="Google Shape;3536;p192"/>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Cross-selling is an important aspect of banking, customers with high product holdings not only generate more revenue they are also more loyal.</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Traditional cross-sell model are business rule-based or / and derived from are logistic regression on structured data.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Additional insights from unstructured or new data  can life the existing business rule or model’s performance.</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Current cross-sell response rate &lt;5% in Pakistan banking. Key improvements: salary-event trigger (within 24 hours), Islamic preference matching, ECIB pre-screening.</a:t>
            </a:r>
            <a:endParaRPr/>
          </a:p>
        </p:txBody>
      </p:sp>
      <p:sp>
        <p:nvSpPr>
          <p:cNvPr id="3537" name="Google Shape;3537;p192"/>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538" name="Google Shape;3538;p192"/>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539" name="Google Shape;3539;p192"/>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Improving Cross-Sell Targeting </a:t>
            </a:r>
            <a:endParaRPr sz="2400"/>
          </a:p>
        </p:txBody>
      </p:sp>
      <p:sp>
        <p:nvSpPr>
          <p:cNvPr id="3540" name="Google Shape;3540;p19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4" name="Shape 3544"/>
        <p:cNvGrpSpPr/>
        <p:nvPr/>
      </p:nvGrpSpPr>
      <p:grpSpPr>
        <a:xfrm>
          <a:off x="0" y="0"/>
          <a:ext cx="0" cy="0"/>
          <a:chOff x="0" y="0"/>
          <a:chExt cx="0" cy="0"/>
        </a:xfrm>
      </p:grpSpPr>
      <p:sp>
        <p:nvSpPr>
          <p:cNvPr id="3545" name="Google Shape;3545;p193"/>
          <p:cNvSpPr txBox="1"/>
          <p:nvPr>
            <p:ph idx="1" type="body"/>
          </p:nvPr>
        </p:nvSpPr>
        <p:spPr>
          <a:xfrm>
            <a:off x="0" y="1941338"/>
            <a:ext cx="9144000" cy="1260858"/>
          </a:xfrm>
          <a:prstGeom prst="rect">
            <a:avLst/>
          </a:prstGeom>
          <a:solidFill>
            <a:schemeClr val="lt1"/>
          </a:solidFill>
          <a:ln>
            <a:noFill/>
          </a:ln>
        </p:spPr>
        <p:txBody>
          <a:bodyPr anchorCtr="1" anchor="ctr" bIns="45700" lIns="457200" spcFirstLastPara="1" rIns="457200" wrap="square" tIns="45700">
            <a:noAutofit/>
          </a:bodyPr>
          <a:lstStyle/>
          <a:p>
            <a:pPr indent="0" lvl="0" marL="0" rtl="0" algn="ctr">
              <a:lnSpc>
                <a:spcPct val="110000"/>
              </a:lnSpc>
              <a:spcBef>
                <a:spcPts val="0"/>
              </a:spcBef>
              <a:spcAft>
                <a:spcPts val="0"/>
              </a:spcAft>
              <a:buClr>
                <a:schemeClr val="accent1"/>
              </a:buClr>
              <a:buSzPts val="2200"/>
              <a:buFont typeface="Century Gothic"/>
              <a:buNone/>
            </a:pPr>
            <a:r>
              <a:rPr lang="en-GB"/>
              <a:t>Marketing and Customer Experience</a:t>
            </a:r>
            <a:br>
              <a:rPr lang="en-GB"/>
            </a:br>
            <a:r>
              <a:rPr lang="en-GB"/>
              <a:t>Use Cases</a:t>
            </a:r>
            <a:endParaRPr/>
          </a:p>
          <a:p>
            <a:pPr indent="0" lvl="0" marL="0" rtl="0" algn="ctr">
              <a:lnSpc>
                <a:spcPct val="110000"/>
              </a:lnSpc>
              <a:spcBef>
                <a:spcPts val="400"/>
              </a:spcBef>
              <a:spcAft>
                <a:spcPts val="0"/>
              </a:spcAft>
              <a:buClr>
                <a:schemeClr val="accent1"/>
              </a:buClr>
              <a:buSzPts val="2200"/>
              <a:buFont typeface="Century Gothic"/>
              <a:buNone/>
            </a:pPr>
            <a:r>
              <a:rPr lang="en-GB"/>
              <a:t>Customer Interaction Management</a:t>
            </a:r>
            <a:endParaRPr/>
          </a:p>
        </p:txBody>
      </p:sp>
      <p:sp>
        <p:nvSpPr>
          <p:cNvPr id="3546" name="Google Shape;3546;p193"/>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chemeClr val="lt1"/>
              </a:buClr>
              <a:buSzPts val="700"/>
              <a:buFont typeface="Century Gothic"/>
              <a:buNone/>
            </a:pPr>
            <a:r>
              <a:t/>
            </a:r>
            <a:endParaRP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3551" name="Shape 3551"/>
        <p:cNvGrpSpPr/>
        <p:nvPr/>
      </p:nvGrpSpPr>
      <p:grpSpPr>
        <a:xfrm>
          <a:off x="0" y="0"/>
          <a:ext cx="0" cy="0"/>
          <a:chOff x="0" y="0"/>
          <a:chExt cx="0" cy="0"/>
        </a:xfrm>
      </p:grpSpPr>
      <p:cxnSp>
        <p:nvCxnSpPr>
          <p:cNvPr id="3552" name="Google Shape;3552;p194"/>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553" name="Google Shape;3553;p194"/>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554" name="Google Shape;3554;p194"/>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555" name="Google Shape;3555;p194"/>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556" name="Google Shape;3556;p194"/>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response to campaigns from more accurate targeting of leads and increased personalisation of offers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Identification of influencers / peer groups to target for member get member acquisition campaigns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557" name="Google Shape;3557;p194"/>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These 3 segments were matched with a customer database of one of the largest Russian retail banks. Average Hit Rata for 3 segments is about 14.5%.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At the moment, these 3 segments are transmitted to CRM division of the bank to drive targeted  X-sell campaigns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Total volume of the 3 segments approximately 340,000 customers.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558" name="Google Shape;3558;p194"/>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append customer data from 3rd party social media sites to create targeted segments for marketing purposes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create networks of people based on social media data such likes, hobbies and interests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559" name="Google Shape;3559;p194"/>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Analyze social network user’s profiles and identify the following segments: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Travelers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Restaurant’s frequent visitors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Car fans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Digital acquisition funnel analytics, real-time application scoring, look-alike modeling, social media lead generation, referral program optimization</a:t>
            </a:r>
          </a:p>
        </p:txBody>
      </p:sp>
      <p:sp>
        <p:nvSpPr>
          <p:cNvPr id="3560" name="Google Shape;3560;p194"/>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permissions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 external</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561" name="Google Shape;3561;p194"/>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6 mln. profiles of users from Vkontakte.com (internal Russian social network of Facebook.com).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Whole capacity of Vkontakte.con is about 50m users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562" name="Google Shape;3562;p194"/>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To evaluate the feasibility and effectiveness of using data from 3rd party social network providers such as Vkontakte.com  for more precise  target marketing and campaign execution. </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Pakistan social media: Facebook (45M+), Instagram (15M+), TikTok (30M+), YouTube (70M+). SBP guidelines restrict use of social data for credit decisions.</a:t>
            </a:r>
            <a:endParaRPr/>
          </a:p>
        </p:txBody>
      </p:sp>
      <p:sp>
        <p:nvSpPr>
          <p:cNvPr id="3563" name="Google Shape;3563;p194"/>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564" name="Google Shape;3564;p19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
        <p:nvSpPr>
          <p:cNvPr id="3565" name="Google Shape;3565;p194"/>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566" name="Google Shape;3566;p194"/>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Social Networks Data for Marketing Campaigns </a:t>
            </a:r>
            <a:endParaRPr sz="200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3571" name="Shape 3571"/>
        <p:cNvGrpSpPr/>
        <p:nvPr/>
      </p:nvGrpSpPr>
      <p:grpSpPr>
        <a:xfrm>
          <a:off x="0" y="0"/>
          <a:ext cx="0" cy="0"/>
          <a:chOff x="0" y="0"/>
          <a:chExt cx="0" cy="0"/>
        </a:xfrm>
      </p:grpSpPr>
      <p:cxnSp>
        <p:nvCxnSpPr>
          <p:cNvPr id="3572" name="Google Shape;3572;p195"/>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573" name="Google Shape;3573;p195"/>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574" name="Google Shape;3574;p195"/>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575" name="Google Shape;3575;p195"/>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576" name="Google Shape;3576;p195"/>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response to messages and offers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conversion and revenue</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opt outs</a:t>
            </a:r>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577" name="Google Shape;3577;p195"/>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sz="800">
              <a:solidFill>
                <a:srgbClr val="3C3C3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Business rules and models to optimize messages/offers by customer.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Better alignment of messages to channel capacity (sales agents) ability to deliver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Visualization of results</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Target: reduce opt-out rate by 40% through intelligent contact frequency management</a:t>
            </a:r>
            <a:endParaRPr sz="800">
              <a:solidFill>
                <a:srgbClr val="3C3C3B"/>
              </a:solidFill>
              <a:latin typeface="Century Gothic"/>
              <a:ea typeface="Century Gothic"/>
              <a:cs typeface="Century Gothic"/>
              <a:sym typeface="Century Gothic"/>
            </a:endParaRPr>
          </a:p>
        </p:txBody>
      </p:sp>
      <p:sp>
        <p:nvSpPr>
          <p:cNvPr id="3578" name="Google Shape;3578;p195"/>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POV 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best contacts/messages by customer and channel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Reduce conflicting messages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Eliminate unnecessary or unproductive messages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579" name="Google Shape;3579;p195"/>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Define the optimization rules for contacts, priorities, and constraints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Utilize attributes, scoring models, etc to select customers to be included in the segment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Multi-objective optimization, reinforcement learning for contact timing, fatigue scoring, cross-channel orchestration, real-time suppression rules</a:t>
            </a:r>
          </a:p>
        </p:txBody>
      </p:sp>
      <p:sp>
        <p:nvSpPr>
          <p:cNvPr id="3580" name="Google Shape;3580;p195"/>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Balancing number of contacts with sales potential</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Prioritizing “best” contacts or messages for customer s</a:t>
            </a:r>
            <a:endParaRPr/>
          </a:p>
        </p:txBody>
      </p:sp>
      <p:sp>
        <p:nvSpPr>
          <p:cNvPr id="3581" name="Google Shape;3581;p195"/>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All channel data (e.g., agent, CSR, digital, mobile, telematics, claims, etc.)</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Customer, customer interactions including transactions, marketing contacts and response</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Product information</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Offers, messages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p:txBody>
      </p:sp>
      <p:sp>
        <p:nvSpPr>
          <p:cNvPr id="3582" name="Google Shape;3582;p195"/>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There are multiple potential sales leads or messages, driven by event triggers, that can be sent to customers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Contacts need to be coordinated across channels to ensure that the customer is not contacted too frequently .and that  the channels like sales agents or call centers  can manage the number of contacts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Contacts need to  be evaluated to ensure that they don’t conflict with other contacts or messages </a:t>
            </a:r>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Solve SMS fatigue: implement unified contact management. Pakistan-specific: coordinate SBP-mandated notifications (OTP, transaction alerts) with marketing messages.</a:t>
            </a:r>
            <a:endParaRPr/>
          </a:p>
        </p:txBody>
      </p:sp>
      <p:sp>
        <p:nvSpPr>
          <p:cNvPr id="3583" name="Google Shape;3583;p195"/>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1000">
                <a:solidFill>
                  <a:schemeClr val="accent6"/>
                </a:solidFill>
                <a:latin typeface="Century Gothic"/>
                <a:ea typeface="Century Gothic"/>
                <a:cs typeface="Century Gothic"/>
                <a:sym typeface="Century Gothic"/>
              </a:rPr>
              <a:t> Large Bank</a:t>
            </a:r>
            <a:endParaRPr/>
          </a:p>
          <a:p>
            <a:pPr indent="0" lvl="0" marL="0" marR="0" rtl="0" algn="l">
              <a:spcBef>
                <a:spcPts val="0"/>
              </a:spcBef>
              <a:spcAft>
                <a:spcPts val="0"/>
              </a:spcAft>
              <a:buNone/>
            </a:pPr>
            <a:r>
              <a:t/>
            </a:r>
            <a:endParaRPr b="1" sz="10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3584" name="Google Shape;3584;p195"/>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3585" name="Google Shape;3585;p195"/>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Contact Management</a:t>
            </a:r>
            <a:endParaRPr sz="2400"/>
          </a:p>
        </p:txBody>
      </p:sp>
      <p:sp>
        <p:nvSpPr>
          <p:cNvPr id="3586" name="Google Shape;3586;p19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3591" name="Shape 3591"/>
        <p:cNvGrpSpPr/>
        <p:nvPr/>
      </p:nvGrpSpPr>
      <p:grpSpPr>
        <a:xfrm>
          <a:off x="0" y="0"/>
          <a:ext cx="0" cy="0"/>
          <a:chOff x="0" y="0"/>
          <a:chExt cx="0" cy="0"/>
        </a:xfrm>
      </p:grpSpPr>
      <p:cxnSp>
        <p:nvCxnSpPr>
          <p:cNvPr id="3592" name="Google Shape;3592;p196"/>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593" name="Google Shape;3593;p196"/>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594" name="Google Shape;3594;p196"/>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595" name="Google Shape;3595;p196"/>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596" name="Google Shape;3596;p196"/>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costs through greater proportion of customers able to self serve without the need to breakout to costly channels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sales through higher conversion from application to sale</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597" name="Google Shape;3597;p196"/>
          <p:cNvSpPr/>
          <p:nvPr/>
        </p:nvSpPr>
        <p:spPr>
          <a:xfrm>
            <a:off x="6148806" y="2504282"/>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 Customer Satisfaction &amp; loyalty by enabling them to resolve queries more quickly through any channel</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Reduce Costs and Improve Sales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By routing queries to the right agents on first touch (using intelligent call routing)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By re-engineering processes that are systematically broken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Enable seamless handoff: customer starts loan application on mobile, continues at branch, gets approval via SMS</a:t>
            </a:r>
            <a:endParaRPr/>
          </a:p>
        </p:txBody>
      </p:sp>
      <p:sp>
        <p:nvSpPr>
          <p:cNvPr id="3598" name="Google Shape;3598;p196"/>
          <p:cNvSpPr/>
          <p:nvPr/>
        </p:nvSpPr>
        <p:spPr>
          <a:xfrm>
            <a:off x="3271845" y="4015109"/>
            <a:ext cx="2715336" cy="818741"/>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New insights generated to allow optimisation (redesign, automate, multi-channel enablement, fix broken steps) of omni-channel sales and service processes</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599" name="Google Shape;3599;p196"/>
          <p:cNvSpPr/>
          <p:nvPr/>
        </p:nvSpPr>
        <p:spPr>
          <a:xfrm>
            <a:off x="3271845" y="2504282"/>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Path and Attribution analysis in Aster to:, Understand the most common complex queries Identify the root cause of complex queries queries, Understand the cost (resourcing, customer time and NPS) of these, Rules deployed into Real Time Interaction Manager. Identify customers having problems resolving an issue as they interact Automatically route the customer to the right information on the website or call centre agent as they interact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Journey orchestration platforms, process mining on banking workflows, real-time experience scoring, predictive friction detection, A/B testing on digital channels</a:t>
            </a:r>
          </a:p>
        </p:txBody>
      </p:sp>
      <p:sp>
        <p:nvSpPr>
          <p:cNvPr id="3600" name="Google Shape;3600;p196"/>
          <p:cNvSpPr/>
          <p:nvPr/>
        </p:nvSpPr>
        <p:spPr>
          <a:xfrm>
            <a:off x="423863" y="4047008"/>
            <a:ext cx="2714400" cy="585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Can be challenging to integrate process data from different channels and systems</a:t>
            </a:r>
            <a:endParaRPr/>
          </a:p>
        </p:txBody>
      </p:sp>
      <p:sp>
        <p:nvSpPr>
          <p:cNvPr id="3601" name="Google Shape;3601;p196"/>
          <p:cNvSpPr/>
          <p:nvPr/>
        </p:nvSpPr>
        <p:spPr>
          <a:xfrm>
            <a:off x="423863" y="2504282"/>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Weblog data, Call Centre and IVR - collected using Celebrus in real time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to understand customer demographics, product holdings, transactions and interactions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Query outcomes data collected from the above</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p:txBody>
      </p:sp>
      <p:sp>
        <p:nvSpPr>
          <p:cNvPr id="3602" name="Google Shape;3602;p196"/>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Customers can interact with their FIs through multiple channels, even during a single conversation (eg, a sales or service query, complaint or claim)</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Most FIs are unable to understand the customer experience then exploit analytics in real time to smarten up these conversations, resulting in multiple inefficient handoffs and between agents and channels as the nature of the query is understood.</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challenge is to understand the most common conversation types, then optimize the real time contact strategy to deliver a better CEX</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Unify customer interaction history across branch, ATM, mobile app, internet banking, contact center, USSD, agent network, RAAST.</a:t>
            </a:r>
            <a:endParaRPr/>
          </a:p>
        </p:txBody>
      </p:sp>
      <p:sp>
        <p:nvSpPr>
          <p:cNvPr id="3603" name="Google Shape;3603;p196"/>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604" name="Google Shape;3604;p196"/>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605" name="Google Shape;3605;p196"/>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1800"/>
              <a:buFont typeface="Century Gothic"/>
              <a:buNone/>
            </a:pPr>
            <a:r>
              <a:rPr lang="en-GB" sz="1800"/>
              <a:t>Omni-Channel Customer Experience Optimization </a:t>
            </a:r>
            <a:endParaRPr sz="1800"/>
          </a:p>
        </p:txBody>
      </p:sp>
      <p:sp>
        <p:nvSpPr>
          <p:cNvPr id="3606" name="Google Shape;3606;p19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3611" name="Shape 3611"/>
        <p:cNvGrpSpPr/>
        <p:nvPr/>
      </p:nvGrpSpPr>
      <p:grpSpPr>
        <a:xfrm>
          <a:off x="0" y="0"/>
          <a:ext cx="0" cy="0"/>
          <a:chOff x="0" y="0"/>
          <a:chExt cx="0" cy="0"/>
        </a:xfrm>
      </p:grpSpPr>
      <p:cxnSp>
        <p:nvCxnSpPr>
          <p:cNvPr id="3612" name="Google Shape;3612;p197"/>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613" name="Google Shape;3613;p197"/>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614" name="Google Shape;3614;p197"/>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615" name="Google Shape;3615;p197"/>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616" name="Google Shape;3616;p197"/>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Insight led strategy to optimise channels to better meet customer needs </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Enhanced user experience for key processes and customer segments </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satisfaction</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617" name="Google Shape;3617;p197"/>
          <p:cNvSpPr/>
          <p:nvPr/>
        </p:nvSpPr>
        <p:spPr>
          <a:xfrm>
            <a:off x="6148806" y="2047063"/>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Creation of key channel behaviour micro-segmentation to drive the analysis project based 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Transactional usage segmentation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Channel value segmentation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Channel usage segmentation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value segmentation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The development of propensity models to  predict channel churn and recommend alternative channel / feature usage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618" name="Google Shape;3618;p197"/>
          <p:cNvSpPr/>
          <p:nvPr/>
        </p:nvSpPr>
        <p:spPr>
          <a:xfrm>
            <a:off x="3271845" y="4036375"/>
            <a:ext cx="2715336" cy="861393"/>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use channel behavioural micro segmentation to optimise omni-channel service offering to key customer segments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619" name="Google Shape;3619;p197"/>
          <p:cNvSpPr/>
          <p:nvPr/>
        </p:nvSpPr>
        <p:spPr>
          <a:xfrm>
            <a:off x="3271845" y="2047063"/>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Attribution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Clustering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Collaborative Filtering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Optimisation (optional)</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Dynamic micro-segmentation, ML clustering (K-means, DBSCAN), RFM + behavioral hybrid, needs-based segmentation, real-time segment migration tracking</a:t>
            </a:r>
          </a:p>
        </p:txBody>
      </p:sp>
      <p:sp>
        <p:nvSpPr>
          <p:cNvPr id="3620" name="Google Shape;3620;p197"/>
          <p:cNvSpPr/>
          <p:nvPr/>
        </p:nvSpPr>
        <p:spPr>
          <a:xfrm>
            <a:off x="423863" y="4036375"/>
            <a:ext cx="2714400" cy="705766"/>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Can be challenging to integrate process data from different channels and systems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621" name="Google Shape;3621;p197"/>
          <p:cNvSpPr/>
          <p:nvPr/>
        </p:nvSpPr>
        <p:spPr>
          <a:xfrm>
            <a:off x="423863" y="2047063"/>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Channel usage summary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Internet Banking transaction logs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Mobile Banking App  logs including geo-location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Branch usage Data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Telephony usage logs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Transactional Data – cross channel</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Activity Based Costing transaction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Product Holdings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Demographics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Geo-demographics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Profitability</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p:txBody>
      </p:sp>
      <p:sp>
        <p:nvSpPr>
          <p:cNvPr id="3622" name="Google Shape;3622;p197"/>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Multi-lines insurer/bank with multiple distribution channels needs to know which channels, its customers, agents and brokers prefer to communicate and transact business through.</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Pakistan channels: 16K+ branches, 16K+ ATMs, mobile apps, USSD, WhatsApp, 500K+ agents, call centers, internet banking — 8+ touchpoints requiring unified engagement.</a:t>
            </a:r>
            <a:endParaRPr/>
          </a:p>
        </p:txBody>
      </p:sp>
      <p:sp>
        <p:nvSpPr>
          <p:cNvPr id="3623" name="Google Shape;3623;p197"/>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John O‘Donoghue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624" name="Google Shape;3624;p197"/>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625" name="Google Shape;3625;p197"/>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Omni-Channel Customer Engagement</a:t>
            </a:r>
            <a:endParaRPr sz="2400"/>
          </a:p>
        </p:txBody>
      </p:sp>
      <p:sp>
        <p:nvSpPr>
          <p:cNvPr id="3626" name="Google Shape;3626;p19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3631" name="Shape 3631"/>
        <p:cNvGrpSpPr/>
        <p:nvPr/>
      </p:nvGrpSpPr>
      <p:grpSpPr>
        <a:xfrm>
          <a:off x="0" y="0"/>
          <a:ext cx="0" cy="0"/>
          <a:chOff x="0" y="0"/>
          <a:chExt cx="0" cy="0"/>
        </a:xfrm>
      </p:grpSpPr>
      <p:cxnSp>
        <p:nvCxnSpPr>
          <p:cNvPr id="3632" name="Google Shape;3632;p198"/>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633" name="Google Shape;3633;p198"/>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634" name="Google Shape;3634;p198"/>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635" name="Google Shape;3635;p198"/>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636" name="Google Shape;3636;p198"/>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activity and profitability</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customer loyalty from usage based offers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Differentiate account features and benefits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637" name="Google Shape;3637;p198"/>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Drive new strategic partnerships to increase both issuing and acquiring business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 customer loyalty by providing usage based offers for Credit and Debit Cards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 revenue from Merchant acquiring and Issuer interchange fee income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cases: branch proximity offers, shopping mall POS cashback, airport travel card promotion, petrol station fuel card offer</a:t>
            </a:r>
            <a:endParaRPr/>
          </a:p>
        </p:txBody>
      </p:sp>
      <p:sp>
        <p:nvSpPr>
          <p:cNvPr id="3638" name="Google Shape;3638;p198"/>
          <p:cNvSpPr/>
          <p:nvPr/>
        </p:nvSpPr>
        <p:spPr>
          <a:xfrm>
            <a:off x="3271845" y="37483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Generate insight to create new product propositions and partnerships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and prioritise most appropriate locations to pilot and roll-out location based offers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639" name="Google Shape;3639;p198"/>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Collaborative Filtering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Geo-location Visualisation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Clustering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Graph</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CLV-driven loyalty tiering, behavioral loyalty scoring, gamification analytics, reward optimization, partner ecosystem analytics</a:t>
            </a:r>
          </a:p>
        </p:txBody>
      </p:sp>
      <p:sp>
        <p:nvSpPr>
          <p:cNvPr id="3640" name="Google Shape;3640;p198"/>
          <p:cNvSpPr/>
          <p:nvPr/>
        </p:nvSpPr>
        <p:spPr>
          <a:xfrm>
            <a:off x="423863" y="3757915"/>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Some external geo-location data needs to be sourced to enable this analysis to be conducted – already available but has to be taken from BKM – POS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The geo-location data from mobile banking side needs development activity on this app – with Pozitron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641" name="Google Shape;3641;p198"/>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Card transactional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Card profitability</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Current account transactional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Mobile Banking application data including geo-location data at time of use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Mobile banking usage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residential address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Social media data – hobbies / interests / likes / following</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642" name="Google Shape;3642;p198"/>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Challenges include: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How to drive Credit and Debit card usage?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How to select Merchants to partner with for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based offers?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Which customers would suit which location based offers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Opportunity</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activity and profitability</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 loyalty customers that are multi-banked</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Pakistan telco partnerships (Jazz, Telenor, Zong, Ufone) can provide anonymized location data for targeted offers.</a:t>
            </a:r>
            <a:endParaRPr/>
          </a:p>
        </p:txBody>
      </p:sp>
      <p:sp>
        <p:nvSpPr>
          <p:cNvPr id="3643" name="Google Shape;3643;p198"/>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John O‘Donoghue</a:t>
            </a:r>
            <a:endParaRPr sz="900">
              <a:solidFill>
                <a:srgbClr val="5F6062"/>
              </a:solidFill>
              <a:latin typeface="Century Gothic"/>
              <a:ea typeface="Century Gothic"/>
              <a:cs typeface="Century Gothic"/>
              <a:sym typeface="Century Gothic"/>
            </a:endParaRPr>
          </a:p>
        </p:txBody>
      </p:sp>
      <p:sp>
        <p:nvSpPr>
          <p:cNvPr id="3644" name="Google Shape;3644;p198"/>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645" name="Google Shape;3645;p198"/>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Location Based Offers </a:t>
            </a:r>
            <a:endParaRPr sz="2400"/>
          </a:p>
        </p:txBody>
      </p:sp>
      <p:sp>
        <p:nvSpPr>
          <p:cNvPr id="3646" name="Google Shape;3646;p198"/>
          <p:cNvSpPr txBox="1"/>
          <p:nvPr/>
        </p:nvSpPr>
        <p:spPr>
          <a:xfrm>
            <a:off x="7125882" y="-999594"/>
            <a:ext cx="184666" cy="35779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t/>
            </a:r>
            <a:endParaRPr sz="1800">
              <a:solidFill>
                <a:srgbClr val="231F20"/>
              </a:solidFill>
              <a:latin typeface="Century Gothic"/>
              <a:ea typeface="Century Gothic"/>
              <a:cs typeface="Century Gothic"/>
              <a:sym typeface="Century Gothic"/>
            </a:endParaRPr>
          </a:p>
        </p:txBody>
      </p:sp>
      <p:sp>
        <p:nvSpPr>
          <p:cNvPr id="3647" name="Google Shape;3647;p19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3652" name="Shape 3652"/>
        <p:cNvGrpSpPr/>
        <p:nvPr/>
      </p:nvGrpSpPr>
      <p:grpSpPr>
        <a:xfrm>
          <a:off x="0" y="0"/>
          <a:ext cx="0" cy="0"/>
          <a:chOff x="0" y="0"/>
          <a:chExt cx="0" cy="0"/>
        </a:xfrm>
      </p:grpSpPr>
      <p:cxnSp>
        <p:nvCxnSpPr>
          <p:cNvPr id="3653" name="Google Shape;3653;p199"/>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654" name="Google Shape;3654;p199"/>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655" name="Google Shape;3655;p199"/>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656" name="Google Shape;3656;p199"/>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657" name="Google Shape;3657;p199"/>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activity and profitability</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customer loyalty from location based offers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Differentiates account features and benefits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658" name="Google Shape;3658;p199"/>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Enabling new classes of opportunities to be addressed, therefore new revenue from offers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Response rates improvement thanks to the highly relevant offers based on venue/location context, in conjunction with EDW customer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satisfaction &amp; loyalty improvements, by enhancing the image of the Bank to one that provides innovative care and advice.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659" name="Google Shape;3659;p199"/>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Generate insight to create new product propositions and partnerships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and prioritise most appropriate locations to pilot and roll-out location based offers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660" name="Google Shape;3660;p199"/>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offers/advice for relevant goods &amp; services around them or invitation to enter nearby branch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Analyze results and trends for refining future offers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ML life-stage inference from transactions, predictive life-event detection, needs-anticipation models, automated product lifecycle matching</a:t>
            </a:r>
          </a:p>
        </p:txBody>
      </p:sp>
      <p:sp>
        <p:nvSpPr>
          <p:cNvPr id="3661" name="Google Shape;3661;p199"/>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Can be challenging to deploy and execute in real time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662" name="Google Shape;3662;p199"/>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GIS location data from Telcos, mapped to nearby “spend” areas e.g. Theme Parks, Malls, Cinemas, shops, Banks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to identify who the applicants are in terms of profitability, propensities, behavior, life-stage and demographics, and the best means of re-contacting them (mobile phone apps, call, email, etc.)</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p:txBody>
      </p:sp>
      <p:sp>
        <p:nvSpPr>
          <p:cNvPr id="3663" name="Google Shape;3663;p199"/>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 collaboration with Telcos, GIS location data coming from mobiles is seen as something to take advantage of by progressive Organisations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Enables cross-selling / up-selling / retention and acquisition opportunities to make relevant offers triggered by the location of customers/prospects.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Allows joint promotion of services provided by corporate, business/SME clients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Pakistan telco-bank collaboration for GIS-based offers. Privacy consideration: SBP and PTA guidelines on location data usage.</a:t>
            </a:r>
            <a:endParaRPr/>
          </a:p>
        </p:txBody>
      </p:sp>
      <p:sp>
        <p:nvSpPr>
          <p:cNvPr id="3664" name="Google Shape;3664;p199"/>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665" name="Google Shape;3665;p199"/>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666" name="Google Shape;3666;p199"/>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1800"/>
              <a:buFont typeface="Century Gothic"/>
              <a:buNone/>
            </a:pPr>
            <a:r>
              <a:rPr lang="en-GB" sz="1800"/>
              <a:t>Real-time Customer GIS location </a:t>
            </a:r>
            <a:br>
              <a:rPr lang="en-GB" sz="1800"/>
            </a:br>
            <a:r>
              <a:rPr lang="en-GB" sz="1800"/>
              <a:t>in Collaboration with Telcos </a:t>
            </a:r>
            <a:endParaRPr sz="1800"/>
          </a:p>
        </p:txBody>
      </p:sp>
      <p:sp>
        <p:nvSpPr>
          <p:cNvPr id="3667" name="Google Shape;3667;p19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3672" name="Shape 3672"/>
        <p:cNvGrpSpPr/>
        <p:nvPr/>
      </p:nvGrpSpPr>
      <p:grpSpPr>
        <a:xfrm>
          <a:off x="0" y="0"/>
          <a:ext cx="0" cy="0"/>
          <a:chOff x="0" y="0"/>
          <a:chExt cx="0" cy="0"/>
        </a:xfrm>
      </p:grpSpPr>
      <p:cxnSp>
        <p:nvCxnSpPr>
          <p:cNvPr id="3673" name="Google Shape;3673;p200"/>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674" name="Google Shape;3674;p200"/>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675" name="Google Shape;3675;p200"/>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676" name="Google Shape;3676;p200"/>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677" name="Google Shape;3677;p200"/>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 cross sell rates/metrics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Synchronization of online ads with traditional campaign management processes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Enable business users to maintain offers and not spend too much time performing technical tasks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678" name="Google Shape;3678;p200"/>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Customers are presented with personalized, pre-qualified offers from outbound, which are re-prioritized in session as the customer navigates the pages.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Key events are captured in session and notified to other channels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679" name="Google Shape;3679;p200"/>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POV 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Leverage self-learning in improving results and the customer experience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Manage messages through an easy to use interface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Create an expandable infrastructure for messaging to all channels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680" name="Google Shape;3680;p200"/>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“Next best offer” - Cross-sell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“Retention” – Attrition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Path analysis to determine events preceding and following customer attrition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Journey orchestration platforms, process mining on banking workflows, real-time experience scoring, predictive friction detection, A/B testing on digital channels</a:t>
            </a:r>
          </a:p>
        </p:txBody>
      </p:sp>
      <p:sp>
        <p:nvSpPr>
          <p:cNvPr id="3681" name="Google Shape;3681;p200"/>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Need to leveraging all customer data not just a selected number of contextual or visitor attributes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Consensus on attributes captured and qualified messaging across business units/brands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682" name="Google Shape;3682;p200"/>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Initially deployed Celebrus to collect web data at customer level in real time which is used for analytics on the erwin by Quest platform </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Next, deployed RTIM and integrated it with Celebrus to personalize web content in session based on individual customer attributes and past behavior</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r>
              <a:rPr sz="800" i="1">
                <a:solidFill>
                  <a:srgbClr val="006699"/>
                </a:solidFill>
              </a:rPr>
              <a:t>FSDM Sources: Product_Recommendation, Cross_Sell_Score, Product_Affinity, Propensity_Model | Pakistan: CASA→FD, personal→home finance, debit→credit card, conventional→Islamic</a:t>
            </a:r>
          </a:p>
        </p:txBody>
      </p:sp>
      <p:sp>
        <p:nvSpPr>
          <p:cNvPr id="3683" name="Google Shape;3683;p200"/>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Establish a multi-year Multi Channel Contextual Marketing (MCM) program to increase sales by targeting customers as individuals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Start with the web channel and will expand to other channels (mobile/call center/branches/ATMs)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Real-time interaction management is the aspirational target for Pakistan banking — currently batch-only. First steps: real-time RAAST event triggers, mobile app in-session offers, ATM screen personalization.</a:t>
            </a:r>
            <a:endParaRPr sz="950">
              <a:solidFill>
                <a:srgbClr val="3C3C3B"/>
              </a:solidFill>
              <a:latin typeface="Century Gothic"/>
              <a:ea typeface="Century Gothic"/>
              <a:cs typeface="Century Gothic"/>
              <a:sym typeface="Century Gothic"/>
            </a:endParaRPr>
          </a:p>
        </p:txBody>
      </p:sp>
      <p:sp>
        <p:nvSpPr>
          <p:cNvPr id="3684" name="Google Shape;3684;p200"/>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Global Bank</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3685" name="Google Shape;3685;p200"/>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3686" name="Google Shape;3686;p200"/>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RTIM and Real-Time</a:t>
            </a:r>
            <a:endParaRPr sz="2400"/>
          </a:p>
        </p:txBody>
      </p:sp>
      <p:sp>
        <p:nvSpPr>
          <p:cNvPr id="3687" name="Google Shape;3687;p20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3692" name="Shape 3692"/>
        <p:cNvGrpSpPr/>
        <p:nvPr/>
      </p:nvGrpSpPr>
      <p:grpSpPr>
        <a:xfrm>
          <a:off x="0" y="0"/>
          <a:ext cx="0" cy="0"/>
          <a:chOff x="0" y="0"/>
          <a:chExt cx="0" cy="0"/>
        </a:xfrm>
      </p:grpSpPr>
      <p:cxnSp>
        <p:nvCxnSpPr>
          <p:cNvPr id="3693" name="Google Shape;3693;p201"/>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694" name="Google Shape;3694;p201"/>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695" name="Google Shape;3695;p201"/>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696" name="Google Shape;3696;p201"/>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697" name="Google Shape;3697;p201"/>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inbound call volumes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break-outs from IVR to a call centre agent</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customer experience</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698" name="Google Shape;3698;p201"/>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of text analytics to identify the reason for the call once it has broken out from the automated IVR service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Visualisation of call reasons to allow logical grouping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The use of nPath to show the common sequences of break outs – from IVR menu options to a call centre agent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699" name="Google Shape;3699;p201"/>
          <p:cNvSpPr/>
          <p:nvPr/>
        </p:nvSpPr>
        <p:spPr>
          <a:xfrm>
            <a:off x="3271845" y="4163971"/>
            <a:ext cx="2715336" cy="875887"/>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use new insights generated to redesign processes in order to proactively reduce inbound call volumes routed to an agent by x,000 calls a year</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700" name="Google Shape;3700;p201"/>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Analysis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Journey orchestration platforms, process mining on banking workflows, real-time experience scoring, predictive friction detection, A/B testing on digital channels</a:t>
            </a:r>
          </a:p>
        </p:txBody>
      </p:sp>
      <p:sp>
        <p:nvSpPr>
          <p:cNvPr id="3701" name="Google Shape;3701;p201"/>
          <p:cNvSpPr/>
          <p:nvPr/>
        </p:nvSpPr>
        <p:spPr>
          <a:xfrm>
            <a:off x="423863" y="4163971"/>
            <a:ext cx="2714400" cy="790826"/>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Quality of text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702" name="Google Shape;3702;p201"/>
          <p:cNvSpPr/>
          <p:nvPr/>
        </p:nvSpPr>
        <p:spPr>
          <a:xfrm>
            <a:off x="445129"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IVR call centre logs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Inbound call centre logs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Call centre memo logs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Channel Contact History</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Channel Interaction Data incl</a:t>
            </a:r>
            <a:endParaRPr sz="800">
              <a:solidFill>
                <a:srgbClr val="3C3C3B"/>
              </a:solidFill>
              <a:latin typeface="Century Gothic"/>
              <a:ea typeface="Century Gothic"/>
              <a:cs typeface="Century Gothic"/>
              <a:sym typeface="Century Gothic"/>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Web / Mobile Clicks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Branch Visits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Call Centre Calls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Complaints History</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Segment membership</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Profitability</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FACT_CUSTOMER_PROFITABILITY, Profitability_KPI, Cost_To_Income, RAROC, NIM | Pakistan: SBP benchmarks, peer comparison, segment RAROC, Islamic banking profitability</a:t>
            </a:r>
          </a:p>
        </p:txBody>
      </p:sp>
      <p:sp>
        <p:nvSpPr>
          <p:cNvPr id="3703" name="Google Shape;3703;p201"/>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 a multi channel environment clients use a range of channels, switching between the web, mobile as a source of info &amp; the call centre/branch if they want to talk with a person to meet their need</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 addition they can quickly become dissatisfied with the time taken to do something within a channel, or apparent complexity of the web or IVR</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It is difficult for organizations to fully understand this abandonment/channel switching behavior &amp; improve processes to address the issues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Analyze IVR breakout patterns — when customers press 0 to speak to agent, what were they trying to do? Urdu IVR optimization — many customers struggle with English-only IVR menus.</a:t>
            </a:r>
            <a:endParaRPr/>
          </a:p>
        </p:txBody>
      </p:sp>
      <p:sp>
        <p:nvSpPr>
          <p:cNvPr id="3704" name="Google Shape;3704;p201"/>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John O‘Donoghue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705" name="Google Shape;3705;p201"/>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706" name="Google Shape;3706;p201"/>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Web/IVR Breakout </a:t>
            </a:r>
            <a:endParaRPr sz="2400"/>
          </a:p>
        </p:txBody>
      </p:sp>
      <p:sp>
        <p:nvSpPr>
          <p:cNvPr id="3707" name="Google Shape;3707;p20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3712" name="Shape 3712"/>
        <p:cNvGrpSpPr/>
        <p:nvPr/>
      </p:nvGrpSpPr>
      <p:grpSpPr>
        <a:xfrm>
          <a:off x="0" y="0"/>
          <a:ext cx="0" cy="0"/>
          <a:chOff x="0" y="0"/>
          <a:chExt cx="0" cy="0"/>
        </a:xfrm>
      </p:grpSpPr>
      <p:cxnSp>
        <p:nvCxnSpPr>
          <p:cNvPr id="3713" name="Google Shape;3713;p202"/>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714" name="Google Shape;3714;p202"/>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715" name="Google Shape;3715;p202"/>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716" name="Google Shape;3716;p202"/>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717" name="Google Shape;3717;p202"/>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cost and time of resolving complaint cases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Prioritization of expert resource on most important cases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customer satisfaction from ability to highlight emerging service issues and take action before they become systemic problems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718" name="Google Shape;3718;p202"/>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how to address complaints, which to focus on first.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Auto categorization of inbound email complaints would enable complaints to be streamed to SME's to improve efficiency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Understand true cost of complaint handling and rework by complaint type Use to justify right level of resources to remove original cause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Understand individual complaint handler performance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719" name="Google Shape;3719;p202"/>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successfully auto categorize complaint cases (accuracy &gt; 70 %) for a number of operational purposes  such as reporting, routing or prioritization</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720" name="Google Shape;3720;p202"/>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Sessionise data to identify the initial and subsequent complaint resolution process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&amp; graphing to identify all steps in the resolution process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analytics to uncover the sentiment within client and agent notes/conversations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Interactive executive dashboards, self-service analytics, automated commentary generation, predictive performance alerts, board-level reporting automation</a:t>
            </a:r>
          </a:p>
        </p:txBody>
      </p:sp>
      <p:sp>
        <p:nvSpPr>
          <p:cNvPr id="3721" name="Google Shape;3721;p202"/>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Quality of text data</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722" name="Google Shape;3722;p202"/>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and voice data from all complaints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Agent data on which agent(s) are dealing with the complaint</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Outcome data such further complaint, client attrition, poor NPS etc</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p:txBody>
      </p:sp>
      <p:sp>
        <p:nvSpPr>
          <p:cNvPr id="3723" name="Google Shape;3723;p202"/>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When a client complains it may have a significant impact on the relationship and the issue needs to be resolved quickly and efficiently</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Analyse and systematically understand what customers are complaining about, how strongly they feel about different topics, whether there are trends in sentiment and topics.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Understand whether some agents consistently handle complaints better than others - do they resolve complaints more quickly &amp; are there fewer follow on complaints, how and why?</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SBP mandates complaint resolution within defined SLAs. Categorize per SBP Consumer Protection framework: unauthorized transactions, service charges, digital banking failures, ATM issues.</a:t>
            </a:r>
            <a:endParaRPr/>
          </a:p>
        </p:txBody>
      </p:sp>
      <p:sp>
        <p:nvSpPr>
          <p:cNvPr id="3724" name="Google Shape;3724;p202"/>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725" name="Google Shape;3725;p202"/>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726" name="Google Shape;3726;p202"/>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Complaints Process Optimisation </a:t>
            </a:r>
            <a:endParaRPr sz="2400"/>
          </a:p>
        </p:txBody>
      </p:sp>
      <p:sp>
        <p:nvSpPr>
          <p:cNvPr id="3727" name="Google Shape;3727;p20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3732" name="Shape 3732"/>
        <p:cNvGrpSpPr/>
        <p:nvPr/>
      </p:nvGrpSpPr>
      <p:grpSpPr>
        <a:xfrm>
          <a:off x="0" y="0"/>
          <a:ext cx="0" cy="0"/>
          <a:chOff x="0" y="0"/>
          <a:chExt cx="0" cy="0"/>
        </a:xfrm>
      </p:grpSpPr>
      <p:cxnSp>
        <p:nvCxnSpPr>
          <p:cNvPr id="3733" name="Google Shape;3733;p203"/>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734" name="Google Shape;3734;p203"/>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735" name="Google Shape;3735;p203"/>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736" name="Google Shape;3736;p203"/>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737" name="Google Shape;3737;p203"/>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 satisfaction and Loyalty</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Revenue and Financial goals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Site conversion</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customer and site insights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Operational excellence in site controls</a:t>
            </a:r>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738" name="Google Shape;3738;p203"/>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Provide content / keyword performance visibility and recommendations based on text mining methods collaborated with past sales and goal attainment data</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739" name="Google Shape;3739;p203"/>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POV 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RACE RELEVANT</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Recommendation of content changes and keywords to improve search results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Process definition for continued improvement to drive site conversions.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740" name="Google Shape;3740;p203"/>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Digital event Path analytics.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analytics.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Liner regression and cluster analysis for user segmentation.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sentiment analysis.</a:t>
            </a:r>
            <a:endParaRPr sz="800">
              <a:solidFill>
                <a:srgbClr val="3C3C3B"/>
              </a:solidFill>
              <a:latin typeface="Century Gothic"/>
              <a:ea typeface="Century Gothic"/>
              <a:cs typeface="Century Gothic"/>
              <a:sym typeface="Century Gothic"/>
            </a:endParaRPr>
          </a:p>
          <a:p>
            <a:r>
              <a:rPr sz="800" i="1">
                <a:solidFill>
                  <a:srgbClr val="800080"/>
                </a:solidFill>
              </a:rPr>
              <a:t>Enhanced: Complex event processing (CEP), real-time event detection, ML-driven event scoring, contextual event-offer matching, event cascade analysis</a:t>
            </a:r>
          </a:p>
        </p:txBody>
      </p:sp>
      <p:sp>
        <p:nvSpPr>
          <p:cNvPr id="3741" name="Google Shape;3741;p203"/>
          <p:cNvSpPr/>
          <p:nvPr/>
        </p:nvSpPr>
        <p:spPr>
          <a:xfrm>
            <a:off x="411714" y="3771741"/>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volumes (too much or not enough)</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Frequency of changes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Technology change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Content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Tracking data fidelity and comprehensiveness.</a:t>
            </a:r>
            <a:endParaRPr/>
          </a:p>
        </p:txBody>
      </p:sp>
      <p:sp>
        <p:nvSpPr>
          <p:cNvPr id="3742" name="Google Shape;3742;p203"/>
          <p:cNvSpPr/>
          <p:nvPr/>
        </p:nvSpPr>
        <p:spPr>
          <a:xfrm>
            <a:off x="423863" y="2378398"/>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Website structure and content.</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Search engine metadata &amp; scoring model.</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Click stream and digital event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Financial and marketing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External benchmarks (if available).</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A/B Testing results.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Voice of customer data / feedback.</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Content &amp; Feature Release schedule.</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p:txBody>
      </p:sp>
      <p:sp>
        <p:nvSpPr>
          <p:cNvPr id="3743" name="Google Shape;3743;p203"/>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Optimizing search functionality and results to achieve a site’s performance goals, drive revenue, and improve customer satisfaction.</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Improve understanding of content change impacts to metric performance.</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Drive improvements in site structure and technology decisions based on user behaviour. </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Eliminate content and keyword “trial and error” and guess approaches.</a:t>
            </a:r>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Optimize bank website internal search for Urdu and Roman Urdu queries. Most Pakistan bank websites return zero results for Urdu product searches.</a:t>
            </a:r>
            <a:endParaRPr/>
          </a:p>
        </p:txBody>
      </p:sp>
      <p:sp>
        <p:nvSpPr>
          <p:cNvPr id="3744" name="Google Shape;3744;p203"/>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Banking Industry Best Practice</a:t>
            </a:r>
            <a:endParaRPr sz="900">
              <a:solidFill>
                <a:schemeClr val="accent6"/>
              </a:solidFill>
              <a:latin typeface="Century Gothic"/>
              <a:ea typeface="Century Gothic"/>
              <a:cs typeface="Century Gothic"/>
              <a:sym typeface="Century Gothic"/>
            </a:endParaRPr>
          </a:p>
        </p:txBody>
      </p:sp>
      <p:sp>
        <p:nvSpPr>
          <p:cNvPr id="3745" name="Google Shape;3745;p203"/>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3746" name="Google Shape;3746;p203"/>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Onsite Search Engine Optimization</a:t>
            </a:r>
            <a:endParaRPr sz="2400"/>
          </a:p>
        </p:txBody>
      </p:sp>
      <p:sp>
        <p:nvSpPr>
          <p:cNvPr id="3747" name="Google Shape;3747;p20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3752" name="Shape 3752"/>
        <p:cNvGrpSpPr/>
        <p:nvPr/>
      </p:nvGrpSpPr>
      <p:grpSpPr>
        <a:xfrm>
          <a:off x="0" y="0"/>
          <a:ext cx="0" cy="0"/>
          <a:chOff x="0" y="0"/>
          <a:chExt cx="0" cy="0"/>
        </a:xfrm>
      </p:grpSpPr>
      <p:cxnSp>
        <p:nvCxnSpPr>
          <p:cNvPr id="3753" name="Google Shape;3753;p204"/>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754" name="Google Shape;3754;p204"/>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755" name="Google Shape;3755;p204"/>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756" name="Google Shape;3756;p204"/>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757" name="Google Shape;3757;p204"/>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transaction time at ATM’s – leading to reduced queue times at busy ATM’s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relevance of interaction – improving customer satisfaction of ATM service</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758" name="Google Shape;3758;p204"/>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Expected to shorten average usage time for each ATM withdrawal transaction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Enhanced customer satisfaction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759" name="Google Shape;3759;p204"/>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Generate set of rules / pattern behavior to create algorithm to populate customized amount button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Analyze accuracy of amount recommendation accepted in &gt; 75% of all withdrawal / transfer requests</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760" name="Google Shape;3760;p204"/>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the path and key characteristics of the withdrawal/transfer transaction for each targeted customer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Assign the 5 most customized buttons (withdrawal/transfer amount) to each targeted customer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Enable ATM, Internet banking and Mobile Apps can use these customized attributes to replace the current one.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Graph-based entity resolution, ML-driven fuzzy matching (Levenshtein + Jaro-Winkler), real-time CNIC dedup via API, RAAST ID integration</a:t>
            </a:r>
          </a:p>
        </p:txBody>
      </p:sp>
      <p:sp>
        <p:nvSpPr>
          <p:cNvPr id="3761" name="Google Shape;3761;p204"/>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Amount can sometimes be specific to date / time or location – these dimensions make model more complex to build and execute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762" name="Google Shape;3762;p204"/>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Historical transaction data from all channels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360 Single view data</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p:txBody>
      </p:sp>
      <p:sp>
        <p:nvSpPr>
          <p:cNvPr id="3763" name="Google Shape;3763;p204"/>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When a customer starts a withdrawal/transfer at either ATM, Internet Banking or Mobile Apps, we can customize the amount button according to customer historic transaction behavior.</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Personalize quick-transfer amounts on mobile app based on customer most frequent amounts. Pakistan specific: utility bill amounts, school fees, regular RAAST transfer amounts.</a:t>
            </a:r>
            <a:endParaRPr/>
          </a:p>
        </p:txBody>
      </p:sp>
      <p:sp>
        <p:nvSpPr>
          <p:cNvPr id="3764" name="Google Shape;3764;p204"/>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765" name="Google Shape;3765;p204"/>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766" name="Google Shape;3766;p204"/>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Customized “Amount” Button </a:t>
            </a:r>
            <a:endParaRPr sz="2400"/>
          </a:p>
        </p:txBody>
      </p:sp>
      <p:sp>
        <p:nvSpPr>
          <p:cNvPr id="3767" name="Google Shape;3767;p20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3772" name="Shape 3772"/>
        <p:cNvGrpSpPr/>
        <p:nvPr/>
      </p:nvGrpSpPr>
      <p:grpSpPr>
        <a:xfrm>
          <a:off x="0" y="0"/>
          <a:ext cx="0" cy="0"/>
          <a:chOff x="0" y="0"/>
          <a:chExt cx="0" cy="0"/>
        </a:xfrm>
      </p:grpSpPr>
      <p:cxnSp>
        <p:nvCxnSpPr>
          <p:cNvPr id="3773" name="Google Shape;3773;p205"/>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774" name="Google Shape;3774;p205"/>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775" name="Google Shape;3775;p205"/>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776" name="Google Shape;3776;p205"/>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777" name="Google Shape;3777;p205"/>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cross sales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relevance of content, contacts and offers through orchestration of customer journeys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778" name="Google Shape;3778;p205"/>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Build sales and service strategies that based on the most powerful sequences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Build scripts that reflect the sequence: ‘We saw you did x then y and wondered if we could help…’</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Create fewer, more sophisticated leads – fewer outbound calls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 response rates – better sales and service performance</a:t>
            </a:r>
            <a:endParaRPr sz="800">
              <a:solidFill>
                <a:srgbClr val="3C3C3B"/>
              </a:solidFill>
              <a:latin typeface="Century Gothic"/>
              <a:ea typeface="Century Gothic"/>
              <a:cs typeface="Century Gothic"/>
              <a:sym typeface="Century Gothic"/>
            </a:endParaRPr>
          </a:p>
        </p:txBody>
      </p:sp>
      <p:sp>
        <p:nvSpPr>
          <p:cNvPr id="3779" name="Google Shape;3779;p205"/>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identify key sequences of events to optimise NBA arbitration rules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780" name="Google Shape;3780;p205"/>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Sessionise data identify unique customer journeys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to identify all interactions and transactions leading to a product purchase (or not)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Analysis to understand which paths are more likely to lead to a desired service or sales outcome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nPath analysis on granular event sequences, Markov chain journey modeling, abandonment prediction, real-time journey intervention, cross-channel attribution</a:t>
            </a:r>
          </a:p>
        </p:txBody>
      </p:sp>
      <p:sp>
        <p:nvSpPr>
          <p:cNvPr id="3781" name="Google Shape;3781;p205"/>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Can be challenging to implement logic – especially if NBA logic executed in real time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782" name="Google Shape;3782;p205"/>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Complaint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Policy/Application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-Existing NBA Inputs (events, txns, scores)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Touchpoints Interaction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NBA Responses/Sales and Service Outcomes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NBA Text Responses</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Customer_Journey, Journey_Stage, Channel_Touchpoint, Conversion_Event | Pakistan: Account opening (branch vs Asaan Digital), loan disbursement, card activation paths</a:t>
            </a:r>
          </a:p>
        </p:txBody>
      </p:sp>
      <p:sp>
        <p:nvSpPr>
          <p:cNvPr id="3783" name="Google Shape;3783;p205"/>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NBA is already proven to generate superior response and sales conversion rates.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There is an opportunity to enhance the existing lead types by identifying the time series of events leading to a NBA outcome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Identify critical sequences of events leading to each NBA Outcome</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Islamic-aware NBA: never recommend conventional products to Islamic-preference customers. Salary-day NBA: cross-sell within 24 hours of salary credit. Ramadan NBA: Zakat, Islamic investment, charity offers.</a:t>
            </a:r>
            <a:endParaRPr/>
          </a:p>
        </p:txBody>
      </p:sp>
      <p:sp>
        <p:nvSpPr>
          <p:cNvPr id="3784" name="Google Shape;3784;p205"/>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785" name="Google Shape;3785;p205"/>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786" name="Google Shape;3786;p205"/>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Enhanced NBA Contact Strategy </a:t>
            </a:r>
            <a:endParaRPr sz="2400"/>
          </a:p>
        </p:txBody>
      </p:sp>
      <p:sp>
        <p:nvSpPr>
          <p:cNvPr id="3787" name="Google Shape;3787;p20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3792" name="Shape 3792"/>
        <p:cNvGrpSpPr/>
        <p:nvPr/>
      </p:nvGrpSpPr>
      <p:grpSpPr>
        <a:xfrm>
          <a:off x="0" y="0"/>
          <a:ext cx="0" cy="0"/>
          <a:chOff x="0" y="0"/>
          <a:chExt cx="0" cy="0"/>
        </a:xfrm>
      </p:grpSpPr>
      <p:cxnSp>
        <p:nvCxnSpPr>
          <p:cNvPr id="3793" name="Google Shape;3793;p206"/>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794" name="Google Shape;3794;p206"/>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795" name="Google Shape;3795;p206"/>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796" name="Google Shape;3796;p206"/>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797" name="Google Shape;3797;p206"/>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cross sales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relevance of content, contacts and offers through orchestration of customer journeys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798" name="Google Shape;3798;p206"/>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Increased product penetration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Increased customer ‘stickiness’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 in product revenue from interest and fee based sources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799" name="Google Shape;3799;p206"/>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generate new insights including events, behaviour and triggers that can be used in a next best product offer arbitration process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800" name="Google Shape;3800;p206"/>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Collaborative filtering analysis for product acquisition propensity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Pathing analysis to look at sequence and timeline of product take-up</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nPath analysis on granular event sequences, Markov chain journey modeling, abandonment prediction, real-time journey intervention, cross-channel attribution</a:t>
            </a:r>
          </a:p>
        </p:txBody>
      </p:sp>
      <p:sp>
        <p:nvSpPr>
          <p:cNvPr id="3801" name="Google Shape;3801;p206"/>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Maintaining models, updates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Real time capability</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802" name="Google Shape;3802;p206"/>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Derived data from models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Cards Account and Transaction</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Transacting Account and transactions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Loan Account and Transaction</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Customer_Journey, Journey_Stage, Channel_Touchpoint, Conversion_Event | Pakistan: Account opening (branch vs Asaan Digital), loan disbursement, card activation paths</a:t>
            </a:r>
          </a:p>
        </p:txBody>
      </p:sp>
      <p:sp>
        <p:nvSpPr>
          <p:cNvPr id="3803" name="Google Shape;3803;p206"/>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Understand the propensity of customers to buy additional products and services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Use customer demography, product holdings, and behavioral patterns to decide next best product to extend relationship</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 product penetration and customer revenue through relevant and timely offers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Pakistan product bundles: Salary Package (CASA + credit card + personal loan), Home Package (home finance + insurance + furnishing loan), Islamic Package (Islamic CASA + Takaful + Islamic FD), Diaspora Bundle (RDA + NPC + remittance).</a:t>
            </a:r>
            <a:endParaRPr/>
          </a:p>
        </p:txBody>
      </p:sp>
      <p:sp>
        <p:nvSpPr>
          <p:cNvPr id="3804" name="Google Shape;3804;p206"/>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805" name="Google Shape;3805;p206"/>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806" name="Google Shape;3806;p206"/>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Next Best Product Offer </a:t>
            </a:r>
            <a:endParaRPr sz="2400"/>
          </a:p>
        </p:txBody>
      </p:sp>
      <p:sp>
        <p:nvSpPr>
          <p:cNvPr id="3807" name="Google Shape;3807;p20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3812" name="Shape 3812"/>
        <p:cNvGrpSpPr/>
        <p:nvPr/>
      </p:nvGrpSpPr>
      <p:grpSpPr>
        <a:xfrm>
          <a:off x="0" y="0"/>
          <a:ext cx="0" cy="0"/>
          <a:chOff x="0" y="0"/>
          <a:chExt cx="0" cy="0"/>
        </a:xfrm>
      </p:grpSpPr>
      <p:cxnSp>
        <p:nvCxnSpPr>
          <p:cNvPr id="3813" name="Google Shape;3813;p207"/>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814" name="Google Shape;3814;p207"/>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815" name="Google Shape;3815;p207"/>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816" name="Google Shape;3816;p207"/>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817" name="Google Shape;3817;p207"/>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 average product holdings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customer retention</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Move to customer centric needs based selling (conduct risk)</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818" name="Google Shape;3818;p207"/>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of clustering to create segments of customers holding particular product groups (or bundles)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Visualisation of the different clusters of grouped product holding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of collaborative filtering to identify target customers who look similar to customer already holding product bundles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of nPath to understand sequence and elapse time of products being opened</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819" name="Google Shape;3819;p207"/>
          <p:cNvSpPr/>
          <p:nvPr/>
        </p:nvSpPr>
        <p:spPr>
          <a:xfrm>
            <a:off x="3271845" y="4025742"/>
            <a:ext cx="2715336" cy="758929"/>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Generate insight to create new product propositions as bundles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Acceptance/take up of bundles by customers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820" name="Google Shape;3820;p207"/>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Clustering (optional)</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Collaborative Filtering (optional)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 (optional)</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Survival analysis, gradient-boosted churn models, retention offer optimization, value-at-risk by customer, proactive intervention triggering</a:t>
            </a:r>
          </a:p>
        </p:txBody>
      </p:sp>
      <p:sp>
        <p:nvSpPr>
          <p:cNvPr id="3821" name="Google Shape;3821;p207"/>
          <p:cNvSpPr/>
          <p:nvPr/>
        </p:nvSpPr>
        <p:spPr>
          <a:xfrm>
            <a:off x="423863" y="4025742"/>
            <a:ext cx="2714400" cy="918417"/>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Product bundling initiatives have not been successful in the Turkish financial services market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Need to understand what  product propositions could be form logical product bundles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822" name="Google Shape;3822;p207"/>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Demographics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Product Holdings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Balance History</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Transactional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Channel Usage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Segment membership</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Profitability</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Inbound Campaign History</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Outbound Campaign History</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823" name="Google Shape;3823;p207"/>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Advanced techniques such as propensity modeling and event based marketing only work where you already have an active customer</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How do you make product recommendations when you know very little about the customer (eg, customer is inactive or holds only 1 product)</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Opportunity to make recommendations based on very little data and in a way customers will understand? (most people are familiar Amazon)</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Design bundles for Pakistan life stages: Student (education loan + debit card), Young Professional (salary account + credit card), Family (home finance + insurance + education saving).</a:t>
            </a:r>
            <a:endParaRPr/>
          </a:p>
        </p:txBody>
      </p:sp>
      <p:sp>
        <p:nvSpPr>
          <p:cNvPr id="3824" name="Google Shape;3824;p207"/>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John O‘Donoghue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825" name="Google Shape;3825;p207"/>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826" name="Google Shape;3826;p207"/>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Product Bundling </a:t>
            </a:r>
            <a:endParaRPr sz="2400"/>
          </a:p>
        </p:txBody>
      </p:sp>
      <p:sp>
        <p:nvSpPr>
          <p:cNvPr id="3827" name="Google Shape;3827;p20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3832" name="Shape 3832"/>
        <p:cNvGrpSpPr/>
        <p:nvPr/>
      </p:nvGrpSpPr>
      <p:grpSpPr>
        <a:xfrm>
          <a:off x="0" y="0"/>
          <a:ext cx="0" cy="0"/>
          <a:chOff x="0" y="0"/>
          <a:chExt cx="0" cy="0"/>
        </a:xfrm>
      </p:grpSpPr>
      <p:cxnSp>
        <p:nvCxnSpPr>
          <p:cNvPr id="3833" name="Google Shape;3833;p208"/>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834" name="Google Shape;3834;p208"/>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835" name="Google Shape;3835;p208"/>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836" name="Google Shape;3836;p208"/>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837" name="Google Shape;3837;p208"/>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card activity and spend</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share of customer’s credit card spend</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card churn and dormancy</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838" name="Google Shape;3838;p208"/>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linkage among merchants based on customers’ card usage pattern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Verify the original purpose of credit card products and develop new products fitting for customer preference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Develop Individualized Merchants Recommendation Index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839" name="Google Shape;3839;p208"/>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Creation of new credit card propositions and offers based on patterns of merchant spend behavior (E.g. cashback)</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Create analytical framework to calculate and deploy individual merchant recommendation offers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840" name="Google Shape;3840;p208"/>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C-Filters &amp; Basket Gen to understand the linkage among merchants based on credit card usage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Graph analysis to visualize interaction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Deep learning churn prediction, multi-product churn modeling, real-time churn scoring, root cause decomposition, economic value of retention</a:t>
            </a:r>
          </a:p>
        </p:txBody>
      </p:sp>
      <p:sp>
        <p:nvSpPr>
          <p:cNvPr id="3841" name="Google Shape;3841;p208"/>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Collaborating with merchants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Developing new offers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842" name="Google Shape;3842;p208"/>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Card TX data to understand customers’ individual buying behaviors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Card merchants Data  </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Churn_Score, Balance_Withdrawal_Pattern, Account_Closure, Dormancy_Flag | Pakistan: CASA silent churn, FD non-renewal, card dormancy, salary account migration</a:t>
            </a:r>
          </a:p>
        </p:txBody>
      </p:sp>
      <p:sp>
        <p:nvSpPr>
          <p:cNvPr id="3843" name="Google Shape;3843;p208"/>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 highly competitive Credit Card markets, more personalized services based on customers’ credit card usage are required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But, it was not easy to recommend to each individual the most appropriate merchants.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Also, marketers need to verify whether credit cards were properly used for original product purpose. </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Recommend merchants based on Pakistan-specific categories: grocery (Imtiaz, Chase Up), fuel (PSO, Shell), dining, mobile recharge. Partner with merchant networks for cashback offers driving card usage.</a:t>
            </a:r>
            <a:endParaRPr/>
          </a:p>
        </p:txBody>
      </p:sp>
      <p:sp>
        <p:nvSpPr>
          <p:cNvPr id="3844" name="Google Shape;3844;p208"/>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845" name="Google Shape;3845;p208"/>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846" name="Google Shape;3846;p208"/>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Individualized Merchants Recommendation  </a:t>
            </a:r>
            <a:endParaRPr sz="2000"/>
          </a:p>
        </p:txBody>
      </p:sp>
      <p:sp>
        <p:nvSpPr>
          <p:cNvPr id="3847" name="Google Shape;3847;p20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3852" name="Shape 3852"/>
        <p:cNvGrpSpPr/>
        <p:nvPr/>
      </p:nvGrpSpPr>
      <p:grpSpPr>
        <a:xfrm>
          <a:off x="0" y="0"/>
          <a:ext cx="0" cy="0"/>
          <a:chOff x="0" y="0"/>
          <a:chExt cx="0" cy="0"/>
        </a:xfrm>
      </p:grpSpPr>
      <p:cxnSp>
        <p:nvCxnSpPr>
          <p:cNvPr id="3853" name="Google Shape;3853;p209"/>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854" name="Google Shape;3854;p209"/>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855" name="Google Shape;3855;p209"/>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856" name="Google Shape;3856;p209"/>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857" name="Google Shape;3857;p209"/>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efficient marketing creative process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Manage ROI in the use of creative elements; illustration, photography, geographic location, actor, voiceover</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sales, greater brand awareness through more relevant messaging</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858" name="Google Shape;3858;p209"/>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Measuring ad effectiveness through test- separating the effects of the ad creative from that of the time, placement, repetition or age of the ad</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Using pattern matching and/or path analysis to track consumer behaviours associated with specific creative treatments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859" name="Google Shape;3859;p209"/>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POV 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Attribution Model Run Book:  Analysis Guide, Code &amp; Results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Creative Optimization Model Run Book: Analysis Guide, Code &amp; Results</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AppCenter Apps or other Visual Results deliverables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evaluate the effect of advertising creative on sales by increased engagement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860" name="Google Shape;3860;p209"/>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Attribution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Computational Optimization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Segmentation; demographic, geographic</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Pattern matching, path analysis, cluster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Temporal response analysis (wear out/survival analysis)</a:t>
            </a:r>
            <a:endParaRPr sz="800">
              <a:solidFill>
                <a:srgbClr val="3C3C3B"/>
              </a:solidFill>
              <a:latin typeface="Century Gothic"/>
              <a:ea typeface="Century Gothic"/>
              <a:cs typeface="Century Gothic"/>
              <a:sym typeface="Century Gothic"/>
            </a:endParaRPr>
          </a:p>
          <a:p>
            <a:r>
              <a:rPr sz="800" i="1">
                <a:solidFill>
                  <a:srgbClr val="800080"/>
                </a:solidFill>
              </a:rPr>
              <a:t>Enhanced: Dynamic micro-segmentation, ML clustering (K-means, DBSCAN), RFM + behavioral hybrid, needs-based segmentation, real-time segment migration tracking</a:t>
            </a:r>
          </a:p>
        </p:txBody>
      </p:sp>
      <p:sp>
        <p:nvSpPr>
          <p:cNvPr id="3861" name="Google Shape;3861;p209"/>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Creative optimization occurs before a campaign begins and  during campaign  flight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The analytics process needs to be timely, scalable, efficient and accurate due to the pace of change and number of creative treatments being executed (particularly in digital/mobile display)</a:t>
            </a:r>
            <a:endParaRPr sz="800">
              <a:solidFill>
                <a:srgbClr val="3C3C3B"/>
              </a:solidFill>
              <a:latin typeface="Century Gothic"/>
              <a:ea typeface="Century Gothic"/>
              <a:cs typeface="Century Gothic"/>
              <a:sym typeface="Century Gothic"/>
            </a:endParaRPr>
          </a:p>
        </p:txBody>
      </p:sp>
      <p:sp>
        <p:nvSpPr>
          <p:cNvPr id="3862" name="Google Shape;3862;p209"/>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Creative metadata; art, tags, Ad ID</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Creative response history; clicks, views, downloads, sales, registrations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Channel interaction data; web/mobile clicks, physical location visits, call center activity</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Brand engagement history</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Customer loyalty programs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Survey and transactional data</a:t>
            </a:r>
            <a:endParaRPr sz="800">
              <a:solidFill>
                <a:schemeClr val="dk1"/>
              </a:solidFill>
              <a:latin typeface="Century Gothic"/>
              <a:ea typeface="Century Gothic"/>
              <a:cs typeface="Century Gothic"/>
              <a:sym typeface="Century Gothic"/>
            </a:endParaRPr>
          </a:p>
        </p:txBody>
      </p:sp>
      <p:sp>
        <p:nvSpPr>
          <p:cNvPr id="3863" name="Google Shape;3863;p209"/>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Close to 60% of marketers expect to include creative optimization as a standard component of display ad plans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Marketers need to understand which creative elements, changes or length of exposure is driving greater response to their message or awareness of their brands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Marketers want to predict response to specific creative treatments by geographic or demographic target segments</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Test Urdu vs. English vs. bilingual creative across digital channels. Optimize for Pakistan mobile-first audience: vertical video, short-form content, WhatsApp-compatible formats.</a:t>
            </a:r>
            <a:endParaRPr sz="950">
              <a:solidFill>
                <a:srgbClr val="3C3C3B"/>
              </a:solidFill>
              <a:latin typeface="Century Gothic"/>
              <a:ea typeface="Century Gothic"/>
              <a:cs typeface="Century Gothic"/>
              <a:sym typeface="Century Gothic"/>
            </a:endParaRPr>
          </a:p>
        </p:txBody>
      </p:sp>
      <p:sp>
        <p:nvSpPr>
          <p:cNvPr id="3864" name="Google Shape;3864;p209"/>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Banking Industry Best Practice</a:t>
            </a:r>
            <a:endParaRPr sz="900">
              <a:solidFill>
                <a:schemeClr val="accent6"/>
              </a:solidFill>
              <a:latin typeface="Century Gothic"/>
              <a:ea typeface="Century Gothic"/>
              <a:cs typeface="Century Gothic"/>
              <a:sym typeface="Century Gothic"/>
            </a:endParaRPr>
          </a:p>
        </p:txBody>
      </p:sp>
      <p:sp>
        <p:nvSpPr>
          <p:cNvPr id="3865" name="Google Shape;3865;p209"/>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3866" name="Google Shape;3866;p209"/>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Advertising Creative Optimization</a:t>
            </a:r>
            <a:endParaRPr sz="2400"/>
          </a:p>
        </p:txBody>
      </p:sp>
      <p:sp>
        <p:nvSpPr>
          <p:cNvPr id="3867" name="Google Shape;3867;p20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3872" name="Shape 3872"/>
        <p:cNvGrpSpPr/>
        <p:nvPr/>
      </p:nvGrpSpPr>
      <p:grpSpPr>
        <a:xfrm>
          <a:off x="0" y="0"/>
          <a:ext cx="0" cy="0"/>
          <a:chOff x="0" y="0"/>
          <a:chExt cx="0" cy="0"/>
        </a:xfrm>
      </p:grpSpPr>
      <p:cxnSp>
        <p:nvCxnSpPr>
          <p:cNvPr id="3873" name="Google Shape;3873;p210"/>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874" name="Google Shape;3874;p210"/>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875" name="Google Shape;3875;p210"/>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876" name="Google Shape;3876;p210"/>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877" name="Google Shape;3877;p210"/>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breadth and depth of competitor intelligence improves quality of internal decision making</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Automated collection and identification of competitor activity allows internal decisions to be made faster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878" name="Google Shape;3878;p210"/>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market acceptance and market share by becoming more competitive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Optimized marketing budget by understanding which area to focus on and how much budget to allocate based on the competitions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879" name="Google Shape;3879;p210"/>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automate the collection and identification of key competitor market activity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integrate data from different sources to create a more comprehensive view of competitor activity and trends</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880" name="Google Shape;3880;p210"/>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Behavior-based segmentation to segment customers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mining to identify certain key words of competitors and their current marketing programs (e.g. Bank x and travel category). Text mining to identify market sentiment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Dynamic micro-segmentation, ML clustering (K-means, DBSCAN), RFM + behavioral hybrid, needs-based segmentation, real-time segment migration tracking</a:t>
            </a:r>
          </a:p>
        </p:txBody>
      </p:sp>
      <p:sp>
        <p:nvSpPr>
          <p:cNvPr id="3881" name="Google Shape;3881;p210"/>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Can be challenging to match different sources of 3rd party data without hard match keys. Text analytics can be utilised to perform fuzzy match on different data sources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882" name="Google Shape;3882;p210"/>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Competitors products, pricings, marketing program data from competitors websites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to identify target segment and their behavior</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Weblog data from public website (e.g. online news) on current marketing plan of the competitors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Social media data to identify market sentiment</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Pakistan: SBP published data (deposits, advances by bank), app store analytics, social media monitoring</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p:txBody>
      </p:sp>
      <p:sp>
        <p:nvSpPr>
          <p:cNvPr id="3883" name="Google Shape;3883;p210"/>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When creating marketing plans, limited information about competitors can be taken into account</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inability to have integrated, up-to-date information about competitors and their marketing programs means lack of insight &amp; analysis to protect/increase market share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challenge is capturing competitors data including their activities which are mainly available from the web</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Key competitors to track: Big 5 banks, Meezan Bank (Islamic leader), SadaPay/NayaPay (fintech), digital bank licensees.</a:t>
            </a:r>
            <a:endParaRPr/>
          </a:p>
        </p:txBody>
      </p:sp>
      <p:sp>
        <p:nvSpPr>
          <p:cNvPr id="3884" name="Google Shape;3884;p210"/>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885" name="Google Shape;3885;p210"/>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886" name="Google Shape;3886;p210"/>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Competitor Analysis </a:t>
            </a:r>
            <a:endParaRPr sz="2400"/>
          </a:p>
        </p:txBody>
      </p:sp>
      <p:sp>
        <p:nvSpPr>
          <p:cNvPr id="3887" name="Google Shape;3887;p21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3892" name="Shape 3892"/>
        <p:cNvGrpSpPr/>
        <p:nvPr/>
      </p:nvGrpSpPr>
      <p:grpSpPr>
        <a:xfrm>
          <a:off x="0" y="0"/>
          <a:ext cx="0" cy="0"/>
          <a:chOff x="0" y="0"/>
          <a:chExt cx="0" cy="0"/>
        </a:xfrm>
      </p:grpSpPr>
      <p:cxnSp>
        <p:nvCxnSpPr>
          <p:cNvPr id="3893" name="Google Shape;3893;p211"/>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894" name="Google Shape;3894;p211"/>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895" name="Google Shape;3895;p211"/>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896" name="Google Shape;3896;p211"/>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897" name="Google Shape;3897;p211"/>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ROI  from more efficient allocation of marketing budgets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metrics to optimise campaigns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More relevant marketing approaches through customers channels of choice</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898" name="Google Shape;3898;p211"/>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path analysis to analyse the sequence of events (marketing activity and interactions) leading to an outcome such as a sale of a product or service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The attribution and weighting of events leading to the desired outcome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Potential use of collaborative filtering to group similar types of media together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899" name="Google Shape;3899;p211"/>
          <p:cNvSpPr/>
          <p:nvPr/>
        </p:nvSpPr>
        <p:spPr>
          <a:xfrm>
            <a:off x="3271845" y="4068274"/>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 accuracy of attribution of activity to outcomes – especially for multi-channel / multi-step based campaigns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900" name="Google Shape;3900;p211"/>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Attribution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nPath</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Regression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Collaborative Filtering (optional)</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Journey orchestration, automated campaign optimization, dynamic journey branching, real-time trigger management, campaign attribution</a:t>
            </a:r>
          </a:p>
        </p:txBody>
      </p:sp>
      <p:sp>
        <p:nvSpPr>
          <p:cNvPr id="3901" name="Google Shape;3901;p211"/>
          <p:cNvSpPr/>
          <p:nvPr/>
        </p:nvSpPr>
        <p:spPr>
          <a:xfrm>
            <a:off x="423863" y="4068274"/>
            <a:ext cx="2714400" cy="854622"/>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case complicated to execute due to volume of data and number of diverse sources that require combining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Some hard and soft response are currently inferred</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902" name="Google Shape;3902;p211"/>
          <p:cNvSpPr/>
          <p:nvPr/>
        </p:nvSpPr>
        <p:spPr>
          <a:xfrm>
            <a:off x="402597"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Events to which attribution will be applied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Outbound Campaign History</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Inbound Campaign History</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Campaign Responses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Channel Interaction Data incl</a:t>
            </a:r>
            <a:endParaRPr sz="800">
              <a:solidFill>
                <a:srgbClr val="3C3C3B"/>
              </a:solidFill>
              <a:latin typeface="Century Gothic"/>
              <a:ea typeface="Century Gothic"/>
              <a:cs typeface="Century Gothic"/>
              <a:sym typeface="Century Gothic"/>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Web / Mobile Clicks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Branch Visits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Call Centre Calls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Balance History</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Marketing Preferences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3903" name="Google Shape;3903;p211"/>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Customers receive/gather lots of different marketing content to consider when purchasing a product</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Online… such as search results, Display ads etc.</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Offline… such as emails, TV ads, calls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When a customer responds, how do you attribute the value of the sale to all the different media?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Most companies attribute the value to the last touch, but this the other media in the process. We need to understand the contribution of all media</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Build attribution across Pakistan offline-heavy marketing mix: TV 35%, outdoor 20%, print 15%, digital 15%, direct 10%, agent 5%. Start with digital attribution (UTM tracking) then expand to cross-channel.</a:t>
            </a:r>
            <a:endParaRPr/>
          </a:p>
        </p:txBody>
      </p:sp>
      <p:sp>
        <p:nvSpPr>
          <p:cNvPr id="3904" name="Google Shape;3904;p211"/>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John O‘Donoghue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3905" name="Google Shape;3905;p211"/>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3906" name="Google Shape;3906;p211"/>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Marketing Attribution </a:t>
            </a:r>
            <a:endParaRPr sz="2400"/>
          </a:p>
        </p:txBody>
      </p:sp>
      <p:sp>
        <p:nvSpPr>
          <p:cNvPr id="3907" name="Google Shape;3907;p21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3912" name="Shape 3912"/>
        <p:cNvGrpSpPr/>
        <p:nvPr/>
      </p:nvGrpSpPr>
      <p:grpSpPr>
        <a:xfrm>
          <a:off x="0" y="0"/>
          <a:ext cx="0" cy="0"/>
          <a:chOff x="0" y="0"/>
          <a:chExt cx="0" cy="0"/>
        </a:xfrm>
      </p:grpSpPr>
      <p:cxnSp>
        <p:nvCxnSpPr>
          <p:cNvPr id="3913" name="Google Shape;3913;p212"/>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914" name="Google Shape;3914;p212"/>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3915" name="Google Shape;3915;p212"/>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3916" name="Google Shape;3916;p212"/>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917" name="Google Shape;3917;p212"/>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 non-productive spend </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Shift budget to higher return on investment (ROI) opportunities </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Optimize the impact of multi-channel campaigns </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Measure the impact of social interactions </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Drive cross channel sales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3918" name="Google Shape;3918;p212"/>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understand every interaction customers have with a company regardless of channel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identify most profitable multi-channel campaigns to maximize effectiveness and conversions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Create personalized and engaging experiences for customers across all channels improving loyalty</a:t>
            </a:r>
            <a:endParaRPr sz="800">
              <a:solidFill>
                <a:srgbClr val="3C3C3B"/>
              </a:solidFill>
              <a:latin typeface="Century Gothic"/>
              <a:ea typeface="Century Gothic"/>
              <a:cs typeface="Century Gothic"/>
              <a:sym typeface="Century Gothic"/>
            </a:endParaRPr>
          </a:p>
        </p:txBody>
      </p:sp>
      <p:sp>
        <p:nvSpPr>
          <p:cNvPr id="3919" name="Google Shape;3919;p212"/>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POV 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Race Relevant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Attribution become the foundation for optimized marketing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Plan future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Company understands which channels and promotions are contributing to success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3920" name="Google Shape;3920;p212"/>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Path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Marketing Attribution Analysis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Graph / Social Network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Predictive Analytics to identify next best offer</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Journey orchestration platforms, process mining on banking workflows, real-time experience scoring, predictive friction detection, A/B testing on digital channels</a:t>
            </a:r>
          </a:p>
        </p:txBody>
      </p:sp>
      <p:sp>
        <p:nvSpPr>
          <p:cNvPr id="3921" name="Google Shape;3921;p212"/>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Channels are monitored and managed independently making it difficult to determine multi-touch attribution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from channels, customers and transactions is not integrated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is often lacks unique identifiers </a:t>
            </a:r>
            <a:endParaRPr/>
          </a:p>
        </p:txBody>
      </p:sp>
      <p:sp>
        <p:nvSpPr>
          <p:cNvPr id="3922" name="Google Shape;3922;p212"/>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Customer interaction data from each channel </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Transaction data </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Marketing activities by channel</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r>
              <a:rPr sz="800" i="1">
                <a:solidFill>
                  <a:srgbClr val="006699"/>
                </a:solidFill>
              </a:rPr>
              <a:t>FSDM Sources: Customer_Journey, Journey_Stage, Channel_Touchpoint, Conversion_Event | Pakistan: Account opening (branch vs Asaan Digital), loan disbursement, card activation paths</a:t>
            </a:r>
          </a:p>
        </p:txBody>
      </p:sp>
      <p:sp>
        <p:nvSpPr>
          <p:cNvPr id="3923" name="Google Shape;3923;p212"/>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Companies have virtually unlimited choices for advertising placement and greater access to customers through a variety of channels. As a result, many businesses are actively shifting the balance of their marketing initiatives from outbound channels to inbound, interactive campaigns such as search, mobile apps and social media. </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This shift has created the need to understand the complete customer journey across owned, earned and paid interactions</a:t>
            </a:r>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Complement attribution with Pakistan-specific digital journey tracking: app install → first login → first transaction → product adoption, across paid and organic channels.</a:t>
            </a:r>
            <a:endParaRPr/>
          </a:p>
        </p:txBody>
      </p:sp>
      <p:sp>
        <p:nvSpPr>
          <p:cNvPr id="3924" name="Google Shape;3924;p212"/>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Large US Bank</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Jack McCush</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Sub-Cat Owner: John Carlile</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3925" name="Google Shape;3925;p212"/>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3926" name="Google Shape;3926;p212"/>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Attribution</a:t>
            </a:r>
            <a:endParaRPr sz="2400"/>
          </a:p>
        </p:txBody>
      </p:sp>
      <p:sp>
        <p:nvSpPr>
          <p:cNvPr id="3927" name="Google Shape;3927;p21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rgbClr val="FFFFFF"/>
                </a:solidFill>
                <a:latin typeface="Century Gothic"/>
                <a:ea typeface="Century Gothic"/>
                <a:cs typeface="Century Gothic"/>
                <a:sym typeface="Century Gothic"/>
              </a:rPr>
              <a:t>Customer Interaction Management</a:t>
            </a:r>
            <a:endParaRPr sz="750">
              <a:solidFill>
                <a:srgbClr val="FFFFFF"/>
              </a:solidFill>
              <a:latin typeface="Century Gothic"/>
              <a:ea typeface="Century Gothic"/>
              <a:cs typeface="Century Gothic"/>
              <a:sym typeface="Century Gothic"/>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3" name="Shape 1743"/>
        <p:cNvGrpSpPr/>
        <p:nvPr/>
      </p:nvGrpSpPr>
      <p:grpSpPr>
        <a:xfrm>
          <a:off x="0" y="0"/>
          <a:ext cx="0" cy="0"/>
          <a:chOff x="0" y="0"/>
          <a:chExt cx="0" cy="0"/>
        </a:xfrm>
      </p:grpSpPr>
      <p:pic>
        <p:nvPicPr>
          <p:cNvPr descr="CustomerEngagement.jpg" id="1744" name="Google Shape;1744;p110"/>
          <p:cNvPicPr preferRelativeResize="0"/>
          <p:nvPr/>
        </p:nvPicPr>
        <p:blipFill rotWithShape="1">
          <a:blip r:embed="rId3">
            <a:alphaModFix/>
          </a:blip>
          <a:srcRect b="36445" l="29559" r="39324" t="9151"/>
          <a:stretch/>
        </p:blipFill>
        <p:spPr>
          <a:xfrm>
            <a:off x="5281159" y="768932"/>
            <a:ext cx="3381153" cy="3944645"/>
          </a:xfrm>
          <a:prstGeom prst="rect">
            <a:avLst/>
          </a:prstGeom>
          <a:noFill/>
          <a:ln>
            <a:noFill/>
          </a:ln>
          <a:effectLst>
            <a:outerShdw blurRad="292100" rotWithShape="0" algn="tl" dir="2700000" dist="139700">
              <a:srgbClr val="333333">
                <a:alpha val="64705"/>
              </a:srgbClr>
            </a:outerShdw>
          </a:effectLst>
        </p:spPr>
      </p:pic>
      <p:sp>
        <p:nvSpPr>
          <p:cNvPr id="1745" name="Google Shape;1745;p110"/>
          <p:cNvSpPr txBox="1"/>
          <p:nvPr>
            <p:ph type="title"/>
          </p:nvPr>
        </p:nvSpPr>
        <p:spPr>
          <a:xfrm>
            <a:off x="236897" y="173736"/>
            <a:ext cx="822960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Customer Interaction Management</a:t>
            </a:r>
            <a:br>
              <a:rPr lang="en-GB"/>
            </a:br>
            <a:endParaRPr/>
          </a:p>
        </p:txBody>
      </p:sp>
      <p:sp>
        <p:nvSpPr>
          <p:cNvPr id="1746" name="Google Shape;1746;p110"/>
          <p:cNvSpPr/>
          <p:nvPr/>
        </p:nvSpPr>
        <p:spPr>
          <a:xfrm>
            <a:off x="286016" y="2246919"/>
            <a:ext cx="4664217" cy="2597634"/>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None/>
            </a:pPr>
            <a:r>
              <a:rPr lang="en-GB" sz="1800">
                <a:solidFill>
                  <a:schemeClr val="dk2"/>
                </a:solidFill>
                <a:latin typeface="Century Gothic"/>
                <a:ea typeface="Century Gothic"/>
                <a:cs typeface="Century Gothic"/>
                <a:sym typeface="Century Gothic"/>
              </a:rPr>
              <a:t>Why is it important</a:t>
            </a:r>
            <a:endParaRPr/>
          </a:p>
          <a:p>
            <a:pPr indent="-285750" lvl="0" marL="285750" marR="0" rtl="0" algn="l">
              <a:lnSpc>
                <a:spcPct val="110000"/>
              </a:lnSpc>
              <a:spcBef>
                <a:spcPts val="0"/>
              </a:spcBef>
              <a:spcAft>
                <a:spcPts val="0"/>
              </a:spcAft>
              <a:buClr>
                <a:schemeClr val="dk1"/>
              </a:buClr>
              <a:buSzPts val="1300"/>
              <a:buFont typeface="Arial"/>
              <a:buChar char="•"/>
            </a:pPr>
            <a:r>
              <a:rPr lang="en-GB" sz="1300">
                <a:solidFill>
                  <a:schemeClr val="dk1"/>
                </a:solidFill>
                <a:latin typeface="Century Gothic"/>
                <a:ea typeface="Century Gothic"/>
                <a:cs typeface="Century Gothic"/>
                <a:sym typeface="Century Gothic"/>
              </a:rPr>
              <a:t>Customers expect a relevant, seamless experience and that companies will know them wherever they engage.</a:t>
            </a:r>
            <a:endParaRPr/>
          </a:p>
          <a:p>
            <a:pPr indent="-285750" lvl="0" marL="285750" marR="0" rtl="0" algn="l">
              <a:lnSpc>
                <a:spcPct val="110000"/>
              </a:lnSpc>
              <a:spcBef>
                <a:spcPts val="0"/>
              </a:spcBef>
              <a:spcAft>
                <a:spcPts val="0"/>
              </a:spcAft>
              <a:buClr>
                <a:schemeClr val="dk1"/>
              </a:buClr>
              <a:buSzPts val="1300"/>
              <a:buFont typeface="Arial"/>
              <a:buChar char="•"/>
            </a:pPr>
            <a:r>
              <a:rPr lang="en-GB" sz="1300">
                <a:solidFill>
                  <a:schemeClr val="dk1"/>
                </a:solidFill>
                <a:latin typeface="Century Gothic"/>
                <a:ea typeface="Century Gothic"/>
                <a:cs typeface="Century Gothic"/>
                <a:sym typeface="Century Gothic"/>
              </a:rPr>
              <a:t>An efficient marketing process is required to drive sales, to optimize customer experience, reduce effort, and improve customer loyalty</a:t>
            </a:r>
            <a:endParaRPr/>
          </a:p>
          <a:p>
            <a:pPr indent="-285750" lvl="0" marL="285750" marR="0" rtl="0" algn="l">
              <a:lnSpc>
                <a:spcPct val="110000"/>
              </a:lnSpc>
              <a:spcBef>
                <a:spcPts val="0"/>
              </a:spcBef>
              <a:spcAft>
                <a:spcPts val="0"/>
              </a:spcAft>
              <a:buClr>
                <a:schemeClr val="dk1"/>
              </a:buClr>
              <a:buSzPts val="1300"/>
              <a:buFont typeface="Arial"/>
              <a:buChar char="•"/>
            </a:pPr>
            <a:r>
              <a:rPr lang="en-GB" sz="1300">
                <a:solidFill>
                  <a:schemeClr val="dk1"/>
                </a:solidFill>
                <a:latin typeface="Century Gothic"/>
                <a:ea typeface="Century Gothic"/>
                <a:cs typeface="Century Gothic"/>
                <a:sym typeface="Century Gothic"/>
              </a:rPr>
              <a:t>Companies need to reduce the time from idea, to strategy to insights, and to execution. </a:t>
            </a:r>
            <a:endParaRPr/>
          </a:p>
          <a:p>
            <a:pPr indent="-285750" lvl="0" marL="285750" marR="0" rtl="0" algn="l">
              <a:lnSpc>
                <a:spcPct val="110000"/>
              </a:lnSpc>
              <a:spcBef>
                <a:spcPts val="0"/>
              </a:spcBef>
              <a:spcAft>
                <a:spcPts val="0"/>
              </a:spcAft>
              <a:buClr>
                <a:schemeClr val="dk1"/>
              </a:buClr>
              <a:buSzPts val="1300"/>
              <a:buFont typeface="Arial"/>
              <a:buChar char="•"/>
            </a:pPr>
            <a:r>
              <a:rPr lang="en-GB" sz="1300">
                <a:solidFill>
                  <a:schemeClr val="dk1"/>
                </a:solidFill>
                <a:latin typeface="Century Gothic"/>
                <a:ea typeface="Century Gothic"/>
                <a:cs typeface="Century Gothic"/>
                <a:sym typeface="Century Gothic"/>
              </a:rPr>
              <a:t>Companies need to coordinate and  automate customer contacts and messaging across channels </a:t>
            </a:r>
            <a:endParaRPr sz="1300">
              <a:solidFill>
                <a:schemeClr val="dk1"/>
              </a:solidFill>
              <a:latin typeface="Century Gothic"/>
              <a:ea typeface="Century Gothic"/>
              <a:cs typeface="Century Gothic"/>
              <a:sym typeface="Century Gothic"/>
            </a:endParaRPr>
          </a:p>
        </p:txBody>
      </p:sp>
      <p:sp>
        <p:nvSpPr>
          <p:cNvPr id="1747" name="Google Shape;1747;p110"/>
          <p:cNvSpPr/>
          <p:nvPr/>
        </p:nvSpPr>
        <p:spPr>
          <a:xfrm>
            <a:off x="0" y="764641"/>
            <a:ext cx="7205662" cy="1223647"/>
          </a:xfrm>
          <a:prstGeom prst="rect">
            <a:avLst/>
          </a:prstGeom>
          <a:solidFill>
            <a:schemeClr val="dk2">
              <a:alpha val="80000"/>
            </a:schemeClr>
          </a:solidFill>
          <a:ln>
            <a:noFill/>
          </a:ln>
        </p:spPr>
        <p:txBody>
          <a:bodyPr anchorCtr="0" anchor="ctr" bIns="91425" lIns="91425" spcFirstLastPara="1" rIns="91425" wrap="square" tIns="91425">
            <a:noAutofit/>
          </a:bodyPr>
          <a:lstStyle/>
          <a:p>
            <a:pPr indent="0" lvl="0" marL="355600" marR="0" rtl="0" algn="l">
              <a:lnSpc>
                <a:spcPct val="110000"/>
              </a:lnSpc>
              <a:spcBef>
                <a:spcPts val="0"/>
              </a:spcBef>
              <a:spcAft>
                <a:spcPts val="0"/>
              </a:spcAft>
              <a:buNone/>
            </a:pPr>
            <a:r>
              <a:rPr lang="en-GB" sz="1500">
                <a:solidFill>
                  <a:srgbClr val="FFFFFF"/>
                </a:solidFill>
                <a:latin typeface="Century Gothic"/>
                <a:ea typeface="Century Gothic"/>
                <a:cs typeface="Century Gothic"/>
                <a:sym typeface="Century Gothic"/>
              </a:rPr>
              <a:t>Customer Interaction Management delivers revenue and business efficiency by providing </a:t>
            </a:r>
            <a:r>
              <a:rPr lang="en-GB" sz="1500">
                <a:solidFill>
                  <a:schemeClr val="lt1"/>
                </a:solidFill>
                <a:latin typeface="Century Gothic"/>
                <a:ea typeface="Century Gothic"/>
                <a:cs typeface="Century Gothic"/>
                <a:sym typeface="Century Gothic"/>
              </a:rPr>
              <a:t>consistent, engaging and relevant experiences for customers.</a:t>
            </a:r>
            <a:endParaRPr sz="1500">
              <a:solidFill>
                <a:schemeClr val="lt1"/>
              </a:solidFill>
              <a:latin typeface="Century Gothic"/>
              <a:ea typeface="Century Gothic"/>
              <a:cs typeface="Century Gothic"/>
              <a:sym typeface="Century Gothic"/>
            </a:endParaRPr>
          </a:p>
        </p:txBody>
      </p:sp>
      <p:sp>
        <p:nvSpPr>
          <p:cNvPr id="1748" name="Google Shape;1748;p110">
            <a:hlinkClick action="ppaction://hlinksldjump" r:id="rId4"/>
          </p:cNvPr>
          <p:cNvSpPr/>
          <p:nvPr/>
        </p:nvSpPr>
        <p:spPr>
          <a:xfrm>
            <a:off x="6515100"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cxnSp>
        <p:nvCxnSpPr>
          <p:cNvPr id="1778" name="Google Shape;1778;p114"/>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1779" name="Google Shape;1779;p11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
        <p:nvSpPr>
          <p:cNvPr id="1780" name="Google Shape;1780;p114"/>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Communication Targeting</a:t>
            </a:r>
            <a:endParaRPr/>
          </a:p>
        </p:txBody>
      </p:sp>
      <p:graphicFrame>
        <p:nvGraphicFramePr>
          <p:cNvPr id="1781" name="Google Shape;1781;p114"/>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Create a best practice framework</a:t>
                      </a:r>
                      <a:r>
                        <a:rPr b="1" lang="en-GB" sz="900">
                          <a:solidFill>
                            <a:schemeClr val="dk1"/>
                          </a:solidFill>
                        </a:rPr>
                        <a:t> for targeting customer communications</a:t>
                      </a:r>
                      <a:endParaRPr b="1"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Create a standard </a:t>
                      </a:r>
                      <a:r>
                        <a:rPr b="0" lang="en-GB" sz="900">
                          <a:solidFill>
                            <a:schemeClr val="dk1"/>
                          </a:solidFill>
                        </a:rPr>
                        <a:t>definition of eligibility for channels, products and offers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Codify events, triggers and predictive selections based on insight and 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Create flexible, targeted audiences that can be used in campaigns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Ensure consistency is applied in the targeting of customer groups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Improve the efficiency of campaign design, build and execution</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Detailed customer, product,</a:t>
                      </a:r>
                      <a:r>
                        <a:rPr b="0" lang="en-GB" sz="900">
                          <a:solidFill>
                            <a:schemeClr val="dk1"/>
                          </a:solidFill>
                        </a:rPr>
                        <a:t> service, contact, opt in &amp;</a:t>
                      </a:r>
                      <a:r>
                        <a:rPr b="0" lang="en-GB" sz="900">
                          <a:solidFill>
                            <a:schemeClr val="dk1"/>
                          </a:solidFill>
                        </a:rPr>
                        <a:t> channel data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Standard derived data attributes that can be used to build segments – for</a:t>
                      </a:r>
                      <a:r>
                        <a:rPr b="0" lang="en-GB" sz="900">
                          <a:solidFill>
                            <a:schemeClr val="dk1"/>
                          </a:solidFill>
                        </a:rPr>
                        <a:t> use in audience selection and application of standard exclusions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Events and triggers formatted and optimized for easy selection </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Predictive model outputs formatted and optimized for easy selection </a:t>
                      </a:r>
                      <a:endParaRPr b="1" sz="900">
                        <a:solidFill>
                          <a:schemeClr val="dk1"/>
                        </a:solidFill>
                      </a:endParaRPr>
                    </a:p>
                    <a:p>
                      <a:pPr indent="0" lvl="0" marL="0" marR="0" rtl="0" algn="l">
                        <a:spcBef>
                          <a:spcPts val="0"/>
                        </a:spcBef>
                        <a:spcAft>
                          <a:spcPts val="0"/>
                        </a:spcAft>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Response</a:t>
                      </a:r>
                      <a:r>
                        <a:rPr b="0" lang="en-GB" sz="900">
                          <a:solidFill>
                            <a:schemeClr val="dk1"/>
                          </a:solidFill>
                        </a:rPr>
                        <a:t> analysis and attribute profiling to define optimum target segments, including time and channel type</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Campaign ROI reporting to select optimum cut-offs to apply to model scores / balance thresholds etc.</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Self learning analytics to automatically optimise targeting criteria</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Faster campaign design, build and execution from reuse of pre-built target segments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consistency of customer selection and targeting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maintenance overhead of managing existing communication activity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response from use of optimised target segments – refined through continuous test and learn activity.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Savings in contact costs  driven by more precise combination of message, offer, channel and time</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1782" name="Google Shape;1782;p114"/>
          <p:cNvGrpSpPr/>
          <p:nvPr/>
        </p:nvGrpSpPr>
        <p:grpSpPr>
          <a:xfrm>
            <a:off x="6659508" y="225152"/>
            <a:ext cx="2432605" cy="1508418"/>
            <a:chOff x="6030133" y="723902"/>
            <a:chExt cx="2432605" cy="1508418"/>
          </a:xfrm>
        </p:grpSpPr>
        <p:sp>
          <p:nvSpPr>
            <p:cNvPr id="1783" name="Google Shape;1783;p114"/>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1784" name="Google Shape;1784;p114"/>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785" name="Google Shape;1785;p114"/>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786" name="Google Shape;1786;p114"/>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787" name="Google Shape;1787;p114"/>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788" name="Google Shape;1788;p114"/>
            <p:cNvGrpSpPr/>
            <p:nvPr/>
          </p:nvGrpSpPr>
          <p:grpSpPr>
            <a:xfrm>
              <a:off x="8107751" y="1342792"/>
              <a:ext cx="276507" cy="393460"/>
              <a:chOff x="6954288" y="1678075"/>
              <a:chExt cx="679456" cy="947737"/>
            </a:xfrm>
          </p:grpSpPr>
          <p:sp>
            <p:nvSpPr>
              <p:cNvPr id="1789" name="Google Shape;1789;p114"/>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790" name="Google Shape;1790;p114"/>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791" name="Google Shape;1791;p114"/>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792" name="Google Shape;1792;p114"/>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793" name="Google Shape;1793;p114"/>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1794" name="Google Shape;1794;p114"/>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795" name="Google Shape;1795;p114"/>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796" name="Google Shape;1796;p114"/>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797" name="Google Shape;1797;p114"/>
            <p:cNvGrpSpPr/>
            <p:nvPr/>
          </p:nvGrpSpPr>
          <p:grpSpPr>
            <a:xfrm>
              <a:off x="6671216" y="765814"/>
              <a:ext cx="308250" cy="494711"/>
              <a:chOff x="2125012" y="-1063625"/>
              <a:chExt cx="1420813" cy="2235201"/>
            </a:xfrm>
          </p:grpSpPr>
          <p:sp>
            <p:nvSpPr>
              <p:cNvPr id="1798" name="Google Shape;1798;p114"/>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799" name="Google Shape;1799;p114"/>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1800" name="Google Shape;1800;p114"/>
            <p:cNvGrpSpPr/>
            <p:nvPr/>
          </p:nvGrpSpPr>
          <p:grpSpPr>
            <a:xfrm>
              <a:off x="7987780" y="1794063"/>
              <a:ext cx="243489" cy="387124"/>
              <a:chOff x="6417856" y="340853"/>
              <a:chExt cx="217304" cy="589385"/>
            </a:xfrm>
          </p:grpSpPr>
          <p:sp>
            <p:nvSpPr>
              <p:cNvPr id="1801" name="Google Shape;1801;p114"/>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02" name="Google Shape;1802;p114"/>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803" name="Google Shape;1803;p114"/>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1804" name="Google Shape;1804;p114"/>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1805" name="Google Shape;1805;p114"/>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06" name="Google Shape;1806;p114"/>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1807" name="Google Shape;1807;p114"/>
          <p:cNvGrpSpPr/>
          <p:nvPr/>
        </p:nvGrpSpPr>
        <p:grpSpPr>
          <a:xfrm>
            <a:off x="7717533" y="4360377"/>
            <a:ext cx="1058348" cy="347375"/>
            <a:chOff x="7651698" y="4287227"/>
            <a:chExt cx="1058348" cy="347375"/>
          </a:xfrm>
        </p:grpSpPr>
        <p:grpSp>
          <p:nvGrpSpPr>
            <p:cNvPr id="1808" name="Google Shape;1808;p114"/>
            <p:cNvGrpSpPr/>
            <p:nvPr/>
          </p:nvGrpSpPr>
          <p:grpSpPr>
            <a:xfrm>
              <a:off x="7714163" y="4337598"/>
              <a:ext cx="995883" cy="297004"/>
              <a:chOff x="7711013" y="3986494"/>
              <a:chExt cx="995883" cy="297004"/>
            </a:xfrm>
          </p:grpSpPr>
          <p:sp>
            <p:nvSpPr>
              <p:cNvPr id="1809" name="Google Shape;1809;p11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810" name="Google Shape;1810;p114"/>
              <p:cNvGrpSpPr/>
              <p:nvPr/>
            </p:nvGrpSpPr>
            <p:grpSpPr>
              <a:xfrm>
                <a:off x="7711013" y="4002615"/>
                <a:ext cx="281520" cy="241973"/>
                <a:chOff x="5652748" y="4066000"/>
                <a:chExt cx="906498" cy="747974"/>
              </a:xfrm>
            </p:grpSpPr>
            <p:sp>
              <p:nvSpPr>
                <p:cNvPr id="1811" name="Google Shape;1811;p11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812" name="Google Shape;1812;p11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1813" name="Google Shape;1813;p11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1814" name="Google Shape;1814;p114">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cxnSp>
        <p:nvCxnSpPr>
          <p:cNvPr id="1834" name="Google Shape;1834;p116"/>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1835" name="Google Shape;1835;p116"/>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Contact Optimization</a:t>
            </a:r>
            <a:endParaRPr/>
          </a:p>
        </p:txBody>
      </p:sp>
      <p:graphicFrame>
        <p:nvGraphicFramePr>
          <p:cNvPr id="1836" name="Google Shape;1836;p116"/>
          <p:cNvGraphicFramePr/>
          <p:nvPr/>
        </p:nvGraphicFramePr>
        <p:xfrm>
          <a:off x="414866" y="981510"/>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536600">
                <a:tc>
                  <a:txBody>
                    <a:bodyPr/>
                    <a:lstStyle/>
                    <a:p>
                      <a:pPr indent="0" lvl="0" marL="0" marR="0" rtl="0" algn="l">
                        <a:spcBef>
                          <a:spcPts val="0"/>
                        </a:spcBef>
                        <a:spcAft>
                          <a:spcPts val="0"/>
                        </a:spcAft>
                        <a:buNone/>
                      </a:pPr>
                      <a:r>
                        <a:rPr b="1" lang="en-GB" sz="900">
                          <a:solidFill>
                            <a:schemeClr val="dk1"/>
                          </a:solidFill>
                        </a:rPr>
                        <a:t>Create a contact policy framework to regulate the interactions and</a:t>
                      </a:r>
                      <a:r>
                        <a:rPr b="1" lang="en-GB" sz="900">
                          <a:solidFill>
                            <a:schemeClr val="dk1"/>
                          </a:solidFill>
                        </a:rPr>
                        <a:t> </a:t>
                      </a:r>
                      <a:r>
                        <a:rPr b="1" lang="en-GB" sz="900">
                          <a:solidFill>
                            <a:schemeClr val="dk1"/>
                          </a:solidFill>
                        </a:rPr>
                        <a:t>contacts</a:t>
                      </a:r>
                      <a:r>
                        <a:rPr b="1" lang="en-GB" sz="900">
                          <a:solidFill>
                            <a:schemeClr val="dk1"/>
                          </a:solidFill>
                        </a:rPr>
                        <a:t> </a:t>
                      </a:r>
                      <a:r>
                        <a:rPr b="1" lang="en-GB" sz="900">
                          <a:solidFill>
                            <a:schemeClr val="dk1"/>
                          </a:solidFill>
                        </a:rPr>
                        <a:t> to customers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Traditional marketing activity was</a:t>
                      </a:r>
                      <a:r>
                        <a:rPr b="0" lang="en-GB" sz="900">
                          <a:solidFill>
                            <a:schemeClr val="dk1"/>
                          </a:solidFill>
                        </a:rPr>
                        <a:t> </a:t>
                      </a:r>
                      <a:r>
                        <a:rPr b="0" lang="en-GB" sz="900">
                          <a:solidFill>
                            <a:schemeClr val="dk1"/>
                          </a:solidFill>
                        </a:rPr>
                        <a:t>product based mass market outbound contacts executed according to pre-planned and initiated agenda. In today’s customer centric world, frequency</a:t>
                      </a:r>
                      <a:r>
                        <a:rPr b="0" lang="en-GB" sz="900">
                          <a:solidFill>
                            <a:schemeClr val="dk1"/>
                          </a:solidFill>
                        </a:rPr>
                        <a:t> and recency of contacts need to match customer needs</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Employ a contact policy framework to prevent re-solicitation of the same activity</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Optimise contact based on business objectives</a:t>
                      </a:r>
                      <a:r>
                        <a:rPr b="0" lang="en-GB" sz="900">
                          <a:solidFill>
                            <a:schemeClr val="dk1"/>
                          </a:solidFill>
                        </a:rPr>
                        <a:t>, constraints and customer response</a:t>
                      </a:r>
                      <a:endParaRPr b="0" sz="900">
                        <a:solidFill>
                          <a:schemeClr val="dk1"/>
                        </a:solidFill>
                      </a:endParaRPr>
                    </a:p>
                    <a:p>
                      <a:pPr indent="-114300" lvl="0" marL="171450" marR="0" rtl="0" algn="l">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Single interaction view of the customer –consolidated view of inbound and outbound contacts by channel, customer opt-in/out data</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Lead / offer metadata detailing timestamp of contact, product / area / activity promoted and feedback data </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Customer segment / profile data used o differentiate contact rules application</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Operational process to apply contact rules based on content, channel, timeliness of offer and previous contact recency / frequency</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Ability to apply contact limiting at both a customer / subject matter level – differentiated by channel</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Ability to model the impact of applying different rule sets on activity volumes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timely customer interactions and messaging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Recency rules prevent the Customers from receiving too much activity within a short period of time – across the full range of channels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Frequency rules prevents the same activities being continuously solicited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Contact rules can apply longer suppression periods when customers are dis-satisfied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Contact rules applied through inbound less intrusive channels can be differentiated from outbound contacts – with shorter blackout periods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Timestamps allow determination of success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rate vs time of contact analysis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1837" name="Google Shape;1837;p116"/>
          <p:cNvGrpSpPr/>
          <p:nvPr/>
        </p:nvGrpSpPr>
        <p:grpSpPr>
          <a:xfrm>
            <a:off x="6659508" y="225152"/>
            <a:ext cx="2432605" cy="1508418"/>
            <a:chOff x="6030133" y="723902"/>
            <a:chExt cx="2432605" cy="1508418"/>
          </a:xfrm>
        </p:grpSpPr>
        <p:sp>
          <p:nvSpPr>
            <p:cNvPr id="1838" name="Google Shape;1838;p116"/>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1839" name="Google Shape;1839;p116"/>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40" name="Google Shape;1840;p116"/>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41" name="Google Shape;1841;p116"/>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42" name="Google Shape;1842;p116"/>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843" name="Google Shape;1843;p116"/>
            <p:cNvGrpSpPr/>
            <p:nvPr/>
          </p:nvGrpSpPr>
          <p:grpSpPr>
            <a:xfrm>
              <a:off x="8107751" y="1342792"/>
              <a:ext cx="276507" cy="393460"/>
              <a:chOff x="6954288" y="1678075"/>
              <a:chExt cx="679456" cy="947737"/>
            </a:xfrm>
          </p:grpSpPr>
          <p:sp>
            <p:nvSpPr>
              <p:cNvPr id="1844" name="Google Shape;1844;p116"/>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845" name="Google Shape;1845;p116"/>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846" name="Google Shape;1846;p116"/>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847" name="Google Shape;1847;p116"/>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848" name="Google Shape;1848;p116"/>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1849" name="Google Shape;1849;p116"/>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50" name="Google Shape;1850;p116"/>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51" name="Google Shape;1851;p116"/>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852" name="Google Shape;1852;p116"/>
            <p:cNvGrpSpPr/>
            <p:nvPr/>
          </p:nvGrpSpPr>
          <p:grpSpPr>
            <a:xfrm>
              <a:off x="6671216" y="765814"/>
              <a:ext cx="308250" cy="494711"/>
              <a:chOff x="2125012" y="-1063625"/>
              <a:chExt cx="1420813" cy="2235201"/>
            </a:xfrm>
          </p:grpSpPr>
          <p:sp>
            <p:nvSpPr>
              <p:cNvPr id="1853" name="Google Shape;1853;p116"/>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54" name="Google Shape;1854;p116"/>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1855" name="Google Shape;1855;p116"/>
            <p:cNvGrpSpPr/>
            <p:nvPr/>
          </p:nvGrpSpPr>
          <p:grpSpPr>
            <a:xfrm>
              <a:off x="7987780" y="1794063"/>
              <a:ext cx="243489" cy="387124"/>
              <a:chOff x="6417856" y="340853"/>
              <a:chExt cx="217304" cy="589385"/>
            </a:xfrm>
          </p:grpSpPr>
          <p:sp>
            <p:nvSpPr>
              <p:cNvPr id="1856" name="Google Shape;1856;p116"/>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57" name="Google Shape;1857;p116"/>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858" name="Google Shape;1858;p116"/>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1859" name="Google Shape;1859;p116"/>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1860" name="Google Shape;1860;p116"/>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61" name="Google Shape;1861;p116"/>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1862" name="Google Shape;1862;p11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1863" name="Google Shape;1863;p116"/>
          <p:cNvGrpSpPr/>
          <p:nvPr/>
        </p:nvGrpSpPr>
        <p:grpSpPr>
          <a:xfrm>
            <a:off x="7717533" y="4360377"/>
            <a:ext cx="1058348" cy="347375"/>
            <a:chOff x="7651698" y="4287227"/>
            <a:chExt cx="1058348" cy="347375"/>
          </a:xfrm>
        </p:grpSpPr>
        <p:grpSp>
          <p:nvGrpSpPr>
            <p:cNvPr id="1864" name="Google Shape;1864;p116"/>
            <p:cNvGrpSpPr/>
            <p:nvPr/>
          </p:nvGrpSpPr>
          <p:grpSpPr>
            <a:xfrm>
              <a:off x="7714163" y="4337598"/>
              <a:ext cx="995883" cy="297004"/>
              <a:chOff x="7711013" y="3986494"/>
              <a:chExt cx="995883" cy="297004"/>
            </a:xfrm>
          </p:grpSpPr>
          <p:sp>
            <p:nvSpPr>
              <p:cNvPr id="1865" name="Google Shape;1865;p11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866" name="Google Shape;1866;p116"/>
              <p:cNvGrpSpPr/>
              <p:nvPr/>
            </p:nvGrpSpPr>
            <p:grpSpPr>
              <a:xfrm>
                <a:off x="7711013" y="4002615"/>
                <a:ext cx="281520" cy="241973"/>
                <a:chOff x="5652748" y="4066000"/>
                <a:chExt cx="906498" cy="747974"/>
              </a:xfrm>
            </p:grpSpPr>
            <p:sp>
              <p:nvSpPr>
                <p:cNvPr id="1867" name="Google Shape;1867;p11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868" name="Google Shape;1868;p11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1869" name="Google Shape;1869;p11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1870" name="Google Shape;1870;p116">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9" name="Shape 1889"/>
        <p:cNvGrpSpPr/>
        <p:nvPr/>
      </p:nvGrpSpPr>
      <p:grpSpPr>
        <a:xfrm>
          <a:off x="0" y="0"/>
          <a:ext cx="0" cy="0"/>
          <a:chOff x="0" y="0"/>
          <a:chExt cx="0" cy="0"/>
        </a:xfrm>
      </p:grpSpPr>
      <p:cxnSp>
        <p:nvCxnSpPr>
          <p:cNvPr id="1890" name="Google Shape;1890;p118"/>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1891" name="Google Shape;1891;p118"/>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Response Optimization</a:t>
            </a:r>
            <a:endParaRPr sz="1600"/>
          </a:p>
        </p:txBody>
      </p:sp>
      <p:graphicFrame>
        <p:nvGraphicFramePr>
          <p:cNvPr id="1892" name="Google Shape;1892;p118"/>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200">
                          <a:solidFill>
                            <a:schemeClr val="dk2"/>
                          </a:solidFill>
                          <a:latin typeface="Century Gothic"/>
                          <a:ea typeface="Century Gothic"/>
                          <a:cs typeface="Century Gothic"/>
                          <a:sym typeface="Century Gothic"/>
                        </a:rPr>
                        <a:t>Business Objectives</a:t>
                      </a:r>
                      <a:endParaRPr b="1" sz="12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chemeClr val="dk1"/>
                        </a:buClr>
                        <a:buSzPts val="900"/>
                        <a:buFont typeface="Arial"/>
                        <a:buNone/>
                      </a:pPr>
                      <a:r>
                        <a:rPr b="1" i="0" lang="en-GB" sz="900" u="none" cap="none" strike="noStrike">
                          <a:solidFill>
                            <a:schemeClr val="dk1"/>
                          </a:solidFill>
                          <a:latin typeface="Century Gothic"/>
                          <a:ea typeface="Century Gothic"/>
                          <a:cs typeface="Century Gothic"/>
                          <a:sym typeface="Century Gothic"/>
                        </a:rPr>
                        <a:t>Optimize marketing campaigns to achieve the highest response and conversion rates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Optimize the response including multiple marketing levers like channel, timing, promotion, message, layout, pricing structures etc. </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Conduct a deep analytical driven A/B testing of marketing messages incl. a solid and segmented target group and a test group</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Collect  and consolidate the responses to enable tracking of the result with deep insights to customer initial and long term response to marketing campaigns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Feedback  results into subsequent campaigns and build an infinity loop of testing and tracking responses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Data:</a:t>
                      </a:r>
                      <a:endParaRPr/>
                    </a:p>
                    <a:p>
                      <a:pPr indent="-179388" lvl="0" marL="179388" marR="0" rtl="0" algn="l">
                        <a:spcBef>
                          <a:spcPts val="0"/>
                        </a:spcBef>
                        <a:spcAft>
                          <a:spcPts val="0"/>
                        </a:spcAft>
                        <a:buClr>
                          <a:schemeClr val="dk1"/>
                        </a:buClr>
                        <a:buSzPts val="900"/>
                        <a:buFont typeface="Arial"/>
                        <a:buChar char="•"/>
                      </a:pPr>
                      <a:r>
                        <a:rPr b="1" i="0" lang="en-GB" sz="900">
                          <a:latin typeface="Century Gothic"/>
                          <a:ea typeface="Century Gothic"/>
                          <a:cs typeface="Century Gothic"/>
                          <a:sym typeface="Century Gothic"/>
                        </a:rPr>
                        <a:t>Campaign data</a:t>
                      </a:r>
                      <a:r>
                        <a:rPr b="1" i="0" lang="en-GB" sz="900">
                          <a:latin typeface="Century Gothic"/>
                          <a:ea typeface="Century Gothic"/>
                          <a:cs typeface="Century Gothic"/>
                          <a:sym typeface="Century Gothic"/>
                        </a:rPr>
                        <a:t> </a:t>
                      </a:r>
                      <a:r>
                        <a:rPr b="0" i="0" lang="en-GB" sz="900">
                          <a:latin typeface="Century Gothic"/>
                          <a:ea typeface="Century Gothic"/>
                          <a:cs typeface="Century Gothic"/>
                          <a:sym typeface="Century Gothic"/>
                        </a:rPr>
                        <a:t>incl. channel, device, sent, read, open, etc.</a:t>
                      </a:r>
                      <a:endParaRPr/>
                    </a:p>
                    <a:p>
                      <a:pPr indent="-179388" lvl="0" marL="179388" marR="0" rtl="0" algn="l">
                        <a:spcBef>
                          <a:spcPts val="0"/>
                        </a:spcBef>
                        <a:spcAft>
                          <a:spcPts val="0"/>
                        </a:spcAft>
                        <a:buClr>
                          <a:schemeClr val="dk1"/>
                        </a:buClr>
                        <a:buSzPts val="900"/>
                        <a:buFont typeface="Arial"/>
                        <a:buChar char="•"/>
                      </a:pPr>
                      <a:r>
                        <a:rPr b="1" i="0" lang="en-GB" sz="900">
                          <a:latin typeface="Century Gothic"/>
                          <a:ea typeface="Century Gothic"/>
                          <a:cs typeface="Century Gothic"/>
                          <a:sym typeface="Century Gothic"/>
                        </a:rPr>
                        <a:t>Transaction data </a:t>
                      </a:r>
                      <a:r>
                        <a:rPr b="0" i="0" lang="en-GB" sz="900">
                          <a:latin typeface="Century Gothic"/>
                          <a:ea typeface="Century Gothic"/>
                          <a:cs typeface="Century Gothic"/>
                          <a:sym typeface="Century Gothic"/>
                        </a:rPr>
                        <a:t>incl. time, product, sales/revenue, profit</a:t>
                      </a:r>
                      <a:endParaRPr/>
                    </a:p>
                    <a:p>
                      <a:pPr indent="-179388" lvl="0" marL="179388" marR="0" rtl="0" algn="l">
                        <a:spcBef>
                          <a:spcPts val="0"/>
                        </a:spcBef>
                        <a:spcAft>
                          <a:spcPts val="0"/>
                        </a:spcAft>
                        <a:buClr>
                          <a:schemeClr val="dk1"/>
                        </a:buClr>
                        <a:buSzPts val="900"/>
                        <a:buFont typeface="Arial"/>
                        <a:buChar char="•"/>
                      </a:pPr>
                      <a:r>
                        <a:rPr b="1" i="0" lang="en-GB" sz="900">
                          <a:latin typeface="Century Gothic"/>
                          <a:ea typeface="Century Gothic"/>
                          <a:cs typeface="Century Gothic"/>
                          <a:sym typeface="Century Gothic"/>
                        </a:rPr>
                        <a:t>Customer contact history </a:t>
                      </a:r>
                      <a:r>
                        <a:rPr b="0" i="0" lang="en-GB" sz="900">
                          <a:latin typeface="Century Gothic"/>
                          <a:ea typeface="Century Gothic"/>
                          <a:cs typeface="Century Gothic"/>
                          <a:sym typeface="Century Gothic"/>
                        </a:rPr>
                        <a:t>incl. control groups</a:t>
                      </a:r>
                      <a:endParaRPr sz="900">
                        <a:latin typeface="Century Gothic"/>
                        <a:ea typeface="Century Gothic"/>
                        <a:cs typeface="Century Gothic"/>
                        <a:sym typeface="Century Gothic"/>
                      </a:endParaRPr>
                    </a:p>
                    <a:p>
                      <a:pPr indent="0" lvl="0" marL="0" marR="0" rtl="0" algn="l">
                        <a:spcBef>
                          <a:spcPts val="0"/>
                        </a:spcBef>
                        <a:spcAft>
                          <a:spcPts val="0"/>
                        </a:spcAft>
                        <a:buNone/>
                      </a:pPr>
                      <a:r>
                        <a:t/>
                      </a:r>
                      <a:endParaRPr b="1" sz="900">
                        <a:latin typeface="Century Gothic"/>
                        <a:ea typeface="Century Gothic"/>
                        <a:cs typeface="Century Gothic"/>
                        <a:sym typeface="Century Gothic"/>
                      </a:endParaRPr>
                    </a:p>
                    <a:p>
                      <a:pPr indent="0" lvl="0" marL="0" marR="0" rtl="0" algn="l">
                        <a:spcBef>
                          <a:spcPts val="0"/>
                        </a:spcBef>
                        <a:spcAft>
                          <a:spcPts val="0"/>
                        </a:spcAft>
                        <a:buNone/>
                      </a:pPr>
                      <a:r>
                        <a:rPr b="1" lang="en-GB" sz="900">
                          <a:latin typeface="Century Gothic"/>
                          <a:ea typeface="Century Gothic"/>
                          <a:cs typeface="Century Gothic"/>
                          <a:sym typeface="Century Gothic"/>
                        </a:rPr>
                        <a:t>Analytics</a:t>
                      </a:r>
                      <a:endParaRPr b="0" sz="900">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Create standard set of  marketing KPI’s  including  response rate, conversion rate , ROI trends over time</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Track  and analyze A/B testing response and utilize root cause analysis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Measure incremental value added by campaign activity</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Dashboard presentation of results with ability to drill into detail and ‘slice n dice’ activity by a number of dimensions including channel</a:t>
                      </a:r>
                      <a:endParaRPr b="0" i="0" sz="900">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b="1" i="0" lang="en-GB" sz="900">
                          <a:latin typeface="Century Gothic"/>
                          <a:ea typeface="Century Gothic"/>
                          <a:cs typeface="Century Gothic"/>
                          <a:sym typeface="Century Gothic"/>
                        </a:rPr>
                        <a:t>Drive revenue with more effective and efficient marketing campaigns </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Increase response and conversion rates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Understand key drivers and levers of  marketing performance to optimize design and personal marketing</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Re-allocate budgets to higher performing activities</a:t>
                      </a:r>
                      <a:endParaRPr sz="9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900"/>
                        <a:buFont typeface="Arial"/>
                        <a:buNone/>
                      </a:pPr>
                      <a:r>
                        <a:t/>
                      </a:r>
                      <a:endParaRPr b="1" sz="9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900"/>
                        <a:buFont typeface="Arial"/>
                        <a:buNone/>
                      </a:pPr>
                      <a:r>
                        <a:rPr b="1" lang="en-GB" sz="900">
                          <a:solidFill>
                            <a:schemeClr val="dk1"/>
                          </a:solidFill>
                          <a:latin typeface="Century Gothic"/>
                          <a:ea typeface="Century Gothic"/>
                          <a:cs typeface="Century Gothic"/>
                          <a:sym typeface="Century Gothic"/>
                        </a:rPr>
                        <a:t>Reduce costs by:</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Removing campaigns that don’t meet minimum performance thresholds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Faster identification of poor performing campaigns requiring remedial action</a:t>
                      </a:r>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1893" name="Google Shape;1893;p118"/>
          <p:cNvGrpSpPr/>
          <p:nvPr/>
        </p:nvGrpSpPr>
        <p:grpSpPr>
          <a:xfrm>
            <a:off x="6659508" y="225152"/>
            <a:ext cx="2432605" cy="1508418"/>
            <a:chOff x="6030133" y="723902"/>
            <a:chExt cx="2432605" cy="1508418"/>
          </a:xfrm>
        </p:grpSpPr>
        <p:sp>
          <p:nvSpPr>
            <p:cNvPr id="1894" name="Google Shape;1894;p118"/>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1895" name="Google Shape;1895;p118"/>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96" name="Google Shape;1896;p118"/>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97" name="Google Shape;1897;p118"/>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98" name="Google Shape;1898;p118"/>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899" name="Google Shape;1899;p118"/>
            <p:cNvGrpSpPr/>
            <p:nvPr/>
          </p:nvGrpSpPr>
          <p:grpSpPr>
            <a:xfrm>
              <a:off x="8107751" y="1342792"/>
              <a:ext cx="276507" cy="393460"/>
              <a:chOff x="6954288" y="1678075"/>
              <a:chExt cx="679456" cy="947737"/>
            </a:xfrm>
          </p:grpSpPr>
          <p:sp>
            <p:nvSpPr>
              <p:cNvPr id="1900" name="Google Shape;1900;p118"/>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01" name="Google Shape;1901;p118"/>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02" name="Google Shape;1902;p118"/>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03" name="Google Shape;1903;p118"/>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04" name="Google Shape;1904;p118"/>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1905" name="Google Shape;1905;p118"/>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06" name="Google Shape;1906;p118"/>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07" name="Google Shape;1907;p118"/>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908" name="Google Shape;1908;p118"/>
            <p:cNvGrpSpPr/>
            <p:nvPr/>
          </p:nvGrpSpPr>
          <p:grpSpPr>
            <a:xfrm>
              <a:off x="6671216" y="765814"/>
              <a:ext cx="308250" cy="494711"/>
              <a:chOff x="2125012" y="-1063625"/>
              <a:chExt cx="1420813" cy="2235201"/>
            </a:xfrm>
          </p:grpSpPr>
          <p:sp>
            <p:nvSpPr>
              <p:cNvPr id="1909" name="Google Shape;1909;p118"/>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10" name="Google Shape;1910;p118"/>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1911" name="Google Shape;1911;p118"/>
            <p:cNvGrpSpPr/>
            <p:nvPr/>
          </p:nvGrpSpPr>
          <p:grpSpPr>
            <a:xfrm>
              <a:off x="7987780" y="1794063"/>
              <a:ext cx="243489" cy="387124"/>
              <a:chOff x="6417856" y="340853"/>
              <a:chExt cx="217304" cy="589385"/>
            </a:xfrm>
          </p:grpSpPr>
          <p:sp>
            <p:nvSpPr>
              <p:cNvPr id="1912" name="Google Shape;1912;p118"/>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13" name="Google Shape;1913;p118"/>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914" name="Google Shape;1914;p118"/>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1915" name="Google Shape;1915;p118"/>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1916" name="Google Shape;1916;p118"/>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17" name="Google Shape;1917;p118"/>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1918" name="Google Shape;1918;p11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1919" name="Google Shape;1919;p118"/>
          <p:cNvGrpSpPr/>
          <p:nvPr/>
        </p:nvGrpSpPr>
        <p:grpSpPr>
          <a:xfrm>
            <a:off x="7717533" y="4360377"/>
            <a:ext cx="1058348" cy="347375"/>
            <a:chOff x="7651698" y="4287227"/>
            <a:chExt cx="1058348" cy="347375"/>
          </a:xfrm>
        </p:grpSpPr>
        <p:grpSp>
          <p:nvGrpSpPr>
            <p:cNvPr id="1920" name="Google Shape;1920;p118"/>
            <p:cNvGrpSpPr/>
            <p:nvPr/>
          </p:nvGrpSpPr>
          <p:grpSpPr>
            <a:xfrm>
              <a:off x="7714163" y="4337598"/>
              <a:ext cx="995883" cy="297004"/>
              <a:chOff x="7711013" y="3986494"/>
              <a:chExt cx="995883" cy="297004"/>
            </a:xfrm>
          </p:grpSpPr>
          <p:sp>
            <p:nvSpPr>
              <p:cNvPr id="1921" name="Google Shape;1921;p11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922" name="Google Shape;1922;p118"/>
              <p:cNvGrpSpPr/>
              <p:nvPr/>
            </p:nvGrpSpPr>
            <p:grpSpPr>
              <a:xfrm>
                <a:off x="7711013" y="4002615"/>
                <a:ext cx="281520" cy="241973"/>
                <a:chOff x="5652748" y="4066000"/>
                <a:chExt cx="906498" cy="747974"/>
              </a:xfrm>
            </p:grpSpPr>
            <p:sp>
              <p:nvSpPr>
                <p:cNvPr id="1923" name="Google Shape;1923;p11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924" name="Google Shape;1924;p11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1925" name="Google Shape;1925;p11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1926" name="Google Shape;1926;p118">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5" name="Shape 1945"/>
        <p:cNvGrpSpPr/>
        <p:nvPr/>
      </p:nvGrpSpPr>
      <p:grpSpPr>
        <a:xfrm>
          <a:off x="0" y="0"/>
          <a:ext cx="0" cy="0"/>
          <a:chOff x="0" y="0"/>
          <a:chExt cx="0" cy="0"/>
        </a:xfrm>
      </p:grpSpPr>
      <p:cxnSp>
        <p:nvCxnSpPr>
          <p:cNvPr id="1946" name="Google Shape;1946;p120"/>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1947" name="Google Shape;1947;p120"/>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Cross Channel Customer Experience</a:t>
            </a:r>
            <a:endParaRPr/>
          </a:p>
        </p:txBody>
      </p:sp>
      <p:graphicFrame>
        <p:nvGraphicFramePr>
          <p:cNvPr id="1948" name="Google Shape;1948;p120"/>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Develop appropriate and cost effective cross</a:t>
                      </a:r>
                      <a:r>
                        <a:rPr b="1" lang="en-GB" sz="900">
                          <a:solidFill>
                            <a:schemeClr val="dk1"/>
                          </a:solidFill>
                        </a:rPr>
                        <a:t> channel communication and interactions</a:t>
                      </a:r>
                      <a:r>
                        <a:rPr b="1" lang="en-GB" sz="900">
                          <a:solidFill>
                            <a:schemeClr val="dk1"/>
                          </a:solidFill>
                        </a:rPr>
                        <a:t>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Allow customers to connect and interact with a wide range of channels to receive a seamless anywhere, anytime experience</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Choose the right mix of channels to engage customers in meaningful two-way dialogues across sales, service and brand building activity</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Understand the characteristics of each channel in deciding its appropriateness to enact customer communications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Develop a channel integration strategy to ensure successful execution of communication programs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t>Core customer data including contact details and preferences</a:t>
                      </a:r>
                      <a:endParaRPr/>
                    </a:p>
                    <a:p>
                      <a:pPr indent="-179388" lvl="0" marL="179388" marR="0" rtl="0" algn="l">
                        <a:spcBef>
                          <a:spcPts val="0"/>
                        </a:spcBef>
                        <a:spcAft>
                          <a:spcPts val="0"/>
                        </a:spcAft>
                        <a:buClr>
                          <a:schemeClr val="dk1"/>
                        </a:buClr>
                        <a:buSzPts val="900"/>
                        <a:buFont typeface="Arial"/>
                        <a:buChar char="•"/>
                      </a:pPr>
                      <a:r>
                        <a:rPr lang="en-GB" sz="900"/>
                        <a:t>Channel / service registrations</a:t>
                      </a:r>
                      <a:endParaRPr/>
                    </a:p>
                    <a:p>
                      <a:pPr indent="-179388" lvl="0" marL="179388" marR="0" rtl="0" algn="l">
                        <a:spcBef>
                          <a:spcPts val="0"/>
                        </a:spcBef>
                        <a:spcAft>
                          <a:spcPts val="0"/>
                        </a:spcAft>
                        <a:buClr>
                          <a:schemeClr val="dk1"/>
                        </a:buClr>
                        <a:buSzPts val="900"/>
                        <a:buFont typeface="Arial"/>
                        <a:buChar char="•"/>
                      </a:pPr>
                      <a:r>
                        <a:rPr lang="en-GB" sz="900"/>
                        <a:t>Collection of social media memberships</a:t>
                      </a:r>
                      <a:endParaRPr/>
                    </a:p>
                    <a:p>
                      <a:pPr indent="-179388" lvl="0" marL="179388" marR="0" rtl="0" algn="l">
                        <a:spcBef>
                          <a:spcPts val="0"/>
                        </a:spcBef>
                        <a:spcAft>
                          <a:spcPts val="0"/>
                        </a:spcAft>
                        <a:buClr>
                          <a:schemeClr val="dk1"/>
                        </a:buClr>
                        <a:buSzPts val="900"/>
                        <a:buFont typeface="Arial"/>
                        <a:buChar char="•"/>
                      </a:pPr>
                      <a:r>
                        <a:rPr lang="en-GB" sz="900"/>
                        <a:t>Customer channel usage data  over time</a:t>
                      </a:r>
                      <a:endParaRPr/>
                    </a:p>
                    <a:p>
                      <a:pPr indent="-179388" lvl="0" marL="179388" marR="0" rtl="0" algn="l">
                        <a:spcBef>
                          <a:spcPts val="0"/>
                        </a:spcBef>
                        <a:spcAft>
                          <a:spcPts val="0"/>
                        </a:spcAft>
                        <a:buClr>
                          <a:schemeClr val="dk1"/>
                        </a:buClr>
                        <a:buSzPts val="900"/>
                        <a:buFont typeface="Arial"/>
                        <a:buChar char="•"/>
                      </a:pPr>
                      <a:r>
                        <a:rPr lang="en-GB" sz="900"/>
                        <a:t>Customer  interactions and communication history </a:t>
                      </a:r>
                      <a:endParaRPr/>
                    </a:p>
                    <a:p>
                      <a:pPr indent="0" lvl="0" marL="0" marR="0" rtl="0" algn="l">
                        <a:spcBef>
                          <a:spcPts val="0"/>
                        </a:spcBef>
                        <a:spcAft>
                          <a:spcPts val="0"/>
                        </a:spcAft>
                        <a:buClr>
                          <a:schemeClr val="dk1"/>
                        </a:buClr>
                        <a:buSzPts val="900"/>
                        <a:buFont typeface="Arial"/>
                        <a:buNone/>
                      </a:pPr>
                      <a:r>
                        <a:rPr b="1" lang="en-GB" sz="900"/>
                        <a:t>Analytics</a:t>
                      </a:r>
                      <a:endParaRPr/>
                    </a:p>
                    <a:p>
                      <a:pPr indent="-179388" lvl="0" marL="179388" marR="0" rtl="0" algn="l">
                        <a:spcBef>
                          <a:spcPts val="0"/>
                        </a:spcBef>
                        <a:spcAft>
                          <a:spcPts val="0"/>
                        </a:spcAft>
                        <a:buClr>
                          <a:schemeClr val="dk1"/>
                        </a:buClr>
                        <a:buSzPts val="900"/>
                        <a:buFont typeface="Arial"/>
                        <a:buChar char="•"/>
                      </a:pPr>
                      <a:r>
                        <a:rPr lang="en-GB" sz="900"/>
                        <a:t>Customer pathing</a:t>
                      </a:r>
                      <a:r>
                        <a:rPr lang="en-GB" sz="900"/>
                        <a:t> and pattern</a:t>
                      </a:r>
                      <a:r>
                        <a:rPr lang="en-GB" sz="900"/>
                        <a:t> analytics to understand customer interactions</a:t>
                      </a:r>
                      <a:r>
                        <a:rPr lang="en-GB" sz="900"/>
                        <a:t> across channels and over time</a:t>
                      </a:r>
                      <a:endParaRPr sz="900"/>
                    </a:p>
                    <a:p>
                      <a:pPr indent="-179388" lvl="0" marL="179388" marR="0" rtl="0" algn="l">
                        <a:spcBef>
                          <a:spcPts val="0"/>
                        </a:spcBef>
                        <a:spcAft>
                          <a:spcPts val="0"/>
                        </a:spcAft>
                        <a:buClr>
                          <a:schemeClr val="dk1"/>
                        </a:buClr>
                        <a:buSzPts val="900"/>
                        <a:buFont typeface="Arial"/>
                        <a:buChar char="•"/>
                      </a:pPr>
                      <a:r>
                        <a:rPr lang="en-GB" sz="900"/>
                        <a:t>Recency / frequency data to understand customer channel preference</a:t>
                      </a:r>
                      <a:endParaRPr/>
                    </a:p>
                    <a:p>
                      <a:pPr indent="-179388" lvl="0" marL="179388" marR="0" rtl="0" algn="l">
                        <a:spcBef>
                          <a:spcPts val="0"/>
                        </a:spcBef>
                        <a:spcAft>
                          <a:spcPts val="0"/>
                        </a:spcAft>
                        <a:buClr>
                          <a:schemeClr val="dk1"/>
                        </a:buClr>
                        <a:buSzPts val="900"/>
                        <a:buFont typeface="Arial"/>
                        <a:buChar char="•"/>
                      </a:pPr>
                      <a:r>
                        <a:rPr lang="en-GB" sz="900"/>
                        <a:t>Channel substitution analysis to understand benefits and costs of changing customer behaviour or migrating channel usage</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Increase communication reach into your prospect and customer  base</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 customer experience by more seamless cross channel interactions </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Optimise marketing effectiveness through use of more cost effective channels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Reduced costs by encouraging customers to  self serve through  new convenient channels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Create clear development roadmap and secure budget to invest in new channels or advance the capabilities of existing channels</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1949" name="Google Shape;1949;p120"/>
          <p:cNvGrpSpPr/>
          <p:nvPr/>
        </p:nvGrpSpPr>
        <p:grpSpPr>
          <a:xfrm>
            <a:off x="6659508" y="225152"/>
            <a:ext cx="2432605" cy="1508418"/>
            <a:chOff x="6030133" y="723902"/>
            <a:chExt cx="2432605" cy="1508418"/>
          </a:xfrm>
        </p:grpSpPr>
        <p:sp>
          <p:nvSpPr>
            <p:cNvPr id="1950" name="Google Shape;1950;p120"/>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1951" name="Google Shape;1951;p120"/>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52" name="Google Shape;1952;p120"/>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53" name="Google Shape;1953;p120"/>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54" name="Google Shape;1954;p120"/>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955" name="Google Shape;1955;p120"/>
            <p:cNvGrpSpPr/>
            <p:nvPr/>
          </p:nvGrpSpPr>
          <p:grpSpPr>
            <a:xfrm>
              <a:off x="8107751" y="1342792"/>
              <a:ext cx="276507" cy="393460"/>
              <a:chOff x="6954288" y="1678075"/>
              <a:chExt cx="679456" cy="947737"/>
            </a:xfrm>
          </p:grpSpPr>
          <p:sp>
            <p:nvSpPr>
              <p:cNvPr id="1956" name="Google Shape;1956;p120"/>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57" name="Google Shape;1957;p120"/>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58" name="Google Shape;1958;p120"/>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59" name="Google Shape;1959;p120"/>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60" name="Google Shape;1960;p120"/>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1961" name="Google Shape;1961;p120"/>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62" name="Google Shape;1962;p120"/>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63" name="Google Shape;1963;p120"/>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964" name="Google Shape;1964;p120"/>
            <p:cNvGrpSpPr/>
            <p:nvPr/>
          </p:nvGrpSpPr>
          <p:grpSpPr>
            <a:xfrm>
              <a:off x="6671216" y="765814"/>
              <a:ext cx="308250" cy="494711"/>
              <a:chOff x="2125012" y="-1063625"/>
              <a:chExt cx="1420813" cy="2235201"/>
            </a:xfrm>
          </p:grpSpPr>
          <p:sp>
            <p:nvSpPr>
              <p:cNvPr id="1965" name="Google Shape;1965;p120"/>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66" name="Google Shape;1966;p120"/>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1967" name="Google Shape;1967;p120"/>
            <p:cNvGrpSpPr/>
            <p:nvPr/>
          </p:nvGrpSpPr>
          <p:grpSpPr>
            <a:xfrm>
              <a:off x="7987780" y="1794063"/>
              <a:ext cx="243489" cy="387124"/>
              <a:chOff x="6417856" y="340853"/>
              <a:chExt cx="217304" cy="589385"/>
            </a:xfrm>
          </p:grpSpPr>
          <p:sp>
            <p:nvSpPr>
              <p:cNvPr id="1968" name="Google Shape;1968;p120"/>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69" name="Google Shape;1969;p120"/>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970" name="Google Shape;1970;p120"/>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1971" name="Google Shape;1971;p120"/>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1972" name="Google Shape;1972;p120"/>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73" name="Google Shape;1973;p120"/>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1974" name="Google Shape;1974;p12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1975" name="Google Shape;1975;p120"/>
          <p:cNvGrpSpPr/>
          <p:nvPr/>
        </p:nvGrpSpPr>
        <p:grpSpPr>
          <a:xfrm>
            <a:off x="7717533" y="4360377"/>
            <a:ext cx="1058348" cy="347375"/>
            <a:chOff x="7651698" y="4287227"/>
            <a:chExt cx="1058348" cy="347375"/>
          </a:xfrm>
        </p:grpSpPr>
        <p:grpSp>
          <p:nvGrpSpPr>
            <p:cNvPr id="1976" name="Google Shape;1976;p120"/>
            <p:cNvGrpSpPr/>
            <p:nvPr/>
          </p:nvGrpSpPr>
          <p:grpSpPr>
            <a:xfrm>
              <a:off x="7714163" y="4337598"/>
              <a:ext cx="995883" cy="297004"/>
              <a:chOff x="7711013" y="3986494"/>
              <a:chExt cx="995883" cy="297004"/>
            </a:xfrm>
          </p:grpSpPr>
          <p:sp>
            <p:nvSpPr>
              <p:cNvPr id="1977" name="Google Shape;1977;p120"/>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978" name="Google Shape;1978;p120"/>
              <p:cNvGrpSpPr/>
              <p:nvPr/>
            </p:nvGrpSpPr>
            <p:grpSpPr>
              <a:xfrm>
                <a:off x="7711013" y="4002615"/>
                <a:ext cx="281520" cy="241973"/>
                <a:chOff x="5652748" y="4066000"/>
                <a:chExt cx="906498" cy="747974"/>
              </a:xfrm>
            </p:grpSpPr>
            <p:sp>
              <p:nvSpPr>
                <p:cNvPr id="1979" name="Google Shape;1979;p12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980" name="Google Shape;1980;p12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1981" name="Google Shape;1981;p12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1982" name="Google Shape;1982;p120">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cxnSp>
        <p:nvCxnSpPr>
          <p:cNvPr id="2002" name="Google Shape;2002;p122"/>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003" name="Google Shape;2003;p122"/>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Contextual Decisioning</a:t>
            </a:r>
            <a:endParaRPr sz="1600"/>
          </a:p>
        </p:txBody>
      </p:sp>
      <p:graphicFrame>
        <p:nvGraphicFramePr>
          <p:cNvPr id="2004" name="Google Shape;2004;p122"/>
          <p:cNvGraphicFramePr/>
          <p:nvPr/>
        </p:nvGraphicFramePr>
        <p:xfrm>
          <a:off x="457200" y="701300"/>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Make interactions more relevant by considering other events over space and time as context of the customer interaction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There is an increasing number of opportunities to interact with customers through an expanding number of channels and devices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As the duration of interaction cycles reduces and the frequency of interactions increase customer dialogues need to be orchestrated in real time considering short term context in order that the communication remains meaningful and relevant</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Understand  and consider the detailed context of the current interaction</a:t>
                      </a:r>
                      <a:r>
                        <a:rPr b="0" lang="en-GB" sz="900">
                          <a:solidFill>
                            <a:schemeClr val="dk1"/>
                          </a:solidFill>
                        </a:rPr>
                        <a:t> </a:t>
                      </a:r>
                      <a:r>
                        <a:rPr b="0" lang="en-GB" sz="900">
                          <a:solidFill>
                            <a:schemeClr val="dk1"/>
                          </a:solidFill>
                        </a:rPr>
                        <a:t> as </a:t>
                      </a:r>
                      <a:r>
                        <a:rPr b="0" lang="en-GB" sz="900">
                          <a:solidFill>
                            <a:schemeClr val="dk1"/>
                          </a:solidFill>
                        </a:rPr>
                        <a:t> well as past events to deliver more relevant message or offer</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Context</a:t>
                      </a:r>
                      <a:r>
                        <a:rPr b="0" lang="en-GB" sz="900">
                          <a:solidFill>
                            <a:schemeClr val="dk1"/>
                          </a:solidFill>
                        </a:rPr>
                        <a:t> of the current customer online or offline process</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Time sensitive detail</a:t>
                      </a:r>
                      <a:r>
                        <a:rPr b="0" lang="en-GB" sz="900">
                          <a:solidFill>
                            <a:schemeClr val="dk1"/>
                          </a:solidFill>
                        </a:rPr>
                        <a:t> context </a:t>
                      </a:r>
                      <a:r>
                        <a:rPr b="0" lang="en-GB" sz="900">
                          <a:solidFill>
                            <a:schemeClr val="dk1"/>
                          </a:solidFill>
                        </a:rPr>
                        <a:t>such as device / location / time spent on page</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Summarised customer profile to be used in the decisioning logic</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Pre scored models and customer segmentations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Single Interaction history in order to apply contact rules </a:t>
                      </a:r>
                      <a:endParaRPr/>
                    </a:p>
                    <a:p>
                      <a:pPr indent="0" lvl="0" marL="0" marR="0" rtl="0" algn="l">
                        <a:spcBef>
                          <a:spcPts val="0"/>
                        </a:spcBef>
                        <a:spcAft>
                          <a:spcPts val="0"/>
                        </a:spcAft>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Real-time arbitration of customer offers and treatments to deliver the next best action based on the current context</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Self learning algorithms able to optimize response as data profiles change</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Complex, time based event processing</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Increased relevance and response to offers/messaging through</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Ability to respond to current actions and behaviour of the customer in the channel rather than based on a previous day</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Ability to orchestrate interactions occurring across different channels within a business day – to reinforce or prevent the presentation of a product, service or offer</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Creating true omni-channel customer treatments - such as promotion of location based offers</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Enrich existing recommendation with a specific event or series of combined relevant events as a trigger that raises the need for the action</a:t>
                      </a:r>
                      <a:endParaRPr sz="900" u="none" cap="none" strike="noStrike">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005" name="Google Shape;2005;p122"/>
          <p:cNvGrpSpPr/>
          <p:nvPr/>
        </p:nvGrpSpPr>
        <p:grpSpPr>
          <a:xfrm>
            <a:off x="6659508" y="225152"/>
            <a:ext cx="2432605" cy="1508418"/>
            <a:chOff x="6030133" y="723902"/>
            <a:chExt cx="2432605" cy="1508418"/>
          </a:xfrm>
        </p:grpSpPr>
        <p:sp>
          <p:nvSpPr>
            <p:cNvPr id="2006" name="Google Shape;2006;p122"/>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007" name="Google Shape;2007;p122"/>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08" name="Google Shape;2008;p122"/>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09" name="Google Shape;2009;p122"/>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10" name="Google Shape;2010;p122"/>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011" name="Google Shape;2011;p122"/>
            <p:cNvGrpSpPr/>
            <p:nvPr/>
          </p:nvGrpSpPr>
          <p:grpSpPr>
            <a:xfrm>
              <a:off x="8107751" y="1342792"/>
              <a:ext cx="276507" cy="393460"/>
              <a:chOff x="6954288" y="1678075"/>
              <a:chExt cx="679456" cy="947737"/>
            </a:xfrm>
          </p:grpSpPr>
          <p:sp>
            <p:nvSpPr>
              <p:cNvPr id="2012" name="Google Shape;2012;p122"/>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13" name="Google Shape;2013;p122"/>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14" name="Google Shape;2014;p122"/>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15" name="Google Shape;2015;p122"/>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16" name="Google Shape;2016;p122"/>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017" name="Google Shape;2017;p122"/>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18" name="Google Shape;2018;p122"/>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19" name="Google Shape;2019;p122"/>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020" name="Google Shape;2020;p122"/>
            <p:cNvGrpSpPr/>
            <p:nvPr/>
          </p:nvGrpSpPr>
          <p:grpSpPr>
            <a:xfrm>
              <a:off x="6671216" y="765814"/>
              <a:ext cx="308250" cy="494711"/>
              <a:chOff x="2125012" y="-1063625"/>
              <a:chExt cx="1420813" cy="2235201"/>
            </a:xfrm>
          </p:grpSpPr>
          <p:sp>
            <p:nvSpPr>
              <p:cNvPr id="2021" name="Google Shape;2021;p122"/>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22" name="Google Shape;2022;p122"/>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023" name="Google Shape;2023;p122"/>
            <p:cNvGrpSpPr/>
            <p:nvPr/>
          </p:nvGrpSpPr>
          <p:grpSpPr>
            <a:xfrm>
              <a:off x="7987780" y="1794063"/>
              <a:ext cx="243489" cy="387124"/>
              <a:chOff x="6417856" y="340853"/>
              <a:chExt cx="217304" cy="589385"/>
            </a:xfrm>
          </p:grpSpPr>
          <p:sp>
            <p:nvSpPr>
              <p:cNvPr id="2024" name="Google Shape;2024;p122"/>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25" name="Google Shape;2025;p122"/>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026" name="Google Shape;2026;p122"/>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027" name="Google Shape;2027;p122"/>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2028" name="Google Shape;2028;p122"/>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29" name="Google Shape;2029;p122"/>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030" name="Google Shape;2030;p12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031" name="Google Shape;2031;p122"/>
          <p:cNvGrpSpPr/>
          <p:nvPr/>
        </p:nvGrpSpPr>
        <p:grpSpPr>
          <a:xfrm>
            <a:off x="7717533" y="4360377"/>
            <a:ext cx="1058348" cy="347375"/>
            <a:chOff x="7651698" y="4287227"/>
            <a:chExt cx="1058348" cy="347375"/>
          </a:xfrm>
        </p:grpSpPr>
        <p:grpSp>
          <p:nvGrpSpPr>
            <p:cNvPr id="2032" name="Google Shape;2032;p122"/>
            <p:cNvGrpSpPr/>
            <p:nvPr/>
          </p:nvGrpSpPr>
          <p:grpSpPr>
            <a:xfrm>
              <a:off x="7714163" y="4337598"/>
              <a:ext cx="995883" cy="297004"/>
              <a:chOff x="7711013" y="3986494"/>
              <a:chExt cx="995883" cy="297004"/>
            </a:xfrm>
          </p:grpSpPr>
          <p:sp>
            <p:nvSpPr>
              <p:cNvPr id="2033" name="Google Shape;2033;p122"/>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034" name="Google Shape;2034;p122"/>
              <p:cNvGrpSpPr/>
              <p:nvPr/>
            </p:nvGrpSpPr>
            <p:grpSpPr>
              <a:xfrm>
                <a:off x="7711013" y="4002615"/>
                <a:ext cx="281520" cy="241973"/>
                <a:chOff x="5652748" y="4066000"/>
                <a:chExt cx="906498" cy="747974"/>
              </a:xfrm>
            </p:grpSpPr>
            <p:sp>
              <p:nvSpPr>
                <p:cNvPr id="2035" name="Google Shape;2035;p122"/>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036" name="Google Shape;2036;p122"/>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037" name="Google Shape;2037;p122"/>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038" name="Google Shape;2038;p122">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7" name="Shape 2057"/>
        <p:cNvGrpSpPr/>
        <p:nvPr/>
      </p:nvGrpSpPr>
      <p:grpSpPr>
        <a:xfrm>
          <a:off x="0" y="0"/>
          <a:ext cx="0" cy="0"/>
          <a:chOff x="0" y="0"/>
          <a:chExt cx="0" cy="0"/>
        </a:xfrm>
      </p:grpSpPr>
      <p:cxnSp>
        <p:nvCxnSpPr>
          <p:cNvPr id="2058" name="Google Shape;2058;p124"/>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059" name="Google Shape;2059;p124"/>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Call/Contact Center Optimization</a:t>
            </a:r>
            <a:endParaRPr sz="1600"/>
          </a:p>
        </p:txBody>
      </p:sp>
      <p:graphicFrame>
        <p:nvGraphicFramePr>
          <p:cNvPr id="2060" name="Google Shape;2060;p124"/>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200">
                          <a:solidFill>
                            <a:schemeClr val="dk2"/>
                          </a:solidFill>
                          <a:latin typeface="Century Gothic"/>
                          <a:ea typeface="Century Gothic"/>
                          <a:cs typeface="Century Gothic"/>
                          <a:sym typeface="Century Gothic"/>
                        </a:rPr>
                        <a:t>Business Objectives</a:t>
                      </a:r>
                      <a:endParaRPr b="1" sz="12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chemeClr val="dk1"/>
                        </a:buClr>
                        <a:buSzPts val="900"/>
                        <a:buFont typeface="Arial"/>
                        <a:buNone/>
                      </a:pPr>
                      <a:r>
                        <a:rPr b="1" i="0" lang="en-GB" sz="900" u="none" cap="none" strike="noStrike">
                          <a:solidFill>
                            <a:schemeClr val="dk1"/>
                          </a:solidFill>
                          <a:latin typeface="Century Gothic"/>
                          <a:ea typeface="Century Gothic"/>
                          <a:cs typeface="Century Gothic"/>
                          <a:sym typeface="Century Gothic"/>
                        </a:rPr>
                        <a:t>Increase the first call resolution and reduce customers returning calls on same topic</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Capture the contact with customers across channels like IVR, call center, chat, social media etc. to build a comprehensive view and actionable insights on how to interact with customers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Improve interactions with customers by utilizing techniques such as topic and sentiment analysis for call classification,  prediction of customers who may be about to complain, prediction of call volumes based on “hot topics” from other channels.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Increase the up-selling and cross-selling capabilities of additional products and services by CSRs at the moment of interaction.</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Data:</a:t>
                      </a:r>
                      <a:endParaRPr/>
                    </a:p>
                    <a:p>
                      <a:pPr indent="-179388" lvl="0" marL="179388" marR="0" rtl="0" algn="l">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Interaction</a:t>
                      </a:r>
                      <a:r>
                        <a:rPr b="0" i="0" lang="en-GB" sz="900">
                          <a:latin typeface="Century Gothic"/>
                          <a:ea typeface="Century Gothic"/>
                          <a:cs typeface="Century Gothic"/>
                          <a:sym typeface="Century Gothic"/>
                        </a:rPr>
                        <a:t> </a:t>
                      </a:r>
                      <a:r>
                        <a:rPr b="0" i="0" lang="en-GB" sz="900">
                          <a:latin typeface="Century Gothic"/>
                          <a:ea typeface="Century Gothic"/>
                          <a:cs typeface="Century Gothic"/>
                          <a:sym typeface="Century Gothic"/>
                        </a:rPr>
                        <a:t>data</a:t>
                      </a:r>
                      <a:r>
                        <a:rPr b="0" i="0" lang="en-GB" sz="900">
                          <a:latin typeface="Century Gothic"/>
                          <a:ea typeface="Century Gothic"/>
                          <a:cs typeface="Century Gothic"/>
                          <a:sym typeface="Century Gothic"/>
                        </a:rPr>
                        <a:t> </a:t>
                      </a:r>
                      <a:r>
                        <a:rPr b="0" lang="en-GB" sz="900">
                          <a:latin typeface="Century Gothic"/>
                          <a:ea typeface="Century Gothic"/>
                          <a:cs typeface="Century Gothic"/>
                          <a:sym typeface="Century Gothic"/>
                        </a:rPr>
                        <a:t>from multiple contact channels like IVR, Call center, CRM systems, email, chat functions, social media,</a:t>
                      </a:r>
                      <a:r>
                        <a:rPr b="0" lang="en-GB" sz="900">
                          <a:latin typeface="Century Gothic"/>
                          <a:ea typeface="Century Gothic"/>
                          <a:cs typeface="Century Gothic"/>
                          <a:sym typeface="Century Gothic"/>
                        </a:rPr>
                        <a:t> social </a:t>
                      </a:r>
                      <a:r>
                        <a:rPr b="0" lang="en-GB" sz="900">
                          <a:latin typeface="Century Gothic"/>
                          <a:ea typeface="Century Gothic"/>
                          <a:cs typeface="Century Gothic"/>
                          <a:sym typeface="Century Gothic"/>
                        </a:rPr>
                        <a:t>chat etc.</a:t>
                      </a:r>
                      <a:endParaRPr b="0" sz="900">
                        <a:latin typeface="Century Gothic"/>
                        <a:ea typeface="Century Gothic"/>
                        <a:cs typeface="Century Gothic"/>
                        <a:sym typeface="Century Gothic"/>
                      </a:endParaRPr>
                    </a:p>
                    <a:p>
                      <a:pPr indent="-179388" lvl="0" marL="179388" marR="0" rtl="0" algn="l">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Data </a:t>
                      </a:r>
                      <a:r>
                        <a:rPr b="0" i="0" lang="en-GB" sz="900" u="none">
                          <a:latin typeface="Century Gothic"/>
                          <a:ea typeface="Century Gothic"/>
                          <a:cs typeface="Century Gothic"/>
                          <a:sym typeface="Century Gothic"/>
                        </a:rPr>
                        <a:t>format </a:t>
                      </a:r>
                      <a:r>
                        <a:rPr b="0" i="0" lang="en-GB" sz="900">
                          <a:latin typeface="Century Gothic"/>
                          <a:ea typeface="Century Gothic"/>
                          <a:cs typeface="Century Gothic"/>
                          <a:sym typeface="Century Gothic"/>
                        </a:rPr>
                        <a:t>can be text, voice, forms etc. </a:t>
                      </a:r>
                      <a:endParaRPr/>
                    </a:p>
                    <a:p>
                      <a:pPr indent="-179388" lvl="0" marL="179388" marR="0" rtl="0" algn="l">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Customer events</a:t>
                      </a:r>
                      <a:endParaRPr/>
                    </a:p>
                    <a:p>
                      <a:pPr indent="-179388" lvl="0" marL="179388" marR="0" rtl="0" algn="l">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Customer profile and 360 view</a:t>
                      </a:r>
                      <a:endParaRPr/>
                    </a:p>
                    <a:p>
                      <a:pPr indent="0" lvl="0" marL="0" marR="0" rtl="0" algn="l">
                        <a:spcBef>
                          <a:spcPts val="0"/>
                        </a:spcBef>
                        <a:spcAft>
                          <a:spcPts val="0"/>
                        </a:spcAft>
                        <a:buNone/>
                      </a:pPr>
                      <a:r>
                        <a:rPr b="1" lang="en-GB" sz="900">
                          <a:latin typeface="Century Gothic"/>
                          <a:ea typeface="Century Gothic"/>
                          <a:cs typeface="Century Gothic"/>
                          <a:sym typeface="Century Gothic"/>
                        </a:rPr>
                        <a:t>Analytics</a:t>
                      </a:r>
                      <a:endParaRPr b="0" sz="900">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Create sentiment and key words from text analytics</a:t>
                      </a:r>
                      <a:endParaRPr/>
                    </a:p>
                    <a:p>
                      <a:pPr indent="-285750" lvl="0" marL="285750" marR="0" rtl="0" algn="l">
                        <a:lnSpc>
                          <a:spcPct val="100000"/>
                        </a:lnSpc>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Enhance customer (prediction) models</a:t>
                      </a:r>
                      <a:r>
                        <a:rPr b="0" i="0" lang="en-GB" sz="900">
                          <a:latin typeface="Century Gothic"/>
                          <a:ea typeface="Century Gothic"/>
                          <a:cs typeface="Century Gothic"/>
                          <a:sym typeface="Century Gothic"/>
                        </a:rPr>
                        <a:t> and scoring </a:t>
                      </a:r>
                      <a:r>
                        <a:rPr b="0" i="0" lang="en-GB" sz="900">
                          <a:latin typeface="Century Gothic"/>
                          <a:ea typeface="Century Gothic"/>
                          <a:cs typeface="Century Gothic"/>
                          <a:sym typeface="Century Gothic"/>
                        </a:rPr>
                        <a:t>like churn, propensity to buy, customer experience index etc</a:t>
                      </a:r>
                      <a:endParaRPr b="0" i="0" sz="900">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Identify path/customer journey </a:t>
                      </a:r>
                      <a:r>
                        <a:rPr b="0" i="0" lang="en-GB" sz="900">
                          <a:latin typeface="Century Gothic"/>
                          <a:ea typeface="Century Gothic"/>
                          <a:cs typeface="Century Gothic"/>
                          <a:sym typeface="Century Gothic"/>
                        </a:rPr>
                        <a:t>for process optimization, call center agent resolution, broken processes etc. </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b="1" i="0" lang="en-GB" sz="900">
                          <a:latin typeface="Century Gothic"/>
                          <a:ea typeface="Century Gothic"/>
                          <a:cs typeface="Century Gothic"/>
                          <a:sym typeface="Century Gothic"/>
                        </a:rPr>
                        <a:t>Improve custoemr experience with call center and optimize call center staff operations</a:t>
                      </a:r>
                      <a:endParaRPr b="1" i="0" sz="900">
                        <a:latin typeface="Century Gothic"/>
                        <a:ea typeface="Century Gothic"/>
                        <a:cs typeface="Century Gothic"/>
                        <a:sym typeface="Century Gothic"/>
                      </a:endParaRPr>
                    </a:p>
                    <a:p>
                      <a:pPr indent="0" lvl="0" marL="0" marR="0" rtl="0" algn="l">
                        <a:spcBef>
                          <a:spcPts val="0"/>
                        </a:spcBef>
                        <a:spcAft>
                          <a:spcPts val="0"/>
                        </a:spcAft>
                        <a:buClr>
                          <a:schemeClr val="dk1"/>
                        </a:buClr>
                        <a:buSzPts val="900"/>
                        <a:buFont typeface="Arial"/>
                        <a:buNone/>
                      </a:pPr>
                      <a:r>
                        <a:rPr b="1" i="1" lang="en-GB" sz="900">
                          <a:latin typeface="Century Gothic"/>
                          <a:ea typeface="Century Gothic"/>
                          <a:cs typeface="Century Gothic"/>
                          <a:sym typeface="Century Gothic"/>
                        </a:rPr>
                        <a:t> </a:t>
                      </a:r>
                      <a:r>
                        <a:rPr b="0" i="0" lang="en-GB" sz="900">
                          <a:latin typeface="Century Gothic"/>
                          <a:ea typeface="Century Gothic"/>
                          <a:cs typeface="Century Gothic"/>
                          <a:sym typeface="Century Gothic"/>
                        </a:rPr>
                        <a:t>- higher degree of customer satisfaction</a:t>
                      </a:r>
                      <a:endParaRPr/>
                    </a:p>
                    <a:p>
                      <a:pPr indent="0" lvl="0" marL="0" marR="0" rtl="0" algn="l">
                        <a:spcBef>
                          <a:spcPts val="0"/>
                        </a:spcBef>
                        <a:spcAft>
                          <a:spcPts val="0"/>
                        </a:spcAft>
                        <a:buClr>
                          <a:schemeClr val="dk1"/>
                        </a:buClr>
                        <a:buSzPts val="900"/>
                        <a:buFont typeface="Arial"/>
                        <a:buNone/>
                      </a:pPr>
                      <a:r>
                        <a:rPr b="0" i="0" lang="en-GB" sz="900">
                          <a:latin typeface="Century Gothic"/>
                          <a:ea typeface="Century Gothic"/>
                          <a:cs typeface="Century Gothic"/>
                          <a:sym typeface="Century Gothic"/>
                        </a:rPr>
                        <a:t> - faster resolution</a:t>
                      </a:r>
                      <a:endParaRPr/>
                    </a:p>
                    <a:p>
                      <a:pPr indent="0" lvl="0" marL="0" marR="0" rtl="0" algn="l">
                        <a:spcBef>
                          <a:spcPts val="0"/>
                        </a:spcBef>
                        <a:spcAft>
                          <a:spcPts val="0"/>
                        </a:spcAft>
                        <a:buClr>
                          <a:schemeClr val="dk1"/>
                        </a:buClr>
                        <a:buSzPts val="900"/>
                        <a:buFont typeface="Arial"/>
                        <a:buNone/>
                      </a:pPr>
                      <a:r>
                        <a:rPr b="0" i="0" lang="en-GB" sz="900">
                          <a:latin typeface="Century Gothic"/>
                          <a:ea typeface="Century Gothic"/>
                          <a:cs typeface="Century Gothic"/>
                          <a:sym typeface="Century Gothic"/>
                        </a:rPr>
                        <a:t> - optimization and simplification of processes </a:t>
                      </a:r>
                      <a:endParaRPr/>
                    </a:p>
                    <a:p>
                      <a:pPr indent="0" lvl="0" marL="0" marR="0" rtl="0" algn="l">
                        <a:spcBef>
                          <a:spcPts val="0"/>
                        </a:spcBef>
                        <a:spcAft>
                          <a:spcPts val="0"/>
                        </a:spcAft>
                        <a:buClr>
                          <a:schemeClr val="dk1"/>
                        </a:buClr>
                        <a:buSzPts val="900"/>
                        <a:buFont typeface="Arial"/>
                        <a:buNone/>
                      </a:pPr>
                      <a:r>
                        <a:rPr b="0" i="0" lang="en-GB" sz="900">
                          <a:latin typeface="Century Gothic"/>
                          <a:ea typeface="Century Gothic"/>
                          <a:cs typeface="Century Gothic"/>
                          <a:sym typeface="Century Gothic"/>
                        </a:rPr>
                        <a:t> - Upsell and resell</a:t>
                      </a:r>
                      <a:endParaRPr/>
                    </a:p>
                    <a:p>
                      <a:pPr indent="0" lvl="0" marL="0" marR="0" rtl="0" algn="l">
                        <a:spcBef>
                          <a:spcPts val="0"/>
                        </a:spcBef>
                        <a:spcAft>
                          <a:spcPts val="0"/>
                        </a:spcAft>
                        <a:buClr>
                          <a:schemeClr val="dk1"/>
                        </a:buClr>
                        <a:buSzPts val="900"/>
                        <a:buFont typeface="Arial"/>
                        <a:buNone/>
                      </a:pPr>
                      <a:r>
                        <a:rPr b="0" i="0" lang="en-GB" sz="900">
                          <a:latin typeface="Century Gothic"/>
                          <a:ea typeface="Century Gothic"/>
                          <a:cs typeface="Century Gothic"/>
                          <a:sym typeface="Century Gothic"/>
                        </a:rPr>
                        <a:t> - Customer interaction and adaptation of multiple channels</a:t>
                      </a:r>
                      <a:endParaRPr b="0" i="0" sz="900">
                        <a:latin typeface="Century Gothic"/>
                        <a:ea typeface="Century Gothic"/>
                        <a:cs typeface="Century Gothic"/>
                        <a:sym typeface="Century Gothic"/>
                      </a:endParaRPr>
                    </a:p>
                    <a:p>
                      <a:pPr indent="0" lvl="0" marL="0" marR="0" rtl="0" algn="l">
                        <a:spcBef>
                          <a:spcPts val="0"/>
                        </a:spcBef>
                        <a:spcAft>
                          <a:spcPts val="0"/>
                        </a:spcAft>
                        <a:buClr>
                          <a:schemeClr val="dk1"/>
                        </a:buClr>
                        <a:buSzPts val="900"/>
                        <a:buFont typeface="Arial"/>
                        <a:buNone/>
                      </a:pPr>
                      <a:r>
                        <a:rPr b="0" i="0" lang="en-GB" sz="900">
                          <a:latin typeface="Century Gothic"/>
                          <a:ea typeface="Century Gothic"/>
                          <a:cs typeface="Century Gothic"/>
                          <a:sym typeface="Century Gothic"/>
                        </a:rPr>
                        <a:t>-  Automation of some processes , e.g. automated routing of insurance claims based on claim form contents and complexity</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061" name="Google Shape;2061;p124"/>
          <p:cNvGrpSpPr/>
          <p:nvPr/>
        </p:nvGrpSpPr>
        <p:grpSpPr>
          <a:xfrm>
            <a:off x="6659508" y="225152"/>
            <a:ext cx="2432605" cy="1508418"/>
            <a:chOff x="6030133" y="723902"/>
            <a:chExt cx="2432605" cy="1508418"/>
          </a:xfrm>
        </p:grpSpPr>
        <p:sp>
          <p:nvSpPr>
            <p:cNvPr id="2062" name="Google Shape;2062;p124"/>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063" name="Google Shape;2063;p124"/>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64" name="Google Shape;2064;p124"/>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65" name="Google Shape;2065;p124"/>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66" name="Google Shape;2066;p124"/>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067" name="Google Shape;2067;p124"/>
            <p:cNvGrpSpPr/>
            <p:nvPr/>
          </p:nvGrpSpPr>
          <p:grpSpPr>
            <a:xfrm>
              <a:off x="8107751" y="1342792"/>
              <a:ext cx="276507" cy="393460"/>
              <a:chOff x="6954288" y="1678075"/>
              <a:chExt cx="679456" cy="947737"/>
            </a:xfrm>
          </p:grpSpPr>
          <p:sp>
            <p:nvSpPr>
              <p:cNvPr id="2068" name="Google Shape;2068;p124"/>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69" name="Google Shape;2069;p124"/>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70" name="Google Shape;2070;p124"/>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71" name="Google Shape;2071;p124"/>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72" name="Google Shape;2072;p124"/>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073" name="Google Shape;2073;p124"/>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74" name="Google Shape;2074;p124"/>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75" name="Google Shape;2075;p124"/>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076" name="Google Shape;2076;p124"/>
            <p:cNvGrpSpPr/>
            <p:nvPr/>
          </p:nvGrpSpPr>
          <p:grpSpPr>
            <a:xfrm>
              <a:off x="6671216" y="765814"/>
              <a:ext cx="308250" cy="494711"/>
              <a:chOff x="2125012" y="-1063625"/>
              <a:chExt cx="1420813" cy="2235201"/>
            </a:xfrm>
          </p:grpSpPr>
          <p:sp>
            <p:nvSpPr>
              <p:cNvPr id="2077" name="Google Shape;2077;p124"/>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78" name="Google Shape;2078;p124"/>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079" name="Google Shape;2079;p124"/>
            <p:cNvGrpSpPr/>
            <p:nvPr/>
          </p:nvGrpSpPr>
          <p:grpSpPr>
            <a:xfrm>
              <a:off x="7987780" y="1794063"/>
              <a:ext cx="243489" cy="387124"/>
              <a:chOff x="6417856" y="340853"/>
              <a:chExt cx="217304" cy="589385"/>
            </a:xfrm>
          </p:grpSpPr>
          <p:sp>
            <p:nvSpPr>
              <p:cNvPr id="2080" name="Google Shape;2080;p124"/>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81" name="Google Shape;2081;p124"/>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082" name="Google Shape;2082;p124"/>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083" name="Google Shape;2083;p124"/>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2084" name="Google Shape;2084;p124"/>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85" name="Google Shape;2085;p124"/>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086" name="Google Shape;2086;p12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087" name="Google Shape;2087;p124"/>
          <p:cNvGrpSpPr/>
          <p:nvPr/>
        </p:nvGrpSpPr>
        <p:grpSpPr>
          <a:xfrm>
            <a:off x="7717533" y="4360377"/>
            <a:ext cx="1058348" cy="347375"/>
            <a:chOff x="7651698" y="4287227"/>
            <a:chExt cx="1058348" cy="347375"/>
          </a:xfrm>
        </p:grpSpPr>
        <p:grpSp>
          <p:nvGrpSpPr>
            <p:cNvPr id="2088" name="Google Shape;2088;p124"/>
            <p:cNvGrpSpPr/>
            <p:nvPr/>
          </p:nvGrpSpPr>
          <p:grpSpPr>
            <a:xfrm>
              <a:off x="7714163" y="4337598"/>
              <a:ext cx="995883" cy="297004"/>
              <a:chOff x="7711013" y="3986494"/>
              <a:chExt cx="995883" cy="297004"/>
            </a:xfrm>
          </p:grpSpPr>
          <p:sp>
            <p:nvSpPr>
              <p:cNvPr id="2089" name="Google Shape;2089;p12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090" name="Google Shape;2090;p124"/>
              <p:cNvGrpSpPr/>
              <p:nvPr/>
            </p:nvGrpSpPr>
            <p:grpSpPr>
              <a:xfrm>
                <a:off x="7711013" y="4002615"/>
                <a:ext cx="281520" cy="241973"/>
                <a:chOff x="5652748" y="4066000"/>
                <a:chExt cx="906498" cy="747974"/>
              </a:xfrm>
            </p:grpSpPr>
            <p:sp>
              <p:nvSpPr>
                <p:cNvPr id="2091" name="Google Shape;2091;p12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092" name="Google Shape;2092;p12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093" name="Google Shape;2093;p12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094" name="Google Shape;2094;p124">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3" name="Shape 2113"/>
        <p:cNvGrpSpPr/>
        <p:nvPr/>
      </p:nvGrpSpPr>
      <p:grpSpPr>
        <a:xfrm>
          <a:off x="0" y="0"/>
          <a:ext cx="0" cy="0"/>
          <a:chOff x="0" y="0"/>
          <a:chExt cx="0" cy="0"/>
        </a:xfrm>
      </p:grpSpPr>
      <p:cxnSp>
        <p:nvCxnSpPr>
          <p:cNvPr id="2114" name="Google Shape;2114;p126"/>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115" name="Google Shape;2115;p126"/>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Digital Optimization</a:t>
            </a:r>
            <a:endParaRPr sz="1600"/>
          </a:p>
        </p:txBody>
      </p:sp>
      <p:graphicFrame>
        <p:nvGraphicFramePr>
          <p:cNvPr id="2116" name="Google Shape;2116;p126"/>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rPr>
                        <a:t>Use customers’ on-line journey’s and browsing behaviors to streamline website and mobile app navigation </a:t>
                      </a:r>
                      <a:endParaRPr/>
                    </a:p>
                    <a:p>
                      <a:pPr indent="0" lvl="0" marL="0" marR="0" rtl="0" algn="l">
                        <a:lnSpc>
                          <a:spcPct val="100000"/>
                        </a:lnSpc>
                        <a:spcBef>
                          <a:spcPts val="0"/>
                        </a:spcBef>
                        <a:spcAft>
                          <a:spcPts val="0"/>
                        </a:spcAft>
                        <a:buClr>
                          <a:schemeClr val="dk1"/>
                        </a:buClr>
                        <a:buSzPts val="900"/>
                        <a:buFont typeface="Century Gothic"/>
                        <a:buNone/>
                      </a:pPr>
                      <a:r>
                        <a:t/>
                      </a:r>
                      <a:endParaRPr b="0" sz="900">
                        <a:solidFill>
                          <a:schemeClr val="dk1"/>
                        </a:solidFill>
                      </a:endParaRPr>
                    </a:p>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rPr>
                        <a:t>Customers can quickly become frustrated with the time taken to access information or complete a transaction within</a:t>
                      </a:r>
                      <a:r>
                        <a:rPr b="0" lang="en-GB" sz="900">
                          <a:solidFill>
                            <a:schemeClr val="dk1"/>
                          </a:solidFill>
                        </a:rPr>
                        <a:t> a web or mobile application. </a:t>
                      </a:r>
                      <a:r>
                        <a:rPr b="0" lang="en-GB" sz="900">
                          <a:solidFill>
                            <a:schemeClr val="dk1"/>
                          </a:solidFill>
                        </a:rPr>
                        <a:t>It is difficult for organizations to fully understand this issue that leads to abandonment</a:t>
                      </a:r>
                      <a:r>
                        <a:rPr b="0" lang="en-GB" sz="900">
                          <a:solidFill>
                            <a:schemeClr val="dk1"/>
                          </a:solidFill>
                        </a:rPr>
                        <a:t> and </a:t>
                      </a:r>
                      <a:r>
                        <a:rPr b="0" lang="en-GB" sz="900">
                          <a:solidFill>
                            <a:schemeClr val="dk1"/>
                          </a:solidFill>
                        </a:rPr>
                        <a:t>channel switching behavior.</a:t>
                      </a:r>
                      <a:endParaRPr/>
                    </a:p>
                    <a:p>
                      <a:pPr indent="0" lvl="0" marL="0" marR="0" rtl="0" algn="l">
                        <a:lnSpc>
                          <a:spcPct val="100000"/>
                        </a:lnSpc>
                        <a:spcBef>
                          <a:spcPts val="0"/>
                        </a:spcBef>
                        <a:spcAft>
                          <a:spcPts val="0"/>
                        </a:spcAft>
                        <a:buClr>
                          <a:schemeClr val="dk1"/>
                        </a:buClr>
                        <a:buSzPts val="900"/>
                        <a:buFont typeface="Century Gothic"/>
                        <a:buNone/>
                      </a:pPr>
                      <a:r>
                        <a:t/>
                      </a:r>
                      <a:endParaRPr b="0" sz="900">
                        <a:solidFill>
                          <a:schemeClr val="dk1"/>
                        </a:solidFill>
                      </a:endParaRPr>
                    </a:p>
                    <a:p>
                      <a:pPr indent="0" lvl="0" marL="0" marR="0" rtl="0" algn="l">
                        <a:spcBef>
                          <a:spcPts val="0"/>
                        </a:spcBef>
                        <a:spcAft>
                          <a:spcPts val="0"/>
                        </a:spcAft>
                        <a:buNone/>
                      </a:pPr>
                      <a:r>
                        <a:rPr b="0" lang="en-GB" sz="900">
                          <a:solidFill>
                            <a:schemeClr val="dk1"/>
                          </a:solidFill>
                        </a:rPr>
                        <a:t>Companies can use customers on-line journey’s and browsing behaviors to streamline website and mobile app navigation and correct technical, content, </a:t>
                      </a:r>
                      <a:r>
                        <a:rPr b="0" lang="en-GB" sz="900">
                          <a:solidFill>
                            <a:schemeClr val="dk1"/>
                          </a:solidFill>
                        </a:rPr>
                        <a:t>and user interface </a:t>
                      </a:r>
                      <a:r>
                        <a:rPr b="0" lang="en-GB" sz="900">
                          <a:solidFill>
                            <a:schemeClr val="dk1"/>
                          </a:solidFill>
                        </a:rPr>
                        <a:t>issues, optimizing the on-line Customer experience and driving higher sales conversion.</a:t>
                      </a:r>
                      <a:endParaRPr/>
                    </a:p>
                    <a:p>
                      <a:pPr indent="0" lvl="0" marL="0" marR="0" rtl="0" algn="l">
                        <a:spcBef>
                          <a:spcPts val="0"/>
                        </a:spcBef>
                        <a:spcAft>
                          <a:spcPts val="0"/>
                        </a:spcAft>
                        <a:buNone/>
                      </a:pPr>
                      <a:r>
                        <a:t/>
                      </a:r>
                      <a:endParaRPr b="0" sz="900">
                        <a:solidFill>
                          <a:schemeClr val="dk1"/>
                        </a:solidFill>
                      </a:endParaRPr>
                    </a:p>
                    <a:p>
                      <a:pPr indent="0" lvl="0" marL="0" marR="0" rtl="0" algn="l">
                        <a:spcBef>
                          <a:spcPts val="0"/>
                        </a:spcBef>
                        <a:spcAft>
                          <a:spcPts val="0"/>
                        </a:spcAft>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Weblog data from website using tools such as Celebrus</a:t>
                      </a:r>
                      <a:endParaRPr sz="900">
                        <a:solidFill>
                          <a:schemeClr val="dk1"/>
                        </a:solidFill>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Mobile app usage 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Customer profiles, event and transaction history</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Filtering and segmentation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Sessionization of data to identify the whole interaction within and across all channels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Path analysis to identify all Customer journeys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Visualization to display results in a sankey chart</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Identification  of opportunities to improve  website and mobile app navigation/pathing such as:</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Site landing/departure pages</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Error pages and page before/after</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Effectiveness of landing pages</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Checkout </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Product affinity based on page views</a:t>
                      </a:r>
                      <a:endParaRPr sz="900" u="none" cap="none" strike="noStrike">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sales and higher cross sell rates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Better customer experience and lower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cost to serve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Enhanced operational efficiency and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profitability</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117" name="Google Shape;2117;p126"/>
          <p:cNvGrpSpPr/>
          <p:nvPr/>
        </p:nvGrpSpPr>
        <p:grpSpPr>
          <a:xfrm>
            <a:off x="6659508" y="225152"/>
            <a:ext cx="2432605" cy="1508418"/>
            <a:chOff x="6030133" y="723902"/>
            <a:chExt cx="2432605" cy="1508418"/>
          </a:xfrm>
        </p:grpSpPr>
        <p:sp>
          <p:nvSpPr>
            <p:cNvPr id="2118" name="Google Shape;2118;p126"/>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119" name="Google Shape;2119;p126"/>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20" name="Google Shape;2120;p126"/>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21" name="Google Shape;2121;p126"/>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22" name="Google Shape;2122;p126"/>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123" name="Google Shape;2123;p126"/>
            <p:cNvGrpSpPr/>
            <p:nvPr/>
          </p:nvGrpSpPr>
          <p:grpSpPr>
            <a:xfrm>
              <a:off x="8107751" y="1342792"/>
              <a:ext cx="276507" cy="393460"/>
              <a:chOff x="6954288" y="1678075"/>
              <a:chExt cx="679456" cy="947737"/>
            </a:xfrm>
          </p:grpSpPr>
          <p:sp>
            <p:nvSpPr>
              <p:cNvPr id="2124" name="Google Shape;2124;p126"/>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25" name="Google Shape;2125;p126"/>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26" name="Google Shape;2126;p126"/>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27" name="Google Shape;2127;p126"/>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28" name="Google Shape;2128;p126"/>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129" name="Google Shape;2129;p126"/>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30" name="Google Shape;2130;p126"/>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31" name="Google Shape;2131;p126"/>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132" name="Google Shape;2132;p126"/>
            <p:cNvGrpSpPr/>
            <p:nvPr/>
          </p:nvGrpSpPr>
          <p:grpSpPr>
            <a:xfrm>
              <a:off x="6671216" y="765814"/>
              <a:ext cx="308250" cy="494711"/>
              <a:chOff x="2125012" y="-1063625"/>
              <a:chExt cx="1420813" cy="2235201"/>
            </a:xfrm>
          </p:grpSpPr>
          <p:sp>
            <p:nvSpPr>
              <p:cNvPr id="2133" name="Google Shape;2133;p126"/>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34" name="Google Shape;2134;p126"/>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135" name="Google Shape;2135;p126"/>
            <p:cNvGrpSpPr/>
            <p:nvPr/>
          </p:nvGrpSpPr>
          <p:grpSpPr>
            <a:xfrm>
              <a:off x="7987780" y="1794063"/>
              <a:ext cx="243489" cy="387124"/>
              <a:chOff x="6417856" y="340853"/>
              <a:chExt cx="217304" cy="589385"/>
            </a:xfrm>
          </p:grpSpPr>
          <p:sp>
            <p:nvSpPr>
              <p:cNvPr id="2136" name="Google Shape;2136;p126"/>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37" name="Google Shape;2137;p126"/>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138" name="Google Shape;2138;p126"/>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139" name="Google Shape;2139;p126"/>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2140" name="Google Shape;2140;p126"/>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41" name="Google Shape;2141;p126"/>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142" name="Google Shape;2142;p12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143" name="Google Shape;2143;p126"/>
          <p:cNvGrpSpPr/>
          <p:nvPr/>
        </p:nvGrpSpPr>
        <p:grpSpPr>
          <a:xfrm>
            <a:off x="7717533" y="4360377"/>
            <a:ext cx="1058348" cy="347375"/>
            <a:chOff x="7651698" y="4287227"/>
            <a:chExt cx="1058348" cy="347375"/>
          </a:xfrm>
        </p:grpSpPr>
        <p:grpSp>
          <p:nvGrpSpPr>
            <p:cNvPr id="2144" name="Google Shape;2144;p126"/>
            <p:cNvGrpSpPr/>
            <p:nvPr/>
          </p:nvGrpSpPr>
          <p:grpSpPr>
            <a:xfrm>
              <a:off x="7714163" y="4337598"/>
              <a:ext cx="995883" cy="297004"/>
              <a:chOff x="7711013" y="3986494"/>
              <a:chExt cx="995883" cy="297004"/>
            </a:xfrm>
          </p:grpSpPr>
          <p:sp>
            <p:nvSpPr>
              <p:cNvPr id="2145" name="Google Shape;2145;p12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146" name="Google Shape;2146;p126"/>
              <p:cNvGrpSpPr/>
              <p:nvPr/>
            </p:nvGrpSpPr>
            <p:grpSpPr>
              <a:xfrm>
                <a:off x="7711013" y="4002615"/>
                <a:ext cx="281520" cy="241973"/>
                <a:chOff x="5652748" y="4066000"/>
                <a:chExt cx="906498" cy="747974"/>
              </a:xfrm>
            </p:grpSpPr>
            <p:sp>
              <p:nvSpPr>
                <p:cNvPr id="2147" name="Google Shape;2147;p12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48" name="Google Shape;2148;p12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149" name="Google Shape;2149;p12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150" name="Google Shape;2150;p126">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9" name="Shape 2169"/>
        <p:cNvGrpSpPr/>
        <p:nvPr/>
      </p:nvGrpSpPr>
      <p:grpSpPr>
        <a:xfrm>
          <a:off x="0" y="0"/>
          <a:ext cx="0" cy="0"/>
          <a:chOff x="0" y="0"/>
          <a:chExt cx="0" cy="0"/>
        </a:xfrm>
      </p:grpSpPr>
      <p:cxnSp>
        <p:nvCxnSpPr>
          <p:cNvPr id="2170" name="Google Shape;2170;p128"/>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171" name="Google Shape;2171;p128"/>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Search Engine Optimization</a:t>
            </a:r>
            <a:endParaRPr sz="1600"/>
          </a:p>
        </p:txBody>
      </p:sp>
      <p:graphicFrame>
        <p:nvGraphicFramePr>
          <p:cNvPr id="2172" name="Google Shape;2172;p128"/>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Improve relevancy of web site search results to</a:t>
                      </a:r>
                      <a:r>
                        <a:rPr b="1" lang="en-GB" sz="900">
                          <a:solidFill>
                            <a:schemeClr val="dk1"/>
                          </a:solidFill>
                        </a:rPr>
                        <a:t> drive higher conversion</a:t>
                      </a:r>
                      <a:endParaRPr b="1"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Reduce number of zero result </a:t>
                      </a:r>
                      <a:r>
                        <a:rPr b="0" lang="en-GB" sz="900">
                          <a:solidFill>
                            <a:schemeClr val="dk1"/>
                          </a:solidFill>
                        </a:rPr>
                        <a:t> and underperforming search </a:t>
                      </a:r>
                      <a:r>
                        <a:rPr b="0" lang="en-GB" sz="900">
                          <a:solidFill>
                            <a:schemeClr val="dk1"/>
                          </a:solidFill>
                        </a:rPr>
                        <a:t>queries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Improve  breadth</a:t>
                      </a:r>
                      <a:r>
                        <a:rPr b="0" lang="en-GB" sz="900">
                          <a:solidFill>
                            <a:schemeClr val="dk1"/>
                          </a:solidFill>
                        </a:rPr>
                        <a:t> of keywords  most  closely associated with products  by utilizing customer search behaviour</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Enable search queries to return more products associated with the search words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Improve product ranking algorithms to present most relevant products  first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Understand nuances of language, alternative terms and factor in popularity and “related search” terms.</a:t>
                      </a:r>
                      <a:endParaRPr/>
                    </a:p>
                    <a:p>
                      <a:pPr indent="0" lvl="0" marL="0" marR="0" rtl="0" algn="l">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Web/mobile sales transactions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Web/mobile browsing</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Product taxonomy</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Search tool thesaurus and dictionary</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TF-IDF, Cosine similarity</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Naïve Bayes </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Pathing</a:t>
                      </a:r>
                      <a:endParaRPr sz="900">
                        <a:solidFill>
                          <a:schemeClr val="dk1"/>
                        </a:solidFill>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Collaborative filtering</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Support vector machines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 manual maintenance and intervention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 items returned per searched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relevancy of products returned and in order presented ion the web page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 conversion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 zero and underperforming queries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 customer drop-out/abandonment.</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173" name="Google Shape;2173;p128"/>
          <p:cNvGrpSpPr/>
          <p:nvPr/>
        </p:nvGrpSpPr>
        <p:grpSpPr>
          <a:xfrm>
            <a:off x="6659508" y="225152"/>
            <a:ext cx="2432605" cy="1508418"/>
            <a:chOff x="6030133" y="723902"/>
            <a:chExt cx="2432605" cy="1508418"/>
          </a:xfrm>
        </p:grpSpPr>
        <p:sp>
          <p:nvSpPr>
            <p:cNvPr id="2174" name="Google Shape;2174;p128"/>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175" name="Google Shape;2175;p128"/>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76" name="Google Shape;2176;p128"/>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77" name="Google Shape;2177;p128"/>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78" name="Google Shape;2178;p128"/>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179" name="Google Shape;2179;p128"/>
            <p:cNvGrpSpPr/>
            <p:nvPr/>
          </p:nvGrpSpPr>
          <p:grpSpPr>
            <a:xfrm>
              <a:off x="8107751" y="1342792"/>
              <a:ext cx="276507" cy="393460"/>
              <a:chOff x="6954288" y="1678075"/>
              <a:chExt cx="679456" cy="947737"/>
            </a:xfrm>
          </p:grpSpPr>
          <p:sp>
            <p:nvSpPr>
              <p:cNvPr id="2180" name="Google Shape;2180;p128"/>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81" name="Google Shape;2181;p128"/>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82" name="Google Shape;2182;p128"/>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83" name="Google Shape;2183;p128"/>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84" name="Google Shape;2184;p128"/>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185" name="Google Shape;2185;p128"/>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86" name="Google Shape;2186;p128"/>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87" name="Google Shape;2187;p128"/>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188" name="Google Shape;2188;p128"/>
            <p:cNvGrpSpPr/>
            <p:nvPr/>
          </p:nvGrpSpPr>
          <p:grpSpPr>
            <a:xfrm>
              <a:off x="6671216" y="765814"/>
              <a:ext cx="308250" cy="494711"/>
              <a:chOff x="2125012" y="-1063625"/>
              <a:chExt cx="1420813" cy="2235201"/>
            </a:xfrm>
          </p:grpSpPr>
          <p:sp>
            <p:nvSpPr>
              <p:cNvPr id="2189" name="Google Shape;2189;p128"/>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90" name="Google Shape;2190;p128"/>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191" name="Google Shape;2191;p128"/>
            <p:cNvGrpSpPr/>
            <p:nvPr/>
          </p:nvGrpSpPr>
          <p:grpSpPr>
            <a:xfrm>
              <a:off x="7987780" y="1794063"/>
              <a:ext cx="243489" cy="387124"/>
              <a:chOff x="6417856" y="340853"/>
              <a:chExt cx="217304" cy="589385"/>
            </a:xfrm>
          </p:grpSpPr>
          <p:sp>
            <p:nvSpPr>
              <p:cNvPr id="2192" name="Google Shape;2192;p128"/>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93" name="Google Shape;2193;p128"/>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194" name="Google Shape;2194;p128"/>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195" name="Google Shape;2195;p128"/>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2196" name="Google Shape;2196;p128"/>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97" name="Google Shape;2197;p128"/>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198" name="Google Shape;2198;p12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199" name="Google Shape;2199;p128"/>
          <p:cNvGrpSpPr/>
          <p:nvPr/>
        </p:nvGrpSpPr>
        <p:grpSpPr>
          <a:xfrm>
            <a:off x="7717533" y="4360377"/>
            <a:ext cx="1058348" cy="347375"/>
            <a:chOff x="7651698" y="4287227"/>
            <a:chExt cx="1058348" cy="347375"/>
          </a:xfrm>
        </p:grpSpPr>
        <p:grpSp>
          <p:nvGrpSpPr>
            <p:cNvPr id="2200" name="Google Shape;2200;p128"/>
            <p:cNvGrpSpPr/>
            <p:nvPr/>
          </p:nvGrpSpPr>
          <p:grpSpPr>
            <a:xfrm>
              <a:off x="7714163" y="4337598"/>
              <a:ext cx="995883" cy="297004"/>
              <a:chOff x="7711013" y="3986494"/>
              <a:chExt cx="995883" cy="297004"/>
            </a:xfrm>
          </p:grpSpPr>
          <p:sp>
            <p:nvSpPr>
              <p:cNvPr id="2201" name="Google Shape;2201;p12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202" name="Google Shape;2202;p128"/>
              <p:cNvGrpSpPr/>
              <p:nvPr/>
            </p:nvGrpSpPr>
            <p:grpSpPr>
              <a:xfrm>
                <a:off x="7711013" y="4002615"/>
                <a:ext cx="281520" cy="241973"/>
                <a:chOff x="5652748" y="4066000"/>
                <a:chExt cx="906498" cy="747974"/>
              </a:xfrm>
            </p:grpSpPr>
            <p:sp>
              <p:nvSpPr>
                <p:cNvPr id="2203" name="Google Shape;2203;p12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04" name="Google Shape;2204;p12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205" name="Google Shape;2205;p12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206" name="Google Shape;2206;p128">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5" name="Shape 2225"/>
        <p:cNvGrpSpPr/>
        <p:nvPr/>
      </p:nvGrpSpPr>
      <p:grpSpPr>
        <a:xfrm>
          <a:off x="0" y="0"/>
          <a:ext cx="0" cy="0"/>
          <a:chOff x="0" y="0"/>
          <a:chExt cx="0" cy="0"/>
        </a:xfrm>
      </p:grpSpPr>
      <p:cxnSp>
        <p:nvCxnSpPr>
          <p:cNvPr id="2226" name="Google Shape;2226;p130"/>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227" name="Google Shape;2227;p130"/>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Personalization</a:t>
            </a:r>
            <a:endParaRPr sz="1600"/>
          </a:p>
        </p:txBody>
      </p:sp>
      <p:graphicFrame>
        <p:nvGraphicFramePr>
          <p:cNvPr id="2228" name="Google Shape;2228;p130"/>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chemeClr val="dk1"/>
                        </a:buClr>
                        <a:buSzPts val="900"/>
                        <a:buFont typeface="Century Gothic"/>
                        <a:buNone/>
                      </a:pPr>
                      <a:r>
                        <a:rPr b="1" lang="en-GB" sz="900">
                          <a:solidFill>
                            <a:schemeClr val="dk1"/>
                          </a:solidFill>
                        </a:rPr>
                        <a:t>Move from mass customisation of offers (based on broad segments)</a:t>
                      </a:r>
                      <a:r>
                        <a:rPr b="1" lang="en-GB" sz="900">
                          <a:solidFill>
                            <a:schemeClr val="dk1"/>
                          </a:solidFill>
                        </a:rPr>
                        <a:t> </a:t>
                      </a:r>
                      <a:r>
                        <a:rPr b="1" lang="en-GB" sz="900">
                          <a:solidFill>
                            <a:schemeClr val="dk1"/>
                          </a:solidFill>
                        </a:rPr>
                        <a:t> to 1to</a:t>
                      </a:r>
                      <a:r>
                        <a:rPr b="1" lang="en-GB" sz="900">
                          <a:solidFill>
                            <a:schemeClr val="dk1"/>
                          </a:solidFill>
                        </a:rPr>
                        <a:t> 1</a:t>
                      </a:r>
                      <a:r>
                        <a:rPr b="1" lang="en-GB" sz="900">
                          <a:solidFill>
                            <a:schemeClr val="dk1"/>
                          </a:solidFill>
                        </a:rPr>
                        <a:t> personalisation of customer communications using individual customer 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Reduce the level of ‘broadcast’ communication and engage with customers on a one to one basis.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Establish a more engaging dialogue with customers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Improve the perception of the brand</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Increase the relevance of each communication to improve response</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Optimize marketing spend ROI by increasing leads effectiveness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Clr>
                          <a:schemeClr val="dk1"/>
                        </a:buClr>
                        <a:buSzPts val="900"/>
                        <a:buFont typeface="Arial"/>
                        <a:buNone/>
                      </a:pPr>
                      <a:r>
                        <a:rPr b="1" lang="en-GB" sz="900">
                          <a:solidFill>
                            <a:schemeClr val="dk1"/>
                          </a:solidFill>
                        </a:rPr>
                        <a:t>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Demographic, geo-demographic, behavioral or attitudinal 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Data from 1st party sources such as financial transactions, balances, account demographics, spending, attitudes or browsing behavior</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Data from 3rd party sources such as social media including hobbies, interests or brand affinities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Individually personalized quotes or illustrations based on customer circumstances, feedback or enquiries</a:t>
                      </a:r>
                      <a:endParaRPr/>
                    </a:p>
                    <a:p>
                      <a:pPr indent="0" lvl="0" marL="0" marR="0" rtl="0" algn="l">
                        <a:spcBef>
                          <a:spcPts val="0"/>
                        </a:spcBef>
                        <a:spcAft>
                          <a:spcPts val="0"/>
                        </a:spcAft>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Analysis of individual personalized elements of an offer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Affinities, behavioral</a:t>
                      </a:r>
                      <a:r>
                        <a:rPr b="0" lang="en-GB" sz="900">
                          <a:solidFill>
                            <a:schemeClr val="dk1"/>
                          </a:solidFill>
                        </a:rPr>
                        <a:t> segmentation</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response from content that customers find more relevant to their individual circumstances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Dynamical adaptation of customer interface</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conversion through more specific explanation of benefits / features or products and services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Higher levels of engagement and satisfaction with a companies’ brand due to more accurate messaging </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Ability to streamline creative production processes as result of move from segment based composition to individual construction of media using technologies like inline digital print</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229" name="Google Shape;2229;p130"/>
          <p:cNvGrpSpPr/>
          <p:nvPr/>
        </p:nvGrpSpPr>
        <p:grpSpPr>
          <a:xfrm>
            <a:off x="6659508" y="225152"/>
            <a:ext cx="2432605" cy="1508418"/>
            <a:chOff x="6030133" y="723902"/>
            <a:chExt cx="2432605" cy="1508418"/>
          </a:xfrm>
        </p:grpSpPr>
        <p:sp>
          <p:nvSpPr>
            <p:cNvPr id="2230" name="Google Shape;2230;p130"/>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231" name="Google Shape;2231;p130"/>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32" name="Google Shape;2232;p130"/>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33" name="Google Shape;2233;p130"/>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34" name="Google Shape;2234;p130"/>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235" name="Google Shape;2235;p130"/>
            <p:cNvGrpSpPr/>
            <p:nvPr/>
          </p:nvGrpSpPr>
          <p:grpSpPr>
            <a:xfrm>
              <a:off x="8107751" y="1342792"/>
              <a:ext cx="276507" cy="393460"/>
              <a:chOff x="6954288" y="1678075"/>
              <a:chExt cx="679456" cy="947737"/>
            </a:xfrm>
          </p:grpSpPr>
          <p:sp>
            <p:nvSpPr>
              <p:cNvPr id="2236" name="Google Shape;2236;p130"/>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37" name="Google Shape;2237;p130"/>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38" name="Google Shape;2238;p130"/>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39" name="Google Shape;2239;p130"/>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40" name="Google Shape;2240;p130"/>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241" name="Google Shape;2241;p130"/>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42" name="Google Shape;2242;p130"/>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43" name="Google Shape;2243;p130"/>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244" name="Google Shape;2244;p130"/>
            <p:cNvGrpSpPr/>
            <p:nvPr/>
          </p:nvGrpSpPr>
          <p:grpSpPr>
            <a:xfrm>
              <a:off x="6671216" y="765814"/>
              <a:ext cx="308250" cy="494711"/>
              <a:chOff x="2125012" y="-1063625"/>
              <a:chExt cx="1420813" cy="2235201"/>
            </a:xfrm>
          </p:grpSpPr>
          <p:sp>
            <p:nvSpPr>
              <p:cNvPr id="2245" name="Google Shape;2245;p130"/>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46" name="Google Shape;2246;p130"/>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247" name="Google Shape;2247;p130"/>
            <p:cNvGrpSpPr/>
            <p:nvPr/>
          </p:nvGrpSpPr>
          <p:grpSpPr>
            <a:xfrm>
              <a:off x="7987780" y="1794063"/>
              <a:ext cx="243489" cy="387124"/>
              <a:chOff x="6417856" y="340853"/>
              <a:chExt cx="217304" cy="589385"/>
            </a:xfrm>
          </p:grpSpPr>
          <p:sp>
            <p:nvSpPr>
              <p:cNvPr id="2248" name="Google Shape;2248;p130"/>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49" name="Google Shape;2249;p130"/>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250" name="Google Shape;2250;p130"/>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251" name="Google Shape;2251;p130"/>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2252" name="Google Shape;2252;p130"/>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53" name="Google Shape;2253;p130"/>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254" name="Google Shape;2254;p13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255" name="Google Shape;2255;p130"/>
          <p:cNvGrpSpPr/>
          <p:nvPr/>
        </p:nvGrpSpPr>
        <p:grpSpPr>
          <a:xfrm>
            <a:off x="7717533" y="4360377"/>
            <a:ext cx="1058348" cy="347375"/>
            <a:chOff x="7651698" y="4287227"/>
            <a:chExt cx="1058348" cy="347375"/>
          </a:xfrm>
        </p:grpSpPr>
        <p:grpSp>
          <p:nvGrpSpPr>
            <p:cNvPr id="2256" name="Google Shape;2256;p130"/>
            <p:cNvGrpSpPr/>
            <p:nvPr/>
          </p:nvGrpSpPr>
          <p:grpSpPr>
            <a:xfrm>
              <a:off x="7714163" y="4337598"/>
              <a:ext cx="995883" cy="297004"/>
              <a:chOff x="7711013" y="3986494"/>
              <a:chExt cx="995883" cy="297004"/>
            </a:xfrm>
          </p:grpSpPr>
          <p:sp>
            <p:nvSpPr>
              <p:cNvPr id="2257" name="Google Shape;2257;p130"/>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258" name="Google Shape;2258;p130"/>
              <p:cNvGrpSpPr/>
              <p:nvPr/>
            </p:nvGrpSpPr>
            <p:grpSpPr>
              <a:xfrm>
                <a:off x="7711013" y="4002615"/>
                <a:ext cx="281520" cy="241973"/>
                <a:chOff x="5652748" y="4066000"/>
                <a:chExt cx="906498" cy="747974"/>
              </a:xfrm>
            </p:grpSpPr>
            <p:sp>
              <p:nvSpPr>
                <p:cNvPr id="2259" name="Google Shape;2259;p13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60" name="Google Shape;2260;p13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261" name="Google Shape;2261;p13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262" name="Google Shape;2262;p130">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1" name="Shape 2281"/>
        <p:cNvGrpSpPr/>
        <p:nvPr/>
      </p:nvGrpSpPr>
      <p:grpSpPr>
        <a:xfrm>
          <a:off x="0" y="0"/>
          <a:ext cx="0" cy="0"/>
          <a:chOff x="0" y="0"/>
          <a:chExt cx="0" cy="0"/>
        </a:xfrm>
      </p:grpSpPr>
      <p:cxnSp>
        <p:nvCxnSpPr>
          <p:cNvPr id="2282" name="Google Shape;2282;p132"/>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283" name="Google Shape;2283;p132"/>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Next Best Action Arbitration </a:t>
            </a:r>
            <a:endParaRPr/>
          </a:p>
        </p:txBody>
      </p:sp>
      <p:graphicFrame>
        <p:nvGraphicFramePr>
          <p:cNvPr id="2284" name="Google Shape;2284;p132"/>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Determining the next best action for a customer when they interact with the company</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Calculate the next best action for a customer by arbitrating across the possible customer treatments that could be presented</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Prioritise possible customer treatments using models and segmentation based on the current value, potential value, propensity and status of the customer relationship</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Develop customer treatment strategies based on strategic objectives such as retain, cross sell, reduce risk, reduce cost or exit</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Create customer differentiated actions relevant to the status of the customer relationship and the recommendation – i.e. preferential service / pricing / relationship offer etc.</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Value – current, potential and remaining</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segmentation, satisfaction scores, complaints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Propensity Models for a number of outcomes including leave, cross-sell, up-sell, use service,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context when interacting in channel &amp; contact history</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Development of arbitration algorithms / decisioning to prioritize Next Best Action recommendation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Tracking of recommendation uptake – including product purchase / service usage / channel usage / product usage behavior</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Longer term tracking of strategic customer measures such as profitability / satisfaction / average product holdings / channel usage</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More appropriate customer  messaging (not just cross sales or offers) based on depth and nature of customer relationship</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focus on retention of profitable customer relationships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Better alignment between strategy and execution of activity</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More balanced offer solicitation across both sales and service – with the objective of deepening customer relationships and improving customer satisfaction</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customer perception of company communications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Lower marketing opt out rates caused by over solicitation</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285" name="Google Shape;2285;p132"/>
          <p:cNvGrpSpPr/>
          <p:nvPr/>
        </p:nvGrpSpPr>
        <p:grpSpPr>
          <a:xfrm>
            <a:off x="6659508" y="225152"/>
            <a:ext cx="2432605" cy="1508418"/>
            <a:chOff x="6030133" y="723902"/>
            <a:chExt cx="2432605" cy="1508418"/>
          </a:xfrm>
        </p:grpSpPr>
        <p:sp>
          <p:nvSpPr>
            <p:cNvPr id="2286" name="Google Shape;2286;p132"/>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287" name="Google Shape;2287;p132"/>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88" name="Google Shape;2288;p132"/>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89" name="Google Shape;2289;p132"/>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90" name="Google Shape;2290;p132"/>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291" name="Google Shape;2291;p132"/>
            <p:cNvGrpSpPr/>
            <p:nvPr/>
          </p:nvGrpSpPr>
          <p:grpSpPr>
            <a:xfrm>
              <a:off x="8107751" y="1342792"/>
              <a:ext cx="276507" cy="393460"/>
              <a:chOff x="6954288" y="1678075"/>
              <a:chExt cx="679456" cy="947737"/>
            </a:xfrm>
          </p:grpSpPr>
          <p:sp>
            <p:nvSpPr>
              <p:cNvPr id="2292" name="Google Shape;2292;p132"/>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93" name="Google Shape;2293;p132"/>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94" name="Google Shape;2294;p132"/>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95" name="Google Shape;2295;p132"/>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96" name="Google Shape;2296;p132"/>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297" name="Google Shape;2297;p132"/>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98" name="Google Shape;2298;p132"/>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99" name="Google Shape;2299;p132"/>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300" name="Google Shape;2300;p132"/>
            <p:cNvGrpSpPr/>
            <p:nvPr/>
          </p:nvGrpSpPr>
          <p:grpSpPr>
            <a:xfrm>
              <a:off x="6671216" y="765814"/>
              <a:ext cx="308250" cy="494711"/>
              <a:chOff x="2125012" y="-1063625"/>
              <a:chExt cx="1420813" cy="2235201"/>
            </a:xfrm>
          </p:grpSpPr>
          <p:sp>
            <p:nvSpPr>
              <p:cNvPr id="2301" name="Google Shape;2301;p132"/>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02" name="Google Shape;2302;p132"/>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303" name="Google Shape;2303;p132"/>
            <p:cNvGrpSpPr/>
            <p:nvPr/>
          </p:nvGrpSpPr>
          <p:grpSpPr>
            <a:xfrm>
              <a:off x="7987780" y="1794063"/>
              <a:ext cx="243489" cy="387124"/>
              <a:chOff x="6417856" y="340853"/>
              <a:chExt cx="217304" cy="589385"/>
            </a:xfrm>
          </p:grpSpPr>
          <p:sp>
            <p:nvSpPr>
              <p:cNvPr id="2304" name="Google Shape;2304;p132"/>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05" name="Google Shape;2305;p132"/>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306" name="Google Shape;2306;p132"/>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307" name="Google Shape;2307;p132"/>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2308" name="Google Shape;2308;p132"/>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09" name="Google Shape;2309;p132"/>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310" name="Google Shape;2310;p13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311" name="Google Shape;2311;p132"/>
          <p:cNvGrpSpPr/>
          <p:nvPr/>
        </p:nvGrpSpPr>
        <p:grpSpPr>
          <a:xfrm>
            <a:off x="7717533" y="4360377"/>
            <a:ext cx="1058348" cy="347375"/>
            <a:chOff x="7651698" y="4287227"/>
            <a:chExt cx="1058348" cy="347375"/>
          </a:xfrm>
        </p:grpSpPr>
        <p:grpSp>
          <p:nvGrpSpPr>
            <p:cNvPr id="2312" name="Google Shape;2312;p132"/>
            <p:cNvGrpSpPr/>
            <p:nvPr/>
          </p:nvGrpSpPr>
          <p:grpSpPr>
            <a:xfrm>
              <a:off x="7714163" y="4337598"/>
              <a:ext cx="995883" cy="297004"/>
              <a:chOff x="7711013" y="3986494"/>
              <a:chExt cx="995883" cy="297004"/>
            </a:xfrm>
          </p:grpSpPr>
          <p:sp>
            <p:nvSpPr>
              <p:cNvPr id="2313" name="Google Shape;2313;p132"/>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314" name="Google Shape;2314;p132"/>
              <p:cNvGrpSpPr/>
              <p:nvPr/>
            </p:nvGrpSpPr>
            <p:grpSpPr>
              <a:xfrm>
                <a:off x="7711013" y="4002615"/>
                <a:ext cx="281520" cy="241973"/>
                <a:chOff x="5652748" y="4066000"/>
                <a:chExt cx="906498" cy="747974"/>
              </a:xfrm>
            </p:grpSpPr>
            <p:sp>
              <p:nvSpPr>
                <p:cNvPr id="2315" name="Google Shape;2315;p132"/>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316" name="Google Shape;2316;p132"/>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317" name="Google Shape;2317;p132"/>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318" name="Google Shape;2318;p132">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7" name="Shape 2337"/>
        <p:cNvGrpSpPr/>
        <p:nvPr/>
      </p:nvGrpSpPr>
      <p:grpSpPr>
        <a:xfrm>
          <a:off x="0" y="0"/>
          <a:ext cx="0" cy="0"/>
          <a:chOff x="0" y="0"/>
          <a:chExt cx="0" cy="0"/>
        </a:xfrm>
      </p:grpSpPr>
      <p:cxnSp>
        <p:nvCxnSpPr>
          <p:cNvPr id="2338" name="Google Shape;2338;p134"/>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339" name="Google Shape;2339;p134"/>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Recommendation</a:t>
            </a:r>
            <a:endParaRPr sz="1600"/>
          </a:p>
        </p:txBody>
      </p:sp>
      <p:grpSp>
        <p:nvGrpSpPr>
          <p:cNvPr id="2340" name="Google Shape;2340;p134"/>
          <p:cNvGrpSpPr/>
          <p:nvPr/>
        </p:nvGrpSpPr>
        <p:grpSpPr>
          <a:xfrm>
            <a:off x="6659508" y="225152"/>
            <a:ext cx="2432605" cy="1508418"/>
            <a:chOff x="6030133" y="723902"/>
            <a:chExt cx="2432605" cy="1508418"/>
          </a:xfrm>
        </p:grpSpPr>
        <p:sp>
          <p:nvSpPr>
            <p:cNvPr id="2341" name="Google Shape;2341;p134"/>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342" name="Google Shape;2342;p134"/>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43" name="Google Shape;2343;p134"/>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44" name="Google Shape;2344;p134"/>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45" name="Google Shape;2345;p134"/>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346" name="Google Shape;2346;p134"/>
            <p:cNvGrpSpPr/>
            <p:nvPr/>
          </p:nvGrpSpPr>
          <p:grpSpPr>
            <a:xfrm>
              <a:off x="8107751" y="1342792"/>
              <a:ext cx="276507" cy="393460"/>
              <a:chOff x="6954288" y="1678075"/>
              <a:chExt cx="679456" cy="947737"/>
            </a:xfrm>
          </p:grpSpPr>
          <p:sp>
            <p:nvSpPr>
              <p:cNvPr id="2347" name="Google Shape;2347;p134"/>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348" name="Google Shape;2348;p134"/>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349" name="Google Shape;2349;p134"/>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350" name="Google Shape;2350;p134"/>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351" name="Google Shape;2351;p134"/>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352" name="Google Shape;2352;p134"/>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53" name="Google Shape;2353;p134"/>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54" name="Google Shape;2354;p134"/>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355" name="Google Shape;2355;p134"/>
            <p:cNvGrpSpPr/>
            <p:nvPr/>
          </p:nvGrpSpPr>
          <p:grpSpPr>
            <a:xfrm>
              <a:off x="6671216" y="765814"/>
              <a:ext cx="308250" cy="494711"/>
              <a:chOff x="2125012" y="-1063625"/>
              <a:chExt cx="1420813" cy="2235201"/>
            </a:xfrm>
          </p:grpSpPr>
          <p:sp>
            <p:nvSpPr>
              <p:cNvPr id="2356" name="Google Shape;2356;p134"/>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57" name="Google Shape;2357;p134"/>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358" name="Google Shape;2358;p134"/>
            <p:cNvGrpSpPr/>
            <p:nvPr/>
          </p:nvGrpSpPr>
          <p:grpSpPr>
            <a:xfrm>
              <a:off x="7987780" y="1794063"/>
              <a:ext cx="243489" cy="387124"/>
              <a:chOff x="6417856" y="340853"/>
              <a:chExt cx="217304" cy="589385"/>
            </a:xfrm>
          </p:grpSpPr>
          <p:sp>
            <p:nvSpPr>
              <p:cNvPr id="2359" name="Google Shape;2359;p134"/>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60" name="Google Shape;2360;p134"/>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361" name="Google Shape;2361;p134"/>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362" name="Google Shape;2362;p134"/>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2363" name="Google Shape;2363;p134"/>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64" name="Google Shape;2364;p134"/>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aphicFrame>
        <p:nvGraphicFramePr>
          <p:cNvPr id="2365" name="Google Shape;2365;p134"/>
          <p:cNvGraphicFramePr/>
          <p:nvPr/>
        </p:nvGraphicFramePr>
        <p:xfrm>
          <a:off x="382967" y="707190"/>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Present the most relevant product</a:t>
                      </a:r>
                      <a:r>
                        <a:rPr b="1" lang="en-GB" sz="900">
                          <a:solidFill>
                            <a:schemeClr val="dk1"/>
                          </a:solidFill>
                        </a:rPr>
                        <a:t> recommendation(s) based upon a customer/prospects interactions and previous behaviour</a:t>
                      </a:r>
                      <a:endParaRPr b="1" sz="900">
                        <a:solidFill>
                          <a:schemeClr val="dk1"/>
                        </a:solidFill>
                      </a:endParaRPr>
                    </a:p>
                    <a:p>
                      <a:pPr indent="0" lvl="0" marL="0" marR="0" rtl="0" algn="l">
                        <a:spcBef>
                          <a:spcPts val="0"/>
                        </a:spcBef>
                        <a:spcAft>
                          <a:spcPts val="0"/>
                        </a:spcAft>
                        <a:buNone/>
                      </a:pPr>
                      <a:r>
                        <a:t/>
                      </a:r>
                      <a:endParaRPr b="1"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Drive</a:t>
                      </a:r>
                      <a:r>
                        <a:rPr b="0" lang="en-GB" sz="900">
                          <a:solidFill>
                            <a:schemeClr val="dk1"/>
                          </a:solidFill>
                        </a:rPr>
                        <a:t> increased transaction or basket size through product recommendations</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Extensive past</a:t>
                      </a:r>
                      <a:r>
                        <a:rPr b="0" lang="en-GB" sz="900">
                          <a:solidFill>
                            <a:schemeClr val="dk1"/>
                          </a:solidFill>
                        </a:rPr>
                        <a:t> customer purchasing histories</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demographics &amp; segmentation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context when interacting in channel</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contact history</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Multiple affinity analysis techniques – EG C Filter, Graph</a:t>
                      </a:r>
                      <a:r>
                        <a:rPr b="0" lang="en-GB" sz="900">
                          <a:solidFill>
                            <a:schemeClr val="dk1"/>
                          </a:solidFill>
                        </a:rPr>
                        <a:t> Analysis, Propensity Modelling</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Development of arbitration algorithms / decisioning to prioritise product recommendation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Tracking of recommendation uptake – including product purchase / service usage / channel usage / product usage behavior</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Longer term tracking of strategic customer measures such as profitability / satisfaction / average product holdings / channel usa</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Increased product sales and margin driven from improved recommendations and better targeted offers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Increased Customer Satisfaction &amp; Engagement</a:t>
                      </a:r>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366" name="Google Shape;2366;p13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367" name="Google Shape;2367;p134"/>
          <p:cNvGrpSpPr/>
          <p:nvPr/>
        </p:nvGrpSpPr>
        <p:grpSpPr>
          <a:xfrm>
            <a:off x="7717533" y="4360377"/>
            <a:ext cx="1058348" cy="347375"/>
            <a:chOff x="7651698" y="4287227"/>
            <a:chExt cx="1058348" cy="347375"/>
          </a:xfrm>
        </p:grpSpPr>
        <p:grpSp>
          <p:nvGrpSpPr>
            <p:cNvPr id="2368" name="Google Shape;2368;p134"/>
            <p:cNvGrpSpPr/>
            <p:nvPr/>
          </p:nvGrpSpPr>
          <p:grpSpPr>
            <a:xfrm>
              <a:off x="7714163" y="4337598"/>
              <a:ext cx="995883" cy="297004"/>
              <a:chOff x="7711013" y="3986494"/>
              <a:chExt cx="995883" cy="297004"/>
            </a:xfrm>
          </p:grpSpPr>
          <p:sp>
            <p:nvSpPr>
              <p:cNvPr id="2369" name="Google Shape;2369;p13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370" name="Google Shape;2370;p134"/>
              <p:cNvGrpSpPr/>
              <p:nvPr/>
            </p:nvGrpSpPr>
            <p:grpSpPr>
              <a:xfrm>
                <a:off x="7711013" y="4002615"/>
                <a:ext cx="281520" cy="241973"/>
                <a:chOff x="5652748" y="4066000"/>
                <a:chExt cx="906498" cy="747974"/>
              </a:xfrm>
            </p:grpSpPr>
            <p:sp>
              <p:nvSpPr>
                <p:cNvPr id="2371" name="Google Shape;2371;p13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372" name="Google Shape;2372;p13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373" name="Google Shape;2373;p13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374" name="Google Shape;2374;p134">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3" name="Shape 2393"/>
        <p:cNvGrpSpPr/>
        <p:nvPr/>
      </p:nvGrpSpPr>
      <p:grpSpPr>
        <a:xfrm>
          <a:off x="0" y="0"/>
          <a:ext cx="0" cy="0"/>
          <a:chOff x="0" y="0"/>
          <a:chExt cx="0" cy="0"/>
        </a:xfrm>
      </p:grpSpPr>
      <p:cxnSp>
        <p:nvCxnSpPr>
          <p:cNvPr id="2394" name="Google Shape;2394;p136"/>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395" name="Google Shape;2395;p136"/>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Multi-step Campaigns</a:t>
            </a:r>
            <a:endParaRPr/>
          </a:p>
        </p:txBody>
      </p:sp>
      <p:graphicFrame>
        <p:nvGraphicFramePr>
          <p:cNvPr id="2396" name="Google Shape;2396;p136"/>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Create relevant 2-way dialogue </a:t>
                      </a:r>
                      <a:r>
                        <a:rPr b="1" lang="en-GB" sz="900">
                          <a:solidFill>
                            <a:schemeClr val="dk1"/>
                          </a:solidFill>
                        </a:rPr>
                        <a:t> with customers by determining next interaction based on outcome of previous  interactions</a:t>
                      </a:r>
                      <a:endParaRPr b="1"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Traditional directly marketing activity employed single step episodic approaches when communicating with customers – largely ignoring any feedback received  from the customer</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Use multi-step dialogues to improve the relevance of customer communications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Tailor the content of each step based on the outcomes (or lack of outcome) received from the previous step of a campaign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Orchestrate complex customer journeys - as the detail of outcomes / feedback captured improves and channel coverage expands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Dynamically react to customer journeys at a micro level as the interaction progresses E.g. online customer journey click by click</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1450" lvl="0" marL="171450" marR="0" rtl="0" algn="l">
                        <a:lnSpc>
                          <a:spcPct val="95000"/>
                        </a:lnSpc>
                        <a:spcBef>
                          <a:spcPts val="0"/>
                        </a:spcBef>
                        <a:spcAft>
                          <a:spcPts val="0"/>
                        </a:spcAft>
                        <a:buClr>
                          <a:schemeClr val="dk1"/>
                        </a:buClr>
                        <a:buSzPts val="800"/>
                        <a:buFont typeface="Arial"/>
                        <a:buChar char="•"/>
                      </a:pPr>
                      <a:r>
                        <a:rPr b="0" lang="en-GB" sz="800">
                          <a:solidFill>
                            <a:schemeClr val="dk1"/>
                          </a:solidFill>
                        </a:rPr>
                        <a:t>Event triggers and customer listening agents to trigger contact opportunities / measure success</a:t>
                      </a:r>
                      <a:endParaRPr/>
                    </a:p>
                    <a:p>
                      <a:pPr indent="-171450" lvl="0" marL="171450" marR="0" rtl="0" algn="l">
                        <a:lnSpc>
                          <a:spcPct val="95000"/>
                        </a:lnSpc>
                        <a:spcBef>
                          <a:spcPts val="0"/>
                        </a:spcBef>
                        <a:spcAft>
                          <a:spcPts val="0"/>
                        </a:spcAft>
                        <a:buClr>
                          <a:schemeClr val="dk1"/>
                        </a:buClr>
                        <a:buSzPts val="800"/>
                        <a:buFont typeface="Arial"/>
                        <a:buChar char="•"/>
                      </a:pPr>
                      <a:r>
                        <a:rPr b="0" lang="en-GB" sz="800">
                          <a:solidFill>
                            <a:schemeClr val="dk1"/>
                          </a:solidFill>
                        </a:rPr>
                        <a:t>Detailed closed loop outcomes from channels to trigger stepping of campaign activity</a:t>
                      </a:r>
                      <a:endParaRPr/>
                    </a:p>
                    <a:p>
                      <a:pPr indent="-171450" lvl="0" marL="171450" marR="0" rtl="0" algn="l">
                        <a:lnSpc>
                          <a:spcPct val="95000"/>
                        </a:lnSpc>
                        <a:spcBef>
                          <a:spcPts val="0"/>
                        </a:spcBef>
                        <a:spcAft>
                          <a:spcPts val="0"/>
                        </a:spcAft>
                        <a:buClr>
                          <a:schemeClr val="dk1"/>
                        </a:buClr>
                        <a:buSzPts val="800"/>
                        <a:buFont typeface="Arial"/>
                        <a:buChar char="•"/>
                      </a:pPr>
                      <a:r>
                        <a:rPr b="0" lang="en-GB" sz="800">
                          <a:solidFill>
                            <a:schemeClr val="dk1"/>
                          </a:solidFill>
                        </a:rPr>
                        <a:t>Campaign management functionality to orchestrate customer journey steps and automate campaign execution</a:t>
                      </a:r>
                      <a:endParaRPr/>
                    </a:p>
                    <a:p>
                      <a:pPr indent="-171450" lvl="0" marL="171450" marR="0" rtl="0" algn="l">
                        <a:lnSpc>
                          <a:spcPct val="95000"/>
                        </a:lnSpc>
                        <a:spcBef>
                          <a:spcPts val="0"/>
                        </a:spcBef>
                        <a:spcAft>
                          <a:spcPts val="0"/>
                        </a:spcAft>
                        <a:buClr>
                          <a:schemeClr val="dk1"/>
                        </a:buClr>
                        <a:buSzPts val="800"/>
                        <a:buFont typeface="Arial"/>
                        <a:buChar char="•"/>
                      </a:pPr>
                      <a:r>
                        <a:rPr b="0" lang="en-GB" sz="800">
                          <a:solidFill>
                            <a:schemeClr val="dk1"/>
                          </a:solidFill>
                        </a:rPr>
                        <a:t>Contact policy framework to control solicitation</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lnSpc>
                          <a:spcPct val="95000"/>
                        </a:lnSpc>
                        <a:spcBef>
                          <a:spcPts val="0"/>
                        </a:spcBef>
                        <a:spcAft>
                          <a:spcPts val="0"/>
                        </a:spcAft>
                        <a:buClr>
                          <a:schemeClr val="dk1"/>
                        </a:buClr>
                        <a:buSzPts val="800"/>
                        <a:buFont typeface="Arial"/>
                        <a:buChar char="•"/>
                      </a:pPr>
                      <a:r>
                        <a:rPr b="0" lang="en-GB" sz="800">
                          <a:solidFill>
                            <a:schemeClr val="dk1"/>
                          </a:solidFill>
                        </a:rPr>
                        <a:t>Detailed campaign analysis – show proportion of customers being stepped through campaign communications and measurement of success criteria at each stage</a:t>
                      </a:r>
                      <a:endParaRPr/>
                    </a:p>
                    <a:p>
                      <a:pPr indent="-171450" lvl="0" marL="171450" marR="0" rtl="0" algn="l">
                        <a:lnSpc>
                          <a:spcPct val="95000"/>
                        </a:lnSpc>
                        <a:spcBef>
                          <a:spcPts val="0"/>
                        </a:spcBef>
                        <a:spcAft>
                          <a:spcPts val="0"/>
                        </a:spcAft>
                        <a:buClr>
                          <a:schemeClr val="dk1"/>
                        </a:buClr>
                        <a:buSzPts val="800"/>
                        <a:buFont typeface="Arial"/>
                        <a:buChar char="•"/>
                      </a:pPr>
                      <a:r>
                        <a:rPr b="0" lang="en-GB" sz="800">
                          <a:solidFill>
                            <a:schemeClr val="dk1"/>
                          </a:solidFill>
                        </a:rPr>
                        <a:t>Test &amp; learn analytics to optimise content / targeting within and across campaign steps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response to campaigns as a result of relevant and linked communication</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Reduced cost of activity through qualified follow-ups and channel optimisation for follow-up messaging</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 customer perception of relevance of communications with reduction in the number of marketing opt outs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Efficiency improvements from ability to automate activity using campaign management tools</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397" name="Google Shape;2397;p136"/>
          <p:cNvGrpSpPr/>
          <p:nvPr/>
        </p:nvGrpSpPr>
        <p:grpSpPr>
          <a:xfrm>
            <a:off x="6659508" y="225152"/>
            <a:ext cx="2432605" cy="1508418"/>
            <a:chOff x="6030133" y="723902"/>
            <a:chExt cx="2432605" cy="1508418"/>
          </a:xfrm>
        </p:grpSpPr>
        <p:sp>
          <p:nvSpPr>
            <p:cNvPr id="2398" name="Google Shape;2398;p136"/>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399" name="Google Shape;2399;p136"/>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00" name="Google Shape;2400;p136"/>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01" name="Google Shape;2401;p136"/>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02" name="Google Shape;2402;p136"/>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403" name="Google Shape;2403;p136"/>
            <p:cNvGrpSpPr/>
            <p:nvPr/>
          </p:nvGrpSpPr>
          <p:grpSpPr>
            <a:xfrm>
              <a:off x="8107751" y="1342792"/>
              <a:ext cx="276507" cy="393460"/>
              <a:chOff x="6954288" y="1678075"/>
              <a:chExt cx="679456" cy="947737"/>
            </a:xfrm>
          </p:grpSpPr>
          <p:sp>
            <p:nvSpPr>
              <p:cNvPr id="2404" name="Google Shape;2404;p136"/>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05" name="Google Shape;2405;p136"/>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06" name="Google Shape;2406;p136"/>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07" name="Google Shape;2407;p136"/>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08" name="Google Shape;2408;p136"/>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409" name="Google Shape;2409;p136"/>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10" name="Google Shape;2410;p136"/>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11" name="Google Shape;2411;p136"/>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412" name="Google Shape;2412;p136"/>
            <p:cNvGrpSpPr/>
            <p:nvPr/>
          </p:nvGrpSpPr>
          <p:grpSpPr>
            <a:xfrm>
              <a:off x="6671216" y="765814"/>
              <a:ext cx="308250" cy="494711"/>
              <a:chOff x="2125012" y="-1063625"/>
              <a:chExt cx="1420813" cy="2235201"/>
            </a:xfrm>
          </p:grpSpPr>
          <p:sp>
            <p:nvSpPr>
              <p:cNvPr id="2413" name="Google Shape;2413;p136"/>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14" name="Google Shape;2414;p136"/>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415" name="Google Shape;2415;p136"/>
            <p:cNvGrpSpPr/>
            <p:nvPr/>
          </p:nvGrpSpPr>
          <p:grpSpPr>
            <a:xfrm>
              <a:off x="7987780" y="1794063"/>
              <a:ext cx="243489" cy="387124"/>
              <a:chOff x="6417856" y="340853"/>
              <a:chExt cx="217304" cy="589385"/>
            </a:xfrm>
          </p:grpSpPr>
          <p:sp>
            <p:nvSpPr>
              <p:cNvPr id="2416" name="Google Shape;2416;p136"/>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17" name="Google Shape;2417;p136"/>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418" name="Google Shape;2418;p136"/>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419" name="Google Shape;2419;p136"/>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2420" name="Google Shape;2420;p136"/>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21" name="Google Shape;2421;p136"/>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422" name="Google Shape;2422;p13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423" name="Google Shape;2423;p136"/>
          <p:cNvGrpSpPr/>
          <p:nvPr/>
        </p:nvGrpSpPr>
        <p:grpSpPr>
          <a:xfrm>
            <a:off x="7717533" y="4360377"/>
            <a:ext cx="1058348" cy="347375"/>
            <a:chOff x="7651698" y="4287227"/>
            <a:chExt cx="1058348" cy="347375"/>
          </a:xfrm>
        </p:grpSpPr>
        <p:grpSp>
          <p:nvGrpSpPr>
            <p:cNvPr id="2424" name="Google Shape;2424;p136"/>
            <p:cNvGrpSpPr/>
            <p:nvPr/>
          </p:nvGrpSpPr>
          <p:grpSpPr>
            <a:xfrm>
              <a:off x="7714163" y="4337598"/>
              <a:ext cx="995883" cy="297004"/>
              <a:chOff x="7711013" y="3986494"/>
              <a:chExt cx="995883" cy="297004"/>
            </a:xfrm>
          </p:grpSpPr>
          <p:sp>
            <p:nvSpPr>
              <p:cNvPr id="2425" name="Google Shape;2425;p13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426" name="Google Shape;2426;p136"/>
              <p:cNvGrpSpPr/>
              <p:nvPr/>
            </p:nvGrpSpPr>
            <p:grpSpPr>
              <a:xfrm>
                <a:off x="7711013" y="4002615"/>
                <a:ext cx="281520" cy="241973"/>
                <a:chOff x="5652748" y="4066000"/>
                <a:chExt cx="906498" cy="747974"/>
              </a:xfrm>
            </p:grpSpPr>
            <p:sp>
              <p:nvSpPr>
                <p:cNvPr id="2427" name="Google Shape;2427;p13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428" name="Google Shape;2428;p13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429" name="Google Shape;2429;p13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430" name="Google Shape;2430;p136">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9" name="Shape 2449"/>
        <p:cNvGrpSpPr/>
        <p:nvPr/>
      </p:nvGrpSpPr>
      <p:grpSpPr>
        <a:xfrm>
          <a:off x="0" y="0"/>
          <a:ext cx="0" cy="0"/>
          <a:chOff x="0" y="0"/>
          <a:chExt cx="0" cy="0"/>
        </a:xfrm>
      </p:grpSpPr>
      <p:graphicFrame>
        <p:nvGraphicFramePr>
          <p:cNvPr id="2450" name="Google Shape;2450;p138"/>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Analyzing the impact a specific campaign  or groups of campaigns against the goal for the campaign and</a:t>
                      </a:r>
                      <a:r>
                        <a:rPr lang="en-GB" sz="900"/>
                        <a:t> utilize that information to improve the results of future campaigns</a:t>
                      </a:r>
                      <a:endParaRPr sz="900"/>
                    </a:p>
                    <a:p>
                      <a:pPr indent="0" lvl="0" marL="0" marR="0" rtl="0" algn="l">
                        <a:spcBef>
                          <a:spcPts val="0"/>
                        </a:spcBef>
                        <a:spcAft>
                          <a:spcPts val="0"/>
                        </a:spcAft>
                        <a:buNone/>
                      </a:pPr>
                      <a:r>
                        <a:t/>
                      </a:r>
                      <a:endParaRPr b="1"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Measure how</a:t>
                      </a:r>
                      <a:r>
                        <a:rPr b="0" lang="en-GB" sz="900">
                          <a:solidFill>
                            <a:schemeClr val="dk1"/>
                          </a:solidFill>
                        </a:rPr>
                        <a:t> well each campaign is achieving its state goal – e.g., sales,  retention, upgrades, channel migration, etc. – across products, regions, demographics and other relevant segmentation criteria.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Utilize Right-Time analytics to transform those results into  potentially enhanced messaging, targeting and offering for subsequent iterations of that same campaign.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Monitor select KPIs beyond the stated objectives to understand any significant “unintended consequences” of the campaign.</a:t>
                      </a:r>
                      <a:endParaRPr/>
                    </a:p>
                    <a:p>
                      <a:pPr indent="-114300" lvl="0" marL="171450" marR="0" rtl="0" algn="l">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Campaign Targeting and Control Group Information</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Pre-campaign, current  and post-campaign data for relevant metrics (e.g., sales, retention, upgrades,  channel usage, etc.)</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Pre-campaign, current and post-campaign data on other KPIs, not a point of focus for the particular campaign</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Champion-challenger (A/B) testing</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Path Analytics for multi-touch campaigns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Profitability and Life-Time Value (LTV) analysis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Sophisticated response measurement based on actual and inferred response metrics.</a:t>
                      </a:r>
                      <a:endParaRPr/>
                    </a:p>
                    <a:p>
                      <a:pPr indent="0" lvl="0" marL="0" marR="0" rtl="0" algn="l">
                        <a:spcBef>
                          <a:spcPts val="0"/>
                        </a:spcBef>
                        <a:spcAft>
                          <a:spcPts val="0"/>
                        </a:spcAft>
                        <a:buClr>
                          <a:schemeClr val="dk1"/>
                        </a:buClr>
                        <a:buSzPts val="900"/>
                        <a:buFont typeface="Arial"/>
                        <a:buNone/>
                      </a:pPr>
                      <a:r>
                        <a:rPr lang="en-GB" sz="900">
                          <a:solidFill>
                            <a:schemeClr val="dk1"/>
                          </a:solidFill>
                        </a:rPr>
                        <a:t>.</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performance (sales, retention, channel migration, etc.) from campaigns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 process in which campaigns can be modified in-flight based on quantitative results relative to control groups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create subsequent campaigns based on relevant learnings from previous campaigns.</a:t>
                      </a:r>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cxnSp>
        <p:nvCxnSpPr>
          <p:cNvPr id="2451" name="Google Shape;2451;p138"/>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452" name="Google Shape;2452;p13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
        <p:nvSpPr>
          <p:cNvPr id="2453" name="Google Shape;2453;p138"/>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Marketing Effectiveness</a:t>
            </a:r>
            <a:endParaRPr/>
          </a:p>
        </p:txBody>
      </p:sp>
      <p:grpSp>
        <p:nvGrpSpPr>
          <p:cNvPr id="2454" name="Google Shape;2454;p138"/>
          <p:cNvGrpSpPr/>
          <p:nvPr/>
        </p:nvGrpSpPr>
        <p:grpSpPr>
          <a:xfrm>
            <a:off x="6659508" y="225152"/>
            <a:ext cx="2432605" cy="1508418"/>
            <a:chOff x="6030133" y="723902"/>
            <a:chExt cx="2432605" cy="1508418"/>
          </a:xfrm>
        </p:grpSpPr>
        <p:sp>
          <p:nvSpPr>
            <p:cNvPr id="2455" name="Google Shape;2455;p138"/>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456" name="Google Shape;2456;p138"/>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57" name="Google Shape;2457;p138"/>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58" name="Google Shape;2458;p138"/>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59" name="Google Shape;2459;p138"/>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460" name="Google Shape;2460;p138"/>
            <p:cNvGrpSpPr/>
            <p:nvPr/>
          </p:nvGrpSpPr>
          <p:grpSpPr>
            <a:xfrm>
              <a:off x="8107751" y="1342792"/>
              <a:ext cx="276507" cy="393460"/>
              <a:chOff x="6954288" y="1678075"/>
              <a:chExt cx="679456" cy="947737"/>
            </a:xfrm>
          </p:grpSpPr>
          <p:sp>
            <p:nvSpPr>
              <p:cNvPr id="2461" name="Google Shape;2461;p138"/>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62" name="Google Shape;2462;p138"/>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63" name="Google Shape;2463;p138"/>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64" name="Google Shape;2464;p138"/>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65" name="Google Shape;2465;p138"/>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466" name="Google Shape;2466;p138"/>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67" name="Google Shape;2467;p138"/>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68" name="Google Shape;2468;p138"/>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469" name="Google Shape;2469;p138"/>
            <p:cNvGrpSpPr/>
            <p:nvPr/>
          </p:nvGrpSpPr>
          <p:grpSpPr>
            <a:xfrm>
              <a:off x="6671216" y="765814"/>
              <a:ext cx="308250" cy="494711"/>
              <a:chOff x="2125012" y="-1063625"/>
              <a:chExt cx="1420813" cy="2235201"/>
            </a:xfrm>
          </p:grpSpPr>
          <p:sp>
            <p:nvSpPr>
              <p:cNvPr id="2470" name="Google Shape;2470;p138"/>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71" name="Google Shape;2471;p138"/>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472" name="Google Shape;2472;p138"/>
            <p:cNvGrpSpPr/>
            <p:nvPr/>
          </p:nvGrpSpPr>
          <p:grpSpPr>
            <a:xfrm>
              <a:off x="7987780" y="1794063"/>
              <a:ext cx="243489" cy="387124"/>
              <a:chOff x="6417856" y="340853"/>
              <a:chExt cx="217304" cy="589385"/>
            </a:xfrm>
          </p:grpSpPr>
          <p:sp>
            <p:nvSpPr>
              <p:cNvPr id="2473" name="Google Shape;2473;p138"/>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74" name="Google Shape;2474;p138"/>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475" name="Google Shape;2475;p138"/>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476" name="Google Shape;2476;p138"/>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2477" name="Google Shape;2477;p138"/>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78" name="Google Shape;2478;p138"/>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479" name="Google Shape;2479;p138"/>
          <p:cNvGrpSpPr/>
          <p:nvPr/>
        </p:nvGrpSpPr>
        <p:grpSpPr>
          <a:xfrm>
            <a:off x="7717533" y="4360377"/>
            <a:ext cx="1058348" cy="347375"/>
            <a:chOff x="7651698" y="4287227"/>
            <a:chExt cx="1058348" cy="347375"/>
          </a:xfrm>
        </p:grpSpPr>
        <p:grpSp>
          <p:nvGrpSpPr>
            <p:cNvPr id="2480" name="Google Shape;2480;p138"/>
            <p:cNvGrpSpPr/>
            <p:nvPr/>
          </p:nvGrpSpPr>
          <p:grpSpPr>
            <a:xfrm>
              <a:off x="7714163" y="4337598"/>
              <a:ext cx="995883" cy="297004"/>
              <a:chOff x="7711013" y="3986494"/>
              <a:chExt cx="995883" cy="297004"/>
            </a:xfrm>
          </p:grpSpPr>
          <p:sp>
            <p:nvSpPr>
              <p:cNvPr id="2481" name="Google Shape;2481;p13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482" name="Google Shape;2482;p138"/>
              <p:cNvGrpSpPr/>
              <p:nvPr/>
            </p:nvGrpSpPr>
            <p:grpSpPr>
              <a:xfrm>
                <a:off x="7711013" y="4002615"/>
                <a:ext cx="281520" cy="241973"/>
                <a:chOff x="5652748" y="4066000"/>
                <a:chExt cx="906498" cy="747974"/>
              </a:xfrm>
            </p:grpSpPr>
            <p:sp>
              <p:nvSpPr>
                <p:cNvPr id="2483" name="Google Shape;2483;p13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484" name="Google Shape;2484;p13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485" name="Google Shape;2485;p13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486" name="Google Shape;2486;p138">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5" name="Shape 2505"/>
        <p:cNvGrpSpPr/>
        <p:nvPr/>
      </p:nvGrpSpPr>
      <p:grpSpPr>
        <a:xfrm>
          <a:off x="0" y="0"/>
          <a:ext cx="0" cy="0"/>
          <a:chOff x="0" y="0"/>
          <a:chExt cx="0" cy="0"/>
        </a:xfrm>
      </p:grpSpPr>
      <p:cxnSp>
        <p:nvCxnSpPr>
          <p:cNvPr id="2506" name="Google Shape;2506;p140"/>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507" name="Google Shape;2507;p140"/>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Marketing Attribution</a:t>
            </a:r>
            <a:endParaRPr sz="1600"/>
          </a:p>
        </p:txBody>
      </p:sp>
      <p:graphicFrame>
        <p:nvGraphicFramePr>
          <p:cNvPr id="2508" name="Google Shape;2508;p140"/>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Clr>
                          <a:schemeClr val="dk1"/>
                        </a:buClr>
                        <a:buSzPts val="900"/>
                        <a:buFont typeface="Century Gothic"/>
                        <a:buNone/>
                      </a:pPr>
                      <a:r>
                        <a:rPr b="1" lang="en-GB" sz="900"/>
                        <a:t>Analyze  customer path to conversion  to determine the impact  of interactions  on conversion and  attribute the value of each interaction to sales, or some other specific conversion type</a:t>
                      </a:r>
                      <a:endParaRPr b="1" sz="900"/>
                    </a:p>
                    <a:p>
                      <a:pPr indent="-171450" lvl="0" marL="171450" marR="0" rtl="0" algn="l">
                        <a:spcBef>
                          <a:spcPts val="0"/>
                        </a:spcBef>
                        <a:spcAft>
                          <a:spcPts val="0"/>
                        </a:spcAft>
                        <a:buClr>
                          <a:schemeClr val="dk1"/>
                        </a:buClr>
                        <a:buSzPts val="900"/>
                        <a:buFont typeface="Arial"/>
                        <a:buChar char="•"/>
                      </a:pPr>
                      <a:r>
                        <a:rPr b="0" lang="en-GB" sz="900">
                          <a:solidFill>
                            <a:schemeClr val="dk1"/>
                          </a:solidFill>
                        </a:rPr>
                        <a:t>Investigate and develop alternative attribution methodologies to define an</a:t>
                      </a:r>
                      <a:r>
                        <a:rPr b="0" lang="en-GB" sz="900">
                          <a:solidFill>
                            <a:schemeClr val="dk1"/>
                          </a:solidFill>
                        </a:rPr>
                        <a:t> agreed measurement process for Marketing spend</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Integrate</a:t>
                      </a:r>
                      <a:r>
                        <a:rPr b="0" lang="en-GB" sz="900">
                          <a:solidFill>
                            <a:schemeClr val="dk1"/>
                          </a:solidFill>
                        </a:rPr>
                        <a:t> all customer interactions into a customer journey path to enable full understanding of customer behaviour</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Identify media channels and channel mix that generates highest ROI</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Optimise  an increasingly full mix of marketing activity </a:t>
                      </a:r>
                      <a:endParaRPr/>
                    </a:p>
                    <a:p>
                      <a:pPr indent="-114300" lvl="0" marL="171450" marR="0" rtl="0" algn="l">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Marketing spend by marketing vehicle/channel</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Communication history data for all channels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Response data from channel systems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Outcome data from sales / service processes / appointment booking systems to measure success</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Development of attribution logic using statistical techniques and rule sets  such as survival analysis or path analysis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Methodology to create a weighted attribution of the contribution of channels involved in a particular sales or service outcome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Creation of dashboards and reporting by aggregate  product / channel / media level as well as individual campaign reporting</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sales from better targeted Marketing investment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Marketing efficiency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Better utilization of marketing budget from more accurate reporting of marketing effectiveness  and contribution by channel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accurate reporting on campaign ROI by avoiding double counting of sales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transparency of channel contribution across the organisation</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Efficient use of analyst time – able to automate attribution process and create lights out reporting</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509" name="Google Shape;2509;p140"/>
          <p:cNvGrpSpPr/>
          <p:nvPr/>
        </p:nvGrpSpPr>
        <p:grpSpPr>
          <a:xfrm>
            <a:off x="6659508" y="225152"/>
            <a:ext cx="2432605" cy="1508418"/>
            <a:chOff x="6030133" y="723902"/>
            <a:chExt cx="2432605" cy="1508418"/>
          </a:xfrm>
        </p:grpSpPr>
        <p:sp>
          <p:nvSpPr>
            <p:cNvPr id="2510" name="Google Shape;2510;p140"/>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511" name="Google Shape;2511;p140"/>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12" name="Google Shape;2512;p140"/>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13" name="Google Shape;2513;p140"/>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14" name="Google Shape;2514;p140"/>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515" name="Google Shape;2515;p140"/>
            <p:cNvGrpSpPr/>
            <p:nvPr/>
          </p:nvGrpSpPr>
          <p:grpSpPr>
            <a:xfrm>
              <a:off x="8107751" y="1342792"/>
              <a:ext cx="276507" cy="393460"/>
              <a:chOff x="6954288" y="1678075"/>
              <a:chExt cx="679456" cy="947737"/>
            </a:xfrm>
          </p:grpSpPr>
          <p:sp>
            <p:nvSpPr>
              <p:cNvPr id="2516" name="Google Shape;2516;p140"/>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17" name="Google Shape;2517;p140"/>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18" name="Google Shape;2518;p140"/>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19" name="Google Shape;2519;p140"/>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20" name="Google Shape;2520;p140"/>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521" name="Google Shape;2521;p140"/>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22" name="Google Shape;2522;p140"/>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23" name="Google Shape;2523;p140"/>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524" name="Google Shape;2524;p140"/>
            <p:cNvGrpSpPr/>
            <p:nvPr/>
          </p:nvGrpSpPr>
          <p:grpSpPr>
            <a:xfrm>
              <a:off x="6671216" y="765814"/>
              <a:ext cx="308250" cy="494711"/>
              <a:chOff x="2125012" y="-1063625"/>
              <a:chExt cx="1420813" cy="2235201"/>
            </a:xfrm>
          </p:grpSpPr>
          <p:sp>
            <p:nvSpPr>
              <p:cNvPr id="2525" name="Google Shape;2525;p140"/>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26" name="Google Shape;2526;p140"/>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527" name="Google Shape;2527;p140"/>
            <p:cNvGrpSpPr/>
            <p:nvPr/>
          </p:nvGrpSpPr>
          <p:grpSpPr>
            <a:xfrm>
              <a:off x="7987780" y="1794063"/>
              <a:ext cx="243489" cy="387124"/>
              <a:chOff x="6417856" y="340853"/>
              <a:chExt cx="217304" cy="589385"/>
            </a:xfrm>
          </p:grpSpPr>
          <p:sp>
            <p:nvSpPr>
              <p:cNvPr id="2528" name="Google Shape;2528;p140"/>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29" name="Google Shape;2529;p140"/>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530" name="Google Shape;2530;p140"/>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531" name="Google Shape;2531;p140"/>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2532" name="Google Shape;2532;p140"/>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33" name="Google Shape;2533;p140"/>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534" name="Google Shape;2534;p14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535" name="Google Shape;2535;p140"/>
          <p:cNvGrpSpPr/>
          <p:nvPr/>
        </p:nvGrpSpPr>
        <p:grpSpPr>
          <a:xfrm>
            <a:off x="7717533" y="4360377"/>
            <a:ext cx="1058348" cy="347375"/>
            <a:chOff x="7651698" y="4287227"/>
            <a:chExt cx="1058348" cy="347375"/>
          </a:xfrm>
        </p:grpSpPr>
        <p:grpSp>
          <p:nvGrpSpPr>
            <p:cNvPr id="2536" name="Google Shape;2536;p140"/>
            <p:cNvGrpSpPr/>
            <p:nvPr/>
          </p:nvGrpSpPr>
          <p:grpSpPr>
            <a:xfrm>
              <a:off x="7714163" y="4337598"/>
              <a:ext cx="995883" cy="297004"/>
              <a:chOff x="7711013" y="3986494"/>
              <a:chExt cx="995883" cy="297004"/>
            </a:xfrm>
          </p:grpSpPr>
          <p:sp>
            <p:nvSpPr>
              <p:cNvPr id="2537" name="Google Shape;2537;p140"/>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538" name="Google Shape;2538;p140"/>
              <p:cNvGrpSpPr/>
              <p:nvPr/>
            </p:nvGrpSpPr>
            <p:grpSpPr>
              <a:xfrm>
                <a:off x="7711013" y="4002615"/>
                <a:ext cx="281520" cy="241973"/>
                <a:chOff x="5652748" y="4066000"/>
                <a:chExt cx="906498" cy="747974"/>
              </a:xfrm>
            </p:grpSpPr>
            <p:sp>
              <p:nvSpPr>
                <p:cNvPr id="2539" name="Google Shape;2539;p14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40" name="Google Shape;2540;p14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541" name="Google Shape;2541;p14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542" name="Google Shape;2542;p140">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1" name="Shape 2561"/>
        <p:cNvGrpSpPr/>
        <p:nvPr/>
      </p:nvGrpSpPr>
      <p:grpSpPr>
        <a:xfrm>
          <a:off x="0" y="0"/>
          <a:ext cx="0" cy="0"/>
          <a:chOff x="0" y="0"/>
          <a:chExt cx="0" cy="0"/>
        </a:xfrm>
      </p:grpSpPr>
      <p:cxnSp>
        <p:nvCxnSpPr>
          <p:cNvPr id="2562" name="Google Shape;2562;p142"/>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563" name="Google Shape;2563;p142"/>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Brand Analytics</a:t>
            </a:r>
            <a:endParaRPr sz="1600"/>
          </a:p>
        </p:txBody>
      </p:sp>
      <p:graphicFrame>
        <p:nvGraphicFramePr>
          <p:cNvPr id="2564" name="Google Shape;2564;p142"/>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Quantify the impa</a:t>
                      </a:r>
                      <a:r>
                        <a:rPr b="1" lang="en-GB" sz="900">
                          <a:solidFill>
                            <a:schemeClr val="dk1"/>
                          </a:solidFill>
                        </a:rPr>
                        <a:t>ct of a company’s brand on marketing and company performance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Optimise brand positioning for target markets and key consumer groups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Measure brand equity to establish the value of a brand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Understand consumers awareness of brand features and associations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Establish ROI from brand investment and determine optimum levels of media spend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Understand consumer brand perceptions and points of differentiation from competitors, including sentiment analysis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Forecast and simulate branding strategies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800"/>
                        <a:buFont typeface="Arial"/>
                        <a:buChar char="•"/>
                      </a:pPr>
                      <a:r>
                        <a:rPr lang="en-GB" sz="800">
                          <a:solidFill>
                            <a:schemeClr val="dk1"/>
                          </a:solidFill>
                        </a:rPr>
                        <a:t>Aggregated macro level time series data such as quantitative &amp; qualitative brand related primary and secondary research</a:t>
                      </a:r>
                      <a:endParaRPr/>
                    </a:p>
                    <a:p>
                      <a:pPr indent="-179388" lvl="0" marL="179388" marR="0" rtl="0" algn="l">
                        <a:spcBef>
                          <a:spcPts val="0"/>
                        </a:spcBef>
                        <a:spcAft>
                          <a:spcPts val="0"/>
                        </a:spcAft>
                        <a:buClr>
                          <a:schemeClr val="dk1"/>
                        </a:buClr>
                        <a:buSzPts val="800"/>
                        <a:buFont typeface="Arial"/>
                        <a:buChar char="•"/>
                      </a:pPr>
                      <a:r>
                        <a:rPr lang="en-GB" sz="800">
                          <a:solidFill>
                            <a:schemeClr val="dk1"/>
                          </a:solidFill>
                        </a:rPr>
                        <a:t>Brand and advertising tracker data – indicating metrics such as spontaneous awareness and consideration</a:t>
                      </a:r>
                      <a:endParaRPr/>
                    </a:p>
                    <a:p>
                      <a:pPr indent="-179388" lvl="0" marL="179388" marR="0" rtl="0" algn="l">
                        <a:spcBef>
                          <a:spcPts val="0"/>
                        </a:spcBef>
                        <a:spcAft>
                          <a:spcPts val="0"/>
                        </a:spcAft>
                        <a:buClr>
                          <a:schemeClr val="dk1"/>
                        </a:buClr>
                        <a:buSzPts val="800"/>
                        <a:buFont typeface="Arial"/>
                        <a:buChar char="•"/>
                      </a:pPr>
                      <a:r>
                        <a:rPr lang="en-GB" sz="800">
                          <a:solidFill>
                            <a:schemeClr val="dk1"/>
                          </a:solidFill>
                        </a:rPr>
                        <a:t>Response data from application &amp; sales </a:t>
                      </a:r>
                      <a:endParaRPr/>
                    </a:p>
                    <a:p>
                      <a:pPr indent="-179388" lvl="0" marL="179388" marR="0" rtl="0" algn="l">
                        <a:spcBef>
                          <a:spcPts val="0"/>
                        </a:spcBef>
                        <a:spcAft>
                          <a:spcPts val="0"/>
                        </a:spcAft>
                        <a:buClr>
                          <a:schemeClr val="dk1"/>
                        </a:buClr>
                        <a:buSzPts val="800"/>
                        <a:buFont typeface="Arial"/>
                        <a:buChar char="•"/>
                      </a:pPr>
                      <a:r>
                        <a:rPr lang="en-GB" sz="800">
                          <a:solidFill>
                            <a:schemeClr val="dk1"/>
                          </a:solidFill>
                        </a:rPr>
                        <a:t>Advertising &amp; marketing activity</a:t>
                      </a:r>
                      <a:endParaRPr/>
                    </a:p>
                    <a:p>
                      <a:pPr indent="-179388" lvl="0" marL="179388" marR="0" rtl="0" algn="l">
                        <a:spcBef>
                          <a:spcPts val="0"/>
                        </a:spcBef>
                        <a:spcAft>
                          <a:spcPts val="0"/>
                        </a:spcAft>
                        <a:buClr>
                          <a:schemeClr val="dk1"/>
                        </a:buClr>
                        <a:buSzPts val="800"/>
                        <a:buFont typeface="Arial"/>
                        <a:buChar char="•"/>
                      </a:pPr>
                      <a:r>
                        <a:rPr lang="en-GB" sz="800">
                          <a:solidFill>
                            <a:schemeClr val="dk1"/>
                          </a:solidFill>
                        </a:rPr>
                        <a:t>Social Media data</a:t>
                      </a:r>
                      <a:endParaRPr/>
                    </a:p>
                    <a:p>
                      <a:pPr indent="0" lvl="0" marL="0" marR="0" rtl="0" algn="l">
                        <a:lnSpc>
                          <a:spcPct val="100000"/>
                        </a:lnSpc>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rPr>
                        <a:t>Econometric modelling utilising various regression and Bayesian analytical techniques</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rPr>
                        <a:t>Marketing attribution modelling to understand impact of advertising and brand building marketing activity</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rPr>
                        <a:t>Conjoint analysis to identify impact of brand on consumer preference</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rPr>
                        <a:t>Sentiment analysis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Ability to leverage brand for competitive advantage</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Ability to charge price premiums as a result of higher brand esteem</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Higher consumer brand trust (durability) leading to increased customer retention and loyalty</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Increased market share from higher levels of brand consideration</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Higher ROI from marketing spend as a result of optimising the media mix</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Improved brand consistency to maintain the strength and favourability of the brand</a:t>
                      </a:r>
                      <a:endParaRPr b="0" sz="900" u="none" cap="none" strike="noStrike">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565" name="Google Shape;2565;p142"/>
          <p:cNvGrpSpPr/>
          <p:nvPr/>
        </p:nvGrpSpPr>
        <p:grpSpPr>
          <a:xfrm>
            <a:off x="6659508" y="225152"/>
            <a:ext cx="2432605" cy="1508418"/>
            <a:chOff x="6030133" y="723902"/>
            <a:chExt cx="2432605" cy="1508418"/>
          </a:xfrm>
        </p:grpSpPr>
        <p:sp>
          <p:nvSpPr>
            <p:cNvPr id="2566" name="Google Shape;2566;p142"/>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567" name="Google Shape;2567;p142"/>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68" name="Google Shape;2568;p142"/>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69" name="Google Shape;2569;p142"/>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70" name="Google Shape;2570;p142"/>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571" name="Google Shape;2571;p142"/>
            <p:cNvGrpSpPr/>
            <p:nvPr/>
          </p:nvGrpSpPr>
          <p:grpSpPr>
            <a:xfrm>
              <a:off x="8107751" y="1342792"/>
              <a:ext cx="276507" cy="393460"/>
              <a:chOff x="6954288" y="1678075"/>
              <a:chExt cx="679456" cy="947737"/>
            </a:xfrm>
          </p:grpSpPr>
          <p:sp>
            <p:nvSpPr>
              <p:cNvPr id="2572" name="Google Shape;2572;p142"/>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73" name="Google Shape;2573;p142"/>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74" name="Google Shape;2574;p142"/>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75" name="Google Shape;2575;p142"/>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76" name="Google Shape;2576;p142"/>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577" name="Google Shape;2577;p142"/>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78" name="Google Shape;2578;p142"/>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79" name="Google Shape;2579;p142"/>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580" name="Google Shape;2580;p142"/>
            <p:cNvGrpSpPr/>
            <p:nvPr/>
          </p:nvGrpSpPr>
          <p:grpSpPr>
            <a:xfrm>
              <a:off x="6671216" y="765814"/>
              <a:ext cx="308250" cy="494711"/>
              <a:chOff x="2125012" y="-1063625"/>
              <a:chExt cx="1420813" cy="2235201"/>
            </a:xfrm>
          </p:grpSpPr>
          <p:sp>
            <p:nvSpPr>
              <p:cNvPr id="2581" name="Google Shape;2581;p142"/>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82" name="Google Shape;2582;p142"/>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583" name="Google Shape;2583;p142"/>
            <p:cNvGrpSpPr/>
            <p:nvPr/>
          </p:nvGrpSpPr>
          <p:grpSpPr>
            <a:xfrm>
              <a:off x="7987780" y="1794063"/>
              <a:ext cx="243489" cy="387124"/>
              <a:chOff x="6417856" y="340853"/>
              <a:chExt cx="217304" cy="589385"/>
            </a:xfrm>
          </p:grpSpPr>
          <p:sp>
            <p:nvSpPr>
              <p:cNvPr id="2584" name="Google Shape;2584;p142"/>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85" name="Google Shape;2585;p142"/>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586" name="Google Shape;2586;p142"/>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587" name="Google Shape;2587;p142"/>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smart</a:t>
              </a:r>
              <a:endParaRPr b="1" i="0" sz="1100" u="none" cap="none" strike="noStrike">
                <a:solidFill>
                  <a:srgbClr val="3C3C3B"/>
                </a:solidFill>
                <a:latin typeface="Century Gothic"/>
                <a:ea typeface="Century Gothic"/>
                <a:cs typeface="Century Gothic"/>
                <a:sym typeface="Century Gothic"/>
              </a:endParaRPr>
            </a:p>
          </p:txBody>
        </p:sp>
        <p:sp>
          <p:nvSpPr>
            <p:cNvPr id="2588" name="Google Shape;2588;p142"/>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89" name="Google Shape;2589;p142"/>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590" name="Google Shape;2590;p14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591" name="Google Shape;2591;p142"/>
          <p:cNvGrpSpPr/>
          <p:nvPr/>
        </p:nvGrpSpPr>
        <p:grpSpPr>
          <a:xfrm>
            <a:off x="7717533" y="4360377"/>
            <a:ext cx="1058348" cy="347375"/>
            <a:chOff x="7651698" y="4287227"/>
            <a:chExt cx="1058348" cy="347375"/>
          </a:xfrm>
        </p:grpSpPr>
        <p:grpSp>
          <p:nvGrpSpPr>
            <p:cNvPr id="2592" name="Google Shape;2592;p142"/>
            <p:cNvGrpSpPr/>
            <p:nvPr/>
          </p:nvGrpSpPr>
          <p:grpSpPr>
            <a:xfrm>
              <a:off x="7714163" y="4337598"/>
              <a:ext cx="995883" cy="297004"/>
              <a:chOff x="7711013" y="3986494"/>
              <a:chExt cx="995883" cy="297004"/>
            </a:xfrm>
          </p:grpSpPr>
          <p:sp>
            <p:nvSpPr>
              <p:cNvPr id="2593" name="Google Shape;2593;p142"/>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594" name="Google Shape;2594;p142"/>
              <p:cNvGrpSpPr/>
              <p:nvPr/>
            </p:nvGrpSpPr>
            <p:grpSpPr>
              <a:xfrm>
                <a:off x="7711013" y="4002615"/>
                <a:ext cx="281520" cy="241973"/>
                <a:chOff x="5652748" y="4066000"/>
                <a:chExt cx="906498" cy="747974"/>
              </a:xfrm>
            </p:grpSpPr>
            <p:sp>
              <p:nvSpPr>
                <p:cNvPr id="2595" name="Google Shape;2595;p142"/>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96" name="Google Shape;2596;p142"/>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597" name="Google Shape;2597;p142"/>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598" name="Google Shape;2598;p142">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5000" name="Shape 5000"/>
        <p:cNvGrpSpPr/>
        <p:nvPr/>
      </p:nvGrpSpPr>
      <p:grpSpPr>
        <a:xfrm>
          <a:off x="0" y="0"/>
          <a:ext cx="0" cy="0"/>
          <a:chOff x="0" y="0"/>
          <a:chExt cx="0" cy="0"/>
        </a:xfrm>
      </p:grpSpPr>
      <p:sp>
        <p:nvSpPr>
          <p:cNvPr id="5001" name="Title"/>
          <p:cNvSpPr txBox="1"/>
          <p:nvPr/>
        </p:nvSpPr>
        <p:spPr>
          <a:xfrm>
            <a:off x="350000" y="100000"/>
            <a:ext cx="8400000" cy="400000"/>
          </a:xfrm>
          <a:prstGeom prst="rect">
            <a:avLst/>
          </a:prstGeom>
          <a:noFill/>
          <a:ln>
            <a:noFill/>
          </a:ln>
        </p:spPr>
        <p:txBody>
          <a:bodyPr anchorCtr="0" anchor="t" bIns="45720" lIns="91440" rIns="91440" wrap="square" tIns="45720">
            <a:noAutofit/>
          </a:bodyPr>
          <a:lstStyle/>
          <a:p>
            <a:pPr indent="0" marL="0" rtl="0" algn="l">
              <a:spcBef>
                <a:spcPts val="0"/>
              </a:spcBef>
              <a:spcAft>
                <a:spcPts val="0"/>
              </a:spcAft>
              <a:buNone/>
            </a:pPr>
            <a:r>
              <a:rPr b="1" lang="en-GB" sz="1600">
                <a:solidFill>
                  <a:srgbClr val="0079DB"/>
                </a:solidFill>
                <a:latin typeface="Century Gothic"/>
                <a:ea typeface="Century Gothic"/>
                <a:cs typeface="Century Gothic"/>
              </a:rPr>
              <a:t>Marketing &amp; CX Use Cases — Portfolio Dashboard</a:t>
            </a:r>
          </a:p>
        </p:txBody>
      </p:sp>
      <p:graphicFrame>
        <p:nvGraphicFramePr>
          <p:cNvPr id="5010" name="Table"/>
          <p:cNvGraphicFramePr>
            <a:graphicFrameLocks noGrp="1"/>
          </p:cNvGraphicFramePr>
          <p:nvPr/>
        </p:nvGraphicFramePr>
        <p:xfrm>
          <a:off x="350000" y="550000"/>
          <a:ext cx="6800000" cy="1700000"/>
        </p:xfrm>
        <a:graphic>
          <a:graphicData uri="http://schemas.openxmlformats.org/drawingml/2006/table">
            <a:tbl>
              <a:tblPr firstRow="1" bandRow="1"/>
              <a:tblGrid>
                <a:gridCol w="1800000"/>
                <a:gridCol w="1200000"/>
                <a:gridCol w="1200000"/>
                <a:gridCol w="1200000"/>
                <a:gridCol w="1400000"/>
              </a:tblGrid>
              <a:tr h="280000">
                <a:tc>
                  <a:txBody>
                    <a:bodyPr/>
                    <a:lstStyle/>
                    <a:p>
                      <a:pPr algn="ctr"/>
                      <a:r>
                        <a:rPr b="1" lang="en-GB" sz="750">
                          <a:solidFill>
                            <a:srgbClr val="FFFFFF"/>
                          </a:solidFill>
                          <a:latin typeface="Century Gothic"/>
                        </a:rPr>
                        <a:t>Section</a:t>
                      </a:r>
                    </a:p>
                  </a:txBody>
                  <a:tcPr marL="36576" marR="36576" marT="18288" marB="18288">
                    <a:solidFill>
                      <a:srgbClr val="0079DB"/>
                    </a:solidFill>
                  </a:tcPr>
                </a:tc>
                <a:tc>
                  <a:txBody>
                    <a:bodyPr/>
                    <a:lstStyle/>
                    <a:p>
                      <a:pPr algn="ctr"/>
                      <a:r>
                        <a:rPr b="1" lang="en-GB" sz="750">
                          <a:solidFill>
                            <a:srgbClr val="FFFFFF"/>
                          </a:solidFill>
                          <a:latin typeface="Century Gothic"/>
                        </a:rPr>
                        <a:t>Use Cases</a:t>
                      </a:r>
                    </a:p>
                  </a:txBody>
                  <a:tcPr marL="36576" marR="36576" marT="18288" marB="18288">
                    <a:solidFill>
                      <a:srgbClr val="0079DB"/>
                    </a:solidFill>
                  </a:tcPr>
                </a:tc>
                <a:tc>
                  <a:txBody>
                    <a:bodyPr/>
                    <a:lstStyle/>
                    <a:p>
                      <a:pPr algn="ctr"/>
                      <a:r>
                        <a:rPr b="1" lang="en-GB" sz="750">
                          <a:solidFill>
                            <a:srgbClr val="FFFFFF"/>
                          </a:solidFill>
                          <a:latin typeface="Century Gothic"/>
                        </a:rPr>
                        <a:t>Pakistan Priority</a:t>
                      </a:r>
                    </a:p>
                  </a:txBody>
                  <a:tcPr marL="36576" marR="36576" marT="18288" marB="18288">
                    <a:solidFill>
                      <a:srgbClr val="0079DB"/>
                    </a:solidFill>
                  </a:tcPr>
                </a:tc>
                <a:tc>
                  <a:txBody>
                    <a:bodyPr/>
                    <a:lstStyle/>
                    <a:p>
                      <a:pPr algn="ctr"/>
                      <a:r>
                        <a:rPr b="1" lang="en-GB" sz="750">
                          <a:solidFill>
                            <a:srgbClr val="FFFFFF"/>
                          </a:solidFill>
                          <a:latin typeface="Century Gothic"/>
                        </a:rPr>
                        <a:t>Quick Wins</a:t>
                      </a:r>
                    </a:p>
                  </a:txBody>
                  <a:tcPr marL="36576" marR="36576" marT="18288" marB="18288">
                    <a:solidFill>
                      <a:srgbClr val="0079DB"/>
                    </a:solidFill>
                  </a:tcPr>
                </a:tc>
                <a:tc>
                  <a:txBody>
                    <a:bodyPr/>
                    <a:lstStyle/>
                    <a:p>
                      <a:pPr algn="ctr"/>
                      <a:r>
                        <a:rPr b="1" lang="en-GB" sz="750">
                          <a:solidFill>
                            <a:srgbClr val="FFFFFF"/>
                          </a:solidFill>
                          <a:latin typeface="Century Gothic"/>
                        </a:rPr>
                        <a:t>FSDM Domains</a:t>
                      </a:r>
                    </a:p>
                  </a:txBody>
                  <a:tcPr marL="36576" marR="36576" marT="18288" marB="18288">
                    <a:solidFill>
                      <a:srgbClr val="0079DB"/>
                    </a:solidFill>
                  </a:tcPr>
                </a:tc>
              </a:tr>
              <a:tr h="260000">
                <a:tc>
                  <a:txBody>
                    <a:bodyPr/>
                    <a:lstStyle/>
                    <a:p>
                      <a:r>
                        <a:rPr b="1" lang="en-GB" sz="700">
                          <a:solidFill>
                            <a:srgbClr val="333333"/>
                          </a:solidFill>
                          <a:latin typeface="Century Gothic"/>
                        </a:rPr>
                        <a:t>Customer Information (1 UC)</a:t>
                      </a:r>
                    </a:p>
                  </a:txBody>
                  <a:tcPr marL="36576" marR="36576" marT="18288" marB="18288">
                    <a:solidFill>
                      <a:srgbClr val="F2F7FC"/>
                    </a:solidFill>
                  </a:tcPr>
                </a:tc>
                <a:tc>
                  <a:txBody>
                    <a:bodyPr/>
                    <a:lstStyle/>
                    <a:p>
                      <a:r>
                        <a:rPr lang="en-GB" sz="700">
                          <a:solidFill>
                            <a:srgbClr val="333333"/>
                          </a:solidFill>
                          <a:latin typeface="Century Gothic"/>
                        </a:rPr>
                        <a:t>1</a:t>
                      </a:r>
                    </a:p>
                  </a:txBody>
                  <a:tcPr marL="36576" marR="36576" marT="18288" marB="18288">
                    <a:solidFill>
                      <a:srgbClr val="F2F7FC"/>
                    </a:solidFill>
                  </a:tcPr>
                </a:tc>
                <a:tc>
                  <a:txBody>
                    <a:bodyPr/>
                    <a:lstStyle/>
                    <a:p>
                      <a:r>
                        <a:rPr lang="en-GB" sz="700">
                          <a:solidFill>
                            <a:srgbClr val="C55A11"/>
                          </a:solidFill>
                          <a:latin typeface="Century Gothic"/>
                        </a:rPr>
                        <a:t>Critical</a:t>
                      </a:r>
                    </a:p>
                  </a:txBody>
                  <a:tcPr marL="36576" marR="36576" marT="18288" marB="18288">
                    <a:solidFill>
                      <a:srgbClr val="F2F7FC"/>
                    </a:solidFill>
                  </a:tcPr>
                </a:tc>
                <a:tc>
                  <a:txBody>
                    <a:bodyPr/>
                    <a:lstStyle/>
                    <a:p>
                      <a:r>
                        <a:rPr lang="en-GB" sz="700">
                          <a:solidFill>
                            <a:srgbClr val="333333"/>
                          </a:solidFill>
                          <a:latin typeface="Century Gothic"/>
                        </a:rPr>
                        <a:t>CNIC-based 360 view</a:t>
                      </a:r>
                    </a:p>
                  </a:txBody>
                  <a:tcPr marL="36576" marR="36576" marT="18288" marB="18288">
                    <a:solidFill>
                      <a:srgbClr val="F2F7FC"/>
                    </a:solidFill>
                  </a:tcPr>
                </a:tc>
                <a:tc>
                  <a:txBody>
                    <a:bodyPr/>
                    <a:lstStyle/>
                    <a:p>
                      <a:r>
                        <a:rPr lang="en-GB" sz="700">
                          <a:solidFill>
                            <a:srgbClr val="333333"/>
                          </a:solidFill>
                          <a:latin typeface="Century Gothic"/>
                        </a:rPr>
                        <a:t>Party, Event</a:t>
                      </a:r>
                    </a:p>
                  </a:txBody>
                  <a:tcPr marL="36576" marR="36576" marT="18288" marB="18288">
                    <a:solidFill>
                      <a:srgbClr val="F2F7FC"/>
                    </a:solidFill>
                  </a:tcPr>
                </a:tc>
              </a:tr>
              <a:tr h="260000">
                <a:tc>
                  <a:txBody>
                    <a:bodyPr/>
                    <a:lstStyle/>
                    <a:p>
                      <a:r>
                        <a:rPr b="1" lang="en-GB" sz="700">
                          <a:solidFill>
                            <a:srgbClr val="333333"/>
                          </a:solidFill>
                          <a:latin typeface="Century Gothic"/>
                        </a:rPr>
                        <a:t>Insight-Driven (35 UCs)</a:t>
                      </a:r>
                    </a:p>
                  </a:txBody>
                  <a:tcPr marL="36576" marR="36576" marT="18288" marB="18288">
                    <a:solidFill>
                      <a:srgbClr val="FFFFFF"/>
                    </a:solidFill>
                  </a:tcPr>
                </a:tc>
                <a:tc>
                  <a:txBody>
                    <a:bodyPr/>
                    <a:lstStyle/>
                    <a:p>
                      <a:r>
                        <a:rPr lang="en-GB" sz="700">
                          <a:solidFill>
                            <a:srgbClr val="333333"/>
                          </a:solidFill>
                          <a:latin typeface="Century Gothic"/>
                        </a:rPr>
                        <a:t>35</a:t>
                      </a:r>
                    </a:p>
                  </a:txBody>
                  <a:tcPr marL="36576" marR="36576" marT="18288" marB="18288">
                    <a:solidFill>
                      <a:srgbClr val="FFFFFF"/>
                    </a:solidFill>
                  </a:tcPr>
                </a:tc>
                <a:tc>
                  <a:txBody>
                    <a:bodyPr/>
                    <a:lstStyle/>
                    <a:p>
                      <a:r>
                        <a:rPr lang="en-GB" sz="700">
                          <a:solidFill>
                            <a:srgbClr val="333333"/>
                          </a:solidFill>
                          <a:latin typeface="Century Gothic"/>
                        </a:rPr>
                        <a:t>High</a:t>
                      </a:r>
                    </a:p>
                  </a:txBody>
                  <a:tcPr marL="36576" marR="36576" marT="18288" marB="18288">
                    <a:solidFill>
                      <a:srgbClr val="FFFFFF"/>
                    </a:solidFill>
                  </a:tcPr>
                </a:tc>
                <a:tc>
                  <a:txBody>
                    <a:bodyPr/>
                    <a:lstStyle/>
                    <a:p>
                      <a:r>
                        <a:rPr lang="en-GB" sz="700">
                          <a:solidFill>
                            <a:srgbClr val="333333"/>
                          </a:solidFill>
                          <a:latin typeface="Century Gothic"/>
                        </a:rPr>
                        <a:t>Transaction classification, Salary detection</a:t>
                      </a:r>
                    </a:p>
                  </a:txBody>
                  <a:tcPr marL="36576" marR="36576" marT="18288" marB="18288">
                    <a:solidFill>
                      <a:srgbClr val="FFFFFF"/>
                    </a:solidFill>
                  </a:tcPr>
                </a:tc>
                <a:tc>
                  <a:txBody>
                    <a:bodyPr/>
                    <a:lstStyle/>
                    <a:p>
                      <a:r>
                        <a:rPr lang="en-GB" sz="700">
                          <a:solidFill>
                            <a:srgbClr val="333333"/>
                          </a:solidFill>
                          <a:latin typeface="Century Gothic"/>
                        </a:rPr>
                        <a:t>Party, Transaction</a:t>
                      </a:r>
                    </a:p>
                  </a:txBody>
                  <a:tcPr marL="36576" marR="36576" marT="18288" marB="18288">
                    <a:solidFill>
                      <a:srgbClr val="FFFFFF"/>
                    </a:solidFill>
                  </a:tcPr>
                </a:tc>
              </a:tr>
              <a:tr h="260000">
                <a:tc>
                  <a:txBody>
                    <a:bodyPr/>
                    <a:lstStyle/>
                    <a:p>
                      <a:r>
                        <a:rPr b="1" lang="en-GB" sz="700">
                          <a:solidFill>
                            <a:srgbClr val="333333"/>
                          </a:solidFill>
                          <a:latin typeface="Century Gothic"/>
                        </a:rPr>
                        <a:t>Customer Lifecycle (10 UCs)</a:t>
                      </a:r>
                    </a:p>
                  </a:txBody>
                  <a:tcPr marL="36576" marR="36576" marT="18288" marB="18288">
                    <a:solidFill>
                      <a:srgbClr val="F2F7FC"/>
                    </a:solidFill>
                  </a:tcPr>
                </a:tc>
                <a:tc>
                  <a:txBody>
                    <a:bodyPr/>
                    <a:lstStyle/>
                    <a:p>
                      <a:r>
                        <a:rPr lang="en-GB" sz="700">
                          <a:solidFill>
                            <a:srgbClr val="333333"/>
                          </a:solidFill>
                          <a:latin typeface="Century Gothic"/>
                        </a:rPr>
                        <a:t>10</a:t>
                      </a:r>
                    </a:p>
                  </a:txBody>
                  <a:tcPr marL="36576" marR="36576" marT="18288" marB="18288">
                    <a:solidFill>
                      <a:srgbClr val="F2F7FC"/>
                    </a:solidFill>
                  </a:tcPr>
                </a:tc>
                <a:tc>
                  <a:txBody>
                    <a:bodyPr/>
                    <a:lstStyle/>
                    <a:p>
                      <a:r>
                        <a:rPr lang="en-GB" sz="700">
                          <a:solidFill>
                            <a:srgbClr val="C55A11"/>
                          </a:solidFill>
                          <a:latin typeface="Century Gothic"/>
                        </a:rPr>
                        <a:t>Critical</a:t>
                      </a:r>
                    </a:p>
                  </a:txBody>
                  <a:tcPr marL="36576" marR="36576" marT="18288" marB="18288">
                    <a:solidFill>
                      <a:srgbClr val="F2F7FC"/>
                    </a:solidFill>
                  </a:tcPr>
                </a:tc>
                <a:tc>
                  <a:txBody>
                    <a:bodyPr/>
                    <a:lstStyle/>
                    <a:p>
                      <a:r>
                        <a:rPr lang="en-GB" sz="700">
                          <a:solidFill>
                            <a:srgbClr val="333333"/>
                          </a:solidFill>
                          <a:latin typeface="Century Gothic"/>
                        </a:rPr>
                        <a:t>CASA silent churn, Cross-sell pipeline</a:t>
                      </a:r>
                    </a:p>
                  </a:txBody>
                  <a:tcPr marL="36576" marR="36576" marT="18288" marB="18288">
                    <a:solidFill>
                      <a:srgbClr val="F2F7FC"/>
                    </a:solidFill>
                  </a:tcPr>
                </a:tc>
                <a:tc>
                  <a:txBody>
                    <a:bodyPr/>
                    <a:lstStyle/>
                    <a:p>
                      <a:r>
                        <a:rPr lang="en-GB" sz="700">
                          <a:solidFill>
                            <a:srgbClr val="333333"/>
                          </a:solidFill>
                          <a:latin typeface="Century Gothic"/>
                        </a:rPr>
                        <a:t>Party, Product</a:t>
                      </a:r>
                    </a:p>
                  </a:txBody>
                  <a:tcPr marL="36576" marR="36576" marT="18288" marB="18288">
                    <a:solidFill>
                      <a:srgbClr val="F2F7FC"/>
                    </a:solidFill>
                  </a:tcPr>
                </a:tc>
              </a:tr>
              <a:tr h="260000">
                <a:tc>
                  <a:txBody>
                    <a:bodyPr/>
                    <a:lstStyle/>
                    <a:p>
                      <a:r>
                        <a:rPr b="1" lang="en-GB" sz="700">
                          <a:solidFill>
                            <a:srgbClr val="333333"/>
                          </a:solidFill>
                          <a:latin typeface="Century Gothic"/>
                        </a:rPr>
                        <a:t>Customer Interaction (19 UCs)</a:t>
                      </a:r>
                    </a:p>
                  </a:txBody>
                  <a:tcPr marL="36576" marR="36576" marT="18288" marB="18288">
                    <a:solidFill>
                      <a:srgbClr val="FFFFFF"/>
                    </a:solidFill>
                  </a:tcPr>
                </a:tc>
                <a:tc>
                  <a:txBody>
                    <a:bodyPr/>
                    <a:lstStyle/>
                    <a:p>
                      <a:r>
                        <a:rPr lang="en-GB" sz="700">
                          <a:solidFill>
                            <a:srgbClr val="333333"/>
                          </a:solidFill>
                          <a:latin typeface="Century Gothic"/>
                        </a:rPr>
                        <a:t>19</a:t>
                      </a:r>
                    </a:p>
                  </a:txBody>
                  <a:tcPr marL="36576" marR="36576" marT="18288" marB="18288">
                    <a:solidFill>
                      <a:srgbClr val="FFFFFF"/>
                    </a:solidFill>
                  </a:tcPr>
                </a:tc>
                <a:tc>
                  <a:txBody>
                    <a:bodyPr/>
                    <a:lstStyle/>
                    <a:p>
                      <a:r>
                        <a:rPr lang="en-GB" sz="700">
                          <a:solidFill>
                            <a:srgbClr val="333333"/>
                          </a:solidFill>
                          <a:latin typeface="Century Gothic"/>
                        </a:rPr>
                        <a:t>High</a:t>
                      </a:r>
                    </a:p>
                  </a:txBody>
                  <a:tcPr marL="36576" marR="36576" marT="18288" marB="18288">
                    <a:solidFill>
                      <a:srgbClr val="FFFFFF"/>
                    </a:solidFill>
                  </a:tcPr>
                </a:tc>
                <a:tc>
                  <a:txBody>
                    <a:bodyPr/>
                    <a:lstStyle/>
                    <a:p>
                      <a:r>
                        <a:rPr lang="en-GB" sz="700">
                          <a:solidFill>
                            <a:srgbClr val="333333"/>
                          </a:solidFill>
                          <a:latin typeface="Century Gothic"/>
                        </a:rPr>
                        <a:t>Contact optimization, SMS fatigue fix</a:t>
                      </a:r>
                    </a:p>
                  </a:txBody>
                  <a:tcPr marL="36576" marR="36576" marT="18288" marB="18288">
                    <a:solidFill>
                      <a:srgbClr val="FFFFFF"/>
                    </a:solidFill>
                  </a:tcPr>
                </a:tc>
                <a:tc>
                  <a:txBody>
                    <a:bodyPr/>
                    <a:lstStyle/>
                    <a:p>
                      <a:r>
                        <a:rPr lang="en-GB" sz="700">
                          <a:solidFill>
                            <a:srgbClr val="333333"/>
                          </a:solidFill>
                          <a:latin typeface="Century Gothic"/>
                        </a:rPr>
                        <a:t>Campaign, Channel</a:t>
                      </a:r>
                    </a:p>
                  </a:txBody>
                  <a:tcPr marL="36576" marR="36576" marT="18288" marB="18288">
                    <a:solidFill>
                      <a:srgbClr val="FFFFFF"/>
                    </a:solidFill>
                  </a:tcPr>
                </a:tc>
              </a:tr>
              <a:tr h="260000">
                <a:tc>
                  <a:txBody>
                    <a:bodyPr/>
                    <a:lstStyle/>
                    <a:p>
                      <a:r>
                        <a:rPr b="1" lang="en-GB" sz="700">
                          <a:solidFill>
                            <a:srgbClr val="333333"/>
                          </a:solidFill>
                          <a:latin typeface="Century Gothic"/>
                        </a:rPr>
                        <a:t>TOTAL</a:t>
                      </a:r>
                    </a:p>
                  </a:txBody>
                  <a:tcPr marL="36576" marR="36576" marT="18288" marB="18288">
                    <a:solidFill>
                      <a:srgbClr val="F2F7FC"/>
                    </a:solidFill>
                  </a:tcPr>
                </a:tc>
                <a:tc>
                  <a:txBody>
                    <a:bodyPr/>
                    <a:lstStyle/>
                    <a:p>
                      <a:r>
                        <a:rPr b="1" lang="en-GB" sz="700">
                          <a:solidFill>
                            <a:srgbClr val="333333"/>
                          </a:solidFill>
                          <a:latin typeface="Century Gothic"/>
                        </a:rPr>
                        <a:t>65</a:t>
                      </a:r>
                    </a:p>
                  </a:txBody>
                  <a:tcPr marL="36576" marR="36576" marT="18288" marB="18288">
                    <a:solidFill>
                      <a:srgbClr val="F2F7FC"/>
                    </a:solidFill>
                  </a:tcPr>
                </a:tc>
                <a:tc>
                  <a:txBody>
                    <a:bodyPr/>
                    <a:lstStyle/>
                    <a:p>
                      <a:r>
                        <a:rPr b="1" lang="en-GB" sz="700">
                          <a:solidFill>
                            <a:srgbClr val="333333"/>
                          </a:solidFill>
                          <a:latin typeface="Century Gothic"/>
                        </a:rPr>
                        <a:t/>
                      </a:r>
                    </a:p>
                  </a:txBody>
                  <a:tcPr marL="36576" marR="36576" marT="18288" marB="18288">
                    <a:solidFill>
                      <a:srgbClr val="F2F7FC"/>
                    </a:solidFill>
                  </a:tcPr>
                </a:tc>
                <a:tc>
                  <a:txBody>
                    <a:bodyPr/>
                    <a:lstStyle/>
                    <a:p>
                      <a:r>
                        <a:rPr b="1" lang="en-GB" sz="700">
                          <a:solidFill>
                            <a:srgbClr val="333333"/>
                          </a:solidFill>
                          <a:latin typeface="Century Gothic"/>
                        </a:rPr>
                        <a:t/>
                      </a:r>
                    </a:p>
                  </a:txBody>
                  <a:tcPr marL="36576" marR="36576" marT="18288" marB="18288">
                    <a:solidFill>
                      <a:srgbClr val="F2F7FC"/>
                    </a:solidFill>
                  </a:tcPr>
                </a:tc>
                <a:tc>
                  <a:txBody>
                    <a:bodyPr/>
                    <a:lstStyle/>
                    <a:p>
                      <a:r>
                        <a:rPr b="1" lang="en-GB" sz="700">
                          <a:solidFill>
                            <a:srgbClr val="333333"/>
                          </a:solidFill>
                          <a:latin typeface="Century Gothic"/>
                        </a:rPr>
                        <a:t/>
                      </a:r>
                    </a:p>
                  </a:txBody>
                  <a:tcPr marL="36576" marR="36576" marT="18288" marB="18288">
                    <a:solidFill>
                      <a:srgbClr val="F2F7FC"/>
                    </a:solidFill>
                  </a:tcPr>
                </a:tc>
              </a:tr>
            </a:tbl>
          </a:graphicData>
        </a:graphic>
      </p:graphicFrame>
      <p:sp>
        <p:nvSpPr>
          <p:cNvPr id="5020" name="Priority"/>
          <p:cNvSpPr txBox="1"/>
          <p:nvPr/>
        </p:nvSpPr>
        <p:spPr>
          <a:xfrm>
            <a:off x="350000" y="2400000"/>
            <a:ext cx="8400000" cy="1200000"/>
          </a:xfrm>
          <a:prstGeom prst="rect">
            <a:avLst/>
          </a:prstGeom>
          <a:noFill/>
          <a:ln>
            <a:noFill/>
          </a:ln>
        </p:spPr>
        <p:txBody>
          <a:bodyPr anchorCtr="0" anchor="t" bIns="45720" lIns="91440" rIns="91440" wrap="square" tIns="45720">
            <a:noAutofit/>
          </a:bodyPr>
          <a:lstStyle/>
          <a:p>
            <a:pPr indent="0" marL="0" rtl="0" algn="l">
              <a:spcBef>
                <a:spcPts val="0"/>
              </a:spcBef>
              <a:spcAft>
                <a:spcPts val="0"/>
              </a:spcAft>
              <a:buNone/>
            </a:pPr>
            <a:r>
              <a:rPr b="1" lang="en-GB" sz="1000">
                <a:solidFill>
                  <a:srgbClr val="0079DB"/>
                </a:solidFill>
                <a:latin typeface="Century Gothic"/>
                <a:ea typeface="Century Gothic"/>
                <a:cs typeface="Century Gothic"/>
              </a:rPr>
              <a:t>Pakistan Implementation Priority Matrix</a:t>
            </a:r>
          </a:p>
          <a:p>
            <a:pPr indent="-171450" marL="171450" rtl="0" algn="l">
              <a:spcBef>
                <a:spcPts val="80"/>
              </a:spcBef>
              <a:spcAft>
                <a:spcPts val="0"/>
              </a:spcAft>
              <a:buChar char="•"/>
            </a:pPr>
            <a:r>
              <a:rPr lang="en-GB" sz="750">
                <a:solidFill>
                  <a:srgbClr val="333333"/>
                </a:solidFill>
                <a:latin typeface="Century Gothic"/>
                <a:ea typeface="Century Gothic"/>
                <a:cs typeface="Century Gothic"/>
              </a:rPr>
              <a:t>IMMEDIATE (0-6 mo): Transaction Classification, CASA Silent Churn, Contact Mgmt, Path to Profitable Customers, Churn Model</a:t>
            </a:r>
          </a:p>
          <a:p>
            <a:pPr indent="-171450" marL="171450" rtl="0" algn="l">
              <a:spcBef>
                <a:spcPts val="60"/>
              </a:spcBef>
              <a:spcAft>
                <a:spcPts val="0"/>
              </a:spcAft>
              <a:buChar char="•"/>
            </a:pPr>
            <a:r>
              <a:rPr lang="en-GB" sz="750">
                <a:solidFill>
                  <a:srgbClr val="333333"/>
                </a:solidFill>
                <a:latin typeface="Century Gothic"/>
                <a:ea typeface="Century Gothic"/>
                <a:cs typeface="Century Gothic"/>
              </a:rPr>
              <a:t>HIGH (6-18 mo): Journey Analytics, NBA Contact Strategy, Cross-Sell Targeting, Omni-Channel, Customer Satisfaction Index</a:t>
            </a:r>
          </a:p>
          <a:p>
            <a:pPr indent="-171450" marL="171450" rtl="0" algn="l">
              <a:spcBef>
                <a:spcPts val="60"/>
              </a:spcBef>
              <a:spcAft>
                <a:spcPts val="0"/>
              </a:spcAft>
              <a:buChar char="•"/>
            </a:pPr>
            <a:r>
              <a:rPr lang="en-GB" sz="750">
                <a:solidFill>
                  <a:srgbClr val="333333"/>
                </a:solidFill>
                <a:latin typeface="Century Gothic"/>
                <a:ea typeface="Century Gothic"/>
                <a:cs typeface="Century Gothic"/>
              </a:rPr>
              <a:t>STRATEGIC (18-36 mo): Real-Time Offers, Social Network Analysis, Location-Based Offers, Wealth Mgmt, Marketing Attribution</a:t>
            </a:r>
          </a:p>
        </p:txBody>
      </p:sp>
      <p:sp>
        <p:nvSpPr>
          <p:cNvPr id="5030" name="Footer"/>
          <p:cNvSpPr txBox="1"/>
          <p:nvPr/>
        </p:nvSpPr>
        <p:spPr>
          <a:xfrm>
            <a:off x="350000" y="3800000"/>
            <a:ext cx="8400000" cy="250000"/>
          </a:xfrm>
          <a:prstGeom prst="rect">
            <a:avLst/>
          </a:prstGeom>
          <a:noFill/>
          <a:ln>
            <a:noFill/>
          </a:ln>
        </p:spPr>
        <p:txBody>
          <a:bodyPr anchorCtr="0" anchor="t" bIns="45720" lIns="91440" rIns="91440" wrap="square" tIns="45720">
            <a:noAutofit/>
          </a:bodyPr>
          <a:lstStyle/>
          <a:p>
            <a:pPr indent="0" marL="0" rtl="0" algn="l">
              <a:spcBef>
                <a:spcPts val="0"/>
              </a:spcBef>
              <a:spcAft>
                <a:spcPts val="0"/>
              </a:spcAft>
              <a:buNone/>
            </a:pPr>
            <a:r>
              <a:rPr lang="en-GB" sz="700">
                <a:solidFill>
                  <a:srgbClr val="666666"/>
                </a:solidFill>
                <a:latin typeface="Century Gothic"/>
                <a:ea typeface="Century Gothic"/>
                <a:cs typeface="Century Gothic"/>
              </a:rPr>
              <a:t>erwin by Quest — Financial Services Data Model (FSDM) Banking Business Value Framework  |  65 Use Cases  |  FSDM Entities: ~180+</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5100" name="Shape 5100"/>
        <p:cNvGrpSpPr/>
        <p:nvPr/>
      </p:nvGrpSpPr>
      <p:grpSpPr>
        <a:xfrm>
          <a:off x="0" y="0"/>
          <a:ext cx="0" cy="0"/>
          <a:chOff x="0" y="0"/>
          <a:chExt cx="0" cy="0"/>
        </a:xfrm>
      </p:grpSpPr>
      <p:sp>
        <p:nvSpPr>
          <p:cNvPr id="5101" name="Title"/>
          <p:cNvSpPr txBox="1"/>
          <p:nvPr/>
        </p:nvSpPr>
        <p:spPr>
          <a:xfrm>
            <a:off x="350000" y="100000"/>
            <a:ext cx="8400000" cy="400000"/>
          </a:xfrm>
          <a:prstGeom prst="rect">
            <a:avLst/>
          </a:prstGeom>
          <a:noFill/>
          <a:ln>
            <a:noFill/>
          </a:ln>
        </p:spPr>
        <p:txBody>
          <a:bodyPr anchorCtr="0" anchor="t" bIns="45720" lIns="91440" rIns="91440" wrap="square" tIns="45720">
            <a:noAutofit/>
          </a:bodyPr>
          <a:lstStyle/>
          <a:p>
            <a:pPr indent="0" marL="0" rtl="0" algn="l">
              <a:spcBef>
                <a:spcPts val="0"/>
              </a:spcBef>
              <a:spcAft>
                <a:spcPts val="0"/>
              </a:spcAft>
              <a:buNone/>
            </a:pPr>
            <a:r>
              <a:rPr b="1" lang="en-GB" sz="1600">
                <a:solidFill>
                  <a:srgbClr val="0079DB"/>
                </a:solidFill>
                <a:latin typeface="Century Gothic"/>
                <a:ea typeface="Century Gothic"/>
                <a:cs typeface="Century Gothic"/>
              </a:rPr>
              <a:t>Pakistan — Marketing &amp; CX Use Case Landscape</a:t>
            </a:r>
          </a:p>
        </p:txBody>
      </p:sp>
      <p:sp>
        <p:nvSpPr>
          <p:cNvPr id="5110" name="Content"/>
          <p:cNvSpPr txBox="1"/>
          <p:nvPr/>
        </p:nvSpPr>
        <p:spPr>
          <a:xfrm>
            <a:off x="350000" y="520000"/>
            <a:ext cx="8400000" cy="4000000"/>
          </a:xfrm>
          <a:prstGeom prst="rect">
            <a:avLst/>
          </a:prstGeom>
          <a:noFill/>
          <a:ln>
            <a:noFill/>
          </a:ln>
        </p:spPr>
        <p:txBody>
          <a:bodyPr anchorCtr="0" anchor="t" bIns="45720" lIns="91440" rIns="91440" wrap="square" tIns="45720">
            <a:noAutofit/>
          </a:bodyPr>
          <a:lstStyle/>
          <a:p>
            <a:pPr indent="0" marL="0" rtl="0" algn="l">
              <a:spcBef>
                <a:spcPts val="0"/>
              </a:spcBef>
              <a:spcAft>
                <a:spcPts val="0"/>
              </a:spcAft>
              <a:buNone/>
            </a:pPr>
            <a:r>
              <a:rPr b="1" lang="en-GB" sz="1000">
                <a:solidFill>
                  <a:srgbClr val="333333"/>
                </a:solidFill>
                <a:latin typeface="Century Gothic"/>
                <a:ea typeface="Century Gothic"/>
                <a:cs typeface="Century Gothic"/>
              </a:rPr>
              <a:t>USE CASES WITH HIGHEST PAKISTAN IMPACT</a:t>
            </a:r>
          </a:p>
          <a:p>
            <a:pPr indent="0" marL="0" rtl="0" algn="l">
              <a:spcBef>
                <a:spcPts val="150"/>
              </a:spcBef>
              <a:spcAft>
                <a:spcPts val="0"/>
              </a:spcAft>
              <a:buNone/>
            </a:pPr>
            <a:r>
              <a:rPr b="1" lang="en-GB" sz="850">
                <a:solidFill>
                  <a:srgbClr val="0079DB"/>
                </a:solidFill>
                <a:latin typeface="Century Gothic"/>
                <a:ea typeface="Century Gothic"/>
                <a:cs typeface="Century Gothic"/>
              </a:rPr>
              <a:t>1. CASA Silent Churn (Slide 46)</a:t>
            </a:r>
          </a:p>
          <a:p>
            <a:pPr indent="0" marL="0" rtl="0" algn="l">
              <a:spcBef>
                <a:spcPts val="40"/>
              </a:spcBef>
              <a:spcAft>
                <a:spcPts val="0"/>
              </a:spcAft>
              <a:buNone/>
            </a:pPr>
            <a:r>
              <a:rPr lang="en-GB" sz="750">
                <a:solidFill>
                  <a:srgbClr val="333333"/>
                </a:solidFill>
                <a:latin typeface="Century Gothic"/>
                <a:ea typeface="Century Gothic"/>
                <a:cs typeface="Century Gothic"/>
              </a:rPr>
              <a:t>PKR 500B+ at risk in silent balance rundown. Data: RAAST/IBFT outflows, salary patterns, app logins.</a:t>
            </a:r>
          </a:p>
          <a:p>
            <a:pPr indent="0" marL="0" rtl="0" algn="l">
              <a:spcBef>
                <a:spcPts val="120"/>
              </a:spcBef>
              <a:spcAft>
                <a:spcPts val="0"/>
              </a:spcAft>
              <a:buNone/>
            </a:pPr>
            <a:r>
              <a:rPr b="1" lang="en-GB" sz="850">
                <a:solidFill>
                  <a:srgbClr val="0079DB"/>
                </a:solidFill>
                <a:latin typeface="Century Gothic"/>
                <a:ea typeface="Century Gothic"/>
                <a:cs typeface="Century Gothic"/>
              </a:rPr>
              <a:t>2. Transaction Classification (Slides 11-12)</a:t>
            </a:r>
          </a:p>
          <a:p>
            <a:pPr indent="0" marL="0" rtl="0" algn="l">
              <a:spcBef>
                <a:spcPts val="40"/>
              </a:spcBef>
              <a:spcAft>
                <a:spcPts val="0"/>
              </a:spcAft>
              <a:buNone/>
            </a:pPr>
            <a:r>
              <a:rPr lang="en-GB" sz="750">
                <a:solidFill>
                  <a:srgbClr val="333333"/>
                </a:solidFill>
                <a:latin typeface="Century Gothic"/>
                <a:ea typeface="Century Gothic"/>
                <a:cs typeface="Century Gothic"/>
              </a:rPr>
              <a:t>70% informal economy — salary detection enables lending to undocumented workforce. Data: RAAST, IBFT, POS, mobile wallet.</a:t>
            </a:r>
          </a:p>
          <a:p>
            <a:pPr indent="0" marL="0" rtl="0" algn="l">
              <a:spcBef>
                <a:spcPts val="120"/>
              </a:spcBef>
              <a:spcAft>
                <a:spcPts val="0"/>
              </a:spcAft>
              <a:buNone/>
            </a:pPr>
            <a:r>
              <a:rPr b="1" lang="en-GB" sz="850">
                <a:solidFill>
                  <a:srgbClr val="0079DB"/>
                </a:solidFill>
                <a:latin typeface="Century Gothic"/>
                <a:ea typeface="Century Gothic"/>
                <a:cs typeface="Century Gothic"/>
              </a:rPr>
              <a:t>3. Customer Churn Model (Slide 47)</a:t>
            </a:r>
          </a:p>
          <a:p>
            <a:pPr indent="0" marL="0" rtl="0" algn="l">
              <a:spcBef>
                <a:spcPts val="40"/>
              </a:spcBef>
              <a:spcAft>
                <a:spcPts val="0"/>
              </a:spcAft>
              <a:buNone/>
            </a:pPr>
            <a:r>
              <a:rPr lang="en-GB" sz="750">
                <a:solidFill>
                  <a:srgbClr val="333333"/>
                </a:solidFill>
                <a:latin typeface="Century Gothic"/>
                <a:ea typeface="Century Gothic"/>
                <a:cs typeface="Century Gothic"/>
              </a:rPr>
              <a:t>Fintech competition accelerating — SadaPay/NayaPay capturing millennials. Data: App uninstalls, balance decline, RAAST outflows.</a:t>
            </a:r>
          </a:p>
          <a:p>
            <a:pPr indent="0" marL="0" rtl="0" algn="l">
              <a:spcBef>
                <a:spcPts val="120"/>
              </a:spcBef>
              <a:spcAft>
                <a:spcPts val="0"/>
              </a:spcAft>
              <a:buNone/>
            </a:pPr>
            <a:r>
              <a:rPr b="1" lang="en-GB" sz="850">
                <a:solidFill>
                  <a:srgbClr val="0079DB"/>
                </a:solidFill>
                <a:latin typeface="Century Gothic"/>
                <a:ea typeface="Century Gothic"/>
                <a:cs typeface="Century Gothic"/>
              </a:rPr>
              <a:t>4. Cross-Sell Targeting (Slide 49)</a:t>
            </a:r>
          </a:p>
          <a:p>
            <a:pPr indent="0" marL="0" rtl="0" algn="l">
              <a:spcBef>
                <a:spcPts val="40"/>
              </a:spcBef>
              <a:spcAft>
                <a:spcPts val="0"/>
              </a:spcAft>
              <a:buNone/>
            </a:pPr>
            <a:r>
              <a:rPr lang="en-GB" sz="750">
                <a:solidFill>
                  <a:srgbClr val="333333"/>
                </a:solidFill>
                <a:latin typeface="Century Gothic"/>
                <a:ea typeface="Century Gothic"/>
                <a:cs typeface="Century Gothic"/>
              </a:rPr>
              <a:t>1.8 products/customer vs 4-5 benchmark = 2-3x revenue opportunity. Data: Product holdings, ECIB bureau.</a:t>
            </a:r>
          </a:p>
          <a:p>
            <a:pPr indent="0" marL="0" rtl="0" algn="l">
              <a:spcBef>
                <a:spcPts val="120"/>
              </a:spcBef>
              <a:spcAft>
                <a:spcPts val="0"/>
              </a:spcAft>
              <a:buNone/>
            </a:pPr>
            <a:r>
              <a:rPr b="1" lang="en-GB" sz="850">
                <a:solidFill>
                  <a:srgbClr val="0079DB"/>
                </a:solidFill>
                <a:latin typeface="Century Gothic"/>
                <a:ea typeface="Century Gothic"/>
                <a:cs typeface="Century Gothic"/>
              </a:rPr>
              <a:t>5. Contact Management (Slide 52)</a:t>
            </a:r>
          </a:p>
          <a:p>
            <a:pPr indent="0" marL="0" rtl="0" algn="l">
              <a:spcBef>
                <a:spcPts val="40"/>
              </a:spcBef>
              <a:spcAft>
                <a:spcPts val="0"/>
              </a:spcAft>
              <a:buNone/>
            </a:pPr>
            <a:r>
              <a:rPr lang="en-GB" sz="750">
                <a:solidFill>
                  <a:srgbClr val="333333"/>
                </a:solidFill>
                <a:latin typeface="Century Gothic"/>
                <a:ea typeface="Century Gothic"/>
                <a:cs typeface="Century Gothic"/>
              </a:rPr>
              <a:t>SMS fatigue crisis — 10-15 promo messages/day destroying response rates. Data: SMS delivery, opt-out rates, SBP complaints.</a:t>
            </a:r>
          </a:p>
          <a:p>
            <a:pPr indent="0" marL="0" rtl="0" algn="l">
              <a:spcBef>
                <a:spcPts val="120"/>
              </a:spcBef>
              <a:spcAft>
                <a:spcPts val="0"/>
              </a:spcAft>
              <a:buNone/>
            </a:pPr>
            <a:r>
              <a:rPr b="1" lang="en-GB" sz="850">
                <a:solidFill>
                  <a:srgbClr val="0079DB"/>
                </a:solidFill>
                <a:latin typeface="Century Gothic"/>
                <a:ea typeface="Century Gothic"/>
                <a:cs typeface="Century Gothic"/>
              </a:rPr>
              <a:t>6. Customer Network Analysis (Slide 33)</a:t>
            </a:r>
          </a:p>
          <a:p>
            <a:pPr indent="0" marL="0" rtl="0" algn="l">
              <a:spcBef>
                <a:spcPts val="40"/>
              </a:spcBef>
              <a:spcAft>
                <a:spcPts val="0"/>
              </a:spcAft>
              <a:buNone/>
            </a:pPr>
            <a:r>
              <a:rPr lang="en-GB" sz="750">
                <a:solidFill>
                  <a:srgbClr val="333333"/>
                </a:solidFill>
                <a:latin typeface="Century Gothic"/>
                <a:ea typeface="Century Gothic"/>
                <a:cs typeface="Century Gothic"/>
              </a:rPr>
              <a:t>CNIC enables household mapping unavailable in most markets. Data: CNIC prefix, IBFT patterns, joint accounts.</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5200" name="Shape 5200"/>
        <p:cNvGrpSpPr/>
        <p:nvPr/>
      </p:nvGrpSpPr>
      <p:grpSpPr>
        <a:xfrm>
          <a:off x="0" y="0"/>
          <a:ext cx="0" cy="0"/>
          <a:chOff x="0" y="0"/>
          <a:chExt cx="0" cy="0"/>
        </a:xfrm>
      </p:grpSpPr>
      <p:sp>
        <p:nvSpPr>
          <p:cNvPr id="5201" name="Title"/>
          <p:cNvSpPr txBox="1"/>
          <p:nvPr/>
        </p:nvSpPr>
        <p:spPr>
          <a:xfrm>
            <a:off x="350000" y="100000"/>
            <a:ext cx="8400000" cy="400000"/>
          </a:xfrm>
          <a:prstGeom prst="rect">
            <a:avLst/>
          </a:prstGeom>
          <a:noFill/>
          <a:ln>
            <a:noFill/>
          </a:ln>
        </p:spPr>
        <p:txBody>
          <a:bodyPr anchorCtr="0" anchor="t" bIns="45720" lIns="91440" rIns="91440" wrap="square" tIns="45720">
            <a:noAutofit/>
          </a:bodyPr>
          <a:lstStyle/>
          <a:p>
            <a:pPr indent="0" marL="0" rtl="0" algn="l">
              <a:spcBef>
                <a:spcPts val="0"/>
              </a:spcBef>
              <a:spcAft>
                <a:spcPts val="0"/>
              </a:spcAft>
              <a:buNone/>
            </a:pPr>
            <a:r>
              <a:rPr b="1" lang="en-GB" sz="1600">
                <a:solidFill>
                  <a:srgbClr val="0079DB"/>
                </a:solidFill>
                <a:latin typeface="Century Gothic"/>
                <a:ea typeface="Century Gothic"/>
                <a:cs typeface="Century Gothic"/>
              </a:rPr>
              <a:t>Marketing &amp; CX Use Cases — Implementation Roadmap</a:t>
            </a:r>
          </a:p>
        </p:txBody>
      </p:sp>
      <p:sp>
        <p:nvSpPr>
          <p:cNvPr id="5210" name="Phase1"/>
          <p:cNvSpPr txBox="1"/>
          <p:nvPr/>
        </p:nvSpPr>
        <p:spPr>
          <a:xfrm>
            <a:off x="350000" y="550000"/>
            <a:ext cx="2700000" cy="1800000"/>
          </a:xfrm>
          <a:prstGeom prst="rect">
            <a:avLst/>
          </a:prstGeom>
          <a:noFill/>
          <a:ln>
            <a:noFill/>
          </a:ln>
        </p:spPr>
        <p:txBody>
          <a:bodyPr anchorCtr="0" anchor="t" bIns="45720" lIns="91440" rIns="91440" wrap="square" tIns="45720">
            <a:noAutofit/>
          </a:bodyPr>
          <a:lstStyle/>
          <a:p>
            <a:pPr indent="0" marL="0" rtl="0" algn="l">
              <a:spcBef>
                <a:spcPts val="0"/>
              </a:spcBef>
              <a:spcAft>
                <a:spcPts val="0"/>
              </a:spcAft>
              <a:buNone/>
            </a:pPr>
            <a:r>
              <a:rPr b="1" lang="en-GB" sz="950">
                <a:solidFill>
                  <a:srgbClr val="0079DB"/>
                </a:solidFill>
                <a:latin typeface="Century Gothic"/>
                <a:ea typeface="Century Gothic"/>
                <a:cs typeface="Century Gothic"/>
              </a:rPr>
              <a:t>Phase 1: Foundation (0-6 months) — 8 Use Cases</a:t>
            </a:r>
          </a:p>
          <a:p>
            <a:pPr indent="-171450" marL="171450" rtl="0" algn="l">
              <a:spcBef>
                <a:spcPts val="60"/>
              </a:spcBef>
              <a:spcAft>
                <a:spcPts val="0"/>
              </a:spcAft>
              <a:buChar char="•"/>
            </a:pPr>
            <a:r>
              <a:rPr lang="en-GB" sz="700">
                <a:solidFill>
                  <a:srgbClr val="333333"/>
                </a:solidFill>
                <a:latin typeface="Century Gothic"/>
                <a:ea typeface="Century Gothic"/>
                <a:cs typeface="Century Gothic"/>
              </a:rPr>
              <a:t>Transaction Classification, CASA Silent Churn, Path to Profitable Customers, Contact Management, Customer Churn Model, Prospect Screener, Customer Satisfaction (NPS), Credit Card Behavior Analysis</a:t>
            </a:r>
          </a:p>
          <a:p>
            <a:pPr indent="0" marL="0" rtl="0" algn="l">
              <a:spcBef>
                <a:spcPts val="60"/>
              </a:spcBef>
              <a:spcAft>
                <a:spcPts val="0"/>
              </a:spcAft>
              <a:buNone/>
            </a:pPr>
            <a:r>
              <a:rPr b="1" lang="en-GB" sz="700">
                <a:solidFill>
                  <a:srgbClr val="C55A11"/>
                </a:solidFill>
                <a:latin typeface="Century Gothic"/>
                <a:ea typeface="Century Gothic"/>
                <a:cs typeface="Century Gothic"/>
              </a:rPr>
              <a:t>Investment: PKR 40-80M | Data: Existing EDW + RAAST/IBFT feeds</a:t>
            </a:r>
          </a:p>
        </p:txBody>
      </p:sp>
      <p:sp>
        <p:nvSpPr>
          <p:cNvPr id="5220" name="Phase2"/>
          <p:cNvSpPr txBox="1"/>
          <p:nvPr/>
        </p:nvSpPr>
        <p:spPr>
          <a:xfrm>
            <a:off x="3200000" y="550000"/>
            <a:ext cx="2700000" cy="1800000"/>
          </a:xfrm>
          <a:prstGeom prst="rect">
            <a:avLst/>
          </a:prstGeom>
          <a:noFill/>
          <a:ln>
            <a:noFill/>
          </a:ln>
        </p:spPr>
        <p:txBody>
          <a:bodyPr anchorCtr="0" anchor="t" bIns="45720" lIns="91440" rIns="91440" wrap="square" tIns="45720">
            <a:noAutofit/>
          </a:bodyPr>
          <a:lstStyle/>
          <a:p>
            <a:pPr indent="0" marL="0" rtl="0" algn="l">
              <a:spcBef>
                <a:spcPts val="0"/>
              </a:spcBef>
              <a:spcAft>
                <a:spcPts val="0"/>
              </a:spcAft>
              <a:buNone/>
            </a:pPr>
            <a:r>
              <a:rPr b="1" lang="en-GB" sz="950">
                <a:solidFill>
                  <a:srgbClr val="0079DB"/>
                </a:solidFill>
                <a:latin typeface="Century Gothic"/>
                <a:ea typeface="Century Gothic"/>
                <a:cs typeface="Century Gothic"/>
              </a:rPr>
              <a:t>Phase 2: Intelligence (6-18 months) — 15 Use Cases</a:t>
            </a:r>
          </a:p>
          <a:p>
            <a:pPr indent="-171450" marL="171450" rtl="0" algn="l">
              <a:spcBef>
                <a:spcPts val="60"/>
              </a:spcBef>
              <a:spcAft>
                <a:spcPts val="0"/>
              </a:spcAft>
              <a:buChar char="•"/>
            </a:pPr>
            <a:r>
              <a:rPr lang="en-GB" sz="700">
                <a:solidFill>
                  <a:srgbClr val="333333"/>
                </a:solidFill>
                <a:latin typeface="Century Gothic"/>
                <a:ea typeface="Century Gothic"/>
                <a:cs typeface="Century Gothic"/>
              </a:rPr>
              <a:t>Journey Analytics, Cross-Sell Targeting, NBA Strategy, Event Marketing, Omni-Channel, Product Bundling, CLTV, Segmentation, Propensity, Complaints, Path to Churn, Balance Churners, Hidden Preferred, Satisfaction Index, Attitudinal Segmentation</a:t>
            </a:r>
          </a:p>
          <a:p>
            <a:pPr indent="0" marL="0" rtl="0" algn="l">
              <a:spcBef>
                <a:spcPts val="60"/>
              </a:spcBef>
              <a:spcAft>
                <a:spcPts val="0"/>
              </a:spcAft>
              <a:buNone/>
            </a:pPr>
            <a:r>
              <a:rPr b="1" lang="en-GB" sz="700">
                <a:solidFill>
                  <a:srgbClr val="C55A11"/>
                </a:solidFill>
                <a:latin typeface="Century Gothic"/>
                <a:ea typeface="Century Gothic"/>
                <a:cs typeface="Century Gothic"/>
              </a:rPr>
              <a:t>Investment: PKR 100-200M | Data: + Mobile app + Call center</a:t>
            </a:r>
          </a:p>
        </p:txBody>
      </p:sp>
      <p:sp>
        <p:nvSpPr>
          <p:cNvPr id="5230" name="Phase3"/>
          <p:cNvSpPr txBox="1"/>
          <p:nvPr/>
        </p:nvSpPr>
        <p:spPr>
          <a:xfrm>
            <a:off x="6050000" y="550000"/>
            <a:ext cx="2700000" cy="1800000"/>
          </a:xfrm>
          <a:prstGeom prst="rect">
            <a:avLst/>
          </a:prstGeom>
          <a:noFill/>
          <a:ln>
            <a:noFill/>
          </a:ln>
        </p:spPr>
        <p:txBody>
          <a:bodyPr anchorCtr="0" anchor="t" bIns="45720" lIns="91440" rIns="91440" wrap="square" tIns="45720">
            <a:noAutofit/>
          </a:bodyPr>
          <a:lstStyle/>
          <a:p>
            <a:pPr indent="0" marL="0" rtl="0" algn="l">
              <a:spcBef>
                <a:spcPts val="0"/>
              </a:spcBef>
              <a:spcAft>
                <a:spcPts val="0"/>
              </a:spcAft>
              <a:buNone/>
            </a:pPr>
            <a:r>
              <a:rPr b="1" lang="en-GB" sz="950">
                <a:solidFill>
                  <a:srgbClr val="0079DB"/>
                </a:solidFill>
                <a:latin typeface="Century Gothic"/>
                <a:ea typeface="Century Gothic"/>
                <a:cs typeface="Century Gothic"/>
              </a:rPr>
              <a:t>Phase 3: Advanced (18-36 months) — 12 Use Cases</a:t>
            </a:r>
          </a:p>
          <a:p>
            <a:pPr indent="-171450" marL="171450" rtl="0" algn="l">
              <a:spcBef>
                <a:spcPts val="60"/>
              </a:spcBef>
              <a:spcAft>
                <a:spcPts val="0"/>
              </a:spcAft>
              <a:buChar char="•"/>
            </a:pPr>
            <a:r>
              <a:rPr lang="en-GB" sz="700">
                <a:solidFill>
                  <a:srgbClr val="333333"/>
                </a:solidFill>
                <a:latin typeface="Century Gothic"/>
                <a:ea typeface="Century Gothic"/>
                <a:cs typeface="Century Gothic"/>
              </a:rPr>
              <a:t>Real-Time Offers, Location Based, Social Network, Customer Network, Wealth Mgmt, Marketing Attribution, Ad Optimization, Competitor Analysis, GIS + Telco, Web/IVR Breakout, Merchant Reco, People Like Me</a:t>
            </a:r>
          </a:p>
          <a:p>
            <a:pPr indent="0" marL="0" rtl="0" algn="l">
              <a:spcBef>
                <a:spcPts val="60"/>
              </a:spcBef>
              <a:spcAft>
                <a:spcPts val="0"/>
              </a:spcAft>
              <a:buNone/>
            </a:pPr>
            <a:r>
              <a:rPr b="1" lang="en-GB" sz="700">
                <a:solidFill>
                  <a:srgbClr val="C55A11"/>
                </a:solidFill>
                <a:latin typeface="Century Gothic"/>
                <a:ea typeface="Century Gothic"/>
                <a:cs typeface="Century Gothic"/>
              </a:rPr>
              <a:t>Investment: PKR 150-300M | Data: + Real-time + External</a:t>
            </a:r>
          </a:p>
        </p:txBody>
      </p:sp>
      <p:sp>
        <p:nvSpPr>
          <p:cNvPr id="5240" name="Summary"/>
          <p:cNvSpPr txBox="1"/>
          <p:nvPr/>
        </p:nvSpPr>
        <p:spPr>
          <a:xfrm>
            <a:off x="350000" y="2500000"/>
            <a:ext cx="8400000" cy="350000"/>
          </a:xfrm>
          <a:prstGeom prst="rect">
            <a:avLst/>
          </a:prstGeom>
          <a:noFill/>
          <a:ln>
            <a:noFill/>
          </a:ln>
        </p:spPr>
        <p:txBody>
          <a:bodyPr anchorCtr="0" anchor="t" bIns="45720" lIns="91440" rIns="91440" wrap="square" tIns="45720">
            <a:noAutofit/>
          </a:bodyPr>
          <a:lstStyle/>
          <a:p>
            <a:pPr indent="0" marL="0" rtl="0" algn="l">
              <a:spcBef>
                <a:spcPts val="0"/>
              </a:spcBef>
              <a:spcAft>
                <a:spcPts val="0"/>
              </a:spcAft>
              <a:buNone/>
            </a:pPr>
            <a:r>
              <a:rPr b="1" lang="en-GB" sz="850">
                <a:solidFill>
                  <a:srgbClr val="0079DB"/>
                </a:solidFill>
                <a:latin typeface="Century Gothic"/>
                <a:ea typeface="Century Gothic"/>
                <a:cs typeface="Century Gothic"/>
              </a:rPr>
              <a:t>Total: 35 Priority Use Cases across 3 phases | Investment: PKR 290-580M | 65 use cases with full Pakistan context</a:t>
            </a:r>
          </a:p>
        </p:txBody>
      </p:sp>
      <p:sp>
        <p:nvSpPr>
          <p:cNvPr id="5250" name="FSDM"/>
          <p:cNvSpPr txBox="1"/>
          <p:nvPr/>
        </p:nvSpPr>
        <p:spPr>
          <a:xfrm>
            <a:off x="350000" y="2900000"/>
            <a:ext cx="8400000" cy="300000"/>
          </a:xfrm>
          <a:prstGeom prst="rect">
            <a:avLst/>
          </a:prstGeom>
          <a:noFill/>
          <a:ln>
            <a:noFill/>
          </a:ln>
        </p:spPr>
        <p:txBody>
          <a:bodyPr anchorCtr="0" anchor="t" bIns="45720" lIns="91440" rIns="91440" wrap="square" tIns="45720">
            <a:noAutofit/>
          </a:bodyPr>
          <a:lstStyle/>
          <a:p>
            <a:pPr indent="0" marL="0" rtl="0" algn="l">
              <a:spcBef>
                <a:spcPts val="80"/>
              </a:spcBef>
              <a:spcAft>
                <a:spcPts val="0"/>
              </a:spcAft>
              <a:buNone/>
            </a:pPr>
            <a:r>
              <a:rPr lang="en-GB" sz="700">
                <a:solidFill>
                  <a:srgbClr val="666666"/>
                </a:solidFill>
                <a:latin typeface="Century Gothic"/>
                <a:ea typeface="Century Gothic"/>
                <a:cs typeface="Century Gothic"/>
              </a:rPr>
              <a:t>FSDM Foundation: All use cases built on erwin Financial Services Data Model — 180+ entities. Party, Transaction, Event, Product, Channel, Campaign, Marketing domains.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Teradata">
      <a:dk1>
        <a:srgbClr val="000000"/>
      </a:dk1>
      <a:lt1>
        <a:srgbClr val="FFFFFF"/>
      </a:lt1>
      <a:dk2>
        <a:srgbClr val="0079DB"/>
      </a:dk2>
      <a:lt2>
        <a:srgbClr val="D8D8D8"/>
      </a:lt2>
      <a:accent1>
        <a:srgbClr val="D56D23"/>
      </a:accent1>
      <a:accent2>
        <a:srgbClr val="BBBCBE"/>
      </a:accent2>
      <a:accent3>
        <a:srgbClr val="5F6062"/>
      </a:accent3>
      <a:accent4>
        <a:srgbClr val="0088A8"/>
      </a:accent4>
      <a:accent5>
        <a:srgbClr val="703092"/>
      </a:accent5>
      <a:accent6>
        <a:srgbClr val="CD391F"/>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TDC_PPT_16-9_1014-lite">
  <a:themeElements>
    <a:clrScheme name="TeradataPPT2014">
      <a:dk1>
        <a:srgbClr val="3C3C3B"/>
      </a:dk1>
      <a:lt1>
        <a:srgbClr val="FFFFFF"/>
      </a:lt1>
      <a:dk2>
        <a:srgbClr val="0079DB"/>
      </a:dk2>
      <a:lt2>
        <a:srgbClr val="D8D8D8"/>
      </a:lt2>
      <a:accent1>
        <a:srgbClr val="EC881D"/>
      </a:accent1>
      <a:accent2>
        <a:srgbClr val="0079DB"/>
      </a:accent2>
      <a:accent3>
        <a:srgbClr val="CD391F"/>
      </a:accent3>
      <a:accent4>
        <a:srgbClr val="0088A8"/>
      </a:accent4>
      <a:accent5>
        <a:srgbClr val="703092"/>
      </a:accent5>
      <a:accent6>
        <a:srgbClr val="5F6062"/>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