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4.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1.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7.xml" ContentType="application/vnd.openxmlformats-officedocument.presentationml.notesSlide+xml"/>
  <Override PartName="/ppt/notesSlides/notesSlide568.xml" ContentType="application/vnd.openxmlformats-officedocument.presentationml.notesSlide+xml"/>
  <Override PartName="/ppt/notesSlides/notesSlide569.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789" r:id="rId540"/>
    <p:sldId id="790" r:id="rId541"/>
    <p:sldId id="791" r:id="rId542"/>
    <p:sldId id="792" r:id="rId543"/>
    <p:sldId id="793" r:id="rId544"/>
    <p:sldId id="794" r:id="rId545"/>
    <p:sldId id="795" r:id="rId546"/>
    <p:sldId id="796" r:id="rId547"/>
    <p:sldId id="797" r:id="rId548"/>
    <p:sldId id="798" r:id="rId549"/>
    <p:sldId id="799" r:id="rId550"/>
    <p:sldId id="800" r:id="rId551"/>
    <p:sldId id="801" r:id="rId552"/>
    <p:sldId id="802" r:id="rId553"/>
    <p:sldId id="803" r:id="rId554"/>
    <p:sldId id="804" r:id="rId555"/>
    <p:sldId id="805" r:id="rId556"/>
    <p:sldId id="806" r:id="rId557"/>
    <p:sldId id="807" r:id="rId558"/>
    <p:sldId id="808" r:id="rId559"/>
    <p:sldId id="809" r:id="rId560"/>
    <p:sldId id="810" r:id="rId561"/>
    <p:sldId id="811" r:id="rId562"/>
    <p:sldId id="812" r:id="rId563"/>
    <p:sldId id="813" r:id="rId564"/>
    <p:sldId id="814" r:id="rId565"/>
    <p:sldId id="815" r:id="rId566"/>
    <p:sldId id="816" r:id="rId567"/>
    <p:sldId id="817" r:id="rId568"/>
    <p:sldId id="818" r:id="rId569"/>
    <p:sldId id="819" r:id="rId570"/>
    <p:sldId id="820" r:id="rId571"/>
    <p:sldId id="821" r:id="rId572"/>
    <p:sldId id="822" r:id="rId573"/>
    <p:sldId id="823" r:id="rId574"/>
    <p:sldId id="824" r:id="rId575"/>
    <p:sldId id="825" r:id="rId576"/>
    <p:sldId id="826" r:id="rId577"/>
    <p:sldId id="827" r:id="rId578"/>
    <p:sldId id="828" r:id="rId579"/>
    <p:sldId id="829" r:id="rId580"/>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540" Type="http://schemas.openxmlformats.org/officeDocument/2006/relationships/slide" Target="slides/slide534.xml"/><Relationship Id="rId541" Type="http://schemas.openxmlformats.org/officeDocument/2006/relationships/slide" Target="slides/slide535.xml"/><Relationship Id="rId542" Type="http://schemas.openxmlformats.org/officeDocument/2006/relationships/slide" Target="slides/slide536.xml"/><Relationship Id="rId543" Type="http://schemas.openxmlformats.org/officeDocument/2006/relationships/slide" Target="slides/slide537.xml"/><Relationship Id="rId544" Type="http://schemas.openxmlformats.org/officeDocument/2006/relationships/slide" Target="slides/slide538.xml"/><Relationship Id="rId545" Type="http://schemas.openxmlformats.org/officeDocument/2006/relationships/slide" Target="slides/slide539.xml"/><Relationship Id="rId546" Type="http://schemas.openxmlformats.org/officeDocument/2006/relationships/slide" Target="slides/slide540.xml"/><Relationship Id="rId547" Type="http://schemas.openxmlformats.org/officeDocument/2006/relationships/slide" Target="slides/slide541.xml"/><Relationship Id="rId548" Type="http://schemas.openxmlformats.org/officeDocument/2006/relationships/slide" Target="slides/slide542.xml"/><Relationship Id="rId549" Type="http://schemas.openxmlformats.org/officeDocument/2006/relationships/slide" Target="slides/slide543.xml"/><Relationship Id="rId550" Type="http://schemas.openxmlformats.org/officeDocument/2006/relationships/slide" Target="slides/slide544.xml"/><Relationship Id="rId551" Type="http://schemas.openxmlformats.org/officeDocument/2006/relationships/slide" Target="slides/slide545.xml"/><Relationship Id="rId552" Type="http://schemas.openxmlformats.org/officeDocument/2006/relationships/slide" Target="slides/slide546.xml"/><Relationship Id="rId553" Type="http://schemas.openxmlformats.org/officeDocument/2006/relationships/slide" Target="slides/slide547.xml"/><Relationship Id="rId554" Type="http://schemas.openxmlformats.org/officeDocument/2006/relationships/slide" Target="slides/slide548.xml"/><Relationship Id="rId555" Type="http://schemas.openxmlformats.org/officeDocument/2006/relationships/slide" Target="slides/slide549.xml"/><Relationship Id="rId556" Type="http://schemas.openxmlformats.org/officeDocument/2006/relationships/slide" Target="slides/slide550.xml"/><Relationship Id="rId557" Type="http://schemas.openxmlformats.org/officeDocument/2006/relationships/slide" Target="slides/slide551.xml"/><Relationship Id="rId558" Type="http://schemas.openxmlformats.org/officeDocument/2006/relationships/slide" Target="slides/slide552.xml"/><Relationship Id="rId559" Type="http://schemas.openxmlformats.org/officeDocument/2006/relationships/slide" Target="slides/slide553.xml"/><Relationship Id="rId560" Type="http://schemas.openxmlformats.org/officeDocument/2006/relationships/slide" Target="slides/slide554.xml"/><Relationship Id="rId561" Type="http://schemas.openxmlformats.org/officeDocument/2006/relationships/slide" Target="slides/slide555.xml"/><Relationship Id="rId562" Type="http://schemas.openxmlformats.org/officeDocument/2006/relationships/slide" Target="slides/slide556.xml"/><Relationship Id="rId563" Type="http://schemas.openxmlformats.org/officeDocument/2006/relationships/slide" Target="slides/slide557.xml"/><Relationship Id="rId564" Type="http://schemas.openxmlformats.org/officeDocument/2006/relationships/slide" Target="slides/slide558.xml"/><Relationship Id="rId565" Type="http://schemas.openxmlformats.org/officeDocument/2006/relationships/slide" Target="slides/slide559.xml"/><Relationship Id="rId566" Type="http://schemas.openxmlformats.org/officeDocument/2006/relationships/slide" Target="slides/slide560.xml"/><Relationship Id="rId567" Type="http://schemas.openxmlformats.org/officeDocument/2006/relationships/slide" Target="slides/slide561.xml"/><Relationship Id="rId568" Type="http://schemas.openxmlformats.org/officeDocument/2006/relationships/slide" Target="slides/slide562.xml"/><Relationship Id="rId569" Type="http://schemas.openxmlformats.org/officeDocument/2006/relationships/slide" Target="slides/slide563.xml"/><Relationship Id="rId570" Type="http://schemas.openxmlformats.org/officeDocument/2006/relationships/slide" Target="slides/slide564.xml"/><Relationship Id="rId571" Type="http://schemas.openxmlformats.org/officeDocument/2006/relationships/slide" Target="slides/slide565.xml"/><Relationship Id="rId572" Type="http://schemas.openxmlformats.org/officeDocument/2006/relationships/slide" Target="slides/slide566.xml"/><Relationship Id="rId573" Type="http://schemas.openxmlformats.org/officeDocument/2006/relationships/slide" Target="slides/slide567.xml"/><Relationship Id="rId574" Type="http://schemas.openxmlformats.org/officeDocument/2006/relationships/slide" Target="slides/slide568.xml"/><Relationship Id="rId575" Type="http://schemas.openxmlformats.org/officeDocument/2006/relationships/slide" Target="slides/slide569.xml"/><Relationship Id="rId576" Type="http://schemas.openxmlformats.org/officeDocument/2006/relationships/slide" Target="slides/slide570.xml"/><Relationship Id="rId577" Type="http://schemas.openxmlformats.org/officeDocument/2006/relationships/slide" Target="slides/slide571.xml"/><Relationship Id="rId578" Type="http://schemas.openxmlformats.org/officeDocument/2006/relationships/slide" Target="slides/slide572.xml"/><Relationship Id="rId579" Type="http://schemas.openxmlformats.org/officeDocument/2006/relationships/slide" Target="slides/slide573.xml"/><Relationship Id="rId580" Type="http://schemas.openxmlformats.org/officeDocument/2006/relationships/slide" Target="slides/slide574.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8" name="Shape 9848"/>
        <p:cNvGrpSpPr/>
        <p:nvPr/>
      </p:nvGrpSpPr>
      <p:grpSpPr>
        <a:xfrm>
          <a:off x="0" y="0"/>
          <a:ext cx="0" cy="0"/>
          <a:chOff x="0" y="0"/>
          <a:chExt cx="0" cy="0"/>
        </a:xfrm>
      </p:grpSpPr>
      <p:sp>
        <p:nvSpPr>
          <p:cNvPr id="9849" name="Google Shape;9849;p5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850" name="Google Shape;9850;p5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74" name="Shape 10374"/>
        <p:cNvGrpSpPr/>
        <p:nvPr/>
      </p:nvGrpSpPr>
      <p:grpSpPr>
        <a:xfrm>
          <a:off x="0" y="0"/>
          <a:ext cx="0" cy="0"/>
          <a:chOff x="0" y="0"/>
          <a:chExt cx="0" cy="0"/>
        </a:xfrm>
      </p:grpSpPr>
      <p:sp>
        <p:nvSpPr>
          <p:cNvPr id="10375" name="Google Shape;10375;p5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76" name="Google Shape;10376;p5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77" name="Google Shape;10377;p5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94" name="Shape 10494"/>
        <p:cNvGrpSpPr/>
        <p:nvPr/>
      </p:nvGrpSpPr>
      <p:grpSpPr>
        <a:xfrm>
          <a:off x="0" y="0"/>
          <a:ext cx="0" cy="0"/>
          <a:chOff x="0" y="0"/>
          <a:chExt cx="0" cy="0"/>
        </a:xfrm>
      </p:grpSpPr>
      <p:sp>
        <p:nvSpPr>
          <p:cNvPr id="10495" name="Google Shape;10495;p5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96" name="Google Shape;10496;p5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97" name="Google Shape;10497;p5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30" name="Shape 10530"/>
        <p:cNvGrpSpPr/>
        <p:nvPr/>
      </p:nvGrpSpPr>
      <p:grpSpPr>
        <a:xfrm>
          <a:off x="0" y="0"/>
          <a:ext cx="0" cy="0"/>
          <a:chOff x="0" y="0"/>
          <a:chExt cx="0" cy="0"/>
        </a:xfrm>
      </p:grpSpPr>
      <p:sp>
        <p:nvSpPr>
          <p:cNvPr id="10531" name="Google Shape;10531;p5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32" name="Google Shape;10532;p5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33" name="Google Shape;10533;p5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534.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1.xml"/><Relationship Id="rId3" Type="http://schemas.openxmlformats.org/officeDocument/2006/relationships/image" Target="../media/image108.png"/><Relationship Id="rId4" Type="http://schemas.openxmlformats.org/officeDocument/2006/relationships/image" Target="../media/image98.png"/><Relationship Id="rId5"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7.xml"/><Relationship Id="rId3" Type="http://schemas.openxmlformats.org/officeDocument/2006/relationships/image" Target="../media/image110.png"/><Relationship Id="rId4" Type="http://schemas.openxmlformats.org/officeDocument/2006/relationships/image" Target="../media/image109.png"/><Relationship Id="rId5" Type="http://schemas.openxmlformats.org/officeDocument/2006/relationships/image" Target="../media/image107.png"/><Relationship Id="rId6" Type="http://schemas.openxmlformats.org/officeDocument/2006/relationships/image" Target="../media/image100.png"/><Relationship Id="rId7"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9.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1" name="Shape 9851"/>
        <p:cNvGrpSpPr/>
        <p:nvPr/>
      </p:nvGrpSpPr>
      <p:grpSpPr>
        <a:xfrm>
          <a:off x="0" y="0"/>
          <a:ext cx="0" cy="0"/>
          <a:chOff x="0" y="0"/>
          <a:chExt cx="0" cy="0"/>
        </a:xfrm>
      </p:grpSpPr>
      <p:sp>
        <p:nvSpPr>
          <p:cNvPr id="9852" name="Google Shape;9852;p564"/>
          <p:cNvSpPr txBox="1"/>
          <p:nvPr>
            <p:ph idx="1" type="body"/>
          </p:nvPr>
        </p:nvSpPr>
        <p:spPr>
          <a:xfrm>
            <a:off x="0" y="2153191"/>
            <a:ext cx="9144000" cy="837152"/>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Security &amp; Fraud</a:t>
            </a:r>
            <a:br>
              <a:rPr lang="en-GB"/>
            </a:br>
            <a:r>
              <a:rPr lang="en-GB"/>
              <a:t>Use Cases</a:t>
            </a:r>
            <a:endParaRPr/>
          </a:p>
        </p:txBody>
      </p:sp>
      <p:sp>
        <p:nvSpPr>
          <p:cNvPr id="9853" name="Google Shape;9853;p564"/>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chemeClr val="lt1"/>
              </a:buClr>
              <a:buSzPts val="700"/>
              <a:buFont typeface="Century Gothic"/>
              <a:buNone/>
            </a:pPr>
            <a:r>
              <a:t/>
            </a:r>
            <a:endParaRPr/>
          </a:p>
        </p:txBody>
      </p:sp>
    </p:spTree>
  </p:cSld>
  <p:clrMapOvr>
    <a:masterClrMapping/>
  </p:clrMapOvr>
  <p:transition spd="med">
    <p:fade/>
  </p:transition>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78" name="Shape 10378"/>
        <p:cNvGrpSpPr/>
        <p:nvPr/>
      </p:nvGrpSpPr>
      <p:grpSpPr>
        <a:xfrm>
          <a:off x="0" y="0"/>
          <a:ext cx="0" cy="0"/>
          <a:chOff x="0" y="0"/>
          <a:chExt cx="0" cy="0"/>
        </a:xfrm>
      </p:grpSpPr>
      <p:cxnSp>
        <p:nvCxnSpPr>
          <p:cNvPr id="10379" name="Google Shape;10379;p591"/>
          <p:cNvCxnSpPr/>
          <p:nvPr/>
        </p:nvCxnSpPr>
        <p:spPr>
          <a:xfrm>
            <a:off x="4576599" y="810596"/>
            <a:ext cx="0" cy="3893399"/>
          </a:xfrm>
          <a:prstGeom prst="straightConnector1">
            <a:avLst/>
          </a:prstGeom>
          <a:noFill/>
          <a:ln cap="flat" cmpd="sng" w="12700">
            <a:solidFill>
              <a:schemeClr val="lt2"/>
            </a:solidFill>
            <a:prstDash val="solid"/>
            <a:round/>
            <a:headEnd len="sm" w="sm" type="none"/>
            <a:tailEnd len="sm" w="sm" type="none"/>
          </a:ln>
        </p:spPr>
      </p:cxnSp>
      <p:sp>
        <p:nvSpPr>
          <p:cNvPr id="10380" name="Google Shape;10380;p5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81" name="Google Shape;10381;p591"/>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82" name="Google Shape;10382;p591"/>
          <p:cNvSpPr/>
          <p:nvPr/>
        </p:nvSpPr>
        <p:spPr>
          <a:xfrm>
            <a:off x="4795837" y="2376546"/>
            <a:ext cx="3949200" cy="2327448"/>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Example Output: Analysis of main transactions witin 3 days after account activation</a:t>
            </a:r>
            <a:endParaRPr sz="900">
              <a:solidFill>
                <a:schemeClr val="dk1"/>
              </a:solidFill>
              <a:latin typeface="Century Gothic"/>
              <a:ea typeface="Century Gothic"/>
              <a:cs typeface="Century Gothic"/>
              <a:sym typeface="Century Gothic"/>
            </a:endParaRPr>
          </a:p>
        </p:txBody>
      </p:sp>
      <p:sp>
        <p:nvSpPr>
          <p:cNvPr id="10383" name="Google Shape;10383;p591"/>
          <p:cNvSpPr/>
          <p:nvPr/>
        </p:nvSpPr>
        <p:spPr>
          <a:xfrm>
            <a:off x="423863" y="2377440"/>
            <a:ext cx="4048125" cy="2326554"/>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Example: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5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84" name="Google Shape;10384;p5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85" name="Google Shape;10385;p5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86" name="Google Shape;10386;p59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87" name="Google Shape;10387;p591"/>
          <p:cNvSpPr txBox="1"/>
          <p:nvPr/>
        </p:nvSpPr>
        <p:spPr>
          <a:xfrm>
            <a:off x="465960" y="4245769"/>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pic>
        <p:nvPicPr>
          <p:cNvPr id="10388" name="Google Shape;10388;p591"/>
          <p:cNvPicPr preferRelativeResize="0"/>
          <p:nvPr/>
        </p:nvPicPr>
        <p:blipFill rotWithShape="1">
          <a:blip r:embed="rId3">
            <a:alphaModFix/>
          </a:blip>
          <a:srcRect b="0" l="0" r="0" t="0"/>
          <a:stretch/>
        </p:blipFill>
        <p:spPr>
          <a:xfrm>
            <a:off x="650626" y="2595740"/>
            <a:ext cx="1963457" cy="1730505"/>
          </a:xfrm>
          <a:prstGeom prst="rect">
            <a:avLst/>
          </a:prstGeom>
          <a:noFill/>
          <a:ln cap="flat" cmpd="sng" w="9525">
            <a:solidFill>
              <a:srgbClr val="DC7B1F"/>
            </a:solidFill>
            <a:prstDash val="solid"/>
            <a:round/>
            <a:headEnd len="sm" w="sm" type="none"/>
            <a:tailEnd len="sm" w="sm" type="none"/>
          </a:ln>
        </p:spPr>
      </p:pic>
      <p:sp>
        <p:nvSpPr>
          <p:cNvPr id="10389" name="Google Shape;10389;p591"/>
          <p:cNvSpPr txBox="1"/>
          <p:nvPr/>
        </p:nvSpPr>
        <p:spPr>
          <a:xfrm>
            <a:off x="2536343" y="2489910"/>
            <a:ext cx="1950511" cy="1579920"/>
          </a:xfrm>
          <a:prstGeom prst="rect">
            <a:avLst/>
          </a:prstGeom>
          <a:noFill/>
          <a:ln>
            <a:noFill/>
          </a:ln>
        </p:spPr>
        <p:txBody>
          <a:bodyPr anchorCtr="0" anchor="t" bIns="45700" lIns="91425" spcFirstLastPara="1" rIns="91425" wrap="square" tIns="45700">
            <a:noAutofit/>
          </a:bodyPr>
          <a:lstStyle/>
          <a:p>
            <a:pPr indent="-171450" lvl="1" marL="628650" marR="0" rtl="0" algn="l">
              <a:spcBef>
                <a:spcPts val="0"/>
              </a:spcBef>
              <a:spcAft>
                <a:spcPts val="0"/>
              </a:spcAft>
              <a:buClr>
                <a:srgbClr val="231F20"/>
              </a:buClr>
              <a:buSzPts val="900"/>
              <a:buFont typeface="Arial"/>
              <a:buChar char="•"/>
            </a:pPr>
            <a:r>
              <a:rPr b="0" i="1" lang="en-GB" sz="900" u="none" cap="none" strike="noStrike">
                <a:solidFill>
                  <a:srgbClr val="231F20"/>
                </a:solidFill>
                <a:latin typeface="Century Gothic"/>
                <a:ea typeface="Century Gothic"/>
                <a:cs typeface="Century Gothic"/>
                <a:sym typeface="Century Gothic"/>
              </a:rPr>
              <a:t>Customers who got high Value Handset</a:t>
            </a:r>
            <a:endParaRPr/>
          </a:p>
          <a:p>
            <a:pPr indent="-171450" lvl="1" marL="628650" marR="0" rtl="0" algn="l">
              <a:spcBef>
                <a:spcPts val="400"/>
              </a:spcBef>
              <a:spcAft>
                <a:spcPts val="0"/>
              </a:spcAft>
              <a:buClr>
                <a:srgbClr val="231F20"/>
              </a:buClr>
              <a:buSzPts val="900"/>
              <a:buFont typeface="Arial"/>
              <a:buChar char="•"/>
            </a:pPr>
            <a:r>
              <a:rPr b="0" i="1" lang="en-GB" sz="900" u="none" cap="none" strike="noStrike">
                <a:solidFill>
                  <a:srgbClr val="231F20"/>
                </a:solidFill>
                <a:latin typeface="Century Gothic"/>
                <a:ea typeface="Century Gothic"/>
                <a:cs typeface="Century Gothic"/>
                <a:sym typeface="Century Gothic"/>
              </a:rPr>
              <a:t>High exposure if Customer has minimum down payment </a:t>
            </a:r>
            <a:endParaRPr/>
          </a:p>
          <a:p>
            <a:pPr indent="-171450" lvl="1" marL="628650" marR="0" rtl="0" algn="l">
              <a:spcBef>
                <a:spcPts val="400"/>
              </a:spcBef>
              <a:spcAft>
                <a:spcPts val="0"/>
              </a:spcAft>
              <a:buClr>
                <a:srgbClr val="231F20"/>
              </a:buClr>
              <a:buSzPts val="900"/>
              <a:buFont typeface="Arial"/>
              <a:buChar char="•"/>
            </a:pPr>
            <a:r>
              <a:rPr b="0" i="1" lang="en-GB" sz="900" u="none" cap="none" strike="noStrike">
                <a:solidFill>
                  <a:srgbClr val="231F20"/>
                </a:solidFill>
                <a:latin typeface="Century Gothic"/>
                <a:ea typeface="Century Gothic"/>
                <a:cs typeface="Century Gothic"/>
                <a:sym typeface="Century Gothic"/>
              </a:rPr>
              <a:t>Subscription plans that has unlimited or incentives to use Voice </a:t>
            </a:r>
            <a:endParaRPr/>
          </a:p>
        </p:txBody>
      </p:sp>
      <p:sp>
        <p:nvSpPr>
          <p:cNvPr id="10390" name="Google Shape;10390;p591"/>
          <p:cNvSpPr txBox="1"/>
          <p:nvPr/>
        </p:nvSpPr>
        <p:spPr>
          <a:xfrm>
            <a:off x="804465" y="4320821"/>
            <a:ext cx="3463756" cy="407932"/>
          </a:xfrm>
          <a:prstGeom prst="rect">
            <a:avLst/>
          </a:prstGeom>
          <a:noFill/>
          <a:ln>
            <a:noFill/>
          </a:ln>
        </p:spPr>
        <p:txBody>
          <a:bodyPr anchorCtr="0" anchor="t" bIns="45700" lIns="91425" spcFirstLastPara="1" rIns="91425" wrap="square" tIns="45700">
            <a:noAutofit/>
          </a:bodyPr>
          <a:lstStyle/>
          <a:p>
            <a:pPr indent="0" lvl="1" marL="457200" marR="0" rtl="0" algn="l">
              <a:lnSpc>
                <a:spcPct val="95000"/>
              </a:lnSpc>
              <a:spcBef>
                <a:spcPts val="0"/>
              </a:spcBef>
              <a:spcAft>
                <a:spcPts val="0"/>
              </a:spcAft>
              <a:buNone/>
            </a:pPr>
            <a:r>
              <a:rPr b="1" i="1" lang="en-GB" sz="900" u="none" cap="none" strike="noStrike">
                <a:solidFill>
                  <a:schemeClr val="accent1"/>
                </a:solidFill>
                <a:latin typeface="Century Gothic"/>
                <a:ea typeface="Century Gothic"/>
                <a:cs typeface="Century Gothic"/>
                <a:sym typeface="Century Gothic"/>
              </a:rPr>
              <a:t>A</a:t>
            </a:r>
            <a:r>
              <a:rPr b="0" i="1" lang="en-GB" sz="900" u="none" cap="none" strike="noStrike">
                <a:solidFill>
                  <a:srgbClr val="231F20"/>
                </a:solidFill>
                <a:latin typeface="Century Gothic"/>
                <a:ea typeface="Century Gothic"/>
                <a:cs typeface="Century Gothic"/>
                <a:sym typeface="Century Gothic"/>
              </a:rPr>
              <a:t> - No Activity for 3 weeks  (634)</a:t>
            </a:r>
            <a:endParaRPr b="0" i="1" sz="900" u="none" cap="none" strike="noStrike">
              <a:solidFill>
                <a:srgbClr val="231F20"/>
              </a:solidFill>
              <a:latin typeface="Century Gothic"/>
              <a:ea typeface="Century Gothic"/>
              <a:cs typeface="Century Gothic"/>
              <a:sym typeface="Century Gothic"/>
            </a:endParaRPr>
          </a:p>
          <a:p>
            <a:pPr indent="0" lvl="1" marL="457200" marR="0" rtl="0" algn="l">
              <a:lnSpc>
                <a:spcPct val="95000"/>
              </a:lnSpc>
              <a:spcBef>
                <a:spcPts val="400"/>
              </a:spcBef>
              <a:spcAft>
                <a:spcPts val="0"/>
              </a:spcAft>
              <a:buNone/>
            </a:pPr>
            <a:r>
              <a:rPr b="1" i="1" lang="en-GB" sz="900" u="none" cap="none" strike="noStrike">
                <a:solidFill>
                  <a:srgbClr val="EC881D"/>
                </a:solidFill>
                <a:latin typeface="Century Gothic"/>
                <a:ea typeface="Century Gothic"/>
                <a:cs typeface="Century Gothic"/>
                <a:sym typeface="Century Gothic"/>
              </a:rPr>
              <a:t>B</a:t>
            </a:r>
            <a:r>
              <a:rPr b="0" i="1" lang="en-GB" sz="900" u="none" cap="none" strike="noStrike">
                <a:solidFill>
                  <a:srgbClr val="231F20"/>
                </a:solidFill>
                <a:latin typeface="Century Gothic"/>
                <a:ea typeface="Century Gothic"/>
                <a:cs typeface="Century Gothic"/>
                <a:sym typeface="Century Gothic"/>
              </a:rPr>
              <a:t> - High Activity of usage during 3 weeks (84)</a:t>
            </a:r>
            <a:endParaRPr b="0" i="1" sz="900" u="none" cap="none" strike="noStrike">
              <a:solidFill>
                <a:srgbClr val="231F20"/>
              </a:solidFill>
              <a:latin typeface="Century Gothic"/>
              <a:ea typeface="Century Gothic"/>
              <a:cs typeface="Century Gothic"/>
              <a:sym typeface="Century Gothic"/>
            </a:endParaRPr>
          </a:p>
        </p:txBody>
      </p:sp>
      <p:pic>
        <p:nvPicPr>
          <p:cNvPr id="10391" name="Google Shape;10391;p591"/>
          <p:cNvPicPr preferRelativeResize="0"/>
          <p:nvPr/>
        </p:nvPicPr>
        <p:blipFill rotWithShape="1">
          <a:blip r:embed="rId4">
            <a:alphaModFix/>
          </a:blip>
          <a:srcRect b="0" l="0" r="0" t="0"/>
          <a:stretch/>
        </p:blipFill>
        <p:spPr>
          <a:xfrm>
            <a:off x="4874536" y="2738905"/>
            <a:ext cx="3549798" cy="1506864"/>
          </a:xfrm>
          <a:prstGeom prst="rect">
            <a:avLst/>
          </a:prstGeom>
          <a:noFill/>
          <a:ln>
            <a:noFill/>
          </a:ln>
        </p:spPr>
      </p:pic>
      <p:sp>
        <p:nvSpPr>
          <p:cNvPr id="10392" name="Google Shape;10392;p591"/>
          <p:cNvSpPr/>
          <p:nvPr/>
        </p:nvSpPr>
        <p:spPr>
          <a:xfrm>
            <a:off x="5683250" y="4174043"/>
            <a:ext cx="2411673" cy="572690"/>
          </a:xfrm>
          <a:prstGeom prst="roundRect">
            <a:avLst>
              <a:gd fmla="val 16667" name="adj"/>
            </a:avLst>
          </a:prstGeom>
          <a:no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rPr lang="en-GB" sz="900">
                <a:solidFill>
                  <a:schemeClr val="dk1"/>
                </a:solidFill>
                <a:latin typeface="Century Gothic"/>
                <a:ea typeface="Century Gothic"/>
                <a:cs typeface="Century Gothic"/>
                <a:sym typeface="Century Gothic"/>
              </a:rPr>
              <a:t>Various paths can be compared and investigated</a:t>
            </a:r>
            <a:endParaRPr/>
          </a:p>
        </p:txBody>
      </p:sp>
      <p:sp>
        <p:nvSpPr>
          <p:cNvPr id="10393" name="Google Shape;10393;p59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392"/>
                                        </p:tgtEl>
                                        <p:attrNameLst>
                                          <p:attrName>style.visibility</p:attrName>
                                        </p:attrNameLst>
                                      </p:cBhvr>
                                      <p:to>
                                        <p:strVal val="visible"/>
                                      </p:to>
                                    </p:set>
                                    <p:animEffect filter="fade" transition="in">
                                      <p:cBhvr>
                                        <p:cTn dur="1000"/>
                                        <p:tgtEl>
                                          <p:spTgt spid="1039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98" name="Shape 10498"/>
        <p:cNvGrpSpPr/>
        <p:nvPr/>
      </p:nvGrpSpPr>
      <p:grpSpPr>
        <a:xfrm>
          <a:off x="0" y="0"/>
          <a:ext cx="0" cy="0"/>
          <a:chOff x="0" y="0"/>
          <a:chExt cx="0" cy="0"/>
        </a:xfrm>
      </p:grpSpPr>
      <p:pic>
        <p:nvPicPr>
          <p:cNvPr id="10499" name="Google Shape;10499;p597"/>
          <p:cNvPicPr preferRelativeResize="0"/>
          <p:nvPr/>
        </p:nvPicPr>
        <p:blipFill rotWithShape="1">
          <a:blip r:embed="rId3">
            <a:alphaModFix/>
          </a:blip>
          <a:srcRect b="0" l="0" r="0" t="0"/>
          <a:stretch/>
        </p:blipFill>
        <p:spPr>
          <a:xfrm>
            <a:off x="4858901" y="3871007"/>
            <a:ext cx="1466056" cy="825103"/>
          </a:xfrm>
          <a:prstGeom prst="rect">
            <a:avLst/>
          </a:prstGeom>
          <a:noFill/>
          <a:ln>
            <a:noFill/>
          </a:ln>
        </p:spPr>
      </p:pic>
      <p:sp>
        <p:nvSpPr>
          <p:cNvPr id="10500" name="Google Shape;10500;p597"/>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01" name="Google Shape;10501;p597"/>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502" name="Google Shape;10502;p597"/>
          <p:cNvSpPr/>
          <p:nvPr/>
        </p:nvSpPr>
        <p:spPr>
          <a:xfrm>
            <a:off x="4795837" y="2376546"/>
            <a:ext cx="3949200" cy="2327448"/>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Use Case Results</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Example analytic Output:</a:t>
            </a:r>
            <a:endParaRPr sz="900">
              <a:solidFill>
                <a:schemeClr val="dk1"/>
              </a:solidFill>
              <a:latin typeface="Century Gothic"/>
              <a:ea typeface="Century Gothic"/>
              <a:cs typeface="Century Gothic"/>
              <a:sym typeface="Century Gothic"/>
            </a:endParaRPr>
          </a:p>
        </p:txBody>
      </p:sp>
      <p:sp>
        <p:nvSpPr>
          <p:cNvPr id="10503" name="Google Shape;10503;p597"/>
          <p:cNvSpPr/>
          <p:nvPr/>
        </p:nvSpPr>
        <p:spPr>
          <a:xfrm>
            <a:off x="423863" y="2377440"/>
            <a:ext cx="4048125" cy="2326554"/>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Use Case Detail</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Example Analytic output:</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04" name="Google Shape;10504;p5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 Karen Layfield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505" name="Google Shape;10505;p597"/>
          <p:cNvSpPr/>
          <p:nvPr/>
        </p:nvSpPr>
        <p:spPr>
          <a:xfrm>
            <a:off x="423863" y="807897"/>
            <a:ext cx="832117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Analysis Detail: -</a:t>
            </a:r>
            <a:endParaRPr/>
          </a:p>
          <a:p>
            <a:pPr indent="-171450" lvl="0" marL="171450" marR="0" rtl="0" algn="l">
              <a:lnSpc>
                <a:spcPct val="90000"/>
              </a:lnSpc>
              <a:spcBef>
                <a:spcPts val="50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Npath analysis of browsing and shopping behaviour to identify potential  fraudulent behavior</a:t>
            </a:r>
            <a:endParaRPr/>
          </a:p>
          <a:p>
            <a:pPr indent="-171450" lvl="1" marL="628650" marR="0" rtl="0" algn="l">
              <a:lnSpc>
                <a:spcPct val="90000"/>
              </a:lnSpc>
              <a:spcBef>
                <a:spcPts val="500"/>
              </a:spcBef>
              <a:spcAft>
                <a:spcPts val="0"/>
              </a:spcAft>
              <a:buClr>
                <a:schemeClr val="dk1"/>
              </a:buClr>
              <a:buSzPts val="900"/>
              <a:buFont typeface="Noto Sans Symbols"/>
              <a:buChar char="▪"/>
            </a:pPr>
            <a:r>
              <a:rPr b="0" i="0" lang="en-GB" sz="900" u="none" cap="none" strike="noStrike">
                <a:solidFill>
                  <a:schemeClr val="dk1"/>
                </a:solidFill>
                <a:latin typeface="Century Gothic"/>
                <a:ea typeface="Century Gothic"/>
                <a:cs typeface="Century Gothic"/>
                <a:sym typeface="Century Gothic"/>
              </a:rPr>
              <a:t>Identify complex patterns of behavior and interactions  between individuals to determine</a:t>
            </a:r>
            <a:endParaRPr/>
          </a:p>
          <a:p>
            <a:pPr indent="-171450" lvl="2" marL="1085850" marR="0" rtl="0" algn="l">
              <a:lnSpc>
                <a:spcPct val="90000"/>
              </a:lnSpc>
              <a:spcBef>
                <a:spcPts val="450"/>
              </a:spcBef>
              <a:spcAft>
                <a:spcPts val="0"/>
              </a:spcAft>
              <a:buClr>
                <a:schemeClr val="dk1"/>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Common approaches to fraud</a:t>
            </a:r>
            <a:endParaRPr/>
          </a:p>
          <a:p>
            <a:pPr indent="-171450" lvl="2" marL="1085850" marR="0" rtl="0" algn="l">
              <a:lnSpc>
                <a:spcPct val="90000"/>
              </a:lnSpc>
              <a:spcBef>
                <a:spcPts val="450"/>
              </a:spcBef>
              <a:spcAft>
                <a:spcPts val="0"/>
              </a:spcAft>
              <a:buClr>
                <a:schemeClr val="dk1"/>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Patterns of geographic locations associated with fraud (multiple accounts accessed from same IP address)</a:t>
            </a:r>
            <a:endParaRPr/>
          </a:p>
          <a:p>
            <a:pPr indent="-171450" lvl="0" marL="171450" marR="0" rtl="0" algn="l">
              <a:lnSpc>
                <a:spcPct val="90000"/>
              </a:lnSpc>
              <a:spcBef>
                <a:spcPts val="45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Ngrams – (Text and speech patterns) – search terms highly correlated to deceptive activity</a:t>
            </a:r>
            <a:endParaRPr sz="1000">
              <a:solidFill>
                <a:schemeClr val="dk1"/>
              </a:solidFill>
              <a:latin typeface="Century Gothic"/>
              <a:ea typeface="Century Gothic"/>
              <a:cs typeface="Century Gothic"/>
              <a:sym typeface="Century Gothic"/>
            </a:endParaRPr>
          </a:p>
          <a:p>
            <a:pPr indent="-180975" lvl="0" marL="180975" marR="0" rtl="0" algn="l">
              <a:lnSpc>
                <a:spcPct val="90000"/>
              </a:lnSpc>
              <a:spcBef>
                <a:spcPts val="500"/>
              </a:spcBef>
              <a:spcAft>
                <a:spcPts val="0"/>
              </a:spcAft>
              <a:buNone/>
            </a:pPr>
            <a:r>
              <a:t/>
            </a:r>
            <a:endParaRPr b="1" sz="1000">
              <a:solidFill>
                <a:schemeClr val="dk2"/>
              </a:solidFill>
              <a:latin typeface="Century Gothic"/>
              <a:ea typeface="Century Gothic"/>
              <a:cs typeface="Century Gothic"/>
              <a:sym typeface="Century Gothic"/>
            </a:endParaRPr>
          </a:p>
          <a:p>
            <a:pPr indent="-123825" lvl="0" marL="180975" marR="0" rtl="0" algn="l">
              <a:lnSpc>
                <a:spcPct val="90000"/>
              </a:lnSpc>
              <a:spcBef>
                <a:spcPts val="5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pic>
        <p:nvPicPr>
          <p:cNvPr id="10506" name="Google Shape;10506;p597"/>
          <p:cNvPicPr preferRelativeResize="0"/>
          <p:nvPr/>
        </p:nvPicPr>
        <p:blipFill rotWithShape="1">
          <a:blip r:embed="rId4">
            <a:alphaModFix/>
          </a:blip>
          <a:srcRect b="0" l="0" r="0" t="0"/>
          <a:stretch/>
        </p:blipFill>
        <p:spPr>
          <a:xfrm>
            <a:off x="455395" y="2927679"/>
            <a:ext cx="3846513" cy="1481138"/>
          </a:xfrm>
          <a:prstGeom prst="rect">
            <a:avLst/>
          </a:prstGeom>
          <a:noFill/>
          <a:ln>
            <a:noFill/>
          </a:ln>
        </p:spPr>
      </p:pic>
      <p:pic>
        <p:nvPicPr>
          <p:cNvPr id="10507" name="Google Shape;10507;p597"/>
          <p:cNvPicPr preferRelativeResize="0"/>
          <p:nvPr/>
        </p:nvPicPr>
        <p:blipFill rotWithShape="1">
          <a:blip r:embed="rId5">
            <a:alphaModFix/>
          </a:blip>
          <a:srcRect b="0" l="0" r="0" t="0"/>
          <a:stretch/>
        </p:blipFill>
        <p:spPr>
          <a:xfrm>
            <a:off x="4653896" y="2995448"/>
            <a:ext cx="3886745" cy="1178419"/>
          </a:xfrm>
          <a:prstGeom prst="rect">
            <a:avLst/>
          </a:prstGeom>
          <a:noFill/>
          <a:ln>
            <a:noFill/>
          </a:ln>
        </p:spPr>
      </p:pic>
      <p:pic>
        <p:nvPicPr>
          <p:cNvPr id="10508" name="Google Shape;10508;p597"/>
          <p:cNvPicPr preferRelativeResize="0"/>
          <p:nvPr/>
        </p:nvPicPr>
        <p:blipFill rotWithShape="1">
          <a:blip r:embed="rId6">
            <a:alphaModFix/>
          </a:blip>
          <a:srcRect b="0" l="0" r="0" t="0"/>
          <a:stretch/>
        </p:blipFill>
        <p:spPr>
          <a:xfrm>
            <a:off x="6882966" y="4060977"/>
            <a:ext cx="1306298" cy="627654"/>
          </a:xfrm>
          <a:prstGeom prst="rect">
            <a:avLst/>
          </a:prstGeom>
          <a:noFill/>
          <a:ln>
            <a:noFill/>
          </a:ln>
        </p:spPr>
      </p:pic>
      <p:sp>
        <p:nvSpPr>
          <p:cNvPr id="10509" name="Google Shape;10509;p597">
            <a:hlinkClick action="ppaction://hlinksldjump" r:id="rId7"/>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34" name="Shape 10534"/>
        <p:cNvGrpSpPr/>
        <p:nvPr/>
      </p:nvGrpSpPr>
      <p:grpSpPr>
        <a:xfrm>
          <a:off x="0" y="0"/>
          <a:ext cx="0" cy="0"/>
          <a:chOff x="0" y="0"/>
          <a:chExt cx="0" cy="0"/>
        </a:xfrm>
      </p:grpSpPr>
      <p:cxnSp>
        <p:nvCxnSpPr>
          <p:cNvPr id="10535" name="Google Shape;10535;p5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36" name="Google Shape;10536;p5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37" name="Google Shape;10537;p59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38" name="Google Shape;10538;p5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39" name="Google Shape;10539;p59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40" name="Google Shape;10540;p5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41" name="Google Shape;10541;p5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42" name="Google Shape;10542;p5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43" name="Google Shape;10543;p5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44" name="Google Shape;10544;p5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45" name="Google Shape;10545;p59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46" name="Google Shape;10546;p5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47" name="Google Shape;10547;p59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48" name="Google Shape;10548;p59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 Fraud – Text Analytics for Property and Casualty</a:t>
            </a:r>
            <a:endParaRPr sz="2400"/>
          </a:p>
        </p:txBody>
      </p:sp>
      <p:sp>
        <p:nvSpPr>
          <p:cNvPr id="10549" name="Google Shape;10549;p5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